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2"/>
  </p:notesMasterIdLst>
  <p:handoutMasterIdLst>
    <p:handoutMasterId r:id="rId53"/>
  </p:handoutMasterIdLst>
  <p:sldIdLst>
    <p:sldId id="256" r:id="rId5"/>
    <p:sldId id="257" r:id="rId6"/>
    <p:sldId id="343" r:id="rId7"/>
    <p:sldId id="258" r:id="rId8"/>
    <p:sldId id="269" r:id="rId9"/>
    <p:sldId id="308" r:id="rId10"/>
    <p:sldId id="309" r:id="rId11"/>
    <p:sldId id="310" r:id="rId12"/>
    <p:sldId id="311" r:id="rId13"/>
    <p:sldId id="312" r:id="rId14"/>
    <p:sldId id="313" r:id="rId15"/>
    <p:sldId id="314" r:id="rId16"/>
    <p:sldId id="315" r:id="rId17"/>
    <p:sldId id="316" r:id="rId18"/>
    <p:sldId id="317" r:id="rId19"/>
    <p:sldId id="320" r:id="rId20"/>
    <p:sldId id="318" r:id="rId21"/>
    <p:sldId id="319" r:id="rId22"/>
    <p:sldId id="321" r:id="rId23"/>
    <p:sldId id="322" r:id="rId24"/>
    <p:sldId id="323" r:id="rId25"/>
    <p:sldId id="344" r:id="rId26"/>
    <p:sldId id="324" r:id="rId27"/>
    <p:sldId id="345" r:id="rId28"/>
    <p:sldId id="305"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6" r:id="rId48"/>
    <p:sldId id="348" r:id="rId49"/>
    <p:sldId id="349" r:id="rId50"/>
    <p:sldId id="27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56" autoAdjust="0"/>
    <p:restoredTop sz="94270" autoAdjust="0"/>
  </p:normalViewPr>
  <p:slideViewPr>
    <p:cSldViewPr snapToGrid="0" showGuides="1">
      <p:cViewPr varScale="1">
        <p:scale>
          <a:sx n="126" d="100"/>
          <a:sy n="126" d="100"/>
        </p:scale>
        <p:origin x="208" y="224"/>
      </p:cViewPr>
      <p:guideLst>
        <p:guide orient="horz" pos="2160"/>
        <p:guide pos="3840"/>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dirty="0"/>
          </a:p>
        </p:txBody>
      </p:sp>
    </p:spTree>
    <p:extLst>
      <p:ext uri="{BB962C8B-B14F-4D97-AF65-F5344CB8AC3E}">
        <p14:creationId xmlns:p14="http://schemas.microsoft.com/office/powerpoint/2010/main" val="3796805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C37BE-C303-496D-B5CD-85F2937540FC}" type="slidenum">
              <a:rPr kumimoji="0" lang="en-US" sz="1200" b="0" i="0" u="none" strike="noStrike" kern="1200" cap="none" spc="0" normalizeH="0" baseline="0" noProof="0">
                <a:ln>
                  <a:noFill/>
                </a:ln>
                <a:solidFill>
                  <a:srgbClr val="514843"/>
                </a:solidFill>
                <a:effectLst/>
                <a:uLnTx/>
                <a:uFillTx/>
                <a:latin typeface="Euphem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514843"/>
              </a:solidFill>
              <a:effectLst/>
              <a:uLnTx/>
              <a:uFillTx/>
              <a:latin typeface="Euphemia"/>
              <a:ea typeface="+mn-ea"/>
              <a:cs typeface="+mn-cs"/>
            </a:endParaRPr>
          </a:p>
        </p:txBody>
      </p:sp>
    </p:spTree>
    <p:extLst>
      <p:ext uri="{BB962C8B-B14F-4D97-AF65-F5344CB8AC3E}">
        <p14:creationId xmlns:p14="http://schemas.microsoft.com/office/powerpoint/2010/main" val="1370688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a:t>
            </a:fld>
            <a:endParaRPr lang="en-US"/>
          </a:p>
        </p:txBody>
      </p:sp>
    </p:spTree>
    <p:extLst>
      <p:ext uri="{BB962C8B-B14F-4D97-AF65-F5344CB8AC3E}">
        <p14:creationId xmlns:p14="http://schemas.microsoft.com/office/powerpoint/2010/main" val="386702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a:t>
            </a:fld>
            <a:endParaRPr lang="en-US" dirty="0"/>
          </a:p>
        </p:txBody>
      </p:sp>
    </p:spTree>
    <p:extLst>
      <p:ext uri="{BB962C8B-B14F-4D97-AF65-F5344CB8AC3E}">
        <p14:creationId xmlns:p14="http://schemas.microsoft.com/office/powerpoint/2010/main" val="623203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a:t>
            </a:fld>
            <a:endParaRPr lang="en-US" dirty="0"/>
          </a:p>
        </p:txBody>
      </p:sp>
    </p:spTree>
    <p:extLst>
      <p:ext uri="{BB962C8B-B14F-4D97-AF65-F5344CB8AC3E}">
        <p14:creationId xmlns:p14="http://schemas.microsoft.com/office/powerpoint/2010/main" val="1038117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a:t>
            </a:fld>
            <a:endParaRPr lang="en-US" dirty="0"/>
          </a:p>
        </p:txBody>
      </p:sp>
    </p:spTree>
    <p:extLst>
      <p:ext uri="{BB962C8B-B14F-4D97-AF65-F5344CB8AC3E}">
        <p14:creationId xmlns:p14="http://schemas.microsoft.com/office/powerpoint/2010/main" val="1098456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9</a:t>
            </a:fld>
            <a:endParaRPr lang="en-US" dirty="0"/>
          </a:p>
        </p:txBody>
      </p:sp>
    </p:spTree>
    <p:extLst>
      <p:ext uri="{BB962C8B-B14F-4D97-AF65-F5344CB8AC3E}">
        <p14:creationId xmlns:p14="http://schemas.microsoft.com/office/powerpoint/2010/main" val="497443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10</a:t>
            </a:fld>
            <a:endParaRPr lang="en-US" dirty="0"/>
          </a:p>
        </p:txBody>
      </p:sp>
    </p:spTree>
    <p:extLst>
      <p:ext uri="{BB962C8B-B14F-4D97-AF65-F5344CB8AC3E}">
        <p14:creationId xmlns:p14="http://schemas.microsoft.com/office/powerpoint/2010/main" val="697123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11</a:t>
            </a:fld>
            <a:endParaRPr lang="en-US" dirty="0"/>
          </a:p>
        </p:txBody>
      </p:sp>
    </p:spTree>
    <p:extLst>
      <p:ext uri="{BB962C8B-B14F-4D97-AF65-F5344CB8AC3E}">
        <p14:creationId xmlns:p14="http://schemas.microsoft.com/office/powerpoint/2010/main" val="2464576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12</a:t>
            </a:fld>
            <a:endParaRPr lang="en-US" dirty="0"/>
          </a:p>
        </p:txBody>
      </p:sp>
    </p:spTree>
    <p:extLst>
      <p:ext uri="{BB962C8B-B14F-4D97-AF65-F5344CB8AC3E}">
        <p14:creationId xmlns:p14="http://schemas.microsoft.com/office/powerpoint/2010/main" val="1450261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13</a:t>
            </a:fld>
            <a:endParaRPr lang="en-US" dirty="0"/>
          </a:p>
        </p:txBody>
      </p:sp>
    </p:spTree>
    <p:extLst>
      <p:ext uri="{BB962C8B-B14F-4D97-AF65-F5344CB8AC3E}">
        <p14:creationId xmlns:p14="http://schemas.microsoft.com/office/powerpoint/2010/main" val="242207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C37BE-C303-496D-B5CD-85F2937540FC}" type="slidenum">
              <a:rPr kumimoji="0" lang="en-US" sz="1200" b="0" i="0" u="none" strike="noStrike" kern="1200" cap="none" spc="0" normalizeH="0" baseline="0" noProof="0">
                <a:ln>
                  <a:noFill/>
                </a:ln>
                <a:solidFill>
                  <a:srgbClr val="514843"/>
                </a:solidFill>
                <a:effectLst/>
                <a:uLnTx/>
                <a:uFillTx/>
                <a:latin typeface="Euphem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514843"/>
              </a:solidFill>
              <a:effectLst/>
              <a:uLnTx/>
              <a:uFillTx/>
              <a:latin typeface="Euphemia"/>
              <a:ea typeface="+mn-ea"/>
              <a:cs typeface="+mn-cs"/>
            </a:endParaRPr>
          </a:p>
        </p:txBody>
      </p:sp>
    </p:spTree>
    <p:extLst>
      <p:ext uri="{BB962C8B-B14F-4D97-AF65-F5344CB8AC3E}">
        <p14:creationId xmlns:p14="http://schemas.microsoft.com/office/powerpoint/2010/main" val="14218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15</a:t>
            </a:fld>
            <a:endParaRPr lang="en-US" dirty="0"/>
          </a:p>
        </p:txBody>
      </p:sp>
    </p:spTree>
    <p:extLst>
      <p:ext uri="{BB962C8B-B14F-4D97-AF65-F5344CB8AC3E}">
        <p14:creationId xmlns:p14="http://schemas.microsoft.com/office/powerpoint/2010/main" val="1621895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16</a:t>
            </a:fld>
            <a:endParaRPr lang="en-US" dirty="0"/>
          </a:p>
        </p:txBody>
      </p:sp>
    </p:spTree>
    <p:extLst>
      <p:ext uri="{BB962C8B-B14F-4D97-AF65-F5344CB8AC3E}">
        <p14:creationId xmlns:p14="http://schemas.microsoft.com/office/powerpoint/2010/main" val="3792353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17</a:t>
            </a:fld>
            <a:endParaRPr lang="en-US" dirty="0"/>
          </a:p>
        </p:txBody>
      </p:sp>
    </p:spTree>
    <p:extLst>
      <p:ext uri="{BB962C8B-B14F-4D97-AF65-F5344CB8AC3E}">
        <p14:creationId xmlns:p14="http://schemas.microsoft.com/office/powerpoint/2010/main" val="2548770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18</a:t>
            </a:fld>
            <a:endParaRPr lang="en-US" dirty="0"/>
          </a:p>
        </p:txBody>
      </p:sp>
    </p:spTree>
    <p:extLst>
      <p:ext uri="{BB962C8B-B14F-4D97-AF65-F5344CB8AC3E}">
        <p14:creationId xmlns:p14="http://schemas.microsoft.com/office/powerpoint/2010/main" val="2735595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19</a:t>
            </a:fld>
            <a:endParaRPr lang="en-US" dirty="0"/>
          </a:p>
        </p:txBody>
      </p:sp>
    </p:spTree>
    <p:extLst>
      <p:ext uri="{BB962C8B-B14F-4D97-AF65-F5344CB8AC3E}">
        <p14:creationId xmlns:p14="http://schemas.microsoft.com/office/powerpoint/2010/main" val="542585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20</a:t>
            </a:fld>
            <a:endParaRPr lang="en-US" dirty="0"/>
          </a:p>
        </p:txBody>
      </p:sp>
    </p:spTree>
    <p:extLst>
      <p:ext uri="{BB962C8B-B14F-4D97-AF65-F5344CB8AC3E}">
        <p14:creationId xmlns:p14="http://schemas.microsoft.com/office/powerpoint/2010/main" val="2651140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21</a:t>
            </a:fld>
            <a:endParaRPr lang="en-US" dirty="0"/>
          </a:p>
        </p:txBody>
      </p:sp>
    </p:spTree>
    <p:extLst>
      <p:ext uri="{BB962C8B-B14F-4D97-AF65-F5344CB8AC3E}">
        <p14:creationId xmlns:p14="http://schemas.microsoft.com/office/powerpoint/2010/main" val="5369429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23</a:t>
            </a:fld>
            <a:endParaRPr lang="en-US" dirty="0"/>
          </a:p>
        </p:txBody>
      </p:sp>
    </p:spTree>
    <p:extLst>
      <p:ext uri="{BB962C8B-B14F-4D97-AF65-F5344CB8AC3E}">
        <p14:creationId xmlns:p14="http://schemas.microsoft.com/office/powerpoint/2010/main" val="218362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C37BE-C303-496D-B5CD-85F2937540FC}" type="slidenum">
              <a:rPr kumimoji="0" lang="en-US" sz="1200" b="0" i="0" u="none" strike="noStrike" kern="1200" cap="none" spc="0" normalizeH="0" baseline="0" noProof="0">
                <a:ln>
                  <a:noFill/>
                </a:ln>
                <a:solidFill>
                  <a:srgbClr val="514843"/>
                </a:solidFill>
                <a:effectLst/>
                <a:uLnTx/>
                <a:uFillTx/>
                <a:latin typeface="Euphem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srgbClr val="514843"/>
              </a:solidFill>
              <a:effectLst/>
              <a:uLnTx/>
              <a:uFillTx/>
              <a:latin typeface="Euphemia"/>
              <a:ea typeface="+mn-ea"/>
              <a:cs typeface="+mn-cs"/>
            </a:endParaRPr>
          </a:p>
        </p:txBody>
      </p:sp>
    </p:spTree>
    <p:extLst>
      <p:ext uri="{BB962C8B-B14F-4D97-AF65-F5344CB8AC3E}">
        <p14:creationId xmlns:p14="http://schemas.microsoft.com/office/powerpoint/2010/main" val="3279790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26</a:t>
            </a:fld>
            <a:endParaRPr lang="en-US" dirty="0"/>
          </a:p>
        </p:txBody>
      </p:sp>
    </p:spTree>
    <p:extLst>
      <p:ext uri="{BB962C8B-B14F-4D97-AF65-F5344CB8AC3E}">
        <p14:creationId xmlns:p14="http://schemas.microsoft.com/office/powerpoint/2010/main" val="931987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27</a:t>
            </a:fld>
            <a:endParaRPr lang="en-US" dirty="0"/>
          </a:p>
        </p:txBody>
      </p:sp>
    </p:spTree>
    <p:extLst>
      <p:ext uri="{BB962C8B-B14F-4D97-AF65-F5344CB8AC3E}">
        <p14:creationId xmlns:p14="http://schemas.microsoft.com/office/powerpoint/2010/main" val="6253284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dirty="0"/>
          </a:p>
        </p:txBody>
      </p:sp>
    </p:spTree>
    <p:extLst>
      <p:ext uri="{BB962C8B-B14F-4D97-AF65-F5344CB8AC3E}">
        <p14:creationId xmlns:p14="http://schemas.microsoft.com/office/powerpoint/2010/main" val="38945871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dirty="0"/>
          </a:p>
        </p:txBody>
      </p:sp>
    </p:spTree>
    <p:extLst>
      <p:ext uri="{BB962C8B-B14F-4D97-AF65-F5344CB8AC3E}">
        <p14:creationId xmlns:p14="http://schemas.microsoft.com/office/powerpoint/2010/main" val="3115140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30</a:t>
            </a:fld>
            <a:endParaRPr lang="en-US" dirty="0"/>
          </a:p>
        </p:txBody>
      </p:sp>
    </p:spTree>
    <p:extLst>
      <p:ext uri="{BB962C8B-B14F-4D97-AF65-F5344CB8AC3E}">
        <p14:creationId xmlns:p14="http://schemas.microsoft.com/office/powerpoint/2010/main" val="3610420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31</a:t>
            </a:fld>
            <a:endParaRPr lang="en-US" dirty="0"/>
          </a:p>
        </p:txBody>
      </p:sp>
    </p:spTree>
    <p:extLst>
      <p:ext uri="{BB962C8B-B14F-4D97-AF65-F5344CB8AC3E}">
        <p14:creationId xmlns:p14="http://schemas.microsoft.com/office/powerpoint/2010/main" val="4139326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32</a:t>
            </a:fld>
            <a:endParaRPr lang="en-US" dirty="0"/>
          </a:p>
        </p:txBody>
      </p:sp>
    </p:spTree>
    <p:extLst>
      <p:ext uri="{BB962C8B-B14F-4D97-AF65-F5344CB8AC3E}">
        <p14:creationId xmlns:p14="http://schemas.microsoft.com/office/powerpoint/2010/main" val="5946392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dirty="0"/>
          </a:p>
        </p:txBody>
      </p:sp>
    </p:spTree>
    <p:extLst>
      <p:ext uri="{BB962C8B-B14F-4D97-AF65-F5344CB8AC3E}">
        <p14:creationId xmlns:p14="http://schemas.microsoft.com/office/powerpoint/2010/main" val="26518491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34</a:t>
            </a:fld>
            <a:endParaRPr lang="en-US" dirty="0"/>
          </a:p>
        </p:txBody>
      </p:sp>
    </p:spTree>
    <p:extLst>
      <p:ext uri="{BB962C8B-B14F-4D97-AF65-F5344CB8AC3E}">
        <p14:creationId xmlns:p14="http://schemas.microsoft.com/office/powerpoint/2010/main" val="35058460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35</a:t>
            </a:fld>
            <a:endParaRPr lang="en-US" dirty="0"/>
          </a:p>
        </p:txBody>
      </p:sp>
    </p:spTree>
    <p:extLst>
      <p:ext uri="{BB962C8B-B14F-4D97-AF65-F5344CB8AC3E}">
        <p14:creationId xmlns:p14="http://schemas.microsoft.com/office/powerpoint/2010/main" val="23620777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36</a:t>
            </a:fld>
            <a:endParaRPr lang="en-US" dirty="0"/>
          </a:p>
        </p:txBody>
      </p:sp>
    </p:spTree>
    <p:extLst>
      <p:ext uri="{BB962C8B-B14F-4D97-AF65-F5344CB8AC3E}">
        <p14:creationId xmlns:p14="http://schemas.microsoft.com/office/powerpoint/2010/main" val="14234316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37</a:t>
            </a:fld>
            <a:endParaRPr lang="en-US" dirty="0"/>
          </a:p>
        </p:txBody>
      </p:sp>
    </p:spTree>
    <p:extLst>
      <p:ext uri="{BB962C8B-B14F-4D97-AF65-F5344CB8AC3E}">
        <p14:creationId xmlns:p14="http://schemas.microsoft.com/office/powerpoint/2010/main" val="6215783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38</a:t>
            </a:fld>
            <a:endParaRPr lang="en-US" dirty="0"/>
          </a:p>
        </p:txBody>
      </p:sp>
    </p:spTree>
    <p:extLst>
      <p:ext uri="{BB962C8B-B14F-4D97-AF65-F5344CB8AC3E}">
        <p14:creationId xmlns:p14="http://schemas.microsoft.com/office/powerpoint/2010/main" val="31731740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39</a:t>
            </a:fld>
            <a:endParaRPr lang="en-US" dirty="0"/>
          </a:p>
        </p:txBody>
      </p:sp>
    </p:spTree>
    <p:extLst>
      <p:ext uri="{BB962C8B-B14F-4D97-AF65-F5344CB8AC3E}">
        <p14:creationId xmlns:p14="http://schemas.microsoft.com/office/powerpoint/2010/main" val="37209606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40</a:t>
            </a:fld>
            <a:endParaRPr lang="en-US" dirty="0"/>
          </a:p>
        </p:txBody>
      </p:sp>
    </p:spTree>
    <p:extLst>
      <p:ext uri="{BB962C8B-B14F-4D97-AF65-F5344CB8AC3E}">
        <p14:creationId xmlns:p14="http://schemas.microsoft.com/office/powerpoint/2010/main" val="37989064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41</a:t>
            </a:fld>
            <a:endParaRPr lang="en-US" dirty="0"/>
          </a:p>
        </p:txBody>
      </p:sp>
    </p:spTree>
    <p:extLst>
      <p:ext uri="{BB962C8B-B14F-4D97-AF65-F5344CB8AC3E}">
        <p14:creationId xmlns:p14="http://schemas.microsoft.com/office/powerpoint/2010/main" val="4684173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dirty="0"/>
          </a:p>
        </p:txBody>
      </p:sp>
    </p:spTree>
    <p:extLst>
      <p:ext uri="{BB962C8B-B14F-4D97-AF65-F5344CB8AC3E}">
        <p14:creationId xmlns:p14="http://schemas.microsoft.com/office/powerpoint/2010/main" val="2145547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43</a:t>
            </a:fld>
            <a:endParaRPr lang="en-US" dirty="0"/>
          </a:p>
        </p:txBody>
      </p:sp>
    </p:spTree>
    <p:extLst>
      <p:ext uri="{BB962C8B-B14F-4D97-AF65-F5344CB8AC3E}">
        <p14:creationId xmlns:p14="http://schemas.microsoft.com/office/powerpoint/2010/main" val="3299352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47</a:t>
            </a:fld>
            <a:endParaRPr lang="en-US"/>
          </a:p>
        </p:txBody>
      </p:sp>
    </p:spTree>
    <p:extLst>
      <p:ext uri="{BB962C8B-B14F-4D97-AF65-F5344CB8AC3E}">
        <p14:creationId xmlns:p14="http://schemas.microsoft.com/office/powerpoint/2010/main" val="149693322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122-matplotlib-&#22522;&#30784;"/><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5&#39292;&#22270;"/><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1251-&#20351;&#29992;-subplots-&#32472;&#21046;&#22810;&#20010;&#23376;&#22270;"/><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zh-CN" altLang="en-US" dirty="0"/>
              <a:t>第</a:t>
            </a:r>
            <a:r>
              <a:rPr lang="en-US" altLang="zh-CN" dirty="0"/>
              <a:t>12</a:t>
            </a:r>
            <a:r>
              <a:rPr lang="zh-CN" altLang="en-US" dirty="0"/>
              <a:t>章 数据可视化</a:t>
            </a:r>
            <a:endParaRPr lang="en-US" dirty="0">
              <a:latin typeface="+mn-ea"/>
              <a:ea typeface="+mn-ea"/>
              <a:cs typeface="Times New Roman" panose="02020603050405020304" pitchFamily="18" charset="0"/>
            </a:endParaRPr>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
        <p:nvSpPr>
          <p:cNvPr id="2" name="副标题 1"/>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en-US" dirty="0"/>
              <a:t>教学内容</a:t>
            </a:r>
            <a:endParaRPr lang="en-US" dirty="0"/>
          </a:p>
        </p:txBody>
      </p:sp>
      <p:sp>
        <p:nvSpPr>
          <p:cNvPr id="14" name="Content Placeholder 13"/>
          <p:cNvSpPr>
            <a:spLocks noGrp="1"/>
          </p:cNvSpPr>
          <p:nvPr>
            <p:ph idx="1"/>
          </p:nvPr>
        </p:nvSpPr>
        <p:spPr/>
        <p:txBody>
          <a:bodyPr/>
          <a:lstStyle/>
          <a:p>
            <a:pPr>
              <a:buFont typeface="Arial" panose="020B0604020202020204" pitchFamily="34" charset="0"/>
              <a:buChar char="•"/>
            </a:pPr>
            <a:r>
              <a:rPr lang="en-US" altLang="zh-CN" dirty="0"/>
              <a:t>12.1 </a:t>
            </a:r>
            <a:r>
              <a:rPr lang="zh-CN" altLang="en-US" dirty="0"/>
              <a:t>交互式图表绘制包</a:t>
            </a:r>
            <a:endParaRPr lang="en-US" altLang="zh-CN" dirty="0"/>
          </a:p>
          <a:p>
            <a:pPr>
              <a:buFont typeface="Arial" panose="020B0604020202020204" pitchFamily="34" charset="0"/>
              <a:buChar char="•"/>
            </a:pPr>
            <a:r>
              <a:rPr lang="en-US" altLang="zh-CN" dirty="0"/>
              <a:t>12.2 </a:t>
            </a:r>
            <a:r>
              <a:rPr lang="zh-CN" altLang="en-US" dirty="0"/>
              <a:t>图表基本布局</a:t>
            </a:r>
            <a:endParaRPr lang="en-US" altLang="zh-CN" dirty="0"/>
          </a:p>
          <a:p>
            <a:pPr>
              <a:buFont typeface="Arial" panose="020B0604020202020204" pitchFamily="34" charset="0"/>
              <a:buChar char="•"/>
            </a:pPr>
            <a:r>
              <a:rPr lang="en-US" altLang="zh-CN" dirty="0"/>
              <a:t>12.3 </a:t>
            </a:r>
            <a:r>
              <a:rPr lang="zh-CN" altLang="en-US" dirty="0"/>
              <a:t>基础图表绘制</a:t>
            </a:r>
            <a:endParaRPr lang="en-US" altLang="zh-CN" dirty="0"/>
          </a:p>
          <a:p>
            <a:pPr marL="0" indent="0">
              <a:buNone/>
            </a:pPr>
            <a:endParaRPr lang="en-US" altLang="zh-CN" dirty="0"/>
          </a:p>
        </p:txBody>
      </p:sp>
      <p:pic>
        <p:nvPicPr>
          <p:cNvPr id="4" name="Picture Placeholder 4" title="Closeup of books on shelves">
            <a:extLst>
              <a:ext uri="{FF2B5EF4-FFF2-40B4-BE49-F238E27FC236}">
                <a16:creationId xmlns:a16="http://schemas.microsoft.com/office/drawing/2014/main" id="{A7B9D51A-E845-4537-A914-AAE371E3F2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654671" y="1600199"/>
            <a:ext cx="6430912" cy="4572001"/>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A2BF6-B920-0FBB-328D-41D087E485C9}"/>
              </a:ext>
            </a:extLst>
          </p:cNvPr>
          <p:cNvSpPr>
            <a:spLocks noGrp="1"/>
          </p:cNvSpPr>
          <p:nvPr>
            <p:ph type="title"/>
          </p:nvPr>
        </p:nvSpPr>
        <p:spPr/>
        <p:txBody>
          <a:bodyPr/>
          <a:lstStyle/>
          <a:p>
            <a:r>
              <a:rPr lang="en-US" altLang="zh-CN" dirty="0"/>
              <a:t>12.1 </a:t>
            </a:r>
            <a:r>
              <a:rPr lang="zh-CN" altLang="en-US" b="1" dirty="0"/>
              <a:t>数据可视化概述</a:t>
            </a:r>
            <a:endParaRPr kumimoji="1" lang="zh-CN" altLang="en-US" dirty="0"/>
          </a:p>
        </p:txBody>
      </p:sp>
      <p:sp>
        <p:nvSpPr>
          <p:cNvPr id="6" name="TextBox 5">
            <a:extLst>
              <a:ext uri="{FF2B5EF4-FFF2-40B4-BE49-F238E27FC236}">
                <a16:creationId xmlns:a16="http://schemas.microsoft.com/office/drawing/2014/main" id="{F28DC39A-ECB0-FB3F-E755-2176B130E182}"/>
              </a:ext>
            </a:extLst>
          </p:cNvPr>
          <p:cNvSpPr txBox="1"/>
          <p:nvPr/>
        </p:nvSpPr>
        <p:spPr>
          <a:xfrm>
            <a:off x="1219200" y="1456680"/>
            <a:ext cx="8869680" cy="3357779"/>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相较于抽象的文本数据，人们更倾向于使用图表来展示信息。图表通过直观的方式，帮助人们清晰地传达数据的结构和信息，更容易进行数据的比较和差异分析。数据可视化技术正是为了解决数据的图形化表达以及分析结果的图表化问题。具体而言，数据可视化是利用图表、图形、地图等可视化工具，将复杂的数据转化为易于理解和分析的形式，从而帮助人们发现数据中的模式、趋势、关联或隐含的信息。例如，在金融、市场营销、科学研究等领域，数据可视化工具可以帮助决策者快速发现数据中的潜在模式、异常值或相关性。数据可视化可以直观地呈现数据之间的关系和结构，为支持决策、探索数据、传递信息以及发现洞察提供了重要的手段。</a:t>
            </a:r>
            <a:endParaRPr lang="zh-CN" altLang="en-US" dirty="0"/>
          </a:p>
        </p:txBody>
      </p:sp>
      <p:sp>
        <p:nvSpPr>
          <p:cNvPr id="8" name="TextBox 7">
            <a:extLst>
              <a:ext uri="{FF2B5EF4-FFF2-40B4-BE49-F238E27FC236}">
                <a16:creationId xmlns:a16="http://schemas.microsoft.com/office/drawing/2014/main" id="{1CBD5C87-018E-E0C5-454E-7B6C7F43E170}"/>
              </a:ext>
            </a:extLst>
          </p:cNvPr>
          <p:cNvSpPr txBox="1"/>
          <p:nvPr/>
        </p:nvSpPr>
        <p:spPr>
          <a:xfrm>
            <a:off x="1219200" y="5097977"/>
            <a:ext cx="9245600" cy="864789"/>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在 </a:t>
            </a:r>
            <a:r>
              <a:rPr lang="en-US" b="0" i="0" dirty="0">
                <a:solidFill>
                  <a:srgbClr val="262625"/>
                </a:solidFill>
                <a:effectLst/>
                <a:latin typeface="Times New Roman" panose="02020603050405020304" pitchFamily="18" charset="0"/>
              </a:rPr>
              <a:t>Python </a:t>
            </a:r>
            <a:r>
              <a:rPr lang="zh-CN" altLang="en-US" b="0" i="0" dirty="0">
                <a:solidFill>
                  <a:srgbClr val="262625"/>
                </a:solidFill>
                <a:effectLst/>
                <a:latin typeface="Times New Roman" panose="02020603050405020304" pitchFamily="18" charset="0"/>
              </a:rPr>
              <a:t>生态中，数据可视化技术发展迅速，拥有多种强大的工具和库。其中，</a:t>
            </a:r>
            <a:r>
              <a:rPr lang="en-US" b="0" i="0" dirty="0">
                <a:solidFill>
                  <a:srgbClr val="262625"/>
                </a:solidFill>
                <a:effectLst/>
                <a:latin typeface="Times New Roman" panose="02020603050405020304" pitchFamily="18" charset="0"/>
              </a:rPr>
              <a:t>matplotlib </a:t>
            </a:r>
            <a:r>
              <a:rPr lang="zh-CN" altLang="en-US" b="0" i="0" dirty="0">
                <a:solidFill>
                  <a:srgbClr val="262625"/>
                </a:solidFill>
                <a:effectLst/>
                <a:latin typeface="Times New Roman" panose="02020603050405020304" pitchFamily="18" charset="0"/>
              </a:rPr>
              <a:t>是最基础且功能最全面的可视化库，能够实现从基础图表到复杂定制图表的绘制。</a:t>
            </a:r>
            <a:endParaRPr lang="zh-CN" altLang="en-US" dirty="0"/>
          </a:p>
        </p:txBody>
      </p:sp>
    </p:spTree>
    <p:extLst>
      <p:ext uri="{BB962C8B-B14F-4D97-AF65-F5344CB8AC3E}">
        <p14:creationId xmlns:p14="http://schemas.microsoft.com/office/powerpoint/2010/main" val="230168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normAutofit/>
          </a:bodyPr>
          <a:lstStyle/>
          <a:p>
            <a:pPr algn="ctr"/>
            <a:r>
              <a:rPr lang="en-US" altLang="zh-CN" dirty="0"/>
              <a:t>12.1 </a:t>
            </a:r>
            <a:r>
              <a:rPr lang="zh-CN" altLang="en-US" dirty="0"/>
              <a:t>交互式图表绘制包</a:t>
            </a:r>
            <a:br>
              <a:rPr lang="en-US" altLang="zh-CN" dirty="0"/>
            </a:br>
            <a:r>
              <a:rPr lang="en-US" b="1" dirty="0">
                <a:hlinkClick r:id="rId3"/>
              </a:rPr>
              <a:t>Matplotlib</a:t>
            </a:r>
            <a:endParaRPr lang="zh-CN" altLang="en-US" dirty="0"/>
          </a:p>
        </p:txBody>
      </p:sp>
    </p:spTree>
    <p:extLst>
      <p:ext uri="{BB962C8B-B14F-4D97-AF65-F5344CB8AC3E}">
        <p14:creationId xmlns:p14="http://schemas.microsoft.com/office/powerpoint/2010/main" val="2397816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just"/>
            <a:r>
              <a:rPr lang="en-US" altLang="zh-CN" dirty="0"/>
              <a:t>12.1.1  </a:t>
            </a:r>
            <a:r>
              <a:rPr lang="zh-CN" altLang="en-US" dirty="0"/>
              <a:t>认识 </a:t>
            </a:r>
            <a:r>
              <a:rPr lang="en-US" altLang="zh-CN" dirty="0"/>
              <a:t>matplotlib</a:t>
            </a:r>
            <a:endParaRPr lang="en-US" dirty="0"/>
          </a:p>
        </p:txBody>
      </p:sp>
      <p:sp>
        <p:nvSpPr>
          <p:cNvPr id="14" name="Content Placeholder 13"/>
          <p:cNvSpPr>
            <a:spLocks noGrp="1"/>
          </p:cNvSpPr>
          <p:nvPr>
            <p:ph idx="1"/>
          </p:nvPr>
        </p:nvSpPr>
        <p:spPr>
          <a:xfrm>
            <a:off x="1104900" y="1600200"/>
            <a:ext cx="9982200" cy="5025887"/>
          </a:xfrm>
        </p:spPr>
        <p:txBody>
          <a:bodyPr>
            <a:normAutofit/>
          </a:bodyPr>
          <a:lstStyle/>
          <a:p>
            <a:r>
              <a:rPr lang="en-US" altLang="zh-CN" sz="2400" dirty="0">
                <a:solidFill>
                  <a:srgbClr val="FF0000"/>
                </a:solidFill>
              </a:rPr>
              <a:t>matplotlib</a:t>
            </a:r>
          </a:p>
          <a:p>
            <a:pPr lvl="1">
              <a:lnSpc>
                <a:spcPct val="150000"/>
              </a:lnSpc>
              <a:buFont typeface="Wingdings" panose="05000000000000000000" pitchFamily="2" charset="2"/>
              <a:buChar char="Ø"/>
            </a:pPr>
            <a:r>
              <a:rPr lang="en-US" altLang="zh-CN" sz="2000" dirty="0"/>
              <a:t>Python </a:t>
            </a:r>
            <a:r>
              <a:rPr lang="zh-CN" altLang="en-US" sz="2000" dirty="0"/>
              <a:t>最基本的</a:t>
            </a:r>
            <a:r>
              <a:rPr lang="zh-CN" altLang="en-US" sz="2000" dirty="0">
                <a:solidFill>
                  <a:srgbClr val="FF0000"/>
                </a:solidFill>
              </a:rPr>
              <a:t>二维</a:t>
            </a:r>
            <a:r>
              <a:rPr lang="zh-CN" altLang="en-US" sz="2000" dirty="0"/>
              <a:t>绘图库，也可进行简单的三维绘图。</a:t>
            </a:r>
            <a:endParaRPr lang="en-US" altLang="zh-CN" sz="2000" dirty="0"/>
          </a:p>
          <a:p>
            <a:pPr lvl="1">
              <a:lnSpc>
                <a:spcPct val="150000"/>
              </a:lnSpc>
              <a:buFont typeface="Wingdings" panose="05000000000000000000" pitchFamily="2" charset="2"/>
              <a:buChar char="Ø"/>
            </a:pPr>
            <a:r>
              <a:rPr lang="zh-CN" altLang="en-US" sz="2000" dirty="0"/>
              <a:t>能在各种交互式环境中将数据绘制各类图形，达到</a:t>
            </a:r>
            <a:r>
              <a:rPr lang="zh-CN" altLang="en-US" sz="2000" dirty="0">
                <a:solidFill>
                  <a:srgbClr val="FF0000"/>
                </a:solidFill>
              </a:rPr>
              <a:t>出版打印的质量级别</a:t>
            </a:r>
            <a:r>
              <a:rPr lang="zh-CN" altLang="en-US" sz="2000" dirty="0"/>
              <a:t>。</a:t>
            </a:r>
            <a:endParaRPr lang="en-US" altLang="zh-CN" sz="2000" dirty="0"/>
          </a:p>
          <a:p>
            <a:pPr lvl="1">
              <a:lnSpc>
                <a:spcPct val="150000"/>
              </a:lnSpc>
              <a:buFont typeface="Wingdings" panose="05000000000000000000" pitchFamily="2" charset="2"/>
              <a:buChar char="Ø"/>
            </a:pPr>
            <a:r>
              <a:rPr lang="zh-CN" altLang="en-US" sz="2000" dirty="0"/>
              <a:t>可输出多种不同格式的可视化图表，如</a:t>
            </a:r>
            <a:r>
              <a:rPr lang="zh-CN" altLang="en-US" sz="2000" dirty="0">
                <a:solidFill>
                  <a:srgbClr val="FF0000"/>
                </a:solidFill>
              </a:rPr>
              <a:t>折线图、散点图、柱状图、饼图、直方图</a:t>
            </a:r>
            <a:r>
              <a:rPr lang="zh-CN" altLang="en-US" sz="2000" dirty="0"/>
              <a:t>等。</a:t>
            </a:r>
            <a:endParaRPr lang="en-US" altLang="zh-CN" sz="2000" dirty="0"/>
          </a:p>
          <a:p>
            <a:pPr lvl="1">
              <a:lnSpc>
                <a:spcPct val="150000"/>
              </a:lnSpc>
              <a:buFont typeface="Wingdings" panose="05000000000000000000" pitchFamily="2" charset="2"/>
              <a:buChar char="Ø"/>
            </a:pPr>
            <a:r>
              <a:rPr lang="zh-CN" altLang="en-US" sz="2000" dirty="0"/>
              <a:t>数据分析处理包 </a:t>
            </a:r>
            <a:r>
              <a:rPr lang="en-US" altLang="zh-CN" sz="2000" dirty="0">
                <a:solidFill>
                  <a:srgbClr val="FF0000"/>
                </a:solidFill>
              </a:rPr>
              <a:t>NumPy </a:t>
            </a:r>
            <a:r>
              <a:rPr lang="zh-CN" altLang="en-US" sz="2000" dirty="0"/>
              <a:t>常与 </a:t>
            </a:r>
            <a:r>
              <a:rPr lang="en-US" altLang="zh-CN" sz="2000" dirty="0"/>
              <a:t>Matplotlib </a:t>
            </a:r>
            <a:r>
              <a:rPr lang="zh-CN" altLang="en-US" sz="2000" dirty="0"/>
              <a:t>共同出现与使用。</a:t>
            </a:r>
            <a:endParaRPr lang="en-US" altLang="zh-CN" sz="2000" dirty="0"/>
          </a:p>
          <a:p>
            <a:pPr lvl="1">
              <a:lnSpc>
                <a:spcPct val="150000"/>
              </a:lnSpc>
              <a:buFont typeface="Wingdings" panose="05000000000000000000" pitchFamily="2" charset="2"/>
              <a:buChar char="Ø"/>
            </a:pPr>
            <a:r>
              <a:rPr lang="zh-CN" altLang="en-US" sz="2000" dirty="0"/>
              <a:t>可通过</a:t>
            </a:r>
            <a:r>
              <a:rPr lang="en-US" altLang="zh-CN" sz="2000" dirty="0"/>
              <a:t>pip </a:t>
            </a:r>
            <a:r>
              <a:rPr lang="zh-CN" altLang="en-US" sz="2000" dirty="0"/>
              <a:t>从</a:t>
            </a:r>
            <a:r>
              <a:rPr lang="en-US" altLang="zh-CN" sz="2000" dirty="0" err="1"/>
              <a:t>PyPI</a:t>
            </a:r>
            <a:r>
              <a:rPr lang="en-US" altLang="zh-CN" sz="2000" dirty="0"/>
              <a:t> </a:t>
            </a:r>
            <a:r>
              <a:rPr lang="zh-CN" altLang="en-US" sz="2000" dirty="0"/>
              <a:t>安装，也可在安装</a:t>
            </a:r>
            <a:r>
              <a:rPr lang="en-US" altLang="zh-CN" sz="2000" dirty="0"/>
              <a:t>Anaconda</a:t>
            </a:r>
            <a:r>
              <a:rPr lang="zh-CN" altLang="en-US" sz="2000" dirty="0"/>
              <a:t>集成开发环境时同步安装。</a:t>
            </a:r>
            <a:endParaRPr lang="en-US" altLang="zh-CN" sz="2000" dirty="0"/>
          </a:p>
          <a:p>
            <a:pPr marL="228600" lvl="1">
              <a:lnSpc>
                <a:spcPct val="150000"/>
              </a:lnSpc>
              <a:spcBef>
                <a:spcPts val="1800"/>
              </a:spcBef>
            </a:pPr>
            <a:r>
              <a:rPr lang="en-US" altLang="zh-CN" sz="2000" dirty="0">
                <a:solidFill>
                  <a:srgbClr val="FF0000"/>
                </a:solidFill>
              </a:rPr>
              <a:t>matplotlib Gallery</a:t>
            </a:r>
            <a:r>
              <a:rPr lang="zh-CN" altLang="en-US" sz="2000" dirty="0">
                <a:solidFill>
                  <a:srgbClr val="FF0000"/>
                </a:solidFill>
              </a:rPr>
              <a:t>（网址：</a:t>
            </a:r>
            <a:r>
              <a:rPr lang="en-US" altLang="zh-CN" sz="2000" dirty="0" err="1">
                <a:solidFill>
                  <a:srgbClr val="FF0000"/>
                </a:solidFill>
              </a:rPr>
              <a:t>matplotlib.org</a:t>
            </a:r>
            <a:r>
              <a:rPr lang="en-US" altLang="zh-CN" sz="2000" dirty="0">
                <a:solidFill>
                  <a:srgbClr val="FF0000"/>
                </a:solidFill>
              </a:rPr>
              <a:t>/</a:t>
            </a:r>
            <a:r>
              <a:rPr lang="en-US" altLang="zh-CN" sz="2000" dirty="0" err="1">
                <a:solidFill>
                  <a:srgbClr val="FF0000"/>
                </a:solidFill>
              </a:rPr>
              <a:t>gallery.html</a:t>
            </a:r>
            <a:r>
              <a:rPr lang="zh-CN" altLang="en-US" sz="2000" dirty="0">
                <a:solidFill>
                  <a:srgbClr val="FF0000"/>
                </a:solidFill>
              </a:rPr>
              <a:t>）</a:t>
            </a:r>
            <a:r>
              <a:rPr lang="zh-CN" altLang="en-US" sz="2000" dirty="0"/>
              <a:t>中有大量的缩略图形及其对应的实现源程序，可供读者参考学习。</a:t>
            </a:r>
            <a:endParaRPr lang="en-US" altLang="zh-CN" sz="2000" dirty="0"/>
          </a:p>
        </p:txBody>
      </p:sp>
    </p:spTree>
    <p:extLst>
      <p:ext uri="{BB962C8B-B14F-4D97-AF65-F5344CB8AC3E}">
        <p14:creationId xmlns:p14="http://schemas.microsoft.com/office/powerpoint/2010/main" val="173113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fade">
                                      <p:cBhvr>
                                        <p:cTn id="32" dur="500"/>
                                        <p:tgtEl>
                                          <p:spTgt spid="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Effect transition="in" filter="fade">
                                      <p:cBhvr>
                                        <p:cTn id="37"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just"/>
            <a:r>
              <a:rPr lang="en-US" altLang="zh-CN" dirty="0"/>
              <a:t>12.1.2  matplotlib. pyplot</a:t>
            </a:r>
            <a:r>
              <a:rPr lang="zh-CN" altLang="en-US" dirty="0"/>
              <a:t>模块</a:t>
            </a:r>
            <a:endParaRPr lang="en-US" dirty="0">
              <a:solidFill>
                <a:srgbClr val="FF0000"/>
              </a:solidFill>
            </a:endParaRPr>
          </a:p>
        </p:txBody>
      </p:sp>
      <p:sp>
        <p:nvSpPr>
          <p:cNvPr id="14" name="Content Placeholder 13"/>
          <p:cNvSpPr>
            <a:spLocks noGrp="1"/>
          </p:cNvSpPr>
          <p:nvPr>
            <p:ph idx="1"/>
          </p:nvPr>
        </p:nvSpPr>
        <p:spPr>
          <a:xfrm>
            <a:off x="1104900" y="1600200"/>
            <a:ext cx="9982200" cy="5025887"/>
          </a:xfrm>
        </p:spPr>
        <p:txBody>
          <a:bodyPr>
            <a:normAutofit/>
          </a:bodyPr>
          <a:lstStyle/>
          <a:p>
            <a:r>
              <a:rPr lang="en-US" altLang="zh-CN" sz="2400" dirty="0">
                <a:solidFill>
                  <a:srgbClr val="FF0000"/>
                </a:solidFill>
              </a:rPr>
              <a:t>matplotlib.pyplot</a:t>
            </a:r>
          </a:p>
          <a:p>
            <a:pPr lvl="1">
              <a:lnSpc>
                <a:spcPct val="150000"/>
              </a:lnSpc>
              <a:buFont typeface="Wingdings" panose="05000000000000000000" pitchFamily="2" charset="2"/>
              <a:buChar char="Ø"/>
            </a:pPr>
            <a:r>
              <a:rPr lang="en-US" altLang="zh-CN" sz="2000" dirty="0"/>
              <a:t>pyplot </a:t>
            </a:r>
            <a:r>
              <a:rPr lang="zh-CN" altLang="zh-CN" sz="2000" dirty="0"/>
              <a:t>是</a:t>
            </a:r>
            <a:r>
              <a:rPr lang="en-US" altLang="zh-CN" sz="2000" dirty="0"/>
              <a:t> matplotlib </a:t>
            </a:r>
            <a:r>
              <a:rPr lang="zh-CN" altLang="zh-CN" sz="2000" dirty="0"/>
              <a:t>的基本接口之一，</a:t>
            </a:r>
            <a:r>
              <a:rPr lang="zh-CN" altLang="zh-CN" sz="2000" dirty="0">
                <a:solidFill>
                  <a:srgbClr val="FF0000"/>
                </a:solidFill>
              </a:rPr>
              <a:t>包含了一组命令式函数用于各类图形的绘制</a:t>
            </a:r>
            <a:r>
              <a:rPr lang="zh-CN" altLang="zh-CN" sz="2000" dirty="0"/>
              <a:t>，是</a:t>
            </a:r>
            <a:r>
              <a:rPr lang="en-US" altLang="zh-CN" sz="2000" dirty="0"/>
              <a:t> Python </a:t>
            </a:r>
            <a:r>
              <a:rPr lang="zh-CN" altLang="zh-CN" sz="2000" dirty="0"/>
              <a:t>中交互式绘图的主要功能模块。</a:t>
            </a:r>
            <a:endParaRPr lang="en-US" altLang="zh-CN" sz="2000" dirty="0"/>
          </a:p>
          <a:p>
            <a:pPr lvl="1">
              <a:lnSpc>
                <a:spcPct val="150000"/>
              </a:lnSpc>
              <a:buFont typeface="Wingdings" panose="05000000000000000000" pitchFamily="2" charset="2"/>
              <a:buChar char="Ø"/>
            </a:pPr>
            <a:r>
              <a:rPr lang="zh-CN" altLang="zh-CN" sz="2000" dirty="0"/>
              <a:t>编写程序的过程中，可用</a:t>
            </a:r>
            <a:r>
              <a:rPr lang="en-US" altLang="zh-CN" sz="2000" dirty="0"/>
              <a:t> “matplotlib.pyplot” </a:t>
            </a:r>
            <a:r>
              <a:rPr lang="zh-CN" altLang="en-US" sz="2000" dirty="0"/>
              <a:t>形式</a:t>
            </a:r>
            <a:r>
              <a:rPr lang="zh-CN" altLang="zh-CN" sz="2000" dirty="0"/>
              <a:t>来调用</a:t>
            </a:r>
            <a:r>
              <a:rPr lang="en-US" altLang="zh-CN" sz="2000" dirty="0"/>
              <a:t> pyplot </a:t>
            </a:r>
            <a:r>
              <a:rPr lang="zh-CN" altLang="zh-CN" sz="2000" dirty="0"/>
              <a:t>模块</a:t>
            </a:r>
            <a:r>
              <a:rPr lang="zh-CN" altLang="en-US" sz="2000" dirty="0"/>
              <a:t>。</a:t>
            </a:r>
            <a:endParaRPr lang="en-US" altLang="zh-CN" sz="2000" dirty="0"/>
          </a:p>
          <a:p>
            <a:pPr marL="228600" lvl="2">
              <a:spcBef>
                <a:spcPts val="1800"/>
              </a:spcBef>
            </a:pPr>
            <a:r>
              <a:rPr lang="zh-CN" altLang="zh-CN" sz="2400" dirty="0">
                <a:solidFill>
                  <a:srgbClr val="FF0000"/>
                </a:solidFill>
              </a:rPr>
              <a:t>导入</a:t>
            </a:r>
            <a:r>
              <a:rPr lang="en-US" altLang="zh-CN" sz="2400" dirty="0">
                <a:solidFill>
                  <a:srgbClr val="FF0000"/>
                </a:solidFill>
              </a:rPr>
              <a:t>pyplot</a:t>
            </a:r>
            <a:r>
              <a:rPr lang="zh-CN" altLang="zh-CN" sz="2400" dirty="0">
                <a:solidFill>
                  <a:srgbClr val="FF0000"/>
                </a:solidFill>
              </a:rPr>
              <a:t>模块时使用如下语句：</a:t>
            </a:r>
          </a:p>
        </p:txBody>
      </p:sp>
      <p:graphicFrame>
        <p:nvGraphicFramePr>
          <p:cNvPr id="4" name="表格 3">
            <a:extLst>
              <a:ext uri="{FF2B5EF4-FFF2-40B4-BE49-F238E27FC236}">
                <a16:creationId xmlns:a16="http://schemas.microsoft.com/office/drawing/2014/main" id="{D6E53204-FE8E-40CD-B642-52FA18439AED}"/>
              </a:ext>
            </a:extLst>
          </p:cNvPr>
          <p:cNvGraphicFramePr>
            <a:graphicFrameLocks noGrp="1"/>
          </p:cNvGraphicFramePr>
          <p:nvPr>
            <p:extLst>
              <p:ext uri="{D42A27DB-BD31-4B8C-83A1-F6EECF244321}">
                <p14:modId xmlns:p14="http://schemas.microsoft.com/office/powerpoint/2010/main" val="1504760539"/>
              </p:ext>
            </p:extLst>
          </p:nvPr>
        </p:nvGraphicFramePr>
        <p:xfrm>
          <a:off x="1911888" y="4305333"/>
          <a:ext cx="7990447" cy="394187"/>
        </p:xfrm>
        <a:graphic>
          <a:graphicData uri="http://schemas.openxmlformats.org/drawingml/2006/table">
            <a:tbl>
              <a:tblPr firstRow="1" firstCol="1" bandRow="1"/>
              <a:tblGrid>
                <a:gridCol w="7990447">
                  <a:extLst>
                    <a:ext uri="{9D8B030D-6E8A-4147-A177-3AD203B41FA5}">
                      <a16:colId xmlns:a16="http://schemas.microsoft.com/office/drawing/2014/main" val="165711208"/>
                    </a:ext>
                  </a:extLst>
                </a:gridCol>
              </a:tblGrid>
              <a:tr h="394187">
                <a:tc>
                  <a:txBody>
                    <a:bodyPr/>
                    <a:lstStyle/>
                    <a:p>
                      <a:pPr algn="just">
                        <a:lnSpc>
                          <a:spcPct val="10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import matplotlib.pyplot </a:t>
                      </a:r>
                      <a:r>
                        <a:rPr lang="en-US" altLang="zh-CN" sz="2000" kern="100" dirty="0">
                          <a:solidFill>
                            <a:srgbClr val="FF0000"/>
                          </a:solidFill>
                          <a:effectLst/>
                          <a:latin typeface="Consolas" panose="020B0609020204030204" pitchFamily="49" charset="0"/>
                          <a:ea typeface="+mn-ea"/>
                          <a:cs typeface="Times New Roman" panose="02020603050405020304" pitchFamily="18" charset="0"/>
                        </a:rPr>
                        <a:t>as plt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sp>
        <p:nvSpPr>
          <p:cNvPr id="6" name="对话气泡: 圆角矩形 5">
            <a:extLst>
              <a:ext uri="{FF2B5EF4-FFF2-40B4-BE49-F238E27FC236}">
                <a16:creationId xmlns:a16="http://schemas.microsoft.com/office/drawing/2014/main" id="{AF4D5D63-FBA9-47BB-86AA-D792EEB26313}"/>
              </a:ext>
            </a:extLst>
          </p:cNvPr>
          <p:cNvSpPr/>
          <p:nvPr/>
        </p:nvSpPr>
        <p:spPr>
          <a:xfrm>
            <a:off x="6689146" y="4854421"/>
            <a:ext cx="2892177" cy="1616765"/>
          </a:xfrm>
          <a:prstGeom prst="wedgeRoundRectCallout">
            <a:avLst>
              <a:gd name="adj1" fmla="val -58863"/>
              <a:gd name="adj2" fmla="val -70222"/>
              <a:gd name="adj3" fmla="val 16667"/>
            </a:avLst>
          </a:prstGeom>
          <a:solidFill>
            <a:schemeClr val="accent6">
              <a:lumMod val="20000"/>
              <a:lumOff val="80000"/>
            </a:schemeClr>
          </a:solidFill>
          <a:ln>
            <a:solidFill>
              <a:schemeClr val="accent3">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lvl="1" algn="just"/>
            <a:r>
              <a:rPr lang="zh-CN" altLang="zh-CN" sz="2000" dirty="0">
                <a:solidFill>
                  <a:schemeClr val="tx2"/>
                </a:solidFill>
              </a:rPr>
              <a:t>为避免在程序中重复输入这段较长代码的不便，</a:t>
            </a:r>
            <a:r>
              <a:rPr lang="zh-CN" altLang="zh-CN" sz="2000" dirty="0">
                <a:solidFill>
                  <a:srgbClr val="FF0000"/>
                </a:solidFill>
              </a:rPr>
              <a:t>用</a:t>
            </a:r>
            <a:r>
              <a:rPr lang="en-US" altLang="zh-CN" sz="2000" dirty="0">
                <a:solidFill>
                  <a:srgbClr val="FF0000"/>
                </a:solidFill>
              </a:rPr>
              <a:t>plt</a:t>
            </a:r>
            <a:r>
              <a:rPr lang="zh-CN" altLang="zh-CN" sz="2000" dirty="0">
                <a:solidFill>
                  <a:srgbClr val="FF0000"/>
                </a:solidFill>
              </a:rPr>
              <a:t>作为其别名</a:t>
            </a:r>
            <a:r>
              <a:rPr lang="zh-CN" altLang="zh-CN" sz="2000" dirty="0">
                <a:solidFill>
                  <a:schemeClr val="tx2"/>
                </a:solidFill>
              </a:rPr>
              <a:t>，以提高编码的效率</a:t>
            </a:r>
            <a:r>
              <a:rPr lang="zh-CN" altLang="en-US" sz="2000" dirty="0">
                <a:solidFill>
                  <a:schemeClr val="tx2"/>
                </a:solidFill>
              </a:rPr>
              <a:t>。</a:t>
            </a:r>
          </a:p>
        </p:txBody>
      </p:sp>
    </p:spTree>
    <p:extLst>
      <p:ext uri="{BB962C8B-B14F-4D97-AF65-F5344CB8AC3E}">
        <p14:creationId xmlns:p14="http://schemas.microsoft.com/office/powerpoint/2010/main" val="420777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just"/>
            <a:r>
              <a:rPr lang="en-US" altLang="zh-CN" dirty="0"/>
              <a:t>12.1.2  matplotlib. pyplot</a:t>
            </a:r>
            <a:r>
              <a:rPr lang="zh-CN" altLang="en-US" dirty="0"/>
              <a:t>模块</a:t>
            </a:r>
            <a:endParaRPr lang="en-US" dirty="0">
              <a:solidFill>
                <a:srgbClr val="FF0000"/>
              </a:solidFill>
            </a:endParaRPr>
          </a:p>
        </p:txBody>
      </p:sp>
      <p:sp>
        <p:nvSpPr>
          <p:cNvPr id="14" name="Content Placeholder 13"/>
          <p:cNvSpPr>
            <a:spLocks noGrp="1"/>
          </p:cNvSpPr>
          <p:nvPr>
            <p:ph idx="1"/>
          </p:nvPr>
        </p:nvSpPr>
        <p:spPr>
          <a:xfrm>
            <a:off x="1104900" y="1600200"/>
            <a:ext cx="9982200" cy="5025887"/>
          </a:xfrm>
        </p:spPr>
        <p:txBody>
          <a:bodyPr>
            <a:normAutofit/>
          </a:bodyPr>
          <a:lstStyle/>
          <a:p>
            <a:pPr>
              <a:lnSpc>
                <a:spcPct val="150000"/>
              </a:lnSpc>
            </a:pPr>
            <a:r>
              <a:rPr lang="zh-CN" altLang="en-US" dirty="0"/>
              <a:t>举例：</a:t>
            </a:r>
            <a:endParaRPr lang="en-US" altLang="zh-CN" dirty="0"/>
          </a:p>
          <a:p>
            <a:pPr lvl="1">
              <a:lnSpc>
                <a:spcPct val="150000"/>
              </a:lnSpc>
              <a:buFont typeface="Wingdings" panose="05000000000000000000" pitchFamily="2" charset="2"/>
              <a:buChar char="Ø"/>
            </a:pPr>
            <a:r>
              <a:rPr lang="zh-CN" altLang="en-US" sz="2000" dirty="0"/>
              <a:t>绘制一个简单的坐标图，将下述代码在</a:t>
            </a:r>
            <a:r>
              <a:rPr lang="en-US" altLang="zh-CN" sz="2000" dirty="0"/>
              <a:t>Notebook</a:t>
            </a:r>
            <a:r>
              <a:rPr lang="zh-CN" altLang="en-US" sz="2000" dirty="0"/>
              <a:t>中运行后得到右图所示的坐标图。</a:t>
            </a:r>
            <a:endParaRPr lang="en-US" altLang="zh-CN" sz="2000" dirty="0"/>
          </a:p>
        </p:txBody>
      </p:sp>
      <p:graphicFrame>
        <p:nvGraphicFramePr>
          <p:cNvPr id="7" name="表格 6">
            <a:extLst>
              <a:ext uri="{FF2B5EF4-FFF2-40B4-BE49-F238E27FC236}">
                <a16:creationId xmlns:a16="http://schemas.microsoft.com/office/drawing/2014/main" id="{D1D1BFD0-C603-4593-B582-26B563FDDC1C}"/>
              </a:ext>
            </a:extLst>
          </p:cNvPr>
          <p:cNvGraphicFramePr>
            <a:graphicFrameLocks noGrp="1"/>
          </p:cNvGraphicFramePr>
          <p:nvPr>
            <p:extLst>
              <p:ext uri="{D42A27DB-BD31-4B8C-83A1-F6EECF244321}">
                <p14:modId xmlns:p14="http://schemas.microsoft.com/office/powerpoint/2010/main" val="3641382766"/>
              </p:ext>
            </p:extLst>
          </p:nvPr>
        </p:nvGraphicFramePr>
        <p:xfrm>
          <a:off x="1104900" y="2818252"/>
          <a:ext cx="5520771" cy="2689733"/>
        </p:xfrm>
        <a:graphic>
          <a:graphicData uri="http://schemas.openxmlformats.org/drawingml/2006/table">
            <a:tbl>
              <a:tblPr firstRow="1" firstCol="1" bandRow="1"/>
              <a:tblGrid>
                <a:gridCol w="5520771">
                  <a:extLst>
                    <a:ext uri="{9D8B030D-6E8A-4147-A177-3AD203B41FA5}">
                      <a16:colId xmlns:a16="http://schemas.microsoft.com/office/drawing/2014/main" val="165711208"/>
                    </a:ext>
                  </a:extLst>
                </a:gridCol>
              </a:tblGrid>
              <a:tr h="2577630">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导入</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pyplot</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模块并命名为</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plt</a:t>
                      </a:r>
                    </a:p>
                    <a:p>
                      <a:pPr marL="0" algn="l" defTabSz="914400" rtl="0" eaLnBrk="1" latinLnBrk="0" hangingPunct="1">
                        <a:lnSpc>
                          <a:spcPct val="15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import matplotlib.pyplot as plt </a:t>
                      </a:r>
                    </a:p>
                    <a:p>
                      <a:pPr marL="0" algn="l" defTabSz="914400" rtl="0" eaLnBrk="1" latinLnBrk="0" hangingPunct="1">
                        <a:lnSpc>
                          <a:spcPct val="15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坐标取值对应列表</a:t>
                      </a:r>
                      <a:endParaRPr lang="en-US" altLang="zh-CN" sz="2000" kern="100" dirty="0">
                        <a:solidFill>
                          <a:schemeClr val="tx2"/>
                        </a:solidFill>
                        <a:effectLst/>
                        <a:latin typeface="Consolas" panose="020B0609020204030204" pitchFamily="49" charset="0"/>
                        <a:ea typeface="+mn-ea"/>
                        <a:cs typeface="Times New Roman" panose="02020603050405020304" pitchFamily="18" charset="0"/>
                      </a:endParaRPr>
                    </a:p>
                    <a:p>
                      <a:pPr marL="0" algn="l" defTabSz="914400" rtl="0" eaLnBrk="1" latinLnBrk="0" hangingPunct="1">
                        <a:lnSpc>
                          <a:spcPct val="15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listy=[15,58,70,36,9,47]</a:t>
                      </a:r>
                      <a:endParaRPr lang="zh-CN" altLang="en-US" sz="2000" kern="100" dirty="0">
                        <a:solidFill>
                          <a:schemeClr val="tx2"/>
                        </a:solidFill>
                        <a:effectLst/>
                        <a:latin typeface="Consolas" panose="020B0609020204030204" pitchFamily="49" charset="0"/>
                        <a:ea typeface="+mn-ea"/>
                        <a:cs typeface="Times New Roman" panose="02020603050405020304" pitchFamily="18" charset="0"/>
                      </a:endParaRPr>
                    </a:p>
                    <a:p>
                      <a:pPr marL="0" algn="l" defTabSz="914400" rtl="0" eaLnBrk="1" latinLnBrk="0" hangingPunct="1">
                        <a:lnSpc>
                          <a:spcPct val="150000"/>
                        </a:lnSpc>
                        <a:spcAft>
                          <a:spcPts val="0"/>
                        </a:spcAft>
                      </a:pPr>
                      <a:r>
                        <a:rPr lang="en-US" altLang="zh-CN" sz="2000" kern="100" dirty="0">
                          <a:solidFill>
                            <a:srgbClr val="FF0000"/>
                          </a:solidFill>
                          <a:effectLst/>
                          <a:latin typeface="Consolas" panose="020B0609020204030204" pitchFamily="49" charset="0"/>
                          <a:ea typeface="+mn-ea"/>
                          <a:cs typeface="Times New Roman" panose="02020603050405020304" pitchFamily="18" charset="0"/>
                        </a:rPr>
                        <a:t>plt.plot(range(1,7),listy) </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绘制坐标图</a:t>
                      </a:r>
                    </a:p>
                    <a:p>
                      <a:pPr marL="0" algn="l" defTabSz="914400" rtl="0" eaLnBrk="1" latinLnBrk="0" hangingPunct="1">
                        <a:lnSpc>
                          <a:spcPct val="150000"/>
                        </a:lnSpc>
                        <a:spcAft>
                          <a:spcPts val="0"/>
                        </a:spcAft>
                      </a:pPr>
                      <a:r>
                        <a:rPr lang="en-US" altLang="zh-CN" sz="20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显示图像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8" name="图片 7" descr="C:\Users\Lenovo\AppData\Local\Microsoft\Windows\INetCache\Content.MSO\9BAD49F9.tmp">
            <a:extLst>
              <a:ext uri="{FF2B5EF4-FFF2-40B4-BE49-F238E27FC236}">
                <a16:creationId xmlns:a16="http://schemas.microsoft.com/office/drawing/2014/main" id="{20D5FCD4-8E99-47D4-96B1-892D9540C87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634373" y="2663758"/>
            <a:ext cx="4718533" cy="3390901"/>
          </a:xfrm>
          <a:prstGeom prst="rect">
            <a:avLst/>
          </a:prstGeom>
          <a:noFill/>
          <a:ln>
            <a:noFill/>
          </a:ln>
        </p:spPr>
      </p:pic>
      <p:cxnSp>
        <p:nvCxnSpPr>
          <p:cNvPr id="10" name="直接箭头连接符 9">
            <a:extLst>
              <a:ext uri="{FF2B5EF4-FFF2-40B4-BE49-F238E27FC236}">
                <a16:creationId xmlns:a16="http://schemas.microsoft.com/office/drawing/2014/main" id="{B4786A5A-FC1E-4943-8E2A-351994679D8A}"/>
              </a:ext>
            </a:extLst>
          </p:cNvPr>
          <p:cNvCxnSpPr>
            <a:cxnSpLocks/>
          </p:cNvCxnSpPr>
          <p:nvPr/>
        </p:nvCxnSpPr>
        <p:spPr>
          <a:xfrm>
            <a:off x="3379507" y="5061262"/>
            <a:ext cx="494680" cy="993397"/>
          </a:xfrm>
          <a:prstGeom prst="straightConnector1">
            <a:avLst/>
          </a:prstGeom>
          <a:ln w="3810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11" name="矩形 10">
            <a:extLst>
              <a:ext uri="{FF2B5EF4-FFF2-40B4-BE49-F238E27FC236}">
                <a16:creationId xmlns:a16="http://schemas.microsoft.com/office/drawing/2014/main" id="{9C90233F-8C5C-41D0-A74B-19259280C8AD}"/>
              </a:ext>
            </a:extLst>
          </p:cNvPr>
          <p:cNvSpPr/>
          <p:nvPr/>
        </p:nvSpPr>
        <p:spPr>
          <a:xfrm>
            <a:off x="651492" y="6054659"/>
            <a:ext cx="10933044" cy="646331"/>
          </a:xfrm>
          <a:prstGeom prst="rect">
            <a:avLst/>
          </a:prstGeom>
        </p:spPr>
        <p:txBody>
          <a:bodyPr wrap="square">
            <a:spAutoFit/>
          </a:bodyPr>
          <a:lstStyle/>
          <a:p>
            <a:pPr marL="0" lvl="1" algn="just"/>
            <a:r>
              <a:rPr lang="zh-CN" altLang="en-US" dirty="0">
                <a:solidFill>
                  <a:srgbClr val="FF0000"/>
                </a:solidFill>
              </a:rPr>
              <a:t>语句含义</a:t>
            </a:r>
            <a:r>
              <a:rPr lang="zh-CN" altLang="en-US" dirty="0"/>
              <a:t>：</a:t>
            </a:r>
            <a:r>
              <a:rPr lang="zh-CN" altLang="zh-CN" dirty="0"/>
              <a:t>使用</a:t>
            </a:r>
            <a:r>
              <a:rPr lang="en-US" altLang="zh-CN" dirty="0"/>
              <a:t>range(1,7)</a:t>
            </a:r>
            <a:r>
              <a:rPr lang="zh-CN" altLang="zh-CN" dirty="0"/>
              <a:t>函数在</a:t>
            </a:r>
            <a:r>
              <a:rPr lang="en-US" altLang="zh-CN" dirty="0"/>
              <a:t>X</a:t>
            </a:r>
            <a:r>
              <a:rPr lang="zh-CN" altLang="zh-CN" dirty="0"/>
              <a:t>坐标取</a:t>
            </a:r>
            <a:r>
              <a:rPr lang="en-US" altLang="zh-CN" dirty="0"/>
              <a:t>1</a:t>
            </a:r>
            <a:r>
              <a:rPr lang="zh-CN" altLang="zh-CN" dirty="0"/>
              <a:t>到</a:t>
            </a:r>
            <a:r>
              <a:rPr lang="en-US" altLang="zh-CN" dirty="0"/>
              <a:t>6</a:t>
            </a:r>
            <a:r>
              <a:rPr lang="zh-CN" altLang="zh-CN" dirty="0"/>
              <a:t>的整数作为坐标点，再令</a:t>
            </a:r>
            <a:r>
              <a:rPr lang="en-US" altLang="zh-CN" dirty="0"/>
              <a:t>listy</a:t>
            </a:r>
            <a:r>
              <a:rPr lang="zh-CN" altLang="zh-CN" dirty="0"/>
              <a:t>中的值为对应每一个</a:t>
            </a:r>
            <a:r>
              <a:rPr lang="en-US" altLang="zh-CN" dirty="0"/>
              <a:t>X</a:t>
            </a:r>
            <a:r>
              <a:rPr lang="zh-CN" altLang="zh-CN" dirty="0"/>
              <a:t>坐标点上的</a:t>
            </a:r>
            <a:r>
              <a:rPr lang="en-US" altLang="zh-CN" dirty="0"/>
              <a:t>Y</a:t>
            </a:r>
            <a:r>
              <a:rPr lang="zh-CN" altLang="zh-CN" dirty="0"/>
              <a:t>坐标值，调用</a:t>
            </a:r>
            <a:r>
              <a:rPr lang="en-US" altLang="zh-CN" dirty="0"/>
              <a:t>plt.plot()</a:t>
            </a:r>
            <a:r>
              <a:rPr lang="zh-CN" altLang="zh-CN" dirty="0"/>
              <a:t>函数来创建这六个点的坐标图，并用</a:t>
            </a:r>
            <a:r>
              <a:rPr lang="en-US" altLang="zh-CN" dirty="0" err="1"/>
              <a:t>plt.show</a:t>
            </a:r>
            <a:r>
              <a:rPr lang="en-US" altLang="zh-CN" dirty="0"/>
              <a:t>()</a:t>
            </a:r>
            <a:r>
              <a:rPr lang="zh-CN" altLang="zh-CN" dirty="0"/>
              <a:t>函数显示图像</a:t>
            </a:r>
            <a:r>
              <a:rPr lang="zh-CN" altLang="en-US" dirty="0"/>
              <a:t>。</a:t>
            </a:r>
            <a:endParaRPr lang="zh-CN" altLang="en-US" sz="2000" dirty="0">
              <a:solidFill>
                <a:schemeClr val="tx2"/>
              </a:solidFill>
            </a:endParaRPr>
          </a:p>
        </p:txBody>
      </p:sp>
    </p:spTree>
    <p:extLst>
      <p:ext uri="{BB962C8B-B14F-4D97-AF65-F5344CB8AC3E}">
        <p14:creationId xmlns:p14="http://schemas.microsoft.com/office/powerpoint/2010/main" val="72011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just"/>
            <a:r>
              <a:rPr lang="en-US" altLang="zh-CN" dirty="0"/>
              <a:t>12.1.2  matplotlib. pyplot</a:t>
            </a:r>
            <a:r>
              <a:rPr lang="zh-CN" altLang="en-US" dirty="0"/>
              <a:t>模块</a:t>
            </a:r>
            <a:r>
              <a:rPr lang="en-US" altLang="zh-CN" dirty="0"/>
              <a:t>——plot()</a:t>
            </a:r>
            <a:r>
              <a:rPr lang="zh-CN" altLang="en-US" dirty="0"/>
              <a:t>函数</a:t>
            </a:r>
            <a:endParaRPr lang="en-US" dirty="0">
              <a:solidFill>
                <a:srgbClr val="FF0000"/>
              </a:solidFill>
            </a:endParaRPr>
          </a:p>
        </p:txBody>
      </p:sp>
      <p:sp>
        <p:nvSpPr>
          <p:cNvPr id="14" name="Content Placeholder 13"/>
          <p:cNvSpPr>
            <a:spLocks noGrp="1"/>
          </p:cNvSpPr>
          <p:nvPr>
            <p:ph idx="1"/>
          </p:nvPr>
        </p:nvSpPr>
        <p:spPr>
          <a:xfrm>
            <a:off x="1104900" y="1600200"/>
            <a:ext cx="9982200" cy="5025887"/>
          </a:xfrm>
        </p:spPr>
        <p:txBody>
          <a:bodyPr>
            <a:normAutofit/>
          </a:bodyPr>
          <a:lstStyle/>
          <a:p>
            <a:r>
              <a:rPr lang="en-US" altLang="zh-CN" dirty="0"/>
              <a:t>plot()</a:t>
            </a:r>
            <a:r>
              <a:rPr lang="zh-CN" altLang="zh-CN" dirty="0"/>
              <a:t>函数会根据指定的坐标绘制</a:t>
            </a:r>
            <a:r>
              <a:rPr lang="zh-CN" altLang="zh-CN" dirty="0">
                <a:solidFill>
                  <a:srgbClr val="FF0000"/>
                </a:solidFill>
              </a:rPr>
              <a:t>折线图</a:t>
            </a:r>
            <a:r>
              <a:rPr lang="zh-CN" altLang="en-US" dirty="0"/>
              <a:t>，其</a:t>
            </a:r>
            <a:r>
              <a:rPr lang="zh-CN" altLang="zh-CN" dirty="0"/>
              <a:t>语法格式为：</a:t>
            </a:r>
            <a:endParaRPr lang="en-US" altLang="zh-CN" dirty="0"/>
          </a:p>
          <a:p>
            <a:pPr marL="0" indent="0">
              <a:buNone/>
            </a:pPr>
            <a:r>
              <a:rPr lang="en-US" altLang="zh-CN" dirty="0"/>
              <a:t>			</a:t>
            </a:r>
            <a:r>
              <a:rPr lang="en-US" altLang="zh-CN" dirty="0">
                <a:solidFill>
                  <a:srgbClr val="FF0000"/>
                </a:solidFill>
              </a:rPr>
              <a:t>plt.plot (X</a:t>
            </a:r>
            <a:r>
              <a:rPr lang="zh-CN" altLang="zh-CN" dirty="0">
                <a:solidFill>
                  <a:srgbClr val="FF0000"/>
                </a:solidFill>
              </a:rPr>
              <a:t>坐标列表，</a:t>
            </a:r>
            <a:r>
              <a:rPr lang="en-US" altLang="zh-CN" dirty="0">
                <a:solidFill>
                  <a:srgbClr val="FF0000"/>
                </a:solidFill>
              </a:rPr>
              <a:t>Y</a:t>
            </a:r>
            <a:r>
              <a:rPr lang="zh-CN" altLang="zh-CN" dirty="0">
                <a:solidFill>
                  <a:srgbClr val="FF0000"/>
                </a:solidFill>
              </a:rPr>
              <a:t>坐标列表</a:t>
            </a:r>
            <a:r>
              <a:rPr lang="en-US" altLang="zh-CN" dirty="0">
                <a:solidFill>
                  <a:srgbClr val="FF0000"/>
                </a:solidFill>
              </a:rPr>
              <a:t>)</a:t>
            </a:r>
          </a:p>
          <a:p>
            <a:r>
              <a:rPr lang="zh-CN" altLang="zh-CN" dirty="0"/>
              <a:t>绘图完成后函数一般不会立刻显示图像，需要调用</a:t>
            </a:r>
            <a:r>
              <a:rPr lang="en-US" altLang="zh-CN" dirty="0"/>
              <a:t> show() </a:t>
            </a:r>
            <a:r>
              <a:rPr lang="zh-CN" altLang="zh-CN" dirty="0"/>
              <a:t>方法显示，其语法格式为</a:t>
            </a:r>
            <a:r>
              <a:rPr lang="zh-CN" altLang="en-US" dirty="0"/>
              <a:t>：</a:t>
            </a:r>
            <a:endParaRPr lang="en-US" altLang="zh-CN" dirty="0"/>
          </a:p>
          <a:p>
            <a:pPr marL="0" indent="0">
              <a:buNone/>
            </a:pPr>
            <a:r>
              <a:rPr lang="en-US" altLang="zh-CN" dirty="0"/>
              <a:t>			 </a:t>
            </a:r>
            <a:r>
              <a:rPr lang="en-US" altLang="zh-CN" sz="1800" dirty="0"/>
              <a:t>	</a:t>
            </a:r>
            <a:r>
              <a:rPr lang="en-US" altLang="zh-CN" dirty="0" err="1">
                <a:solidFill>
                  <a:srgbClr val="FF0000"/>
                </a:solidFill>
              </a:rPr>
              <a:t>plt.show</a:t>
            </a:r>
            <a:r>
              <a:rPr lang="en-US" altLang="zh-CN" dirty="0">
                <a:solidFill>
                  <a:srgbClr val="FF0000"/>
                </a:solidFill>
              </a:rPr>
              <a:t>() </a:t>
            </a:r>
          </a:p>
          <a:p>
            <a:pPr>
              <a:lnSpc>
                <a:spcPct val="100000"/>
              </a:lnSpc>
            </a:pPr>
            <a:r>
              <a:rPr lang="zh-CN" altLang="en-US" dirty="0"/>
              <a:t>或者，使用一个魔法函数（</a:t>
            </a:r>
            <a:r>
              <a:rPr lang="en-US" altLang="zh-CN" dirty="0"/>
              <a:t>Magic Functions</a:t>
            </a:r>
            <a:r>
              <a:rPr lang="zh-CN" altLang="en-US" dirty="0"/>
              <a:t>），即 “</a:t>
            </a:r>
            <a:r>
              <a:rPr lang="en-US" altLang="zh-CN" dirty="0">
                <a:solidFill>
                  <a:srgbClr val="FF0000"/>
                </a:solidFill>
              </a:rPr>
              <a:t>%matplotlib inline</a:t>
            </a:r>
            <a:r>
              <a:rPr lang="en-US" altLang="zh-CN" dirty="0"/>
              <a:t>” </a:t>
            </a:r>
            <a:r>
              <a:rPr lang="zh-CN" altLang="en-US" dirty="0"/>
              <a:t>语句。</a:t>
            </a:r>
            <a:endParaRPr lang="en-US" altLang="zh-CN" dirty="0"/>
          </a:p>
          <a:p>
            <a:pPr lvl="1">
              <a:lnSpc>
                <a:spcPct val="150000"/>
              </a:lnSpc>
              <a:buFont typeface="Wingdings" panose="05000000000000000000" pitchFamily="2" charset="2"/>
              <a:buChar char="Ø"/>
            </a:pPr>
            <a:r>
              <a:rPr lang="zh-CN" altLang="en-US" sz="1800" dirty="0"/>
              <a:t>它是一个在 </a:t>
            </a:r>
            <a:r>
              <a:rPr lang="en-US" altLang="zh-CN" sz="1800" dirty="0" err="1"/>
              <a:t>IPython</a:t>
            </a:r>
            <a:r>
              <a:rPr lang="en-US" altLang="zh-CN" sz="1800" dirty="0"/>
              <a:t> </a:t>
            </a:r>
            <a:r>
              <a:rPr lang="zh-CN" altLang="en-US" sz="1800" dirty="0"/>
              <a:t>预先定义好的、可以通过命令行的语法形式来访问的函数。</a:t>
            </a:r>
            <a:endParaRPr lang="en-US" altLang="zh-CN" sz="1800" dirty="0"/>
          </a:p>
          <a:p>
            <a:pPr lvl="1">
              <a:lnSpc>
                <a:spcPct val="150000"/>
              </a:lnSpc>
              <a:buFont typeface="Wingdings" panose="05000000000000000000" pitchFamily="2" charset="2"/>
              <a:buChar char="Ø"/>
            </a:pPr>
            <a:r>
              <a:rPr lang="zh-CN" altLang="en-US" sz="1800" dirty="0"/>
              <a:t>这一段魔术指令放在</a:t>
            </a:r>
            <a:r>
              <a:rPr lang="zh-CN" altLang="en-US" sz="1800" dirty="0">
                <a:solidFill>
                  <a:srgbClr val="FF0000"/>
                </a:solidFill>
              </a:rPr>
              <a:t>代码的开头</a:t>
            </a:r>
            <a:r>
              <a:rPr lang="zh-CN" altLang="en-US" sz="1800" dirty="0"/>
              <a:t>，在执行完 </a:t>
            </a:r>
            <a:r>
              <a:rPr lang="en-US" altLang="zh-CN" sz="1800" dirty="0"/>
              <a:t>plt.plot() </a:t>
            </a:r>
            <a:r>
              <a:rPr lang="zh-CN" altLang="en-US" sz="1800" dirty="0"/>
              <a:t>绘制图形之后，</a:t>
            </a:r>
            <a:r>
              <a:rPr lang="zh-CN" altLang="en-US" sz="1800" dirty="0">
                <a:solidFill>
                  <a:srgbClr val="FF0000"/>
                </a:solidFill>
              </a:rPr>
              <a:t>不需要调用 </a:t>
            </a:r>
            <a:r>
              <a:rPr lang="en-US" altLang="zh-CN" sz="1800" dirty="0" err="1">
                <a:solidFill>
                  <a:srgbClr val="FF0000"/>
                </a:solidFill>
              </a:rPr>
              <a:t>plt.show</a:t>
            </a:r>
            <a:r>
              <a:rPr lang="en-US" altLang="zh-CN" sz="1800" dirty="0">
                <a:solidFill>
                  <a:srgbClr val="FF0000"/>
                </a:solidFill>
              </a:rPr>
              <a:t>() </a:t>
            </a:r>
            <a:r>
              <a:rPr lang="zh-CN" altLang="en-US" sz="1800" dirty="0"/>
              <a:t>就能够在 </a:t>
            </a:r>
            <a:r>
              <a:rPr lang="en-US" altLang="zh-CN" sz="1800" dirty="0"/>
              <a:t>Notebook </a:t>
            </a:r>
            <a:r>
              <a:rPr lang="zh-CN" altLang="en-US" sz="1800" dirty="0"/>
              <a:t>中显示图形。</a:t>
            </a:r>
            <a:r>
              <a:rPr lang="zh-CN" altLang="en-US" sz="2000" b="1" dirty="0">
                <a:solidFill>
                  <a:srgbClr val="00B050"/>
                </a:solidFill>
              </a:rPr>
              <a:t>注意：仅限于在 </a:t>
            </a:r>
            <a:r>
              <a:rPr lang="en-US" altLang="zh-CN" sz="2000" b="1" dirty="0" err="1">
                <a:solidFill>
                  <a:srgbClr val="00B050"/>
                </a:solidFill>
              </a:rPr>
              <a:t>Jupyter</a:t>
            </a:r>
            <a:r>
              <a:rPr lang="en-US" altLang="zh-CN" sz="2000" b="1" dirty="0">
                <a:solidFill>
                  <a:srgbClr val="00B050"/>
                </a:solidFill>
              </a:rPr>
              <a:t> Notebook </a:t>
            </a:r>
            <a:r>
              <a:rPr lang="zh-CN" altLang="en-US" sz="2000" b="1" dirty="0">
                <a:solidFill>
                  <a:srgbClr val="00B050"/>
                </a:solidFill>
              </a:rPr>
              <a:t>之内使用。</a:t>
            </a:r>
            <a:endParaRPr lang="en-US" altLang="zh-CN" sz="1800" b="1" dirty="0">
              <a:solidFill>
                <a:srgbClr val="00B050"/>
              </a:solidFill>
            </a:endParaRPr>
          </a:p>
        </p:txBody>
      </p:sp>
      <p:graphicFrame>
        <p:nvGraphicFramePr>
          <p:cNvPr id="7" name="表格 6">
            <a:extLst>
              <a:ext uri="{FF2B5EF4-FFF2-40B4-BE49-F238E27FC236}">
                <a16:creationId xmlns:a16="http://schemas.microsoft.com/office/drawing/2014/main" id="{0399D3AF-4AFF-4D08-A817-6737C4DC7398}"/>
              </a:ext>
            </a:extLst>
          </p:cNvPr>
          <p:cNvGraphicFramePr>
            <a:graphicFrameLocks noGrp="1"/>
          </p:cNvGraphicFramePr>
          <p:nvPr>
            <p:extLst>
              <p:ext uri="{D42A27DB-BD31-4B8C-83A1-F6EECF244321}">
                <p14:modId xmlns:p14="http://schemas.microsoft.com/office/powerpoint/2010/main" val="3930742731"/>
              </p:ext>
            </p:extLst>
          </p:nvPr>
        </p:nvGraphicFramePr>
        <p:xfrm>
          <a:off x="6970233" y="5751442"/>
          <a:ext cx="4115349" cy="1030357"/>
        </p:xfrm>
        <a:graphic>
          <a:graphicData uri="http://schemas.openxmlformats.org/drawingml/2006/table">
            <a:tbl>
              <a:tblPr firstRow="1" firstCol="1" bandRow="1"/>
              <a:tblGrid>
                <a:gridCol w="4115349">
                  <a:extLst>
                    <a:ext uri="{9D8B030D-6E8A-4147-A177-3AD203B41FA5}">
                      <a16:colId xmlns:a16="http://schemas.microsoft.com/office/drawing/2014/main" val="165711208"/>
                    </a:ext>
                  </a:extLst>
                </a:gridCol>
              </a:tblGrid>
              <a:tr h="1030357">
                <a:tc>
                  <a:txBody>
                    <a:bodyPr/>
                    <a:lstStyle/>
                    <a:p>
                      <a:pPr algn="just">
                        <a:lnSpc>
                          <a:spcPct val="100000"/>
                        </a:lnSpc>
                        <a:spcAft>
                          <a:spcPts val="0"/>
                        </a:spcAft>
                      </a:pPr>
                      <a:r>
                        <a:rPr lang="en-US" altLang="zh-CN" sz="2000" kern="100" dirty="0">
                          <a:solidFill>
                            <a:srgbClr val="FF0000"/>
                          </a:solidFill>
                          <a:effectLst/>
                          <a:latin typeface="Consolas" panose="020B0609020204030204" pitchFamily="49" charset="0"/>
                          <a:ea typeface="+mn-ea"/>
                          <a:cs typeface="Times New Roman" panose="02020603050405020304" pitchFamily="18" charset="0"/>
                        </a:rPr>
                        <a:t>%matplotlib inline</a:t>
                      </a:r>
                    </a:p>
                    <a:p>
                      <a:pPr algn="just">
                        <a:lnSpc>
                          <a:spcPct val="10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plt.plot(range(1,7),\ [15,58,70,36,9,47])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graphicFrame>
        <p:nvGraphicFramePr>
          <p:cNvPr id="8" name="表格 7">
            <a:extLst>
              <a:ext uri="{FF2B5EF4-FFF2-40B4-BE49-F238E27FC236}">
                <a16:creationId xmlns:a16="http://schemas.microsoft.com/office/drawing/2014/main" id="{3C2BA4EC-8A5F-4796-BCBA-D503FD707B5C}"/>
              </a:ext>
            </a:extLst>
          </p:cNvPr>
          <p:cNvGraphicFramePr>
            <a:graphicFrameLocks noGrp="1"/>
          </p:cNvGraphicFramePr>
          <p:nvPr>
            <p:extLst>
              <p:ext uri="{D42A27DB-BD31-4B8C-83A1-F6EECF244321}">
                <p14:modId xmlns:p14="http://schemas.microsoft.com/office/powerpoint/2010/main" val="2934616592"/>
              </p:ext>
            </p:extLst>
          </p:nvPr>
        </p:nvGraphicFramePr>
        <p:xfrm>
          <a:off x="1104900" y="5751442"/>
          <a:ext cx="3971026" cy="1007166"/>
        </p:xfrm>
        <a:graphic>
          <a:graphicData uri="http://schemas.openxmlformats.org/drawingml/2006/table">
            <a:tbl>
              <a:tblPr firstRow="1" firstCol="1" bandRow="1"/>
              <a:tblGrid>
                <a:gridCol w="3971026">
                  <a:extLst>
                    <a:ext uri="{9D8B030D-6E8A-4147-A177-3AD203B41FA5}">
                      <a16:colId xmlns:a16="http://schemas.microsoft.com/office/drawing/2014/main" val="165711208"/>
                    </a:ext>
                  </a:extLst>
                </a:gridCol>
              </a:tblGrid>
              <a:tr h="1007166">
                <a:tc>
                  <a:txBody>
                    <a:bodyPr/>
                    <a:lstStyle/>
                    <a:p>
                      <a:pPr marL="0" algn="l" defTabSz="914400" rtl="0" eaLnBrk="1" latinLnBrk="0" hangingPunct="1">
                        <a:lnSpc>
                          <a:spcPct val="10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listy=[15,58,70,36,9,47]</a:t>
                      </a:r>
                      <a:endParaRPr lang="zh-CN" altLang="en-US" sz="2000" kern="100" dirty="0">
                        <a:solidFill>
                          <a:schemeClr val="tx2"/>
                        </a:solidFill>
                        <a:effectLst/>
                        <a:latin typeface="Consolas" panose="020B0609020204030204" pitchFamily="49" charset="0"/>
                        <a:ea typeface="+mn-ea"/>
                        <a:cs typeface="Times New Roman" panose="02020603050405020304" pitchFamily="18" charset="0"/>
                      </a:endParaRPr>
                    </a:p>
                    <a:p>
                      <a:pPr marL="0" algn="l" defTabSz="914400" rtl="0" eaLnBrk="1" latinLnBrk="0" hangingPunct="1">
                        <a:lnSpc>
                          <a:spcPct val="10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plt.plot(range(1,7),listy) </a:t>
                      </a:r>
                    </a:p>
                    <a:p>
                      <a:pPr marL="0" algn="l" defTabSz="914400" rtl="0" eaLnBrk="1" latinLnBrk="0" hangingPunct="1">
                        <a:lnSpc>
                          <a:spcPct val="100000"/>
                        </a:lnSpc>
                        <a:spcAft>
                          <a:spcPts val="0"/>
                        </a:spcAft>
                      </a:pPr>
                      <a:r>
                        <a:rPr lang="en-US" altLang="zh-CN" sz="2000" kern="100" dirty="0" err="1">
                          <a:solidFill>
                            <a:srgbClr val="FF0000"/>
                          </a:solidFill>
                          <a:effectLst/>
                          <a:latin typeface="Consolas" panose="020B0609020204030204" pitchFamily="49" charset="0"/>
                          <a:ea typeface="+mn-ea"/>
                          <a:cs typeface="Times New Roman" panose="02020603050405020304" pitchFamily="18" charset="0"/>
                        </a:rPr>
                        <a:t>plt.show</a:t>
                      </a:r>
                      <a:r>
                        <a:rPr lang="en-US" altLang="zh-CN" sz="2000" kern="100" dirty="0">
                          <a:solidFill>
                            <a:srgbClr val="FF0000"/>
                          </a:solidFill>
                          <a:effectLst/>
                          <a:latin typeface="Consolas" panose="020B0609020204030204" pitchFamily="49" charset="0"/>
                          <a:ea typeface="+mn-ea"/>
                          <a:cs typeface="Times New Roman" panose="02020603050405020304" pitchFamily="18" charset="0"/>
                        </a:rPr>
                        <a:t>()                </a:t>
                      </a:r>
                      <a:endParaRPr lang="zh-CN" altLang="en-US" sz="2000" kern="100" dirty="0">
                        <a:solidFill>
                          <a:srgbClr val="FF0000"/>
                        </a:solidFill>
                        <a:effectLst/>
                        <a:latin typeface="Consolas" panose="020B0609020204030204" pitchFamily="49" charset="0"/>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sp>
        <p:nvSpPr>
          <p:cNvPr id="9" name="文本框 8">
            <a:extLst>
              <a:ext uri="{FF2B5EF4-FFF2-40B4-BE49-F238E27FC236}">
                <a16:creationId xmlns:a16="http://schemas.microsoft.com/office/drawing/2014/main" id="{6160B6D4-1C6E-419A-A71F-D67269899750}"/>
              </a:ext>
            </a:extLst>
          </p:cNvPr>
          <p:cNvSpPr txBox="1"/>
          <p:nvPr/>
        </p:nvSpPr>
        <p:spPr>
          <a:xfrm>
            <a:off x="5497609" y="6066565"/>
            <a:ext cx="1050940" cy="400110"/>
          </a:xfrm>
          <a:prstGeom prst="rect">
            <a:avLst/>
          </a:prstGeom>
          <a:noFill/>
        </p:spPr>
        <p:txBody>
          <a:bodyPr wrap="square" rtlCol="0">
            <a:spAutoFit/>
          </a:bodyPr>
          <a:lstStyle/>
          <a:p>
            <a:r>
              <a:rPr lang="zh-CN" altLang="en-US" sz="2000" dirty="0">
                <a:solidFill>
                  <a:srgbClr val="FF0000"/>
                </a:solidFill>
              </a:rPr>
              <a:t>等价于：</a:t>
            </a:r>
          </a:p>
        </p:txBody>
      </p:sp>
    </p:spTree>
    <p:extLst>
      <p:ext uri="{BB962C8B-B14F-4D97-AF65-F5344CB8AC3E}">
        <p14:creationId xmlns:p14="http://schemas.microsoft.com/office/powerpoint/2010/main" val="313386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just"/>
            <a:r>
              <a:rPr lang="en-US" altLang="zh-CN" dirty="0"/>
              <a:t>12.1.2  matplotlib. pyplot</a:t>
            </a:r>
            <a:r>
              <a:rPr lang="zh-CN" altLang="en-US" dirty="0"/>
              <a:t>模块</a:t>
            </a:r>
            <a:r>
              <a:rPr lang="en-US" altLang="zh-CN" dirty="0"/>
              <a:t>——plot()</a:t>
            </a:r>
            <a:r>
              <a:rPr lang="zh-CN" altLang="en-US" dirty="0"/>
              <a:t>函数</a:t>
            </a:r>
            <a:endParaRPr lang="en-US" dirty="0">
              <a:solidFill>
                <a:srgbClr val="FF0000"/>
              </a:solidFill>
            </a:endParaRPr>
          </a:p>
        </p:txBody>
      </p:sp>
      <p:sp>
        <p:nvSpPr>
          <p:cNvPr id="14" name="Content Placeholder 13"/>
          <p:cNvSpPr>
            <a:spLocks noGrp="1"/>
          </p:cNvSpPr>
          <p:nvPr>
            <p:ph idx="1"/>
          </p:nvPr>
        </p:nvSpPr>
        <p:spPr>
          <a:xfrm>
            <a:off x="1104900" y="1600200"/>
            <a:ext cx="9982200" cy="5025887"/>
          </a:xfrm>
        </p:spPr>
        <p:txBody>
          <a:bodyPr>
            <a:normAutofit/>
          </a:bodyPr>
          <a:lstStyle/>
          <a:p>
            <a:pPr>
              <a:lnSpc>
                <a:spcPct val="150000"/>
              </a:lnSpc>
            </a:pPr>
            <a:r>
              <a:rPr lang="zh-CN" altLang="en-US" dirty="0"/>
              <a:t>举例：</a:t>
            </a:r>
            <a:endParaRPr lang="en-US" altLang="zh-CN" dirty="0"/>
          </a:p>
          <a:p>
            <a:pPr lvl="1">
              <a:lnSpc>
                <a:spcPct val="150000"/>
              </a:lnSpc>
              <a:buFont typeface="Wingdings" panose="05000000000000000000" pitchFamily="2" charset="2"/>
              <a:buChar char="Ø"/>
            </a:pPr>
            <a:r>
              <a:rPr lang="zh-CN" altLang="en-US" sz="2000" dirty="0"/>
              <a:t>在一个坐标轴上绘制多个线形图。</a:t>
            </a:r>
            <a:endParaRPr lang="en-US" altLang="zh-CN" sz="2000" dirty="0"/>
          </a:p>
        </p:txBody>
      </p:sp>
      <p:graphicFrame>
        <p:nvGraphicFramePr>
          <p:cNvPr id="7" name="表格 6">
            <a:extLst>
              <a:ext uri="{FF2B5EF4-FFF2-40B4-BE49-F238E27FC236}">
                <a16:creationId xmlns:a16="http://schemas.microsoft.com/office/drawing/2014/main" id="{D1D1BFD0-C603-4593-B582-26B563FDDC1C}"/>
              </a:ext>
            </a:extLst>
          </p:cNvPr>
          <p:cNvGraphicFramePr>
            <a:graphicFrameLocks noGrp="1"/>
          </p:cNvGraphicFramePr>
          <p:nvPr>
            <p:extLst>
              <p:ext uri="{D42A27DB-BD31-4B8C-83A1-F6EECF244321}">
                <p14:modId xmlns:p14="http://schemas.microsoft.com/office/powerpoint/2010/main" val="2492794323"/>
              </p:ext>
            </p:extLst>
          </p:nvPr>
        </p:nvGraphicFramePr>
        <p:xfrm>
          <a:off x="641074" y="2902571"/>
          <a:ext cx="6236804" cy="2832227"/>
        </p:xfrm>
        <a:graphic>
          <a:graphicData uri="http://schemas.openxmlformats.org/drawingml/2006/table">
            <a:tbl>
              <a:tblPr firstRow="1" firstCol="1" bandRow="1"/>
              <a:tblGrid>
                <a:gridCol w="6236804">
                  <a:extLst>
                    <a:ext uri="{9D8B030D-6E8A-4147-A177-3AD203B41FA5}">
                      <a16:colId xmlns:a16="http://schemas.microsoft.com/office/drawing/2014/main" val="165711208"/>
                    </a:ext>
                  </a:extLst>
                </a:gridCol>
              </a:tblGrid>
              <a:tr h="2577630">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import matplotlib.pyplot as plt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listy1=[15,58,70,36,9,47]     #Y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坐标取值对应列表</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1</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listx2=[1,2,4,7,10,13]        #X</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坐标取值对应列表</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2</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listy2=[10,11,49,85,67,1]     #Y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坐标取值对应列表</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2</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rgbClr val="FF0000"/>
                          </a:solidFill>
                          <a:effectLst/>
                          <a:latin typeface="Consolas" panose="020B0609020204030204" pitchFamily="49" charset="0"/>
                          <a:ea typeface="+mn-ea"/>
                          <a:cs typeface="Times New Roman" panose="02020603050405020304" pitchFamily="18" charset="0"/>
                        </a:rPr>
                        <a:t>plt.plot(range(1,7),listy1)   #</a:t>
                      </a:r>
                      <a:r>
                        <a:rPr lang="zh-CN" altLang="en-US" sz="1800" kern="100" dirty="0">
                          <a:solidFill>
                            <a:srgbClr val="FF0000"/>
                          </a:solidFill>
                          <a:effectLst/>
                          <a:latin typeface="Consolas" panose="020B0609020204030204" pitchFamily="49" charset="0"/>
                          <a:ea typeface="+mn-ea"/>
                          <a:cs typeface="Times New Roman" panose="02020603050405020304" pitchFamily="18" charset="0"/>
                        </a:rPr>
                        <a:t>绘制坐标图</a:t>
                      </a:r>
                      <a:r>
                        <a:rPr lang="en-US" altLang="zh-CN" sz="1800" kern="100" dirty="0">
                          <a:solidFill>
                            <a:srgbClr val="FF0000"/>
                          </a:solidFill>
                          <a:effectLst/>
                          <a:latin typeface="Consolas" panose="020B0609020204030204" pitchFamily="49" charset="0"/>
                          <a:ea typeface="+mn-ea"/>
                          <a:cs typeface="Times New Roman" panose="02020603050405020304" pitchFamily="18" charset="0"/>
                        </a:rPr>
                        <a:t>1</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rgbClr val="FF0000"/>
                          </a:solidFill>
                          <a:effectLst/>
                          <a:latin typeface="Consolas" panose="020B0609020204030204" pitchFamily="49" charset="0"/>
                          <a:ea typeface="+mn-ea"/>
                          <a:cs typeface="Times New Roman" panose="02020603050405020304" pitchFamily="18" charset="0"/>
                        </a:rPr>
                        <a:t>plt.plot(listx2,listy2)       #</a:t>
                      </a:r>
                      <a:r>
                        <a:rPr lang="zh-CN" altLang="en-US" sz="1800" kern="100" dirty="0">
                          <a:solidFill>
                            <a:srgbClr val="FF0000"/>
                          </a:solidFill>
                          <a:effectLst/>
                          <a:latin typeface="Consolas" panose="020B0609020204030204" pitchFamily="49" charset="0"/>
                          <a:ea typeface="+mn-ea"/>
                          <a:cs typeface="Times New Roman" panose="02020603050405020304" pitchFamily="18" charset="0"/>
                        </a:rPr>
                        <a:t>绘制坐标图</a:t>
                      </a:r>
                      <a:r>
                        <a:rPr lang="en-US" altLang="zh-CN" sz="1800" kern="100" dirty="0">
                          <a:solidFill>
                            <a:srgbClr val="FF0000"/>
                          </a:solidFill>
                          <a:effectLst/>
                          <a:latin typeface="Consolas" panose="020B0609020204030204" pitchFamily="49" charset="0"/>
                          <a:ea typeface="+mn-ea"/>
                          <a:cs typeface="Times New Roman" panose="02020603050405020304" pitchFamily="18" charset="0"/>
                        </a:rPr>
                        <a:t>2</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8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显示所有图像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9" name="图片 8" descr="C:\Users\Lenovo\AppData\Local\Microsoft\Windows\INetCache\Content.MSO\998CB76F.tmp">
            <a:extLst>
              <a:ext uri="{FF2B5EF4-FFF2-40B4-BE49-F238E27FC236}">
                <a16:creationId xmlns:a16="http://schemas.microsoft.com/office/drawing/2014/main" id="{9880747F-AFC9-40EF-88F6-DC1A4F9033B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17637" y="2782985"/>
            <a:ext cx="5009321" cy="3359642"/>
          </a:xfrm>
          <a:prstGeom prst="rect">
            <a:avLst/>
          </a:prstGeom>
          <a:noFill/>
          <a:ln>
            <a:noFill/>
          </a:ln>
        </p:spPr>
      </p:pic>
      <p:sp>
        <p:nvSpPr>
          <p:cNvPr id="12" name="对话气泡: 圆角矩形 11">
            <a:extLst>
              <a:ext uri="{FF2B5EF4-FFF2-40B4-BE49-F238E27FC236}">
                <a16:creationId xmlns:a16="http://schemas.microsoft.com/office/drawing/2014/main" id="{DD120E90-6334-4C8E-81FC-EDF3809DB947}"/>
              </a:ext>
            </a:extLst>
          </p:cNvPr>
          <p:cNvSpPr/>
          <p:nvPr/>
        </p:nvSpPr>
        <p:spPr>
          <a:xfrm>
            <a:off x="4838632" y="1561843"/>
            <a:ext cx="3742289" cy="467139"/>
          </a:xfrm>
          <a:prstGeom prst="wedgeRoundRectCallout">
            <a:avLst>
              <a:gd name="adj1" fmla="val -49758"/>
              <a:gd name="adj2" fmla="val 82062"/>
              <a:gd name="adj3" fmla="val 16667"/>
            </a:avLst>
          </a:prstGeom>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en-US" dirty="0">
                <a:solidFill>
                  <a:srgbClr val="FF0000"/>
                </a:solidFill>
              </a:rPr>
              <a:t>通过多次调用</a:t>
            </a:r>
            <a:r>
              <a:rPr lang="en-US" altLang="zh-CN" dirty="0">
                <a:solidFill>
                  <a:srgbClr val="FF0000"/>
                </a:solidFill>
              </a:rPr>
              <a:t>plt.plot() </a:t>
            </a:r>
            <a:r>
              <a:rPr lang="zh-CN" altLang="en-US" dirty="0">
                <a:solidFill>
                  <a:srgbClr val="FF0000"/>
                </a:solidFill>
              </a:rPr>
              <a:t>函数来实现</a:t>
            </a:r>
          </a:p>
        </p:txBody>
      </p:sp>
      <p:cxnSp>
        <p:nvCxnSpPr>
          <p:cNvPr id="16" name="直接箭头连接符 15">
            <a:extLst>
              <a:ext uri="{FF2B5EF4-FFF2-40B4-BE49-F238E27FC236}">
                <a16:creationId xmlns:a16="http://schemas.microsoft.com/office/drawing/2014/main" id="{DB6B296C-4978-4DF6-B524-1F29E1B712FB}"/>
              </a:ext>
            </a:extLst>
          </p:cNvPr>
          <p:cNvCxnSpPr>
            <a:cxnSpLocks/>
          </p:cNvCxnSpPr>
          <p:nvPr/>
        </p:nvCxnSpPr>
        <p:spPr>
          <a:xfrm flipH="1">
            <a:off x="7195930" y="5500326"/>
            <a:ext cx="450575" cy="680658"/>
          </a:xfrm>
          <a:prstGeom prst="straightConnector1">
            <a:avLst/>
          </a:prstGeom>
          <a:ln w="3810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6" name="矩形 5">
            <a:extLst>
              <a:ext uri="{FF2B5EF4-FFF2-40B4-BE49-F238E27FC236}">
                <a16:creationId xmlns:a16="http://schemas.microsoft.com/office/drawing/2014/main" id="{106E1CD5-6693-4F4F-A07C-4D33941FA963}"/>
              </a:ext>
            </a:extLst>
          </p:cNvPr>
          <p:cNvSpPr/>
          <p:nvPr/>
        </p:nvSpPr>
        <p:spPr>
          <a:xfrm>
            <a:off x="568326" y="6253150"/>
            <a:ext cx="11053830" cy="400110"/>
          </a:xfrm>
          <a:prstGeom prst="rect">
            <a:avLst/>
          </a:prstGeom>
        </p:spPr>
        <p:txBody>
          <a:bodyPr wrap="square">
            <a:spAutoFit/>
          </a:bodyPr>
          <a:lstStyle/>
          <a:p>
            <a:r>
              <a:rPr lang="zh-CN" altLang="en-US" sz="2000" dirty="0">
                <a:solidFill>
                  <a:srgbClr val="FF0000"/>
                </a:solidFill>
              </a:rPr>
              <a:t>即便没有事先设定线条颜色，系统也会自动的为这两个不同的线形图设置不同的颜色，以示区分！</a:t>
            </a:r>
          </a:p>
        </p:txBody>
      </p:sp>
    </p:spTree>
    <p:extLst>
      <p:ext uri="{BB962C8B-B14F-4D97-AF65-F5344CB8AC3E}">
        <p14:creationId xmlns:p14="http://schemas.microsoft.com/office/powerpoint/2010/main" val="406626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12.1.2  matplotlib. pyplot</a:t>
            </a:r>
            <a:r>
              <a:rPr lang="zh-CN" altLang="en-US" dirty="0"/>
              <a:t>模块</a:t>
            </a:r>
            <a:r>
              <a:rPr lang="en-US" altLang="zh-CN" dirty="0"/>
              <a:t>——</a:t>
            </a:r>
            <a:r>
              <a:rPr lang="zh-CN" altLang="en-US" dirty="0"/>
              <a:t>坐标取值范围</a:t>
            </a:r>
            <a:endParaRPr lang="en-US" dirty="0"/>
          </a:p>
        </p:txBody>
      </p:sp>
      <p:sp>
        <p:nvSpPr>
          <p:cNvPr id="14" name="Content Placeholder 13"/>
          <p:cNvSpPr>
            <a:spLocks noGrp="1"/>
          </p:cNvSpPr>
          <p:nvPr>
            <p:ph idx="1"/>
          </p:nvPr>
        </p:nvSpPr>
        <p:spPr/>
        <p:txBody>
          <a:bodyPr>
            <a:normAutofit/>
          </a:bodyPr>
          <a:lstStyle/>
          <a:p>
            <a:r>
              <a:rPr lang="zh-CN" altLang="en-US" dirty="0">
                <a:solidFill>
                  <a:srgbClr val="FF0000"/>
                </a:solidFill>
              </a:rPr>
              <a:t>坐标取值范围</a:t>
            </a:r>
            <a:endParaRPr lang="en-US" altLang="zh-CN" dirty="0">
              <a:solidFill>
                <a:srgbClr val="FF0000"/>
              </a:solidFill>
            </a:endParaRPr>
          </a:p>
          <a:p>
            <a:pPr lvl="1">
              <a:lnSpc>
                <a:spcPct val="150000"/>
              </a:lnSpc>
              <a:buFont typeface="Wingdings" panose="05000000000000000000" pitchFamily="2" charset="2"/>
              <a:buChar char="Ø"/>
            </a:pPr>
            <a:r>
              <a:rPr lang="zh-CN" altLang="zh-CN" sz="2000" dirty="0"/>
              <a:t>若没有预先指定该范围，系统会根据数据大小自动地给出判断，给出最适合的坐标取值范围。</a:t>
            </a:r>
            <a:endParaRPr lang="en-US" altLang="zh-CN" sz="2000" dirty="0"/>
          </a:p>
          <a:p>
            <a:pPr lvl="1">
              <a:lnSpc>
                <a:spcPct val="150000"/>
              </a:lnSpc>
              <a:buFont typeface="Wingdings" panose="05000000000000000000" pitchFamily="2" charset="2"/>
              <a:buChar char="Ø"/>
            </a:pPr>
            <a:r>
              <a:rPr lang="zh-CN" altLang="en-US" sz="2000" dirty="0"/>
              <a:t>设置坐标取值范围的语法为：</a:t>
            </a:r>
          </a:p>
          <a:p>
            <a:pPr marL="457200" lvl="1" indent="0" algn="ctr">
              <a:lnSpc>
                <a:spcPct val="150000"/>
              </a:lnSpc>
              <a:buNone/>
            </a:pPr>
            <a:r>
              <a:rPr lang="en-US" altLang="zh-CN" sz="2000" dirty="0" err="1">
                <a:solidFill>
                  <a:srgbClr val="FF0000"/>
                </a:solidFill>
              </a:rPr>
              <a:t>plt.xlim</a:t>
            </a:r>
            <a:r>
              <a:rPr lang="zh-CN" altLang="en-US" sz="2000" dirty="0">
                <a:solidFill>
                  <a:srgbClr val="FF0000"/>
                </a:solidFill>
              </a:rPr>
              <a:t>（起始值，终止值）      </a:t>
            </a:r>
            <a:r>
              <a:rPr lang="en-US" altLang="zh-CN" sz="2000" dirty="0">
                <a:solidFill>
                  <a:srgbClr val="FF0000"/>
                </a:solidFill>
              </a:rPr>
              <a:t>#</a:t>
            </a:r>
            <a:r>
              <a:rPr lang="zh-CN" altLang="en-US" sz="2000" dirty="0">
                <a:solidFill>
                  <a:srgbClr val="FF0000"/>
                </a:solidFill>
              </a:rPr>
              <a:t>设置</a:t>
            </a:r>
            <a:r>
              <a:rPr lang="en-US" altLang="zh-CN" sz="2000" dirty="0">
                <a:solidFill>
                  <a:srgbClr val="FF0000"/>
                </a:solidFill>
              </a:rPr>
              <a:t>x</a:t>
            </a:r>
            <a:r>
              <a:rPr lang="zh-CN" altLang="en-US" sz="2000" dirty="0">
                <a:solidFill>
                  <a:srgbClr val="FF0000"/>
                </a:solidFill>
              </a:rPr>
              <a:t>坐标范围</a:t>
            </a:r>
          </a:p>
          <a:p>
            <a:pPr marL="457200" lvl="1" indent="0" algn="ctr">
              <a:lnSpc>
                <a:spcPct val="150000"/>
              </a:lnSpc>
              <a:buNone/>
            </a:pPr>
            <a:r>
              <a:rPr lang="en-US" altLang="zh-CN" sz="2000" dirty="0" err="1">
                <a:solidFill>
                  <a:srgbClr val="FF0000"/>
                </a:solidFill>
              </a:rPr>
              <a:t>plt.ylim</a:t>
            </a:r>
            <a:r>
              <a:rPr lang="zh-CN" altLang="en-US" sz="2000" dirty="0">
                <a:solidFill>
                  <a:srgbClr val="FF0000"/>
                </a:solidFill>
              </a:rPr>
              <a:t>（起始值，终止值）      </a:t>
            </a:r>
            <a:r>
              <a:rPr lang="en-US" altLang="zh-CN" sz="2000" dirty="0">
                <a:solidFill>
                  <a:srgbClr val="FF0000"/>
                </a:solidFill>
              </a:rPr>
              <a:t>#</a:t>
            </a:r>
            <a:r>
              <a:rPr lang="zh-CN" altLang="en-US" sz="2000" dirty="0">
                <a:solidFill>
                  <a:srgbClr val="FF0000"/>
                </a:solidFill>
              </a:rPr>
              <a:t>设置</a:t>
            </a:r>
            <a:r>
              <a:rPr lang="en-US" altLang="zh-CN" sz="2000" dirty="0">
                <a:solidFill>
                  <a:srgbClr val="FF0000"/>
                </a:solidFill>
              </a:rPr>
              <a:t>y</a:t>
            </a:r>
            <a:r>
              <a:rPr lang="zh-CN" altLang="en-US" sz="2000" dirty="0">
                <a:solidFill>
                  <a:srgbClr val="FF0000"/>
                </a:solidFill>
              </a:rPr>
              <a:t>坐标范围</a:t>
            </a:r>
          </a:p>
          <a:p>
            <a:pPr lvl="1">
              <a:buFont typeface="Wingdings" panose="05000000000000000000" pitchFamily="2" charset="2"/>
              <a:buChar char="Ø"/>
            </a:pPr>
            <a:r>
              <a:rPr lang="zh-CN" altLang="en-US" sz="1800" dirty="0"/>
              <a:t>举例：</a:t>
            </a:r>
            <a:endParaRPr lang="en-US" altLang="zh-CN" sz="1800" dirty="0"/>
          </a:p>
        </p:txBody>
      </p:sp>
      <p:graphicFrame>
        <p:nvGraphicFramePr>
          <p:cNvPr id="10" name="表格 9">
            <a:extLst>
              <a:ext uri="{FF2B5EF4-FFF2-40B4-BE49-F238E27FC236}">
                <a16:creationId xmlns:a16="http://schemas.microsoft.com/office/drawing/2014/main" id="{86310794-C080-4FCE-9755-8EFA9C4F9767}"/>
              </a:ext>
            </a:extLst>
          </p:cNvPr>
          <p:cNvGraphicFramePr>
            <a:graphicFrameLocks noGrp="1"/>
          </p:cNvGraphicFramePr>
          <p:nvPr>
            <p:extLst>
              <p:ext uri="{D42A27DB-BD31-4B8C-83A1-F6EECF244321}">
                <p14:modId xmlns:p14="http://schemas.microsoft.com/office/powerpoint/2010/main" val="4024563891"/>
              </p:ext>
            </p:extLst>
          </p:nvPr>
        </p:nvGraphicFramePr>
        <p:xfrm>
          <a:off x="2240231" y="5098773"/>
          <a:ext cx="7990447" cy="914401"/>
        </p:xfrm>
        <a:graphic>
          <a:graphicData uri="http://schemas.openxmlformats.org/drawingml/2006/table">
            <a:tbl>
              <a:tblPr firstRow="1" firstCol="1" bandRow="1"/>
              <a:tblGrid>
                <a:gridCol w="7990447">
                  <a:extLst>
                    <a:ext uri="{9D8B030D-6E8A-4147-A177-3AD203B41FA5}">
                      <a16:colId xmlns:a16="http://schemas.microsoft.com/office/drawing/2014/main" val="165711208"/>
                    </a:ext>
                  </a:extLst>
                </a:gridCol>
              </a:tblGrid>
              <a:tr h="914401">
                <a:tc>
                  <a:txBody>
                    <a:bodyPr/>
                    <a:lstStyle/>
                    <a:p>
                      <a:pPr algn="just">
                        <a:lnSpc>
                          <a:spcPct val="150000"/>
                        </a:lnSpc>
                        <a:spcAft>
                          <a:spcPts val="0"/>
                        </a:spcAft>
                      </a:pPr>
                      <a:r>
                        <a:rPr lang="en-US" altLang="zh-CN" sz="2000" kern="100" dirty="0" err="1">
                          <a:solidFill>
                            <a:schemeClr val="tx2"/>
                          </a:solidFill>
                          <a:effectLst/>
                          <a:latin typeface="Consolas" panose="020B0609020204030204" pitchFamily="49" charset="0"/>
                          <a:ea typeface="+mn-ea"/>
                          <a:cs typeface="Times New Roman" panose="02020603050405020304" pitchFamily="18" charset="0"/>
                        </a:rPr>
                        <a:t>plt.xlim</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(0,15)              #</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坐标范围为</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0</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到</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15</a:t>
                      </a:r>
                    </a:p>
                    <a:p>
                      <a:pPr algn="just">
                        <a:lnSpc>
                          <a:spcPct val="150000"/>
                        </a:lnSpc>
                        <a:spcAft>
                          <a:spcPts val="0"/>
                        </a:spcAft>
                      </a:pPr>
                      <a:r>
                        <a:rPr lang="en-US" altLang="zh-CN" sz="2000" kern="100" dirty="0" err="1">
                          <a:solidFill>
                            <a:schemeClr val="tx2"/>
                          </a:solidFill>
                          <a:effectLst/>
                          <a:latin typeface="Consolas" panose="020B0609020204030204" pitchFamily="49" charset="0"/>
                          <a:ea typeface="+mn-ea"/>
                          <a:cs typeface="Times New Roman" panose="02020603050405020304" pitchFamily="18" charset="0"/>
                        </a:rPr>
                        <a:t>plt.ylim</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(0,100)             #</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坐标范围为</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0</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到</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spTree>
    <p:extLst>
      <p:ext uri="{BB962C8B-B14F-4D97-AF65-F5344CB8AC3E}">
        <p14:creationId xmlns:p14="http://schemas.microsoft.com/office/powerpoint/2010/main" val="196360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fade">
                                      <p:cBhvr>
                                        <p:cTn id="32" dur="500"/>
                                        <p:tgtEl>
                                          <p:spTgt spid="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12.1.2  matplotlib. pyplot</a:t>
            </a:r>
            <a:r>
              <a:rPr lang="zh-CN" altLang="en-US" dirty="0"/>
              <a:t>模块</a:t>
            </a:r>
            <a:r>
              <a:rPr lang="en-US" altLang="zh-CN" dirty="0"/>
              <a:t>——</a:t>
            </a:r>
            <a:r>
              <a:rPr lang="zh-CN" altLang="en-US" dirty="0"/>
              <a:t>坐标刻度</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坐标刻度</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自定义设置坐标轴刻度的语法为：</a:t>
            </a:r>
          </a:p>
          <a:p>
            <a:pPr marL="457200" lvl="1" indent="0" algn="ctr">
              <a:lnSpc>
                <a:spcPct val="150000"/>
              </a:lnSpc>
              <a:buNone/>
            </a:pPr>
            <a:r>
              <a:rPr lang="en-US" altLang="zh-CN" sz="2000" dirty="0" err="1">
                <a:solidFill>
                  <a:srgbClr val="FF0000"/>
                </a:solidFill>
              </a:rPr>
              <a:t>plt.xticks</a:t>
            </a:r>
            <a:r>
              <a:rPr lang="en-US" altLang="zh-CN" sz="2000" dirty="0">
                <a:solidFill>
                  <a:srgbClr val="FF0000"/>
                </a:solidFill>
              </a:rPr>
              <a:t>([x</a:t>
            </a:r>
            <a:r>
              <a:rPr lang="zh-CN" altLang="en-US" sz="2000" dirty="0">
                <a:solidFill>
                  <a:srgbClr val="FF0000"/>
                </a:solidFill>
              </a:rPr>
              <a:t>轴刻度取值</a:t>
            </a:r>
            <a:r>
              <a:rPr lang="en-US" altLang="zh-CN" sz="2000" dirty="0">
                <a:solidFill>
                  <a:srgbClr val="FF0000"/>
                </a:solidFill>
              </a:rPr>
              <a:t>])         #</a:t>
            </a:r>
            <a:r>
              <a:rPr lang="zh-CN" altLang="en-US" sz="2000" dirty="0">
                <a:solidFill>
                  <a:srgbClr val="FF0000"/>
                </a:solidFill>
              </a:rPr>
              <a:t>指定</a:t>
            </a:r>
            <a:r>
              <a:rPr lang="en-US" altLang="zh-CN" sz="2000" dirty="0">
                <a:solidFill>
                  <a:srgbClr val="FF0000"/>
                </a:solidFill>
              </a:rPr>
              <a:t>x</a:t>
            </a:r>
            <a:r>
              <a:rPr lang="zh-CN" altLang="en-US" sz="2000" dirty="0">
                <a:solidFill>
                  <a:srgbClr val="FF0000"/>
                </a:solidFill>
              </a:rPr>
              <a:t>轴刻度</a:t>
            </a:r>
          </a:p>
          <a:p>
            <a:pPr marL="457200" lvl="1" indent="0" algn="ctr">
              <a:lnSpc>
                <a:spcPct val="150000"/>
              </a:lnSpc>
              <a:buNone/>
            </a:pPr>
            <a:r>
              <a:rPr lang="en-US" altLang="zh-CN" sz="2000" dirty="0" err="1">
                <a:solidFill>
                  <a:srgbClr val="FF0000"/>
                </a:solidFill>
              </a:rPr>
              <a:t>plt.yticks</a:t>
            </a:r>
            <a:r>
              <a:rPr lang="en-US" altLang="zh-CN" sz="2000" dirty="0">
                <a:solidFill>
                  <a:srgbClr val="FF0000"/>
                </a:solidFill>
              </a:rPr>
              <a:t>([y</a:t>
            </a:r>
            <a:r>
              <a:rPr lang="zh-CN" altLang="en-US" sz="2000" dirty="0">
                <a:solidFill>
                  <a:srgbClr val="FF0000"/>
                </a:solidFill>
              </a:rPr>
              <a:t>轴刻度取值</a:t>
            </a:r>
            <a:r>
              <a:rPr lang="en-US" altLang="zh-CN" sz="2000" dirty="0">
                <a:solidFill>
                  <a:srgbClr val="FF0000"/>
                </a:solidFill>
              </a:rPr>
              <a:t>])         #</a:t>
            </a:r>
            <a:r>
              <a:rPr lang="zh-CN" altLang="en-US" sz="2000" dirty="0">
                <a:solidFill>
                  <a:srgbClr val="FF0000"/>
                </a:solidFill>
              </a:rPr>
              <a:t>指定</a:t>
            </a:r>
            <a:r>
              <a:rPr lang="en-US" altLang="zh-CN" sz="2000" dirty="0">
                <a:solidFill>
                  <a:srgbClr val="FF0000"/>
                </a:solidFill>
              </a:rPr>
              <a:t>y</a:t>
            </a:r>
            <a:r>
              <a:rPr lang="zh-CN" altLang="en-US" sz="2000" dirty="0">
                <a:solidFill>
                  <a:srgbClr val="FF0000"/>
                </a:solidFill>
              </a:rPr>
              <a:t>轴刻度</a:t>
            </a:r>
          </a:p>
          <a:p>
            <a:pPr marL="457200" lvl="1" indent="0" algn="ctr">
              <a:buNone/>
            </a:pPr>
            <a:r>
              <a:rPr lang="zh-CN" altLang="en-US" sz="2000" dirty="0"/>
              <a:t>或</a:t>
            </a:r>
          </a:p>
          <a:p>
            <a:pPr marL="457200" lvl="1" indent="0" algn="ctr">
              <a:lnSpc>
                <a:spcPct val="150000"/>
              </a:lnSpc>
              <a:buNone/>
            </a:pPr>
            <a:r>
              <a:rPr lang="en-US" altLang="zh-CN" sz="2000" dirty="0">
                <a:solidFill>
                  <a:srgbClr val="FF0000"/>
                </a:solidFill>
              </a:rPr>
              <a:t> ax= </a:t>
            </a:r>
            <a:r>
              <a:rPr lang="en-US" altLang="zh-CN" sz="2000" dirty="0" err="1">
                <a:solidFill>
                  <a:srgbClr val="FF0000"/>
                </a:solidFill>
              </a:rPr>
              <a:t>plt.axes</a:t>
            </a:r>
            <a:r>
              <a:rPr lang="en-US" altLang="zh-CN" sz="2000" dirty="0">
                <a:solidFill>
                  <a:srgbClr val="FF0000"/>
                </a:solidFill>
              </a:rPr>
              <a:t>()                #</a:t>
            </a:r>
            <a:r>
              <a:rPr lang="zh-CN" altLang="en-US" sz="2000" dirty="0">
                <a:solidFill>
                  <a:srgbClr val="FF0000"/>
                </a:solidFill>
              </a:rPr>
              <a:t>轴函数赋值给</a:t>
            </a:r>
            <a:r>
              <a:rPr lang="en-US" altLang="zh-CN" sz="2000" dirty="0">
                <a:solidFill>
                  <a:srgbClr val="FF0000"/>
                </a:solidFill>
              </a:rPr>
              <a:t>ax</a:t>
            </a:r>
            <a:r>
              <a:rPr lang="zh-CN" altLang="en-US" sz="2000" dirty="0">
                <a:solidFill>
                  <a:srgbClr val="FF0000"/>
                </a:solidFill>
              </a:rPr>
              <a:t>对象</a:t>
            </a:r>
          </a:p>
          <a:p>
            <a:pPr marL="457200" lvl="1" indent="0" algn="ctr">
              <a:lnSpc>
                <a:spcPct val="150000"/>
              </a:lnSpc>
              <a:buNone/>
            </a:pPr>
            <a:r>
              <a:rPr lang="en-US" altLang="zh-CN" sz="2000" dirty="0">
                <a:solidFill>
                  <a:srgbClr val="FF0000"/>
                </a:solidFill>
              </a:rPr>
              <a:t> ax.set_xticks([x</a:t>
            </a:r>
            <a:r>
              <a:rPr lang="zh-CN" altLang="en-US" sz="2000" dirty="0">
                <a:solidFill>
                  <a:srgbClr val="FF0000"/>
                </a:solidFill>
              </a:rPr>
              <a:t>轴刻度标签取值</a:t>
            </a:r>
            <a:r>
              <a:rPr lang="en-US" altLang="zh-CN" sz="2000" dirty="0">
                <a:solidFill>
                  <a:srgbClr val="FF0000"/>
                </a:solidFill>
              </a:rPr>
              <a:t>])      #</a:t>
            </a:r>
            <a:r>
              <a:rPr lang="zh-CN" altLang="en-US" sz="2000" dirty="0">
                <a:solidFill>
                  <a:srgbClr val="FF0000"/>
                </a:solidFill>
              </a:rPr>
              <a:t>指定</a:t>
            </a:r>
            <a:r>
              <a:rPr lang="en-US" altLang="zh-CN" sz="2000" dirty="0">
                <a:solidFill>
                  <a:srgbClr val="FF0000"/>
                </a:solidFill>
              </a:rPr>
              <a:t>x</a:t>
            </a:r>
            <a:r>
              <a:rPr lang="zh-CN" altLang="en-US" sz="2000" dirty="0">
                <a:solidFill>
                  <a:srgbClr val="FF0000"/>
                </a:solidFill>
              </a:rPr>
              <a:t>轴刻度</a:t>
            </a:r>
          </a:p>
          <a:p>
            <a:pPr marL="457200" lvl="1" indent="0" algn="ctr">
              <a:lnSpc>
                <a:spcPct val="150000"/>
              </a:lnSpc>
              <a:buNone/>
            </a:pPr>
            <a:r>
              <a:rPr lang="en-US" altLang="zh-CN" sz="2000" dirty="0">
                <a:solidFill>
                  <a:srgbClr val="FF0000"/>
                </a:solidFill>
              </a:rPr>
              <a:t> ax.set_yticks([y</a:t>
            </a:r>
            <a:r>
              <a:rPr lang="zh-CN" altLang="en-US" sz="2000" dirty="0">
                <a:solidFill>
                  <a:srgbClr val="FF0000"/>
                </a:solidFill>
              </a:rPr>
              <a:t>轴刻度标签取值</a:t>
            </a:r>
            <a:r>
              <a:rPr lang="en-US" altLang="zh-CN" sz="2000" dirty="0">
                <a:solidFill>
                  <a:srgbClr val="FF0000"/>
                </a:solidFill>
              </a:rPr>
              <a:t>])      #</a:t>
            </a:r>
            <a:r>
              <a:rPr lang="zh-CN" altLang="en-US" sz="2000" dirty="0">
                <a:solidFill>
                  <a:srgbClr val="FF0000"/>
                </a:solidFill>
              </a:rPr>
              <a:t>指定</a:t>
            </a:r>
            <a:r>
              <a:rPr lang="en-US" altLang="zh-CN" sz="2000" dirty="0">
                <a:solidFill>
                  <a:srgbClr val="FF0000"/>
                </a:solidFill>
              </a:rPr>
              <a:t>y</a:t>
            </a:r>
            <a:r>
              <a:rPr lang="zh-CN" altLang="en-US" sz="2000" dirty="0">
                <a:solidFill>
                  <a:srgbClr val="FF0000"/>
                </a:solidFill>
              </a:rPr>
              <a:t>轴刻度</a:t>
            </a:r>
          </a:p>
          <a:p>
            <a:pPr lvl="1">
              <a:buFont typeface="Wingdings" panose="05000000000000000000" pitchFamily="2" charset="2"/>
              <a:buChar char="Ø"/>
            </a:pPr>
            <a:r>
              <a:rPr lang="zh-CN" altLang="en-US" sz="1800" dirty="0"/>
              <a:t>举例：</a:t>
            </a:r>
            <a:endParaRPr lang="en-US" altLang="zh-CN" sz="1800" dirty="0"/>
          </a:p>
        </p:txBody>
      </p:sp>
      <p:graphicFrame>
        <p:nvGraphicFramePr>
          <p:cNvPr id="10" name="表格 9">
            <a:extLst>
              <a:ext uri="{FF2B5EF4-FFF2-40B4-BE49-F238E27FC236}">
                <a16:creationId xmlns:a16="http://schemas.microsoft.com/office/drawing/2014/main" id="{86310794-C080-4FCE-9755-8EFA9C4F9767}"/>
              </a:ext>
            </a:extLst>
          </p:cNvPr>
          <p:cNvGraphicFramePr>
            <a:graphicFrameLocks noGrp="1"/>
          </p:cNvGraphicFramePr>
          <p:nvPr>
            <p:extLst>
              <p:ext uri="{D42A27DB-BD31-4B8C-83A1-F6EECF244321}">
                <p14:modId xmlns:p14="http://schemas.microsoft.com/office/powerpoint/2010/main" val="4254652056"/>
              </p:ext>
            </p:extLst>
          </p:nvPr>
        </p:nvGraphicFramePr>
        <p:xfrm>
          <a:off x="2478771" y="5526038"/>
          <a:ext cx="8673072" cy="1278954"/>
        </p:xfrm>
        <a:graphic>
          <a:graphicData uri="http://schemas.openxmlformats.org/drawingml/2006/table">
            <a:tbl>
              <a:tblPr firstRow="1" firstCol="1" bandRow="1"/>
              <a:tblGrid>
                <a:gridCol w="8673072">
                  <a:extLst>
                    <a:ext uri="{9D8B030D-6E8A-4147-A177-3AD203B41FA5}">
                      <a16:colId xmlns:a16="http://schemas.microsoft.com/office/drawing/2014/main" val="165711208"/>
                    </a:ext>
                  </a:extLst>
                </a:gridCol>
              </a:tblGrid>
              <a:tr h="1278954">
                <a:tc>
                  <a:txBody>
                    <a:bodyPr/>
                    <a:lstStyle/>
                    <a:p>
                      <a:pPr algn="just">
                        <a:lnSpc>
                          <a:spcPct val="150000"/>
                        </a:lnSpc>
                        <a:spcAft>
                          <a:spcPts val="0"/>
                        </a:spcAft>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a:t>
                      </a:r>
                      <a:r>
                        <a:rPr lang="en-US" altLang="zh-CN" sz="1800" kern="100" dirty="0" err="1">
                          <a:solidFill>
                            <a:schemeClr val="tx2"/>
                          </a:solidFill>
                          <a:effectLst/>
                          <a:latin typeface="Consolas" panose="020B0609020204030204" pitchFamily="49" charset="0"/>
                          <a:ea typeface="+mn-ea"/>
                          <a:cs typeface="Times New Roman" panose="02020603050405020304" pitchFamily="18" charset="0"/>
                        </a:rPr>
                        <a:t>plt.axes</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p>
                    <a:p>
                      <a:pPr algn="just">
                        <a:lnSpc>
                          <a:spcPct val="150000"/>
                        </a:lnSpc>
                        <a:spcAft>
                          <a:spcPts val="0"/>
                        </a:spcAft>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ax.set_xticks([0,3,6,9,12,15])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轴刻度取值</a:t>
                      </a:r>
                    </a:p>
                    <a:p>
                      <a:pPr algn="just">
                        <a:lnSpc>
                          <a:spcPct val="150000"/>
                        </a:lnSpc>
                        <a:spcAft>
                          <a:spcPts val="0"/>
                        </a:spcAft>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ax.set_yticks([0,10,20,30,40,50,60,70,80,90,100])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轴刻度取值</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sp>
        <p:nvSpPr>
          <p:cNvPr id="6" name="思想气泡: 云 5">
            <a:extLst>
              <a:ext uri="{FF2B5EF4-FFF2-40B4-BE49-F238E27FC236}">
                <a16:creationId xmlns:a16="http://schemas.microsoft.com/office/drawing/2014/main" id="{D9FE8086-3EBA-449D-B798-B0B58218DFAC}"/>
              </a:ext>
            </a:extLst>
          </p:cNvPr>
          <p:cNvSpPr/>
          <p:nvPr/>
        </p:nvSpPr>
        <p:spPr>
          <a:xfrm>
            <a:off x="397565" y="3270981"/>
            <a:ext cx="2809461" cy="1614751"/>
          </a:xfrm>
          <a:prstGeom prst="cloudCallout">
            <a:avLst>
              <a:gd name="adj1" fmla="val 44344"/>
              <a:gd name="adj2" fmla="val 57497"/>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altLang="zh-CN" dirty="0"/>
              <a:t>axes()</a:t>
            </a:r>
            <a:r>
              <a:rPr lang="zh-CN" altLang="zh-CN" dirty="0"/>
              <a:t>函数可理解为轴函数，可对坐标轴的参数进行调整</a:t>
            </a:r>
            <a:r>
              <a:rPr lang="zh-CN" altLang="en-US" dirty="0"/>
              <a:t>。</a:t>
            </a:r>
            <a:endParaRPr lang="zh-CN" altLang="en-US" sz="2000" dirty="0">
              <a:solidFill>
                <a:srgbClr val="FF0000"/>
              </a:solidFill>
            </a:endParaRPr>
          </a:p>
        </p:txBody>
      </p:sp>
    </p:spTree>
    <p:extLst>
      <p:ext uri="{BB962C8B-B14F-4D97-AF65-F5344CB8AC3E}">
        <p14:creationId xmlns:p14="http://schemas.microsoft.com/office/powerpoint/2010/main" val="155921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12.1.2  matplotlib. pyplot</a:t>
            </a:r>
            <a:r>
              <a:rPr lang="zh-CN" altLang="en-US" dirty="0"/>
              <a:t>模块</a:t>
            </a:r>
            <a:r>
              <a:rPr lang="en-US" altLang="zh-CN" dirty="0"/>
              <a:t>——</a:t>
            </a:r>
            <a:r>
              <a:rPr lang="zh-CN" altLang="en-US" dirty="0"/>
              <a:t>添加网格线</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添加网格线</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作用：在图像中显示的每个点的坐标更易识别和确定。</a:t>
            </a:r>
            <a:endParaRPr lang="en-US" altLang="zh-CN" sz="2000" dirty="0"/>
          </a:p>
          <a:p>
            <a:pPr lvl="1">
              <a:lnSpc>
                <a:spcPct val="150000"/>
              </a:lnSpc>
              <a:buFont typeface="Wingdings" panose="05000000000000000000" pitchFamily="2" charset="2"/>
              <a:buChar char="Ø"/>
            </a:pPr>
            <a:r>
              <a:rPr lang="zh-CN" altLang="en-US" sz="2000" dirty="0"/>
              <a:t>添加网格线的语法为：</a:t>
            </a:r>
          </a:p>
          <a:p>
            <a:pPr marL="457200" lvl="1" indent="0" algn="ctr">
              <a:lnSpc>
                <a:spcPct val="150000"/>
              </a:lnSpc>
              <a:buNone/>
            </a:pPr>
            <a:r>
              <a:rPr lang="en-US" altLang="zh-CN" sz="2000" dirty="0" err="1">
                <a:solidFill>
                  <a:srgbClr val="FF0000"/>
                </a:solidFill>
              </a:rPr>
              <a:t>plt.grid</a:t>
            </a:r>
            <a:r>
              <a:rPr lang="en-US" altLang="zh-CN" sz="2000" dirty="0">
                <a:solidFill>
                  <a:srgbClr val="FF0000"/>
                </a:solidFill>
              </a:rPr>
              <a:t>()                        #</a:t>
            </a:r>
            <a:r>
              <a:rPr lang="zh-CN" altLang="en-US" sz="2000" dirty="0">
                <a:solidFill>
                  <a:srgbClr val="FF0000"/>
                </a:solidFill>
              </a:rPr>
              <a:t>显示网格线</a:t>
            </a:r>
            <a:endParaRPr lang="en-US" altLang="zh-CN" sz="2000" dirty="0">
              <a:solidFill>
                <a:srgbClr val="FF0000"/>
              </a:solidFill>
            </a:endParaRPr>
          </a:p>
          <a:p>
            <a:pPr marL="457200" lvl="1" indent="0" algn="ctr">
              <a:lnSpc>
                <a:spcPct val="150000"/>
              </a:lnSpc>
              <a:buNone/>
            </a:pPr>
            <a:r>
              <a:rPr lang="zh-CN" altLang="en-US" sz="2000" dirty="0"/>
              <a:t>或</a:t>
            </a:r>
          </a:p>
          <a:p>
            <a:pPr marL="457200" lvl="1" indent="0" algn="ctr">
              <a:lnSpc>
                <a:spcPct val="150000"/>
              </a:lnSpc>
              <a:buNone/>
            </a:pPr>
            <a:r>
              <a:rPr lang="en-US" altLang="zh-CN" sz="2000" dirty="0">
                <a:solidFill>
                  <a:srgbClr val="FF0000"/>
                </a:solidFill>
              </a:rPr>
              <a:t>       ax= </a:t>
            </a:r>
            <a:r>
              <a:rPr lang="en-US" altLang="zh-CN" sz="2000" dirty="0" err="1">
                <a:solidFill>
                  <a:srgbClr val="FF0000"/>
                </a:solidFill>
              </a:rPr>
              <a:t>plt.axes</a:t>
            </a:r>
            <a:r>
              <a:rPr lang="en-US" altLang="zh-CN" sz="2000" dirty="0">
                <a:solidFill>
                  <a:srgbClr val="FF0000"/>
                </a:solidFill>
              </a:rPr>
              <a:t>()                  #</a:t>
            </a:r>
            <a:r>
              <a:rPr lang="zh-CN" altLang="en-US" sz="2000" dirty="0">
                <a:solidFill>
                  <a:srgbClr val="FF0000"/>
                </a:solidFill>
              </a:rPr>
              <a:t>轴函数赋值给</a:t>
            </a:r>
            <a:r>
              <a:rPr lang="en-US" altLang="zh-CN" sz="2000" dirty="0">
                <a:solidFill>
                  <a:srgbClr val="FF0000"/>
                </a:solidFill>
              </a:rPr>
              <a:t>ax</a:t>
            </a:r>
            <a:r>
              <a:rPr lang="zh-CN" altLang="en-US" sz="2000" dirty="0">
                <a:solidFill>
                  <a:srgbClr val="FF0000"/>
                </a:solidFill>
              </a:rPr>
              <a:t>对象</a:t>
            </a:r>
          </a:p>
          <a:p>
            <a:pPr marL="457200" lvl="1" indent="0" algn="ctr">
              <a:lnSpc>
                <a:spcPct val="150000"/>
              </a:lnSpc>
              <a:buNone/>
            </a:pPr>
            <a:r>
              <a:rPr lang="en-US" altLang="zh-CN" sz="2000" dirty="0">
                <a:solidFill>
                  <a:srgbClr val="FF0000"/>
                </a:solidFill>
              </a:rPr>
              <a:t>ax.grid()                        #</a:t>
            </a:r>
            <a:r>
              <a:rPr lang="zh-CN" altLang="en-US" sz="2000" dirty="0">
                <a:solidFill>
                  <a:srgbClr val="FF0000"/>
                </a:solidFill>
              </a:rPr>
              <a:t>显示网格线</a:t>
            </a:r>
          </a:p>
          <a:p>
            <a:pPr marL="457200" lvl="1" indent="0">
              <a:buNone/>
            </a:pPr>
            <a:endParaRPr lang="en-US" altLang="zh-CN" sz="1800" dirty="0"/>
          </a:p>
        </p:txBody>
      </p:sp>
    </p:spTree>
    <p:extLst>
      <p:ext uri="{BB962C8B-B14F-4D97-AF65-F5344CB8AC3E}">
        <p14:creationId xmlns:p14="http://schemas.microsoft.com/office/powerpoint/2010/main" val="36481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just"/>
            <a:r>
              <a:rPr lang="en-US" altLang="zh-CN" dirty="0"/>
              <a:t>12.1.2  matplotlib. pyplot</a:t>
            </a:r>
            <a:r>
              <a:rPr lang="zh-CN" altLang="en-US" dirty="0"/>
              <a:t>模块</a:t>
            </a:r>
            <a:endParaRPr lang="en-US" dirty="0">
              <a:solidFill>
                <a:srgbClr val="FF0000"/>
              </a:solidFill>
            </a:endParaRPr>
          </a:p>
        </p:txBody>
      </p:sp>
      <p:sp>
        <p:nvSpPr>
          <p:cNvPr id="14" name="Content Placeholder 13"/>
          <p:cNvSpPr>
            <a:spLocks noGrp="1"/>
          </p:cNvSpPr>
          <p:nvPr>
            <p:ph idx="1"/>
          </p:nvPr>
        </p:nvSpPr>
        <p:spPr>
          <a:xfrm>
            <a:off x="1103382" y="1414670"/>
            <a:ext cx="9982200" cy="5025887"/>
          </a:xfrm>
        </p:spPr>
        <p:txBody>
          <a:bodyPr>
            <a:normAutofit/>
          </a:bodyPr>
          <a:lstStyle/>
          <a:p>
            <a:pPr>
              <a:lnSpc>
                <a:spcPct val="150000"/>
              </a:lnSpc>
            </a:pPr>
            <a:r>
              <a:rPr lang="zh-CN" altLang="en-US" dirty="0"/>
              <a:t>举例：</a:t>
            </a:r>
            <a:endParaRPr lang="en-US" altLang="zh-CN" dirty="0"/>
          </a:p>
          <a:p>
            <a:pPr lvl="1">
              <a:lnSpc>
                <a:spcPct val="150000"/>
              </a:lnSpc>
              <a:buFont typeface="Wingdings" panose="05000000000000000000" pitchFamily="2" charset="2"/>
              <a:buChar char="Ø"/>
            </a:pPr>
            <a:r>
              <a:rPr lang="zh-CN" altLang="en-US" sz="2000" dirty="0"/>
              <a:t>为多线条坐标图设置坐标范围、刻度及网格线。</a:t>
            </a:r>
            <a:endParaRPr lang="en-US" altLang="zh-CN" sz="2000" dirty="0"/>
          </a:p>
        </p:txBody>
      </p:sp>
      <p:graphicFrame>
        <p:nvGraphicFramePr>
          <p:cNvPr id="7" name="表格 6">
            <a:extLst>
              <a:ext uri="{FF2B5EF4-FFF2-40B4-BE49-F238E27FC236}">
                <a16:creationId xmlns:a16="http://schemas.microsoft.com/office/drawing/2014/main" id="{D1D1BFD0-C603-4593-B582-26B563FDDC1C}"/>
              </a:ext>
            </a:extLst>
          </p:cNvPr>
          <p:cNvGraphicFramePr>
            <a:graphicFrameLocks noGrp="1"/>
          </p:cNvGraphicFramePr>
          <p:nvPr>
            <p:extLst>
              <p:ext uri="{D42A27DB-BD31-4B8C-83A1-F6EECF244321}">
                <p14:modId xmlns:p14="http://schemas.microsoft.com/office/powerpoint/2010/main" val="392767062"/>
              </p:ext>
            </p:extLst>
          </p:nvPr>
        </p:nvGraphicFramePr>
        <p:xfrm>
          <a:off x="769453" y="2551388"/>
          <a:ext cx="6452981" cy="4230412"/>
        </p:xfrm>
        <a:graphic>
          <a:graphicData uri="http://schemas.openxmlformats.org/drawingml/2006/table">
            <a:tbl>
              <a:tblPr firstRow="1" firstCol="1" bandRow="1"/>
              <a:tblGrid>
                <a:gridCol w="6452981">
                  <a:extLst>
                    <a:ext uri="{9D8B030D-6E8A-4147-A177-3AD203B41FA5}">
                      <a16:colId xmlns:a16="http://schemas.microsoft.com/office/drawing/2014/main" val="165711208"/>
                    </a:ext>
                  </a:extLst>
                </a:gridCol>
              </a:tblGrid>
              <a:tr h="4230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import matplotlib.pyplot as plt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listy1=[15,58,70,36,9,47]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listx2=[1,2,4,7,10,13]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listy2=[10,11,49,85,67,1]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plt.plot(range(1,7),listy1)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plt.plot(listx2,listy2)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err="1">
                          <a:solidFill>
                            <a:schemeClr val="tx2"/>
                          </a:solidFill>
                          <a:effectLst/>
                          <a:latin typeface="Consolas" panose="020B0609020204030204" pitchFamily="49" charset="0"/>
                          <a:ea typeface="+mn-ea"/>
                          <a:cs typeface="Times New Roman" panose="02020603050405020304" pitchFamily="18" charset="0"/>
                        </a:rPr>
                        <a:t>plt.xlim</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(0,15)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坐标范围为</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0</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到</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err="1">
                          <a:solidFill>
                            <a:schemeClr val="tx2"/>
                          </a:solidFill>
                          <a:effectLst/>
                          <a:latin typeface="Consolas" panose="020B0609020204030204" pitchFamily="49" charset="0"/>
                          <a:ea typeface="+mn-ea"/>
                          <a:cs typeface="Times New Roman" panose="02020603050405020304" pitchFamily="18" charset="0"/>
                        </a:rPr>
                        <a:t>plt.ylim</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(0,100)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坐标范围为</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0</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到</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100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a:t>
                      </a:r>
                      <a:r>
                        <a:rPr lang="en-US" altLang="zh-CN" sz="1800" kern="100" dirty="0" err="1">
                          <a:solidFill>
                            <a:schemeClr val="tx2"/>
                          </a:solidFill>
                          <a:effectLst/>
                          <a:latin typeface="Consolas" panose="020B0609020204030204" pitchFamily="49" charset="0"/>
                          <a:ea typeface="+mn-ea"/>
                          <a:cs typeface="Times New Roman" panose="02020603050405020304" pitchFamily="18" charset="0"/>
                        </a:rPr>
                        <a:t>plt.axes</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ax.set_xticks([0,3,6,9,12,15])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轴刻度取值</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ax.set_yticks([0,10,20,30,40,50,60,70,80,90,100])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轴刻度取值</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ax.grid()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显示网格线</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10" name="图片 9">
            <a:extLst>
              <a:ext uri="{FF2B5EF4-FFF2-40B4-BE49-F238E27FC236}">
                <a16:creationId xmlns:a16="http://schemas.microsoft.com/office/drawing/2014/main" id="{6AFFF74C-189C-4B55-A401-1847753933D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222434" y="2977470"/>
            <a:ext cx="4969565" cy="3463087"/>
          </a:xfrm>
          <a:prstGeom prst="rect">
            <a:avLst/>
          </a:prstGeom>
          <a:noFill/>
        </p:spPr>
      </p:pic>
    </p:spTree>
    <p:extLst>
      <p:ext uri="{BB962C8B-B14F-4D97-AF65-F5344CB8AC3E}">
        <p14:creationId xmlns:p14="http://schemas.microsoft.com/office/powerpoint/2010/main" val="3146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t>12.2 </a:t>
            </a:r>
            <a:r>
              <a:rPr lang="zh-CN" altLang="en-US" dirty="0"/>
              <a:t>图表基本布局</a:t>
            </a:r>
          </a:p>
        </p:txBody>
      </p:sp>
    </p:spTree>
    <p:extLst>
      <p:ext uri="{BB962C8B-B14F-4D97-AF65-F5344CB8AC3E}">
        <p14:creationId xmlns:p14="http://schemas.microsoft.com/office/powerpoint/2010/main" val="237574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12.2.1 设置线条、颜色与标记</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线型参数（</a:t>
            </a:r>
            <a:r>
              <a:rPr lang="en-US" altLang="zh-CN" sz="2400" dirty="0" err="1">
                <a:solidFill>
                  <a:srgbClr val="FF0000"/>
                </a:solidFill>
              </a:rPr>
              <a:t>linestyle</a:t>
            </a:r>
            <a:r>
              <a:rPr lang="en-US" altLang="zh-CN" sz="2400" dirty="0">
                <a:solidFill>
                  <a:srgbClr val="FF0000"/>
                </a:solidFill>
              </a:rPr>
              <a:t> </a:t>
            </a:r>
            <a:r>
              <a:rPr lang="zh-CN" altLang="en-US" sz="2400" dirty="0">
                <a:solidFill>
                  <a:srgbClr val="FF0000"/>
                </a:solidFill>
              </a:rPr>
              <a:t>或 </a:t>
            </a:r>
            <a:r>
              <a:rPr lang="en-US" altLang="zh-CN" sz="2400" dirty="0">
                <a:solidFill>
                  <a:srgbClr val="FF0000"/>
                </a:solidFill>
              </a:rPr>
              <a:t>ls</a:t>
            </a:r>
            <a:r>
              <a:rPr lang="zh-CN" altLang="en-US" sz="2400" dirty="0">
                <a:solidFill>
                  <a:srgbClr val="FF0000"/>
                </a:solidFill>
              </a:rPr>
              <a:t>）</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通过一些符号指定线条的样式，一般默认为实线。</a:t>
            </a:r>
            <a:endParaRPr lang="en-US" altLang="zh-CN" sz="2000" dirty="0"/>
          </a:p>
          <a:p>
            <a:pPr lvl="1">
              <a:lnSpc>
                <a:spcPct val="100000"/>
              </a:lnSpc>
              <a:buFont typeface="Wingdings" panose="05000000000000000000" pitchFamily="2" charset="2"/>
              <a:buChar char="Ø"/>
            </a:pPr>
            <a:r>
              <a:rPr lang="zh-CN" altLang="en-US" sz="2000" dirty="0"/>
              <a:t>基本语法为：</a:t>
            </a:r>
            <a:endParaRPr lang="en-US" altLang="zh-CN" sz="2000" dirty="0"/>
          </a:p>
          <a:p>
            <a:pPr marL="457200" lvl="1" indent="0" algn="ctr">
              <a:lnSpc>
                <a:spcPct val="100000"/>
              </a:lnSpc>
              <a:buNone/>
            </a:pPr>
            <a:r>
              <a:rPr lang="en-US" altLang="zh-CN" sz="2000" dirty="0">
                <a:solidFill>
                  <a:srgbClr val="FF0000"/>
                </a:solidFill>
              </a:rPr>
              <a:t>plt.plot(listx, listy, </a:t>
            </a:r>
            <a:r>
              <a:rPr lang="en-US" altLang="zh-CN" sz="2000" dirty="0" err="1">
                <a:solidFill>
                  <a:srgbClr val="FF0000"/>
                </a:solidFill>
              </a:rPr>
              <a:t>linestyle</a:t>
            </a:r>
            <a:r>
              <a:rPr lang="en-US" altLang="zh-CN" sz="2000" dirty="0">
                <a:solidFill>
                  <a:srgbClr val="FF0000"/>
                </a:solidFill>
              </a:rPr>
              <a:t>=</a:t>
            </a:r>
            <a:r>
              <a:rPr lang="zh-CN" altLang="en-US" sz="2000" dirty="0">
                <a:solidFill>
                  <a:srgbClr val="FF0000"/>
                </a:solidFill>
              </a:rPr>
              <a:t>参数值</a:t>
            </a:r>
            <a:r>
              <a:rPr lang="en-US" altLang="zh-CN" sz="2000" dirty="0">
                <a:solidFill>
                  <a:srgbClr val="FF0000"/>
                </a:solidFill>
              </a:rPr>
              <a:t>)</a:t>
            </a:r>
            <a:endParaRPr lang="en-US" altLang="zh-CN" sz="2000" dirty="0"/>
          </a:p>
          <a:p>
            <a:pPr marL="228600" lvl="1">
              <a:spcBef>
                <a:spcPts val="1800"/>
              </a:spcBef>
            </a:pPr>
            <a:r>
              <a:rPr lang="zh-CN" altLang="en-US" sz="2000" dirty="0">
                <a:solidFill>
                  <a:srgbClr val="FF0000"/>
                </a:solidFill>
              </a:rPr>
              <a:t>下表展示了</a:t>
            </a:r>
            <a:r>
              <a:rPr lang="en-US" altLang="zh-CN" sz="2000" dirty="0">
                <a:solidFill>
                  <a:srgbClr val="FF0000"/>
                </a:solidFill>
              </a:rPr>
              <a:t>matplotlib </a:t>
            </a:r>
            <a:r>
              <a:rPr lang="zh-CN" altLang="en-US" sz="2000" dirty="0">
                <a:solidFill>
                  <a:srgbClr val="FF0000"/>
                </a:solidFill>
              </a:rPr>
              <a:t>中不同的线条样式：</a:t>
            </a:r>
            <a:endParaRPr lang="en-US" altLang="zh-CN" sz="2000" dirty="0">
              <a:solidFill>
                <a:srgbClr val="FF0000"/>
              </a:solidFill>
            </a:endParaRPr>
          </a:p>
          <a:p>
            <a:pPr marL="457200" lvl="1" indent="0" algn="ctr">
              <a:lnSpc>
                <a:spcPct val="150000"/>
              </a:lnSpc>
              <a:buNone/>
            </a:pPr>
            <a:endParaRPr lang="en-US" altLang="zh-CN" sz="2000" dirty="0">
              <a:solidFill>
                <a:srgbClr val="FF0000"/>
              </a:solidFill>
            </a:endParaRPr>
          </a:p>
        </p:txBody>
      </p:sp>
      <p:pic>
        <p:nvPicPr>
          <p:cNvPr id="3" name="图片 2">
            <a:extLst>
              <a:ext uri="{FF2B5EF4-FFF2-40B4-BE49-F238E27FC236}">
                <a16:creationId xmlns:a16="http://schemas.microsoft.com/office/drawing/2014/main" id="{BAC3A976-7390-4DB6-B706-10F6237729EA}"/>
              </a:ext>
            </a:extLst>
          </p:cNvPr>
          <p:cNvPicPr>
            <a:picLocks noChangeAspect="1"/>
          </p:cNvPicPr>
          <p:nvPr/>
        </p:nvPicPr>
        <p:blipFill>
          <a:blip r:embed="rId3"/>
          <a:stretch>
            <a:fillRect/>
          </a:stretch>
        </p:blipFill>
        <p:spPr>
          <a:xfrm>
            <a:off x="2048669" y="4056408"/>
            <a:ext cx="8093143" cy="1930261"/>
          </a:xfrm>
          <a:prstGeom prst="rect">
            <a:avLst/>
          </a:prstGeom>
        </p:spPr>
      </p:pic>
    </p:spTree>
    <p:extLst>
      <p:ext uri="{BB962C8B-B14F-4D97-AF65-F5344CB8AC3E}">
        <p14:creationId xmlns:p14="http://schemas.microsoft.com/office/powerpoint/2010/main" val="1451475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12.2.1 设置线条、颜色与标记</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颜色参数（</a:t>
            </a:r>
            <a:r>
              <a:rPr lang="en-US" altLang="zh-CN" sz="2400" dirty="0">
                <a:solidFill>
                  <a:srgbClr val="FF0000"/>
                </a:solidFill>
              </a:rPr>
              <a:t>color</a:t>
            </a:r>
            <a:r>
              <a:rPr lang="zh-CN" altLang="en-US" sz="2400" dirty="0">
                <a:solidFill>
                  <a:srgbClr val="FF0000"/>
                </a:solidFill>
              </a:rPr>
              <a:t>）</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用于设置线条颜色，默认为蓝色。</a:t>
            </a:r>
            <a:endParaRPr lang="en-US" altLang="zh-CN" sz="2000" dirty="0"/>
          </a:p>
          <a:p>
            <a:pPr lvl="1">
              <a:lnSpc>
                <a:spcPct val="100000"/>
              </a:lnSpc>
              <a:buFont typeface="Wingdings" panose="05000000000000000000" pitchFamily="2" charset="2"/>
              <a:buChar char="Ø"/>
            </a:pPr>
            <a:r>
              <a:rPr lang="zh-CN" altLang="en-US" sz="2000" dirty="0"/>
              <a:t>基本语法为：</a:t>
            </a:r>
            <a:endParaRPr lang="en-US" altLang="zh-CN" sz="2000" dirty="0"/>
          </a:p>
          <a:p>
            <a:pPr marL="457200" lvl="1" indent="0" algn="ctr">
              <a:lnSpc>
                <a:spcPct val="150000"/>
              </a:lnSpc>
              <a:buNone/>
            </a:pPr>
            <a:r>
              <a:rPr lang="en-US" altLang="zh-CN" sz="2000" dirty="0">
                <a:solidFill>
                  <a:srgbClr val="FF0000"/>
                </a:solidFill>
              </a:rPr>
              <a:t>plt.plot(listx, listy, color=</a:t>
            </a:r>
            <a:r>
              <a:rPr lang="zh-CN" altLang="en-US" sz="2000" dirty="0">
                <a:solidFill>
                  <a:srgbClr val="FF0000"/>
                </a:solidFill>
              </a:rPr>
              <a:t>参数值</a:t>
            </a:r>
            <a:r>
              <a:rPr lang="en-US" altLang="zh-CN" sz="2000" dirty="0">
                <a:solidFill>
                  <a:srgbClr val="FF0000"/>
                </a:solidFill>
              </a:rPr>
              <a:t>)</a:t>
            </a:r>
          </a:p>
          <a:p>
            <a:pPr lvl="1">
              <a:lnSpc>
                <a:spcPct val="150000"/>
              </a:lnSpc>
              <a:buFont typeface="Wingdings" panose="05000000000000000000" pitchFamily="2" charset="2"/>
              <a:buChar char="Ø"/>
            </a:pPr>
            <a:r>
              <a:rPr lang="zh-CN" altLang="en-US" sz="2000" dirty="0"/>
              <a:t>常用的颜色取值包括：“</a:t>
            </a:r>
            <a:r>
              <a:rPr lang="en-US" altLang="zh-CN" sz="2000" dirty="0"/>
              <a:t>blue”</a:t>
            </a:r>
            <a:r>
              <a:rPr lang="zh-CN" altLang="en-US" sz="2000" dirty="0"/>
              <a:t>、“</a:t>
            </a:r>
            <a:r>
              <a:rPr lang="en-US" altLang="zh-CN" sz="2000" dirty="0"/>
              <a:t>green”</a:t>
            </a:r>
            <a:r>
              <a:rPr lang="zh-CN" altLang="en-US" sz="2000" dirty="0"/>
              <a:t>、“</a:t>
            </a:r>
            <a:r>
              <a:rPr lang="en-US" altLang="zh-CN" sz="2000" dirty="0"/>
              <a:t>red”</a:t>
            </a:r>
            <a:r>
              <a:rPr lang="zh-CN" altLang="en-US" sz="2000" dirty="0"/>
              <a:t>、“</a:t>
            </a:r>
            <a:r>
              <a:rPr lang="en-US" altLang="zh-CN" sz="2000" dirty="0"/>
              <a:t>yellow”</a:t>
            </a:r>
            <a:r>
              <a:rPr lang="zh-CN" altLang="en-US" sz="2000" dirty="0"/>
              <a:t>、“</a:t>
            </a:r>
            <a:r>
              <a:rPr lang="en-US" altLang="zh-CN" sz="2000" dirty="0"/>
              <a:t>black”</a:t>
            </a:r>
            <a:r>
              <a:rPr lang="zh-CN" altLang="en-US" sz="2000" dirty="0"/>
              <a:t>、“</a:t>
            </a:r>
            <a:r>
              <a:rPr lang="en-US" altLang="zh-CN" sz="2000" dirty="0"/>
              <a:t>white”</a:t>
            </a:r>
            <a:r>
              <a:rPr lang="zh-CN" altLang="en-US" sz="2000" dirty="0"/>
              <a:t>等，分别可缩写为‘</a:t>
            </a:r>
            <a:r>
              <a:rPr lang="en-US" altLang="zh-CN" sz="2000" dirty="0"/>
              <a:t>b’</a:t>
            </a:r>
            <a:r>
              <a:rPr lang="zh-CN" altLang="en-US" sz="2000" dirty="0"/>
              <a:t>、‘</a:t>
            </a:r>
            <a:r>
              <a:rPr lang="en-US" altLang="zh-CN" sz="2000" dirty="0"/>
              <a:t>g’</a:t>
            </a:r>
            <a:r>
              <a:rPr lang="zh-CN" altLang="en-US" sz="2000" dirty="0"/>
              <a:t>、‘</a:t>
            </a:r>
            <a:r>
              <a:rPr lang="en-US" altLang="zh-CN" sz="2000" dirty="0"/>
              <a:t>r’</a:t>
            </a:r>
            <a:r>
              <a:rPr lang="zh-CN" altLang="en-US" sz="2000" dirty="0"/>
              <a:t>、‘</a:t>
            </a:r>
            <a:r>
              <a:rPr lang="en-US" altLang="zh-CN" sz="2000" dirty="0"/>
              <a:t>y’</a:t>
            </a:r>
            <a:r>
              <a:rPr lang="zh-CN" altLang="en-US" sz="2000" dirty="0"/>
              <a:t>、‘</a:t>
            </a:r>
            <a:r>
              <a:rPr lang="en-US" altLang="zh-CN" sz="2000" dirty="0"/>
              <a:t>k’</a:t>
            </a:r>
            <a:r>
              <a:rPr lang="zh-CN" altLang="en-US" sz="2000" dirty="0"/>
              <a:t>、‘</a:t>
            </a:r>
            <a:r>
              <a:rPr lang="en-US" altLang="zh-CN" sz="2000" dirty="0"/>
              <a:t>w’</a:t>
            </a:r>
            <a:r>
              <a:rPr lang="zh-CN" altLang="en-US" sz="2000" dirty="0"/>
              <a:t>。</a:t>
            </a:r>
            <a:endParaRPr lang="en-US" altLang="zh-CN" sz="2000" dirty="0"/>
          </a:p>
          <a:p>
            <a:pPr marL="228600" lvl="1">
              <a:lnSpc>
                <a:spcPct val="100000"/>
              </a:lnSpc>
              <a:spcBef>
                <a:spcPts val="1800"/>
              </a:spcBef>
            </a:pPr>
            <a:r>
              <a:rPr lang="zh-CN" altLang="zh-CN" sz="2000" dirty="0"/>
              <a:t>线型与颜色参数可共同作为</a:t>
            </a:r>
            <a:r>
              <a:rPr lang="en-US" altLang="zh-CN" sz="2000" dirty="0"/>
              <a:t> plot() </a:t>
            </a:r>
            <a:r>
              <a:rPr lang="zh-CN" altLang="zh-CN" sz="2000" dirty="0"/>
              <a:t>函数的第三个参数。</a:t>
            </a:r>
            <a:endParaRPr lang="en-US" altLang="zh-CN" sz="2000" dirty="0"/>
          </a:p>
          <a:p>
            <a:pPr marL="800100" lvl="2" indent="-342900">
              <a:lnSpc>
                <a:spcPct val="100000"/>
              </a:lnSpc>
              <a:spcBef>
                <a:spcPts val="1800"/>
              </a:spcBef>
              <a:buFont typeface="Wingdings" panose="05000000000000000000" pitchFamily="2" charset="2"/>
              <a:buChar char="Ø"/>
            </a:pPr>
            <a:r>
              <a:rPr lang="zh-CN" altLang="zh-CN" sz="1800" dirty="0"/>
              <a:t>例如，将线条设定为黄色的虚点线，可写为：</a:t>
            </a:r>
          </a:p>
          <a:p>
            <a:pPr marL="457200" lvl="1" indent="0">
              <a:lnSpc>
                <a:spcPct val="150000"/>
              </a:lnSpc>
              <a:buNone/>
            </a:pPr>
            <a:endParaRPr lang="zh-CN" altLang="en-US" sz="2000" dirty="0"/>
          </a:p>
          <a:p>
            <a:pPr marL="457200" lvl="1" indent="0" algn="ctr">
              <a:lnSpc>
                <a:spcPct val="150000"/>
              </a:lnSpc>
              <a:buNone/>
            </a:pPr>
            <a:endParaRPr lang="en-US" altLang="zh-CN" sz="2000" dirty="0"/>
          </a:p>
        </p:txBody>
      </p:sp>
      <p:graphicFrame>
        <p:nvGraphicFramePr>
          <p:cNvPr id="4" name="表格 3">
            <a:extLst>
              <a:ext uri="{FF2B5EF4-FFF2-40B4-BE49-F238E27FC236}">
                <a16:creationId xmlns:a16="http://schemas.microsoft.com/office/drawing/2014/main" id="{4033A88D-4C22-4951-8B09-D3E68430F1CD}"/>
              </a:ext>
            </a:extLst>
          </p:cNvPr>
          <p:cNvGraphicFramePr>
            <a:graphicFrameLocks noGrp="1"/>
          </p:cNvGraphicFramePr>
          <p:nvPr>
            <p:extLst>
              <p:ext uri="{D42A27DB-BD31-4B8C-83A1-F6EECF244321}">
                <p14:modId xmlns:p14="http://schemas.microsoft.com/office/powerpoint/2010/main" val="4088160457"/>
              </p:ext>
            </p:extLst>
          </p:nvPr>
        </p:nvGraphicFramePr>
        <p:xfrm>
          <a:off x="2100015" y="5563428"/>
          <a:ext cx="7990447" cy="405848"/>
        </p:xfrm>
        <a:graphic>
          <a:graphicData uri="http://schemas.openxmlformats.org/drawingml/2006/table">
            <a:tbl>
              <a:tblPr firstRow="1" firstCol="1" bandRow="1"/>
              <a:tblGrid>
                <a:gridCol w="7990447">
                  <a:extLst>
                    <a:ext uri="{9D8B030D-6E8A-4147-A177-3AD203B41FA5}">
                      <a16:colId xmlns:a16="http://schemas.microsoft.com/office/drawing/2014/main" val="165711208"/>
                    </a:ext>
                  </a:extLst>
                </a:gridCol>
              </a:tblGrid>
              <a:tr h="405848">
                <a:tc>
                  <a:txBody>
                    <a:bodyPr/>
                    <a:lstStyle/>
                    <a:p>
                      <a:pPr algn="just">
                        <a:lnSpc>
                          <a:spcPct val="10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plt.plot( listx, listy, "y-.")</a:t>
                      </a:r>
                      <a:endParaRPr lang="en-US" altLang="zh-CN" sz="2000" kern="100" dirty="0">
                        <a:solidFill>
                          <a:schemeClr val="tx2"/>
                        </a:solidFill>
                        <a:effectLst/>
                        <a:latin typeface="Consolas" panose="020B0609020204030204" pitchFamily="49" charset="0"/>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graphicFrame>
        <p:nvGraphicFramePr>
          <p:cNvPr id="5" name="表格 4">
            <a:extLst>
              <a:ext uri="{FF2B5EF4-FFF2-40B4-BE49-F238E27FC236}">
                <a16:creationId xmlns:a16="http://schemas.microsoft.com/office/drawing/2014/main" id="{FC42C37C-D183-4727-9024-B12C2A60C7E7}"/>
              </a:ext>
            </a:extLst>
          </p:cNvPr>
          <p:cNvGraphicFramePr>
            <a:graphicFrameLocks noGrp="1"/>
          </p:cNvGraphicFramePr>
          <p:nvPr>
            <p:extLst>
              <p:ext uri="{D42A27DB-BD31-4B8C-83A1-F6EECF244321}">
                <p14:modId xmlns:p14="http://schemas.microsoft.com/office/powerpoint/2010/main" val="73700821"/>
              </p:ext>
            </p:extLst>
          </p:nvPr>
        </p:nvGraphicFramePr>
        <p:xfrm>
          <a:off x="2100016" y="6396314"/>
          <a:ext cx="7990447" cy="405848"/>
        </p:xfrm>
        <a:graphic>
          <a:graphicData uri="http://schemas.openxmlformats.org/drawingml/2006/table">
            <a:tbl>
              <a:tblPr firstRow="1" firstCol="1" bandRow="1"/>
              <a:tblGrid>
                <a:gridCol w="7990447">
                  <a:extLst>
                    <a:ext uri="{9D8B030D-6E8A-4147-A177-3AD203B41FA5}">
                      <a16:colId xmlns:a16="http://schemas.microsoft.com/office/drawing/2014/main" val="165711208"/>
                    </a:ext>
                  </a:extLst>
                </a:gridCol>
              </a:tblGrid>
              <a:tr h="405848">
                <a:tc>
                  <a:txBody>
                    <a:bodyPr/>
                    <a:lstStyle/>
                    <a:p>
                      <a:pPr algn="just">
                        <a:lnSpc>
                          <a:spcPct val="100000"/>
                        </a:lnSpc>
                        <a:spcAft>
                          <a:spcPts val="0"/>
                        </a:spcAft>
                      </a:pP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plt.plot( listx, listy, color= "y", ls=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sp>
        <p:nvSpPr>
          <p:cNvPr id="6" name="文本框 5">
            <a:extLst>
              <a:ext uri="{FF2B5EF4-FFF2-40B4-BE49-F238E27FC236}">
                <a16:creationId xmlns:a16="http://schemas.microsoft.com/office/drawing/2014/main" id="{28B58449-F6CC-40A5-82AD-4F70D1D58DC9}"/>
              </a:ext>
            </a:extLst>
          </p:cNvPr>
          <p:cNvSpPr txBox="1"/>
          <p:nvPr/>
        </p:nvSpPr>
        <p:spPr>
          <a:xfrm>
            <a:off x="1976728" y="5972145"/>
            <a:ext cx="1050940" cy="400110"/>
          </a:xfrm>
          <a:prstGeom prst="rect">
            <a:avLst/>
          </a:prstGeom>
          <a:noFill/>
        </p:spPr>
        <p:txBody>
          <a:bodyPr wrap="square" rtlCol="0">
            <a:spAutoFit/>
          </a:bodyPr>
          <a:lstStyle/>
          <a:p>
            <a:r>
              <a:rPr lang="zh-CN" altLang="en-US" sz="2000" dirty="0">
                <a:solidFill>
                  <a:srgbClr val="FF0000"/>
                </a:solidFill>
              </a:rPr>
              <a:t>等价于：</a:t>
            </a:r>
          </a:p>
        </p:txBody>
      </p:sp>
    </p:spTree>
    <p:extLst>
      <p:ext uri="{BB962C8B-B14F-4D97-AF65-F5344CB8AC3E}">
        <p14:creationId xmlns:p14="http://schemas.microsoft.com/office/powerpoint/2010/main" val="4247534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12.2.1 设置线条、颜色与标记</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标记参数（</a:t>
            </a:r>
            <a:r>
              <a:rPr lang="en-US" altLang="zh-CN" sz="2400" dirty="0">
                <a:solidFill>
                  <a:srgbClr val="FF0000"/>
                </a:solidFill>
              </a:rPr>
              <a:t>marker</a:t>
            </a:r>
            <a:r>
              <a:rPr lang="zh-CN" altLang="en-US" sz="2400" dirty="0">
                <a:solidFill>
                  <a:srgbClr val="FF0000"/>
                </a:solidFill>
              </a:rPr>
              <a:t>）</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用于为线条上的每一个数据点添加一个特殊的符号。</a:t>
            </a:r>
            <a:endParaRPr lang="en-US" altLang="zh-CN" sz="2000" dirty="0"/>
          </a:p>
          <a:p>
            <a:pPr lvl="1">
              <a:lnSpc>
                <a:spcPct val="100000"/>
              </a:lnSpc>
              <a:buFont typeface="Wingdings" panose="05000000000000000000" pitchFamily="2" charset="2"/>
              <a:buChar char="Ø"/>
            </a:pPr>
            <a:r>
              <a:rPr lang="zh-CN" altLang="en-US" sz="2000" dirty="0"/>
              <a:t>基本语法为：</a:t>
            </a:r>
            <a:endParaRPr lang="en-US" altLang="zh-CN" sz="2000" dirty="0"/>
          </a:p>
          <a:p>
            <a:pPr marL="457200" lvl="1" indent="0" algn="ctr">
              <a:lnSpc>
                <a:spcPct val="100000"/>
              </a:lnSpc>
              <a:buNone/>
            </a:pPr>
            <a:r>
              <a:rPr lang="en-US" altLang="zh-CN" sz="2000" dirty="0">
                <a:solidFill>
                  <a:srgbClr val="FF0000"/>
                </a:solidFill>
              </a:rPr>
              <a:t>plt.plot(listx, listy, marker=</a:t>
            </a:r>
            <a:r>
              <a:rPr lang="zh-CN" altLang="en-US" sz="2000" dirty="0">
                <a:solidFill>
                  <a:srgbClr val="FF0000"/>
                </a:solidFill>
              </a:rPr>
              <a:t>参数值</a:t>
            </a:r>
            <a:r>
              <a:rPr lang="en-US" altLang="zh-CN" sz="2000" dirty="0">
                <a:solidFill>
                  <a:srgbClr val="FF0000"/>
                </a:solidFill>
              </a:rPr>
              <a:t>)</a:t>
            </a:r>
          </a:p>
          <a:p>
            <a:pPr marL="228600" lvl="1">
              <a:spcBef>
                <a:spcPts val="1800"/>
              </a:spcBef>
            </a:pPr>
            <a:r>
              <a:rPr lang="zh-CN" altLang="en-US" sz="2000" dirty="0">
                <a:solidFill>
                  <a:srgbClr val="FF0000"/>
                </a:solidFill>
              </a:rPr>
              <a:t>下表展示了</a:t>
            </a:r>
            <a:r>
              <a:rPr lang="en-US" altLang="zh-CN" sz="2000" dirty="0">
                <a:solidFill>
                  <a:srgbClr val="FF0000"/>
                </a:solidFill>
              </a:rPr>
              <a:t>matplotlib</a:t>
            </a:r>
            <a:r>
              <a:rPr lang="zh-CN" altLang="en-US" sz="2000" dirty="0">
                <a:solidFill>
                  <a:srgbClr val="FF0000"/>
                </a:solidFill>
              </a:rPr>
              <a:t>提供的不同标记类型：</a:t>
            </a:r>
            <a:endParaRPr lang="en-US" altLang="zh-CN" sz="2000" dirty="0">
              <a:solidFill>
                <a:srgbClr val="FF0000"/>
              </a:solidFill>
            </a:endParaRPr>
          </a:p>
          <a:p>
            <a:pPr marL="457200" lvl="1" indent="0" algn="ctr">
              <a:lnSpc>
                <a:spcPct val="150000"/>
              </a:lnSpc>
              <a:buNone/>
            </a:pPr>
            <a:endParaRPr lang="en-US" altLang="zh-CN" sz="2000" dirty="0">
              <a:solidFill>
                <a:srgbClr val="FF0000"/>
              </a:solidFill>
            </a:endParaRPr>
          </a:p>
        </p:txBody>
      </p:sp>
      <p:pic>
        <p:nvPicPr>
          <p:cNvPr id="2" name="图片 1">
            <a:extLst>
              <a:ext uri="{FF2B5EF4-FFF2-40B4-BE49-F238E27FC236}">
                <a16:creationId xmlns:a16="http://schemas.microsoft.com/office/drawing/2014/main" id="{6895780C-4864-4541-90C2-790C10F84E38}"/>
              </a:ext>
            </a:extLst>
          </p:cNvPr>
          <p:cNvPicPr>
            <a:picLocks noChangeAspect="1"/>
          </p:cNvPicPr>
          <p:nvPr/>
        </p:nvPicPr>
        <p:blipFill>
          <a:blip r:embed="rId3"/>
          <a:stretch>
            <a:fillRect/>
          </a:stretch>
        </p:blipFill>
        <p:spPr>
          <a:xfrm>
            <a:off x="2201969" y="3881230"/>
            <a:ext cx="7788062" cy="2753139"/>
          </a:xfrm>
          <a:prstGeom prst="rect">
            <a:avLst/>
          </a:prstGeom>
        </p:spPr>
      </p:pic>
      <p:sp>
        <p:nvSpPr>
          <p:cNvPr id="6" name="思想气泡: 云 5">
            <a:extLst>
              <a:ext uri="{FF2B5EF4-FFF2-40B4-BE49-F238E27FC236}">
                <a16:creationId xmlns:a16="http://schemas.microsoft.com/office/drawing/2014/main" id="{ACBF276E-5DE4-40DE-9ECA-F2420DA7E2CF}"/>
              </a:ext>
            </a:extLst>
          </p:cNvPr>
          <p:cNvSpPr/>
          <p:nvPr/>
        </p:nvSpPr>
        <p:spPr>
          <a:xfrm>
            <a:off x="8709766" y="1865416"/>
            <a:ext cx="3362964" cy="1802295"/>
          </a:xfrm>
          <a:prstGeom prst="cloudCallout">
            <a:avLst>
              <a:gd name="adj1" fmla="val -21202"/>
              <a:gd name="adj2" fmla="val 77252"/>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en-US" dirty="0"/>
              <a:t>若想表示空心圆，语法为：</a:t>
            </a:r>
            <a:endParaRPr lang="en-US" altLang="zh-CN" dirty="0"/>
          </a:p>
          <a:p>
            <a:pPr algn="just"/>
            <a:r>
              <a:rPr lang="en-US" altLang="zh-CN" kern="100" dirty="0">
                <a:solidFill>
                  <a:schemeClr val="tx2"/>
                </a:solidFill>
                <a:latin typeface="Consolas" panose="020B0609020204030204" pitchFamily="49" charset="0"/>
                <a:cs typeface="Times New Roman" panose="02020603050405020304" pitchFamily="18" charset="0"/>
              </a:rPr>
              <a:t>marker= 'o’, </a:t>
            </a:r>
          </a:p>
          <a:p>
            <a:pPr algn="just"/>
            <a:r>
              <a:rPr lang="en-US" altLang="zh-CN" kern="100" dirty="0">
                <a:solidFill>
                  <a:schemeClr val="tx2"/>
                </a:solidFill>
                <a:latin typeface="Consolas" panose="020B0609020204030204" pitchFamily="49" charset="0"/>
                <a:cs typeface="Times New Roman" panose="02020603050405020304" pitchFamily="18" charset="0"/>
              </a:rPr>
              <a:t>markerfacecolor= 'none'</a:t>
            </a:r>
            <a:endParaRPr lang="zh-CN" altLang="en-US" kern="100" dirty="0">
              <a:solidFill>
                <a:schemeClr val="tx2"/>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290275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12.2.1 设置线条、颜色与标记</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线宽参数（</a:t>
            </a:r>
            <a:r>
              <a:rPr lang="en-US" altLang="zh-CN" sz="2400" dirty="0">
                <a:solidFill>
                  <a:srgbClr val="FF0000"/>
                </a:solidFill>
              </a:rPr>
              <a:t>linewidth </a:t>
            </a:r>
            <a:r>
              <a:rPr lang="zh-CN" altLang="en-US" sz="2400" dirty="0">
                <a:solidFill>
                  <a:srgbClr val="FF0000"/>
                </a:solidFill>
              </a:rPr>
              <a:t>或 </a:t>
            </a:r>
            <a:r>
              <a:rPr lang="en-US" altLang="zh-CN" sz="2400" dirty="0">
                <a:solidFill>
                  <a:srgbClr val="FF0000"/>
                </a:solidFill>
              </a:rPr>
              <a:t>lw</a:t>
            </a:r>
            <a:r>
              <a:rPr lang="zh-CN" altLang="en-US" sz="2400" dirty="0">
                <a:solidFill>
                  <a:srgbClr val="FF0000"/>
                </a:solidFill>
              </a:rPr>
              <a:t>）</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用于设置线条宽度，用浮点型数字（</a:t>
            </a:r>
            <a:r>
              <a:rPr lang="en-US" altLang="zh-CN" sz="2000" dirty="0"/>
              <a:t>float</a:t>
            </a:r>
            <a:r>
              <a:rPr lang="zh-CN" altLang="en-US" sz="2000" dirty="0"/>
              <a:t>）描述，一般默认值为</a:t>
            </a:r>
            <a:r>
              <a:rPr lang="en-US" altLang="zh-CN" sz="2000" dirty="0"/>
              <a:t>1.0</a:t>
            </a:r>
            <a:r>
              <a:rPr lang="zh-CN" altLang="en-US" sz="2000" dirty="0"/>
              <a:t>。</a:t>
            </a:r>
            <a:endParaRPr lang="en-US" altLang="zh-CN" sz="2000" dirty="0"/>
          </a:p>
          <a:p>
            <a:pPr lvl="1">
              <a:lnSpc>
                <a:spcPct val="100000"/>
              </a:lnSpc>
              <a:buFont typeface="Wingdings" panose="05000000000000000000" pitchFamily="2" charset="2"/>
              <a:buChar char="Ø"/>
            </a:pPr>
            <a:r>
              <a:rPr lang="zh-CN" altLang="en-US" sz="2000" dirty="0"/>
              <a:t>基本语法为：</a:t>
            </a:r>
            <a:endParaRPr lang="en-US" altLang="zh-CN" sz="2000" dirty="0"/>
          </a:p>
          <a:p>
            <a:pPr marL="457200" lvl="1" indent="0" algn="ctr">
              <a:lnSpc>
                <a:spcPct val="100000"/>
              </a:lnSpc>
              <a:buNone/>
            </a:pPr>
            <a:r>
              <a:rPr lang="en-US" altLang="zh-CN" sz="2000" dirty="0">
                <a:solidFill>
                  <a:srgbClr val="FF0000"/>
                </a:solidFill>
              </a:rPr>
              <a:t>plt.plot(listx, listy, linewidth=</a:t>
            </a:r>
            <a:r>
              <a:rPr lang="zh-CN" altLang="en-US" sz="2000" dirty="0">
                <a:solidFill>
                  <a:srgbClr val="FF0000"/>
                </a:solidFill>
              </a:rPr>
              <a:t>参数值</a:t>
            </a:r>
            <a:r>
              <a:rPr lang="en-US" altLang="zh-CN" sz="2000" dirty="0">
                <a:solidFill>
                  <a:srgbClr val="FF0000"/>
                </a:solidFill>
              </a:rPr>
              <a:t>)</a:t>
            </a:r>
            <a:endParaRPr lang="en-US" altLang="zh-CN" sz="2000" dirty="0"/>
          </a:p>
          <a:p>
            <a:pPr marL="228600" lvl="1">
              <a:lnSpc>
                <a:spcPct val="100000"/>
              </a:lnSpc>
              <a:spcBef>
                <a:spcPts val="1800"/>
              </a:spcBef>
            </a:pPr>
            <a:r>
              <a:rPr lang="zh-CN" altLang="en-US" sz="2000" dirty="0"/>
              <a:t>例如：</a:t>
            </a:r>
            <a:endParaRPr lang="en-US" altLang="zh-CN" sz="2000" dirty="0"/>
          </a:p>
        </p:txBody>
      </p:sp>
      <p:graphicFrame>
        <p:nvGraphicFramePr>
          <p:cNvPr id="4" name="表格 3">
            <a:extLst>
              <a:ext uri="{FF2B5EF4-FFF2-40B4-BE49-F238E27FC236}">
                <a16:creationId xmlns:a16="http://schemas.microsoft.com/office/drawing/2014/main" id="{D57064B5-D243-4C44-AE81-0BD6C35DAFFA}"/>
              </a:ext>
            </a:extLst>
          </p:cNvPr>
          <p:cNvGraphicFramePr>
            <a:graphicFrameLocks noGrp="1"/>
          </p:cNvGraphicFramePr>
          <p:nvPr>
            <p:extLst>
              <p:ext uri="{D42A27DB-BD31-4B8C-83A1-F6EECF244321}">
                <p14:modId xmlns:p14="http://schemas.microsoft.com/office/powerpoint/2010/main" val="2802606564"/>
              </p:ext>
            </p:extLst>
          </p:nvPr>
        </p:nvGraphicFramePr>
        <p:xfrm>
          <a:off x="1134435" y="3943119"/>
          <a:ext cx="7223194" cy="2689733"/>
        </p:xfrm>
        <a:graphic>
          <a:graphicData uri="http://schemas.openxmlformats.org/drawingml/2006/table">
            <a:tbl>
              <a:tblPr firstRow="1" firstCol="1" bandRow="1"/>
              <a:tblGrid>
                <a:gridCol w="7223194">
                  <a:extLst>
                    <a:ext uri="{9D8B030D-6E8A-4147-A177-3AD203B41FA5}">
                      <a16:colId xmlns:a16="http://schemas.microsoft.com/office/drawing/2014/main" val="165711208"/>
                    </a:ext>
                  </a:extLst>
                </a:gridCol>
              </a:tblGrid>
              <a:tr h="2633525">
                <a:tc>
                  <a:txBody>
                    <a:bodyPr/>
                    <a:lstStyle/>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plt.plot(range(1,7),listy1,linestyle="--",\</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linewidth=3.0,color='g',marker='s')</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设置线型为虚线，线宽为</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3.0</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，颜色为绿色，标记为正方形</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plt.plot(listx2,listy2,linestyle="-.",\</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linewidth=2.0,color="red",marker='o')</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设置线型为虚点线，线宽为</a:t>
                      </a:r>
                      <a:r>
                        <a:rPr lang="en-US" altLang="zh-CN" sz="2000" kern="100" dirty="0">
                          <a:solidFill>
                            <a:schemeClr val="tx2"/>
                          </a:solidFill>
                          <a:effectLst/>
                          <a:latin typeface="Consolas" panose="020B0609020204030204" pitchFamily="49" charset="0"/>
                          <a:ea typeface="+mn-ea"/>
                          <a:cs typeface="Times New Roman" panose="02020603050405020304" pitchFamily="18" charset="0"/>
                        </a:rPr>
                        <a:t>2.0</a:t>
                      </a:r>
                      <a:r>
                        <a:rPr lang="zh-CN" altLang="en-US" sz="2000" kern="100" dirty="0">
                          <a:solidFill>
                            <a:schemeClr val="tx2"/>
                          </a:solidFill>
                          <a:effectLst/>
                          <a:latin typeface="Consolas" panose="020B0609020204030204" pitchFamily="49" charset="0"/>
                          <a:ea typeface="+mn-ea"/>
                          <a:cs typeface="Times New Roman" panose="02020603050405020304" pitchFamily="18" charset="0"/>
                        </a:rPr>
                        <a:t>，颜色为红色，标记为实心圆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5" name="Picture 169" descr="/var/folders/zt/_gpwfbgn0919jcl5k156sjtr0000gp/T/com.microsoft.Word/Content.MSO/558FA951.tmp">
            <a:extLst>
              <a:ext uri="{FF2B5EF4-FFF2-40B4-BE49-F238E27FC236}">
                <a16:creationId xmlns:a16="http://schemas.microsoft.com/office/drawing/2014/main" id="{AC39F0F8-CBE3-4673-9FE7-36EC90B2BAE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357629" y="3937116"/>
            <a:ext cx="3832150" cy="2765172"/>
          </a:xfrm>
          <a:prstGeom prst="rect">
            <a:avLst/>
          </a:prstGeom>
          <a:noFill/>
          <a:ln>
            <a:noFill/>
          </a:ln>
        </p:spPr>
      </p:pic>
    </p:spTree>
    <p:extLst>
      <p:ext uri="{BB962C8B-B14F-4D97-AF65-F5344CB8AC3E}">
        <p14:creationId xmlns:p14="http://schemas.microsoft.com/office/powerpoint/2010/main" val="339388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a:t>
            </a:r>
            <a:r>
              <a:rPr lang="en-US" altLang="zh-CN" dirty="0"/>
              <a:t>2 </a:t>
            </a:r>
            <a:r>
              <a:rPr lang="zh-CN" altLang="en-US" dirty="0"/>
              <a:t>添加标签、注释与图例</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标签</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能帮助人们理解图像中每个坐标轴的含义，图像中所必需的标签有图像标题和坐标轴标题等。</a:t>
            </a:r>
            <a:endParaRPr lang="en-US" altLang="zh-CN" sz="2000" dirty="0"/>
          </a:p>
          <a:p>
            <a:pPr lvl="1">
              <a:lnSpc>
                <a:spcPct val="100000"/>
              </a:lnSpc>
              <a:buFont typeface="Wingdings" panose="05000000000000000000" pitchFamily="2" charset="2"/>
              <a:buChar char="Ø"/>
            </a:pPr>
            <a:r>
              <a:rPr lang="zh-CN" altLang="en-US" sz="2000" dirty="0"/>
              <a:t>设置标签的基本语法为：</a:t>
            </a:r>
            <a:endParaRPr lang="en-US" altLang="zh-CN" sz="2000" dirty="0"/>
          </a:p>
          <a:p>
            <a:pPr marL="457200" lvl="1" indent="0" algn="ctr">
              <a:lnSpc>
                <a:spcPct val="150000"/>
              </a:lnSpc>
              <a:buNone/>
            </a:pPr>
            <a:r>
              <a:rPr lang="en-US" altLang="zh-CN" sz="2000" dirty="0" err="1">
                <a:solidFill>
                  <a:srgbClr val="FF0000"/>
                </a:solidFill>
              </a:rPr>
              <a:t>plt.title</a:t>
            </a:r>
            <a:r>
              <a:rPr lang="en-US" altLang="zh-CN" sz="2000" dirty="0">
                <a:solidFill>
                  <a:srgbClr val="FF0000"/>
                </a:solidFill>
              </a:rPr>
              <a:t>(</a:t>
            </a:r>
            <a:r>
              <a:rPr lang="zh-CN" altLang="en-US" sz="2000" dirty="0">
                <a:solidFill>
                  <a:srgbClr val="FF0000"/>
                </a:solidFill>
              </a:rPr>
              <a:t>图像标题</a:t>
            </a:r>
            <a:r>
              <a:rPr lang="en-US" altLang="zh-CN" sz="2000" dirty="0">
                <a:solidFill>
                  <a:srgbClr val="FF0000"/>
                </a:solidFill>
              </a:rPr>
              <a:t>)             #</a:t>
            </a:r>
            <a:r>
              <a:rPr lang="zh-CN" altLang="en-US" sz="2000" dirty="0">
                <a:solidFill>
                  <a:srgbClr val="FF0000"/>
                </a:solidFill>
              </a:rPr>
              <a:t>设置图像标题</a:t>
            </a:r>
          </a:p>
          <a:p>
            <a:pPr marL="457200" lvl="1" indent="0" algn="ctr">
              <a:lnSpc>
                <a:spcPct val="150000"/>
              </a:lnSpc>
              <a:buNone/>
            </a:pPr>
            <a:r>
              <a:rPr lang="en-US" altLang="zh-CN" sz="2000" dirty="0" err="1">
                <a:solidFill>
                  <a:srgbClr val="FF0000"/>
                </a:solidFill>
              </a:rPr>
              <a:t>plt.xlabel</a:t>
            </a:r>
            <a:r>
              <a:rPr lang="en-US" altLang="zh-CN" sz="2000" dirty="0">
                <a:solidFill>
                  <a:srgbClr val="FF0000"/>
                </a:solidFill>
              </a:rPr>
              <a:t>(X</a:t>
            </a:r>
            <a:r>
              <a:rPr lang="zh-CN" altLang="en-US" sz="2000" dirty="0">
                <a:solidFill>
                  <a:srgbClr val="FF0000"/>
                </a:solidFill>
              </a:rPr>
              <a:t>坐标轴标题</a:t>
            </a:r>
            <a:r>
              <a:rPr lang="en-US" altLang="zh-CN" sz="2000" dirty="0">
                <a:solidFill>
                  <a:srgbClr val="FF0000"/>
                </a:solidFill>
              </a:rPr>
              <a:t>)       #</a:t>
            </a:r>
            <a:r>
              <a:rPr lang="zh-CN" altLang="en-US" sz="2000" dirty="0">
                <a:solidFill>
                  <a:srgbClr val="FF0000"/>
                </a:solidFill>
              </a:rPr>
              <a:t>设置</a:t>
            </a:r>
            <a:r>
              <a:rPr lang="en-US" altLang="zh-CN" sz="2000" dirty="0">
                <a:solidFill>
                  <a:srgbClr val="FF0000"/>
                </a:solidFill>
              </a:rPr>
              <a:t>X</a:t>
            </a:r>
            <a:r>
              <a:rPr lang="zh-CN" altLang="en-US" sz="2000" dirty="0">
                <a:solidFill>
                  <a:srgbClr val="FF0000"/>
                </a:solidFill>
              </a:rPr>
              <a:t>坐标轴标题</a:t>
            </a:r>
          </a:p>
          <a:p>
            <a:pPr marL="457200" lvl="1" indent="0" algn="ctr">
              <a:lnSpc>
                <a:spcPct val="150000"/>
              </a:lnSpc>
              <a:buNone/>
            </a:pPr>
            <a:r>
              <a:rPr lang="en-US" altLang="zh-CN" sz="2000" dirty="0" err="1">
                <a:solidFill>
                  <a:srgbClr val="FF0000"/>
                </a:solidFill>
              </a:rPr>
              <a:t>plt.ylabel</a:t>
            </a:r>
            <a:r>
              <a:rPr lang="en-US" altLang="zh-CN" sz="2000" dirty="0">
                <a:solidFill>
                  <a:srgbClr val="FF0000"/>
                </a:solidFill>
              </a:rPr>
              <a:t>(Y</a:t>
            </a:r>
            <a:r>
              <a:rPr lang="zh-CN" altLang="en-US" sz="2000" dirty="0">
                <a:solidFill>
                  <a:srgbClr val="FF0000"/>
                </a:solidFill>
              </a:rPr>
              <a:t>坐标轴标题</a:t>
            </a:r>
            <a:r>
              <a:rPr lang="en-US" altLang="zh-CN" sz="2000" dirty="0">
                <a:solidFill>
                  <a:srgbClr val="FF0000"/>
                </a:solidFill>
              </a:rPr>
              <a:t>)       #</a:t>
            </a:r>
            <a:r>
              <a:rPr lang="zh-CN" altLang="en-US" sz="2000" dirty="0">
                <a:solidFill>
                  <a:srgbClr val="FF0000"/>
                </a:solidFill>
              </a:rPr>
              <a:t>设置</a:t>
            </a:r>
            <a:r>
              <a:rPr lang="en-US" altLang="zh-CN" sz="2000" dirty="0">
                <a:solidFill>
                  <a:srgbClr val="FF0000"/>
                </a:solidFill>
              </a:rPr>
              <a:t>Y</a:t>
            </a:r>
            <a:r>
              <a:rPr lang="zh-CN" altLang="en-US" sz="2000" dirty="0">
                <a:solidFill>
                  <a:srgbClr val="FF0000"/>
                </a:solidFill>
              </a:rPr>
              <a:t>坐标轴标题</a:t>
            </a:r>
          </a:p>
          <a:p>
            <a:pPr marL="228600" lvl="1">
              <a:spcBef>
                <a:spcPts val="1800"/>
              </a:spcBef>
            </a:pPr>
            <a:r>
              <a:rPr lang="zh-CN" altLang="en-US" sz="2000" dirty="0"/>
              <a:t>若需要改变标签字体的大小，可以通过修改其参数 “</a:t>
            </a:r>
            <a:r>
              <a:rPr lang="en-US" altLang="zh-CN" sz="2000" dirty="0"/>
              <a:t>fontsize” </a:t>
            </a:r>
            <a:r>
              <a:rPr lang="zh-CN" altLang="en-US" sz="2000" dirty="0"/>
              <a:t>的值达到。</a:t>
            </a:r>
            <a:endParaRPr lang="en-US" altLang="zh-CN" sz="2000" dirty="0"/>
          </a:p>
        </p:txBody>
      </p:sp>
    </p:spTree>
    <p:extLst>
      <p:ext uri="{BB962C8B-B14F-4D97-AF65-F5344CB8AC3E}">
        <p14:creationId xmlns:p14="http://schemas.microsoft.com/office/powerpoint/2010/main" val="284896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a:t>
            </a:r>
            <a:r>
              <a:rPr lang="en-US" altLang="zh-CN" dirty="0"/>
              <a:t>2 </a:t>
            </a:r>
            <a:r>
              <a:rPr lang="zh-CN" altLang="en-US" dirty="0"/>
              <a:t>添加标签、注释与图例</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图例</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用于标注图像中各组成部分所代表的具体含义，</a:t>
            </a:r>
            <a:r>
              <a:rPr lang="en-US" altLang="zh-CN" sz="2000" dirty="0"/>
              <a:t>legend()</a:t>
            </a:r>
            <a:r>
              <a:rPr lang="zh-CN" altLang="en-US" sz="2000" dirty="0"/>
              <a:t>函数用于创建及自定义图例相关属性。</a:t>
            </a:r>
            <a:endParaRPr lang="en-US" altLang="zh-CN" sz="2000" dirty="0"/>
          </a:p>
          <a:p>
            <a:pPr lvl="1">
              <a:lnSpc>
                <a:spcPct val="100000"/>
              </a:lnSpc>
              <a:buFont typeface="Wingdings" panose="05000000000000000000" pitchFamily="2" charset="2"/>
              <a:buChar char="Ø"/>
            </a:pPr>
            <a:r>
              <a:rPr lang="zh-CN" altLang="en-US" sz="2000" dirty="0"/>
              <a:t>设置图例的基本语法为：</a:t>
            </a:r>
            <a:endParaRPr lang="en-US" altLang="zh-CN" sz="2000" dirty="0"/>
          </a:p>
          <a:p>
            <a:pPr marL="457200" lvl="1" indent="0" algn="ctr">
              <a:lnSpc>
                <a:spcPct val="100000"/>
              </a:lnSpc>
              <a:buNone/>
            </a:pPr>
            <a:r>
              <a:rPr lang="en-US" altLang="zh-CN" sz="2000" dirty="0" err="1">
                <a:solidFill>
                  <a:srgbClr val="FF0000"/>
                </a:solidFill>
              </a:rPr>
              <a:t>plt.legend</a:t>
            </a:r>
            <a:r>
              <a:rPr lang="en-US" altLang="zh-CN" sz="2000" dirty="0">
                <a:solidFill>
                  <a:srgbClr val="FF0000"/>
                </a:solidFill>
              </a:rPr>
              <a:t> ([“</a:t>
            </a:r>
            <a:r>
              <a:rPr lang="zh-CN" altLang="en-US" sz="2000" dirty="0">
                <a:solidFill>
                  <a:srgbClr val="FF0000"/>
                </a:solidFill>
              </a:rPr>
              <a:t>线条</a:t>
            </a:r>
            <a:r>
              <a:rPr lang="en-US" altLang="zh-CN" sz="2000" dirty="0">
                <a:solidFill>
                  <a:srgbClr val="FF0000"/>
                </a:solidFill>
              </a:rPr>
              <a:t>1</a:t>
            </a:r>
            <a:r>
              <a:rPr lang="zh-CN" altLang="en-US" sz="2000" dirty="0">
                <a:solidFill>
                  <a:srgbClr val="FF0000"/>
                </a:solidFill>
              </a:rPr>
              <a:t>名称”</a:t>
            </a:r>
            <a:r>
              <a:rPr lang="en-US" altLang="zh-CN" sz="2000" dirty="0">
                <a:solidFill>
                  <a:srgbClr val="FF0000"/>
                </a:solidFill>
              </a:rPr>
              <a:t>, “</a:t>
            </a:r>
            <a:r>
              <a:rPr lang="zh-CN" altLang="en-US" sz="2000" dirty="0">
                <a:solidFill>
                  <a:srgbClr val="FF0000"/>
                </a:solidFill>
              </a:rPr>
              <a:t>线条</a:t>
            </a:r>
            <a:r>
              <a:rPr lang="en-US" altLang="zh-CN" sz="2000" dirty="0">
                <a:solidFill>
                  <a:srgbClr val="FF0000"/>
                </a:solidFill>
              </a:rPr>
              <a:t>2</a:t>
            </a:r>
            <a:r>
              <a:rPr lang="zh-CN" altLang="en-US" sz="2000" dirty="0">
                <a:solidFill>
                  <a:srgbClr val="FF0000"/>
                </a:solidFill>
              </a:rPr>
              <a:t>名称”</a:t>
            </a:r>
            <a:r>
              <a:rPr lang="en-US" altLang="zh-CN" sz="2000" dirty="0">
                <a:solidFill>
                  <a:srgbClr val="FF0000"/>
                </a:solidFill>
              </a:rPr>
              <a:t>], loc= “</a:t>
            </a:r>
            <a:r>
              <a:rPr lang="zh-CN" altLang="en-US" sz="2000" dirty="0">
                <a:solidFill>
                  <a:srgbClr val="FF0000"/>
                </a:solidFill>
              </a:rPr>
              <a:t>图例位置”</a:t>
            </a:r>
            <a:r>
              <a:rPr lang="en-US" altLang="zh-CN" sz="2000" dirty="0">
                <a:solidFill>
                  <a:srgbClr val="FF0000"/>
                </a:solidFill>
              </a:rPr>
              <a:t>, </a:t>
            </a:r>
            <a:r>
              <a:rPr lang="en-US" altLang="zh-CN" sz="2000" dirty="0" err="1">
                <a:solidFill>
                  <a:srgbClr val="FF0000"/>
                </a:solidFill>
              </a:rPr>
              <a:t>frameon</a:t>
            </a:r>
            <a:r>
              <a:rPr lang="en-US" altLang="zh-CN" sz="2000" dirty="0">
                <a:solidFill>
                  <a:srgbClr val="FF0000"/>
                </a:solidFill>
              </a:rPr>
              <a:t>=true/False)</a:t>
            </a:r>
          </a:p>
          <a:p>
            <a:pPr marL="457200" lvl="1" indent="0" algn="just">
              <a:lnSpc>
                <a:spcPct val="150000"/>
              </a:lnSpc>
              <a:buNone/>
            </a:pPr>
            <a:r>
              <a:rPr lang="en-US" altLang="zh-CN" sz="2000" dirty="0"/>
              <a:t>	</a:t>
            </a:r>
            <a:r>
              <a:rPr lang="zh-CN" altLang="en-US" sz="1800" dirty="0"/>
              <a:t>其中，列表参数用于标注每个线条的名称，“</a:t>
            </a:r>
            <a:r>
              <a:rPr lang="en-US" altLang="zh-CN" sz="1800" dirty="0" err="1"/>
              <a:t>frameon</a:t>
            </a:r>
            <a:r>
              <a:rPr lang="en-US" altLang="zh-CN" sz="1800" dirty="0"/>
              <a:t>=”</a:t>
            </a:r>
            <a:r>
              <a:rPr lang="zh-CN" altLang="en-US" sz="1800" dirty="0"/>
              <a:t>关键字用于控制图例是否有框，</a:t>
            </a:r>
            <a:r>
              <a:rPr lang="en-US" altLang="zh-CN" sz="1800" dirty="0"/>
              <a:t>loc</a:t>
            </a:r>
            <a:r>
              <a:rPr lang="zh-CN" altLang="en-US" sz="1800" dirty="0"/>
              <a:t>关键字参数用于设置图例呈现的位置，它的取值可以是如下方位的组合：</a:t>
            </a:r>
            <a:r>
              <a:rPr lang="en-US" altLang="zh-CN" sz="1800" dirty="0">
                <a:solidFill>
                  <a:srgbClr val="FF0000"/>
                </a:solidFill>
              </a:rPr>
              <a:t>upper, lower, right, left, center</a:t>
            </a:r>
            <a:r>
              <a:rPr lang="zh-CN" altLang="en-US" sz="1800" dirty="0"/>
              <a:t>。</a:t>
            </a:r>
            <a:r>
              <a:rPr lang="zh-CN" altLang="zh-CN" sz="1800" dirty="0"/>
              <a:t>方位的组合也可以用数字表示，具体如</a:t>
            </a:r>
            <a:r>
              <a:rPr lang="zh-CN" altLang="en-US" sz="1800" dirty="0"/>
              <a:t>下表</a:t>
            </a:r>
            <a:r>
              <a:rPr lang="zh-CN" altLang="zh-CN" sz="1800" dirty="0"/>
              <a:t>所示</a:t>
            </a:r>
            <a:r>
              <a:rPr lang="zh-CN" altLang="en-US" sz="1800" dirty="0"/>
              <a:t>：</a:t>
            </a:r>
            <a:endParaRPr lang="en-US" altLang="zh-CN" sz="2000" dirty="0"/>
          </a:p>
        </p:txBody>
      </p:sp>
      <p:pic>
        <p:nvPicPr>
          <p:cNvPr id="2" name="图片 1">
            <a:extLst>
              <a:ext uri="{FF2B5EF4-FFF2-40B4-BE49-F238E27FC236}">
                <a16:creationId xmlns:a16="http://schemas.microsoft.com/office/drawing/2014/main" id="{DC77875B-0744-47E2-A10F-F56CF4BF9F90}"/>
              </a:ext>
            </a:extLst>
          </p:cNvPr>
          <p:cNvPicPr>
            <a:picLocks noChangeAspect="1"/>
          </p:cNvPicPr>
          <p:nvPr/>
        </p:nvPicPr>
        <p:blipFill>
          <a:blip r:embed="rId3"/>
          <a:stretch>
            <a:fillRect/>
          </a:stretch>
        </p:blipFill>
        <p:spPr>
          <a:xfrm>
            <a:off x="2435393" y="5062330"/>
            <a:ext cx="7518729" cy="1759226"/>
          </a:xfrm>
          <a:prstGeom prst="rect">
            <a:avLst/>
          </a:prstGeom>
        </p:spPr>
      </p:pic>
    </p:spTree>
    <p:extLst>
      <p:ext uri="{BB962C8B-B14F-4D97-AF65-F5344CB8AC3E}">
        <p14:creationId xmlns:p14="http://schemas.microsoft.com/office/powerpoint/2010/main" val="668818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a:t>
            </a:r>
            <a:r>
              <a:rPr lang="en-US" altLang="zh-CN" dirty="0"/>
              <a:t>2 </a:t>
            </a:r>
            <a:r>
              <a:rPr lang="zh-CN" altLang="en-US" dirty="0"/>
              <a:t>添加标签、注释与图例</a:t>
            </a:r>
            <a:endParaRPr lang="en-US" dirty="0"/>
          </a:p>
        </p:txBody>
      </p:sp>
      <p:sp>
        <p:nvSpPr>
          <p:cNvPr id="14" name="Content Placeholder 13"/>
          <p:cNvSpPr>
            <a:spLocks noGrp="1"/>
          </p:cNvSpPr>
          <p:nvPr>
            <p:ph idx="1"/>
          </p:nvPr>
        </p:nvSpPr>
        <p:spPr/>
        <p:txBody>
          <a:bodyPr>
            <a:normAutofit/>
          </a:bodyPr>
          <a:lstStyle/>
          <a:p>
            <a:r>
              <a:rPr lang="zh-CN" altLang="en-US" sz="2400" dirty="0">
                <a:solidFill>
                  <a:srgbClr val="FF0000"/>
                </a:solidFill>
              </a:rPr>
              <a:t>注释</a:t>
            </a:r>
            <a:endParaRPr lang="en-US" altLang="zh-CN" sz="2400" dirty="0">
              <a:solidFill>
                <a:srgbClr val="FF0000"/>
              </a:solidFill>
            </a:endParaRPr>
          </a:p>
          <a:p>
            <a:pPr lvl="1">
              <a:lnSpc>
                <a:spcPct val="150000"/>
              </a:lnSpc>
              <a:buFont typeface="Wingdings" panose="05000000000000000000" pitchFamily="2" charset="2"/>
              <a:buChar char="Ø"/>
            </a:pPr>
            <a:r>
              <a:rPr lang="zh-CN" altLang="en-US" sz="2000" dirty="0"/>
              <a:t>能对图像中特殊的数据点进行标注，</a:t>
            </a:r>
            <a:r>
              <a:rPr lang="en-US" altLang="zh-CN" sz="2000" dirty="0"/>
              <a:t>annotate()</a:t>
            </a:r>
            <a:r>
              <a:rPr lang="zh-CN" altLang="en-US" sz="2000" dirty="0"/>
              <a:t>函数用于为图像添加注释。</a:t>
            </a:r>
            <a:endParaRPr lang="en-US" altLang="zh-CN" sz="2000" dirty="0"/>
          </a:p>
          <a:p>
            <a:pPr lvl="1">
              <a:lnSpc>
                <a:spcPct val="100000"/>
              </a:lnSpc>
              <a:buFont typeface="Wingdings" panose="05000000000000000000" pitchFamily="2" charset="2"/>
              <a:buChar char="Ø"/>
            </a:pPr>
            <a:r>
              <a:rPr lang="zh-CN" altLang="en-US" sz="2000" dirty="0"/>
              <a:t>设置注释的基本语法为：</a:t>
            </a:r>
            <a:endParaRPr lang="en-US" altLang="zh-CN" sz="2000" dirty="0"/>
          </a:p>
          <a:p>
            <a:pPr marL="457200" lvl="1" indent="0" algn="ctr">
              <a:lnSpc>
                <a:spcPct val="100000"/>
              </a:lnSpc>
              <a:buNone/>
            </a:pPr>
            <a:r>
              <a:rPr lang="en-US" altLang="zh-CN" sz="2000" dirty="0" err="1">
                <a:solidFill>
                  <a:srgbClr val="FF0000"/>
                </a:solidFill>
              </a:rPr>
              <a:t>plt.annotate</a:t>
            </a:r>
            <a:r>
              <a:rPr lang="en-US" altLang="zh-CN" sz="2000" dirty="0">
                <a:solidFill>
                  <a:srgbClr val="FF0000"/>
                </a:solidFill>
              </a:rPr>
              <a:t>( </a:t>
            </a:r>
            <a:r>
              <a:rPr lang="en-US" altLang="zh-CN" sz="2000" dirty="0" err="1">
                <a:solidFill>
                  <a:srgbClr val="FF0000"/>
                </a:solidFill>
              </a:rPr>
              <a:t>xy</a:t>
            </a:r>
            <a:r>
              <a:rPr lang="en-US" altLang="zh-CN" sz="2000" dirty="0">
                <a:solidFill>
                  <a:srgbClr val="FF0000"/>
                </a:solidFill>
              </a:rPr>
              <a:t>=[</a:t>
            </a:r>
            <a:r>
              <a:rPr lang="en-US" altLang="zh-CN" sz="2000" dirty="0" err="1">
                <a:solidFill>
                  <a:srgbClr val="FF0000"/>
                </a:solidFill>
              </a:rPr>
              <a:t>X,Y</a:t>
            </a:r>
            <a:r>
              <a:rPr lang="en-US" altLang="zh-CN" sz="2000" dirty="0">
                <a:solidFill>
                  <a:srgbClr val="FF0000"/>
                </a:solidFill>
              </a:rPr>
              <a:t>], s= “</a:t>
            </a:r>
            <a:r>
              <a:rPr lang="zh-CN" altLang="en-US" sz="2000" dirty="0">
                <a:solidFill>
                  <a:srgbClr val="FF0000"/>
                </a:solidFill>
              </a:rPr>
              <a:t>注释文字”</a:t>
            </a:r>
            <a:r>
              <a:rPr lang="en-US" altLang="zh-CN" sz="2000" dirty="0">
                <a:solidFill>
                  <a:srgbClr val="FF0000"/>
                </a:solidFill>
              </a:rPr>
              <a:t>)</a:t>
            </a:r>
            <a:endParaRPr lang="zh-CN" altLang="en-US" sz="2000" dirty="0">
              <a:solidFill>
                <a:srgbClr val="FF0000"/>
              </a:solidFill>
            </a:endParaRPr>
          </a:p>
          <a:p>
            <a:pPr marL="0" lvl="1" indent="0">
              <a:spcBef>
                <a:spcPts val="1800"/>
              </a:spcBef>
              <a:buNone/>
            </a:pPr>
            <a:r>
              <a:rPr lang="en-US" altLang="zh-CN" sz="2000" dirty="0"/>
              <a:t>	</a:t>
            </a:r>
            <a:r>
              <a:rPr lang="zh-CN" altLang="en-US" sz="2000" dirty="0"/>
              <a:t>其中，</a:t>
            </a:r>
            <a:r>
              <a:rPr lang="en-US" altLang="zh-CN" sz="2000" dirty="0" err="1"/>
              <a:t>xy</a:t>
            </a:r>
            <a:r>
              <a:rPr lang="zh-CN" altLang="en-US" sz="2000" dirty="0"/>
              <a:t>参数用于提供待标注坐标位置，</a:t>
            </a:r>
            <a:r>
              <a:rPr lang="en-US" altLang="zh-CN" sz="2000" dirty="0"/>
              <a:t>s</a:t>
            </a:r>
            <a:r>
              <a:rPr lang="zh-CN" altLang="en-US" sz="2000" dirty="0"/>
              <a:t>参数为该坐标位置需要注释的文本文字。</a:t>
            </a:r>
            <a:endParaRPr lang="en-US" altLang="zh-CN" sz="2000" dirty="0"/>
          </a:p>
        </p:txBody>
      </p:sp>
      <p:graphicFrame>
        <p:nvGraphicFramePr>
          <p:cNvPr id="4" name="表格 3">
            <a:extLst>
              <a:ext uri="{FF2B5EF4-FFF2-40B4-BE49-F238E27FC236}">
                <a16:creationId xmlns:a16="http://schemas.microsoft.com/office/drawing/2014/main" id="{70F31464-6579-4EE8-93C0-FAF07CB06E5E}"/>
              </a:ext>
            </a:extLst>
          </p:cNvPr>
          <p:cNvGraphicFramePr>
            <a:graphicFrameLocks noGrp="1"/>
          </p:cNvGraphicFramePr>
          <p:nvPr>
            <p:extLst>
              <p:ext uri="{D42A27DB-BD31-4B8C-83A1-F6EECF244321}">
                <p14:modId xmlns:p14="http://schemas.microsoft.com/office/powerpoint/2010/main" val="436990877"/>
              </p:ext>
            </p:extLst>
          </p:nvPr>
        </p:nvGraphicFramePr>
        <p:xfrm>
          <a:off x="1104900" y="3949573"/>
          <a:ext cx="5852491" cy="2832227"/>
        </p:xfrm>
        <a:graphic>
          <a:graphicData uri="http://schemas.openxmlformats.org/drawingml/2006/table">
            <a:tbl>
              <a:tblPr firstRow="1" firstCol="1" bandRow="1"/>
              <a:tblGrid>
                <a:gridCol w="5852491">
                  <a:extLst>
                    <a:ext uri="{9D8B030D-6E8A-4147-A177-3AD203B41FA5}">
                      <a16:colId xmlns:a16="http://schemas.microsoft.com/office/drawing/2014/main" val="165711208"/>
                    </a:ext>
                  </a:extLst>
                </a:gridCol>
              </a:tblGrid>
              <a:tr h="2255724">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plt.xlabel("X</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fontsize=20)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添加</a:t>
                      </a: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轴名称</a:t>
                      </a:r>
                    </a:p>
                    <a:p>
                      <a:pPr marL="0" marR="0" lvl="0" indent="0" algn="just" defTabSz="914400" rtl="0" eaLnBrk="1" fontAlgn="auto" latinLnBrk="0" hangingPunct="1">
                        <a:lnSpc>
                          <a:spcPct val="150000"/>
                        </a:lnSpc>
                        <a:spcBef>
                          <a:spcPts val="0"/>
                        </a:spcBef>
                        <a:spcAft>
                          <a:spcPts val="0"/>
                        </a:spcAft>
                        <a:buClrTx/>
                        <a:buSzTx/>
                        <a:buFontTx/>
                        <a:buNone/>
                        <a:tabLst/>
                        <a:defRPr/>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plt.ylabel("Y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fontsize=20)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添加</a:t>
                      </a: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轴名称</a:t>
                      </a:r>
                    </a:p>
                    <a:p>
                      <a:pPr marL="0" marR="0" lvl="0" indent="0" algn="just" defTabSz="914400" rtl="0" eaLnBrk="1" fontAlgn="auto" latinLnBrk="0" hangingPunct="1">
                        <a:lnSpc>
                          <a:spcPct val="150000"/>
                        </a:lnSpc>
                        <a:spcBef>
                          <a:spcPts val="0"/>
                        </a:spcBef>
                        <a:spcAft>
                          <a:spcPts val="0"/>
                        </a:spcAft>
                        <a:buClrTx/>
                        <a:buSzTx/>
                        <a:buFontTx/>
                        <a:buNone/>
                        <a:tabLst/>
                        <a:defRPr/>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plt.title("</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中文示例</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fontsize=25)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添加标签</a:t>
                      </a:r>
                    </a:p>
                    <a:p>
                      <a:pPr algn="just">
                        <a:lnSpc>
                          <a:spcPct val="150000"/>
                        </a:lnSpc>
                        <a:spcAft>
                          <a:spcPts val="0"/>
                        </a:spcAft>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plt.annotate(xy=[7,85],s="</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最高点</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a:t>
                      </a:r>
                    </a:p>
                    <a:p>
                      <a:pPr algn="just">
                        <a:lnSpc>
                          <a:spcPct val="150000"/>
                        </a:lnSpc>
                        <a:spcAft>
                          <a:spcPts val="0"/>
                        </a:spcAft>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fontsize=20)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添加注释</a:t>
                      </a:r>
                    </a:p>
                    <a:p>
                      <a:pPr algn="just">
                        <a:lnSpc>
                          <a:spcPct val="150000"/>
                        </a:lnSpc>
                        <a:spcAft>
                          <a:spcPts val="0"/>
                        </a:spcAft>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plt.legend([“</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线形图</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1”,“</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线形图</a:t>
                      </a:r>
                      <a:r>
                        <a:rPr lang="en-US" altLang="zh-CN" sz="1800" kern="100" dirty="0">
                          <a:solidFill>
                            <a:schemeClr val="tx2"/>
                          </a:solidFill>
                          <a:effectLst/>
                          <a:latin typeface="Consolas" panose="020B0609020204030204" pitchFamily="49" charset="0"/>
                          <a:ea typeface="+mn-ea"/>
                          <a:cs typeface="Times New Roman" panose="02020603050405020304" pitchFamily="18" charset="0"/>
                        </a:rPr>
                        <a:t>2”],\</a:t>
                      </a:r>
                    </a:p>
                    <a:p>
                      <a:pPr algn="just">
                        <a:lnSpc>
                          <a:spcPct val="150000"/>
                        </a:lnSpc>
                        <a:spcAft>
                          <a:spcPts val="0"/>
                        </a:spcAft>
                      </a:pPr>
                      <a:r>
                        <a:rPr lang="fi-FI" altLang="zh-CN" sz="1800" kern="100" dirty="0">
                          <a:solidFill>
                            <a:schemeClr val="tx2"/>
                          </a:solidFill>
                          <a:effectLst/>
                          <a:latin typeface="Consolas" panose="020B0609020204030204" pitchFamily="49" charset="0"/>
                          <a:ea typeface="+mn-ea"/>
                          <a:cs typeface="Times New Roman" panose="02020603050405020304" pitchFamily="18" charset="0"/>
                        </a:rPr>
                        <a:t>loc=1, frameon=True)              #</a:t>
                      </a:r>
                      <a:r>
                        <a:rPr lang="zh-CN" altLang="en-US" sz="1800" kern="100" dirty="0">
                          <a:solidFill>
                            <a:schemeClr val="tx2"/>
                          </a:solidFill>
                          <a:effectLst/>
                          <a:latin typeface="Consolas" panose="020B0609020204030204" pitchFamily="49" charset="0"/>
                          <a:ea typeface="+mn-ea"/>
                          <a:cs typeface="Times New Roman" panose="02020603050405020304" pitchFamily="18" charset="0"/>
                        </a:rPr>
                        <a:t>显示图例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5" name="Picture 170" descr="/var/folders/zt/_gpwfbgn0919jcl5k156sjtr0000gp/T/com.microsoft.Word/Content.MSO/6D814887.tmp">
            <a:extLst>
              <a:ext uri="{FF2B5EF4-FFF2-40B4-BE49-F238E27FC236}">
                <a16:creationId xmlns:a16="http://schemas.microsoft.com/office/drawing/2014/main" id="{D4E85C7A-F628-4ED8-8ADD-E61B3201B8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089913" y="3670865"/>
            <a:ext cx="4346713" cy="3187135"/>
          </a:xfrm>
          <a:prstGeom prst="rect">
            <a:avLst/>
          </a:prstGeom>
          <a:noFill/>
          <a:ln>
            <a:noFill/>
          </a:ln>
        </p:spPr>
      </p:pic>
    </p:spTree>
    <p:extLst>
      <p:ext uri="{BB962C8B-B14F-4D97-AF65-F5344CB8AC3E}">
        <p14:creationId xmlns:p14="http://schemas.microsoft.com/office/powerpoint/2010/main" val="43387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91003A-4B13-CD04-66D3-90090C6FA00F}"/>
              </a:ext>
            </a:extLst>
          </p:cNvPr>
          <p:cNvPicPr>
            <a:picLocks noChangeAspect="1"/>
          </p:cNvPicPr>
          <p:nvPr/>
        </p:nvPicPr>
        <p:blipFill>
          <a:blip r:embed="rId2"/>
          <a:stretch>
            <a:fillRect/>
          </a:stretch>
        </p:blipFill>
        <p:spPr>
          <a:xfrm>
            <a:off x="1016000" y="1536700"/>
            <a:ext cx="5689600" cy="3581400"/>
          </a:xfrm>
          <a:prstGeom prst="rect">
            <a:avLst/>
          </a:prstGeom>
        </p:spPr>
      </p:pic>
      <p:pic>
        <p:nvPicPr>
          <p:cNvPr id="4" name="Picture 3">
            <a:extLst>
              <a:ext uri="{FF2B5EF4-FFF2-40B4-BE49-F238E27FC236}">
                <a16:creationId xmlns:a16="http://schemas.microsoft.com/office/drawing/2014/main" id="{535C590C-E8D0-06AF-86FA-9B04A9291E58}"/>
              </a:ext>
            </a:extLst>
          </p:cNvPr>
          <p:cNvPicPr>
            <a:picLocks noChangeAspect="1"/>
          </p:cNvPicPr>
          <p:nvPr/>
        </p:nvPicPr>
        <p:blipFill>
          <a:blip r:embed="rId3"/>
          <a:stretch>
            <a:fillRect/>
          </a:stretch>
        </p:blipFill>
        <p:spPr>
          <a:xfrm>
            <a:off x="7240270" y="2119630"/>
            <a:ext cx="3543300" cy="2882900"/>
          </a:xfrm>
          <a:prstGeom prst="rect">
            <a:avLst/>
          </a:prstGeom>
        </p:spPr>
      </p:pic>
    </p:spTree>
    <p:extLst>
      <p:ext uri="{BB962C8B-B14F-4D97-AF65-F5344CB8AC3E}">
        <p14:creationId xmlns:p14="http://schemas.microsoft.com/office/powerpoint/2010/main" val="99366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zh-CN" altLang="zh-CN" dirty="0"/>
              <a:t>12.2.</a:t>
            </a:r>
            <a:r>
              <a:rPr lang="en-US" altLang="zh-CN" dirty="0"/>
              <a:t>2 </a:t>
            </a:r>
            <a:r>
              <a:rPr lang="zh-CN" altLang="en-US" dirty="0"/>
              <a:t>正确显示中文字体</a:t>
            </a:r>
            <a:endParaRPr lang="en-US" dirty="0"/>
          </a:p>
        </p:txBody>
      </p:sp>
      <p:sp>
        <p:nvSpPr>
          <p:cNvPr id="14" name="Content Placeholder 13"/>
          <p:cNvSpPr>
            <a:spLocks noGrp="1"/>
          </p:cNvSpPr>
          <p:nvPr>
            <p:ph idx="1"/>
          </p:nvPr>
        </p:nvSpPr>
        <p:spPr>
          <a:xfrm>
            <a:off x="1103381" y="1573696"/>
            <a:ext cx="10240479" cy="3164381"/>
          </a:xfrm>
        </p:spPr>
        <p:txBody>
          <a:bodyPr>
            <a:normAutofit/>
          </a:bodyPr>
          <a:lstStyle/>
          <a:p>
            <a:pPr>
              <a:lnSpc>
                <a:spcPct val="150000"/>
              </a:lnSpc>
            </a:pPr>
            <a:r>
              <a:rPr lang="en-US" altLang="zh-CN" dirty="0"/>
              <a:t>Matplotlib </a:t>
            </a:r>
            <a:r>
              <a:rPr lang="zh-CN" altLang="en-US" dirty="0"/>
              <a:t>的默认配置文件中，</a:t>
            </a:r>
            <a:r>
              <a:rPr lang="zh-CN" altLang="en-US" dirty="0">
                <a:solidFill>
                  <a:srgbClr val="FF0000"/>
                </a:solidFill>
              </a:rPr>
              <a:t>无法正确显示中文字体</a:t>
            </a:r>
            <a:r>
              <a:rPr lang="zh-CN" altLang="en-US" dirty="0"/>
              <a:t>，如果需要在 </a:t>
            </a:r>
            <a:r>
              <a:rPr lang="en-US" altLang="zh-CN" dirty="0"/>
              <a:t>Matplotlib </a:t>
            </a:r>
            <a:r>
              <a:rPr lang="zh-CN" altLang="en-US" dirty="0"/>
              <a:t>的图形中显示中文，则需要将其默认使用的字体更改为简体中文。</a:t>
            </a:r>
            <a:endParaRPr lang="en-US" altLang="zh-CN" dirty="0"/>
          </a:p>
          <a:p>
            <a:pPr>
              <a:lnSpc>
                <a:spcPct val="100000"/>
              </a:lnSpc>
            </a:pPr>
            <a:r>
              <a:rPr lang="zh-CN" altLang="en-US" dirty="0"/>
              <a:t>更改默认字体的操作方法是在代码中导入 </a:t>
            </a:r>
            <a:r>
              <a:rPr lang="en-US" altLang="zh-CN" dirty="0"/>
              <a:t>pylab </a:t>
            </a:r>
            <a:r>
              <a:rPr lang="zh-CN" altLang="en-US" dirty="0"/>
              <a:t>包，并把字体参数传递给配置文件：</a:t>
            </a:r>
            <a:endParaRPr lang="en-US" altLang="zh-CN" dirty="0"/>
          </a:p>
          <a:p>
            <a:pPr marL="0" lvl="1" indent="0">
              <a:spcBef>
                <a:spcPts val="1800"/>
              </a:spcBef>
              <a:buNone/>
            </a:pPr>
            <a:endParaRPr lang="en-US" altLang="zh-CN" sz="2000" dirty="0"/>
          </a:p>
        </p:txBody>
      </p:sp>
      <p:graphicFrame>
        <p:nvGraphicFramePr>
          <p:cNvPr id="4" name="表格 3">
            <a:extLst>
              <a:ext uri="{FF2B5EF4-FFF2-40B4-BE49-F238E27FC236}">
                <a16:creationId xmlns:a16="http://schemas.microsoft.com/office/drawing/2014/main" id="{B7CD67D0-8445-4B62-A693-5E7B5220FFE4}"/>
              </a:ext>
            </a:extLst>
          </p:cNvPr>
          <p:cNvGraphicFramePr>
            <a:graphicFrameLocks noGrp="1"/>
          </p:cNvGraphicFramePr>
          <p:nvPr>
            <p:extLst>
              <p:ext uri="{D42A27DB-BD31-4B8C-83A1-F6EECF244321}">
                <p14:modId xmlns:p14="http://schemas.microsoft.com/office/powerpoint/2010/main" val="857440571"/>
              </p:ext>
            </p:extLst>
          </p:nvPr>
        </p:nvGraphicFramePr>
        <p:xfrm>
          <a:off x="2075340" y="3175782"/>
          <a:ext cx="7223194" cy="1420836"/>
        </p:xfrm>
        <a:graphic>
          <a:graphicData uri="http://schemas.openxmlformats.org/drawingml/2006/table">
            <a:tbl>
              <a:tblPr firstRow="1" firstCol="1" bandRow="1"/>
              <a:tblGrid>
                <a:gridCol w="7223194">
                  <a:extLst>
                    <a:ext uri="{9D8B030D-6E8A-4147-A177-3AD203B41FA5}">
                      <a16:colId xmlns:a16="http://schemas.microsoft.com/office/drawing/2014/main" val="165711208"/>
                    </a:ext>
                  </a:extLst>
                </a:gridCol>
              </a:tblGrid>
              <a:tr h="1420836">
                <a:tc>
                  <a:txBody>
                    <a:bodyPr/>
                    <a:lstStyle/>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from pylab import *</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plt.rcParams['font.family'] = ['sans-serif']</a:t>
                      </a:r>
                    </a:p>
                    <a:p>
                      <a:pPr algn="just">
                        <a:lnSpc>
                          <a:spcPct val="150000"/>
                        </a:lnSpc>
                        <a:spcAft>
                          <a:spcPts val="0"/>
                        </a:spcAft>
                      </a:pPr>
                      <a:r>
                        <a:rPr lang="fi-FI" altLang="zh-CN" sz="2000" kern="100" dirty="0">
                          <a:solidFill>
                            <a:schemeClr val="tx2"/>
                          </a:solidFill>
                          <a:effectLst/>
                          <a:latin typeface="Consolas" panose="020B0609020204030204" pitchFamily="49" charset="0"/>
                          <a:ea typeface="+mn-ea"/>
                          <a:cs typeface="Times New Roman" panose="02020603050405020304" pitchFamily="18" charset="0"/>
                        </a:rPr>
                        <a:t>plt.rcParams['font.sans-serif'] = ['SimHei']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sp>
        <p:nvSpPr>
          <p:cNvPr id="2" name="矩形 1">
            <a:extLst>
              <a:ext uri="{FF2B5EF4-FFF2-40B4-BE49-F238E27FC236}">
                <a16:creationId xmlns:a16="http://schemas.microsoft.com/office/drawing/2014/main" id="{01A3561C-904F-443C-AFE3-F9614B616365}"/>
              </a:ext>
            </a:extLst>
          </p:cNvPr>
          <p:cNvSpPr/>
          <p:nvPr/>
        </p:nvSpPr>
        <p:spPr>
          <a:xfrm>
            <a:off x="1232520" y="4738077"/>
            <a:ext cx="9982200" cy="400110"/>
          </a:xfrm>
          <a:prstGeom prst="rect">
            <a:avLst/>
          </a:prstGeom>
        </p:spPr>
        <p:txBody>
          <a:bodyPr wrap="square">
            <a:spAutoFit/>
          </a:bodyPr>
          <a:lstStyle/>
          <a:p>
            <a:r>
              <a:rPr lang="zh-CN" altLang="zh-CN" sz="2000" dirty="0"/>
              <a:t>其中，“</a:t>
            </a:r>
            <a:r>
              <a:rPr lang="en-US" altLang="zh-CN" sz="2000" dirty="0"/>
              <a:t>SimHei</a:t>
            </a:r>
            <a:r>
              <a:rPr lang="zh-CN" altLang="zh-CN" sz="2000" dirty="0"/>
              <a:t>”</a:t>
            </a:r>
            <a:r>
              <a:rPr lang="en-US" altLang="zh-CN" sz="2000" dirty="0"/>
              <a:t> </a:t>
            </a:r>
            <a:r>
              <a:rPr lang="zh-CN" altLang="zh-CN" sz="2000" dirty="0"/>
              <a:t>表示黑体字，其他常用的中文字体及其英文表示如</a:t>
            </a:r>
            <a:r>
              <a:rPr lang="zh-CN" altLang="en-US" sz="2000" dirty="0"/>
              <a:t>下表</a:t>
            </a:r>
            <a:r>
              <a:rPr lang="zh-CN" altLang="zh-CN" sz="2000" dirty="0"/>
              <a:t>所示</a:t>
            </a:r>
            <a:r>
              <a:rPr lang="zh-CN" altLang="en-US" sz="2000" dirty="0"/>
              <a:t>：</a:t>
            </a:r>
          </a:p>
        </p:txBody>
      </p:sp>
      <p:pic>
        <p:nvPicPr>
          <p:cNvPr id="3" name="图片 2">
            <a:extLst>
              <a:ext uri="{FF2B5EF4-FFF2-40B4-BE49-F238E27FC236}">
                <a16:creationId xmlns:a16="http://schemas.microsoft.com/office/drawing/2014/main" id="{01A84268-0F43-4C1F-9861-83A7509D6FD3}"/>
              </a:ext>
            </a:extLst>
          </p:cNvPr>
          <p:cNvPicPr>
            <a:picLocks noChangeAspect="1"/>
          </p:cNvPicPr>
          <p:nvPr/>
        </p:nvPicPr>
        <p:blipFill>
          <a:blip r:embed="rId3"/>
          <a:stretch>
            <a:fillRect/>
          </a:stretch>
        </p:blipFill>
        <p:spPr>
          <a:xfrm>
            <a:off x="1532001" y="5192608"/>
            <a:ext cx="8518069" cy="1589192"/>
          </a:xfrm>
          <a:prstGeom prst="rect">
            <a:avLst/>
          </a:prstGeom>
        </p:spPr>
      </p:pic>
      <p:sp>
        <p:nvSpPr>
          <p:cNvPr id="7" name="思想气泡: 云 6">
            <a:extLst>
              <a:ext uri="{FF2B5EF4-FFF2-40B4-BE49-F238E27FC236}">
                <a16:creationId xmlns:a16="http://schemas.microsoft.com/office/drawing/2014/main" id="{278A1C05-54D9-4E9D-AF48-EC91A5081B20}"/>
              </a:ext>
            </a:extLst>
          </p:cNvPr>
          <p:cNvSpPr/>
          <p:nvPr/>
        </p:nvSpPr>
        <p:spPr>
          <a:xfrm>
            <a:off x="9568376" y="2929074"/>
            <a:ext cx="2820468" cy="2355230"/>
          </a:xfrm>
          <a:prstGeom prst="cloudCallout">
            <a:avLst>
              <a:gd name="adj1" fmla="val -21202"/>
              <a:gd name="adj2" fmla="val 77252"/>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en-US" dirty="0"/>
              <a:t>若</a:t>
            </a:r>
            <a:r>
              <a:rPr lang="zh-CN" altLang="zh-CN" dirty="0"/>
              <a:t>需要在图例中</a:t>
            </a:r>
            <a:r>
              <a:rPr lang="zh-CN" altLang="zh-CN" dirty="0">
                <a:solidFill>
                  <a:srgbClr val="FF0000"/>
                </a:solidFill>
              </a:rPr>
              <a:t>正常显示负号</a:t>
            </a:r>
            <a:r>
              <a:rPr lang="zh-CN" altLang="en-US" dirty="0"/>
              <a:t>：</a:t>
            </a:r>
            <a:endParaRPr lang="en-US" altLang="zh-CN" dirty="0"/>
          </a:p>
          <a:p>
            <a:pPr algn="just"/>
            <a:r>
              <a:rPr lang="en-US" altLang="zh-CN" kern="100" dirty="0">
                <a:solidFill>
                  <a:schemeClr val="tx2"/>
                </a:solidFill>
                <a:latin typeface="Consolas" panose="020B0609020204030204" pitchFamily="49" charset="0"/>
                <a:cs typeface="Times New Roman" panose="02020603050405020304" pitchFamily="18" charset="0"/>
              </a:rPr>
              <a:t>plt.rcParams</a:t>
            </a:r>
          </a:p>
          <a:p>
            <a:pPr algn="just"/>
            <a:r>
              <a:rPr lang="en-US" altLang="zh-CN" kern="100" dirty="0">
                <a:solidFill>
                  <a:schemeClr val="tx2"/>
                </a:solidFill>
                <a:latin typeface="Consolas" panose="020B0609020204030204" pitchFamily="49" charset="0"/>
                <a:cs typeface="Times New Roman" panose="02020603050405020304" pitchFamily="18" charset="0"/>
              </a:rPr>
              <a:t>['axes.unicode_minus’] =False</a:t>
            </a:r>
            <a:endParaRPr lang="zh-CN" altLang="en-US" kern="100" dirty="0">
              <a:solidFill>
                <a:schemeClr val="tx2"/>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240917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0C67F3-2810-7ED1-BCD7-A0354AA464F8}"/>
              </a:ext>
            </a:extLst>
          </p:cNvPr>
          <p:cNvPicPr>
            <a:picLocks noChangeAspect="1"/>
          </p:cNvPicPr>
          <p:nvPr/>
        </p:nvPicPr>
        <p:blipFill>
          <a:blip r:embed="rId2"/>
          <a:stretch>
            <a:fillRect/>
          </a:stretch>
        </p:blipFill>
        <p:spPr>
          <a:xfrm>
            <a:off x="627380" y="800100"/>
            <a:ext cx="7543800" cy="5257800"/>
          </a:xfrm>
          <a:prstGeom prst="rect">
            <a:avLst/>
          </a:prstGeom>
        </p:spPr>
      </p:pic>
      <p:pic>
        <p:nvPicPr>
          <p:cNvPr id="3" name="Picture 2">
            <a:extLst>
              <a:ext uri="{FF2B5EF4-FFF2-40B4-BE49-F238E27FC236}">
                <a16:creationId xmlns:a16="http://schemas.microsoft.com/office/drawing/2014/main" id="{B68A203C-059D-9422-D98E-AB455120F111}"/>
              </a:ext>
            </a:extLst>
          </p:cNvPr>
          <p:cNvPicPr>
            <a:picLocks noChangeAspect="1"/>
          </p:cNvPicPr>
          <p:nvPr/>
        </p:nvPicPr>
        <p:blipFill>
          <a:blip r:embed="rId3"/>
          <a:stretch>
            <a:fillRect/>
          </a:stretch>
        </p:blipFill>
        <p:spPr>
          <a:xfrm>
            <a:off x="8303260" y="3201670"/>
            <a:ext cx="3594100" cy="2908300"/>
          </a:xfrm>
          <a:prstGeom prst="rect">
            <a:avLst/>
          </a:prstGeom>
        </p:spPr>
      </p:pic>
    </p:spTree>
    <p:extLst>
      <p:ext uri="{BB962C8B-B14F-4D97-AF65-F5344CB8AC3E}">
        <p14:creationId xmlns:p14="http://schemas.microsoft.com/office/powerpoint/2010/main" val="1799975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t>12.3 </a:t>
            </a:r>
            <a:r>
              <a:rPr lang="zh-CN" altLang="en-US" dirty="0"/>
              <a:t>基础图表绘制</a:t>
            </a:r>
          </a:p>
        </p:txBody>
      </p:sp>
    </p:spTree>
    <p:extLst>
      <p:ext uri="{BB962C8B-B14F-4D97-AF65-F5344CB8AC3E}">
        <p14:creationId xmlns:p14="http://schemas.microsoft.com/office/powerpoint/2010/main" val="205552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12.3.1 </a:t>
            </a:r>
            <a:r>
              <a:rPr lang="zh-CN" altLang="en-US" dirty="0"/>
              <a:t>折线图</a:t>
            </a:r>
            <a:endParaRPr lang="en-US" dirty="0"/>
          </a:p>
        </p:txBody>
      </p:sp>
      <p:sp>
        <p:nvSpPr>
          <p:cNvPr id="14" name="Content Placeholder 13"/>
          <p:cNvSpPr>
            <a:spLocks noGrp="1"/>
          </p:cNvSpPr>
          <p:nvPr>
            <p:ph idx="1"/>
          </p:nvPr>
        </p:nvSpPr>
        <p:spPr/>
        <p:txBody>
          <a:bodyPr/>
          <a:lstStyle/>
          <a:p>
            <a:pPr algn="just">
              <a:lnSpc>
                <a:spcPct val="150000"/>
              </a:lnSpc>
            </a:pPr>
            <a:r>
              <a:rPr lang="zh-CN" altLang="en-US" dirty="0">
                <a:solidFill>
                  <a:srgbClr val="FF0000"/>
                </a:solidFill>
              </a:rPr>
              <a:t>折线图</a:t>
            </a:r>
            <a:r>
              <a:rPr lang="zh-CN" altLang="en-US" dirty="0"/>
              <a:t>（</a:t>
            </a:r>
            <a:r>
              <a:rPr lang="en-US" altLang="zh-CN" dirty="0"/>
              <a:t>line chart</a:t>
            </a:r>
            <a:r>
              <a:rPr lang="zh-CN" altLang="en-US" dirty="0"/>
              <a:t>）是指由折线或曲线组成的图形，常见的折线图有年份与</a:t>
            </a:r>
            <a:r>
              <a:rPr lang="en-US" altLang="zh-CN" dirty="0"/>
              <a:t>GDP</a:t>
            </a:r>
            <a:r>
              <a:rPr lang="zh-CN" altLang="en-US" dirty="0"/>
              <a:t>的对应图、时间序列图、房价走势图等。</a:t>
            </a:r>
            <a:endParaRPr lang="en-US" altLang="zh-CN" dirty="0"/>
          </a:p>
          <a:p>
            <a:pPr algn="just">
              <a:lnSpc>
                <a:spcPct val="100000"/>
              </a:lnSpc>
            </a:pPr>
            <a:r>
              <a:rPr lang="zh-CN" altLang="en-US" dirty="0"/>
              <a:t>在折线图中，</a:t>
            </a:r>
            <a:r>
              <a:rPr lang="zh-CN" altLang="en-US" dirty="0">
                <a:solidFill>
                  <a:srgbClr val="FF0000"/>
                </a:solidFill>
              </a:rPr>
              <a:t>类别数据沿水平轴均匀分布，所有值数据沿垂直轴均匀分布。</a:t>
            </a:r>
            <a:endParaRPr lang="en-US" altLang="zh-CN" dirty="0">
              <a:solidFill>
                <a:srgbClr val="FF0000"/>
              </a:solidFill>
            </a:endParaRPr>
          </a:p>
          <a:p>
            <a:pPr algn="just">
              <a:lnSpc>
                <a:spcPct val="150000"/>
              </a:lnSpc>
            </a:pPr>
            <a:r>
              <a:rPr lang="en-US" altLang="zh-CN" dirty="0"/>
              <a:t>matplotlib.pyplot </a:t>
            </a:r>
            <a:r>
              <a:rPr lang="zh-CN" altLang="en-US" dirty="0"/>
              <a:t>模块中绘制折线图使用的是</a:t>
            </a:r>
            <a:r>
              <a:rPr lang="en-US" altLang="zh-CN" dirty="0"/>
              <a:t>plot()</a:t>
            </a:r>
            <a:r>
              <a:rPr lang="zh-CN" altLang="en-US" dirty="0"/>
              <a:t>函数。该函数也能用于绘制更为复杂的函数图像，如</a:t>
            </a:r>
            <a:r>
              <a:rPr lang="zh-CN" altLang="en-US" dirty="0">
                <a:solidFill>
                  <a:srgbClr val="FF0000"/>
                </a:solidFill>
              </a:rPr>
              <a:t>多项式函数的曲线图</a:t>
            </a:r>
            <a:r>
              <a:rPr lang="zh-CN" altLang="en-US" dirty="0"/>
              <a:t>。</a:t>
            </a:r>
            <a:endParaRPr lang="en-US" altLang="zh-CN" dirty="0"/>
          </a:p>
        </p:txBody>
      </p:sp>
    </p:spTree>
    <p:extLst>
      <p:ext uri="{BB962C8B-B14F-4D97-AF65-F5344CB8AC3E}">
        <p14:creationId xmlns:p14="http://schemas.microsoft.com/office/powerpoint/2010/main" val="1790548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12.3.1 </a:t>
            </a:r>
            <a:r>
              <a:rPr lang="zh-CN" altLang="en-US" dirty="0"/>
              <a:t>折线图</a:t>
            </a:r>
            <a:endParaRPr lang="en-US" dirty="0"/>
          </a:p>
        </p:txBody>
      </p:sp>
      <p:sp>
        <p:nvSpPr>
          <p:cNvPr id="14" name="Content Placeholder 13"/>
          <p:cNvSpPr>
            <a:spLocks noGrp="1"/>
          </p:cNvSpPr>
          <p:nvPr>
            <p:ph idx="1"/>
          </p:nvPr>
        </p:nvSpPr>
        <p:spPr>
          <a:xfrm>
            <a:off x="1200434" y="1534282"/>
            <a:ext cx="9982200" cy="930966"/>
          </a:xfrm>
        </p:spPr>
        <p:txBody>
          <a:bodyPr/>
          <a:lstStyle/>
          <a:p>
            <a:pPr algn="just">
              <a:lnSpc>
                <a:spcPct val="150000"/>
              </a:lnSpc>
            </a:pPr>
            <a:r>
              <a:rPr lang="zh-CN" altLang="en-US" dirty="0"/>
              <a:t>举例：绘制一条三次函数与一条一次函数曲线图。</a:t>
            </a:r>
            <a:endParaRPr lang="en-US" altLang="zh-CN" dirty="0"/>
          </a:p>
        </p:txBody>
      </p:sp>
      <p:graphicFrame>
        <p:nvGraphicFramePr>
          <p:cNvPr id="4" name="表格 3">
            <a:extLst>
              <a:ext uri="{FF2B5EF4-FFF2-40B4-BE49-F238E27FC236}">
                <a16:creationId xmlns:a16="http://schemas.microsoft.com/office/drawing/2014/main" id="{802D20F1-4F70-41D5-9501-AF6A6980D297}"/>
              </a:ext>
            </a:extLst>
          </p:cNvPr>
          <p:cNvGraphicFramePr>
            <a:graphicFrameLocks noGrp="1"/>
          </p:cNvGraphicFramePr>
          <p:nvPr>
            <p:extLst>
              <p:ext uri="{D42A27DB-BD31-4B8C-83A1-F6EECF244321}">
                <p14:modId xmlns:p14="http://schemas.microsoft.com/office/powerpoint/2010/main" val="3720302176"/>
              </p:ext>
            </p:extLst>
          </p:nvPr>
        </p:nvGraphicFramePr>
        <p:xfrm>
          <a:off x="612590" y="2081655"/>
          <a:ext cx="6925918" cy="4727441"/>
        </p:xfrm>
        <a:graphic>
          <a:graphicData uri="http://schemas.openxmlformats.org/drawingml/2006/table">
            <a:tbl>
              <a:tblPr firstRow="1" firstCol="1" bandRow="1"/>
              <a:tblGrid>
                <a:gridCol w="6925918">
                  <a:extLst>
                    <a:ext uri="{9D8B030D-6E8A-4147-A177-3AD203B41FA5}">
                      <a16:colId xmlns:a16="http://schemas.microsoft.com/office/drawing/2014/main" val="165711208"/>
                    </a:ext>
                  </a:extLst>
                </a:gridCol>
              </a:tblGrid>
              <a:tr h="4727441">
                <a:tc>
                  <a:txBody>
                    <a:bodyPr/>
                    <a:lstStyle/>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numpy as np</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matplotlib.pyplot as plt</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plt.rcParams['axes.unicode_minus']=False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用来正常显示负号</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 np.linspace(-10, 10, 100)</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y1=x**3+2*x**2-3*x+350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三次函数函数式</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y2=30*x+50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一次函数函数式</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plt.plot(x, y1,color='k',marker='|',lw=1.0,label='f1(x)')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绘制三次函数曲线，线型为实线，线宽为</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，颜色为黑色，标记为竖线，标签为</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f1(x)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plt.plot(x, y2,color='r',lw=1.0,label='f2(x)')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绘制一次函数曲线，线型为实线，线宽为</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，颜色为红色，标签为</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f2(x)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plt.title('</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多项式</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',fontsize=18)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添加标签，并设置字体大小</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plt.xlabel('x',fontsize=16)</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plt.ylabel('y',fontsize=16)</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plt.legend()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显示图例</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plt.show()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5" name="图片 4" descr="C:\Users\Lenovo\AppData\Local\Microsoft\Windows\INetCache\Content.MSO\42DA6A45.tmp">
            <a:extLst>
              <a:ext uri="{FF2B5EF4-FFF2-40B4-BE49-F238E27FC236}">
                <a16:creationId xmlns:a16="http://schemas.microsoft.com/office/drawing/2014/main" id="{A509AEB6-3543-4F62-B08A-D73E892E0BC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552156" y="2546408"/>
            <a:ext cx="4680788" cy="3743341"/>
          </a:xfrm>
          <a:prstGeom prst="rect">
            <a:avLst/>
          </a:prstGeom>
          <a:noFill/>
          <a:ln>
            <a:noFill/>
          </a:ln>
        </p:spPr>
      </p:pic>
    </p:spTree>
    <p:extLst>
      <p:ext uri="{BB962C8B-B14F-4D97-AF65-F5344CB8AC3E}">
        <p14:creationId xmlns:p14="http://schemas.microsoft.com/office/powerpoint/2010/main" val="352516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12.3.1 </a:t>
            </a:r>
            <a:r>
              <a:rPr lang="zh-CN" altLang="en-US" dirty="0"/>
              <a:t>折线图</a:t>
            </a:r>
            <a:endParaRPr lang="en-US"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200434" y="1534281"/>
                <a:ext cx="9982200" cy="1393535"/>
              </a:xfrm>
            </p:spPr>
            <p:txBody>
              <a:bodyPr>
                <a:normAutofit/>
              </a:bodyPr>
              <a:lstStyle/>
              <a:p>
                <a:pPr algn="just">
                  <a:lnSpc>
                    <a:spcPct val="150000"/>
                  </a:lnSpc>
                </a:pPr>
                <a:r>
                  <a:rPr lang="zh-CN" altLang="en-US" dirty="0"/>
                  <a:t>举例：绘制</a:t>
                </a:r>
                <a:r>
                  <a:rPr lang="zh-CN" altLang="zh-CN" dirty="0"/>
                  <a:t>函数</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4</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3</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−3</m:t>
                    </m:r>
                    <m:r>
                      <a:rPr lang="en-US" altLang="zh-CN" i="1">
                        <a:latin typeface="Cambria Math" panose="02040503050406030204" pitchFamily="18" charset="0"/>
                      </a:rPr>
                      <m:t>𝑥</m:t>
                    </m:r>
                    <m:r>
                      <a:rPr lang="en-US" altLang="zh-CN" i="1">
                        <a:latin typeface="Cambria Math" panose="02040503050406030204" pitchFamily="18" charset="0"/>
                      </a:rPr>
                      <m:t>+350</m:t>
                    </m:r>
                    <m:r>
                      <a:rPr lang="en-US" altLang="zh-CN" b="0" i="0" smtClean="0">
                        <a:latin typeface="Cambria Math" panose="02040503050406030204" pitchFamily="18" charset="0"/>
                      </a:rPr>
                      <m:t> </m:t>
                    </m:r>
                  </m:oMath>
                </a14:m>
                <a:r>
                  <a:rPr lang="zh-CN" altLang="zh-CN" dirty="0"/>
                  <a:t>及其导函数的对照曲线图</a:t>
                </a:r>
                <a:r>
                  <a:rPr lang="zh-CN" altLang="en-US" dirty="0"/>
                  <a:t>。</a:t>
                </a:r>
                <a:endParaRPr lang="en-US" altLang="zh-CN" dirty="0"/>
              </a:p>
              <a:p>
                <a:pPr marL="0" indent="0" algn="just">
                  <a:lnSpc>
                    <a:spcPct val="100000"/>
                  </a:lnSpc>
                  <a:buNone/>
                </a:pPr>
                <a:r>
                  <a:rPr lang="zh-CN" altLang="en-US" dirty="0">
                    <a:solidFill>
                      <a:srgbClr val="FF0000"/>
                    </a:solidFill>
                  </a:rPr>
                  <a:t>方案</a:t>
                </a:r>
                <a:r>
                  <a:rPr lang="en-US" altLang="zh-CN" dirty="0">
                    <a:solidFill>
                      <a:srgbClr val="FF0000"/>
                    </a:solidFill>
                  </a:rPr>
                  <a:t>1</a:t>
                </a:r>
                <a:r>
                  <a:rPr lang="zh-CN" altLang="en-US" dirty="0">
                    <a:solidFill>
                      <a:srgbClr val="FF0000"/>
                    </a:solidFill>
                  </a:rPr>
                  <a:t>：</a:t>
                </a:r>
                <a:endParaRPr lang="en-US" altLang="zh-CN" dirty="0">
                  <a:solidFill>
                    <a:srgbClr val="FF000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200434" y="1534281"/>
                <a:ext cx="9982200" cy="1393535"/>
              </a:xfrm>
              <a:blipFill>
                <a:blip r:embed="rId3"/>
                <a:stretch>
                  <a:fillRect l="-1588"/>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802D20F1-4F70-41D5-9501-AF6A6980D297}"/>
              </a:ext>
            </a:extLst>
          </p:cNvPr>
          <p:cNvGraphicFramePr>
            <a:graphicFrameLocks noGrp="1"/>
          </p:cNvGraphicFramePr>
          <p:nvPr>
            <p:extLst>
              <p:ext uri="{D42A27DB-BD31-4B8C-83A1-F6EECF244321}">
                <p14:modId xmlns:p14="http://schemas.microsoft.com/office/powerpoint/2010/main" val="3546711088"/>
              </p:ext>
            </p:extLst>
          </p:nvPr>
        </p:nvGraphicFramePr>
        <p:xfrm>
          <a:off x="571647" y="2927817"/>
          <a:ext cx="6716258" cy="3227323"/>
        </p:xfrm>
        <a:graphic>
          <a:graphicData uri="http://schemas.openxmlformats.org/drawingml/2006/table">
            <a:tbl>
              <a:tblPr firstRow="1" firstCol="1" bandRow="1"/>
              <a:tblGrid>
                <a:gridCol w="6716258">
                  <a:extLst>
                    <a:ext uri="{9D8B030D-6E8A-4147-A177-3AD203B41FA5}">
                      <a16:colId xmlns:a16="http://schemas.microsoft.com/office/drawing/2014/main" val="165711208"/>
                    </a:ext>
                  </a:extLst>
                </a:gridCol>
              </a:tblGrid>
              <a:tr h="3227323">
                <a:tc>
                  <a:txBody>
                    <a:bodyPr/>
                    <a:lstStyle/>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numpy as np</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matplotlib.pyplot as plt</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plt.rcParams['</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font.sans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-serif']=['SimHei']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用来正常显示中文</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plt.rcParams['axes.unicode_minus']=False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用来正常显示负号</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 np.linspace(-10,10,1000)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y1= x**4-x**3+2*x**2-3*x+350         #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多项式原函数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y2 = 4*x**3-3*x**2+4*x-3             #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定义多项式一阶导函数</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plt.plot(x, y1, 'r-',label='</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原函数</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plt.plot(x, y2, 'g-.',label='</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导函数</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plt.legend()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显示图例</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plt.show()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6" name="Picture 172" descr="/var/folders/zt/_gpwfbgn0919jcl5k156sjtr0000gp/T/com.microsoft.Word/Content.MSO/F41D080B.tmp">
            <a:extLst>
              <a:ext uri="{FF2B5EF4-FFF2-40B4-BE49-F238E27FC236}">
                <a16:creationId xmlns:a16="http://schemas.microsoft.com/office/drawing/2014/main" id="{35AD82DD-9FF2-4C10-822A-DC933BA9881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287905" y="2927817"/>
            <a:ext cx="4904095" cy="3227323"/>
          </a:xfrm>
          <a:prstGeom prst="rect">
            <a:avLst/>
          </a:prstGeom>
          <a:noFill/>
          <a:ln>
            <a:noFill/>
          </a:ln>
        </p:spPr>
      </p:pic>
      <p:sp>
        <p:nvSpPr>
          <p:cNvPr id="7" name="对话气泡: 圆角矩形 6">
            <a:extLst>
              <a:ext uri="{FF2B5EF4-FFF2-40B4-BE49-F238E27FC236}">
                <a16:creationId xmlns:a16="http://schemas.microsoft.com/office/drawing/2014/main" id="{377F282B-2E4F-474B-986E-81D1B01E685A}"/>
              </a:ext>
            </a:extLst>
          </p:cNvPr>
          <p:cNvSpPr/>
          <p:nvPr/>
        </p:nvSpPr>
        <p:spPr>
          <a:xfrm>
            <a:off x="3518085" y="2231048"/>
            <a:ext cx="3816824" cy="467139"/>
          </a:xfrm>
          <a:prstGeom prst="wedgeRoundRectCallout">
            <a:avLst>
              <a:gd name="adj1" fmla="val -49758"/>
              <a:gd name="adj2" fmla="val 82062"/>
              <a:gd name="adj3" fmla="val 16667"/>
            </a:avLst>
          </a:prstGeom>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en-US" dirty="0">
                <a:solidFill>
                  <a:srgbClr val="FF0000"/>
                </a:solidFill>
              </a:rPr>
              <a:t>其导函数的定义在代码中自行定义</a:t>
            </a:r>
          </a:p>
        </p:txBody>
      </p:sp>
    </p:spTree>
    <p:extLst>
      <p:ext uri="{BB962C8B-B14F-4D97-AF65-F5344CB8AC3E}">
        <p14:creationId xmlns:p14="http://schemas.microsoft.com/office/powerpoint/2010/main" val="3774207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12.3.1 </a:t>
            </a:r>
            <a:r>
              <a:rPr lang="zh-CN" altLang="en-US" dirty="0"/>
              <a:t>折线图</a:t>
            </a:r>
            <a:endParaRPr lang="en-US" dirty="0"/>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200434" y="1534281"/>
                <a:ext cx="9982200" cy="1393535"/>
              </a:xfrm>
            </p:spPr>
            <p:txBody>
              <a:bodyPr>
                <a:normAutofit/>
              </a:bodyPr>
              <a:lstStyle/>
              <a:p>
                <a:pPr algn="just">
                  <a:lnSpc>
                    <a:spcPct val="150000"/>
                  </a:lnSpc>
                </a:pPr>
                <a:r>
                  <a:rPr lang="zh-CN" altLang="en-US" dirty="0"/>
                  <a:t>举例：绘制</a:t>
                </a:r>
                <a:r>
                  <a:rPr lang="zh-CN" altLang="zh-CN" dirty="0"/>
                  <a:t>函数</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4</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3</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r>
                          <a:rPr lang="en-US" altLang="zh-CN" i="1">
                            <a:latin typeface="Cambria Math" panose="02040503050406030204" pitchFamily="18" charset="0"/>
                          </a:rPr>
                          <m:t>𝑥</m:t>
                        </m:r>
                      </m:e>
                      <m:sup>
                        <m:r>
                          <a:rPr lang="en-US" altLang="zh-CN" i="1">
                            <a:latin typeface="Cambria Math" panose="02040503050406030204" pitchFamily="18" charset="0"/>
                          </a:rPr>
                          <m:t>2</m:t>
                        </m:r>
                      </m:sup>
                    </m:sSup>
                    <m:r>
                      <a:rPr lang="en-US" altLang="zh-CN" i="1">
                        <a:latin typeface="Cambria Math" panose="02040503050406030204" pitchFamily="18" charset="0"/>
                      </a:rPr>
                      <m:t>−3</m:t>
                    </m:r>
                    <m:r>
                      <a:rPr lang="en-US" altLang="zh-CN" i="1">
                        <a:latin typeface="Cambria Math" panose="02040503050406030204" pitchFamily="18" charset="0"/>
                      </a:rPr>
                      <m:t>𝑥</m:t>
                    </m:r>
                    <m:r>
                      <a:rPr lang="en-US" altLang="zh-CN" i="1">
                        <a:latin typeface="Cambria Math" panose="02040503050406030204" pitchFamily="18" charset="0"/>
                      </a:rPr>
                      <m:t>+350</m:t>
                    </m:r>
                    <m:r>
                      <a:rPr lang="en-US" altLang="zh-CN" b="0" i="0" smtClean="0">
                        <a:latin typeface="Cambria Math" panose="02040503050406030204" pitchFamily="18" charset="0"/>
                      </a:rPr>
                      <m:t> </m:t>
                    </m:r>
                  </m:oMath>
                </a14:m>
                <a:r>
                  <a:rPr lang="zh-CN" altLang="zh-CN" dirty="0"/>
                  <a:t>及其导函数的对照曲线图</a:t>
                </a:r>
                <a:r>
                  <a:rPr lang="zh-CN" altLang="en-US" dirty="0"/>
                  <a:t>。</a:t>
                </a:r>
                <a:endParaRPr lang="en-US" altLang="zh-CN" dirty="0"/>
              </a:p>
              <a:p>
                <a:pPr marL="0" indent="0" algn="just">
                  <a:lnSpc>
                    <a:spcPct val="100000"/>
                  </a:lnSpc>
                  <a:buNone/>
                </a:pPr>
                <a:r>
                  <a:rPr lang="zh-CN" altLang="en-US" dirty="0">
                    <a:solidFill>
                      <a:srgbClr val="FF0000"/>
                    </a:solidFill>
                  </a:rPr>
                  <a:t>方案</a:t>
                </a:r>
                <a:r>
                  <a:rPr lang="en-US" altLang="zh-CN" dirty="0">
                    <a:solidFill>
                      <a:srgbClr val="FF0000"/>
                    </a:solidFill>
                  </a:rPr>
                  <a:t>2</a:t>
                </a:r>
                <a:r>
                  <a:rPr lang="zh-CN" altLang="en-US" dirty="0">
                    <a:solidFill>
                      <a:srgbClr val="FF0000"/>
                    </a:solidFill>
                  </a:rPr>
                  <a:t>：</a:t>
                </a:r>
                <a:endParaRPr lang="en-US" altLang="zh-CN" dirty="0">
                  <a:solidFill>
                    <a:srgbClr val="FF000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200434" y="1534281"/>
                <a:ext cx="9982200" cy="1393535"/>
              </a:xfrm>
              <a:blipFill>
                <a:blip r:embed="rId3"/>
                <a:stretch>
                  <a:fillRect l="-1588"/>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802D20F1-4F70-41D5-9501-AF6A6980D297}"/>
              </a:ext>
            </a:extLst>
          </p:cNvPr>
          <p:cNvGraphicFramePr>
            <a:graphicFrameLocks noGrp="1"/>
          </p:cNvGraphicFramePr>
          <p:nvPr>
            <p:extLst>
              <p:ext uri="{D42A27DB-BD31-4B8C-83A1-F6EECF244321}">
                <p14:modId xmlns:p14="http://schemas.microsoft.com/office/powerpoint/2010/main" val="2763077324"/>
              </p:ext>
            </p:extLst>
          </p:nvPr>
        </p:nvGraphicFramePr>
        <p:xfrm>
          <a:off x="696256" y="2693064"/>
          <a:ext cx="6591648" cy="4068636"/>
        </p:xfrm>
        <a:graphic>
          <a:graphicData uri="http://schemas.openxmlformats.org/drawingml/2006/table">
            <a:tbl>
              <a:tblPr firstRow="1" firstCol="1" bandRow="1"/>
              <a:tblGrid>
                <a:gridCol w="6591648">
                  <a:extLst>
                    <a:ext uri="{9D8B030D-6E8A-4147-A177-3AD203B41FA5}">
                      <a16:colId xmlns:a16="http://schemas.microsoft.com/office/drawing/2014/main" val="165711208"/>
                    </a:ext>
                  </a:extLst>
                </a:gridCol>
              </a:tblGrid>
              <a:tr h="3227323">
                <a:tc>
                  <a:txBody>
                    <a:bodyPr/>
                    <a:lstStyle/>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numpy as np</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matplotlib.pyplot as plt</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func</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np.poly1d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np.array</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([1,-1,2,-3,350]))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多项式原函数</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numpy.poly1d.deriv</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方法返回多项式的一阶导函数</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deri_func</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func.deriv</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(m=1)</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 np.linspace(-10,10,1000)</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y1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func</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y2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deri_func</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plt.plot(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x,y1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'r-',label='</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原函数</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plt.plot(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x,y2,'g</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-.',label='</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导函数</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plt.xlabel('x')</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plt.ylabel('y')</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plt.legend()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显示图例</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plt.show()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6" name="Picture 172" descr="/var/folders/zt/_gpwfbgn0919jcl5k156sjtr0000gp/T/com.microsoft.Word/Content.MSO/F41D080B.tmp">
            <a:extLst>
              <a:ext uri="{FF2B5EF4-FFF2-40B4-BE49-F238E27FC236}">
                <a16:creationId xmlns:a16="http://schemas.microsoft.com/office/drawing/2014/main" id="{35AD82DD-9FF2-4C10-822A-DC933BA9881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287904" y="3288935"/>
            <a:ext cx="4769397" cy="3227323"/>
          </a:xfrm>
          <a:prstGeom prst="rect">
            <a:avLst/>
          </a:prstGeom>
          <a:noFill/>
          <a:ln>
            <a:noFill/>
          </a:ln>
        </p:spPr>
      </p:pic>
      <p:sp>
        <p:nvSpPr>
          <p:cNvPr id="7" name="对话气泡: 圆角矩形 6">
            <a:extLst>
              <a:ext uri="{FF2B5EF4-FFF2-40B4-BE49-F238E27FC236}">
                <a16:creationId xmlns:a16="http://schemas.microsoft.com/office/drawing/2014/main" id="{377F282B-2E4F-474B-986E-81D1B01E685A}"/>
              </a:ext>
            </a:extLst>
          </p:cNvPr>
          <p:cNvSpPr/>
          <p:nvPr/>
        </p:nvSpPr>
        <p:spPr>
          <a:xfrm>
            <a:off x="4959475" y="2058120"/>
            <a:ext cx="5303641" cy="941728"/>
          </a:xfrm>
          <a:prstGeom prst="wedgeRoundRectCallout">
            <a:avLst>
              <a:gd name="adj1" fmla="val -39465"/>
              <a:gd name="adj2" fmla="val 70468"/>
              <a:gd name="adj3" fmla="val 16667"/>
            </a:avLst>
          </a:prstGeom>
          <a:ln/>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en-US" dirty="0">
                <a:solidFill>
                  <a:srgbClr val="FF0000"/>
                </a:solidFill>
              </a:rPr>
              <a:t>函数的求导过程也可利用 </a:t>
            </a:r>
            <a:r>
              <a:rPr lang="en-US" altLang="zh-CN" dirty="0" err="1">
                <a:solidFill>
                  <a:srgbClr val="FF0000"/>
                </a:solidFill>
              </a:rPr>
              <a:t>ployld</a:t>
            </a:r>
            <a:r>
              <a:rPr lang="en-US" altLang="zh-CN" dirty="0">
                <a:solidFill>
                  <a:srgbClr val="FF0000"/>
                </a:solidFill>
              </a:rPr>
              <a:t> </a:t>
            </a:r>
            <a:r>
              <a:rPr lang="zh-CN" altLang="en-US" dirty="0">
                <a:solidFill>
                  <a:srgbClr val="FF0000"/>
                </a:solidFill>
              </a:rPr>
              <a:t>模块的 </a:t>
            </a:r>
            <a:r>
              <a:rPr lang="en-US" altLang="zh-CN" dirty="0">
                <a:solidFill>
                  <a:srgbClr val="FF0000"/>
                </a:solidFill>
              </a:rPr>
              <a:t>derive </a:t>
            </a:r>
            <a:r>
              <a:rPr lang="zh-CN" altLang="en-US" dirty="0">
                <a:solidFill>
                  <a:srgbClr val="FF0000"/>
                </a:solidFill>
              </a:rPr>
              <a:t>方法实现。求多项式原函数的一阶导函数可用</a:t>
            </a:r>
            <a:r>
              <a:rPr lang="en-US" altLang="zh-CN" kern="100" dirty="0" err="1">
                <a:solidFill>
                  <a:schemeClr val="tx2"/>
                </a:solidFill>
                <a:latin typeface="Consolas" panose="020B0609020204030204" pitchFamily="49" charset="0"/>
                <a:cs typeface="Times New Roman" panose="02020603050405020304" pitchFamily="18" charset="0"/>
              </a:rPr>
              <a:t>numpy.poly1d.deriv</a:t>
            </a:r>
            <a:r>
              <a:rPr lang="en-US" altLang="zh-CN" kern="100" dirty="0">
                <a:solidFill>
                  <a:schemeClr val="tx2"/>
                </a:solidFill>
                <a:latin typeface="Consolas" panose="020B0609020204030204" pitchFamily="49" charset="0"/>
                <a:cs typeface="Times New Roman" panose="02020603050405020304" pitchFamily="18" charset="0"/>
              </a:rPr>
              <a:t>(m=1)</a:t>
            </a:r>
            <a:r>
              <a:rPr lang="zh-CN" altLang="en-US" dirty="0">
                <a:solidFill>
                  <a:srgbClr val="FF0000"/>
                </a:solidFill>
              </a:rPr>
              <a:t>语句来表示！</a:t>
            </a:r>
          </a:p>
        </p:txBody>
      </p:sp>
    </p:spTree>
    <p:extLst>
      <p:ext uri="{BB962C8B-B14F-4D97-AF65-F5344CB8AC3E}">
        <p14:creationId xmlns:p14="http://schemas.microsoft.com/office/powerpoint/2010/main" val="714052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12.3.2 </a:t>
            </a:r>
            <a:r>
              <a:rPr lang="zh-CN" altLang="en-US" dirty="0"/>
              <a:t>柱状图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zh-CN" altLang="en-US" dirty="0">
                <a:solidFill>
                  <a:srgbClr val="FF0000"/>
                </a:solidFill>
              </a:rPr>
              <a:t>柱状图</a:t>
            </a:r>
            <a:r>
              <a:rPr lang="zh-CN" altLang="en-US" dirty="0"/>
              <a:t>（</a:t>
            </a:r>
            <a:r>
              <a:rPr lang="en-US" altLang="zh-CN" dirty="0"/>
              <a:t>bar chart</a:t>
            </a:r>
            <a:r>
              <a:rPr lang="zh-CN" altLang="en-US" dirty="0"/>
              <a:t>）是一种以长方形的长度表示变量数值大小的统计图表，用来比较两个或两个以上数值的差别，通常用于展示数据量较小的数据集分析结果。在绘图时，常常将长方形的柱体分隔开来以突出每组数据的独立性。</a:t>
            </a:r>
          </a:p>
          <a:p>
            <a:pPr algn="just">
              <a:lnSpc>
                <a:spcPct val="150000"/>
              </a:lnSpc>
            </a:pPr>
            <a:r>
              <a:rPr lang="en-US" altLang="zh-CN" dirty="0"/>
              <a:t>matplotlib.pyplot </a:t>
            </a:r>
            <a:r>
              <a:rPr lang="zh-CN" altLang="en-US" dirty="0"/>
              <a:t>模块中绘制柱状图的基本语法格式为：</a:t>
            </a:r>
            <a:endParaRPr lang="en-US" altLang="zh-CN" dirty="0"/>
          </a:p>
          <a:p>
            <a:pPr marL="0" indent="0" algn="ctr">
              <a:lnSpc>
                <a:spcPct val="150000"/>
              </a:lnSpc>
              <a:buNone/>
            </a:pPr>
            <a:r>
              <a:rPr lang="en-US" altLang="zh-CN" dirty="0">
                <a:solidFill>
                  <a:srgbClr val="FF0000"/>
                </a:solidFill>
              </a:rPr>
              <a:t> </a:t>
            </a:r>
            <a:r>
              <a:rPr lang="en-US" altLang="zh-CN" dirty="0" err="1">
                <a:solidFill>
                  <a:srgbClr val="FF0000"/>
                </a:solidFill>
              </a:rPr>
              <a:t>plt.bar</a:t>
            </a:r>
            <a:r>
              <a:rPr lang="en-US" altLang="zh-CN" dirty="0">
                <a:solidFill>
                  <a:srgbClr val="FF0000"/>
                </a:solidFill>
              </a:rPr>
              <a:t>(h) (X</a:t>
            </a:r>
            <a:r>
              <a:rPr lang="zh-CN" altLang="en-US" dirty="0">
                <a:solidFill>
                  <a:srgbClr val="FF0000"/>
                </a:solidFill>
              </a:rPr>
              <a:t>轴序列列表</a:t>
            </a:r>
            <a:r>
              <a:rPr lang="en-US" altLang="zh-CN" dirty="0">
                <a:solidFill>
                  <a:srgbClr val="FF0000"/>
                </a:solidFill>
              </a:rPr>
              <a:t>, Y</a:t>
            </a:r>
            <a:r>
              <a:rPr lang="zh-CN" altLang="en-US" dirty="0">
                <a:solidFill>
                  <a:srgbClr val="FF0000"/>
                </a:solidFill>
              </a:rPr>
              <a:t>轴序列列表</a:t>
            </a:r>
            <a:r>
              <a:rPr lang="en-US" altLang="zh-CN" dirty="0">
                <a:solidFill>
                  <a:srgbClr val="FF0000"/>
                </a:solidFill>
              </a:rPr>
              <a:t>, </a:t>
            </a:r>
            <a:r>
              <a:rPr lang="zh-CN" altLang="en-US" dirty="0">
                <a:solidFill>
                  <a:srgbClr val="FF0000"/>
                </a:solidFill>
              </a:rPr>
              <a:t>可选参数</a:t>
            </a:r>
            <a:r>
              <a:rPr lang="en-US" altLang="zh-CN" dirty="0">
                <a:solidFill>
                  <a:srgbClr val="FF0000"/>
                </a:solidFill>
              </a:rPr>
              <a:t>1, </a:t>
            </a:r>
            <a:r>
              <a:rPr lang="zh-CN" altLang="en-US" dirty="0">
                <a:solidFill>
                  <a:srgbClr val="FF0000"/>
                </a:solidFill>
              </a:rPr>
              <a:t>可选参数</a:t>
            </a:r>
            <a:r>
              <a:rPr lang="en-US" altLang="zh-CN" dirty="0">
                <a:solidFill>
                  <a:srgbClr val="FF0000"/>
                </a:solidFill>
              </a:rPr>
              <a:t>2,…</a:t>
            </a:r>
            <a:r>
              <a:rPr lang="zh-CN" altLang="en-US" dirty="0">
                <a:solidFill>
                  <a:srgbClr val="FF0000"/>
                </a:solidFill>
              </a:rPr>
              <a:t>可选参数</a:t>
            </a:r>
            <a:r>
              <a:rPr lang="en-US" altLang="zh-CN" dirty="0">
                <a:solidFill>
                  <a:srgbClr val="FF0000"/>
                </a:solidFill>
              </a:rPr>
              <a:t>n)</a:t>
            </a:r>
            <a:endParaRPr lang="zh-CN" altLang="en-US" dirty="0"/>
          </a:p>
          <a:p>
            <a:pPr marL="0" indent="0" algn="just">
              <a:lnSpc>
                <a:spcPct val="150000"/>
              </a:lnSpc>
              <a:buNone/>
            </a:pPr>
            <a:r>
              <a:rPr lang="en-US" altLang="zh-CN" dirty="0"/>
              <a:t>   </a:t>
            </a:r>
            <a:r>
              <a:rPr lang="zh-CN" altLang="en-US" dirty="0"/>
              <a:t>注意：</a:t>
            </a:r>
            <a:r>
              <a:rPr lang="en-US" altLang="zh-CN" dirty="0"/>
              <a:t>bar() </a:t>
            </a:r>
            <a:r>
              <a:rPr lang="zh-CN" altLang="en-US" dirty="0"/>
              <a:t>用于绘制纵向柱状图，而 </a:t>
            </a:r>
            <a:r>
              <a:rPr lang="en-US" altLang="zh-CN" dirty="0" err="1"/>
              <a:t>barh</a:t>
            </a:r>
            <a:r>
              <a:rPr lang="en-US" altLang="zh-CN" dirty="0"/>
              <a:t>() </a:t>
            </a:r>
            <a:r>
              <a:rPr lang="zh-CN" altLang="en-US" dirty="0"/>
              <a:t>用来绘制横向柱状图。</a:t>
            </a:r>
            <a:endParaRPr lang="en-US" altLang="zh-CN" dirty="0">
              <a:solidFill>
                <a:srgbClr val="FF0000"/>
              </a:solidFill>
            </a:endParaRPr>
          </a:p>
        </p:txBody>
      </p:sp>
    </p:spTree>
    <p:extLst>
      <p:ext uri="{BB962C8B-B14F-4D97-AF65-F5344CB8AC3E}">
        <p14:creationId xmlns:p14="http://schemas.microsoft.com/office/powerpoint/2010/main" val="5449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12.3.2 </a:t>
            </a:r>
            <a:r>
              <a:rPr lang="zh-CN" altLang="en-US" dirty="0"/>
              <a:t>柱状图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zh-CN" altLang="en-US" dirty="0"/>
              <a:t>除 </a:t>
            </a:r>
            <a:r>
              <a:rPr lang="en-US" altLang="zh-CN" dirty="0"/>
              <a:t>plot() </a:t>
            </a:r>
            <a:r>
              <a:rPr lang="zh-CN" altLang="en-US" dirty="0"/>
              <a:t>函数的一些属性参数（如线形、线宽等）外，其余参数均能在柱状图中使用。下表</a:t>
            </a:r>
            <a:r>
              <a:rPr lang="zh-CN" altLang="zh-CN" dirty="0"/>
              <a:t>显示了</a:t>
            </a:r>
            <a:r>
              <a:rPr lang="en-US" altLang="zh-CN" dirty="0"/>
              <a:t> bar() </a:t>
            </a:r>
            <a:r>
              <a:rPr lang="zh-CN" altLang="zh-CN" dirty="0"/>
              <a:t>函数的一些可选的参数</a:t>
            </a:r>
            <a:r>
              <a:rPr lang="zh-CN" altLang="en-US" dirty="0"/>
              <a:t>：</a:t>
            </a:r>
          </a:p>
        </p:txBody>
      </p:sp>
      <p:pic>
        <p:nvPicPr>
          <p:cNvPr id="2" name="图片 1">
            <a:extLst>
              <a:ext uri="{FF2B5EF4-FFF2-40B4-BE49-F238E27FC236}">
                <a16:creationId xmlns:a16="http://schemas.microsoft.com/office/drawing/2014/main" id="{60E7F249-D5D4-4245-9577-C354DDE23E09}"/>
              </a:ext>
            </a:extLst>
          </p:cNvPr>
          <p:cNvPicPr>
            <a:picLocks noChangeAspect="1"/>
          </p:cNvPicPr>
          <p:nvPr/>
        </p:nvPicPr>
        <p:blipFill rotWithShape="1">
          <a:blip r:embed="rId3"/>
          <a:srcRect l="502" r="304"/>
          <a:stretch/>
        </p:blipFill>
        <p:spPr>
          <a:xfrm>
            <a:off x="1733265" y="2802623"/>
            <a:ext cx="8911989" cy="3737080"/>
          </a:xfrm>
          <a:prstGeom prst="rect">
            <a:avLst/>
          </a:prstGeom>
        </p:spPr>
      </p:pic>
    </p:spTree>
    <p:extLst>
      <p:ext uri="{BB962C8B-B14F-4D97-AF65-F5344CB8AC3E}">
        <p14:creationId xmlns:p14="http://schemas.microsoft.com/office/powerpoint/2010/main" val="1447688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12.3.2 </a:t>
            </a:r>
            <a:r>
              <a:rPr lang="zh-CN" altLang="en-US" dirty="0"/>
              <a:t>柱状图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zh-CN" altLang="en-US" dirty="0"/>
              <a:t>举例：绘制含多个项目数据的柱状图，如三组数据堆叠的情况。</a:t>
            </a:r>
          </a:p>
        </p:txBody>
      </p:sp>
      <p:graphicFrame>
        <p:nvGraphicFramePr>
          <p:cNvPr id="4" name="表格 3">
            <a:extLst>
              <a:ext uri="{FF2B5EF4-FFF2-40B4-BE49-F238E27FC236}">
                <a16:creationId xmlns:a16="http://schemas.microsoft.com/office/drawing/2014/main" id="{760A6707-0BF9-479B-BEA0-26D31852206C}"/>
              </a:ext>
            </a:extLst>
          </p:cNvPr>
          <p:cNvGraphicFramePr>
            <a:graphicFrameLocks noGrp="1"/>
          </p:cNvGraphicFramePr>
          <p:nvPr>
            <p:extLst>
              <p:ext uri="{D42A27DB-BD31-4B8C-83A1-F6EECF244321}">
                <p14:modId xmlns:p14="http://schemas.microsoft.com/office/powerpoint/2010/main" val="232164848"/>
              </p:ext>
            </p:extLst>
          </p:nvPr>
        </p:nvGraphicFramePr>
        <p:xfrm>
          <a:off x="815526" y="2155468"/>
          <a:ext cx="6738214" cy="4652836"/>
        </p:xfrm>
        <a:graphic>
          <a:graphicData uri="http://schemas.openxmlformats.org/drawingml/2006/table">
            <a:tbl>
              <a:tblPr firstRow="1" firstCol="1" bandRow="1"/>
              <a:tblGrid>
                <a:gridCol w="6738214">
                  <a:extLst>
                    <a:ext uri="{9D8B030D-6E8A-4147-A177-3AD203B41FA5}">
                      <a16:colId xmlns:a16="http://schemas.microsoft.com/office/drawing/2014/main" val="165711208"/>
                    </a:ext>
                  </a:extLst>
                </a:gridCol>
              </a:tblGrid>
              <a:tr h="3140521">
                <a:tc>
                  <a:txBody>
                    <a:bodyPr/>
                    <a:lstStyle/>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numpy</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np</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matplotlib.pyplot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a:t>
                      </a: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 ['a', 'b', 'c', 'd', 'e', 'f', 'g', 'h',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i</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'j']</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[6, 5, 8, 5, 6, 6, 8, 9, 8, 10]</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[5, 3, 6, 4, 3, 4, 7, 4, 4, 6]</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y3</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[4, 1, 2, 1, 2, 1, 6, 2, 3, 2]</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plt.bar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label=“</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label1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color=‘red’)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数据一</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plt.bar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label=“</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label2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”,color=‘orange’)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数据二</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plt.bar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y3</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label=“</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label3</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color=‘</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lightgreen</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数据三</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plt.xticks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np.arange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len</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x, rotation=0,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 </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plt.legend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(loc="upper left")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防止</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label</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和图像重合显示不出来</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plt.rcParams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font.sans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-serif']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SimHei</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正常显示中文</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plt.ylabel</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数量</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=15)</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plt.xlabel</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('name',</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=15)</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plt.title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("title",</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=20)</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5" name="Picture 174" descr="/var/folders/zt/_gpwfbgn0919jcl5k156sjtr0000gp/T/com.microsoft.Word/Content.MSO/2C6A3456.tmp">
            <a:extLst>
              <a:ext uri="{FF2B5EF4-FFF2-40B4-BE49-F238E27FC236}">
                <a16:creationId xmlns:a16="http://schemas.microsoft.com/office/drawing/2014/main" id="{7AE868BE-468D-4810-8B93-E4B2345FB4A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553740" y="2683717"/>
            <a:ext cx="4508391" cy="3543329"/>
          </a:xfrm>
          <a:prstGeom prst="rect">
            <a:avLst/>
          </a:prstGeom>
          <a:noFill/>
          <a:ln>
            <a:noFill/>
          </a:ln>
        </p:spPr>
      </p:pic>
    </p:spTree>
    <p:extLst>
      <p:ext uri="{BB962C8B-B14F-4D97-AF65-F5344CB8AC3E}">
        <p14:creationId xmlns:p14="http://schemas.microsoft.com/office/powerpoint/2010/main" val="228183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12.3.2 </a:t>
            </a:r>
            <a:r>
              <a:rPr lang="zh-CN" altLang="en-US" dirty="0"/>
              <a:t>柱状图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zh-CN" altLang="en-US" dirty="0"/>
              <a:t>举例：绘制含多个项目数据的柱状图，如三组数据堆叠的情况。</a:t>
            </a:r>
          </a:p>
        </p:txBody>
      </p:sp>
      <p:graphicFrame>
        <p:nvGraphicFramePr>
          <p:cNvPr id="4" name="表格 3">
            <a:extLst>
              <a:ext uri="{FF2B5EF4-FFF2-40B4-BE49-F238E27FC236}">
                <a16:creationId xmlns:a16="http://schemas.microsoft.com/office/drawing/2014/main" id="{760A6707-0BF9-479B-BEA0-26D31852206C}"/>
              </a:ext>
            </a:extLst>
          </p:cNvPr>
          <p:cNvGraphicFramePr>
            <a:graphicFrameLocks noGrp="1"/>
          </p:cNvGraphicFramePr>
          <p:nvPr>
            <p:extLst>
              <p:ext uri="{D42A27DB-BD31-4B8C-83A1-F6EECF244321}">
                <p14:modId xmlns:p14="http://schemas.microsoft.com/office/powerpoint/2010/main" val="1846745830"/>
              </p:ext>
            </p:extLst>
          </p:nvPr>
        </p:nvGraphicFramePr>
        <p:xfrm>
          <a:off x="669752" y="2242058"/>
          <a:ext cx="6738214" cy="4357180"/>
        </p:xfrm>
        <a:graphic>
          <a:graphicData uri="http://schemas.openxmlformats.org/drawingml/2006/table">
            <a:tbl>
              <a:tblPr firstRow="1" firstCol="1" bandRow="1"/>
              <a:tblGrid>
                <a:gridCol w="6738214">
                  <a:extLst>
                    <a:ext uri="{9D8B030D-6E8A-4147-A177-3AD203B41FA5}">
                      <a16:colId xmlns:a16="http://schemas.microsoft.com/office/drawing/2014/main" val="165711208"/>
                    </a:ext>
                  </a:extLst>
                </a:gridCol>
              </a:tblGrid>
              <a:tr h="3900775">
                <a:tc>
                  <a:txBody>
                    <a:bodyPr/>
                    <a:lstStyle/>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%matplotlib inline</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numpy</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np</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from matplotlib 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pyplot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a:t>
                      </a: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n = 8</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np.arange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(n)+1      #X</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取值</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1,2,3,4,5,6,7,8</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，表示柱的个数</a:t>
                      </a:r>
                    </a:p>
                    <a:p>
                      <a:pPr marL="0" marR="0" lvl="0" indent="0" algn="just" defTabSz="914400" rtl="0" eaLnBrk="1" fontAlgn="auto" latinLnBrk="0" hangingPunct="1">
                        <a:lnSpc>
                          <a:spcPts val="2300"/>
                        </a:lnSpc>
                        <a:spcBef>
                          <a:spcPts val="0"/>
                        </a:spcBef>
                        <a:spcAft>
                          <a:spcPts val="0"/>
                        </a:spcAft>
                        <a:buClrTx/>
                        <a:buSzTx/>
                        <a:buFontTx/>
                        <a:buNone/>
                        <a:tabLst/>
                        <a:defRPr/>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#uniform</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均匀分布的随机数，</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0.5-1</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均匀分布的数，一共有</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n</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个</a:t>
                      </a: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np.random.uniform</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0.5,1.0,n</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np.random.uniform</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0.5,1.0,n</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p>
                      <a:pPr marL="0" algn="just" defTabSz="914400" rtl="0" eaLnBrk="1" latinLnBrk="0" hangingPunct="1">
                        <a:lnSpc>
                          <a:spcPts val="2300"/>
                        </a:lnSpc>
                        <a:spcAft>
                          <a:spcPts val="0"/>
                        </a:spcAft>
                      </a:pPr>
                      <a:endParaRPr lang="zh-CN" altLang="en-US"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plt.bar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alpha=0.9, width = 0.35,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facecolor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lightskyblue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edgecolor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'white', label='one',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lw</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plt.bar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X+0.35</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alpha=0.9, width = 0.35,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facecolor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yellowgreen</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edgecolor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'white', label='second',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lw</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a:t>
                      </a:r>
                    </a:p>
                    <a:p>
                      <a:pPr marL="0" algn="just" defTabSz="914400" rtl="0" eaLnBrk="1" latinLnBrk="0" hangingPunct="1">
                        <a:lnSpc>
                          <a:spcPts val="2300"/>
                        </a:lnSpc>
                        <a:spcAft>
                          <a:spcPts val="0"/>
                        </a:spcAft>
                      </a:pP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plt.legend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(loc="upper left")      # label</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的位置在左上</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6" name="Picture 23" descr="/var/folders/zt/_gpwfbgn0919jcl5k156sjtr0000gp/T/com.microsoft.Word/Content.MSO/A9D4DAD4.tmp">
            <a:extLst>
              <a:ext uri="{FF2B5EF4-FFF2-40B4-BE49-F238E27FC236}">
                <a16:creationId xmlns:a16="http://schemas.microsoft.com/office/drawing/2014/main" id="{F8D7D59B-3B93-4896-85DE-147D9AA413D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407966" y="2996268"/>
            <a:ext cx="4748171" cy="3389451"/>
          </a:xfrm>
          <a:prstGeom prst="rect">
            <a:avLst/>
          </a:prstGeom>
          <a:noFill/>
          <a:ln>
            <a:noFill/>
          </a:ln>
        </p:spPr>
      </p:pic>
      <p:sp>
        <p:nvSpPr>
          <p:cNvPr id="7" name="思想气泡: 云 6">
            <a:extLst>
              <a:ext uri="{FF2B5EF4-FFF2-40B4-BE49-F238E27FC236}">
                <a16:creationId xmlns:a16="http://schemas.microsoft.com/office/drawing/2014/main" id="{7DAB8AB5-1710-4ADF-9DD3-8300D64D0C54}"/>
              </a:ext>
            </a:extLst>
          </p:cNvPr>
          <p:cNvSpPr/>
          <p:nvPr/>
        </p:nvSpPr>
        <p:spPr>
          <a:xfrm>
            <a:off x="8269358" y="1386681"/>
            <a:ext cx="3472068" cy="1609587"/>
          </a:xfrm>
          <a:prstGeom prst="cloudCallout">
            <a:avLst>
              <a:gd name="adj1" fmla="val -21202"/>
              <a:gd name="adj2" fmla="val 77252"/>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zh-CN" altLang="en-US" dirty="0"/>
              <a:t>思考：如何修改代码能得到</a:t>
            </a:r>
            <a:r>
              <a:rPr lang="zh-CN" altLang="zh-CN" dirty="0"/>
              <a:t>横向排列的柱状图</a:t>
            </a:r>
            <a:r>
              <a:rPr lang="zh-CN" altLang="en-US" dirty="0"/>
              <a:t>？</a:t>
            </a:r>
            <a:endParaRPr lang="zh-CN" altLang="en-US" kern="100" dirty="0">
              <a:solidFill>
                <a:schemeClr val="tx2"/>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44836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12.3.3 </a:t>
            </a:r>
            <a:r>
              <a:rPr lang="zh-CN" altLang="en-US" dirty="0"/>
              <a:t>直方图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zh-CN" altLang="en-US" dirty="0">
                <a:solidFill>
                  <a:srgbClr val="FF0000"/>
                </a:solidFill>
              </a:rPr>
              <a:t>直方图</a:t>
            </a:r>
            <a:r>
              <a:rPr lang="zh-CN" altLang="en-US" dirty="0"/>
              <a:t>（</a:t>
            </a:r>
            <a:r>
              <a:rPr lang="en-US" altLang="zh-CN" dirty="0"/>
              <a:t>histogram</a:t>
            </a:r>
            <a:r>
              <a:rPr lang="zh-CN" altLang="en-US" dirty="0"/>
              <a:t>）也称质量分布图，是一种统计报告图，用一系列高度不等的纵向条纹或线段来表示数据分布的情况。直方图中一般用横轴表示数据类型，纵轴表示分布情况。</a:t>
            </a:r>
          </a:p>
          <a:p>
            <a:pPr algn="just">
              <a:lnSpc>
                <a:spcPct val="150000"/>
              </a:lnSpc>
            </a:pPr>
            <a:r>
              <a:rPr lang="en-US" altLang="zh-CN" dirty="0" err="1"/>
              <a:t>matplotlib.pyplot</a:t>
            </a:r>
            <a:r>
              <a:rPr lang="en-US" altLang="zh-CN" dirty="0"/>
              <a:t> </a:t>
            </a:r>
            <a:r>
              <a:rPr lang="zh-CN" altLang="en-US" dirty="0"/>
              <a:t>模块</a:t>
            </a:r>
            <a:r>
              <a:rPr lang="zh-CN" altLang="zh-CN" dirty="0"/>
              <a:t>中绘制直方图使用的是</a:t>
            </a:r>
            <a:r>
              <a:rPr lang="en-US" altLang="zh-CN" dirty="0"/>
              <a:t> hist() </a:t>
            </a:r>
            <a:r>
              <a:rPr lang="zh-CN" altLang="zh-CN" dirty="0"/>
              <a:t>函数。其基本语法格式为</a:t>
            </a:r>
            <a:r>
              <a:rPr lang="zh-CN" altLang="en-US" dirty="0"/>
              <a:t>：</a:t>
            </a:r>
            <a:endParaRPr lang="en-US" altLang="zh-CN" dirty="0"/>
          </a:p>
          <a:p>
            <a:pPr marL="0" indent="0" algn="ctr">
              <a:lnSpc>
                <a:spcPct val="150000"/>
              </a:lnSpc>
              <a:buNone/>
            </a:pPr>
            <a:r>
              <a:rPr lang="en-US" altLang="zh-CN" dirty="0" err="1">
                <a:solidFill>
                  <a:srgbClr val="FF0000"/>
                </a:solidFill>
              </a:rPr>
              <a:t>plt.hist</a:t>
            </a:r>
            <a:r>
              <a:rPr lang="en-US" altLang="zh-CN" dirty="0">
                <a:solidFill>
                  <a:srgbClr val="FF0000"/>
                </a:solidFill>
              </a:rPr>
              <a:t> (</a:t>
            </a:r>
            <a:r>
              <a:rPr lang="zh-CN" altLang="en-US" dirty="0">
                <a:solidFill>
                  <a:srgbClr val="FF0000"/>
                </a:solidFill>
              </a:rPr>
              <a:t>数据列表，</a:t>
            </a:r>
            <a:r>
              <a:rPr lang="en-US" altLang="zh-CN" dirty="0">
                <a:solidFill>
                  <a:srgbClr val="FF0000"/>
                </a:solidFill>
              </a:rPr>
              <a:t>[</a:t>
            </a:r>
            <a:r>
              <a:rPr lang="zh-CN" altLang="en-US" dirty="0">
                <a:solidFill>
                  <a:srgbClr val="FF0000"/>
                </a:solidFill>
              </a:rPr>
              <a:t>可选参数列表</a:t>
            </a:r>
            <a:r>
              <a:rPr lang="en-US" altLang="zh-CN" dirty="0">
                <a:solidFill>
                  <a:srgbClr val="FF0000"/>
                </a:solidFill>
              </a:rPr>
              <a:t>])</a:t>
            </a:r>
            <a:r>
              <a:rPr lang="en-US" altLang="zh-CN" dirty="0"/>
              <a:t>   </a:t>
            </a:r>
          </a:p>
          <a:p>
            <a:pPr marL="0" indent="0" algn="ctr">
              <a:lnSpc>
                <a:spcPct val="150000"/>
              </a:lnSpc>
              <a:buNone/>
            </a:pPr>
            <a:endParaRPr lang="en-US" altLang="zh-CN" dirty="0">
              <a:solidFill>
                <a:srgbClr val="FF0000"/>
              </a:solidFill>
            </a:endParaRPr>
          </a:p>
        </p:txBody>
      </p:sp>
    </p:spTree>
    <p:extLst>
      <p:ext uri="{BB962C8B-B14F-4D97-AF65-F5344CB8AC3E}">
        <p14:creationId xmlns:p14="http://schemas.microsoft.com/office/powerpoint/2010/main" val="338539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12.3.3 </a:t>
            </a:r>
            <a:r>
              <a:rPr lang="zh-CN" altLang="en-US" dirty="0"/>
              <a:t>直方图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en-US" altLang="zh-CN" dirty="0"/>
              <a:t>hist()</a:t>
            </a:r>
            <a:r>
              <a:rPr lang="zh-CN" altLang="en-US" dirty="0"/>
              <a:t>函数的部分可选参数如下表所示：</a:t>
            </a:r>
            <a:endParaRPr lang="en-US" altLang="zh-CN" dirty="0"/>
          </a:p>
        </p:txBody>
      </p:sp>
      <p:pic>
        <p:nvPicPr>
          <p:cNvPr id="2" name="图片 1">
            <a:extLst>
              <a:ext uri="{FF2B5EF4-FFF2-40B4-BE49-F238E27FC236}">
                <a16:creationId xmlns:a16="http://schemas.microsoft.com/office/drawing/2014/main" id="{D23DB5B6-57D1-49B6-A556-9F843FE87F64}"/>
              </a:ext>
            </a:extLst>
          </p:cNvPr>
          <p:cNvPicPr>
            <a:picLocks noChangeAspect="1"/>
          </p:cNvPicPr>
          <p:nvPr/>
        </p:nvPicPr>
        <p:blipFill rotWithShape="1">
          <a:blip r:embed="rId3"/>
          <a:srcRect r="301"/>
          <a:stretch/>
        </p:blipFill>
        <p:spPr>
          <a:xfrm>
            <a:off x="2364785" y="2103783"/>
            <a:ext cx="7462429" cy="4754217"/>
          </a:xfrm>
          <a:prstGeom prst="rect">
            <a:avLst/>
          </a:prstGeom>
        </p:spPr>
      </p:pic>
    </p:spTree>
    <p:extLst>
      <p:ext uri="{BB962C8B-B14F-4D97-AF65-F5344CB8AC3E}">
        <p14:creationId xmlns:p14="http://schemas.microsoft.com/office/powerpoint/2010/main" val="393901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12.3.3 </a:t>
            </a:r>
            <a:r>
              <a:rPr lang="zh-CN" altLang="en-US" dirty="0"/>
              <a:t>直方图</a:t>
            </a:r>
            <a:endParaRPr lang="en-US" dirty="0"/>
          </a:p>
        </p:txBody>
      </p:sp>
      <p:sp>
        <p:nvSpPr>
          <p:cNvPr id="14" name="Content Placeholder 13"/>
          <p:cNvSpPr>
            <a:spLocks noGrp="1"/>
          </p:cNvSpPr>
          <p:nvPr>
            <p:ph idx="1"/>
          </p:nvPr>
        </p:nvSpPr>
        <p:spPr>
          <a:xfrm>
            <a:off x="1103382" y="1467678"/>
            <a:ext cx="9982200" cy="4572000"/>
          </a:xfrm>
        </p:spPr>
        <p:txBody>
          <a:bodyPr>
            <a:normAutofit/>
          </a:bodyPr>
          <a:lstStyle/>
          <a:p>
            <a:pPr algn="just">
              <a:lnSpc>
                <a:spcPct val="150000"/>
              </a:lnSpc>
            </a:pPr>
            <a:r>
              <a:rPr lang="zh-CN" altLang="en-US" dirty="0"/>
              <a:t>举例：绘制一个简单的直方图。要求从</a:t>
            </a:r>
            <a:r>
              <a:rPr lang="en-US" altLang="zh-CN" dirty="0"/>
              <a:t>0-100</a:t>
            </a:r>
            <a:r>
              <a:rPr lang="zh-CN" altLang="en-US" dirty="0"/>
              <a:t>的区间中随机产生了</a:t>
            </a:r>
            <a:r>
              <a:rPr lang="en-US" altLang="zh-CN" dirty="0"/>
              <a:t>100</a:t>
            </a:r>
            <a:r>
              <a:rPr lang="zh-CN" altLang="en-US" dirty="0"/>
              <a:t>个整数，以</a:t>
            </a:r>
            <a:r>
              <a:rPr lang="en-US" altLang="zh-CN" dirty="0"/>
              <a:t>10</a:t>
            </a:r>
            <a:r>
              <a:rPr lang="zh-CN" altLang="en-US" dirty="0"/>
              <a:t>个随机整数为一组，直方图给出各个区间随机产生的数值的个数。</a:t>
            </a:r>
          </a:p>
        </p:txBody>
      </p:sp>
      <p:graphicFrame>
        <p:nvGraphicFramePr>
          <p:cNvPr id="4" name="表格 3">
            <a:extLst>
              <a:ext uri="{FF2B5EF4-FFF2-40B4-BE49-F238E27FC236}">
                <a16:creationId xmlns:a16="http://schemas.microsoft.com/office/drawing/2014/main" id="{760A6707-0BF9-479B-BEA0-26D31852206C}"/>
              </a:ext>
            </a:extLst>
          </p:cNvPr>
          <p:cNvGraphicFramePr>
            <a:graphicFrameLocks noGrp="1"/>
          </p:cNvGraphicFramePr>
          <p:nvPr>
            <p:extLst>
              <p:ext uri="{D42A27DB-BD31-4B8C-83A1-F6EECF244321}">
                <p14:modId xmlns:p14="http://schemas.microsoft.com/office/powerpoint/2010/main" val="3220642430"/>
              </p:ext>
            </p:extLst>
          </p:nvPr>
        </p:nvGraphicFramePr>
        <p:xfrm>
          <a:off x="656502" y="2431859"/>
          <a:ext cx="6738214" cy="4349941"/>
        </p:xfrm>
        <a:graphic>
          <a:graphicData uri="http://schemas.openxmlformats.org/drawingml/2006/table">
            <a:tbl>
              <a:tblPr firstRow="1" firstCol="1" bandRow="1"/>
              <a:tblGrid>
                <a:gridCol w="6738214">
                  <a:extLst>
                    <a:ext uri="{9D8B030D-6E8A-4147-A177-3AD203B41FA5}">
                      <a16:colId xmlns:a16="http://schemas.microsoft.com/office/drawing/2014/main" val="165711208"/>
                    </a:ext>
                  </a:extLst>
                </a:gridCol>
              </a:tblGrid>
              <a:tr h="3140521">
                <a:tc>
                  <a:txBody>
                    <a:bodyPr/>
                    <a:lstStyle/>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matplotlib.pyplot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a:t>
                      </a: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numpy</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np</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np.random.randint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(0,100,100) </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生成</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[0-100]</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之间的</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100</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个数据</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bins=</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np.arange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(0,101,10)   </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设置连续的边界值，即直方图的分布区间</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[0,10],[10,20]...</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plt.hist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x,bins,color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lightgreen</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alpha=0.5)</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#alpha</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设置透明度，</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为完全透明</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plt.xlabel</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('scores')</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plt.ylabel</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('count')</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plt.xlim</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(0,100)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设置</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轴分布范围</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6" name="图片 5" descr="C:\Users\Lenovo\AppData\Local\Microsoft\Windows\INetCache\Content.MSO\57B32371.tmp">
            <a:extLst>
              <a:ext uri="{FF2B5EF4-FFF2-40B4-BE49-F238E27FC236}">
                <a16:creationId xmlns:a16="http://schemas.microsoft.com/office/drawing/2014/main" id="{81868C25-3EC0-4B75-87BE-4FDB0259AA5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354958" y="3087281"/>
            <a:ext cx="4895673" cy="3433264"/>
          </a:xfrm>
          <a:prstGeom prst="rect">
            <a:avLst/>
          </a:prstGeom>
          <a:noFill/>
          <a:ln>
            <a:noFill/>
          </a:ln>
        </p:spPr>
      </p:pic>
    </p:spTree>
    <p:extLst>
      <p:ext uri="{BB962C8B-B14F-4D97-AF65-F5344CB8AC3E}">
        <p14:creationId xmlns:p14="http://schemas.microsoft.com/office/powerpoint/2010/main" val="104466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12.3.4 </a:t>
            </a:r>
            <a:r>
              <a:rPr lang="zh-CN" altLang="en-US" dirty="0"/>
              <a:t>饼图</a:t>
            </a:r>
            <a:endParaRPr lang="en-US" dirty="0"/>
          </a:p>
        </p:txBody>
      </p:sp>
      <p:sp>
        <p:nvSpPr>
          <p:cNvPr id="14" name="Content Placeholder 13"/>
          <p:cNvSpPr>
            <a:spLocks noGrp="1"/>
          </p:cNvSpPr>
          <p:nvPr>
            <p:ph idx="1"/>
          </p:nvPr>
        </p:nvSpPr>
        <p:spPr/>
        <p:txBody>
          <a:bodyPr>
            <a:normAutofit/>
          </a:bodyPr>
          <a:lstStyle/>
          <a:p>
            <a:pPr algn="just">
              <a:lnSpc>
                <a:spcPct val="150000"/>
              </a:lnSpc>
            </a:pPr>
            <a:r>
              <a:rPr lang="zh-CN" altLang="en-US" dirty="0">
                <a:solidFill>
                  <a:srgbClr val="FF0000"/>
                </a:solidFill>
              </a:rPr>
              <a:t>饼图</a:t>
            </a:r>
            <a:r>
              <a:rPr lang="zh-CN" altLang="en-US" dirty="0"/>
              <a:t>（</a:t>
            </a:r>
            <a:r>
              <a:rPr lang="en-US" altLang="zh-CN" dirty="0"/>
              <a:t>pie chart</a:t>
            </a:r>
            <a:r>
              <a:rPr lang="zh-CN" altLang="en-US" dirty="0"/>
              <a:t>）用于显示一个数据集合中各项数据的大小及其与数据总和的比例。饼图中的每个扇形表示总体中的一个类别，其面积取决于相应部分占总体的百分比，每个部分的数值是该部分数据在整个饼图的百分比的数值。</a:t>
            </a:r>
            <a:endParaRPr lang="en-US" altLang="zh-CN" dirty="0"/>
          </a:p>
          <a:p>
            <a:pPr algn="just">
              <a:lnSpc>
                <a:spcPct val="150000"/>
              </a:lnSpc>
            </a:pPr>
            <a:r>
              <a:rPr lang="zh-CN" altLang="en-US" dirty="0"/>
              <a:t>常见的饼图有股权结构图、投资结构图、市场份额图等。注意，饼图中所有扇形区域的百分比之和总应为</a:t>
            </a:r>
            <a:r>
              <a:rPr lang="en-US" altLang="zh-CN" dirty="0"/>
              <a:t>1</a:t>
            </a:r>
            <a:r>
              <a:rPr lang="zh-CN" altLang="en-US" dirty="0"/>
              <a:t>。</a:t>
            </a:r>
          </a:p>
          <a:p>
            <a:pPr algn="just">
              <a:lnSpc>
                <a:spcPct val="150000"/>
              </a:lnSpc>
            </a:pPr>
            <a:r>
              <a:rPr lang="en-US" altLang="zh-CN" dirty="0" err="1"/>
              <a:t>matplotlib.pyplot</a:t>
            </a:r>
            <a:r>
              <a:rPr lang="en-US" altLang="zh-CN" dirty="0"/>
              <a:t> </a:t>
            </a:r>
            <a:r>
              <a:rPr lang="zh-CN" altLang="en-US" dirty="0"/>
              <a:t>模块</a:t>
            </a:r>
            <a:r>
              <a:rPr lang="zh-CN" altLang="zh-CN" dirty="0"/>
              <a:t>中绘制饼图使用的是</a:t>
            </a:r>
            <a:r>
              <a:rPr lang="en-US" altLang="zh-CN" dirty="0"/>
              <a:t>pie()</a:t>
            </a:r>
            <a:r>
              <a:rPr lang="zh-CN" altLang="zh-CN" dirty="0"/>
              <a:t>函数，其基本语法格式为</a:t>
            </a:r>
            <a:r>
              <a:rPr lang="zh-CN" altLang="en-US" dirty="0"/>
              <a:t>：</a:t>
            </a:r>
            <a:endParaRPr lang="en-US" altLang="zh-CN" dirty="0"/>
          </a:p>
          <a:p>
            <a:pPr marL="0" indent="0" algn="ctr">
              <a:lnSpc>
                <a:spcPct val="150000"/>
              </a:lnSpc>
              <a:buNone/>
            </a:pPr>
            <a:r>
              <a:rPr lang="en-US" altLang="zh-CN" dirty="0" err="1">
                <a:solidFill>
                  <a:srgbClr val="FF0000"/>
                </a:solidFill>
              </a:rPr>
              <a:t>plt.pie</a:t>
            </a:r>
            <a:r>
              <a:rPr lang="en-US" altLang="zh-CN" dirty="0">
                <a:solidFill>
                  <a:srgbClr val="FF0000"/>
                </a:solidFill>
              </a:rPr>
              <a:t> (</a:t>
            </a:r>
            <a:r>
              <a:rPr lang="zh-CN" altLang="en-US" dirty="0">
                <a:solidFill>
                  <a:srgbClr val="FF0000"/>
                </a:solidFill>
              </a:rPr>
              <a:t>数据列表，</a:t>
            </a:r>
            <a:r>
              <a:rPr lang="en-US" altLang="zh-CN" dirty="0">
                <a:solidFill>
                  <a:srgbClr val="FF0000"/>
                </a:solidFill>
              </a:rPr>
              <a:t>[</a:t>
            </a:r>
            <a:r>
              <a:rPr lang="zh-CN" altLang="en-US" dirty="0">
                <a:solidFill>
                  <a:srgbClr val="FF0000"/>
                </a:solidFill>
              </a:rPr>
              <a:t>可选参数列表</a:t>
            </a:r>
            <a:r>
              <a:rPr lang="en-US" altLang="zh-CN" dirty="0">
                <a:solidFill>
                  <a:srgbClr val="FF0000"/>
                </a:solidFill>
              </a:rPr>
              <a:t>])</a:t>
            </a:r>
          </a:p>
        </p:txBody>
      </p:sp>
    </p:spTree>
    <p:extLst>
      <p:ext uri="{BB962C8B-B14F-4D97-AF65-F5344CB8AC3E}">
        <p14:creationId xmlns:p14="http://schemas.microsoft.com/office/powerpoint/2010/main" val="86759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12.3.4 </a:t>
            </a:r>
            <a:r>
              <a:rPr lang="zh-CN" altLang="en-US" dirty="0"/>
              <a:t>饼图</a:t>
            </a:r>
            <a:endParaRPr lang="en-US" dirty="0"/>
          </a:p>
        </p:txBody>
      </p:sp>
      <p:sp>
        <p:nvSpPr>
          <p:cNvPr id="14" name="Content Placeholder 13"/>
          <p:cNvSpPr>
            <a:spLocks noGrp="1"/>
          </p:cNvSpPr>
          <p:nvPr>
            <p:ph idx="1"/>
          </p:nvPr>
        </p:nvSpPr>
        <p:spPr>
          <a:xfrm>
            <a:off x="1104900" y="1600200"/>
            <a:ext cx="9982200" cy="3064565"/>
          </a:xfrm>
        </p:spPr>
        <p:txBody>
          <a:bodyPr>
            <a:normAutofit/>
          </a:bodyPr>
          <a:lstStyle/>
          <a:p>
            <a:pPr algn="just">
              <a:lnSpc>
                <a:spcPct val="150000"/>
              </a:lnSpc>
            </a:pPr>
            <a:r>
              <a:rPr lang="en-US" altLang="zh-CN" dirty="0"/>
              <a:t>pie()</a:t>
            </a:r>
            <a:r>
              <a:rPr lang="zh-CN" altLang="zh-CN" dirty="0"/>
              <a:t>函数的部分可选参数如</a:t>
            </a:r>
            <a:r>
              <a:rPr lang="zh-CN" altLang="en-US" dirty="0"/>
              <a:t>下表</a:t>
            </a:r>
            <a:r>
              <a:rPr lang="zh-CN" altLang="zh-CN" dirty="0"/>
              <a:t>所示</a:t>
            </a:r>
            <a:r>
              <a:rPr lang="zh-CN" altLang="en-US" dirty="0"/>
              <a:t>：</a:t>
            </a:r>
            <a:endParaRPr lang="en-US" altLang="zh-CN" dirty="0">
              <a:solidFill>
                <a:srgbClr val="FF0000"/>
              </a:solidFill>
            </a:endParaRPr>
          </a:p>
        </p:txBody>
      </p:sp>
      <p:pic>
        <p:nvPicPr>
          <p:cNvPr id="2" name="图片 1">
            <a:extLst>
              <a:ext uri="{FF2B5EF4-FFF2-40B4-BE49-F238E27FC236}">
                <a16:creationId xmlns:a16="http://schemas.microsoft.com/office/drawing/2014/main" id="{43A7E4E8-383A-4FBB-9C0C-4A1099FB068D}"/>
              </a:ext>
            </a:extLst>
          </p:cNvPr>
          <p:cNvPicPr>
            <a:picLocks noChangeAspect="1"/>
          </p:cNvPicPr>
          <p:nvPr/>
        </p:nvPicPr>
        <p:blipFill>
          <a:blip r:embed="rId3"/>
          <a:stretch>
            <a:fillRect/>
          </a:stretch>
        </p:blipFill>
        <p:spPr>
          <a:xfrm>
            <a:off x="1832171" y="2123661"/>
            <a:ext cx="8853805" cy="3495261"/>
          </a:xfrm>
          <a:prstGeom prst="rect">
            <a:avLst/>
          </a:prstGeom>
        </p:spPr>
      </p:pic>
      <p:sp>
        <p:nvSpPr>
          <p:cNvPr id="4" name="矩形 3">
            <a:extLst>
              <a:ext uri="{FF2B5EF4-FFF2-40B4-BE49-F238E27FC236}">
                <a16:creationId xmlns:a16="http://schemas.microsoft.com/office/drawing/2014/main" id="{F923BC07-D54D-4CB7-A49F-88621A57776E}"/>
              </a:ext>
            </a:extLst>
          </p:cNvPr>
          <p:cNvSpPr/>
          <p:nvPr/>
        </p:nvSpPr>
        <p:spPr>
          <a:xfrm>
            <a:off x="1103382" y="5662636"/>
            <a:ext cx="9982200" cy="959493"/>
          </a:xfrm>
          <a:prstGeom prst="rect">
            <a:avLst/>
          </a:prstGeom>
        </p:spPr>
        <p:txBody>
          <a:bodyPr wrap="square">
            <a:spAutoFit/>
          </a:bodyPr>
          <a:lstStyle/>
          <a:p>
            <a:pPr marL="228600" indent="-228600" algn="just">
              <a:lnSpc>
                <a:spcPct val="150000"/>
              </a:lnSpc>
              <a:spcBef>
                <a:spcPts val="1800"/>
              </a:spcBef>
              <a:buFont typeface="Wingdings" panose="05000000000000000000" pitchFamily="2" charset="2"/>
              <a:buChar char="§"/>
            </a:pPr>
            <a:r>
              <a:rPr lang="en-US" altLang="zh-CN" sz="2000" dirty="0"/>
              <a:t>Matplotlib</a:t>
            </a:r>
            <a:r>
              <a:rPr lang="zh-CN" altLang="en-US" sz="2000" dirty="0"/>
              <a:t>中默认的饼图展示效果会将其显示为椭圆形，若想要显示为圆形饼图，可以通过让饼图的</a:t>
            </a:r>
            <a:r>
              <a:rPr lang="en-US" altLang="zh-CN" sz="2000" dirty="0"/>
              <a:t>X</a:t>
            </a:r>
            <a:r>
              <a:rPr lang="zh-CN" altLang="en-US" sz="2000" dirty="0"/>
              <a:t>、</a:t>
            </a:r>
            <a:r>
              <a:rPr lang="en-US" altLang="zh-CN" sz="2000" dirty="0"/>
              <a:t>Y</a:t>
            </a:r>
            <a:r>
              <a:rPr lang="zh-CN" altLang="en-US" sz="2000" dirty="0"/>
              <a:t>轴的单位相等来实现，其语法格式为：</a:t>
            </a:r>
            <a:r>
              <a:rPr lang="en-US" altLang="zh-CN" sz="2000" dirty="0" err="1">
                <a:solidFill>
                  <a:srgbClr val="FF0000"/>
                </a:solidFill>
              </a:rPr>
              <a:t>plt.axis</a:t>
            </a:r>
            <a:r>
              <a:rPr lang="en-US" altLang="zh-CN" sz="2000" dirty="0">
                <a:solidFill>
                  <a:srgbClr val="FF0000"/>
                </a:solidFill>
              </a:rPr>
              <a:t>('equal')</a:t>
            </a:r>
            <a:endParaRPr lang="zh-CN" altLang="en-US" sz="2000" dirty="0">
              <a:solidFill>
                <a:srgbClr val="FF0000"/>
              </a:solidFill>
            </a:endParaRPr>
          </a:p>
        </p:txBody>
      </p:sp>
    </p:spTree>
    <p:extLst>
      <p:ext uri="{BB962C8B-B14F-4D97-AF65-F5344CB8AC3E}">
        <p14:creationId xmlns:p14="http://schemas.microsoft.com/office/powerpoint/2010/main" val="351000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12.3.4 </a:t>
            </a:r>
            <a:r>
              <a:rPr lang="zh-CN" altLang="en-US" dirty="0"/>
              <a:t>饼图</a:t>
            </a:r>
            <a:endParaRPr lang="en-US" dirty="0"/>
          </a:p>
        </p:txBody>
      </p:sp>
      <p:sp>
        <p:nvSpPr>
          <p:cNvPr id="14" name="Content Placeholder 13"/>
          <p:cNvSpPr>
            <a:spLocks noGrp="1"/>
          </p:cNvSpPr>
          <p:nvPr>
            <p:ph idx="1"/>
          </p:nvPr>
        </p:nvSpPr>
        <p:spPr>
          <a:xfrm>
            <a:off x="1104900" y="1600200"/>
            <a:ext cx="9982200" cy="3064565"/>
          </a:xfrm>
        </p:spPr>
        <p:txBody>
          <a:bodyPr>
            <a:normAutofit/>
          </a:bodyPr>
          <a:lstStyle/>
          <a:p>
            <a:pPr algn="just">
              <a:lnSpc>
                <a:spcPct val="150000"/>
              </a:lnSpc>
            </a:pPr>
            <a:r>
              <a:rPr lang="zh-CN" altLang="en-US" sz="1800" dirty="0"/>
              <a:t>举例：绘制一个简单的表示家庭支出比例的饼图，每一个饼块分别表示：“娱乐”、“育儿”、“饮食”、“房贷”、“交通”、“其它”等支出项，分别对应比例为</a:t>
            </a:r>
            <a:r>
              <a:rPr lang="en-US" altLang="zh-CN" sz="1800" dirty="0"/>
              <a:t>2%</a:t>
            </a:r>
            <a:r>
              <a:rPr lang="zh-CN" altLang="en-US" sz="1800" dirty="0"/>
              <a:t>、</a:t>
            </a:r>
            <a:r>
              <a:rPr lang="en-US" altLang="zh-CN" sz="1800" dirty="0"/>
              <a:t>5%</a:t>
            </a:r>
            <a:r>
              <a:rPr lang="zh-CN" altLang="en-US" sz="1800" dirty="0"/>
              <a:t>、</a:t>
            </a:r>
            <a:r>
              <a:rPr lang="en-US" altLang="zh-CN" sz="1800" dirty="0"/>
              <a:t>12%</a:t>
            </a:r>
            <a:r>
              <a:rPr lang="zh-CN" altLang="en-US" sz="1800" dirty="0"/>
              <a:t>、</a:t>
            </a:r>
            <a:r>
              <a:rPr lang="en-US" altLang="zh-CN" sz="1800" dirty="0"/>
              <a:t>70%</a:t>
            </a:r>
            <a:r>
              <a:rPr lang="zh-CN" altLang="en-US" sz="1800" dirty="0"/>
              <a:t>、</a:t>
            </a:r>
            <a:r>
              <a:rPr lang="en-US" altLang="zh-CN" sz="1800" dirty="0"/>
              <a:t>2%</a:t>
            </a:r>
            <a:r>
              <a:rPr lang="zh-CN" altLang="en-US" sz="1800" dirty="0"/>
              <a:t>、</a:t>
            </a:r>
            <a:r>
              <a:rPr lang="en-US" altLang="zh-CN" sz="1800" dirty="0"/>
              <a:t>9%</a:t>
            </a:r>
            <a:r>
              <a:rPr lang="zh-CN" altLang="en-US" sz="1800" dirty="0"/>
              <a:t>。</a:t>
            </a:r>
            <a:endParaRPr lang="en-US" altLang="zh-CN" sz="1800" dirty="0">
              <a:solidFill>
                <a:srgbClr val="FF0000"/>
              </a:solidFill>
            </a:endParaRPr>
          </a:p>
        </p:txBody>
      </p:sp>
      <p:graphicFrame>
        <p:nvGraphicFramePr>
          <p:cNvPr id="6" name="表格 5">
            <a:extLst>
              <a:ext uri="{FF2B5EF4-FFF2-40B4-BE49-F238E27FC236}">
                <a16:creationId xmlns:a16="http://schemas.microsoft.com/office/drawing/2014/main" id="{153EC9D5-17BE-4C53-9ADB-7F1422569F27}"/>
              </a:ext>
            </a:extLst>
          </p:cNvPr>
          <p:cNvGraphicFramePr>
            <a:graphicFrameLocks noGrp="1"/>
          </p:cNvGraphicFramePr>
          <p:nvPr>
            <p:extLst>
              <p:ext uri="{D42A27DB-BD31-4B8C-83A1-F6EECF244321}">
                <p14:modId xmlns:p14="http://schemas.microsoft.com/office/powerpoint/2010/main" val="4213298725"/>
              </p:ext>
            </p:extLst>
          </p:nvPr>
        </p:nvGraphicFramePr>
        <p:xfrm>
          <a:off x="1104900" y="2478241"/>
          <a:ext cx="6738214" cy="4349941"/>
        </p:xfrm>
        <a:graphic>
          <a:graphicData uri="http://schemas.openxmlformats.org/drawingml/2006/table">
            <a:tbl>
              <a:tblPr firstRow="1" firstCol="1" bandRow="1"/>
              <a:tblGrid>
                <a:gridCol w="6738214">
                  <a:extLst>
                    <a:ext uri="{9D8B030D-6E8A-4147-A177-3AD203B41FA5}">
                      <a16:colId xmlns:a16="http://schemas.microsoft.com/office/drawing/2014/main" val="165711208"/>
                    </a:ext>
                  </a:extLst>
                </a:gridCol>
              </a:tblGrid>
              <a:tr h="3140521">
                <a:tc>
                  <a:txBody>
                    <a:bodyPr/>
                    <a:lstStyle/>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matplotlib.pyplot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a:t>
                      </a: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plt.rcParams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font.sans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-serif']=['</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SimHei</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正常显示中文</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labels=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娱乐</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育儿</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饮食</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房贷</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交通</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其它</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数据项标签</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sizes = [2,5,12,70,2,9]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数据项占比</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explode = (0,0,0,0.1,0,0)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凸出显示“房贷”扇形</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plt.pie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sizes,explode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explode,labels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labels,autopct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1.1f</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%%',shadow=</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False,startangle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=150)</a:t>
                      </a:r>
                    </a:p>
                    <a:p>
                      <a:pPr marL="0" algn="just" defTabSz="914400" rtl="0" eaLnBrk="1" latinLnBrk="0" hangingPunct="1">
                        <a:lnSpc>
                          <a:spcPct val="1500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绘制饼图，显示数据块占比，扇形无阴影效果，绘图起始角度从</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轴正方向逆时针</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150</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画起</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plt.title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月份家庭支出</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plt.axis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('equal')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使饼图长宽相等</a:t>
                      </a:r>
                    </a:p>
                    <a:p>
                      <a:pPr marL="0" algn="just" defTabSz="914400" rtl="0" eaLnBrk="1" latinLnBrk="0" hangingPunct="1">
                        <a:lnSpc>
                          <a:spcPct val="1500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7" name="图片 6" descr="C:\Users\Lenovo\AppData\Local\Microsoft\Windows\INetCache\Content.MSO\74A7E52B.tmp">
            <a:extLst>
              <a:ext uri="{FF2B5EF4-FFF2-40B4-BE49-F238E27FC236}">
                <a16:creationId xmlns:a16="http://schemas.microsoft.com/office/drawing/2014/main" id="{6EA1FCCA-FC0D-4B86-A19D-A416D7E2E90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646504" y="2995598"/>
            <a:ext cx="4679865" cy="3391950"/>
          </a:xfrm>
          <a:prstGeom prst="rect">
            <a:avLst/>
          </a:prstGeom>
          <a:noFill/>
          <a:ln>
            <a:noFill/>
          </a:ln>
        </p:spPr>
      </p:pic>
    </p:spTree>
    <p:extLst>
      <p:ext uri="{BB962C8B-B14F-4D97-AF65-F5344CB8AC3E}">
        <p14:creationId xmlns:p14="http://schemas.microsoft.com/office/powerpoint/2010/main" val="3299836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12.3.5 </a:t>
            </a:r>
            <a:r>
              <a:rPr lang="zh-CN" altLang="en-US" dirty="0"/>
              <a:t>散点图</a:t>
            </a:r>
            <a:endParaRPr lang="en-US" dirty="0"/>
          </a:p>
        </p:txBody>
      </p:sp>
      <p:sp>
        <p:nvSpPr>
          <p:cNvPr id="14" name="Content Placeholder 13"/>
          <p:cNvSpPr>
            <a:spLocks noGrp="1"/>
          </p:cNvSpPr>
          <p:nvPr>
            <p:ph idx="1"/>
          </p:nvPr>
        </p:nvSpPr>
        <p:spPr>
          <a:xfrm>
            <a:off x="1104900" y="1600199"/>
            <a:ext cx="9982200" cy="5181601"/>
          </a:xfrm>
        </p:spPr>
        <p:txBody>
          <a:bodyPr>
            <a:normAutofit/>
          </a:bodyPr>
          <a:lstStyle/>
          <a:p>
            <a:pPr algn="just">
              <a:lnSpc>
                <a:spcPct val="150000"/>
              </a:lnSpc>
            </a:pPr>
            <a:r>
              <a:rPr lang="zh-CN" altLang="en-US" dirty="0">
                <a:solidFill>
                  <a:srgbClr val="FF0000"/>
                </a:solidFill>
              </a:rPr>
              <a:t>散点图</a:t>
            </a:r>
            <a:r>
              <a:rPr lang="zh-CN" altLang="en-US" dirty="0"/>
              <a:t>（</a:t>
            </a:r>
            <a:r>
              <a:rPr lang="en-US" altLang="zh-CN" dirty="0"/>
              <a:t>scatter</a:t>
            </a:r>
            <a:r>
              <a:rPr lang="zh-CN" altLang="en-US" dirty="0"/>
              <a:t>）是科研绘图中最常见的图形类型之一，通常用于显示和比较数值。</a:t>
            </a:r>
            <a:endParaRPr lang="en-US" altLang="zh-CN" dirty="0"/>
          </a:p>
          <a:p>
            <a:pPr algn="just">
              <a:lnSpc>
                <a:spcPct val="150000"/>
              </a:lnSpc>
            </a:pPr>
            <a:r>
              <a:rPr lang="zh-CN" altLang="en-US" dirty="0"/>
              <a:t>散点图将所有的数据以点的形式展现在直角坐标系上，每个点的坐标由变量的数值决定，可以显示出变量在坐标中位置及其之间的距离，观测变量之间的相互关系和紧密程度。通过观察散点图上数据点的分布情况，可以推断出变量间的相关性。如果变量之间不存在相互关系，那么在散点图上就会表现为随机分布的离散的点，如果存在某种相关性，那么大部分的数据点就会相对密集并以某种趋势呈现。</a:t>
            </a:r>
          </a:p>
          <a:p>
            <a:pPr algn="just">
              <a:lnSpc>
                <a:spcPct val="150000"/>
              </a:lnSpc>
            </a:pPr>
            <a:r>
              <a:rPr lang="zh-CN" altLang="en-US" dirty="0"/>
              <a:t>散点图通常用于显示和比较数值，不光可以显示趋势，还能显示数据集群的形状，以及在数据云团中各数据点的分布关系，可以提供三类关键信息：①变量之间是否存在数量关联趋势；②如果存在关联趋势，是线性还是非线性的；③观察是否有存在离群值，从而分析这些离群值对建模分析的影响。</a:t>
            </a:r>
          </a:p>
        </p:txBody>
      </p:sp>
    </p:spTree>
    <p:extLst>
      <p:ext uri="{BB962C8B-B14F-4D97-AF65-F5344CB8AC3E}">
        <p14:creationId xmlns:p14="http://schemas.microsoft.com/office/powerpoint/2010/main" val="1413340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12.3.5 </a:t>
            </a:r>
            <a:r>
              <a:rPr lang="zh-CN" altLang="en-US" dirty="0"/>
              <a:t>散点图</a:t>
            </a:r>
            <a:endParaRPr lang="en-US" dirty="0"/>
          </a:p>
        </p:txBody>
      </p:sp>
      <p:sp>
        <p:nvSpPr>
          <p:cNvPr id="14" name="Content Placeholder 13"/>
          <p:cNvSpPr>
            <a:spLocks noGrp="1"/>
          </p:cNvSpPr>
          <p:nvPr>
            <p:ph idx="1"/>
          </p:nvPr>
        </p:nvSpPr>
        <p:spPr>
          <a:xfrm>
            <a:off x="1104900" y="1600199"/>
            <a:ext cx="9982200" cy="5449958"/>
          </a:xfrm>
        </p:spPr>
        <p:txBody>
          <a:bodyPr>
            <a:normAutofit/>
          </a:bodyPr>
          <a:lstStyle/>
          <a:p>
            <a:pPr algn="just">
              <a:lnSpc>
                <a:spcPct val="100000"/>
              </a:lnSpc>
            </a:pPr>
            <a:r>
              <a:rPr lang="en-US" altLang="zh-CN" dirty="0" err="1"/>
              <a:t>matplotlib.pyplot</a:t>
            </a:r>
            <a:r>
              <a:rPr lang="en-US" altLang="zh-CN" dirty="0"/>
              <a:t> </a:t>
            </a:r>
            <a:r>
              <a:rPr lang="zh-CN" altLang="en-US" dirty="0"/>
              <a:t>模块</a:t>
            </a:r>
            <a:r>
              <a:rPr lang="zh-CN" altLang="zh-CN" dirty="0"/>
              <a:t>中绘制饼图使用的是</a:t>
            </a:r>
            <a:r>
              <a:rPr lang="en-US" altLang="zh-CN" dirty="0"/>
              <a:t>scatter()</a:t>
            </a:r>
            <a:r>
              <a:rPr lang="zh-CN" altLang="zh-CN" dirty="0"/>
              <a:t>函数，其基本语法格式为</a:t>
            </a:r>
            <a:r>
              <a:rPr lang="zh-CN" altLang="en-US" dirty="0"/>
              <a:t>：</a:t>
            </a:r>
            <a:endParaRPr lang="en-US" altLang="zh-CN" dirty="0"/>
          </a:p>
          <a:p>
            <a:pPr marL="0" indent="0" algn="ctr">
              <a:lnSpc>
                <a:spcPct val="100000"/>
              </a:lnSpc>
              <a:buNone/>
            </a:pPr>
            <a:r>
              <a:rPr lang="en-US" altLang="zh-CN" dirty="0" err="1">
                <a:solidFill>
                  <a:srgbClr val="FF0000"/>
                </a:solidFill>
              </a:rPr>
              <a:t>plt</a:t>
            </a:r>
            <a:r>
              <a:rPr lang="en-US" altLang="zh-CN" dirty="0">
                <a:solidFill>
                  <a:srgbClr val="FF0000"/>
                </a:solidFill>
              </a:rPr>
              <a:t>. scatter (X</a:t>
            </a:r>
            <a:r>
              <a:rPr lang="zh-CN" altLang="en-US" dirty="0">
                <a:solidFill>
                  <a:srgbClr val="FF0000"/>
                </a:solidFill>
              </a:rPr>
              <a:t>坐标列表</a:t>
            </a:r>
            <a:r>
              <a:rPr lang="en-US" altLang="zh-CN" dirty="0">
                <a:solidFill>
                  <a:srgbClr val="FF0000"/>
                </a:solidFill>
              </a:rPr>
              <a:t>, Y</a:t>
            </a:r>
            <a:r>
              <a:rPr lang="zh-CN" altLang="en-US" dirty="0">
                <a:solidFill>
                  <a:srgbClr val="FF0000"/>
                </a:solidFill>
              </a:rPr>
              <a:t>坐标列表</a:t>
            </a:r>
            <a:r>
              <a:rPr lang="en-US" altLang="zh-CN" dirty="0">
                <a:solidFill>
                  <a:srgbClr val="FF0000"/>
                </a:solidFill>
              </a:rPr>
              <a:t>, </a:t>
            </a:r>
            <a:r>
              <a:rPr lang="zh-CN" altLang="en-US" dirty="0">
                <a:solidFill>
                  <a:srgbClr val="FF0000"/>
                </a:solidFill>
              </a:rPr>
              <a:t>可选参数</a:t>
            </a:r>
            <a:r>
              <a:rPr lang="en-US" altLang="zh-CN" dirty="0">
                <a:solidFill>
                  <a:srgbClr val="FF0000"/>
                </a:solidFill>
              </a:rPr>
              <a:t>1, </a:t>
            </a:r>
            <a:r>
              <a:rPr lang="zh-CN" altLang="en-US" dirty="0">
                <a:solidFill>
                  <a:srgbClr val="FF0000"/>
                </a:solidFill>
              </a:rPr>
              <a:t>可选参数</a:t>
            </a:r>
            <a:r>
              <a:rPr lang="en-US" altLang="zh-CN" dirty="0">
                <a:solidFill>
                  <a:srgbClr val="FF0000"/>
                </a:solidFill>
              </a:rPr>
              <a:t>2, …</a:t>
            </a:r>
            <a:r>
              <a:rPr lang="zh-CN" altLang="en-US" dirty="0">
                <a:solidFill>
                  <a:srgbClr val="FF0000"/>
                </a:solidFill>
              </a:rPr>
              <a:t>可选参数</a:t>
            </a:r>
            <a:r>
              <a:rPr lang="en-US" altLang="zh-CN" dirty="0">
                <a:solidFill>
                  <a:srgbClr val="FF0000"/>
                </a:solidFill>
              </a:rPr>
              <a:t>n)</a:t>
            </a:r>
          </a:p>
          <a:p>
            <a:pPr algn="just">
              <a:lnSpc>
                <a:spcPct val="100000"/>
              </a:lnSpc>
            </a:pPr>
            <a:r>
              <a:rPr lang="en-US" altLang="zh-CN" dirty="0"/>
              <a:t>scatter() </a:t>
            </a:r>
            <a:r>
              <a:rPr lang="zh-CN" altLang="zh-CN" dirty="0"/>
              <a:t>函数的部分可选参数如</a:t>
            </a:r>
            <a:r>
              <a:rPr lang="zh-CN" altLang="en-US" dirty="0"/>
              <a:t>下表</a:t>
            </a:r>
            <a:r>
              <a:rPr lang="zh-CN" altLang="zh-CN" dirty="0"/>
              <a:t>所示：</a:t>
            </a:r>
          </a:p>
          <a:p>
            <a:pPr marL="0" indent="0" algn="ctr">
              <a:lnSpc>
                <a:spcPct val="100000"/>
              </a:lnSpc>
              <a:buNone/>
            </a:pPr>
            <a:endParaRPr lang="en-US" altLang="zh-CN" dirty="0">
              <a:solidFill>
                <a:srgbClr val="FF0000"/>
              </a:solidFill>
            </a:endParaRPr>
          </a:p>
        </p:txBody>
      </p:sp>
      <p:pic>
        <p:nvPicPr>
          <p:cNvPr id="2" name="图片 1">
            <a:extLst>
              <a:ext uri="{FF2B5EF4-FFF2-40B4-BE49-F238E27FC236}">
                <a16:creationId xmlns:a16="http://schemas.microsoft.com/office/drawing/2014/main" id="{4ACB980A-E0EC-40E4-A77F-1E451137406D}"/>
              </a:ext>
            </a:extLst>
          </p:cNvPr>
          <p:cNvPicPr>
            <a:picLocks noChangeAspect="1"/>
          </p:cNvPicPr>
          <p:nvPr/>
        </p:nvPicPr>
        <p:blipFill>
          <a:blip r:embed="rId3"/>
          <a:stretch>
            <a:fillRect/>
          </a:stretch>
        </p:blipFill>
        <p:spPr>
          <a:xfrm>
            <a:off x="1811043" y="3322154"/>
            <a:ext cx="8569913" cy="2164245"/>
          </a:xfrm>
          <a:prstGeom prst="rect">
            <a:avLst/>
          </a:prstGeom>
        </p:spPr>
      </p:pic>
    </p:spTree>
    <p:extLst>
      <p:ext uri="{BB962C8B-B14F-4D97-AF65-F5344CB8AC3E}">
        <p14:creationId xmlns:p14="http://schemas.microsoft.com/office/powerpoint/2010/main" val="176178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12.3.5 </a:t>
            </a:r>
            <a:r>
              <a:rPr lang="zh-CN" altLang="en-US" dirty="0"/>
              <a:t>散点图</a:t>
            </a:r>
            <a:endParaRPr lang="en-US" dirty="0"/>
          </a:p>
        </p:txBody>
      </p:sp>
      <p:sp>
        <p:nvSpPr>
          <p:cNvPr id="14" name="Content Placeholder 13"/>
          <p:cNvSpPr>
            <a:spLocks noGrp="1"/>
          </p:cNvSpPr>
          <p:nvPr>
            <p:ph idx="1"/>
          </p:nvPr>
        </p:nvSpPr>
        <p:spPr>
          <a:xfrm>
            <a:off x="1104900" y="1577008"/>
            <a:ext cx="9982200" cy="4929809"/>
          </a:xfrm>
        </p:spPr>
        <p:txBody>
          <a:bodyPr>
            <a:normAutofit/>
          </a:bodyPr>
          <a:lstStyle/>
          <a:p>
            <a:pPr algn="just">
              <a:lnSpc>
                <a:spcPct val="100000"/>
              </a:lnSpc>
            </a:pPr>
            <a:r>
              <a:rPr lang="zh-CN" altLang="en-US" dirty="0"/>
              <a:t>举例：绘制一个含有两类数据的散点图，数据均为随机产生的</a:t>
            </a:r>
            <a:r>
              <a:rPr lang="en-US" altLang="zh-CN" dirty="0"/>
              <a:t>100</a:t>
            </a:r>
            <a:r>
              <a:rPr lang="zh-CN" altLang="en-US" dirty="0"/>
              <a:t>个数，以散点类型加以区分。</a:t>
            </a:r>
            <a:endParaRPr lang="en-US" altLang="zh-CN" dirty="0">
              <a:solidFill>
                <a:srgbClr val="FF0000"/>
              </a:solidFill>
            </a:endParaRPr>
          </a:p>
        </p:txBody>
      </p:sp>
      <p:graphicFrame>
        <p:nvGraphicFramePr>
          <p:cNvPr id="5" name="表格 4">
            <a:extLst>
              <a:ext uri="{FF2B5EF4-FFF2-40B4-BE49-F238E27FC236}">
                <a16:creationId xmlns:a16="http://schemas.microsoft.com/office/drawing/2014/main" id="{C04FF9BA-7B1E-44E7-A389-7178B740EE10}"/>
              </a:ext>
            </a:extLst>
          </p:cNvPr>
          <p:cNvGraphicFramePr>
            <a:graphicFrameLocks noGrp="1"/>
          </p:cNvGraphicFramePr>
          <p:nvPr>
            <p:extLst>
              <p:ext uri="{D42A27DB-BD31-4B8C-83A1-F6EECF244321}">
                <p14:modId xmlns:p14="http://schemas.microsoft.com/office/powerpoint/2010/main" val="2137943685"/>
              </p:ext>
            </p:extLst>
          </p:nvPr>
        </p:nvGraphicFramePr>
        <p:xfrm>
          <a:off x="1104900" y="2531250"/>
          <a:ext cx="6409083" cy="4068636"/>
        </p:xfrm>
        <a:graphic>
          <a:graphicData uri="http://schemas.openxmlformats.org/drawingml/2006/table">
            <a:tbl>
              <a:tblPr firstRow="1" firstCol="1" bandRow="1"/>
              <a:tblGrid>
                <a:gridCol w="6409083">
                  <a:extLst>
                    <a:ext uri="{9D8B030D-6E8A-4147-A177-3AD203B41FA5}">
                      <a16:colId xmlns:a16="http://schemas.microsoft.com/office/drawing/2014/main" val="165711208"/>
                    </a:ext>
                  </a:extLst>
                </a:gridCol>
              </a:tblGrid>
              <a:tr h="3140521">
                <a:tc>
                  <a:txBody>
                    <a:bodyPr/>
                    <a:lstStyle/>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matplotlib.pyplot</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a:t>
                      </a:r>
                      <a:endParaRPr lang="en-US" altLang="zh-CN" sz="1600" kern="100" dirty="0">
                        <a:solidFill>
                          <a:schemeClr val="tx2"/>
                        </a:solidFill>
                        <a:effectLst/>
                        <a:latin typeface="Consolas" panose="020B0609020204030204" pitchFamily="49" charset="0"/>
                        <a:ea typeface="+mn-ea"/>
                        <a:cs typeface="Times New Roman" panose="02020603050405020304" pitchFamily="18" charset="0"/>
                      </a:endParaRP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import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numpy</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as np</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plt.rcParams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font.sans</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-serif']=['</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SimHei</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正常显示中文</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x1,y1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np.random.rand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(100),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np.random.rand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(100)</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x2,y2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np.random.rand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(100),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np.random.rand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(100)</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plt.scatter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x1</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y1,color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b’,marker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散点图</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，散点为蓝色五角星</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plt.scatter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x2</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y2,color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g',marker</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='o’) </a:t>
                      </a:r>
                    </a:p>
                    <a:p>
                      <a:pPr marL="0" algn="just" defTabSz="914400" rtl="0" eaLnBrk="1" latinLnBrk="0" hangingPunct="1">
                        <a:lnSpc>
                          <a:spcPts val="2300"/>
                        </a:lnSpc>
                        <a:spcAft>
                          <a:spcPts val="0"/>
                        </a:spcAft>
                      </a:pP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散点图</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2</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，散点为绿色实心圆</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plt.title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散点图示例</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=20) </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plt.xlabel</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('x</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轴</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=16)</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plt.ylabel</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('y</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轴</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fontsize</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=16)</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plt.grid</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               #</a:t>
                      </a:r>
                      <a:r>
                        <a:rPr lang="zh-CN" altLang="en-US" sz="1600" kern="100" dirty="0">
                          <a:solidFill>
                            <a:schemeClr val="tx2"/>
                          </a:solidFill>
                          <a:effectLst/>
                          <a:latin typeface="Consolas" panose="020B0609020204030204" pitchFamily="49" charset="0"/>
                          <a:ea typeface="+mn-ea"/>
                          <a:cs typeface="Times New Roman" panose="02020603050405020304" pitchFamily="18" charset="0"/>
                        </a:rPr>
                        <a:t>显示网格线</a:t>
                      </a:r>
                    </a:p>
                    <a:p>
                      <a:pPr marL="0" algn="just" defTabSz="914400" rtl="0" eaLnBrk="1" latinLnBrk="0" hangingPunct="1">
                        <a:lnSpc>
                          <a:spcPts val="2300"/>
                        </a:lnSpc>
                        <a:spcAft>
                          <a:spcPts val="0"/>
                        </a:spcAft>
                      </a:pPr>
                      <a:r>
                        <a:rPr lang="en-US" altLang="zh-CN" sz="1600" kern="100" dirty="0" err="1">
                          <a:solidFill>
                            <a:schemeClr val="tx2"/>
                          </a:solidFill>
                          <a:effectLst/>
                          <a:latin typeface="Consolas" panose="020B0609020204030204" pitchFamily="49" charset="0"/>
                          <a:ea typeface="+mn-ea"/>
                          <a:cs typeface="Times New Roman" panose="02020603050405020304" pitchFamily="18" charset="0"/>
                        </a:rPr>
                        <a:t>plt.show</a:t>
                      </a:r>
                      <a:r>
                        <a:rPr lang="en-US" altLang="zh-CN" sz="1600" kern="100" dirty="0">
                          <a:solidFill>
                            <a:schemeClr val="tx2"/>
                          </a:solidFill>
                          <a:effectLst/>
                          <a:latin typeface="Consolas" panose="020B0609020204030204" pitchFamily="49" charset="0"/>
                          <a:ea typeface="+mn-ea"/>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83570286"/>
                  </a:ext>
                </a:extLst>
              </a:tr>
            </a:tbl>
          </a:graphicData>
        </a:graphic>
      </p:graphicFrame>
      <p:pic>
        <p:nvPicPr>
          <p:cNvPr id="6" name="Picture 178" descr="/var/folders/zt/_gpwfbgn0919jcl5k156sjtr0000gp/T/com.microsoft.Word/Content.MSO/2B686E.tmp">
            <a:extLst>
              <a:ext uri="{FF2B5EF4-FFF2-40B4-BE49-F238E27FC236}">
                <a16:creationId xmlns:a16="http://schemas.microsoft.com/office/drawing/2014/main" id="{312D1E99-1786-4844-985E-516E63B4930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513982" y="2881865"/>
            <a:ext cx="4678017" cy="3253892"/>
          </a:xfrm>
          <a:prstGeom prst="rect">
            <a:avLst/>
          </a:prstGeom>
          <a:noFill/>
          <a:ln>
            <a:noFill/>
          </a:ln>
        </p:spPr>
      </p:pic>
    </p:spTree>
    <p:extLst>
      <p:ext uri="{BB962C8B-B14F-4D97-AF65-F5344CB8AC3E}">
        <p14:creationId xmlns:p14="http://schemas.microsoft.com/office/powerpoint/2010/main" val="3790105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ltLang="zh-CN" dirty="0"/>
              <a:t>12.3.5 </a:t>
            </a:r>
            <a:r>
              <a:rPr lang="zh-CN" altLang="en-US" dirty="0"/>
              <a:t>散点图</a:t>
            </a:r>
            <a:endParaRPr lang="en-US" dirty="0"/>
          </a:p>
        </p:txBody>
      </p:sp>
      <p:sp>
        <p:nvSpPr>
          <p:cNvPr id="14" name="Content Placeholder 13"/>
          <p:cNvSpPr>
            <a:spLocks noGrp="1"/>
          </p:cNvSpPr>
          <p:nvPr>
            <p:ph idx="1"/>
          </p:nvPr>
        </p:nvSpPr>
        <p:spPr>
          <a:xfrm>
            <a:off x="1104900" y="1577008"/>
            <a:ext cx="9982200" cy="4929809"/>
          </a:xfrm>
        </p:spPr>
        <p:txBody>
          <a:bodyPr>
            <a:normAutofit/>
          </a:bodyPr>
          <a:lstStyle/>
          <a:p>
            <a:pPr algn="just">
              <a:lnSpc>
                <a:spcPct val="100000"/>
              </a:lnSpc>
            </a:pPr>
            <a:r>
              <a:rPr lang="zh-CN" altLang="en-US" dirty="0"/>
              <a:t>举例：</a:t>
            </a:r>
            <a:endParaRPr lang="en-US" altLang="zh-CN" dirty="0">
              <a:solidFill>
                <a:srgbClr val="FF0000"/>
              </a:solidFill>
            </a:endParaRPr>
          </a:p>
        </p:txBody>
      </p:sp>
      <p:pic>
        <p:nvPicPr>
          <p:cNvPr id="2" name="Picture 1">
            <a:extLst>
              <a:ext uri="{FF2B5EF4-FFF2-40B4-BE49-F238E27FC236}">
                <a16:creationId xmlns:a16="http://schemas.microsoft.com/office/drawing/2014/main" id="{8A946F04-9BAC-4943-EC8E-2B666CCBF44E}"/>
              </a:ext>
            </a:extLst>
          </p:cNvPr>
          <p:cNvPicPr>
            <a:picLocks noChangeAspect="1"/>
          </p:cNvPicPr>
          <p:nvPr/>
        </p:nvPicPr>
        <p:blipFill>
          <a:blip r:embed="rId3"/>
          <a:stretch>
            <a:fillRect/>
          </a:stretch>
        </p:blipFill>
        <p:spPr>
          <a:xfrm>
            <a:off x="819150" y="2698750"/>
            <a:ext cx="6489700" cy="1866900"/>
          </a:xfrm>
          <a:prstGeom prst="rect">
            <a:avLst/>
          </a:prstGeom>
        </p:spPr>
      </p:pic>
      <p:pic>
        <p:nvPicPr>
          <p:cNvPr id="3" name="Picture 2">
            <a:extLst>
              <a:ext uri="{FF2B5EF4-FFF2-40B4-BE49-F238E27FC236}">
                <a16:creationId xmlns:a16="http://schemas.microsoft.com/office/drawing/2014/main" id="{3B3F1CFE-5D62-AB90-CBBD-AE8CEE774356}"/>
              </a:ext>
            </a:extLst>
          </p:cNvPr>
          <p:cNvPicPr>
            <a:picLocks noChangeAspect="1"/>
          </p:cNvPicPr>
          <p:nvPr/>
        </p:nvPicPr>
        <p:blipFill>
          <a:blip r:embed="rId4"/>
          <a:stretch>
            <a:fillRect/>
          </a:stretch>
        </p:blipFill>
        <p:spPr>
          <a:xfrm>
            <a:off x="7594600" y="2305050"/>
            <a:ext cx="3581400" cy="2857500"/>
          </a:xfrm>
          <a:prstGeom prst="rect">
            <a:avLst/>
          </a:prstGeom>
        </p:spPr>
      </p:pic>
    </p:spTree>
    <p:extLst>
      <p:ext uri="{BB962C8B-B14F-4D97-AF65-F5344CB8AC3E}">
        <p14:creationId xmlns:p14="http://schemas.microsoft.com/office/powerpoint/2010/main" val="1579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89A470-1296-EFD6-4010-6F0AB8101948}"/>
              </a:ext>
            </a:extLst>
          </p:cNvPr>
          <p:cNvPicPr>
            <a:picLocks noChangeAspect="1"/>
          </p:cNvPicPr>
          <p:nvPr/>
        </p:nvPicPr>
        <p:blipFill>
          <a:blip r:embed="rId2"/>
          <a:stretch>
            <a:fillRect/>
          </a:stretch>
        </p:blipFill>
        <p:spPr>
          <a:xfrm>
            <a:off x="645160" y="631229"/>
            <a:ext cx="7772400" cy="3644821"/>
          </a:xfrm>
          <a:prstGeom prst="rect">
            <a:avLst/>
          </a:prstGeom>
        </p:spPr>
      </p:pic>
      <p:pic>
        <p:nvPicPr>
          <p:cNvPr id="3" name="Picture 2">
            <a:extLst>
              <a:ext uri="{FF2B5EF4-FFF2-40B4-BE49-F238E27FC236}">
                <a16:creationId xmlns:a16="http://schemas.microsoft.com/office/drawing/2014/main" id="{6F4568DF-F3C6-E26E-E8FD-8968A34B1533}"/>
              </a:ext>
            </a:extLst>
          </p:cNvPr>
          <p:cNvPicPr>
            <a:picLocks noChangeAspect="1"/>
          </p:cNvPicPr>
          <p:nvPr/>
        </p:nvPicPr>
        <p:blipFill>
          <a:blip r:embed="rId3"/>
          <a:stretch>
            <a:fillRect/>
          </a:stretch>
        </p:blipFill>
        <p:spPr>
          <a:xfrm>
            <a:off x="6997700" y="3500120"/>
            <a:ext cx="3581400" cy="2844800"/>
          </a:xfrm>
          <a:prstGeom prst="rect">
            <a:avLst/>
          </a:prstGeom>
        </p:spPr>
      </p:pic>
    </p:spTree>
    <p:extLst>
      <p:ext uri="{BB962C8B-B14F-4D97-AF65-F5344CB8AC3E}">
        <p14:creationId xmlns:p14="http://schemas.microsoft.com/office/powerpoint/2010/main" val="474053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3514-0715-2A80-02F0-ECA0DFD99E78}"/>
              </a:ext>
            </a:extLst>
          </p:cNvPr>
          <p:cNvSpPr>
            <a:spLocks noGrp="1"/>
          </p:cNvSpPr>
          <p:nvPr>
            <p:ph type="title"/>
          </p:nvPr>
        </p:nvSpPr>
        <p:spPr/>
        <p:txBody>
          <a:bodyPr/>
          <a:lstStyle/>
          <a:p>
            <a:r>
              <a:rPr lang="zh-CN" altLang="en-US" b="1" dirty="0">
                <a:hlinkClick r:id="rId2"/>
              </a:rPr>
              <a:t>饼图</a:t>
            </a:r>
            <a:endParaRPr kumimoji="1" lang="zh-CN" altLang="en-US" dirty="0"/>
          </a:p>
        </p:txBody>
      </p:sp>
      <p:pic>
        <p:nvPicPr>
          <p:cNvPr id="3" name="Picture 2">
            <a:extLst>
              <a:ext uri="{FF2B5EF4-FFF2-40B4-BE49-F238E27FC236}">
                <a16:creationId xmlns:a16="http://schemas.microsoft.com/office/drawing/2014/main" id="{C278BE75-15FC-6262-4ED4-F45164D93813}"/>
              </a:ext>
            </a:extLst>
          </p:cNvPr>
          <p:cNvPicPr>
            <a:picLocks noChangeAspect="1"/>
          </p:cNvPicPr>
          <p:nvPr/>
        </p:nvPicPr>
        <p:blipFill>
          <a:blip r:embed="rId3"/>
          <a:stretch>
            <a:fillRect/>
          </a:stretch>
        </p:blipFill>
        <p:spPr>
          <a:xfrm>
            <a:off x="1104900" y="1841500"/>
            <a:ext cx="6565900" cy="1587500"/>
          </a:xfrm>
          <a:prstGeom prst="rect">
            <a:avLst/>
          </a:prstGeom>
        </p:spPr>
      </p:pic>
      <p:pic>
        <p:nvPicPr>
          <p:cNvPr id="5" name="Picture 4">
            <a:extLst>
              <a:ext uri="{FF2B5EF4-FFF2-40B4-BE49-F238E27FC236}">
                <a16:creationId xmlns:a16="http://schemas.microsoft.com/office/drawing/2014/main" id="{83EE1B55-0A85-7BB1-C543-9C5759B92F1A}"/>
              </a:ext>
            </a:extLst>
          </p:cNvPr>
          <p:cNvPicPr>
            <a:picLocks noChangeAspect="1"/>
          </p:cNvPicPr>
          <p:nvPr/>
        </p:nvPicPr>
        <p:blipFill>
          <a:blip r:embed="rId4"/>
          <a:stretch>
            <a:fillRect/>
          </a:stretch>
        </p:blipFill>
        <p:spPr>
          <a:xfrm>
            <a:off x="6422390" y="3544563"/>
            <a:ext cx="3371850" cy="3030209"/>
          </a:xfrm>
          <a:prstGeom prst="rect">
            <a:avLst/>
          </a:prstGeom>
        </p:spPr>
      </p:pic>
    </p:spTree>
    <p:extLst>
      <p:ext uri="{BB962C8B-B14F-4D97-AF65-F5344CB8AC3E}">
        <p14:creationId xmlns:p14="http://schemas.microsoft.com/office/powerpoint/2010/main" val="1777570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D79F-88C4-73B8-FA63-3C77196F90A0}"/>
              </a:ext>
            </a:extLst>
          </p:cNvPr>
          <p:cNvSpPr>
            <a:spLocks noGrp="1"/>
          </p:cNvSpPr>
          <p:nvPr>
            <p:ph type="title"/>
          </p:nvPr>
        </p:nvSpPr>
        <p:spPr/>
        <p:txBody>
          <a:bodyPr/>
          <a:lstStyle/>
          <a:p>
            <a:r>
              <a:rPr lang="zh-CN" altLang="en-US" b="1" dirty="0">
                <a:hlinkClick r:id="rId2"/>
              </a:rPr>
              <a:t> 使用 </a:t>
            </a:r>
            <a:r>
              <a:rPr lang="en-US" b="1" dirty="0">
                <a:hlinkClick r:id="rId2"/>
              </a:rPr>
              <a:t>subplots </a:t>
            </a:r>
            <a:r>
              <a:rPr lang="zh-CN" altLang="en-US" b="1" dirty="0">
                <a:hlinkClick r:id="rId2"/>
              </a:rPr>
              <a:t>绘制多个子图</a:t>
            </a:r>
            <a:endParaRPr kumimoji="1" lang="zh-CN" altLang="en-US" dirty="0"/>
          </a:p>
        </p:txBody>
      </p:sp>
      <p:pic>
        <p:nvPicPr>
          <p:cNvPr id="3" name="Picture 2">
            <a:extLst>
              <a:ext uri="{FF2B5EF4-FFF2-40B4-BE49-F238E27FC236}">
                <a16:creationId xmlns:a16="http://schemas.microsoft.com/office/drawing/2014/main" id="{EAE2CE2D-BD50-D8B4-4319-AC1874507C70}"/>
              </a:ext>
            </a:extLst>
          </p:cNvPr>
          <p:cNvPicPr>
            <a:picLocks noChangeAspect="1"/>
          </p:cNvPicPr>
          <p:nvPr/>
        </p:nvPicPr>
        <p:blipFill>
          <a:blip r:embed="rId3"/>
          <a:stretch>
            <a:fillRect/>
          </a:stretch>
        </p:blipFill>
        <p:spPr>
          <a:xfrm>
            <a:off x="668020" y="1214759"/>
            <a:ext cx="5830570" cy="5567041"/>
          </a:xfrm>
          <a:prstGeom prst="rect">
            <a:avLst/>
          </a:prstGeom>
        </p:spPr>
      </p:pic>
      <p:pic>
        <p:nvPicPr>
          <p:cNvPr id="4" name="Picture 3">
            <a:extLst>
              <a:ext uri="{FF2B5EF4-FFF2-40B4-BE49-F238E27FC236}">
                <a16:creationId xmlns:a16="http://schemas.microsoft.com/office/drawing/2014/main" id="{9A919791-BE78-E274-964D-ED65B3723E35}"/>
              </a:ext>
            </a:extLst>
          </p:cNvPr>
          <p:cNvPicPr>
            <a:picLocks noChangeAspect="1"/>
          </p:cNvPicPr>
          <p:nvPr/>
        </p:nvPicPr>
        <p:blipFill>
          <a:blip r:embed="rId4"/>
          <a:stretch>
            <a:fillRect/>
          </a:stretch>
        </p:blipFill>
        <p:spPr>
          <a:xfrm>
            <a:off x="6407149" y="2861628"/>
            <a:ext cx="5324119" cy="2655251"/>
          </a:xfrm>
          <a:prstGeom prst="rect">
            <a:avLst/>
          </a:prstGeom>
        </p:spPr>
      </p:pic>
    </p:spTree>
    <p:extLst>
      <p:ext uri="{BB962C8B-B14F-4D97-AF65-F5344CB8AC3E}">
        <p14:creationId xmlns:p14="http://schemas.microsoft.com/office/powerpoint/2010/main" val="3598597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4617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DC6030-8312-4894-9236-1E15DA4F39C5}">
  <ds:schemaRefs>
    <ds:schemaRef ds:uri="http://schemas.microsoft.com/sharepoint/v3/contenttype/forms"/>
  </ds:schemaRefs>
</ds:datastoreItem>
</file>

<file path=customXml/itemProps3.xml><?xml version="1.0" encoding="utf-8"?>
<ds:datastoreItem xmlns:ds="http://schemas.openxmlformats.org/officeDocument/2006/customXml" ds:itemID="{BDBAFF00-647E-4627-9B6C-A5CDC1F32200}">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40262f94-9f35-4ac3-9a90-690165a166b7"/>
    <ds:schemaRef ds:uri="a4f35948-e619-41b3-aa29-22878b09cfd2"/>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23109</TotalTime>
  <Words>5035</Words>
  <Application>Microsoft Macintosh PowerPoint</Application>
  <PresentationFormat>Widescreen</PresentationFormat>
  <Paragraphs>391</Paragraphs>
  <Slides>47</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Cambria Math</vt:lpstr>
      <vt:lpstr>Consolas</vt:lpstr>
      <vt:lpstr>Euphemia</vt:lpstr>
      <vt:lpstr>Plantagenet Cherokee</vt:lpstr>
      <vt:lpstr>Times New Roman</vt:lpstr>
      <vt:lpstr>Wingdings</vt:lpstr>
      <vt:lpstr>Academic Literature 16x9</vt:lpstr>
      <vt:lpstr>第12章 数据可视化</vt:lpstr>
      <vt:lpstr>教学内容</vt:lpstr>
      <vt:lpstr>12.1 数据可视化概述</vt:lpstr>
      <vt:lpstr>12.1 交互式图表绘制包 Matplotlib</vt:lpstr>
      <vt:lpstr>12.1.1  认识 matplotlib</vt:lpstr>
      <vt:lpstr>12.1.2  matplotlib. pyplot模块</vt:lpstr>
      <vt:lpstr>12.1.2  matplotlib. pyplot模块</vt:lpstr>
      <vt:lpstr>12.1.2  matplotlib. pyplot模块——plot()函数</vt:lpstr>
      <vt:lpstr>12.1.2  matplotlib. pyplot模块——plot()函数</vt:lpstr>
      <vt:lpstr>12.1.2  matplotlib. pyplot模块——坐标取值范围</vt:lpstr>
      <vt:lpstr>12.1.2  matplotlib. pyplot模块——坐标刻度</vt:lpstr>
      <vt:lpstr>12.1.2  matplotlib. pyplot模块——添加网格线</vt:lpstr>
      <vt:lpstr>12.1.2  matplotlib. pyplot模块</vt:lpstr>
      <vt:lpstr>12.2 图表基本布局</vt:lpstr>
      <vt:lpstr>12.2.1 设置线条、颜色与标记</vt:lpstr>
      <vt:lpstr>12.2.1 设置线条、颜色与标记</vt:lpstr>
      <vt:lpstr>12.2.1 设置线条、颜色与标记</vt:lpstr>
      <vt:lpstr>12.2.1 设置线条、颜色与标记</vt:lpstr>
      <vt:lpstr>12.2.2 添加标签、注释与图例</vt:lpstr>
      <vt:lpstr>12.2.2 添加标签、注释与图例</vt:lpstr>
      <vt:lpstr>12.2.2 添加标签、注释与图例</vt:lpstr>
      <vt:lpstr>PowerPoint Presentation</vt:lpstr>
      <vt:lpstr>12.2.2 正确显示中文字体</vt:lpstr>
      <vt:lpstr>PowerPoint Presentation</vt:lpstr>
      <vt:lpstr>12.3 基础图表绘制</vt:lpstr>
      <vt:lpstr>12.3.1 折线图</vt:lpstr>
      <vt:lpstr>12.3.1 折线图</vt:lpstr>
      <vt:lpstr>12.3.1 折线图</vt:lpstr>
      <vt:lpstr>12.3.1 折线图</vt:lpstr>
      <vt:lpstr>12.3.2 柱状图</vt:lpstr>
      <vt:lpstr>12.3.2 柱状图</vt:lpstr>
      <vt:lpstr>12.3.2 柱状图</vt:lpstr>
      <vt:lpstr>12.3.2 柱状图</vt:lpstr>
      <vt:lpstr>12.3.3 直方图</vt:lpstr>
      <vt:lpstr>12.3.3 直方图</vt:lpstr>
      <vt:lpstr>12.3.3 直方图</vt:lpstr>
      <vt:lpstr>12.3.4 饼图</vt:lpstr>
      <vt:lpstr>12.3.4 饼图</vt:lpstr>
      <vt:lpstr>12.3.4 饼图</vt:lpstr>
      <vt:lpstr>12.3.5 散点图</vt:lpstr>
      <vt:lpstr>12.3.5 散点图</vt:lpstr>
      <vt:lpstr>12.3.5 散点图</vt:lpstr>
      <vt:lpstr>12.3.5 散点图</vt:lpstr>
      <vt:lpstr>PowerPoint Presentation</vt:lpstr>
      <vt:lpstr>饼图</vt:lpstr>
      <vt:lpstr> 使用 subplots 绘制多个子图</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raziya ahat</dc:creator>
  <cp:lastModifiedBy>Hao Fan</cp:lastModifiedBy>
  <cp:revision>226</cp:revision>
  <dcterms:created xsi:type="dcterms:W3CDTF">2014-04-17T22:28:38Z</dcterms:created>
  <dcterms:modified xsi:type="dcterms:W3CDTF">2026-02-26T08:34:43Z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