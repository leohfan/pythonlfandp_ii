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7"/>
  </p:notesMasterIdLst>
  <p:handoutMasterIdLst>
    <p:handoutMasterId r:id="rId78"/>
  </p:handoutMasterIdLst>
  <p:sldIdLst>
    <p:sldId id="256" r:id="rId5"/>
    <p:sldId id="346" r:id="rId6"/>
    <p:sldId id="261" r:id="rId7"/>
    <p:sldId id="257" r:id="rId8"/>
    <p:sldId id="269" r:id="rId9"/>
    <p:sldId id="379" r:id="rId10"/>
    <p:sldId id="380" r:id="rId11"/>
    <p:sldId id="278" r:id="rId12"/>
    <p:sldId id="280" r:id="rId13"/>
    <p:sldId id="285" r:id="rId14"/>
    <p:sldId id="290" r:id="rId15"/>
    <p:sldId id="295" r:id="rId16"/>
    <p:sldId id="381" r:id="rId17"/>
    <p:sldId id="298" r:id="rId18"/>
    <p:sldId id="391" r:id="rId19"/>
    <p:sldId id="384" r:id="rId20"/>
    <p:sldId id="392" r:id="rId21"/>
    <p:sldId id="383" r:id="rId22"/>
    <p:sldId id="385" r:id="rId23"/>
    <p:sldId id="304" r:id="rId24"/>
    <p:sldId id="305" r:id="rId25"/>
    <p:sldId id="307" r:id="rId26"/>
    <p:sldId id="386" r:id="rId27"/>
    <p:sldId id="393" r:id="rId28"/>
    <p:sldId id="394" r:id="rId29"/>
    <p:sldId id="313" r:id="rId30"/>
    <p:sldId id="387" r:id="rId31"/>
    <p:sldId id="316" r:id="rId32"/>
    <p:sldId id="317" r:id="rId33"/>
    <p:sldId id="318" r:id="rId34"/>
    <p:sldId id="320" r:id="rId35"/>
    <p:sldId id="322" r:id="rId36"/>
    <p:sldId id="325" r:id="rId37"/>
    <p:sldId id="323" r:id="rId38"/>
    <p:sldId id="324" r:id="rId39"/>
    <p:sldId id="326" r:id="rId40"/>
    <p:sldId id="388" r:id="rId41"/>
    <p:sldId id="328" r:id="rId42"/>
    <p:sldId id="329" r:id="rId43"/>
    <p:sldId id="395" r:id="rId44"/>
    <p:sldId id="396" r:id="rId45"/>
    <p:sldId id="331" r:id="rId46"/>
    <p:sldId id="389" r:id="rId47"/>
    <p:sldId id="397" r:id="rId48"/>
    <p:sldId id="352" r:id="rId49"/>
    <p:sldId id="353" r:id="rId50"/>
    <p:sldId id="390" r:id="rId51"/>
    <p:sldId id="354" r:id="rId52"/>
    <p:sldId id="355" r:id="rId53"/>
    <p:sldId id="398" r:id="rId54"/>
    <p:sldId id="356" r:id="rId55"/>
    <p:sldId id="359" r:id="rId56"/>
    <p:sldId id="360" r:id="rId57"/>
    <p:sldId id="361" r:id="rId58"/>
    <p:sldId id="363" r:id="rId59"/>
    <p:sldId id="362" r:id="rId60"/>
    <p:sldId id="364" r:id="rId61"/>
    <p:sldId id="365" r:id="rId62"/>
    <p:sldId id="366" r:id="rId63"/>
    <p:sldId id="367" r:id="rId64"/>
    <p:sldId id="368" r:id="rId65"/>
    <p:sldId id="369" r:id="rId66"/>
    <p:sldId id="370" r:id="rId67"/>
    <p:sldId id="371" r:id="rId68"/>
    <p:sldId id="372" r:id="rId69"/>
    <p:sldId id="373" r:id="rId70"/>
    <p:sldId id="374" r:id="rId71"/>
    <p:sldId id="375" r:id="rId72"/>
    <p:sldId id="376" r:id="rId73"/>
    <p:sldId id="377" r:id="rId74"/>
    <p:sldId id="378" r:id="rId75"/>
    <p:sldId id="351"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81" autoAdjust="0"/>
    <p:restoredTop sz="75890" autoAdjust="0"/>
  </p:normalViewPr>
  <p:slideViewPr>
    <p:cSldViewPr snapToGrid="0" showGuides="1">
      <p:cViewPr varScale="1">
        <p:scale>
          <a:sx n="95" d="100"/>
          <a:sy n="95" d="100"/>
        </p:scale>
        <p:origin x="872" y="176"/>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dirty="0">
                <a:cs typeface="Arial" pitchFamily="34" charset="0"/>
              </a:rPr>
              <a:t>NOTE: </a:t>
            </a:r>
            <a:r>
              <a:rPr lang="en-US" altLang="zh-CN" sz="1200" dirty="0">
                <a:cs typeface="Arial" pitchFamily="34" charset="0"/>
              </a:rPr>
              <a:t>Want a different image on this slide? Select the picture and delete it. </a:t>
            </a:r>
            <a:r>
              <a:rPr lang="en-US" altLang="zh-CN" sz="1200">
                <a:cs typeface="Arial" pitchFamily="34" charset="0"/>
              </a:rPr>
              <a:t>Now click the Pictures icon in the placeholder to insert your own image.</a:t>
            </a:r>
            <a:endParaRPr lang="en-US" altLang="zh-CN" sz="1200" dirty="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646514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2750091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a:t>
            </a:fld>
            <a:endParaRPr lang="en-US"/>
          </a:p>
        </p:txBody>
      </p:sp>
    </p:spTree>
    <p:extLst>
      <p:ext uri="{BB962C8B-B14F-4D97-AF65-F5344CB8AC3E}">
        <p14:creationId xmlns:p14="http://schemas.microsoft.com/office/powerpoint/2010/main" val="3796805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a:t>
            </a:fld>
            <a:endParaRPr lang="en-US"/>
          </a:p>
        </p:txBody>
      </p:sp>
    </p:spTree>
    <p:extLst>
      <p:ext uri="{BB962C8B-B14F-4D97-AF65-F5344CB8AC3E}">
        <p14:creationId xmlns:p14="http://schemas.microsoft.com/office/powerpoint/2010/main" val="3456226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a:p>
        </p:txBody>
      </p:sp>
    </p:spTree>
    <p:extLst>
      <p:ext uri="{BB962C8B-B14F-4D97-AF65-F5344CB8AC3E}">
        <p14:creationId xmlns:p14="http://schemas.microsoft.com/office/powerpoint/2010/main" val="3740405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158454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10</a:t>
            </a:fld>
            <a:endParaRPr lang="en-US"/>
          </a:p>
        </p:txBody>
      </p:sp>
    </p:spTree>
    <p:extLst>
      <p:ext uri="{BB962C8B-B14F-4D97-AF65-F5344CB8AC3E}">
        <p14:creationId xmlns:p14="http://schemas.microsoft.com/office/powerpoint/2010/main" val="2056853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11</a:t>
            </a:fld>
            <a:endParaRPr lang="en-US"/>
          </a:p>
        </p:txBody>
      </p:sp>
    </p:spTree>
    <p:extLst>
      <p:ext uri="{BB962C8B-B14F-4D97-AF65-F5344CB8AC3E}">
        <p14:creationId xmlns:p14="http://schemas.microsoft.com/office/powerpoint/2010/main" val="174932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a:p>
        </p:txBody>
      </p:sp>
    </p:spTree>
    <p:extLst>
      <p:ext uri="{BB962C8B-B14F-4D97-AF65-F5344CB8AC3E}">
        <p14:creationId xmlns:p14="http://schemas.microsoft.com/office/powerpoint/2010/main" val="2085612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1197723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338B-9A8D-EE11-4B5F-9518C14D4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3AE63-A825-C4C5-8900-896C91272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262EE-DE2D-284E-35E0-1D9F96E931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1A722A-4D42-9872-17C3-40FA5677A514}"/>
              </a:ext>
            </a:extLst>
          </p:cNvPr>
          <p:cNvSpPr>
            <a:spLocks noGrp="1"/>
          </p:cNvSpPr>
          <p:nvPr>
            <p:ph type="sldNum" sz="quarter" idx="10"/>
          </p:nvPr>
        </p:nvSpPr>
        <p:spPr/>
        <p:txBody>
          <a:bodyPr/>
          <a:lstStyle/>
          <a:p>
            <a:fld id="{0A3C37BE-C303-496D-B5CD-85F2937540FC}" type="slidenum">
              <a:rPr lang="en-US"/>
              <a:t>15</a:t>
            </a:fld>
            <a:endParaRPr lang="en-US"/>
          </a:p>
        </p:txBody>
      </p:sp>
    </p:spTree>
    <p:extLst>
      <p:ext uri="{BB962C8B-B14F-4D97-AF65-F5344CB8AC3E}">
        <p14:creationId xmlns:p14="http://schemas.microsoft.com/office/powerpoint/2010/main" val="1571062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6C1F8-02C3-16F6-B3AD-EB5B62350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77FAC-5BD1-3234-BB7D-E5E6E00D3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10A6A-3290-6F74-2EB0-336B198701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BCD9BA-6AFE-BE43-0218-5D6C87F31952}"/>
              </a:ext>
            </a:extLst>
          </p:cNvPr>
          <p:cNvSpPr>
            <a:spLocks noGrp="1"/>
          </p:cNvSpPr>
          <p:nvPr>
            <p:ph type="sldNum" sz="quarter" idx="10"/>
          </p:nvPr>
        </p:nvSpPr>
        <p:spPr/>
        <p:txBody>
          <a:bodyPr/>
          <a:lstStyle/>
          <a:p>
            <a:fld id="{0A3C37BE-C303-496D-B5CD-85F2937540FC}" type="slidenum">
              <a:rPr lang="en-US"/>
              <a:t>16</a:t>
            </a:fld>
            <a:endParaRPr lang="en-US"/>
          </a:p>
        </p:txBody>
      </p:sp>
    </p:spTree>
    <p:extLst>
      <p:ext uri="{BB962C8B-B14F-4D97-AF65-F5344CB8AC3E}">
        <p14:creationId xmlns:p14="http://schemas.microsoft.com/office/powerpoint/2010/main" val="1632694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20</a:t>
            </a:fld>
            <a:endParaRPr lang="en-US"/>
          </a:p>
        </p:txBody>
      </p:sp>
    </p:spTree>
    <p:extLst>
      <p:ext uri="{BB962C8B-B14F-4D97-AF65-F5344CB8AC3E}">
        <p14:creationId xmlns:p14="http://schemas.microsoft.com/office/powerpoint/2010/main" val="4255183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a:p>
        </p:txBody>
      </p:sp>
    </p:spTree>
    <p:extLst>
      <p:ext uri="{BB962C8B-B14F-4D97-AF65-F5344CB8AC3E}">
        <p14:creationId xmlns:p14="http://schemas.microsoft.com/office/powerpoint/2010/main" val="3689705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2962265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0FF93-4AD7-4887-1EA6-F72C31DCB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6F016-B496-A526-BD1C-FD33471DD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B9DC5-3DE9-2699-5FDC-1767E223A6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86395-4121-E683-C8E3-1BE1D4FD8B38}"/>
              </a:ext>
            </a:extLst>
          </p:cNvPr>
          <p:cNvSpPr>
            <a:spLocks noGrp="1"/>
          </p:cNvSpPr>
          <p:nvPr>
            <p:ph type="sldNum" sz="quarter" idx="10"/>
          </p:nvPr>
        </p:nvSpPr>
        <p:spPr/>
        <p:txBody>
          <a:bodyPr/>
          <a:lstStyle/>
          <a:p>
            <a:fld id="{0A3C37BE-C303-496D-B5CD-85F2937540FC}" type="slidenum">
              <a:rPr lang="en-US"/>
              <a:t>24</a:t>
            </a:fld>
            <a:endParaRPr lang="en-US"/>
          </a:p>
        </p:txBody>
      </p:sp>
    </p:spTree>
    <p:extLst>
      <p:ext uri="{BB962C8B-B14F-4D97-AF65-F5344CB8AC3E}">
        <p14:creationId xmlns:p14="http://schemas.microsoft.com/office/powerpoint/2010/main" val="2828553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26</a:t>
            </a:fld>
            <a:endParaRPr lang="en-US"/>
          </a:p>
        </p:txBody>
      </p:sp>
    </p:spTree>
    <p:extLst>
      <p:ext uri="{BB962C8B-B14F-4D97-AF65-F5344CB8AC3E}">
        <p14:creationId xmlns:p14="http://schemas.microsoft.com/office/powerpoint/2010/main" val="574661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3637319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2982535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a:p>
        </p:txBody>
      </p:sp>
    </p:spTree>
    <p:extLst>
      <p:ext uri="{BB962C8B-B14F-4D97-AF65-F5344CB8AC3E}">
        <p14:creationId xmlns:p14="http://schemas.microsoft.com/office/powerpoint/2010/main" val="3699902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31</a:t>
            </a:fld>
            <a:endParaRPr lang="en-US"/>
          </a:p>
        </p:txBody>
      </p:sp>
    </p:spTree>
    <p:extLst>
      <p:ext uri="{BB962C8B-B14F-4D97-AF65-F5344CB8AC3E}">
        <p14:creationId xmlns:p14="http://schemas.microsoft.com/office/powerpoint/2010/main" val="3080573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a:p>
        </p:txBody>
      </p:sp>
    </p:spTree>
    <p:extLst>
      <p:ext uri="{BB962C8B-B14F-4D97-AF65-F5344CB8AC3E}">
        <p14:creationId xmlns:p14="http://schemas.microsoft.com/office/powerpoint/2010/main" val="956563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21552831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34</a:t>
            </a:fld>
            <a:endParaRPr lang="en-US"/>
          </a:p>
        </p:txBody>
      </p:sp>
    </p:spTree>
    <p:extLst>
      <p:ext uri="{BB962C8B-B14F-4D97-AF65-F5344CB8AC3E}">
        <p14:creationId xmlns:p14="http://schemas.microsoft.com/office/powerpoint/2010/main" val="2472233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a:p>
        </p:txBody>
      </p:sp>
    </p:spTree>
    <p:extLst>
      <p:ext uri="{BB962C8B-B14F-4D97-AF65-F5344CB8AC3E}">
        <p14:creationId xmlns:p14="http://schemas.microsoft.com/office/powerpoint/2010/main" val="3821662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a:p>
        </p:txBody>
      </p:sp>
    </p:spTree>
    <p:extLst>
      <p:ext uri="{BB962C8B-B14F-4D97-AF65-F5344CB8AC3E}">
        <p14:creationId xmlns:p14="http://schemas.microsoft.com/office/powerpoint/2010/main" val="1418092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38</a:t>
            </a:fld>
            <a:endParaRPr lang="en-US"/>
          </a:p>
        </p:txBody>
      </p:sp>
    </p:spTree>
    <p:extLst>
      <p:ext uri="{BB962C8B-B14F-4D97-AF65-F5344CB8AC3E}">
        <p14:creationId xmlns:p14="http://schemas.microsoft.com/office/powerpoint/2010/main" val="2268774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a:p>
        </p:txBody>
      </p:sp>
    </p:spTree>
    <p:extLst>
      <p:ext uri="{BB962C8B-B14F-4D97-AF65-F5344CB8AC3E}">
        <p14:creationId xmlns:p14="http://schemas.microsoft.com/office/powerpoint/2010/main" val="31475915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21670672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3020147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19815542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E599-CD05-8066-EF16-B485D9BE4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E165B-4F0E-9BF7-3AAB-606D30F71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C2EC9-88AB-9FBC-962C-322171188D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A44F66-3A8B-C8D9-4C21-2EDA4AF635B0}"/>
              </a:ext>
            </a:extLst>
          </p:cNvPr>
          <p:cNvSpPr>
            <a:spLocks noGrp="1"/>
          </p:cNvSpPr>
          <p:nvPr>
            <p:ph type="sldNum" sz="quarter" idx="10"/>
          </p:nvPr>
        </p:nvSpPr>
        <p:spPr/>
        <p:txBody>
          <a:bodyPr/>
          <a:lstStyle/>
          <a:p>
            <a:fld id="{0A3C37BE-C303-496D-B5CD-85F2937540FC}" type="slidenum">
              <a:rPr lang="en-US"/>
              <a:t>50</a:t>
            </a:fld>
            <a:endParaRPr lang="en-US"/>
          </a:p>
        </p:txBody>
      </p:sp>
    </p:spTree>
    <p:extLst>
      <p:ext uri="{BB962C8B-B14F-4D97-AF65-F5344CB8AC3E}">
        <p14:creationId xmlns:p14="http://schemas.microsoft.com/office/powerpoint/2010/main" val="37080507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51</a:t>
            </a:fld>
            <a:endParaRPr lang="en-US"/>
          </a:p>
        </p:txBody>
      </p:sp>
    </p:spTree>
    <p:extLst>
      <p:ext uri="{BB962C8B-B14F-4D97-AF65-F5344CB8AC3E}">
        <p14:creationId xmlns:p14="http://schemas.microsoft.com/office/powerpoint/2010/main" val="41910513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52</a:t>
            </a:fld>
            <a:endParaRPr lang="en-US"/>
          </a:p>
        </p:txBody>
      </p:sp>
    </p:spTree>
    <p:extLst>
      <p:ext uri="{BB962C8B-B14F-4D97-AF65-F5344CB8AC3E}">
        <p14:creationId xmlns:p14="http://schemas.microsoft.com/office/powerpoint/2010/main" val="29585580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53</a:t>
            </a:fld>
            <a:endParaRPr lang="en-US"/>
          </a:p>
        </p:txBody>
      </p:sp>
    </p:spTree>
    <p:extLst>
      <p:ext uri="{BB962C8B-B14F-4D97-AF65-F5344CB8AC3E}">
        <p14:creationId xmlns:p14="http://schemas.microsoft.com/office/powerpoint/2010/main" val="19212899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54</a:t>
            </a:fld>
            <a:endParaRPr lang="en-US"/>
          </a:p>
        </p:txBody>
      </p:sp>
    </p:spTree>
    <p:extLst>
      <p:ext uri="{BB962C8B-B14F-4D97-AF65-F5344CB8AC3E}">
        <p14:creationId xmlns:p14="http://schemas.microsoft.com/office/powerpoint/2010/main" val="40423434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55</a:t>
            </a:fld>
            <a:endParaRPr lang="en-US"/>
          </a:p>
        </p:txBody>
      </p:sp>
    </p:spTree>
    <p:extLst>
      <p:ext uri="{BB962C8B-B14F-4D97-AF65-F5344CB8AC3E}">
        <p14:creationId xmlns:p14="http://schemas.microsoft.com/office/powerpoint/2010/main" val="10362480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56</a:t>
            </a:fld>
            <a:endParaRPr lang="en-US"/>
          </a:p>
        </p:txBody>
      </p:sp>
    </p:spTree>
    <p:extLst>
      <p:ext uri="{BB962C8B-B14F-4D97-AF65-F5344CB8AC3E}">
        <p14:creationId xmlns:p14="http://schemas.microsoft.com/office/powerpoint/2010/main" val="29367463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57</a:t>
            </a:fld>
            <a:endParaRPr lang="en-US"/>
          </a:p>
        </p:txBody>
      </p:sp>
    </p:spTree>
    <p:extLst>
      <p:ext uri="{BB962C8B-B14F-4D97-AF65-F5344CB8AC3E}">
        <p14:creationId xmlns:p14="http://schemas.microsoft.com/office/powerpoint/2010/main" val="3168947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58</a:t>
            </a:fld>
            <a:endParaRPr lang="en-US"/>
          </a:p>
        </p:txBody>
      </p:sp>
    </p:spTree>
    <p:extLst>
      <p:ext uri="{BB962C8B-B14F-4D97-AF65-F5344CB8AC3E}">
        <p14:creationId xmlns:p14="http://schemas.microsoft.com/office/powerpoint/2010/main" val="9895980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59</a:t>
            </a:fld>
            <a:endParaRPr lang="en-US"/>
          </a:p>
        </p:txBody>
      </p:sp>
    </p:spTree>
    <p:extLst>
      <p:ext uri="{BB962C8B-B14F-4D97-AF65-F5344CB8AC3E}">
        <p14:creationId xmlns:p14="http://schemas.microsoft.com/office/powerpoint/2010/main" val="36280367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60</a:t>
            </a:fld>
            <a:endParaRPr lang="en-US"/>
          </a:p>
        </p:txBody>
      </p:sp>
    </p:spTree>
    <p:extLst>
      <p:ext uri="{BB962C8B-B14F-4D97-AF65-F5344CB8AC3E}">
        <p14:creationId xmlns:p14="http://schemas.microsoft.com/office/powerpoint/2010/main" val="3600105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523037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62</a:t>
            </a:fld>
            <a:endParaRPr lang="en-US"/>
          </a:p>
        </p:txBody>
      </p:sp>
    </p:spTree>
    <p:extLst>
      <p:ext uri="{BB962C8B-B14F-4D97-AF65-F5344CB8AC3E}">
        <p14:creationId xmlns:p14="http://schemas.microsoft.com/office/powerpoint/2010/main" val="24982791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extLst>
      <p:ext uri="{BB962C8B-B14F-4D97-AF65-F5344CB8AC3E}">
        <p14:creationId xmlns:p14="http://schemas.microsoft.com/office/powerpoint/2010/main" val="21361551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64</a:t>
            </a:fld>
            <a:endParaRPr lang="en-US"/>
          </a:p>
        </p:txBody>
      </p:sp>
    </p:spTree>
    <p:extLst>
      <p:ext uri="{BB962C8B-B14F-4D97-AF65-F5344CB8AC3E}">
        <p14:creationId xmlns:p14="http://schemas.microsoft.com/office/powerpoint/2010/main" val="3094983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65</a:t>
            </a:fld>
            <a:endParaRPr lang="en-US"/>
          </a:p>
        </p:txBody>
      </p:sp>
    </p:spTree>
    <p:extLst>
      <p:ext uri="{BB962C8B-B14F-4D97-AF65-F5344CB8AC3E}">
        <p14:creationId xmlns:p14="http://schemas.microsoft.com/office/powerpoint/2010/main" val="28907722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66</a:t>
            </a:fld>
            <a:endParaRPr lang="en-US"/>
          </a:p>
        </p:txBody>
      </p:sp>
    </p:spTree>
    <p:extLst>
      <p:ext uri="{BB962C8B-B14F-4D97-AF65-F5344CB8AC3E}">
        <p14:creationId xmlns:p14="http://schemas.microsoft.com/office/powerpoint/2010/main" val="25790377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67</a:t>
            </a:fld>
            <a:endParaRPr lang="en-US"/>
          </a:p>
        </p:txBody>
      </p:sp>
    </p:spTree>
    <p:extLst>
      <p:ext uri="{BB962C8B-B14F-4D97-AF65-F5344CB8AC3E}">
        <p14:creationId xmlns:p14="http://schemas.microsoft.com/office/powerpoint/2010/main" val="9617603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68</a:t>
            </a:fld>
            <a:endParaRPr lang="en-US"/>
          </a:p>
        </p:txBody>
      </p:sp>
    </p:spTree>
    <p:extLst>
      <p:ext uri="{BB962C8B-B14F-4D97-AF65-F5344CB8AC3E}">
        <p14:creationId xmlns:p14="http://schemas.microsoft.com/office/powerpoint/2010/main" val="13926206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69</a:t>
            </a:fld>
            <a:endParaRPr lang="en-US"/>
          </a:p>
        </p:txBody>
      </p:sp>
    </p:spTree>
    <p:extLst>
      <p:ext uri="{BB962C8B-B14F-4D97-AF65-F5344CB8AC3E}">
        <p14:creationId xmlns:p14="http://schemas.microsoft.com/office/powerpoint/2010/main" val="26192987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70</a:t>
            </a:fld>
            <a:endParaRPr lang="en-US"/>
          </a:p>
        </p:txBody>
      </p:sp>
    </p:spTree>
    <p:extLst>
      <p:ext uri="{BB962C8B-B14F-4D97-AF65-F5344CB8AC3E}">
        <p14:creationId xmlns:p14="http://schemas.microsoft.com/office/powerpoint/2010/main" val="17198256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71</a:t>
            </a:fld>
            <a:endParaRPr lang="en-US"/>
          </a:p>
        </p:txBody>
      </p:sp>
    </p:spTree>
    <p:extLst>
      <p:ext uri="{BB962C8B-B14F-4D97-AF65-F5344CB8AC3E}">
        <p14:creationId xmlns:p14="http://schemas.microsoft.com/office/powerpoint/2010/main" val="6353748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72</a:t>
            </a:fld>
            <a:endParaRPr lang="en-US"/>
          </a:p>
        </p:txBody>
      </p:sp>
    </p:spTree>
    <p:extLst>
      <p:ext uri="{BB962C8B-B14F-4D97-AF65-F5344CB8AC3E}">
        <p14:creationId xmlns:p14="http://schemas.microsoft.com/office/powerpoint/2010/main" val="8020310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812-&#21452;&#31471;&#38431;&#21015;"/><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813-&#26522;&#20030;&#31867;&#22411;"/><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009402" y="2292094"/>
            <a:ext cx="5829547" cy="2219691"/>
          </a:xfrm>
        </p:spPr>
        <p:txBody>
          <a:bodyPr anchor="ctr"/>
          <a:lstStyle/>
          <a:p>
            <a:pPr>
              <a:lnSpc>
                <a:spcPct val="150000"/>
              </a:lnSpc>
            </a:pPr>
            <a:r>
              <a:rPr lang="zh-CN" altLang="en-US" b="1" dirty="0"/>
              <a:t>第</a:t>
            </a:r>
            <a:r>
              <a:rPr lang="en-US" altLang="zh-CN" b="1" dirty="0"/>
              <a:t>8</a:t>
            </a:r>
            <a:r>
              <a:rPr lang="zh-CN" altLang="en-US" b="1"/>
              <a:t>章</a:t>
            </a:r>
            <a:br>
              <a:rPr lang="en-US" altLang="zh-CN" b="1" dirty="0"/>
            </a:br>
            <a:r>
              <a:rPr lang="en-US" altLang="zh-CN" b="1" cap="none" dirty="0"/>
              <a:t>Python </a:t>
            </a:r>
            <a:r>
              <a:rPr lang="zh-CN" altLang="en-US" b="1" cap="none" dirty="0"/>
              <a:t>常用标准库</a:t>
            </a:r>
            <a:endParaRPr lang="en-US" b="1" dirty="0"/>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en-US" dirty="0">
                <a:latin typeface="Palatino Linotype" panose="02040502050505030304" pitchFamily="18" charset="0"/>
                <a:ea typeface="宋体" panose="02010600030101010101" pitchFamily="2" charset="-122"/>
              </a:rPr>
              <a:t>教学内容</a:t>
            </a:r>
            <a:endParaRPr lang="en-US" dirty="0">
              <a:latin typeface="Palatino Linotype" panose="02040502050505030304" pitchFamily="18" charset="0"/>
              <a:ea typeface="宋体" panose="02010600030101010101" pitchFamily="2" charset="-122"/>
            </a:endParaRPr>
          </a:p>
        </p:txBody>
      </p:sp>
      <p:pic>
        <p:nvPicPr>
          <p:cNvPr id="4" name="Picture Placeholder 4" title="Closeup of books on shelves">
            <a:extLst>
              <a:ext uri="{FF2B5EF4-FFF2-40B4-BE49-F238E27FC236}">
                <a16:creationId xmlns:a16="http://schemas.microsoft.com/office/drawing/2014/main" id="{7181BEA0-57E7-4D42-B397-6939B44F50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871411" y="1600200"/>
            <a:ext cx="5214171" cy="3838074"/>
          </a:xfrm>
          <a:prstGeom prst="rect">
            <a:avLst/>
          </a:prstGeom>
        </p:spPr>
      </p:pic>
      <p:sp>
        <p:nvSpPr>
          <p:cNvPr id="5" name="Title 1"/>
          <p:cNvSpPr>
            <a:spLocks noGrp="1"/>
          </p:cNvSpPr>
          <p:nvPr>
            <p:ph idx="1"/>
          </p:nvPr>
        </p:nvSpPr>
        <p:spPr/>
        <p:txBody>
          <a:bodyPr>
            <a:normAutofit fontScale="92500" lnSpcReduction="20000"/>
          </a:bodyPr>
          <a:lstStyle/>
          <a:p>
            <a:pPr marL="0" indent="0">
              <a:lnSpc>
                <a:spcPct val="150000"/>
              </a:lnSpc>
              <a:buNone/>
            </a:pPr>
            <a:r>
              <a:rPr lang="en-US" altLang="zh-CN" sz="2400" b="1" dirty="0"/>
              <a:t>8.1 </a:t>
            </a:r>
            <a:r>
              <a:rPr lang="zh-CN" altLang="en-US" sz="2400" b="1" cap="none" dirty="0"/>
              <a:t>时间模块</a:t>
            </a:r>
            <a:endParaRPr lang="en-US" altLang="zh-CN" sz="2400" b="1" dirty="0"/>
          </a:p>
          <a:p>
            <a:pPr marL="0" indent="0">
              <a:lnSpc>
                <a:spcPct val="150000"/>
              </a:lnSpc>
              <a:buNone/>
            </a:pPr>
            <a:r>
              <a:rPr lang="en-US" altLang="zh-CN" sz="2400" b="1" dirty="0"/>
              <a:t>8.2 </a:t>
            </a:r>
            <a:r>
              <a:rPr lang="zh-CN" altLang="en-US" sz="2400" b="1" cap="none" dirty="0"/>
              <a:t>数学模块</a:t>
            </a:r>
            <a:endParaRPr lang="en-US" altLang="zh-CN" sz="2400" b="1" cap="none" dirty="0"/>
          </a:p>
          <a:p>
            <a:pPr marL="0" indent="0">
              <a:lnSpc>
                <a:spcPct val="150000"/>
              </a:lnSpc>
              <a:buNone/>
            </a:pPr>
            <a:r>
              <a:rPr lang="en-US" altLang="zh-CN" sz="2400" b="1" dirty="0"/>
              <a:t>8.3 </a:t>
            </a:r>
            <a:r>
              <a:rPr lang="zh-CN" altLang="en-US" sz="2400" b="1" cap="none" dirty="0"/>
              <a:t>绘图模块</a:t>
            </a:r>
            <a:endParaRPr lang="en-US" altLang="zh-CN" sz="2400" b="1" cap="none" dirty="0"/>
          </a:p>
          <a:p>
            <a:pPr marL="0" indent="0">
              <a:lnSpc>
                <a:spcPct val="150000"/>
              </a:lnSpc>
              <a:buNone/>
            </a:pPr>
            <a:r>
              <a:rPr lang="en-US" altLang="zh-CN" sz="2400" b="1" dirty="0"/>
              <a:t>8.4</a:t>
            </a:r>
            <a:r>
              <a:rPr lang="zh-CN" altLang="en-US" sz="2400" b="1" dirty="0"/>
              <a:t> 操作系统</a:t>
            </a:r>
            <a:r>
              <a:rPr lang="zh-CN" altLang="en-US" sz="2400" b="1" cap="none" dirty="0"/>
              <a:t>模块</a:t>
            </a:r>
            <a:endParaRPr lang="en-US" altLang="zh-CN" sz="2400" b="1" cap="none" dirty="0"/>
          </a:p>
          <a:p>
            <a:pPr marL="0" indent="0">
              <a:lnSpc>
                <a:spcPct val="150000"/>
              </a:lnSpc>
              <a:buNone/>
            </a:pPr>
            <a:r>
              <a:rPr lang="en-US" altLang="zh-CN" sz="2400" b="1" dirty="0"/>
              <a:t>8.5 </a:t>
            </a:r>
            <a:r>
              <a:rPr lang="zh-CN" altLang="en-US" sz="2400" b="1" dirty="0"/>
              <a:t>系统</a:t>
            </a:r>
            <a:r>
              <a:rPr lang="zh-CN" altLang="en-US" sz="2400" b="1" cap="none" dirty="0"/>
              <a:t>模块</a:t>
            </a:r>
            <a:endParaRPr lang="en-US" altLang="zh-CN" sz="2400" b="1" cap="none" dirty="0"/>
          </a:p>
          <a:p>
            <a:pPr marL="0" indent="0">
              <a:lnSpc>
                <a:spcPct val="150000"/>
              </a:lnSpc>
              <a:buNone/>
            </a:pPr>
            <a:r>
              <a:rPr lang="en-US" altLang="zh-CN" sz="2400" b="1" dirty="0"/>
              <a:t>8.6 </a:t>
            </a:r>
            <a:r>
              <a:rPr lang="zh-CN" altLang="en-US" sz="2400" b="1" dirty="0"/>
              <a:t>统计</a:t>
            </a:r>
            <a:r>
              <a:rPr lang="zh-CN" altLang="en-US" sz="2400" b="1" cap="none" dirty="0"/>
              <a:t>模块</a:t>
            </a:r>
            <a:endParaRPr lang="en-US" altLang="zh-CN" sz="2400" b="1" cap="none" dirty="0"/>
          </a:p>
          <a:p>
            <a:pPr marL="0" indent="0">
              <a:lnSpc>
                <a:spcPct val="150000"/>
              </a:lnSpc>
              <a:buNone/>
            </a:pPr>
            <a:r>
              <a:rPr lang="en-US" altLang="zh-CN" sz="2400" b="1" dirty="0"/>
              <a:t>8.7</a:t>
            </a:r>
            <a:r>
              <a:rPr lang="zh-CN" altLang="en-US" sz="2400" b="1" dirty="0"/>
              <a:t> 集合模块</a:t>
            </a:r>
            <a:endParaRPr lang="en-US" altLang="zh-CN" sz="2400" b="1" cap="none" dirty="0"/>
          </a:p>
          <a:p>
            <a:pPr marL="0" indent="0">
              <a:lnSpc>
                <a:spcPct val="150000"/>
              </a:lnSpc>
              <a:buNone/>
            </a:pPr>
            <a:endParaRPr lang="en-US" sz="2400" b="1" cap="none" dirty="0"/>
          </a:p>
        </p:txBody>
      </p:sp>
    </p:spTree>
    <p:extLst>
      <p:ext uri="{BB962C8B-B14F-4D97-AF65-F5344CB8AC3E}">
        <p14:creationId xmlns:p14="http://schemas.microsoft.com/office/powerpoint/2010/main" val="225155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dirty="0"/>
              <a:t>8.1 </a:t>
            </a:r>
            <a:r>
              <a:rPr lang="zh-CN" altLang="en-US" dirty="0"/>
              <a:t>时间模块</a:t>
            </a:r>
            <a:endParaRPr lang="en-US" dirty="0"/>
          </a:p>
        </p:txBody>
      </p:sp>
      <p:sp>
        <p:nvSpPr>
          <p:cNvPr id="6" name="左大括号 5"/>
          <p:cNvSpPr/>
          <p:nvPr/>
        </p:nvSpPr>
        <p:spPr>
          <a:xfrm>
            <a:off x="4452059" y="3272725"/>
            <a:ext cx="554181" cy="1684150"/>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4821382" y="3091539"/>
            <a:ext cx="7052755" cy="1842877"/>
          </a:xfrm>
          <a:prstGeom prst="rect">
            <a:avLst/>
          </a:prstGeom>
          <a:noFill/>
        </p:spPr>
        <p:txBody>
          <a:bodyPr wrap="square" rtlCol="0">
            <a:spAutoFit/>
          </a:bodyPr>
          <a:lstStyle/>
          <a:p>
            <a:pPr>
              <a:lnSpc>
                <a:spcPct val="200000"/>
              </a:lnSpc>
            </a:pPr>
            <a:r>
              <a:rPr lang="en-US" altLang="zh-CN" sz="2000" b="1" dirty="0">
                <a:solidFill>
                  <a:schemeClr val="bg1"/>
                </a:solidFill>
              </a:rPr>
              <a:t>  time</a:t>
            </a:r>
            <a:r>
              <a:rPr lang="zh-CN" altLang="en-US" sz="2000" b="1" dirty="0">
                <a:solidFill>
                  <a:schemeClr val="bg1"/>
                </a:solidFill>
              </a:rPr>
              <a:t>模块：进行时间处理</a:t>
            </a:r>
            <a:endParaRPr lang="en-US" altLang="zh-CN" sz="2000" b="1" dirty="0">
              <a:solidFill>
                <a:schemeClr val="bg1"/>
              </a:solidFill>
            </a:endParaRPr>
          </a:p>
          <a:p>
            <a:pPr>
              <a:lnSpc>
                <a:spcPct val="200000"/>
              </a:lnSpc>
            </a:pPr>
            <a:r>
              <a:rPr lang="en-US" altLang="zh-CN" sz="2000" b="1" dirty="0">
                <a:solidFill>
                  <a:schemeClr val="bg1"/>
                </a:solidFill>
              </a:rPr>
              <a:t>  </a:t>
            </a:r>
            <a:r>
              <a:rPr lang="en-US" altLang="zh-CN" sz="2000" b="1" dirty="0" err="1">
                <a:solidFill>
                  <a:schemeClr val="bg1"/>
                </a:solidFill>
              </a:rPr>
              <a:t>datetime</a:t>
            </a:r>
            <a:r>
              <a:rPr lang="zh-CN" altLang="en-US" sz="2000" b="1" dirty="0">
                <a:solidFill>
                  <a:schemeClr val="bg1"/>
                </a:solidFill>
              </a:rPr>
              <a:t>模块：提供</a:t>
            </a:r>
            <a:r>
              <a:rPr lang="en-US" altLang="zh-CN" sz="2000" b="1" dirty="0">
                <a:solidFill>
                  <a:schemeClr val="bg1"/>
                </a:solidFill>
              </a:rPr>
              <a:t>time</a:t>
            </a:r>
            <a:r>
              <a:rPr lang="zh-CN" altLang="en-US" sz="2000" b="1" dirty="0">
                <a:solidFill>
                  <a:schemeClr val="bg1"/>
                </a:solidFill>
              </a:rPr>
              <a:t>和</a:t>
            </a:r>
            <a:r>
              <a:rPr lang="en-US" altLang="zh-CN" sz="2000" b="1" dirty="0">
                <a:solidFill>
                  <a:schemeClr val="bg1"/>
                </a:solidFill>
              </a:rPr>
              <a:t>date</a:t>
            </a:r>
            <a:r>
              <a:rPr lang="zh-CN" altLang="en-US" sz="2000" b="1" dirty="0">
                <a:solidFill>
                  <a:schemeClr val="bg1"/>
                </a:solidFill>
              </a:rPr>
              <a:t>两个模块的功能</a:t>
            </a:r>
            <a:endParaRPr lang="en-US" altLang="zh-CN" sz="2000" b="1" dirty="0">
              <a:solidFill>
                <a:schemeClr val="bg1"/>
              </a:solidFill>
            </a:endParaRPr>
          </a:p>
          <a:p>
            <a:pPr>
              <a:lnSpc>
                <a:spcPct val="200000"/>
              </a:lnSpc>
            </a:pPr>
            <a:r>
              <a:rPr lang="en-US" altLang="zh-CN" sz="2000" b="1" dirty="0">
                <a:solidFill>
                  <a:schemeClr val="bg1"/>
                </a:solidFill>
              </a:rPr>
              <a:t>  calendar</a:t>
            </a:r>
            <a:r>
              <a:rPr lang="zh-CN" altLang="en-US" sz="2000" b="1" dirty="0">
                <a:solidFill>
                  <a:schemeClr val="bg1"/>
                </a:solidFill>
              </a:rPr>
              <a:t>模块：进行日历转换和格式化输出</a:t>
            </a:r>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time</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时间的访问与转换</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p:txBody>
          <a:bodyPr>
            <a:normAutofit/>
          </a:bodyPr>
          <a:lstStyle/>
          <a:p>
            <a:pPr>
              <a:lnSpc>
                <a:spcPct val="100000"/>
              </a:lnSpc>
            </a:pPr>
            <a:r>
              <a:rPr lang="zh-CN" altLang="en-US" sz="2800" dirty="0">
                <a:ea typeface="宋体" panose="02010600030101010101" pitchFamily="2" charset="-122"/>
              </a:rPr>
              <a:t>导入模块：</a:t>
            </a:r>
            <a:r>
              <a:rPr lang="en-US" altLang="zh-CN" sz="2800" b="1" dirty="0">
                <a:solidFill>
                  <a:srgbClr val="C00000"/>
                </a:solidFill>
                <a:ea typeface="宋体" panose="02010600030101010101" pitchFamily="2" charset="-122"/>
              </a:rPr>
              <a:t>import time</a:t>
            </a:r>
            <a:r>
              <a:rPr lang="en-US" altLang="zh-CN" sz="2800" dirty="0">
                <a:solidFill>
                  <a:srgbClr val="C00000"/>
                </a:solidFill>
                <a:ea typeface="宋体" panose="02010600030101010101" pitchFamily="2" charset="-122"/>
              </a:rPr>
              <a:t> </a:t>
            </a:r>
            <a:r>
              <a:rPr lang="zh-CN" altLang="en-US" sz="2800" dirty="0">
                <a:ea typeface="宋体" panose="02010600030101010101" pitchFamily="2" charset="-122"/>
              </a:rPr>
              <a:t>或 </a:t>
            </a:r>
            <a:r>
              <a:rPr lang="en-US" altLang="zh-CN" sz="2800" b="1" dirty="0">
                <a:solidFill>
                  <a:srgbClr val="C00000"/>
                </a:solidFill>
                <a:ea typeface="宋体" panose="02010600030101010101" pitchFamily="2" charset="-122"/>
              </a:rPr>
              <a:t>from time import *</a:t>
            </a:r>
          </a:p>
          <a:p>
            <a:pPr>
              <a:lnSpc>
                <a:spcPct val="100000"/>
              </a:lnSpc>
            </a:pPr>
            <a:r>
              <a:rPr lang="en-US" altLang="zh-CN" sz="2800" dirty="0">
                <a:ea typeface="宋体" panose="02010600030101010101" pitchFamily="2" charset="-122"/>
              </a:rPr>
              <a:t>P</a:t>
            </a:r>
            <a:r>
              <a:rPr lang="en-US" sz="2800" dirty="0">
                <a:ea typeface="宋体" panose="02010600030101010101" pitchFamily="2" charset="-122"/>
              </a:rPr>
              <a:t>ython</a:t>
            </a:r>
            <a:r>
              <a:rPr lang="zh-CN" altLang="en-US" sz="2800" dirty="0">
                <a:ea typeface="宋体" panose="02010600030101010101" pitchFamily="2" charset="-122"/>
              </a:rPr>
              <a:t>提供两种时间表示方式：</a:t>
            </a:r>
            <a:endParaRPr lang="en-US" altLang="zh-CN" sz="2800" dirty="0">
              <a:ea typeface="宋体" panose="02010600030101010101" pitchFamily="2" charset="-122"/>
            </a:endParaRPr>
          </a:p>
          <a:p>
            <a:pPr lvl="1">
              <a:lnSpc>
                <a:spcPct val="150000"/>
              </a:lnSpc>
            </a:pPr>
            <a:r>
              <a:rPr lang="zh-CN" altLang="en-US" sz="2400" b="1" dirty="0">
                <a:ea typeface="宋体" panose="02010600030101010101" pitchFamily="2" charset="-122"/>
              </a:rPr>
              <a:t>时间戳</a:t>
            </a:r>
            <a:r>
              <a:rPr lang="zh-CN" altLang="en-US" sz="2400" dirty="0">
                <a:ea typeface="宋体" panose="02010600030101010101" pitchFamily="2" charset="-122"/>
              </a:rPr>
              <a:t>：从时间开始的点</a:t>
            </a:r>
            <a:r>
              <a:rPr lang="en-US" altLang="zh-CN" sz="2400" dirty="0">
                <a:ea typeface="宋体" panose="02010600030101010101" pitchFamily="2" charset="-122"/>
              </a:rPr>
              <a:t>epoch</a:t>
            </a:r>
            <a:r>
              <a:rPr lang="zh-CN" altLang="en-US" sz="2400" dirty="0">
                <a:ea typeface="宋体" panose="02010600030101010101" pitchFamily="2" charset="-122"/>
              </a:rPr>
              <a:t>到现在的秒数，</a:t>
            </a:r>
            <a:r>
              <a:rPr lang="en-US" altLang="zh-CN" sz="2400" dirty="0">
                <a:ea typeface="宋体" panose="02010600030101010101" pitchFamily="2" charset="-122"/>
              </a:rPr>
              <a:t>epoch</a:t>
            </a:r>
            <a:r>
              <a:rPr lang="zh-CN" altLang="en-US" sz="2400" dirty="0">
                <a:ea typeface="宋体" panose="02010600030101010101" pitchFamily="2" charset="-122"/>
              </a:rPr>
              <a:t>取决于平台，对于</a:t>
            </a:r>
            <a:r>
              <a:rPr lang="en-US" altLang="zh-CN" sz="2400" dirty="0">
                <a:ea typeface="宋体" panose="02010600030101010101" pitchFamily="2" charset="-122"/>
              </a:rPr>
              <a:t>Unix</a:t>
            </a:r>
            <a:r>
              <a:rPr lang="zh-CN" altLang="en-US" sz="2400" dirty="0">
                <a:ea typeface="宋体" panose="02010600030101010101" pitchFamily="2" charset="-122"/>
              </a:rPr>
              <a:t>纪元</a:t>
            </a:r>
            <a:r>
              <a:rPr lang="en-US" altLang="zh-CN" sz="2400" dirty="0">
                <a:ea typeface="宋体" panose="02010600030101010101" pitchFamily="2" charset="-122"/>
              </a:rPr>
              <a:t>epoch</a:t>
            </a:r>
            <a:r>
              <a:rPr lang="zh-CN" altLang="en-US" sz="2400" dirty="0">
                <a:ea typeface="宋体" panose="02010600030101010101" pitchFamily="2" charset="-122"/>
              </a:rPr>
              <a:t>是</a:t>
            </a:r>
            <a:r>
              <a:rPr lang="en-US" altLang="zh-CN" sz="2400" dirty="0">
                <a:ea typeface="宋体" panose="02010600030101010101" pitchFamily="2" charset="-122"/>
              </a:rPr>
              <a:t>1970</a:t>
            </a:r>
            <a:r>
              <a:rPr lang="zh-CN" altLang="en-US" sz="2400" dirty="0">
                <a:ea typeface="宋体" panose="02010600030101010101" pitchFamily="2" charset="-122"/>
              </a:rPr>
              <a:t>年</a:t>
            </a:r>
            <a:r>
              <a:rPr lang="en-US" altLang="zh-CN" sz="2400" dirty="0">
                <a:ea typeface="宋体" panose="02010600030101010101" pitchFamily="2" charset="-122"/>
              </a:rPr>
              <a:t>1</a:t>
            </a:r>
            <a:r>
              <a:rPr lang="zh-CN" altLang="en-US" sz="2400" dirty="0">
                <a:ea typeface="宋体" panose="02010600030101010101" pitchFamily="2" charset="-122"/>
              </a:rPr>
              <a:t>月</a:t>
            </a:r>
            <a:r>
              <a:rPr lang="en-US" altLang="zh-CN" sz="2400" dirty="0">
                <a:ea typeface="宋体" panose="02010600030101010101" pitchFamily="2" charset="-122"/>
              </a:rPr>
              <a:t>1</a:t>
            </a:r>
            <a:r>
              <a:rPr lang="zh-CN" altLang="en-US" sz="2400" dirty="0">
                <a:ea typeface="宋体" panose="02010600030101010101" pitchFamily="2" charset="-122"/>
              </a:rPr>
              <a:t>日</a:t>
            </a:r>
            <a:r>
              <a:rPr lang="en-US" altLang="zh-CN" sz="2400" dirty="0">
                <a:ea typeface="宋体" panose="02010600030101010101" pitchFamily="2" charset="-122"/>
              </a:rPr>
              <a:t>00:00:00</a:t>
            </a:r>
            <a:r>
              <a:rPr lang="zh-CN" altLang="en-US" sz="2400" dirty="0">
                <a:ea typeface="宋体" panose="02010600030101010101" pitchFamily="2" charset="-122"/>
              </a:rPr>
              <a:t>（</a:t>
            </a:r>
            <a:r>
              <a:rPr lang="en-US" altLang="zh-CN" sz="2400" dirty="0">
                <a:ea typeface="宋体" panose="02010600030101010101" pitchFamily="2" charset="-122"/>
              </a:rPr>
              <a:t>UTC</a:t>
            </a:r>
            <a:r>
              <a:rPr lang="zh-CN" altLang="en-US" sz="2400" dirty="0">
                <a:ea typeface="宋体" panose="02010600030101010101" pitchFamily="2" charset="-122"/>
              </a:rPr>
              <a:t>），要找出给定平台的</a:t>
            </a:r>
            <a:r>
              <a:rPr lang="en-US" altLang="zh-CN" sz="2400" dirty="0">
                <a:ea typeface="宋体" panose="02010600030101010101" pitchFamily="2" charset="-122"/>
              </a:rPr>
              <a:t>epoch</a:t>
            </a:r>
            <a:r>
              <a:rPr lang="zh-CN" altLang="en-US" sz="2400" dirty="0">
                <a:ea typeface="宋体" panose="02010600030101010101" pitchFamily="2" charset="-122"/>
              </a:rPr>
              <a:t>，可通过调用</a:t>
            </a:r>
            <a:r>
              <a:rPr lang="en-US" altLang="zh-CN" sz="2400" dirty="0" err="1">
                <a:ea typeface="宋体" panose="02010600030101010101" pitchFamily="2" charset="-122"/>
              </a:rPr>
              <a:t>time.gmtime</a:t>
            </a:r>
            <a:r>
              <a:rPr lang="en-US" altLang="zh-CN" sz="2400" dirty="0">
                <a:ea typeface="宋体" panose="02010600030101010101" pitchFamily="2" charset="-122"/>
              </a:rPr>
              <a:t>(0)</a:t>
            </a:r>
            <a:r>
              <a:rPr lang="zh-CN" altLang="en-US" sz="2400" dirty="0">
                <a:ea typeface="宋体" panose="02010600030101010101" pitchFamily="2" charset="-122"/>
              </a:rPr>
              <a:t>查看。</a:t>
            </a:r>
            <a:endParaRPr lang="en-US" altLang="zh-CN" sz="2400" dirty="0">
              <a:ea typeface="宋体" panose="02010600030101010101" pitchFamily="2" charset="-122"/>
            </a:endParaRPr>
          </a:p>
          <a:p>
            <a:pPr lvl="1">
              <a:lnSpc>
                <a:spcPct val="150000"/>
              </a:lnSpc>
            </a:pPr>
            <a:r>
              <a:rPr lang="zh-CN" altLang="en-US" sz="2400" b="1" dirty="0">
                <a:ea typeface="宋体" panose="02010600030101010101" pitchFamily="2" charset="-122"/>
              </a:rPr>
              <a:t>时间元组</a:t>
            </a:r>
            <a:r>
              <a:rPr lang="en-US" altLang="zh-CN" sz="2400" b="1" dirty="0" err="1">
                <a:ea typeface="宋体" panose="02010600030101010101" pitchFamily="2" charset="-122"/>
              </a:rPr>
              <a:t>struct_time</a:t>
            </a:r>
            <a:r>
              <a:rPr lang="zh-CN" altLang="en-US" sz="2400" dirty="0">
                <a:ea typeface="宋体" panose="02010600030101010101" pitchFamily="2" charset="-122"/>
              </a:rPr>
              <a:t>：</a:t>
            </a:r>
            <a:r>
              <a:rPr lang="zh-CN" altLang="en-US" sz="2400" dirty="0"/>
              <a:t>带有已命名元组接口的对象，其时间值可由</a:t>
            </a:r>
            <a:r>
              <a:rPr lang="en-US" altLang="zh-CN" sz="2400" dirty="0" err="1">
                <a:solidFill>
                  <a:srgbClr val="7030A0"/>
                </a:solidFill>
              </a:rPr>
              <a:t>gmtime</a:t>
            </a:r>
            <a:r>
              <a:rPr lang="en-US" altLang="zh-CN" sz="2400" dirty="0">
                <a:solidFill>
                  <a:srgbClr val="7030A0"/>
                </a:solidFill>
              </a:rPr>
              <a:t>()</a:t>
            </a:r>
            <a:r>
              <a:rPr lang="zh-CN" altLang="en-US" sz="2400" dirty="0">
                <a:solidFill>
                  <a:srgbClr val="7030A0"/>
                </a:solidFill>
              </a:rPr>
              <a:t>、</a:t>
            </a:r>
            <a:r>
              <a:rPr lang="en-US" altLang="zh-CN" sz="2400" dirty="0" err="1">
                <a:solidFill>
                  <a:srgbClr val="7030A0"/>
                </a:solidFill>
              </a:rPr>
              <a:t>localtime</a:t>
            </a:r>
            <a:r>
              <a:rPr lang="en-US" altLang="zh-CN" sz="2400" dirty="0">
                <a:solidFill>
                  <a:srgbClr val="7030A0"/>
                </a:solidFill>
              </a:rPr>
              <a:t>()</a:t>
            </a:r>
            <a:r>
              <a:rPr lang="zh-CN" altLang="en-US" sz="2400" dirty="0"/>
              <a:t>和</a:t>
            </a:r>
            <a:r>
              <a:rPr lang="en-US" altLang="zh-CN" sz="2400" dirty="0" err="1">
                <a:solidFill>
                  <a:srgbClr val="7030A0"/>
                </a:solidFill>
              </a:rPr>
              <a:t>strptime</a:t>
            </a:r>
            <a:r>
              <a:rPr lang="en-US" altLang="zh-CN" sz="2400" dirty="0">
                <a:solidFill>
                  <a:srgbClr val="7030A0"/>
                </a:solidFill>
              </a:rPr>
              <a:t>()</a:t>
            </a:r>
            <a:r>
              <a:rPr lang="zh-CN" altLang="en-US" sz="2400" dirty="0"/>
              <a:t>等函数返回，可以通过索引和字段名访问各字段。</a:t>
            </a:r>
            <a:endParaRPr lang="en-US" sz="2400"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time</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时间的访问与转换</a:t>
            </a:r>
            <a:endParaRPr lang="en-US" dirty="0">
              <a:latin typeface="Microsoft YaHei" panose="020B0503020204020204" pitchFamily="34" charset="-122"/>
              <a:ea typeface="Microsoft YaHei" panose="020B0503020204020204" pitchFamily="34" charset="-122"/>
            </a:endParaRPr>
          </a:p>
        </p:txBody>
      </p:sp>
      <p:sp>
        <p:nvSpPr>
          <p:cNvPr id="7" name="TextBox 6">
            <a:extLst>
              <a:ext uri="{FF2B5EF4-FFF2-40B4-BE49-F238E27FC236}">
                <a16:creationId xmlns:a16="http://schemas.microsoft.com/office/drawing/2014/main" id="{D88ACAB5-297F-DB88-F6A5-54266BF82976}"/>
              </a:ext>
            </a:extLst>
          </p:cNvPr>
          <p:cNvSpPr txBox="1"/>
          <p:nvPr/>
        </p:nvSpPr>
        <p:spPr>
          <a:xfrm>
            <a:off x="1104900" y="1576952"/>
            <a:ext cx="10486863" cy="4454233"/>
          </a:xfrm>
          <a:prstGeom prst="rect">
            <a:avLst/>
          </a:prstGeom>
          <a:noFill/>
        </p:spPr>
        <p:txBody>
          <a:bodyPr wrap="square">
            <a:spAutoFit/>
          </a:bodyPr>
          <a:lstStyle/>
          <a:p>
            <a:pPr algn="just">
              <a:lnSpc>
                <a:spcPct val="150000"/>
              </a:lnSpc>
              <a:buNone/>
            </a:pPr>
            <a:r>
              <a:rPr lang="en-US" sz="2400" b="1" i="0" dirty="0">
                <a:solidFill>
                  <a:srgbClr val="C00000"/>
                </a:solidFill>
                <a:effectLst/>
                <a:latin typeface="Courier New" panose="02070309020205020404" pitchFamily="49" charset="0"/>
              </a:rPr>
              <a:t>time</a:t>
            </a:r>
            <a:r>
              <a:rPr lang="zh-CN" altLang="en-US" sz="2400" b="0" i="0" dirty="0">
                <a:solidFill>
                  <a:srgbClr val="262625"/>
                </a:solidFill>
                <a:effectLst/>
                <a:latin typeface="Times New Roman" panose="02020603050405020304" pitchFamily="18" charset="0"/>
              </a:rPr>
              <a:t>模块常用函数如下：</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time.time</a:t>
            </a:r>
            <a:r>
              <a:rPr lang="en-US" sz="2400" b="1" i="0" dirty="0">
                <a:solidFill>
                  <a:srgbClr val="0432FF"/>
                </a:solidFill>
                <a:effectLst/>
                <a:latin typeface="Courier New" panose="02070309020205020404" pitchFamily="49" charset="0"/>
              </a:rPr>
              <a:t>()</a:t>
            </a:r>
            <a:r>
              <a:rPr lang="en-US" sz="2400" b="1" i="0" dirty="0">
                <a:solidFill>
                  <a:srgbClr val="0432FF"/>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返回当前时间的时间戳（</a:t>
            </a:r>
            <a:r>
              <a:rPr lang="en-US" altLang="zh-CN" sz="2400" b="0" i="0" dirty="0">
                <a:solidFill>
                  <a:srgbClr val="262625"/>
                </a:solidFill>
                <a:effectLst/>
                <a:latin typeface="Times New Roman" panose="02020603050405020304" pitchFamily="18" charset="0"/>
              </a:rPr>
              <a:t>1970</a:t>
            </a:r>
            <a:r>
              <a:rPr lang="zh-CN" altLang="en-US" sz="2400" b="0" i="0" dirty="0">
                <a:solidFill>
                  <a:srgbClr val="262625"/>
                </a:solidFill>
                <a:effectLst/>
                <a:latin typeface="Times New Roman" panose="02020603050405020304" pitchFamily="18" charset="0"/>
              </a:rPr>
              <a:t>年</a:t>
            </a:r>
            <a:r>
              <a:rPr lang="en-US" altLang="zh-CN" sz="2400" b="0" i="0" dirty="0">
                <a:solidFill>
                  <a:srgbClr val="262625"/>
                </a:solidFill>
                <a:effectLst/>
                <a:latin typeface="Times New Roman" panose="02020603050405020304" pitchFamily="18" charset="0"/>
              </a:rPr>
              <a:t>1</a:t>
            </a:r>
            <a:r>
              <a:rPr lang="zh-CN" altLang="en-US" sz="2400" b="0" i="0" dirty="0">
                <a:solidFill>
                  <a:srgbClr val="262625"/>
                </a:solidFill>
                <a:effectLst/>
                <a:latin typeface="Times New Roman" panose="02020603050405020304" pitchFamily="18" charset="0"/>
              </a:rPr>
              <a:t>月</a:t>
            </a:r>
            <a:r>
              <a:rPr lang="en-US" altLang="zh-CN" sz="2400" b="0" i="0" dirty="0">
                <a:solidFill>
                  <a:srgbClr val="262625"/>
                </a:solidFill>
                <a:effectLst/>
                <a:latin typeface="Times New Roman" panose="02020603050405020304" pitchFamily="18" charset="0"/>
              </a:rPr>
              <a:t>1</a:t>
            </a:r>
            <a:r>
              <a:rPr lang="zh-CN" altLang="en-US" sz="2400" b="0" i="0" dirty="0">
                <a:solidFill>
                  <a:srgbClr val="262625"/>
                </a:solidFill>
                <a:effectLst/>
                <a:latin typeface="Times New Roman" panose="02020603050405020304" pitchFamily="18" charset="0"/>
              </a:rPr>
              <a:t>日以来的秒数）。</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time.ctime</a:t>
            </a:r>
            <a:r>
              <a:rPr lang="en-US" sz="2400" b="1" i="0" dirty="0">
                <a:solidFill>
                  <a:srgbClr val="0432FF"/>
                </a:solidFill>
                <a:effectLst/>
                <a:latin typeface="Courier New" panose="02070309020205020404" pitchFamily="49" charset="0"/>
              </a:rPr>
              <a:t>(timestamp)</a:t>
            </a:r>
            <a:r>
              <a:rPr lang="en-US" sz="2400" b="0" i="0" dirty="0">
                <a:solidFill>
                  <a:srgbClr val="262625"/>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将时间戳转换为本地时间的字符串形式。</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time.strftime</a:t>
            </a:r>
            <a:r>
              <a:rPr lang="en-US" sz="2400" b="1" i="0" dirty="0">
                <a:solidFill>
                  <a:srgbClr val="0432FF"/>
                </a:solidFill>
                <a:effectLst/>
                <a:latin typeface="Courier New" panose="02070309020205020404" pitchFamily="49" charset="0"/>
              </a:rPr>
              <a:t>(format, t)</a:t>
            </a:r>
            <a:r>
              <a:rPr lang="en-US" sz="2400" b="0" i="0" dirty="0">
                <a:solidFill>
                  <a:srgbClr val="262625"/>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格式化结构化时间。</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time.strptime</a:t>
            </a:r>
            <a:r>
              <a:rPr lang="en-US" sz="2400" b="1" i="0" dirty="0">
                <a:solidFill>
                  <a:srgbClr val="0432FF"/>
                </a:solidFill>
                <a:effectLst/>
                <a:latin typeface="Courier New" panose="02070309020205020404" pitchFamily="49" charset="0"/>
              </a:rPr>
              <a:t>(string, format)</a:t>
            </a:r>
            <a:r>
              <a:rPr lang="en-US" sz="2400" b="0" i="0" dirty="0">
                <a:solidFill>
                  <a:srgbClr val="262625"/>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将字符串解析为结构化时间。</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time.sleep</a:t>
            </a:r>
            <a:r>
              <a:rPr lang="en-US" sz="2400" b="1" i="0" dirty="0">
                <a:solidFill>
                  <a:srgbClr val="0432FF"/>
                </a:solidFill>
                <a:effectLst/>
                <a:latin typeface="Courier New" panose="02070309020205020404" pitchFamily="49" charset="0"/>
              </a:rPr>
              <a:t>(seconds)</a:t>
            </a:r>
            <a:r>
              <a:rPr lang="en-US" sz="2400" b="0" i="0" dirty="0">
                <a:solidFill>
                  <a:srgbClr val="262625"/>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暂停程序执行指定的秒数。</a:t>
            </a:r>
          </a:p>
          <a:p>
            <a:pPr marL="285750" indent="-285750" algn="l">
              <a:lnSpc>
                <a:spcPct val="150000"/>
              </a:lnSpc>
              <a:buFont typeface="Arial" panose="020B0604020202020204" pitchFamily="34" charset="0"/>
              <a:buChar char="•"/>
            </a:pPr>
            <a:r>
              <a:rPr lang="en-US" sz="2400" b="1" i="0" dirty="0" err="1">
                <a:solidFill>
                  <a:srgbClr val="0432FF"/>
                </a:solidFill>
                <a:effectLst/>
                <a:latin typeface="Courier New" panose="02070309020205020404" pitchFamily="49" charset="0"/>
              </a:rPr>
              <a:t>time.perf_counter</a:t>
            </a:r>
            <a:r>
              <a:rPr lang="en-US" sz="2400" b="1" i="0" dirty="0">
                <a:solidFill>
                  <a:srgbClr val="0432FF"/>
                </a:solidFill>
                <a:effectLst/>
                <a:latin typeface="Courier New" panose="02070309020205020404" pitchFamily="49" charset="0"/>
              </a:rPr>
              <a:t>()</a:t>
            </a:r>
            <a:r>
              <a:rPr lang="en-US" sz="2400" b="0" i="0" dirty="0">
                <a:solidFill>
                  <a:srgbClr val="262625"/>
                </a:solidFill>
                <a:effectLst/>
                <a:latin typeface="Times New Roman" panose="02020603050405020304" pitchFamily="18" charset="0"/>
              </a:rPr>
              <a:t>：</a:t>
            </a:r>
            <a:r>
              <a:rPr lang="zh-CN" altLang="en-US" sz="2400" b="0" i="0" dirty="0">
                <a:solidFill>
                  <a:srgbClr val="262625"/>
                </a:solidFill>
                <a:effectLst/>
                <a:latin typeface="Times New Roman" panose="02020603050405020304" pitchFamily="18" charset="0"/>
              </a:rPr>
              <a:t>返回某固定时间点（通常是程序启动时）到当前时刻的秒数。</a:t>
            </a:r>
          </a:p>
        </p:txBody>
      </p:sp>
    </p:spTree>
    <p:extLst>
      <p:ext uri="{BB962C8B-B14F-4D97-AF65-F5344CB8AC3E}">
        <p14:creationId xmlns:p14="http://schemas.microsoft.com/office/powerpoint/2010/main" val="177011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4A29EF-06A8-28E9-6854-A62BEF16CDAC}"/>
              </a:ext>
            </a:extLst>
          </p:cNvPr>
          <p:cNvPicPr>
            <a:picLocks noChangeAspect="1"/>
          </p:cNvPicPr>
          <p:nvPr/>
        </p:nvPicPr>
        <p:blipFill>
          <a:blip r:embed="rId2"/>
          <a:stretch>
            <a:fillRect/>
          </a:stretch>
        </p:blipFill>
        <p:spPr>
          <a:xfrm>
            <a:off x="1894539" y="402907"/>
            <a:ext cx="7383931" cy="605218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87116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D3E342-F93F-0FA7-9F93-FA0DC6D14F80}"/>
              </a:ext>
            </a:extLst>
          </p:cNvPr>
          <p:cNvPicPr>
            <a:picLocks noChangeAspect="1"/>
          </p:cNvPicPr>
          <p:nvPr/>
        </p:nvPicPr>
        <p:blipFill>
          <a:blip r:embed="rId2"/>
          <a:stretch>
            <a:fillRect/>
          </a:stretch>
        </p:blipFill>
        <p:spPr>
          <a:xfrm>
            <a:off x="1856355" y="420220"/>
            <a:ext cx="8479289" cy="601756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0234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latin typeface="Microsoft YaHei" panose="020B0503020204020204" pitchFamily="34" charset="-122"/>
                <a:ea typeface="Microsoft YaHei" panose="020B0503020204020204" pitchFamily="34" charset="-122"/>
              </a:rPr>
              <a:t>datetime</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操作日期和时间</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404257"/>
            <a:ext cx="10588336" cy="4572000"/>
          </a:xfrm>
        </p:spPr>
        <p:txBody>
          <a:bodyPr>
            <a:normAutofit fontScale="92500" lnSpcReduction="10000"/>
          </a:bodyPr>
          <a:lstStyle/>
          <a:p>
            <a:pPr>
              <a:lnSpc>
                <a:spcPct val="150000"/>
              </a:lnSpc>
            </a:pPr>
            <a:r>
              <a:rPr lang="en-US" altLang="zh-CN" sz="2800" dirty="0" err="1">
                <a:ea typeface="宋体" panose="02010600030101010101" pitchFamily="2" charset="-122"/>
              </a:rPr>
              <a:t>datetime</a:t>
            </a:r>
            <a:r>
              <a:rPr lang="zh-CN" altLang="en-US" sz="2800" dirty="0">
                <a:ea typeface="宋体" panose="02010600030101010101" pitchFamily="2" charset="-122"/>
              </a:rPr>
              <a:t>模块包含以下类：</a:t>
            </a:r>
            <a:endParaRPr lang="en-US" altLang="zh-CN" sz="2800" dirty="0">
              <a:ea typeface="宋体" panose="02010600030101010101" pitchFamily="2" charset="-122"/>
            </a:endParaRPr>
          </a:p>
          <a:p>
            <a:pPr lvl="1">
              <a:lnSpc>
                <a:spcPct val="150000"/>
              </a:lnSpc>
            </a:pPr>
            <a:r>
              <a:rPr lang="zh-CN" altLang="en-US" sz="2400" dirty="0">
                <a:ea typeface="宋体" panose="02010600030101010101" pitchFamily="2" charset="-122"/>
              </a:rPr>
              <a:t>表示日期的</a:t>
            </a:r>
            <a:r>
              <a:rPr lang="en-US" altLang="zh-CN" sz="2400" dirty="0">
                <a:ea typeface="宋体" panose="02010600030101010101" pitchFamily="2" charset="-122"/>
              </a:rPr>
              <a:t>date</a:t>
            </a:r>
            <a:r>
              <a:rPr lang="zh-CN" altLang="en-US" sz="2400" dirty="0">
                <a:ea typeface="宋体" panose="02010600030101010101" pitchFamily="2" charset="-122"/>
              </a:rPr>
              <a:t>类</a:t>
            </a:r>
            <a:endParaRPr lang="en-US" altLang="zh-CN" sz="2400" dirty="0">
              <a:ea typeface="宋体" panose="02010600030101010101" pitchFamily="2" charset="-122"/>
            </a:endParaRPr>
          </a:p>
          <a:p>
            <a:pPr lvl="1">
              <a:lnSpc>
                <a:spcPct val="150000"/>
              </a:lnSpc>
            </a:pPr>
            <a:r>
              <a:rPr lang="zh-CN" altLang="en-US" sz="2400" dirty="0">
                <a:ea typeface="宋体" panose="02010600030101010101" pitchFamily="2" charset="-122"/>
              </a:rPr>
              <a:t>表示时间的</a:t>
            </a:r>
            <a:r>
              <a:rPr lang="en-US" altLang="zh-CN" sz="2400" dirty="0">
                <a:ea typeface="宋体" panose="02010600030101010101" pitchFamily="2" charset="-122"/>
              </a:rPr>
              <a:t>time</a:t>
            </a:r>
            <a:r>
              <a:rPr lang="zh-CN" altLang="en-US" sz="2400" dirty="0">
                <a:ea typeface="宋体" panose="02010600030101010101" pitchFamily="2" charset="-122"/>
              </a:rPr>
              <a:t>类</a:t>
            </a:r>
            <a:endParaRPr lang="en-US" altLang="zh-CN" sz="2400" dirty="0">
              <a:ea typeface="宋体" panose="02010600030101010101" pitchFamily="2" charset="-122"/>
            </a:endParaRPr>
          </a:p>
          <a:p>
            <a:pPr lvl="1">
              <a:lnSpc>
                <a:spcPct val="150000"/>
              </a:lnSpc>
            </a:pPr>
            <a:r>
              <a:rPr lang="zh-CN" altLang="en-US" sz="2400" dirty="0">
                <a:ea typeface="宋体" panose="02010600030101010101" pitchFamily="2" charset="-122"/>
              </a:rPr>
              <a:t>表示日期和时间的</a:t>
            </a:r>
            <a:r>
              <a:rPr lang="en-US" altLang="zh-CN" sz="2400" dirty="0" err="1">
                <a:ea typeface="宋体" panose="02010600030101010101" pitchFamily="2" charset="-122"/>
              </a:rPr>
              <a:t>datetime</a:t>
            </a:r>
            <a:r>
              <a:rPr lang="zh-CN" altLang="en-US" sz="2400" dirty="0">
                <a:ea typeface="宋体" panose="02010600030101010101" pitchFamily="2" charset="-122"/>
              </a:rPr>
              <a:t>类</a:t>
            </a:r>
            <a:endParaRPr lang="en-US" altLang="zh-CN" sz="2400" dirty="0">
              <a:ea typeface="宋体" panose="02010600030101010101" pitchFamily="2" charset="-122"/>
            </a:endParaRPr>
          </a:p>
          <a:p>
            <a:pPr lvl="1">
              <a:lnSpc>
                <a:spcPct val="150000"/>
              </a:lnSpc>
            </a:pPr>
            <a:r>
              <a:rPr lang="zh-CN" altLang="en-US" sz="2400" dirty="0">
                <a:ea typeface="宋体" panose="02010600030101010101" pitchFamily="2" charset="-122"/>
              </a:rPr>
              <a:t>表示日期或时间间隔的</a:t>
            </a:r>
            <a:r>
              <a:rPr lang="en-US" altLang="zh-CN" sz="2400" dirty="0" err="1">
                <a:ea typeface="宋体" panose="02010600030101010101" pitchFamily="2" charset="-122"/>
              </a:rPr>
              <a:t>datedelta</a:t>
            </a:r>
            <a:r>
              <a:rPr lang="zh-CN" altLang="en-US" sz="2400" dirty="0">
                <a:ea typeface="宋体" panose="02010600030101010101" pitchFamily="2" charset="-122"/>
              </a:rPr>
              <a:t>类</a:t>
            </a:r>
            <a:endParaRPr lang="en-US" altLang="zh-CN" sz="2400" dirty="0">
              <a:ea typeface="宋体" panose="02010600030101010101" pitchFamily="2" charset="-122"/>
            </a:endParaRPr>
          </a:p>
          <a:p>
            <a:pPr lvl="1">
              <a:lnSpc>
                <a:spcPct val="150000"/>
              </a:lnSpc>
            </a:pPr>
            <a:r>
              <a:rPr lang="zh-CN" altLang="en-US" sz="2400" dirty="0">
                <a:ea typeface="宋体" panose="02010600030101010101" pitchFamily="2" charset="-122"/>
              </a:rPr>
              <a:t>表示时区的</a:t>
            </a:r>
            <a:r>
              <a:rPr lang="en-US" altLang="zh-CN" sz="2400" dirty="0" err="1">
                <a:ea typeface="宋体" panose="02010600030101010101" pitchFamily="2" charset="-122"/>
              </a:rPr>
              <a:t>tzinfo</a:t>
            </a:r>
            <a:r>
              <a:rPr lang="zh-CN" altLang="en-US" sz="2400" dirty="0">
                <a:ea typeface="宋体" panose="02010600030101010101" pitchFamily="2" charset="-122"/>
              </a:rPr>
              <a:t>类和</a:t>
            </a:r>
            <a:r>
              <a:rPr lang="en-US" altLang="zh-CN" sz="2400" dirty="0" err="1">
                <a:ea typeface="宋体" panose="02010600030101010101" pitchFamily="2" charset="-122"/>
              </a:rPr>
              <a:t>timezone</a:t>
            </a:r>
            <a:r>
              <a:rPr lang="zh-CN" altLang="en-US" sz="2400" dirty="0">
                <a:ea typeface="宋体" panose="02010600030101010101" pitchFamily="2" charset="-122"/>
              </a:rPr>
              <a:t>类</a:t>
            </a:r>
            <a:endParaRPr lang="en-US" altLang="zh-CN" sz="2400" dirty="0">
              <a:ea typeface="宋体" panose="02010600030101010101" pitchFamily="2" charset="-122"/>
            </a:endParaRPr>
          </a:p>
          <a:p>
            <a:pPr marL="457200" lvl="1" indent="0">
              <a:lnSpc>
                <a:spcPct val="150000"/>
              </a:lnSpc>
              <a:buNone/>
            </a:pPr>
            <a:r>
              <a:rPr lang="zh-CN" altLang="en-US" sz="2400" dirty="0">
                <a:ea typeface="宋体" panose="02010600030101010101" pitchFamily="2" charset="-122"/>
              </a:rPr>
              <a:t>下面分别介绍常用的</a:t>
            </a:r>
            <a:r>
              <a:rPr lang="en-US" altLang="zh-CN" sz="2400" dirty="0">
                <a:ea typeface="宋体" panose="02010600030101010101" pitchFamily="2" charset="-122"/>
              </a:rPr>
              <a:t>date</a:t>
            </a:r>
            <a:r>
              <a:rPr lang="zh-CN" altLang="en-US" sz="2400" dirty="0">
                <a:ea typeface="宋体" panose="02010600030101010101" pitchFamily="2" charset="-122"/>
              </a:rPr>
              <a:t>类、</a:t>
            </a:r>
            <a:r>
              <a:rPr lang="en-US" altLang="zh-CN" sz="2400" dirty="0">
                <a:ea typeface="宋体" panose="02010600030101010101" pitchFamily="2" charset="-122"/>
              </a:rPr>
              <a:t>time</a:t>
            </a:r>
            <a:r>
              <a:rPr lang="zh-CN" altLang="en-US" sz="2400" dirty="0">
                <a:ea typeface="宋体" panose="02010600030101010101" pitchFamily="2" charset="-122"/>
              </a:rPr>
              <a:t>类、</a:t>
            </a:r>
            <a:r>
              <a:rPr lang="en-US" altLang="zh-CN" sz="2400" dirty="0" err="1">
                <a:ea typeface="宋体" panose="02010600030101010101" pitchFamily="2" charset="-122"/>
              </a:rPr>
              <a:t>datetime</a:t>
            </a:r>
            <a:r>
              <a:rPr lang="zh-CN" altLang="en-US" sz="2400" dirty="0">
                <a:ea typeface="宋体" panose="02010600030101010101" pitchFamily="2" charset="-122"/>
              </a:rPr>
              <a:t>类和</a:t>
            </a:r>
            <a:r>
              <a:rPr lang="en-US" altLang="zh-CN" sz="2400" dirty="0" err="1">
                <a:ea typeface="宋体" panose="02010600030101010101" pitchFamily="2" charset="-122"/>
              </a:rPr>
              <a:t>datedelta</a:t>
            </a:r>
            <a:r>
              <a:rPr lang="zh-CN" altLang="en-US" sz="2400" dirty="0">
                <a:ea typeface="宋体" panose="02010600030101010101" pitchFamily="2" charset="-122"/>
              </a:rPr>
              <a:t>类的使用方法、构造函数、常用字段以及其他常用方法。</a:t>
            </a:r>
            <a:endParaRPr lang="en-US" sz="2000" dirty="0">
              <a:ea typeface="宋体" panose="02010600030101010101" pitchFamily="2" charset="-122"/>
            </a:endParaRPr>
          </a:p>
        </p:txBody>
      </p:sp>
    </p:spTree>
    <p:extLst>
      <p:ext uri="{BB962C8B-B14F-4D97-AF65-F5344CB8AC3E}">
        <p14:creationId xmlns:p14="http://schemas.microsoft.com/office/powerpoint/2010/main" val="78426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datetime</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date</a:t>
            </a:r>
            <a:r>
              <a:rPr lang="zh-CN" altLang="en-US" dirty="0">
                <a:latin typeface="Microsoft YaHei" panose="020B0503020204020204" pitchFamily="34" charset="-122"/>
                <a:ea typeface="Microsoft YaHei" panose="020B0503020204020204" pitchFamily="34" charset="-122"/>
              </a:rPr>
              <a:t>类</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430383"/>
            <a:ext cx="10588336" cy="2603735"/>
          </a:xfrm>
        </p:spPr>
        <p:txBody>
          <a:bodyPr>
            <a:normAutofit/>
          </a:bodyPr>
          <a:lstStyle/>
          <a:p>
            <a:pPr>
              <a:lnSpc>
                <a:spcPct val="100000"/>
              </a:lnSpc>
            </a:pPr>
            <a:r>
              <a:rPr lang="en-US" altLang="zh-CN" dirty="0">
                <a:ea typeface="宋体" panose="02010600030101010101" pitchFamily="2" charset="-122"/>
              </a:rPr>
              <a:t>date</a:t>
            </a:r>
            <a:r>
              <a:rPr lang="zh-CN" altLang="en-US" dirty="0">
                <a:ea typeface="宋体" panose="02010600030101010101" pitchFamily="2" charset="-122"/>
              </a:rPr>
              <a:t>对象表示在理想化的日历中的一个日期，包括年、月、日。</a:t>
            </a:r>
            <a:endParaRPr lang="en-US" altLang="zh-CN" dirty="0">
              <a:ea typeface="宋体" panose="02010600030101010101" pitchFamily="2" charset="-122"/>
            </a:endParaRPr>
          </a:p>
          <a:p>
            <a:pPr lvl="1">
              <a:lnSpc>
                <a:spcPct val="100000"/>
              </a:lnSpc>
            </a:pPr>
            <a:r>
              <a:rPr lang="zh-CN" altLang="en-US" sz="1800" dirty="0">
                <a:ea typeface="宋体" panose="02010600030101010101" pitchFamily="2" charset="-122"/>
              </a:rPr>
              <a:t>导入类：</a:t>
            </a:r>
            <a:r>
              <a:rPr lang="en-US" altLang="zh-CN" sz="1800" b="1" dirty="0">
                <a:ea typeface="宋体" panose="02010600030101010101" pitchFamily="2" charset="-122"/>
              </a:rPr>
              <a:t>from </a:t>
            </a:r>
            <a:r>
              <a:rPr lang="en-US" altLang="zh-CN" sz="1800" b="1" dirty="0" err="1">
                <a:ea typeface="宋体" panose="02010600030101010101" pitchFamily="2" charset="-122"/>
              </a:rPr>
              <a:t>datetime</a:t>
            </a:r>
            <a:r>
              <a:rPr lang="en-US" altLang="zh-CN" sz="1800" b="1" dirty="0">
                <a:ea typeface="宋体" panose="02010600030101010101" pitchFamily="2" charset="-122"/>
              </a:rPr>
              <a:t> import date</a:t>
            </a:r>
          </a:p>
          <a:p>
            <a:pPr lvl="1">
              <a:lnSpc>
                <a:spcPct val="100000"/>
              </a:lnSpc>
            </a:pPr>
            <a:r>
              <a:rPr lang="zh-CN" altLang="en-US" sz="1800" dirty="0">
                <a:ea typeface="宋体" panose="02010600030101010101" pitchFamily="2" charset="-122"/>
              </a:rPr>
              <a:t>构造函数：</a:t>
            </a:r>
            <a:r>
              <a:rPr lang="en-US" altLang="zh-CN" sz="1800" b="1" dirty="0">
                <a:ea typeface="宋体" panose="02010600030101010101" pitchFamily="2" charset="-122"/>
              </a:rPr>
              <a:t>date(year, month, day)</a:t>
            </a:r>
          </a:p>
          <a:p>
            <a:pPr marL="914400" lvl="2" indent="0">
              <a:lnSpc>
                <a:spcPct val="100000"/>
              </a:lnSpc>
              <a:buNone/>
            </a:pPr>
            <a:r>
              <a:rPr lang="zh-CN" altLang="en-US" sz="1800" dirty="0">
                <a:ea typeface="宋体" panose="02010600030101010101" pitchFamily="2" charset="-122"/>
              </a:rPr>
              <a:t>其中，所有字段都是必选的。字段取值可以是下面范围内的整数：</a:t>
            </a:r>
          </a:p>
          <a:p>
            <a:pPr marL="914400" lvl="2" indent="0">
              <a:lnSpc>
                <a:spcPct val="100000"/>
              </a:lnSpc>
              <a:buNone/>
            </a:pPr>
            <a:r>
              <a:rPr lang="en-US" altLang="zh-CN" sz="1800" dirty="0">
                <a:ea typeface="宋体" panose="02010600030101010101" pitchFamily="2" charset="-122"/>
              </a:rPr>
              <a:t>·1 = MINYEAR &lt;= year &lt;= MAXYAER = 9999</a:t>
            </a:r>
          </a:p>
          <a:p>
            <a:pPr marL="914400" lvl="2" indent="0">
              <a:lnSpc>
                <a:spcPct val="100000"/>
              </a:lnSpc>
              <a:buNone/>
            </a:pPr>
            <a:r>
              <a:rPr lang="en-US" altLang="zh-CN" sz="1800" dirty="0">
                <a:ea typeface="宋体" panose="02010600030101010101" pitchFamily="2" charset="-122"/>
              </a:rPr>
              <a:t>·1 &lt;= month &lt;= 12</a:t>
            </a:r>
          </a:p>
          <a:p>
            <a:pPr marL="914400" lvl="2" indent="0">
              <a:lnSpc>
                <a:spcPct val="100000"/>
              </a:lnSpc>
              <a:buNone/>
            </a:pPr>
            <a:r>
              <a:rPr lang="en-US" altLang="zh-CN" sz="1800" dirty="0">
                <a:ea typeface="宋体" panose="02010600030101010101" pitchFamily="2" charset="-122"/>
              </a:rPr>
              <a:t>·1 &lt;= day &lt;= </a:t>
            </a:r>
            <a:r>
              <a:rPr lang="zh-CN" altLang="en-US" sz="1800" dirty="0">
                <a:ea typeface="宋体" panose="02010600030101010101" pitchFamily="2" charset="-122"/>
              </a:rPr>
              <a:t>给定年月对应的天数</a:t>
            </a:r>
            <a:endParaRPr lang="en-US" altLang="zh-CN" sz="1800" dirty="0">
              <a:ea typeface="宋体" panose="02010600030101010101" pitchFamily="2" charset="-122"/>
            </a:endParaRPr>
          </a:p>
          <a:p>
            <a:pPr marL="914400" lvl="2" indent="0">
              <a:lnSpc>
                <a:spcPct val="100000"/>
              </a:lnSpc>
              <a:buNone/>
            </a:pPr>
            <a:endParaRPr lang="en-US" altLang="zh-CN" sz="1800" dirty="0">
              <a:ea typeface="宋体" panose="02010600030101010101" pitchFamily="2" charset="-122"/>
            </a:endParaRPr>
          </a:p>
        </p:txBody>
      </p:sp>
      <p:pic>
        <p:nvPicPr>
          <p:cNvPr id="2" name="Picture 1">
            <a:extLst>
              <a:ext uri="{FF2B5EF4-FFF2-40B4-BE49-F238E27FC236}">
                <a16:creationId xmlns:a16="http://schemas.microsoft.com/office/drawing/2014/main" id="{AC7C6A48-EAF7-6858-4737-1F8C5080D23D}"/>
              </a:ext>
            </a:extLst>
          </p:cNvPr>
          <p:cNvPicPr>
            <a:picLocks noChangeAspect="1"/>
          </p:cNvPicPr>
          <p:nvPr/>
        </p:nvPicPr>
        <p:blipFill>
          <a:blip r:embed="rId3"/>
          <a:stretch>
            <a:fillRect/>
          </a:stretch>
        </p:blipFill>
        <p:spPr>
          <a:xfrm>
            <a:off x="1212476" y="4291339"/>
            <a:ext cx="9527965" cy="1680523"/>
          </a:xfrm>
          <a:prstGeom prst="rect">
            <a:avLst/>
          </a:prstGeom>
        </p:spPr>
      </p:pic>
    </p:spTree>
    <p:extLst>
      <p:ext uri="{BB962C8B-B14F-4D97-AF65-F5344CB8AC3E}">
        <p14:creationId xmlns:p14="http://schemas.microsoft.com/office/powerpoint/2010/main" val="311763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latin typeface="Microsoft YaHei" panose="020B0503020204020204" pitchFamily="34" charset="-122"/>
                <a:ea typeface="Microsoft YaHei" panose="020B0503020204020204" pitchFamily="34" charset="-122"/>
              </a:rPr>
              <a:t>datetime</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time</a:t>
            </a:r>
            <a:r>
              <a:rPr lang="zh-CN" altLang="en-US" dirty="0">
                <a:latin typeface="Microsoft YaHei" panose="020B0503020204020204" pitchFamily="34" charset="-122"/>
                <a:ea typeface="Microsoft YaHei" panose="020B0503020204020204" pitchFamily="34" charset="-122"/>
              </a:rPr>
              <a:t>类</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385047"/>
            <a:ext cx="9980682" cy="2850777"/>
          </a:xfrm>
        </p:spPr>
        <p:txBody>
          <a:bodyPr>
            <a:normAutofit/>
          </a:bodyPr>
          <a:lstStyle/>
          <a:p>
            <a:pPr>
              <a:lnSpc>
                <a:spcPct val="100000"/>
              </a:lnSpc>
            </a:pPr>
            <a:r>
              <a:rPr lang="zh-CN" altLang="en-US" sz="1800" dirty="0">
                <a:latin typeface="宋体" panose="02010600030101010101" pitchFamily="2" charset="-122"/>
                <a:ea typeface="宋体" panose="02010600030101010101" pitchFamily="2" charset="-122"/>
              </a:rPr>
              <a:t>一个</a:t>
            </a:r>
            <a:r>
              <a:rPr lang="en-US" altLang="zh-CN" sz="1800" dirty="0">
                <a:latin typeface="宋体" panose="02010600030101010101" pitchFamily="2" charset="-122"/>
                <a:ea typeface="宋体" panose="02010600030101010101" pitchFamily="2" charset="-122"/>
              </a:rPr>
              <a:t>time</a:t>
            </a:r>
            <a:r>
              <a:rPr lang="zh-CN" altLang="en-US" sz="1800" dirty="0">
                <a:latin typeface="宋体" panose="02010600030101010101" pitchFamily="2" charset="-122"/>
                <a:ea typeface="宋体" panose="02010600030101010101" pitchFamily="2" charset="-122"/>
              </a:rPr>
              <a:t>对象代表一天中的某个当地时刻，不属于特定的某天，字段包括小时、分钟、秒和毫秒。</a:t>
            </a:r>
            <a:endParaRPr lang="en-US" altLang="zh-CN" sz="1800" dirty="0">
              <a:latin typeface="宋体" panose="02010600030101010101" pitchFamily="2" charset="-122"/>
              <a:ea typeface="宋体" panose="02010600030101010101" pitchFamily="2" charset="-122"/>
            </a:endParaRPr>
          </a:p>
          <a:p>
            <a:pPr lvl="1">
              <a:lnSpc>
                <a:spcPct val="100000"/>
              </a:lnSpc>
            </a:pPr>
            <a:r>
              <a:rPr lang="zh-CN" altLang="en-US" sz="1800" dirty="0">
                <a:latin typeface="宋体" panose="02010600030101010101" pitchFamily="2" charset="-122"/>
                <a:ea typeface="宋体" panose="02010600030101010101" pitchFamily="2" charset="-122"/>
              </a:rPr>
              <a:t>导入类：</a:t>
            </a:r>
            <a:r>
              <a:rPr lang="en-US" altLang="zh-CN" sz="1800" b="1" dirty="0">
                <a:solidFill>
                  <a:srgbClr val="7030A0"/>
                </a:solidFill>
                <a:latin typeface="宋体" panose="02010600030101010101" pitchFamily="2" charset="-122"/>
                <a:ea typeface="宋体" panose="02010600030101010101" pitchFamily="2" charset="-122"/>
              </a:rPr>
              <a:t>from </a:t>
            </a:r>
            <a:r>
              <a:rPr lang="en-US" altLang="zh-CN" sz="1800" b="1" dirty="0" err="1">
                <a:solidFill>
                  <a:srgbClr val="7030A0"/>
                </a:solidFill>
                <a:latin typeface="宋体" panose="02010600030101010101" pitchFamily="2" charset="-122"/>
                <a:ea typeface="宋体" panose="02010600030101010101" pitchFamily="2" charset="-122"/>
              </a:rPr>
              <a:t>datetime</a:t>
            </a:r>
            <a:r>
              <a:rPr lang="en-US" altLang="zh-CN" sz="1800" b="1" dirty="0">
                <a:solidFill>
                  <a:srgbClr val="7030A0"/>
                </a:solidFill>
                <a:latin typeface="宋体" panose="02010600030101010101" pitchFamily="2" charset="-122"/>
                <a:ea typeface="宋体" panose="02010600030101010101" pitchFamily="2" charset="-122"/>
              </a:rPr>
              <a:t> import time</a:t>
            </a:r>
          </a:p>
          <a:p>
            <a:pPr lvl="1">
              <a:lnSpc>
                <a:spcPct val="100000"/>
              </a:lnSpc>
            </a:pPr>
            <a:r>
              <a:rPr lang="zh-CN" altLang="en-US" sz="1800" dirty="0">
                <a:latin typeface="宋体" panose="02010600030101010101" pitchFamily="2" charset="-122"/>
                <a:ea typeface="宋体" panose="02010600030101010101" pitchFamily="2" charset="-122"/>
              </a:rPr>
              <a:t>构造函数：</a:t>
            </a:r>
            <a:r>
              <a:rPr lang="en-US" altLang="zh-CN" sz="1800" b="1" dirty="0">
                <a:latin typeface="宋体" panose="02010600030101010101" pitchFamily="2" charset="-122"/>
                <a:ea typeface="宋体" panose="02010600030101010101" pitchFamily="2" charset="-122"/>
              </a:rPr>
              <a:t>time(hour=0,minute=0,second=0,microsecond=0)</a:t>
            </a:r>
          </a:p>
          <a:p>
            <a:pPr marL="914400" lvl="2" indent="0">
              <a:lnSpc>
                <a:spcPct val="100000"/>
              </a:lnSpc>
              <a:buNone/>
            </a:pPr>
            <a:r>
              <a:rPr lang="zh-CN" altLang="en-US" sz="1800" dirty="0">
                <a:latin typeface="宋体" panose="02010600030101010101" pitchFamily="2" charset="-122"/>
                <a:ea typeface="宋体" panose="02010600030101010101" pitchFamily="2" charset="-122"/>
              </a:rPr>
              <a:t>其中，所有字段均为可选字段。其余的字段取值为以下范围内的整数，不提供则默认为</a:t>
            </a:r>
            <a:r>
              <a:rPr lang="en-US" altLang="zh-CN" sz="1800" dirty="0">
                <a:latin typeface="宋体" panose="02010600030101010101" pitchFamily="2" charset="-122"/>
                <a:ea typeface="宋体" panose="02010600030101010101" pitchFamily="2" charset="-122"/>
              </a:rPr>
              <a:t>0</a:t>
            </a:r>
            <a:r>
              <a:rPr lang="zh-CN" altLang="en-US" sz="1800" dirty="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marL="914400" lvl="2" indent="0">
              <a:lnSpc>
                <a:spcPct val="100000"/>
              </a:lnSpc>
              <a:buNone/>
            </a:pPr>
            <a:r>
              <a:rPr lang="en-US" altLang="zh-CN" sz="1800" dirty="0">
                <a:latin typeface="宋体" panose="02010600030101010101" pitchFamily="2" charset="-122"/>
                <a:ea typeface="宋体" panose="02010600030101010101" pitchFamily="2" charset="-122"/>
              </a:rPr>
              <a:t>·0 &lt;= hour &lt; 24</a:t>
            </a:r>
          </a:p>
          <a:p>
            <a:pPr marL="914400" lvl="2" indent="0">
              <a:lnSpc>
                <a:spcPct val="100000"/>
              </a:lnSpc>
              <a:buNone/>
            </a:pPr>
            <a:r>
              <a:rPr lang="en-US" altLang="zh-CN" sz="1800" dirty="0">
                <a:latin typeface="宋体" panose="02010600030101010101" pitchFamily="2" charset="-122"/>
                <a:ea typeface="宋体" panose="02010600030101010101" pitchFamily="2" charset="-122"/>
              </a:rPr>
              <a:t>·0 &lt;= minute &lt; 60</a:t>
            </a:r>
          </a:p>
          <a:p>
            <a:pPr marL="914400" lvl="2" indent="0">
              <a:lnSpc>
                <a:spcPct val="100000"/>
              </a:lnSpc>
              <a:buNone/>
            </a:pPr>
            <a:r>
              <a:rPr lang="en-US" altLang="zh-CN" sz="1800" dirty="0">
                <a:latin typeface="宋体" panose="02010600030101010101" pitchFamily="2" charset="-122"/>
                <a:ea typeface="宋体" panose="02010600030101010101" pitchFamily="2" charset="-122"/>
              </a:rPr>
              <a:t>·0 &lt;= second &lt; 60</a:t>
            </a:r>
          </a:p>
          <a:p>
            <a:pPr marL="914400" lvl="2" indent="0">
              <a:lnSpc>
                <a:spcPct val="100000"/>
              </a:lnSpc>
              <a:buNone/>
            </a:pPr>
            <a:r>
              <a:rPr lang="en-US" altLang="zh-CN" sz="1800" dirty="0">
                <a:latin typeface="宋体" panose="02010600030101010101" pitchFamily="2" charset="-122"/>
                <a:ea typeface="宋体" panose="02010600030101010101" pitchFamily="2" charset="-122"/>
              </a:rPr>
              <a:t>·0 &lt;= microsecond &lt; 1000000</a:t>
            </a:r>
          </a:p>
        </p:txBody>
      </p:sp>
      <p:pic>
        <p:nvPicPr>
          <p:cNvPr id="2" name="Picture 1">
            <a:extLst>
              <a:ext uri="{FF2B5EF4-FFF2-40B4-BE49-F238E27FC236}">
                <a16:creationId xmlns:a16="http://schemas.microsoft.com/office/drawing/2014/main" id="{54C94B91-2026-CA74-402D-8CBE1963D120}"/>
              </a:ext>
            </a:extLst>
          </p:cNvPr>
          <p:cNvPicPr>
            <a:picLocks noChangeAspect="1"/>
          </p:cNvPicPr>
          <p:nvPr/>
        </p:nvPicPr>
        <p:blipFill>
          <a:blip r:embed="rId3"/>
          <a:stretch>
            <a:fillRect/>
          </a:stretch>
        </p:blipFill>
        <p:spPr>
          <a:xfrm>
            <a:off x="1431365" y="4579098"/>
            <a:ext cx="8372522" cy="1203138"/>
          </a:xfrm>
          <a:prstGeom prst="rect">
            <a:avLst/>
          </a:prstGeom>
        </p:spPr>
      </p:pic>
    </p:spTree>
    <p:extLst>
      <p:ext uri="{BB962C8B-B14F-4D97-AF65-F5344CB8AC3E}">
        <p14:creationId xmlns:p14="http://schemas.microsoft.com/office/powerpoint/2010/main" val="2885020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t>datetime</a:t>
            </a:r>
            <a:r>
              <a:rPr lang="zh-CN" altLang="en-US" dirty="0"/>
              <a:t>模块：</a:t>
            </a:r>
            <a:r>
              <a:rPr lang="en-US" altLang="zh-CN" dirty="0" err="1"/>
              <a:t>datetime</a:t>
            </a:r>
            <a:r>
              <a:rPr lang="zh-CN" altLang="en-US" dirty="0"/>
              <a:t>类</a:t>
            </a:r>
            <a:endParaRPr lang="en-US" dirty="0"/>
          </a:p>
        </p:txBody>
      </p:sp>
      <p:sp>
        <p:nvSpPr>
          <p:cNvPr id="14" name="Content Placeholder 13"/>
          <p:cNvSpPr>
            <a:spLocks noGrp="1"/>
          </p:cNvSpPr>
          <p:nvPr>
            <p:ph idx="1"/>
          </p:nvPr>
        </p:nvSpPr>
        <p:spPr>
          <a:xfrm>
            <a:off x="1104900" y="1344707"/>
            <a:ext cx="10588336" cy="2891118"/>
          </a:xfrm>
        </p:spPr>
        <p:txBody>
          <a:bodyPr>
            <a:normAutofit/>
          </a:bodyPr>
          <a:lstStyle/>
          <a:p>
            <a:pPr>
              <a:lnSpc>
                <a:spcPct val="100000"/>
              </a:lnSpc>
            </a:pPr>
            <a:r>
              <a:rPr lang="en-US" altLang="zh-CN" sz="1800" dirty="0">
                <a:latin typeface="宋体" panose="02010600030101010101" pitchFamily="2" charset="-122"/>
                <a:ea typeface="宋体" panose="02010600030101010101" pitchFamily="2" charset="-122"/>
              </a:rPr>
              <a:t>date</a:t>
            </a:r>
            <a:r>
              <a:rPr lang="zh-CN" altLang="en-US" sz="1800" dirty="0">
                <a:latin typeface="宋体" panose="02010600030101010101" pitchFamily="2" charset="-122"/>
                <a:ea typeface="宋体" panose="02010600030101010101" pitchFamily="2" charset="-122"/>
              </a:rPr>
              <a:t>对象表示在理想化的日历中的一个日期，包括年、月、日。</a:t>
            </a:r>
            <a:endParaRPr lang="en-US" altLang="zh-CN" sz="1800" dirty="0">
              <a:latin typeface="宋体" panose="02010600030101010101" pitchFamily="2" charset="-122"/>
              <a:ea typeface="宋体" panose="02010600030101010101" pitchFamily="2" charset="-122"/>
            </a:endParaRPr>
          </a:p>
          <a:p>
            <a:pPr lvl="1">
              <a:lnSpc>
                <a:spcPct val="100000"/>
              </a:lnSpc>
            </a:pPr>
            <a:r>
              <a:rPr lang="zh-CN" altLang="en-US" sz="1800" dirty="0">
                <a:latin typeface="宋体" panose="02010600030101010101" pitchFamily="2" charset="-122"/>
                <a:ea typeface="宋体" panose="02010600030101010101" pitchFamily="2" charset="-122"/>
              </a:rPr>
              <a:t>导入类：</a:t>
            </a:r>
            <a:r>
              <a:rPr lang="en-US" altLang="zh-CN" sz="1800" b="1" dirty="0">
                <a:solidFill>
                  <a:srgbClr val="7030A0"/>
                </a:solidFill>
                <a:latin typeface="宋体" panose="02010600030101010101" pitchFamily="2" charset="-122"/>
                <a:ea typeface="宋体" panose="02010600030101010101" pitchFamily="2" charset="-122"/>
              </a:rPr>
              <a:t>from </a:t>
            </a:r>
            <a:r>
              <a:rPr lang="en-US" altLang="zh-CN" sz="1800" b="1" dirty="0" err="1">
                <a:solidFill>
                  <a:srgbClr val="7030A0"/>
                </a:solidFill>
                <a:latin typeface="宋体" panose="02010600030101010101" pitchFamily="2" charset="-122"/>
                <a:ea typeface="宋体" panose="02010600030101010101" pitchFamily="2" charset="-122"/>
              </a:rPr>
              <a:t>datetime</a:t>
            </a:r>
            <a:r>
              <a:rPr lang="en-US" altLang="zh-CN" sz="1800" b="1" dirty="0">
                <a:solidFill>
                  <a:srgbClr val="7030A0"/>
                </a:solidFill>
                <a:latin typeface="宋体" panose="02010600030101010101" pitchFamily="2" charset="-122"/>
                <a:ea typeface="宋体" panose="02010600030101010101" pitchFamily="2" charset="-122"/>
              </a:rPr>
              <a:t> import </a:t>
            </a:r>
            <a:r>
              <a:rPr lang="en-US" altLang="zh-CN" sz="1800" b="1" dirty="0" err="1">
                <a:solidFill>
                  <a:srgbClr val="7030A0"/>
                </a:solidFill>
                <a:latin typeface="宋体" panose="02010600030101010101" pitchFamily="2" charset="-122"/>
                <a:ea typeface="宋体" panose="02010600030101010101" pitchFamily="2" charset="-122"/>
              </a:rPr>
              <a:t>datetime</a:t>
            </a:r>
            <a:endParaRPr lang="en-US" altLang="zh-CN" sz="1800" b="1" dirty="0">
              <a:solidFill>
                <a:srgbClr val="7030A0"/>
              </a:solidFill>
              <a:latin typeface="宋体" panose="02010600030101010101" pitchFamily="2" charset="-122"/>
              <a:ea typeface="宋体" panose="02010600030101010101" pitchFamily="2" charset="-122"/>
            </a:endParaRPr>
          </a:p>
          <a:p>
            <a:pPr lvl="1">
              <a:lnSpc>
                <a:spcPct val="100000"/>
              </a:lnSpc>
            </a:pPr>
            <a:r>
              <a:rPr lang="zh-CN" altLang="en-US" sz="1800" dirty="0">
                <a:latin typeface="宋体" panose="02010600030101010101" pitchFamily="2" charset="-122"/>
                <a:ea typeface="宋体" panose="02010600030101010101" pitchFamily="2" charset="-122"/>
              </a:rPr>
              <a:t>构造函数：</a:t>
            </a:r>
            <a:r>
              <a:rPr lang="en-US" altLang="zh-CN" sz="1800" b="1" dirty="0">
                <a:latin typeface="宋体" panose="02010600030101010101" pitchFamily="2" charset="-122"/>
                <a:ea typeface="宋体" panose="02010600030101010101" pitchFamily="2" charset="-122"/>
              </a:rPr>
              <a:t>datetime(</a:t>
            </a:r>
            <a:r>
              <a:rPr lang="en-US" altLang="zh-CN" sz="1800" b="1" dirty="0" err="1">
                <a:latin typeface="宋体" panose="02010600030101010101" pitchFamily="2" charset="-122"/>
                <a:ea typeface="宋体" panose="02010600030101010101" pitchFamily="2" charset="-122"/>
              </a:rPr>
              <a:t>year,month,day,hour</a:t>
            </a:r>
            <a:r>
              <a:rPr lang="en-US" altLang="zh-CN" sz="1800" b="1" dirty="0">
                <a:latin typeface="宋体" panose="02010600030101010101" pitchFamily="2" charset="-122"/>
                <a:ea typeface="宋体" panose="02010600030101010101" pitchFamily="2" charset="-122"/>
              </a:rPr>
              <a:t>=0,minute=0,second=0,microsecend=0)</a:t>
            </a:r>
            <a:br>
              <a:rPr lang="en-US" altLang="zh-CN" sz="1800" b="1" dirty="0">
                <a:latin typeface="宋体" panose="02010600030101010101" pitchFamily="2" charset="-122"/>
                <a:ea typeface="宋体" panose="02010600030101010101" pitchFamily="2" charset="-122"/>
              </a:rPr>
            </a:br>
            <a:r>
              <a:rPr lang="zh-CN" altLang="en-US" sz="1800" dirty="0">
                <a:latin typeface="宋体" panose="02010600030101010101" pitchFamily="2" charset="-122"/>
                <a:ea typeface="宋体" panose="02010600030101010101" pitchFamily="2" charset="-122"/>
              </a:rPr>
              <a:t>其中，</a:t>
            </a:r>
            <a:r>
              <a:rPr lang="en-US" altLang="zh-CN" sz="1800" dirty="0">
                <a:latin typeface="宋体" panose="02010600030101010101" pitchFamily="2" charset="-122"/>
                <a:ea typeface="宋体" panose="02010600030101010101" pitchFamily="2" charset="-122"/>
              </a:rPr>
              <a:t>year</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month</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day</a:t>
            </a:r>
            <a:r>
              <a:rPr lang="zh-CN" altLang="en-US" sz="1800" dirty="0">
                <a:latin typeface="宋体" panose="02010600030101010101" pitchFamily="2" charset="-122"/>
                <a:ea typeface="宋体" panose="02010600030101010101" pitchFamily="2" charset="-122"/>
              </a:rPr>
              <a:t>三个字段是必选的，其余字段应是以下范围内的整数：</a:t>
            </a:r>
            <a:endParaRPr lang="en-US" altLang="zh-CN" sz="1800" dirty="0">
              <a:latin typeface="宋体" panose="02010600030101010101" pitchFamily="2" charset="-122"/>
              <a:ea typeface="宋体" panose="02010600030101010101" pitchFamily="2" charset="-122"/>
            </a:endParaRPr>
          </a:p>
          <a:p>
            <a:pPr marL="457200" lvl="1" indent="0">
              <a:lnSpc>
                <a:spcPct val="100000"/>
              </a:lnSpc>
              <a:buNone/>
            </a:pPr>
            <a:r>
              <a:rPr lang="en-US" altLang="zh-CN" sz="1800" dirty="0">
                <a:latin typeface="宋体" panose="02010600030101010101" pitchFamily="2" charset="-122"/>
                <a:ea typeface="宋体" panose="02010600030101010101" pitchFamily="2" charset="-122"/>
              </a:rPr>
              <a:t>	·1 = MINYEAR &lt;= year &lt;= MAXYAER = 9999</a:t>
            </a:r>
          </a:p>
          <a:p>
            <a:pPr marL="914400" lvl="2" indent="0">
              <a:lnSpc>
                <a:spcPct val="100000"/>
              </a:lnSpc>
              <a:buNone/>
            </a:pPr>
            <a:r>
              <a:rPr lang="en-US" altLang="zh-CN" sz="1800" dirty="0">
                <a:latin typeface="宋体" panose="02010600030101010101" pitchFamily="2" charset="-122"/>
                <a:ea typeface="宋体" panose="02010600030101010101" pitchFamily="2" charset="-122"/>
              </a:rPr>
              <a:t>·1 &lt;= month &lt;= 12</a:t>
            </a:r>
          </a:p>
          <a:p>
            <a:pPr marL="914400" lvl="2" indent="0">
              <a:lnSpc>
                <a:spcPct val="100000"/>
              </a:lnSpc>
              <a:buNone/>
            </a:pPr>
            <a:r>
              <a:rPr lang="en-US" altLang="zh-CN" sz="1800" dirty="0">
                <a:latin typeface="宋体" panose="02010600030101010101" pitchFamily="2" charset="-122"/>
                <a:ea typeface="宋体" panose="02010600030101010101" pitchFamily="2" charset="-122"/>
              </a:rPr>
              <a:t>·1 &lt;= day &lt;= </a:t>
            </a:r>
            <a:r>
              <a:rPr lang="zh-CN" altLang="en-US" sz="1800" dirty="0">
                <a:latin typeface="宋体" panose="02010600030101010101" pitchFamily="2" charset="-122"/>
                <a:ea typeface="宋体" panose="02010600030101010101" pitchFamily="2" charset="-122"/>
              </a:rPr>
              <a:t>给定年月对应的天数</a:t>
            </a:r>
            <a:endParaRPr lang="en-US" altLang="zh-CN" sz="1800" dirty="0">
              <a:latin typeface="宋体" panose="02010600030101010101" pitchFamily="2" charset="-122"/>
              <a:ea typeface="宋体" panose="02010600030101010101" pitchFamily="2" charset="-122"/>
            </a:endParaRPr>
          </a:p>
          <a:p>
            <a:pPr marL="914400" lvl="2" indent="0">
              <a:lnSpc>
                <a:spcPct val="100000"/>
              </a:lnSpc>
              <a:buNone/>
            </a:pPr>
            <a:r>
              <a:rPr lang="en-US" altLang="zh-CN" sz="1800" dirty="0">
                <a:latin typeface="宋体" panose="02010600030101010101" pitchFamily="2" charset="-122"/>
                <a:ea typeface="宋体" panose="02010600030101010101" pitchFamily="2" charset="-122"/>
              </a:rPr>
              <a:t>·0 &lt;= hour &lt; 24</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0 &lt;= minute &lt; 60</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0 &lt;= second &lt; 60</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0 &lt;= microsecond &lt; 1000000</a:t>
            </a:r>
          </a:p>
          <a:p>
            <a:pPr marL="914400" lvl="2" indent="0">
              <a:lnSpc>
                <a:spcPct val="100000"/>
              </a:lnSpc>
              <a:buNone/>
            </a:pPr>
            <a:endParaRPr lang="en-US" altLang="zh-CN" sz="1800" dirty="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6A13D544-92C7-2375-74BF-6DBDF4AB94FA}"/>
              </a:ext>
            </a:extLst>
          </p:cNvPr>
          <p:cNvPicPr>
            <a:picLocks noChangeAspect="1"/>
          </p:cNvPicPr>
          <p:nvPr/>
        </p:nvPicPr>
        <p:blipFill>
          <a:blip r:embed="rId3"/>
          <a:stretch>
            <a:fillRect/>
          </a:stretch>
        </p:blipFill>
        <p:spPr>
          <a:xfrm>
            <a:off x="1104900" y="4407370"/>
            <a:ext cx="9051685" cy="1748116"/>
          </a:xfrm>
          <a:prstGeom prst="rect">
            <a:avLst/>
          </a:prstGeom>
        </p:spPr>
      </p:pic>
    </p:spTree>
    <p:extLst>
      <p:ext uri="{BB962C8B-B14F-4D97-AF65-F5344CB8AC3E}">
        <p14:creationId xmlns:p14="http://schemas.microsoft.com/office/powerpoint/2010/main" val="176050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t>datetime</a:t>
            </a:r>
            <a:r>
              <a:rPr lang="zh-CN" altLang="en-US" dirty="0"/>
              <a:t>模块：</a:t>
            </a:r>
            <a:r>
              <a:rPr lang="en-US" altLang="zh-CN" dirty="0" err="1"/>
              <a:t>timedelta</a:t>
            </a:r>
            <a:r>
              <a:rPr lang="zh-CN" altLang="en-US" dirty="0"/>
              <a:t>类</a:t>
            </a:r>
            <a:endParaRPr lang="en-US" dirty="0"/>
          </a:p>
        </p:txBody>
      </p:sp>
      <p:sp>
        <p:nvSpPr>
          <p:cNvPr id="14" name="Content Placeholder 13"/>
          <p:cNvSpPr>
            <a:spLocks noGrp="1"/>
          </p:cNvSpPr>
          <p:nvPr>
            <p:ph idx="1"/>
          </p:nvPr>
        </p:nvSpPr>
        <p:spPr>
          <a:xfrm>
            <a:off x="1104900" y="1385047"/>
            <a:ext cx="10588336" cy="3738282"/>
          </a:xfrm>
        </p:spPr>
        <p:txBody>
          <a:bodyPr>
            <a:normAutofit/>
          </a:bodyPr>
          <a:lstStyle/>
          <a:p>
            <a:pPr>
              <a:lnSpc>
                <a:spcPct val="100000"/>
              </a:lnSpc>
            </a:pPr>
            <a:r>
              <a:rPr lang="zh-CN" altLang="en-US" sz="1800" dirty="0">
                <a:latin typeface="宋体" panose="02010600030101010101" pitchFamily="2" charset="-122"/>
                <a:ea typeface="宋体" panose="02010600030101010101" pitchFamily="2" charset="-122"/>
              </a:rPr>
              <a:t>一个</a:t>
            </a:r>
            <a:r>
              <a:rPr lang="en-US" altLang="zh-CN" sz="1800" dirty="0" err="1">
                <a:latin typeface="宋体" panose="02010600030101010101" pitchFamily="2" charset="-122"/>
                <a:ea typeface="宋体" panose="02010600030101010101" pitchFamily="2" charset="-122"/>
              </a:rPr>
              <a:t>timedelta</a:t>
            </a:r>
            <a:r>
              <a:rPr lang="zh-CN" altLang="en-US" sz="1800" dirty="0">
                <a:latin typeface="宋体" panose="02010600030101010101" pitchFamily="2" charset="-122"/>
                <a:ea typeface="宋体" panose="02010600030101010101" pitchFamily="2" charset="-122"/>
              </a:rPr>
              <a:t>对象表示了两个</a:t>
            </a:r>
            <a:r>
              <a:rPr lang="en-US" altLang="zh-CN" sz="1800" dirty="0">
                <a:latin typeface="宋体" panose="02010600030101010101" pitchFamily="2" charset="-122"/>
                <a:ea typeface="宋体" panose="02010600030101010101" pitchFamily="2" charset="-122"/>
              </a:rPr>
              <a:t>date</a:t>
            </a:r>
            <a:r>
              <a:rPr lang="zh-CN" altLang="en-US" sz="1800" dirty="0">
                <a:latin typeface="宋体" panose="02010600030101010101" pitchFamily="2" charset="-122"/>
                <a:ea typeface="宋体" panose="02010600030101010101" pitchFamily="2" charset="-122"/>
              </a:rPr>
              <a:t>对象、两个</a:t>
            </a:r>
            <a:r>
              <a:rPr lang="en-US" altLang="zh-CN" sz="1800" dirty="0">
                <a:latin typeface="宋体" panose="02010600030101010101" pitchFamily="2" charset="-122"/>
                <a:ea typeface="宋体" panose="02010600030101010101" pitchFamily="2" charset="-122"/>
              </a:rPr>
              <a:t>time</a:t>
            </a:r>
            <a:r>
              <a:rPr lang="zh-CN" altLang="en-US" sz="1800" dirty="0">
                <a:latin typeface="宋体" panose="02010600030101010101" pitchFamily="2" charset="-122"/>
                <a:ea typeface="宋体" panose="02010600030101010101" pitchFamily="2" charset="-122"/>
              </a:rPr>
              <a:t>对象或者两个</a:t>
            </a:r>
            <a:r>
              <a:rPr lang="en-US" altLang="zh-CN" sz="1800" dirty="0">
                <a:latin typeface="宋体" panose="02010600030101010101" pitchFamily="2" charset="-122"/>
                <a:ea typeface="宋体" panose="02010600030101010101" pitchFamily="2" charset="-122"/>
              </a:rPr>
              <a:t>datetime</a:t>
            </a:r>
            <a:r>
              <a:rPr lang="zh-CN" altLang="en-US" sz="1800" dirty="0">
                <a:latin typeface="宋体" panose="02010600030101010101" pitchFamily="2" charset="-122"/>
                <a:ea typeface="宋体" panose="02010600030101010101" pitchFamily="2" charset="-122"/>
              </a:rPr>
              <a:t>对象的时间间隔。</a:t>
            </a:r>
            <a:endParaRPr lang="en-US" altLang="zh-CN" sz="1800" dirty="0">
              <a:latin typeface="宋体" panose="02010600030101010101" pitchFamily="2" charset="-122"/>
              <a:ea typeface="宋体" panose="02010600030101010101" pitchFamily="2" charset="-122"/>
            </a:endParaRPr>
          </a:p>
          <a:p>
            <a:pPr lvl="1">
              <a:lnSpc>
                <a:spcPct val="100000"/>
              </a:lnSpc>
            </a:pPr>
            <a:r>
              <a:rPr lang="zh-CN" altLang="en-US" sz="1800" dirty="0">
                <a:latin typeface="宋体" panose="02010600030101010101" pitchFamily="2" charset="-122"/>
                <a:ea typeface="宋体" panose="02010600030101010101" pitchFamily="2" charset="-122"/>
              </a:rPr>
              <a:t>导入类：</a:t>
            </a:r>
            <a:r>
              <a:rPr lang="en-US" altLang="zh-CN" sz="1800" b="1" dirty="0">
                <a:solidFill>
                  <a:srgbClr val="7030A0"/>
                </a:solidFill>
                <a:latin typeface="宋体" panose="02010600030101010101" pitchFamily="2" charset="-122"/>
                <a:ea typeface="宋体" panose="02010600030101010101" pitchFamily="2" charset="-122"/>
              </a:rPr>
              <a:t>from datetime import </a:t>
            </a:r>
            <a:r>
              <a:rPr lang="en-US" altLang="zh-CN" sz="1800" b="1" dirty="0" err="1">
                <a:solidFill>
                  <a:srgbClr val="7030A0"/>
                </a:solidFill>
                <a:latin typeface="宋体" panose="02010600030101010101" pitchFamily="2" charset="-122"/>
                <a:ea typeface="宋体" panose="02010600030101010101" pitchFamily="2" charset="-122"/>
              </a:rPr>
              <a:t>timedelta</a:t>
            </a:r>
            <a:endParaRPr lang="en-US" altLang="zh-CN" sz="1800" b="1" dirty="0">
              <a:solidFill>
                <a:srgbClr val="7030A0"/>
              </a:solidFill>
              <a:latin typeface="宋体" panose="02010600030101010101" pitchFamily="2" charset="-122"/>
              <a:ea typeface="宋体" panose="02010600030101010101" pitchFamily="2" charset="-122"/>
            </a:endParaRPr>
          </a:p>
          <a:p>
            <a:pPr lvl="1">
              <a:lnSpc>
                <a:spcPct val="100000"/>
              </a:lnSpc>
            </a:pPr>
            <a:r>
              <a:rPr lang="zh-CN" altLang="en-US" sz="1800" dirty="0">
                <a:latin typeface="宋体" panose="02010600030101010101" pitchFamily="2" charset="-122"/>
                <a:ea typeface="宋体" panose="02010600030101010101" pitchFamily="2" charset="-122"/>
              </a:rPr>
              <a:t>构造函数：</a:t>
            </a:r>
            <a:r>
              <a:rPr lang="en-US" altLang="zh-CN" sz="1800" b="1" dirty="0" err="1">
                <a:latin typeface="宋体" panose="02010600030101010101" pitchFamily="2" charset="-122"/>
                <a:ea typeface="宋体" panose="02010600030101010101" pitchFamily="2" charset="-122"/>
              </a:rPr>
              <a:t>datetime.timedelta</a:t>
            </a:r>
            <a:r>
              <a:rPr lang="en-US" altLang="zh-CN" sz="1800" b="1" dirty="0">
                <a:latin typeface="宋体" panose="02010600030101010101" pitchFamily="2" charset="-122"/>
                <a:ea typeface="宋体" panose="02010600030101010101" pitchFamily="2" charset="-122"/>
              </a:rPr>
              <a:t>(days=0,seconds=0,microseconds=0,milliseconds=0,minute=0,hours=0,weeks=0)</a:t>
            </a:r>
          </a:p>
          <a:p>
            <a:pPr marL="457200" lvl="1" indent="0">
              <a:lnSpc>
                <a:spcPct val="100000"/>
              </a:lnSpc>
              <a:buNone/>
            </a:pPr>
            <a:r>
              <a:rPr lang="en-US" altLang="zh-CN" sz="1800" b="1"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所有字段均可选，默认为</a:t>
            </a:r>
            <a:r>
              <a:rPr lang="en-US" altLang="zh-CN" sz="1800" dirty="0">
                <a:latin typeface="宋体" panose="02010600030101010101" pitchFamily="2" charset="-122"/>
                <a:ea typeface="宋体" panose="02010600030101010101" pitchFamily="2" charset="-122"/>
              </a:rPr>
              <a:t>0</a:t>
            </a:r>
            <a:r>
              <a:rPr lang="zh-CN" altLang="en-US" sz="1800" dirty="0">
                <a:latin typeface="宋体" panose="02010600030101010101" pitchFamily="2" charset="-122"/>
                <a:ea typeface="宋体" panose="02010600030101010101" pitchFamily="2" charset="-122"/>
              </a:rPr>
              <a:t>，字段值可以是整数或浮点数，可以是正值或负值。构造函数只存储</a:t>
            </a:r>
            <a:r>
              <a:rPr lang="en-US" altLang="zh-CN" sz="1800" dirty="0">
                <a:latin typeface="宋体" panose="02010600030101010101" pitchFamily="2" charset="-122"/>
                <a:ea typeface="宋体" panose="02010600030101010101" pitchFamily="2" charset="-122"/>
              </a:rPr>
              <a:t>days</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seconds</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microseconds</a:t>
            </a:r>
            <a:r>
              <a:rPr lang="zh-CN" altLang="en-US" sz="1800" dirty="0">
                <a:latin typeface="宋体" panose="02010600030101010101" pitchFamily="2" charset="-122"/>
                <a:ea typeface="宋体" panose="02010600030101010101" pitchFamily="2" charset="-122"/>
              </a:rPr>
              <a:t>，其它字段按下面规则转换：</a:t>
            </a:r>
            <a:endParaRPr lang="en-US" altLang="zh-CN" sz="1800" dirty="0">
              <a:latin typeface="宋体" panose="02010600030101010101" pitchFamily="2" charset="-122"/>
              <a:ea typeface="宋体" panose="02010600030101010101" pitchFamily="2" charset="-122"/>
            </a:endParaRPr>
          </a:p>
          <a:p>
            <a:pPr marL="457200" lvl="1" indent="0">
              <a:lnSpc>
                <a:spcPct val="100000"/>
              </a:lnSpc>
              <a:buNone/>
            </a:pPr>
            <a:r>
              <a:rPr lang="en-US" altLang="zh-CN" sz="1800" dirty="0">
                <a:latin typeface="宋体" panose="02010600030101010101" pitchFamily="2" charset="-122"/>
                <a:ea typeface="宋体" panose="02010600030101010101" pitchFamily="2" charset="-122"/>
              </a:rPr>
              <a:t>	·1</a:t>
            </a:r>
            <a:r>
              <a:rPr lang="zh-CN" altLang="en-US" sz="1800" dirty="0">
                <a:latin typeface="宋体" panose="02010600030101010101" pitchFamily="2" charset="-122"/>
                <a:ea typeface="宋体" panose="02010600030101010101" pitchFamily="2" charset="-122"/>
              </a:rPr>
              <a:t>毫秒（</a:t>
            </a:r>
            <a:r>
              <a:rPr lang="en-US" altLang="zh-CN" sz="1800" dirty="0">
                <a:latin typeface="宋体" panose="02010600030101010101" pitchFamily="2" charset="-122"/>
                <a:ea typeface="宋体" panose="02010600030101010101" pitchFamily="2" charset="-122"/>
              </a:rPr>
              <a:t>millisecond</a:t>
            </a:r>
            <a:r>
              <a:rPr lang="zh-CN" altLang="en-US" sz="1800" dirty="0">
                <a:latin typeface="宋体" panose="02010600030101010101" pitchFamily="2" charset="-122"/>
                <a:ea typeface="宋体" panose="02010600030101010101" pitchFamily="2" charset="-122"/>
              </a:rPr>
              <a:t>）转换为</a:t>
            </a:r>
            <a:r>
              <a:rPr lang="en-US" altLang="zh-CN" sz="1800" dirty="0">
                <a:latin typeface="宋体" panose="02010600030101010101" pitchFamily="2" charset="-122"/>
                <a:ea typeface="宋体" panose="02010600030101010101" pitchFamily="2" charset="-122"/>
              </a:rPr>
              <a:t>1000</a:t>
            </a:r>
            <a:r>
              <a:rPr lang="zh-CN" altLang="en-US" sz="1800" dirty="0">
                <a:latin typeface="宋体" panose="02010600030101010101" pitchFamily="2" charset="-122"/>
                <a:ea typeface="宋体" panose="02010600030101010101" pitchFamily="2" charset="-122"/>
              </a:rPr>
              <a:t>微秒（</a:t>
            </a:r>
            <a:r>
              <a:rPr lang="en-US" altLang="zh-CN" sz="1800" dirty="0">
                <a:latin typeface="宋体" panose="02010600030101010101" pitchFamily="2" charset="-122"/>
                <a:ea typeface="宋体" panose="02010600030101010101" pitchFamily="2" charset="-122"/>
              </a:rPr>
              <a:t>microsecond</a:t>
            </a:r>
            <a:r>
              <a:rPr lang="zh-CN" altLang="en-US" sz="1800" dirty="0">
                <a:latin typeface="宋体" panose="02010600030101010101" pitchFamily="2" charset="-122"/>
                <a:ea typeface="宋体" panose="02010600030101010101" pitchFamily="2" charset="-122"/>
              </a:rPr>
              <a:t>）</a:t>
            </a:r>
          </a:p>
          <a:p>
            <a:pPr marL="457200" lvl="1" indent="0">
              <a:lnSpc>
                <a:spcPct val="100000"/>
              </a:lnSpc>
              <a:buNone/>
            </a:pPr>
            <a:r>
              <a:rPr lang="en-US" altLang="zh-CN" sz="1800" dirty="0">
                <a:latin typeface="宋体" panose="02010600030101010101" pitchFamily="2" charset="-122"/>
                <a:ea typeface="宋体" panose="02010600030101010101" pitchFamily="2" charset="-122"/>
              </a:rPr>
              <a:t>	·1</a:t>
            </a:r>
            <a:r>
              <a:rPr lang="zh-CN" altLang="en-US" sz="1800" dirty="0">
                <a:latin typeface="宋体" panose="02010600030101010101" pitchFamily="2" charset="-122"/>
                <a:ea typeface="宋体" panose="02010600030101010101" pitchFamily="2" charset="-122"/>
              </a:rPr>
              <a:t>分钟（</a:t>
            </a:r>
            <a:r>
              <a:rPr lang="en-US" altLang="zh-CN" sz="1800" dirty="0">
                <a:latin typeface="宋体" panose="02010600030101010101" pitchFamily="2" charset="-122"/>
                <a:ea typeface="宋体" panose="02010600030101010101" pitchFamily="2" charset="-122"/>
              </a:rPr>
              <a:t>minute</a:t>
            </a:r>
            <a:r>
              <a:rPr lang="zh-CN" altLang="en-US" sz="1800" dirty="0">
                <a:latin typeface="宋体" panose="02010600030101010101" pitchFamily="2" charset="-122"/>
                <a:ea typeface="宋体" panose="02010600030101010101" pitchFamily="2" charset="-122"/>
              </a:rPr>
              <a:t>）转换为</a:t>
            </a:r>
            <a:r>
              <a:rPr lang="en-US" altLang="zh-CN" sz="1800" dirty="0">
                <a:latin typeface="宋体" panose="02010600030101010101" pitchFamily="2" charset="-122"/>
                <a:ea typeface="宋体" panose="02010600030101010101" pitchFamily="2" charset="-122"/>
              </a:rPr>
              <a:t>60</a:t>
            </a:r>
            <a:r>
              <a:rPr lang="zh-CN" altLang="en-US" sz="1800" dirty="0">
                <a:latin typeface="宋体" panose="02010600030101010101" pitchFamily="2" charset="-122"/>
                <a:ea typeface="宋体" panose="02010600030101010101" pitchFamily="2" charset="-122"/>
              </a:rPr>
              <a:t>秒（</a:t>
            </a:r>
            <a:r>
              <a:rPr lang="en-US" altLang="zh-CN" sz="1800" dirty="0">
                <a:latin typeface="宋体" panose="02010600030101010101" pitchFamily="2" charset="-122"/>
                <a:ea typeface="宋体" panose="02010600030101010101" pitchFamily="2" charset="-122"/>
              </a:rPr>
              <a:t>second</a:t>
            </a:r>
            <a:r>
              <a:rPr lang="zh-CN" altLang="en-US" sz="1800" dirty="0">
                <a:latin typeface="宋体" panose="02010600030101010101" pitchFamily="2" charset="-122"/>
                <a:ea typeface="宋体" panose="02010600030101010101" pitchFamily="2" charset="-122"/>
              </a:rPr>
              <a:t>）</a:t>
            </a:r>
          </a:p>
          <a:p>
            <a:pPr marL="457200" lvl="1" indent="0">
              <a:lnSpc>
                <a:spcPct val="100000"/>
              </a:lnSpc>
              <a:buNone/>
            </a:pPr>
            <a:r>
              <a:rPr lang="en-US" altLang="zh-CN" sz="1800" dirty="0">
                <a:latin typeface="宋体" panose="02010600030101010101" pitchFamily="2" charset="-122"/>
                <a:ea typeface="宋体" panose="02010600030101010101" pitchFamily="2" charset="-122"/>
              </a:rPr>
              <a:t>	·1</a:t>
            </a:r>
            <a:r>
              <a:rPr lang="zh-CN" altLang="en-US" sz="1800" dirty="0">
                <a:latin typeface="宋体" panose="02010600030101010101" pitchFamily="2" charset="-122"/>
                <a:ea typeface="宋体" panose="02010600030101010101" pitchFamily="2" charset="-122"/>
              </a:rPr>
              <a:t>小时（</a:t>
            </a:r>
            <a:r>
              <a:rPr lang="en-US" altLang="zh-CN" sz="1800" dirty="0">
                <a:latin typeface="宋体" panose="02010600030101010101" pitchFamily="2" charset="-122"/>
                <a:ea typeface="宋体" panose="02010600030101010101" pitchFamily="2" charset="-122"/>
              </a:rPr>
              <a:t>hour</a:t>
            </a:r>
            <a:r>
              <a:rPr lang="zh-CN" altLang="en-US" sz="1800" dirty="0">
                <a:latin typeface="宋体" panose="02010600030101010101" pitchFamily="2" charset="-122"/>
                <a:ea typeface="宋体" panose="02010600030101010101" pitchFamily="2" charset="-122"/>
              </a:rPr>
              <a:t>）转换为</a:t>
            </a:r>
            <a:r>
              <a:rPr lang="en-US" altLang="zh-CN" sz="1800" dirty="0">
                <a:latin typeface="宋体" panose="02010600030101010101" pitchFamily="2" charset="-122"/>
                <a:ea typeface="宋体" panose="02010600030101010101" pitchFamily="2" charset="-122"/>
              </a:rPr>
              <a:t>3600</a:t>
            </a:r>
            <a:r>
              <a:rPr lang="zh-CN" altLang="en-US" sz="1800" dirty="0">
                <a:latin typeface="宋体" panose="02010600030101010101" pitchFamily="2" charset="-122"/>
                <a:ea typeface="宋体" panose="02010600030101010101" pitchFamily="2" charset="-122"/>
              </a:rPr>
              <a:t>秒（</a:t>
            </a:r>
            <a:r>
              <a:rPr lang="en-US" altLang="zh-CN" sz="1800" dirty="0">
                <a:latin typeface="宋体" panose="02010600030101010101" pitchFamily="2" charset="-122"/>
                <a:ea typeface="宋体" panose="02010600030101010101" pitchFamily="2" charset="-122"/>
              </a:rPr>
              <a:t>second</a:t>
            </a:r>
            <a:r>
              <a:rPr lang="zh-CN" altLang="en-US" sz="1800" dirty="0">
                <a:latin typeface="宋体" panose="02010600030101010101" pitchFamily="2" charset="-122"/>
                <a:ea typeface="宋体" panose="02010600030101010101" pitchFamily="2" charset="-122"/>
              </a:rPr>
              <a:t>）</a:t>
            </a:r>
          </a:p>
          <a:p>
            <a:pPr marL="457200" lvl="1" indent="0">
              <a:lnSpc>
                <a:spcPct val="100000"/>
              </a:lnSpc>
              <a:buNone/>
            </a:pPr>
            <a:r>
              <a:rPr lang="en-US" altLang="zh-CN" sz="1800" dirty="0">
                <a:latin typeface="宋体" panose="02010600030101010101" pitchFamily="2" charset="-122"/>
                <a:ea typeface="宋体" panose="02010600030101010101" pitchFamily="2" charset="-122"/>
              </a:rPr>
              <a:t>	·1</a:t>
            </a:r>
            <a:r>
              <a:rPr lang="zh-CN" altLang="en-US" sz="1800" dirty="0">
                <a:latin typeface="宋体" panose="02010600030101010101" pitchFamily="2" charset="-122"/>
                <a:ea typeface="宋体" panose="02010600030101010101" pitchFamily="2" charset="-122"/>
              </a:rPr>
              <a:t>周（</a:t>
            </a:r>
            <a:r>
              <a:rPr lang="en-US" altLang="zh-CN" sz="1800" dirty="0">
                <a:latin typeface="宋体" panose="02010600030101010101" pitchFamily="2" charset="-122"/>
                <a:ea typeface="宋体" panose="02010600030101010101" pitchFamily="2" charset="-122"/>
              </a:rPr>
              <a:t>week</a:t>
            </a:r>
            <a:r>
              <a:rPr lang="zh-CN" altLang="en-US" sz="1800" dirty="0">
                <a:latin typeface="宋体" panose="02010600030101010101" pitchFamily="2" charset="-122"/>
                <a:ea typeface="宋体" panose="02010600030101010101" pitchFamily="2" charset="-122"/>
              </a:rPr>
              <a:t>）转换为</a:t>
            </a:r>
            <a:r>
              <a:rPr lang="en-US" altLang="zh-CN" sz="1800" dirty="0">
                <a:latin typeface="宋体" panose="02010600030101010101" pitchFamily="2" charset="-122"/>
                <a:ea typeface="宋体" panose="02010600030101010101" pitchFamily="2" charset="-122"/>
              </a:rPr>
              <a:t>7</a:t>
            </a:r>
            <a:r>
              <a:rPr lang="zh-CN" altLang="en-US" sz="1800" dirty="0">
                <a:latin typeface="宋体" panose="02010600030101010101" pitchFamily="2" charset="-122"/>
                <a:ea typeface="宋体" panose="02010600030101010101" pitchFamily="2" charset="-122"/>
              </a:rPr>
              <a:t>天（</a:t>
            </a:r>
            <a:r>
              <a:rPr lang="en-US" altLang="zh-CN" sz="1800" dirty="0">
                <a:latin typeface="宋体" panose="02010600030101010101" pitchFamily="2" charset="-122"/>
                <a:ea typeface="宋体" panose="02010600030101010101" pitchFamily="2" charset="-122"/>
              </a:rPr>
              <a:t>day</a:t>
            </a:r>
            <a:r>
              <a:rPr lang="zh-CN" altLang="en-US" sz="1800" dirty="0">
                <a:latin typeface="宋体" panose="02010600030101010101" pitchFamily="2" charset="-122"/>
                <a:ea typeface="宋体" panose="02010600030101010101" pitchFamily="2" charset="-122"/>
              </a:rPr>
              <a:t>）</a:t>
            </a:r>
          </a:p>
        </p:txBody>
      </p:sp>
      <p:sp>
        <p:nvSpPr>
          <p:cNvPr id="3" name="TextBox 2">
            <a:extLst>
              <a:ext uri="{FF2B5EF4-FFF2-40B4-BE49-F238E27FC236}">
                <a16:creationId xmlns:a16="http://schemas.microsoft.com/office/drawing/2014/main" id="{61D417B1-BEC0-A759-3B71-1215B5E19215}"/>
              </a:ext>
            </a:extLst>
          </p:cNvPr>
          <p:cNvSpPr txBox="1"/>
          <p:nvPr/>
        </p:nvSpPr>
        <p:spPr>
          <a:xfrm>
            <a:off x="1287556" y="5150548"/>
            <a:ext cx="6098240" cy="369332"/>
          </a:xfrm>
          <a:prstGeom prst="rect">
            <a:avLst/>
          </a:prstGeom>
          <a:noFill/>
        </p:spPr>
        <p:txBody>
          <a:bodyPr wrap="square">
            <a:spAutoFit/>
          </a:bodyPr>
          <a:lstStyle/>
          <a:p>
            <a:pPr marL="285750" indent="-285750">
              <a:buFont typeface="Arial" panose="020B0604020202020204" pitchFamily="34" charset="0"/>
              <a:buChar char="•"/>
            </a:pPr>
            <a:r>
              <a:rPr lang="en-US" b="0" i="0" dirty="0" err="1">
                <a:solidFill>
                  <a:srgbClr val="6E6B5E"/>
                </a:solidFill>
                <a:effectLst/>
                <a:latin typeface="Courier New" panose="02070309020205020404" pitchFamily="49" charset="0"/>
              </a:rPr>
              <a:t>datetime.timedelta</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表示时间间隔</a:t>
            </a:r>
            <a:endParaRPr lang="zh-CN" altLang="en-US" dirty="0"/>
          </a:p>
        </p:txBody>
      </p:sp>
    </p:spTree>
    <p:extLst>
      <p:ext uri="{BB962C8B-B14F-4D97-AF65-F5344CB8AC3E}">
        <p14:creationId xmlns:p14="http://schemas.microsoft.com/office/powerpoint/2010/main" val="107235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177CCD-B255-2C03-F45D-1D6429FDC440}"/>
              </a:ext>
            </a:extLst>
          </p:cNvPr>
          <p:cNvPicPr>
            <a:picLocks noChangeAspect="1"/>
          </p:cNvPicPr>
          <p:nvPr/>
        </p:nvPicPr>
        <p:blipFill>
          <a:blip r:embed="rId2"/>
          <a:stretch>
            <a:fillRect/>
          </a:stretch>
        </p:blipFill>
        <p:spPr>
          <a:xfrm>
            <a:off x="516659" y="862446"/>
            <a:ext cx="4572000" cy="45720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04695704-3B88-8A6E-9695-EB1E10A6F59E}"/>
              </a:ext>
            </a:extLst>
          </p:cNvPr>
          <p:cNvPicPr>
            <a:picLocks noChangeAspect="1"/>
          </p:cNvPicPr>
          <p:nvPr/>
        </p:nvPicPr>
        <p:blipFill>
          <a:blip r:embed="rId3"/>
          <a:stretch>
            <a:fillRect/>
          </a:stretch>
        </p:blipFill>
        <p:spPr>
          <a:xfrm>
            <a:off x="5559714" y="862446"/>
            <a:ext cx="5727700" cy="26670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D97E7E90-FB49-B0DF-D3B2-D4AC23A99CAA}"/>
              </a:ext>
            </a:extLst>
          </p:cNvPr>
          <p:cNvPicPr>
            <a:picLocks noChangeAspect="1"/>
          </p:cNvPicPr>
          <p:nvPr/>
        </p:nvPicPr>
        <p:blipFill>
          <a:blip r:embed="rId4"/>
          <a:stretch>
            <a:fillRect/>
          </a:stretch>
        </p:blipFill>
        <p:spPr>
          <a:xfrm>
            <a:off x="4232564" y="4246931"/>
            <a:ext cx="7772400" cy="216233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288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104900" y="76200"/>
            <a:ext cx="8875123" cy="1096962"/>
          </a:xfrm>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calendar</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输出日历格式</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871849" y="1469571"/>
            <a:ext cx="10588336" cy="2685570"/>
          </a:xfrm>
        </p:spPr>
        <p:txBody>
          <a:bodyPr>
            <a:normAutofit/>
          </a:bodyPr>
          <a:lstStyle/>
          <a:p>
            <a:pPr lvl="1">
              <a:lnSpc>
                <a:spcPct val="150000"/>
              </a:lnSpc>
            </a:pPr>
            <a:r>
              <a:rPr lang="zh-CN" altLang="en-US" sz="2000" dirty="0">
                <a:latin typeface="宋体" panose="02010600030101010101" pitchFamily="2" charset="-122"/>
                <a:ea typeface="宋体" panose="02010600030101010101" pitchFamily="2" charset="-122"/>
              </a:rPr>
              <a:t>导入模块：</a:t>
            </a:r>
            <a:r>
              <a:rPr lang="en-US" altLang="zh-CN" sz="2000" b="1" dirty="0">
                <a:solidFill>
                  <a:srgbClr val="7030A0"/>
                </a:solidFill>
                <a:latin typeface="宋体" panose="02010600030101010101" pitchFamily="2" charset="-122"/>
                <a:ea typeface="宋体" panose="02010600030101010101" pitchFamily="2" charset="-122"/>
              </a:rPr>
              <a:t>import calendar</a:t>
            </a:r>
          </a:p>
          <a:p>
            <a:pPr lvl="1">
              <a:lnSpc>
                <a:spcPct val="150000"/>
              </a:lnSpc>
            </a:pPr>
            <a:r>
              <a:rPr lang="zh-CN" altLang="en-US" sz="2000" dirty="0">
                <a:latin typeface="宋体" panose="02010600030101010101" pitchFamily="2" charset="-122"/>
                <a:ea typeface="宋体" panose="02010600030101010101" pitchFamily="2" charset="-122"/>
              </a:rPr>
              <a:t>构造函数：</a:t>
            </a:r>
            <a:r>
              <a:rPr lang="en-US" altLang="zh-CN" sz="2000" b="1" dirty="0" err="1">
                <a:latin typeface="宋体" panose="02010600030101010101" pitchFamily="2" charset="-122"/>
                <a:ea typeface="宋体" panose="02010600030101010101" pitchFamily="2" charset="-122"/>
              </a:rPr>
              <a:t>calendar.Calendar</a:t>
            </a:r>
            <a:r>
              <a:rPr lang="en-US" altLang="zh-CN"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firstweekday</a:t>
            </a:r>
            <a:r>
              <a:rPr lang="en-US" altLang="zh-CN" sz="2000" b="1" dirty="0">
                <a:latin typeface="宋体" panose="02010600030101010101" pitchFamily="2" charset="-122"/>
                <a:ea typeface="宋体" panose="02010600030101010101" pitchFamily="2" charset="-122"/>
              </a:rPr>
              <a:t>=0)</a:t>
            </a:r>
          </a:p>
          <a:p>
            <a:pPr marL="457200" lvl="1" indent="0">
              <a:lnSpc>
                <a:spcPct val="150000"/>
              </a:lnSpc>
              <a:buNone/>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创建一个</a:t>
            </a:r>
            <a:r>
              <a:rPr lang="en-US" altLang="zh-CN" sz="2000" dirty="0">
                <a:latin typeface="宋体" panose="02010600030101010101" pitchFamily="2" charset="-122"/>
                <a:ea typeface="宋体" panose="02010600030101010101" pitchFamily="2" charset="-122"/>
              </a:rPr>
              <a:t>Calendar</a:t>
            </a:r>
            <a:r>
              <a:rPr lang="zh-CN" altLang="en-US" sz="2000" dirty="0">
                <a:latin typeface="宋体" panose="02010600030101010101" pitchFamily="2" charset="-122"/>
                <a:ea typeface="宋体" panose="02010600030101010101" pitchFamily="2" charset="-122"/>
              </a:rPr>
              <a:t>对象，</a:t>
            </a:r>
            <a:r>
              <a:rPr lang="en-US" altLang="zh-CN" sz="2000" dirty="0" err="1">
                <a:latin typeface="宋体" panose="02010600030101010101" pitchFamily="2" charset="-122"/>
                <a:ea typeface="宋体" panose="02010600030101010101" pitchFamily="2" charset="-122"/>
              </a:rPr>
              <a:t>firstweekday</a:t>
            </a:r>
            <a:r>
              <a:rPr lang="zh-CN" altLang="en-US" sz="2000" dirty="0">
                <a:latin typeface="宋体" panose="02010600030101010101" pitchFamily="2" charset="-122"/>
                <a:ea typeface="宋体" panose="02010600030101010101" pitchFamily="2" charset="-122"/>
              </a:rPr>
              <a:t>字段设置星期的第一天，默认值为</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，表示周一作为每星期的第一天，星期日则设置为</a:t>
            </a:r>
            <a:r>
              <a:rPr lang="en-US" altLang="zh-CN" sz="2000" dirty="0">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1">
              <a:lnSpc>
                <a:spcPct val="150000"/>
              </a:lnSpc>
            </a:pPr>
            <a:r>
              <a:rPr lang="en-US" altLang="zh-CN" sz="2000" dirty="0">
                <a:latin typeface="宋体" panose="02010600030101010101" pitchFamily="2" charset="-122"/>
                <a:ea typeface="宋体" panose="02010600030101010101" pitchFamily="2" charset="-122"/>
              </a:rPr>
              <a:t>Calendar</a:t>
            </a:r>
            <a:r>
              <a:rPr lang="zh-CN" altLang="en-US" sz="2000" dirty="0">
                <a:latin typeface="宋体" panose="02010600030101010101" pitchFamily="2" charset="-122"/>
                <a:ea typeface="宋体" panose="02010600030101010101" pitchFamily="2" charset="-122"/>
              </a:rPr>
              <a:t>基类可以生成纯文本日历子类</a:t>
            </a:r>
            <a:r>
              <a:rPr lang="en-US" altLang="zh-CN" sz="2000" dirty="0" err="1">
                <a:latin typeface="宋体" panose="02010600030101010101" pitchFamily="2" charset="-122"/>
                <a:ea typeface="宋体" panose="02010600030101010101" pitchFamily="2" charset="-122"/>
              </a:rPr>
              <a:t>TextCalendar</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HTML</a:t>
            </a:r>
            <a:r>
              <a:rPr lang="zh-CN" altLang="en-US" sz="2000" dirty="0">
                <a:latin typeface="宋体" panose="02010600030101010101" pitchFamily="2" charset="-122"/>
                <a:ea typeface="宋体" panose="02010600030101010101" pitchFamily="2" charset="-122"/>
              </a:rPr>
              <a:t>日历子类</a:t>
            </a:r>
            <a:r>
              <a:rPr lang="en-US" altLang="zh-CN" sz="2000" dirty="0" err="1">
                <a:latin typeface="宋体" panose="02010600030101010101" pitchFamily="2" charset="-122"/>
                <a:ea typeface="宋体" panose="02010600030101010101" pitchFamily="2" charset="-122"/>
              </a:rPr>
              <a:t>HTMLCalendar</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b</a:t>
            </a:r>
          </a:p>
        </p:txBody>
      </p:sp>
      <p:pic>
        <p:nvPicPr>
          <p:cNvPr id="2" name="Picture 1">
            <a:extLst>
              <a:ext uri="{FF2B5EF4-FFF2-40B4-BE49-F238E27FC236}">
                <a16:creationId xmlns:a16="http://schemas.microsoft.com/office/drawing/2014/main" id="{708E7CFE-E4F4-A4CD-CB08-FA20AF3BEB31}"/>
              </a:ext>
            </a:extLst>
          </p:cNvPr>
          <p:cNvPicPr>
            <a:picLocks noChangeAspect="1"/>
          </p:cNvPicPr>
          <p:nvPr/>
        </p:nvPicPr>
        <p:blipFill>
          <a:blip r:embed="rId3"/>
          <a:stretch>
            <a:fillRect/>
          </a:stretch>
        </p:blipFill>
        <p:spPr>
          <a:xfrm>
            <a:off x="7368989" y="1469571"/>
            <a:ext cx="4624344" cy="1055406"/>
          </a:xfrm>
          <a:prstGeom prst="rect">
            <a:avLst/>
          </a:prstGeom>
        </p:spPr>
      </p:pic>
      <p:pic>
        <p:nvPicPr>
          <p:cNvPr id="3" name="Picture 2">
            <a:extLst>
              <a:ext uri="{FF2B5EF4-FFF2-40B4-BE49-F238E27FC236}">
                <a16:creationId xmlns:a16="http://schemas.microsoft.com/office/drawing/2014/main" id="{0C799753-D14A-8CE7-E05D-897F0C562612}"/>
              </a:ext>
            </a:extLst>
          </p:cNvPr>
          <p:cNvPicPr>
            <a:picLocks noChangeAspect="1"/>
          </p:cNvPicPr>
          <p:nvPr/>
        </p:nvPicPr>
        <p:blipFill>
          <a:blip r:embed="rId4"/>
          <a:stretch>
            <a:fillRect/>
          </a:stretch>
        </p:blipFill>
        <p:spPr>
          <a:xfrm>
            <a:off x="1239810" y="4155141"/>
            <a:ext cx="10001931" cy="2094799"/>
          </a:xfrm>
          <a:prstGeom prst="rect">
            <a:avLst/>
          </a:prstGeom>
        </p:spPr>
      </p:pic>
    </p:spTree>
    <p:extLst>
      <p:ext uri="{BB962C8B-B14F-4D97-AF65-F5344CB8AC3E}">
        <p14:creationId xmlns:p14="http://schemas.microsoft.com/office/powerpoint/2010/main" val="266716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60F34-EA1E-F1B4-91EE-6324517131B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7E45032-301B-CE44-916B-D2B0B9B01F90}"/>
              </a:ext>
            </a:extLst>
          </p:cNvPr>
          <p:cNvSpPr>
            <a:spLocks noGrp="1"/>
          </p:cNvSpPr>
          <p:nvPr>
            <p:ph type="title"/>
          </p:nvPr>
        </p:nvSpPr>
        <p:spPr>
          <a:xfrm>
            <a:off x="1104900" y="76200"/>
            <a:ext cx="8875123" cy="1096962"/>
          </a:xfrm>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calendar</a:t>
            </a:r>
            <a:r>
              <a:rPr lang="zh-CN" altLang="en-US" dirty="0">
                <a:latin typeface="Microsoft YaHei" panose="020B0503020204020204" pitchFamily="34" charset="-122"/>
                <a:ea typeface="Microsoft YaHei" panose="020B0503020204020204" pitchFamily="34" charset="-122"/>
              </a:rPr>
              <a:t>模块</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输出日历格式</a:t>
            </a:r>
            <a:endParaRPr lang="en-US" dirty="0">
              <a:latin typeface="Microsoft YaHei" panose="020B0503020204020204" pitchFamily="34" charset="-122"/>
              <a:ea typeface="Microsoft YaHei" panose="020B0503020204020204" pitchFamily="34" charset="-122"/>
            </a:endParaRPr>
          </a:p>
        </p:txBody>
      </p:sp>
      <p:pic>
        <p:nvPicPr>
          <p:cNvPr id="6" name="Picture 5">
            <a:extLst>
              <a:ext uri="{FF2B5EF4-FFF2-40B4-BE49-F238E27FC236}">
                <a16:creationId xmlns:a16="http://schemas.microsoft.com/office/drawing/2014/main" id="{55F077E9-2084-4773-D3F8-3A82DFEBADB8}"/>
              </a:ext>
            </a:extLst>
          </p:cNvPr>
          <p:cNvPicPr>
            <a:picLocks noChangeAspect="1"/>
          </p:cNvPicPr>
          <p:nvPr/>
        </p:nvPicPr>
        <p:blipFill>
          <a:blip r:embed="rId3"/>
          <a:stretch>
            <a:fillRect/>
          </a:stretch>
        </p:blipFill>
        <p:spPr>
          <a:xfrm>
            <a:off x="765600" y="2209324"/>
            <a:ext cx="6337300" cy="41402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ACAD6AF7-E77D-C68F-5B77-EEC1F67B2AF3}"/>
              </a:ext>
            </a:extLst>
          </p:cNvPr>
          <p:cNvPicPr>
            <a:picLocks noChangeAspect="1"/>
          </p:cNvPicPr>
          <p:nvPr/>
        </p:nvPicPr>
        <p:blipFill>
          <a:blip r:embed="rId4"/>
          <a:stretch>
            <a:fillRect/>
          </a:stretch>
        </p:blipFill>
        <p:spPr>
          <a:xfrm>
            <a:off x="5358789" y="508476"/>
            <a:ext cx="6578600" cy="3911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5131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CC6B2-A7CC-E0DF-C873-F01C2DB3A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28441-8C36-DA46-59FF-73D193FF1F93}"/>
              </a:ext>
            </a:extLst>
          </p:cNvPr>
          <p:cNvSpPr>
            <a:spLocks noGrp="1"/>
          </p:cNvSpPr>
          <p:nvPr>
            <p:ph type="title"/>
          </p:nvPr>
        </p:nvSpPr>
        <p:spPr>
          <a:xfrm>
            <a:off x="1091044" y="2964873"/>
            <a:ext cx="10071099" cy="2299854"/>
          </a:xfrm>
        </p:spPr>
        <p:txBody>
          <a:bodyPr/>
          <a:lstStyle/>
          <a:p>
            <a:r>
              <a:rPr lang="zh-CN" noProof="0" dirty="0">
                <a:latin typeface="Microsoft YaHei" panose="020B0503020204020204" pitchFamily="34" charset="-122"/>
                <a:ea typeface="Microsoft YaHei" panose="020B0503020204020204" pitchFamily="34" charset="-122"/>
              </a:rPr>
              <a:t>8.1.2 双端队列与枚举 </a:t>
            </a:r>
          </a:p>
        </p:txBody>
      </p:sp>
    </p:spTree>
    <p:extLst>
      <p:ext uri="{BB962C8B-B14F-4D97-AF65-F5344CB8AC3E}">
        <p14:creationId xmlns:p14="http://schemas.microsoft.com/office/powerpoint/2010/main" val="318756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2B7E-1F68-7D34-5F23-622EBDAC2681}"/>
              </a:ext>
            </a:extLst>
          </p:cNvPr>
          <p:cNvSpPr>
            <a:spLocks noGrp="1"/>
          </p:cNvSpPr>
          <p:nvPr>
            <p:ph type="title"/>
          </p:nvPr>
        </p:nvSpPr>
        <p:spPr/>
        <p:txBody>
          <a:bodyPr/>
          <a:lstStyle/>
          <a:p>
            <a:r>
              <a:rPr kumimoji="1" lang="zh-CN" altLang="en-US" dirty="0">
                <a:latin typeface="Microsoft YaHei" panose="020B0503020204020204" pitchFamily="34" charset="-122"/>
                <a:ea typeface="Microsoft YaHei" panose="020B0503020204020204" pitchFamily="34" charset="-122"/>
              </a:rPr>
              <a:t>双端队列</a:t>
            </a:r>
          </a:p>
        </p:txBody>
      </p:sp>
      <p:sp>
        <p:nvSpPr>
          <p:cNvPr id="4" name="TextBox 3">
            <a:extLst>
              <a:ext uri="{FF2B5EF4-FFF2-40B4-BE49-F238E27FC236}">
                <a16:creationId xmlns:a16="http://schemas.microsoft.com/office/drawing/2014/main" id="{4FA63909-50FF-AA31-FAD9-DFEFBB68A2D6}"/>
              </a:ext>
            </a:extLst>
          </p:cNvPr>
          <p:cNvSpPr txBox="1"/>
          <p:nvPr/>
        </p:nvSpPr>
        <p:spPr>
          <a:xfrm>
            <a:off x="1301002" y="1341603"/>
            <a:ext cx="10330703" cy="2342244"/>
          </a:xfrm>
          <a:prstGeom prst="rect">
            <a:avLst/>
          </a:prstGeom>
          <a:noFill/>
        </p:spPr>
        <p:txBody>
          <a:bodyPr wrap="square">
            <a:spAutoFit/>
          </a:bodyPr>
          <a:lstStyle/>
          <a:p>
            <a:pPr>
              <a:lnSpc>
                <a:spcPct val="150000"/>
              </a:lnSpc>
            </a:pPr>
            <a:r>
              <a:rPr lang="zh-CN" altLang="en-US" sz="2000" b="1" i="0" dirty="0">
                <a:solidFill>
                  <a:srgbClr val="C00000"/>
                </a:solidFill>
                <a:effectLst/>
                <a:latin typeface="Times New Roman" panose="02020603050405020304" pitchFamily="18" charset="0"/>
              </a:rPr>
              <a:t>双端队列（</a:t>
            </a:r>
            <a:r>
              <a:rPr lang="en-US" sz="2000" b="1" i="0" dirty="0">
                <a:solidFill>
                  <a:srgbClr val="C00000"/>
                </a:solidFill>
                <a:effectLst/>
                <a:latin typeface="Courier New" panose="02070309020205020404" pitchFamily="49" charset="0"/>
              </a:rPr>
              <a:t>deque</a:t>
            </a:r>
            <a:r>
              <a:rPr lang="en-US" sz="2000" b="1" i="0" dirty="0">
                <a:solidFill>
                  <a:srgbClr val="C00000"/>
                </a:solidFill>
                <a:effectLst/>
                <a:latin typeface="Times New Roman" panose="02020603050405020304" pitchFamily="18" charset="0"/>
              </a:rPr>
              <a:t>）</a:t>
            </a:r>
            <a:r>
              <a:rPr lang="zh-CN" altLang="en-US" sz="2000" b="0" i="0" dirty="0">
                <a:solidFill>
                  <a:srgbClr val="262625"/>
                </a:solidFill>
                <a:effectLst/>
                <a:latin typeface="Times New Roman" panose="02020603050405020304" pitchFamily="18" charset="0"/>
              </a:rPr>
              <a:t>是 </a:t>
            </a:r>
            <a:r>
              <a:rPr lang="en-US" sz="2000" b="0" i="0" dirty="0">
                <a:solidFill>
                  <a:srgbClr val="262625"/>
                </a:solidFill>
                <a:effectLst/>
                <a:latin typeface="Times New Roman" panose="02020603050405020304" pitchFamily="18" charset="0"/>
              </a:rPr>
              <a:t>Python </a:t>
            </a:r>
            <a:r>
              <a:rPr lang="zh-CN" altLang="en-US" sz="2000" b="0" i="0" dirty="0">
                <a:solidFill>
                  <a:srgbClr val="262625"/>
                </a:solidFill>
                <a:effectLst/>
                <a:latin typeface="Times New Roman" panose="02020603050405020304" pitchFamily="18" charset="0"/>
              </a:rPr>
              <a:t>的</a:t>
            </a:r>
            <a:r>
              <a:rPr lang="en-US" sz="2000" b="0" i="0" dirty="0">
                <a:solidFill>
                  <a:srgbClr val="0432FF"/>
                </a:solidFill>
                <a:effectLst/>
                <a:latin typeface="Courier New" panose="02070309020205020404" pitchFamily="49" charset="0"/>
              </a:rPr>
              <a:t>collections</a:t>
            </a:r>
            <a:r>
              <a:rPr lang="zh-CN" altLang="en-US" sz="2000" b="0" i="0" dirty="0">
                <a:solidFill>
                  <a:srgbClr val="262625"/>
                </a:solidFill>
                <a:effectLst/>
                <a:latin typeface="Times New Roman" panose="02020603050405020304" pitchFamily="18" charset="0"/>
              </a:rPr>
              <a:t>模块中的一种容器数据类型，提供了快速的、从两端插入和删除元素的功能，</a:t>
            </a:r>
            <a:endParaRPr lang="en-US" altLang="zh-CN" sz="2000" b="0" i="0" dirty="0">
              <a:solidFill>
                <a:srgbClr val="262625"/>
              </a:solidFill>
              <a:effectLst/>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i="0" dirty="0">
                <a:solidFill>
                  <a:srgbClr val="262625"/>
                </a:solidFill>
                <a:effectLst/>
                <a:latin typeface="Times New Roman" panose="02020603050405020304" pitchFamily="18" charset="0"/>
              </a:rPr>
              <a:t>表示该队列的两端都可以进行数据元素的插入和删除操作。</a:t>
            </a:r>
            <a:endParaRPr lang="en-US" altLang="zh-CN" sz="2000" b="0" i="0" dirty="0">
              <a:solidFill>
                <a:srgbClr val="262625"/>
              </a:solidFill>
              <a:effectLst/>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0" i="0" dirty="0">
                <a:solidFill>
                  <a:srgbClr val="262625"/>
                </a:solidFill>
                <a:effectLst/>
                <a:latin typeface="Times New Roman" panose="02020603050405020304" pitchFamily="18" charset="0"/>
              </a:rPr>
              <a:t>双端队列既可以用作栈（后进先出，</a:t>
            </a:r>
            <a:r>
              <a:rPr lang="en-US" sz="2000" b="0" i="0" dirty="0">
                <a:solidFill>
                  <a:srgbClr val="262625"/>
                </a:solidFill>
                <a:effectLst/>
                <a:latin typeface="Times New Roman" panose="02020603050405020304" pitchFamily="18" charset="0"/>
              </a:rPr>
              <a:t>LIFO），</a:t>
            </a:r>
            <a:r>
              <a:rPr lang="zh-CN" altLang="en-US" sz="2000" b="0" i="0" dirty="0">
                <a:solidFill>
                  <a:srgbClr val="262625"/>
                </a:solidFill>
                <a:effectLst/>
                <a:latin typeface="Times New Roman" panose="02020603050405020304" pitchFamily="18" charset="0"/>
              </a:rPr>
              <a:t>也可以用作队列（先进先出，</a:t>
            </a:r>
            <a:r>
              <a:rPr lang="en-US" sz="2000" b="0" i="0" dirty="0">
                <a:solidFill>
                  <a:srgbClr val="262625"/>
                </a:solidFill>
                <a:effectLst/>
                <a:latin typeface="Times New Roman" panose="02020603050405020304" pitchFamily="18" charset="0"/>
              </a:rPr>
              <a:t>FIFO），</a:t>
            </a:r>
          </a:p>
          <a:p>
            <a:pPr marL="342900" indent="-342900">
              <a:lnSpc>
                <a:spcPct val="150000"/>
              </a:lnSpc>
              <a:buFont typeface="Arial" panose="020B0604020202020204" pitchFamily="34" charset="0"/>
              <a:buChar char="•"/>
            </a:pPr>
            <a:r>
              <a:rPr lang="zh-CN" altLang="en-US" sz="2000" b="0" i="0" dirty="0">
                <a:solidFill>
                  <a:srgbClr val="262625"/>
                </a:solidFill>
                <a:effectLst/>
                <a:latin typeface="Times New Roman" panose="02020603050405020304" pitchFamily="18" charset="0"/>
              </a:rPr>
              <a:t>并且比 </a:t>
            </a:r>
            <a:r>
              <a:rPr lang="en-US" sz="2000" b="0" i="0" dirty="0">
                <a:solidFill>
                  <a:srgbClr val="262625"/>
                </a:solidFill>
                <a:effectLst/>
                <a:latin typeface="Times New Roman" panose="02020603050405020304" pitchFamily="18" charset="0"/>
              </a:rPr>
              <a:t>Python </a:t>
            </a:r>
            <a:r>
              <a:rPr lang="zh-CN" altLang="en-US" sz="2000" b="0" i="0" dirty="0">
                <a:solidFill>
                  <a:srgbClr val="262625"/>
                </a:solidFill>
                <a:effectLst/>
                <a:latin typeface="Times New Roman" panose="02020603050405020304" pitchFamily="18" charset="0"/>
              </a:rPr>
              <a:t>的列表在数据的插入和删除方面更高效。</a:t>
            </a:r>
            <a:endParaRPr lang="zh-CN" altLang="en-US" sz="2000" dirty="0"/>
          </a:p>
        </p:txBody>
      </p:sp>
      <p:pic>
        <p:nvPicPr>
          <p:cNvPr id="5" name="Picture 4">
            <a:extLst>
              <a:ext uri="{FF2B5EF4-FFF2-40B4-BE49-F238E27FC236}">
                <a16:creationId xmlns:a16="http://schemas.microsoft.com/office/drawing/2014/main" id="{EFD79D61-CD7F-8473-6E9A-E873F000615B}"/>
              </a:ext>
            </a:extLst>
          </p:cNvPr>
          <p:cNvPicPr>
            <a:picLocks noChangeAspect="1"/>
          </p:cNvPicPr>
          <p:nvPr/>
        </p:nvPicPr>
        <p:blipFill>
          <a:blip r:embed="rId2"/>
          <a:stretch>
            <a:fillRect/>
          </a:stretch>
        </p:blipFill>
        <p:spPr>
          <a:xfrm>
            <a:off x="2026023" y="3683847"/>
            <a:ext cx="9428413" cy="2852974"/>
          </a:xfrm>
          <a:prstGeom prst="rect">
            <a:avLst/>
          </a:prstGeom>
        </p:spPr>
      </p:pic>
    </p:spTree>
    <p:extLst>
      <p:ext uri="{BB962C8B-B14F-4D97-AF65-F5344CB8AC3E}">
        <p14:creationId xmlns:p14="http://schemas.microsoft.com/office/powerpoint/2010/main" val="280890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0AE9FC-C994-DF7C-B151-D8D5455E01F6}"/>
              </a:ext>
            </a:extLst>
          </p:cNvPr>
          <p:cNvPicPr>
            <a:picLocks noChangeAspect="1"/>
          </p:cNvPicPr>
          <p:nvPr/>
        </p:nvPicPr>
        <p:blipFill>
          <a:blip r:embed="rId2"/>
          <a:stretch>
            <a:fillRect/>
          </a:stretch>
        </p:blipFill>
        <p:spPr>
          <a:xfrm>
            <a:off x="506062" y="2719193"/>
            <a:ext cx="7442200" cy="3594100"/>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929C56E5-7034-4D1C-B99A-473104CD2A57}"/>
              </a:ext>
            </a:extLst>
          </p:cNvPr>
          <p:cNvSpPr>
            <a:spLocks noGrp="1"/>
          </p:cNvSpPr>
          <p:nvPr>
            <p:ph type="title"/>
          </p:nvPr>
        </p:nvSpPr>
        <p:spPr/>
        <p:txBody>
          <a:bodyPr/>
          <a:lstStyle/>
          <a:p>
            <a:r>
              <a:rPr lang="zh-CN" altLang="en-US" b="1" i="0" u="none" strike="noStrike" dirty="0">
                <a:solidFill>
                  <a:srgbClr val="262625"/>
                </a:solidFill>
                <a:effectLst/>
                <a:latin typeface="Open Sans" panose="020B0606030504020204" pitchFamily="34" charset="0"/>
                <a:hlinkClick r:id="rId3"/>
              </a:rPr>
              <a:t>双端队列</a:t>
            </a:r>
            <a:endParaRPr kumimoji="1" lang="zh-CN" altLang="en-US" dirty="0"/>
          </a:p>
        </p:txBody>
      </p:sp>
      <p:pic>
        <p:nvPicPr>
          <p:cNvPr id="6" name="Picture 5">
            <a:extLst>
              <a:ext uri="{FF2B5EF4-FFF2-40B4-BE49-F238E27FC236}">
                <a16:creationId xmlns:a16="http://schemas.microsoft.com/office/drawing/2014/main" id="{2E08B4BF-3A87-1782-5917-46825C692678}"/>
              </a:ext>
            </a:extLst>
          </p:cNvPr>
          <p:cNvPicPr>
            <a:picLocks noChangeAspect="1"/>
          </p:cNvPicPr>
          <p:nvPr/>
        </p:nvPicPr>
        <p:blipFill>
          <a:blip r:embed="rId4"/>
          <a:stretch>
            <a:fillRect/>
          </a:stretch>
        </p:blipFill>
        <p:spPr>
          <a:xfrm>
            <a:off x="3646392" y="369895"/>
            <a:ext cx="8355999" cy="3594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5912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7952-03F4-5650-FF93-23F31C5EBC9D}"/>
              </a:ext>
            </a:extLst>
          </p:cNvPr>
          <p:cNvSpPr>
            <a:spLocks noGrp="1"/>
          </p:cNvSpPr>
          <p:nvPr>
            <p:ph type="title"/>
          </p:nvPr>
        </p:nvSpPr>
        <p:spPr/>
        <p:txBody>
          <a:bodyPr/>
          <a:lstStyle/>
          <a:p>
            <a:r>
              <a:rPr lang="zh-CN" altLang="en-US" b="1" i="0" u="none" strike="noStrike" dirty="0">
                <a:solidFill>
                  <a:srgbClr val="262625"/>
                </a:solidFill>
                <a:effectLst/>
                <a:latin typeface="Open Sans" panose="020B0606030504020204" pitchFamily="34" charset="0"/>
                <a:hlinkClick r:id="rId2"/>
              </a:rPr>
              <a:t>枚举类型</a:t>
            </a:r>
            <a:endParaRPr kumimoji="1" lang="zh-CN" altLang="en-US" dirty="0"/>
          </a:p>
        </p:txBody>
      </p:sp>
      <p:sp>
        <p:nvSpPr>
          <p:cNvPr id="4" name="TextBox 3">
            <a:extLst>
              <a:ext uri="{FF2B5EF4-FFF2-40B4-BE49-F238E27FC236}">
                <a16:creationId xmlns:a16="http://schemas.microsoft.com/office/drawing/2014/main" id="{AC7221AA-DB5B-BE06-6877-31BF9FDFAC18}"/>
              </a:ext>
            </a:extLst>
          </p:cNvPr>
          <p:cNvSpPr txBox="1"/>
          <p:nvPr/>
        </p:nvSpPr>
        <p:spPr>
          <a:xfrm>
            <a:off x="1104900" y="1387871"/>
            <a:ext cx="7471064" cy="369332"/>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0432FF"/>
                </a:solidFill>
                <a:effectLst/>
                <a:latin typeface="Times New Roman" panose="02020603050405020304" pitchFamily="18" charset="0"/>
              </a:rPr>
              <a:t>枚举类型</a:t>
            </a:r>
            <a:r>
              <a:rPr lang="zh-CN" altLang="en-US" b="0" i="0" dirty="0">
                <a:solidFill>
                  <a:srgbClr val="0432FF"/>
                </a:solidFill>
                <a:effectLst/>
                <a:latin typeface="Times New Roman" panose="02020603050405020304" pitchFamily="18" charset="0"/>
              </a:rPr>
              <a:t>（</a:t>
            </a:r>
            <a:r>
              <a:rPr lang="en-US" dirty="0" err="1">
                <a:solidFill>
                  <a:srgbClr val="0432FF"/>
                </a:solidFill>
              </a:rPr>
              <a:t>enum</a:t>
            </a:r>
            <a:r>
              <a:rPr lang="en-US" b="0" i="0" dirty="0">
                <a:solidFill>
                  <a:srgbClr val="0432FF"/>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是一种用于定义命名常量集合的特殊数据类型</a:t>
            </a:r>
            <a:endParaRPr lang="zh-CN" altLang="en-US" dirty="0"/>
          </a:p>
        </p:txBody>
      </p:sp>
      <p:pic>
        <p:nvPicPr>
          <p:cNvPr id="5" name="Picture 4">
            <a:extLst>
              <a:ext uri="{FF2B5EF4-FFF2-40B4-BE49-F238E27FC236}">
                <a16:creationId xmlns:a16="http://schemas.microsoft.com/office/drawing/2014/main" id="{38FBF0C9-A45B-C8E9-14B5-5FA08D211731}"/>
              </a:ext>
            </a:extLst>
          </p:cNvPr>
          <p:cNvPicPr>
            <a:picLocks noChangeAspect="1"/>
          </p:cNvPicPr>
          <p:nvPr/>
        </p:nvPicPr>
        <p:blipFill>
          <a:blip r:embed="rId3"/>
          <a:stretch>
            <a:fillRect/>
          </a:stretch>
        </p:blipFill>
        <p:spPr>
          <a:xfrm>
            <a:off x="1731614" y="2749550"/>
            <a:ext cx="2362200" cy="13589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649F1C08-3D77-FC18-0810-2A09DC9B4E08}"/>
              </a:ext>
            </a:extLst>
          </p:cNvPr>
          <p:cNvPicPr>
            <a:picLocks noChangeAspect="1"/>
          </p:cNvPicPr>
          <p:nvPr/>
        </p:nvPicPr>
        <p:blipFill>
          <a:blip r:embed="rId4"/>
          <a:stretch>
            <a:fillRect/>
          </a:stretch>
        </p:blipFill>
        <p:spPr>
          <a:xfrm>
            <a:off x="4743586" y="2295728"/>
            <a:ext cx="6159500" cy="28829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98336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dirty="0"/>
              <a:t>8.2 </a:t>
            </a:r>
            <a:r>
              <a:rPr lang="zh-CN" altLang="en-US" dirty="0"/>
              <a:t>数学模块</a:t>
            </a:r>
            <a:endParaRPr lang="en-US" dirty="0"/>
          </a:p>
        </p:txBody>
      </p:sp>
      <p:sp>
        <p:nvSpPr>
          <p:cNvPr id="6" name="左大括号 5"/>
          <p:cNvSpPr/>
          <p:nvPr/>
        </p:nvSpPr>
        <p:spPr>
          <a:xfrm>
            <a:off x="4557353" y="3211981"/>
            <a:ext cx="554181" cy="1805638"/>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4834444" y="2762038"/>
            <a:ext cx="6788727" cy="2554545"/>
          </a:xfrm>
          <a:prstGeom prst="rect">
            <a:avLst/>
          </a:prstGeom>
          <a:noFill/>
        </p:spPr>
        <p:txBody>
          <a:bodyPr wrap="square" rtlCol="0">
            <a:spAutoFit/>
          </a:bodyPr>
          <a:lstStyle/>
          <a:p>
            <a:pPr>
              <a:lnSpc>
                <a:spcPct val="200000"/>
              </a:lnSpc>
            </a:pPr>
            <a:r>
              <a:rPr lang="en-US" altLang="zh-CN" sz="2000" b="1" dirty="0">
                <a:solidFill>
                  <a:schemeClr val="bg1"/>
                </a:solidFill>
              </a:rPr>
              <a:t>  math</a:t>
            </a:r>
            <a:r>
              <a:rPr lang="zh-CN" altLang="en-US" sz="2000" b="1" dirty="0">
                <a:solidFill>
                  <a:schemeClr val="bg1"/>
                </a:solidFill>
              </a:rPr>
              <a:t>模块：提供数学函数访问</a:t>
            </a:r>
            <a:endParaRPr lang="en-US" altLang="zh-CN" sz="2000" b="1" dirty="0">
              <a:solidFill>
                <a:schemeClr val="bg1"/>
              </a:solidFill>
            </a:endParaRPr>
          </a:p>
          <a:p>
            <a:pPr>
              <a:lnSpc>
                <a:spcPct val="200000"/>
              </a:lnSpc>
            </a:pPr>
            <a:r>
              <a:rPr lang="en-US" altLang="zh-CN" sz="2000" b="1" dirty="0">
                <a:solidFill>
                  <a:schemeClr val="bg1"/>
                </a:solidFill>
              </a:rPr>
              <a:t>  decimal</a:t>
            </a:r>
            <a:r>
              <a:rPr lang="zh-CN" altLang="en-US" sz="2000" b="1" dirty="0">
                <a:solidFill>
                  <a:schemeClr val="bg1"/>
                </a:solidFill>
              </a:rPr>
              <a:t>模块：十进制定点和浮点运算</a:t>
            </a:r>
            <a:endParaRPr lang="en-US" altLang="zh-CN" sz="2000" b="1" dirty="0">
              <a:solidFill>
                <a:schemeClr val="bg1"/>
              </a:solidFill>
            </a:endParaRPr>
          </a:p>
          <a:p>
            <a:pPr>
              <a:lnSpc>
                <a:spcPct val="200000"/>
              </a:lnSpc>
            </a:pPr>
            <a:r>
              <a:rPr lang="en-US" altLang="zh-CN" sz="2000" b="1" dirty="0">
                <a:solidFill>
                  <a:schemeClr val="bg1"/>
                </a:solidFill>
              </a:rPr>
              <a:t>  fractions</a:t>
            </a:r>
            <a:r>
              <a:rPr lang="zh-CN" altLang="en-US" sz="2000" b="1" dirty="0">
                <a:solidFill>
                  <a:schemeClr val="bg1"/>
                </a:solidFill>
              </a:rPr>
              <a:t>模块：分数运算</a:t>
            </a:r>
            <a:endParaRPr lang="en-US" altLang="zh-CN" sz="2000" b="1" dirty="0">
              <a:solidFill>
                <a:schemeClr val="bg1"/>
              </a:solidFill>
            </a:endParaRPr>
          </a:p>
          <a:p>
            <a:pPr>
              <a:lnSpc>
                <a:spcPct val="200000"/>
              </a:lnSpc>
            </a:pPr>
            <a:r>
              <a:rPr lang="en-US" altLang="zh-CN" sz="2000" b="1" dirty="0">
                <a:solidFill>
                  <a:schemeClr val="bg1"/>
                </a:solidFill>
              </a:rPr>
              <a:t>  random</a:t>
            </a:r>
            <a:r>
              <a:rPr lang="zh-CN" altLang="en-US" sz="2000" b="1" dirty="0">
                <a:solidFill>
                  <a:schemeClr val="bg1"/>
                </a:solidFill>
              </a:rPr>
              <a:t>模块：实现各种分布的伪随机数生成器</a:t>
            </a:r>
          </a:p>
        </p:txBody>
      </p:sp>
    </p:spTree>
    <p:extLst>
      <p:ext uri="{BB962C8B-B14F-4D97-AF65-F5344CB8AC3E}">
        <p14:creationId xmlns:p14="http://schemas.microsoft.com/office/powerpoint/2010/main" val="1314043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math</a:t>
            </a:r>
            <a:r>
              <a:rPr lang="zh-CN" altLang="en-US" dirty="0"/>
              <a:t>模块</a:t>
            </a:r>
            <a:r>
              <a:rPr lang="en-US" altLang="zh-CN" dirty="0"/>
              <a:t>——</a:t>
            </a:r>
            <a:r>
              <a:rPr lang="zh-CN" altLang="en-US" dirty="0"/>
              <a:t>数学函数的访问</a:t>
            </a:r>
            <a:endParaRPr lang="en-US" dirty="0"/>
          </a:p>
        </p:txBody>
      </p:sp>
      <p:sp>
        <p:nvSpPr>
          <p:cNvPr id="14" name="Content Placeholder 13"/>
          <p:cNvSpPr>
            <a:spLocks noGrp="1"/>
          </p:cNvSpPr>
          <p:nvPr>
            <p:ph idx="1"/>
          </p:nvPr>
        </p:nvSpPr>
        <p:spPr/>
        <p:txBody>
          <a:bodyPr>
            <a:normAutofit/>
          </a:bodyPr>
          <a:lstStyle/>
          <a:p>
            <a:pPr>
              <a:lnSpc>
                <a:spcPct val="100000"/>
              </a:lnSpc>
            </a:pPr>
            <a:r>
              <a:rPr lang="zh-CN" altLang="en-US" sz="2800" dirty="0">
                <a:latin typeface="宋体" panose="02010600030101010101" pitchFamily="2" charset="-122"/>
                <a:ea typeface="宋体" panose="02010600030101010101" pitchFamily="2" charset="-122"/>
              </a:rPr>
              <a:t>导入模块：</a:t>
            </a:r>
            <a:r>
              <a:rPr lang="en-US" altLang="zh-CN" sz="2800" b="1" dirty="0">
                <a:latin typeface="宋体" panose="02010600030101010101" pitchFamily="2" charset="-122"/>
                <a:ea typeface="宋体" panose="02010600030101010101" pitchFamily="2" charset="-122"/>
              </a:rPr>
              <a:t>import math</a:t>
            </a:r>
          </a:p>
          <a:p>
            <a:pPr>
              <a:lnSpc>
                <a:spcPct val="100000"/>
              </a:lnSpc>
            </a:pPr>
            <a:r>
              <a:rPr lang="zh-CN" altLang="en-US" sz="2800" dirty="0">
                <a:latin typeface="宋体" panose="02010600030101010101" pitchFamily="2" charset="-122"/>
                <a:ea typeface="宋体" panose="02010600030101010101" pitchFamily="2" charset="-122"/>
              </a:rPr>
              <a:t>提供的常数</a:t>
            </a:r>
            <a:endParaRPr lang="en-US" altLang="zh-CN" sz="2800" dirty="0">
              <a:latin typeface="宋体" panose="02010600030101010101" pitchFamily="2" charset="-122"/>
              <a:ea typeface="宋体" panose="02010600030101010101" pitchFamily="2" charset="-122"/>
            </a:endParaRPr>
          </a:p>
          <a:p>
            <a:pPr>
              <a:lnSpc>
                <a:spcPct val="100000"/>
              </a:lnSpc>
            </a:pPr>
            <a:endParaRPr lang="en-US" altLang="zh-CN" sz="2800" dirty="0">
              <a:latin typeface="宋体" panose="02010600030101010101" pitchFamily="2" charset="-122"/>
              <a:ea typeface="宋体" panose="02010600030101010101" pitchFamily="2"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808471274"/>
              </p:ext>
            </p:extLst>
          </p:nvPr>
        </p:nvGraphicFramePr>
        <p:xfrm>
          <a:off x="896829" y="2866955"/>
          <a:ext cx="6828865" cy="3487782"/>
        </p:xfrm>
        <a:graphic>
          <a:graphicData uri="http://schemas.openxmlformats.org/drawingml/2006/table">
            <a:tbl>
              <a:tblPr firstRow="1" firstCol="1" bandRow="1">
                <a:tableStyleId>{5C22544A-7EE6-4342-B048-85BDC9FD1C3A}</a:tableStyleId>
              </a:tblPr>
              <a:tblGrid>
                <a:gridCol w="1436794">
                  <a:extLst>
                    <a:ext uri="{9D8B030D-6E8A-4147-A177-3AD203B41FA5}">
                      <a16:colId xmlns:a16="http://schemas.microsoft.com/office/drawing/2014/main" val="2799758560"/>
                    </a:ext>
                  </a:extLst>
                </a:gridCol>
                <a:gridCol w="5392071">
                  <a:extLst>
                    <a:ext uri="{9D8B030D-6E8A-4147-A177-3AD203B41FA5}">
                      <a16:colId xmlns:a16="http://schemas.microsoft.com/office/drawing/2014/main" val="2787648986"/>
                    </a:ext>
                  </a:extLst>
                </a:gridCol>
              </a:tblGrid>
              <a:tr h="581297">
                <a:tc>
                  <a:txBody>
                    <a:bodyPr/>
                    <a:lstStyle/>
                    <a:p>
                      <a:pPr algn="ctr">
                        <a:lnSpc>
                          <a:spcPts val="1900"/>
                        </a:lnSpc>
                        <a:spcAft>
                          <a:spcPts val="0"/>
                        </a:spcAft>
                      </a:pPr>
                      <a:r>
                        <a:rPr lang="zh-CN" sz="1600" kern="100">
                          <a:effectLst/>
                        </a:rPr>
                        <a:t>常数</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dirty="0">
                          <a:effectLst/>
                        </a:rPr>
                        <a:t>说明</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98696363"/>
                  </a:ext>
                </a:extLst>
              </a:tr>
              <a:tr h="581297">
                <a:tc>
                  <a:txBody>
                    <a:bodyPr/>
                    <a:lstStyle/>
                    <a:p>
                      <a:pPr algn="ctr">
                        <a:lnSpc>
                          <a:spcPts val="1900"/>
                        </a:lnSpc>
                        <a:spcAft>
                          <a:spcPts val="0"/>
                        </a:spcAft>
                      </a:pPr>
                      <a:r>
                        <a:rPr lang="en-US" sz="1600" kern="100" dirty="0" err="1">
                          <a:solidFill>
                            <a:srgbClr val="FFFF00"/>
                          </a:solidFill>
                          <a:effectLst/>
                        </a:rPr>
                        <a:t>math.pi</a:t>
                      </a:r>
                      <a:endParaRPr lang="zh-CN" sz="1600"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a:effectLst/>
                        </a:rPr>
                        <a:t>数学常数</a:t>
                      </a:r>
                      <a:r>
                        <a:rPr lang="en-US" sz="1600" kern="100">
                          <a:effectLst/>
                        </a:rPr>
                        <a:t>π = 3.121592…</a:t>
                      </a:r>
                      <a:r>
                        <a:rPr lang="zh-CN" sz="1600" kern="100">
                          <a:effectLst/>
                        </a:rPr>
                        <a:t>，精确到可用精度</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13573664"/>
                  </a:ext>
                </a:extLst>
              </a:tr>
              <a:tr h="581297">
                <a:tc>
                  <a:txBody>
                    <a:bodyPr/>
                    <a:lstStyle/>
                    <a:p>
                      <a:pPr algn="ctr">
                        <a:lnSpc>
                          <a:spcPts val="1900"/>
                        </a:lnSpc>
                        <a:spcAft>
                          <a:spcPts val="0"/>
                        </a:spcAft>
                      </a:pPr>
                      <a:r>
                        <a:rPr lang="en-US" sz="1600" kern="100" dirty="0" err="1">
                          <a:solidFill>
                            <a:srgbClr val="FFFF00"/>
                          </a:solidFill>
                          <a:effectLst/>
                        </a:rPr>
                        <a:t>math.e</a:t>
                      </a:r>
                      <a:endParaRPr lang="zh-CN" sz="1600"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dirty="0">
                          <a:effectLst/>
                        </a:rPr>
                        <a:t>数学常数</a:t>
                      </a:r>
                      <a:r>
                        <a:rPr lang="en-US" sz="1600" kern="100" dirty="0">
                          <a:effectLst/>
                        </a:rPr>
                        <a:t>e = 2.718281…</a:t>
                      </a:r>
                      <a:r>
                        <a:rPr lang="zh-CN" sz="1600" kern="100" dirty="0">
                          <a:effectLst/>
                        </a:rPr>
                        <a:t>，精确到可用精度</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1955220"/>
                  </a:ext>
                </a:extLst>
              </a:tr>
              <a:tr h="581297">
                <a:tc>
                  <a:txBody>
                    <a:bodyPr/>
                    <a:lstStyle/>
                    <a:p>
                      <a:pPr algn="ctr">
                        <a:lnSpc>
                          <a:spcPts val="1900"/>
                        </a:lnSpc>
                        <a:spcAft>
                          <a:spcPts val="0"/>
                        </a:spcAft>
                      </a:pPr>
                      <a:r>
                        <a:rPr lang="en-US" sz="1600" kern="100" dirty="0" err="1">
                          <a:solidFill>
                            <a:srgbClr val="FFFF00"/>
                          </a:solidFill>
                          <a:effectLst/>
                        </a:rPr>
                        <a:t>math.tau</a:t>
                      </a:r>
                      <a:endParaRPr lang="zh-CN" sz="1600"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a:effectLst/>
                        </a:rPr>
                        <a:t>数学常数</a:t>
                      </a:r>
                      <a:r>
                        <a:rPr lang="en-US" sz="1600" kern="100">
                          <a:effectLst/>
                        </a:rPr>
                        <a:t>τ = 2π = 6.283185…</a:t>
                      </a:r>
                      <a:r>
                        <a:rPr lang="zh-CN" sz="1600" kern="100">
                          <a:effectLst/>
                        </a:rPr>
                        <a:t>，精确到可用精度</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14969348"/>
                  </a:ext>
                </a:extLst>
              </a:tr>
              <a:tr h="581297">
                <a:tc>
                  <a:txBody>
                    <a:bodyPr/>
                    <a:lstStyle/>
                    <a:p>
                      <a:pPr algn="ctr">
                        <a:lnSpc>
                          <a:spcPts val="1900"/>
                        </a:lnSpc>
                        <a:spcAft>
                          <a:spcPts val="0"/>
                        </a:spcAft>
                      </a:pPr>
                      <a:r>
                        <a:rPr lang="en-US" sz="1600" kern="100" dirty="0">
                          <a:solidFill>
                            <a:srgbClr val="FFFF00"/>
                          </a:solidFill>
                          <a:effectLst/>
                        </a:rPr>
                        <a:t>math.inf</a:t>
                      </a:r>
                      <a:endParaRPr lang="zh-CN" sz="1600"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a:effectLst/>
                        </a:rPr>
                        <a:t>浮点正无穷大，负无穷大使用</a:t>
                      </a:r>
                      <a:r>
                        <a:rPr lang="en-US" sz="1600" kern="100">
                          <a:effectLst/>
                        </a:rPr>
                        <a:t>-math.inf</a:t>
                      </a:r>
                      <a:r>
                        <a:rPr lang="zh-CN" sz="1600" kern="100">
                          <a:effectLst/>
                        </a:rPr>
                        <a:t>，相当于</a:t>
                      </a:r>
                      <a:r>
                        <a:rPr lang="en-US" sz="1600" kern="100">
                          <a:effectLst/>
                        </a:rPr>
                        <a:t>float(‘inf’)</a:t>
                      </a:r>
                      <a:r>
                        <a:rPr lang="zh-CN" sz="1600" kern="100">
                          <a:effectLst/>
                        </a:rPr>
                        <a:t>的输出</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08892743"/>
                  </a:ext>
                </a:extLst>
              </a:tr>
              <a:tr h="581297">
                <a:tc>
                  <a:txBody>
                    <a:bodyPr/>
                    <a:lstStyle/>
                    <a:p>
                      <a:pPr algn="ctr">
                        <a:lnSpc>
                          <a:spcPts val="1900"/>
                        </a:lnSpc>
                        <a:spcAft>
                          <a:spcPts val="0"/>
                        </a:spcAft>
                      </a:pPr>
                      <a:r>
                        <a:rPr lang="en-US" sz="1600" kern="100" dirty="0" err="1">
                          <a:solidFill>
                            <a:srgbClr val="FFFF00"/>
                          </a:solidFill>
                          <a:effectLst/>
                        </a:rPr>
                        <a:t>math.nan</a:t>
                      </a:r>
                      <a:endParaRPr lang="zh-CN" sz="1600"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1900"/>
                        </a:lnSpc>
                        <a:spcAft>
                          <a:spcPts val="0"/>
                        </a:spcAft>
                      </a:pPr>
                      <a:r>
                        <a:rPr lang="zh-CN" sz="1600" kern="100" dirty="0">
                          <a:effectLst/>
                        </a:rPr>
                        <a:t>浮点</a:t>
                      </a:r>
                      <a:r>
                        <a:rPr lang="en-US" sz="1600" kern="100" dirty="0">
                          <a:effectLst/>
                        </a:rPr>
                        <a:t>“</a:t>
                      </a:r>
                      <a:r>
                        <a:rPr lang="zh-CN" sz="1600" kern="100" dirty="0">
                          <a:effectLst/>
                        </a:rPr>
                        <a:t>非数字</a:t>
                      </a:r>
                      <a:r>
                        <a:rPr lang="en-US" sz="1600" kern="100" dirty="0">
                          <a:effectLst/>
                        </a:rPr>
                        <a:t>”</a:t>
                      </a:r>
                      <a:r>
                        <a:rPr lang="zh-CN" sz="1600" kern="100" dirty="0">
                          <a:effectLst/>
                        </a:rPr>
                        <a:t>值，相当于</a:t>
                      </a:r>
                      <a:r>
                        <a:rPr lang="en-US" sz="1600" kern="100" dirty="0">
                          <a:effectLst/>
                        </a:rPr>
                        <a:t>float(‘nan’)</a:t>
                      </a:r>
                      <a:r>
                        <a:rPr lang="zh-CN" sz="1600" kern="100" dirty="0">
                          <a:effectLst/>
                        </a:rPr>
                        <a:t>的输出</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7389349"/>
                  </a:ext>
                </a:extLst>
              </a:tr>
            </a:tbl>
          </a:graphicData>
        </a:graphic>
      </p:graphicFrame>
      <p:pic>
        <p:nvPicPr>
          <p:cNvPr id="3" name="Picture 2">
            <a:extLst>
              <a:ext uri="{FF2B5EF4-FFF2-40B4-BE49-F238E27FC236}">
                <a16:creationId xmlns:a16="http://schemas.microsoft.com/office/drawing/2014/main" id="{7CBA3F7A-1254-CEF5-9418-2020E53C116F}"/>
              </a:ext>
            </a:extLst>
          </p:cNvPr>
          <p:cNvPicPr>
            <a:picLocks noChangeAspect="1"/>
          </p:cNvPicPr>
          <p:nvPr/>
        </p:nvPicPr>
        <p:blipFill>
          <a:blip r:embed="rId3"/>
          <a:stretch>
            <a:fillRect/>
          </a:stretch>
        </p:blipFill>
        <p:spPr>
          <a:xfrm>
            <a:off x="8157507" y="3183963"/>
            <a:ext cx="3519799" cy="2988237"/>
          </a:xfrm>
          <a:prstGeom prst="rect">
            <a:avLst/>
          </a:prstGeom>
        </p:spPr>
      </p:pic>
    </p:spTree>
    <p:extLst>
      <p:ext uri="{BB962C8B-B14F-4D97-AF65-F5344CB8AC3E}">
        <p14:creationId xmlns:p14="http://schemas.microsoft.com/office/powerpoint/2010/main" val="288572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math</a:t>
            </a:r>
            <a:r>
              <a:rPr lang="zh-CN" altLang="en-US" dirty="0">
                <a:latin typeface="Microsoft YaHei" panose="020B0503020204020204" pitchFamily="34" charset="-122"/>
                <a:ea typeface="Microsoft YaHei" panose="020B0503020204020204" pitchFamily="34" charset="-122"/>
              </a:rPr>
              <a:t>模块：数论与表示函数</a:t>
            </a:r>
            <a:endParaRPr lang="en-US" dirty="0">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615C97EC-D83C-547C-BD85-8F131EB86F25}"/>
              </a:ext>
            </a:extLst>
          </p:cNvPr>
          <p:cNvPicPr>
            <a:picLocks noChangeAspect="1"/>
          </p:cNvPicPr>
          <p:nvPr/>
        </p:nvPicPr>
        <p:blipFill>
          <a:blip r:embed="rId3"/>
          <a:stretch>
            <a:fillRect/>
          </a:stretch>
        </p:blipFill>
        <p:spPr>
          <a:xfrm>
            <a:off x="1321168" y="1630199"/>
            <a:ext cx="9549664" cy="3990672"/>
          </a:xfrm>
          <a:prstGeom prst="rect">
            <a:avLst/>
          </a:prstGeom>
        </p:spPr>
      </p:pic>
    </p:spTree>
    <p:extLst>
      <p:ext uri="{BB962C8B-B14F-4D97-AF65-F5344CB8AC3E}">
        <p14:creationId xmlns:p14="http://schemas.microsoft.com/office/powerpoint/2010/main" val="127719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C398AA-9030-3ADF-637D-8C1A3B354725}"/>
              </a:ext>
            </a:extLst>
          </p:cNvPr>
          <p:cNvPicPr>
            <a:picLocks noChangeAspect="1"/>
          </p:cNvPicPr>
          <p:nvPr/>
        </p:nvPicPr>
        <p:blipFill>
          <a:blip r:embed="rId2"/>
          <a:stretch>
            <a:fillRect/>
          </a:stretch>
        </p:blipFill>
        <p:spPr>
          <a:xfrm>
            <a:off x="241877" y="882650"/>
            <a:ext cx="6692900" cy="50927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C0782771-7712-9DFD-79B2-52938A06463F}"/>
              </a:ext>
            </a:extLst>
          </p:cNvPr>
          <p:cNvPicPr>
            <a:picLocks noChangeAspect="1"/>
          </p:cNvPicPr>
          <p:nvPr/>
        </p:nvPicPr>
        <p:blipFill>
          <a:blip r:embed="rId3"/>
          <a:stretch>
            <a:fillRect/>
          </a:stretch>
        </p:blipFill>
        <p:spPr>
          <a:xfrm>
            <a:off x="4838123" y="171450"/>
            <a:ext cx="7112000" cy="6515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006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83FF-1E5A-CE7E-2E52-FC20192BE6F1}"/>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6FB8016-2B95-6C53-A3DC-229B0EB06E1D}"/>
              </a:ext>
            </a:extLst>
          </p:cNvPr>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math</a:t>
            </a:r>
            <a:r>
              <a:rPr lang="zh-CN" altLang="en-US" dirty="0">
                <a:latin typeface="Microsoft YaHei" panose="020B0503020204020204" pitchFamily="34" charset="-122"/>
                <a:ea typeface="Microsoft YaHei" panose="020B0503020204020204" pitchFamily="34" charset="-122"/>
              </a:rPr>
              <a:t>模块：幂函数与对数函数、三角函数</a:t>
            </a:r>
            <a:endParaRPr lang="en-US" dirty="0">
              <a:latin typeface="Microsoft YaHei" panose="020B0503020204020204" pitchFamily="34" charset="-122"/>
              <a:ea typeface="Microsoft YaHei" panose="020B0503020204020204" pitchFamily="34" charset="-122"/>
            </a:endParaRPr>
          </a:p>
        </p:txBody>
      </p:sp>
      <p:pic>
        <p:nvPicPr>
          <p:cNvPr id="2" name="Picture 1">
            <a:extLst>
              <a:ext uri="{FF2B5EF4-FFF2-40B4-BE49-F238E27FC236}">
                <a16:creationId xmlns:a16="http://schemas.microsoft.com/office/drawing/2014/main" id="{9E390707-6214-1062-D45C-679DE3A7DE32}"/>
              </a:ext>
            </a:extLst>
          </p:cNvPr>
          <p:cNvPicPr>
            <a:picLocks noChangeAspect="1"/>
          </p:cNvPicPr>
          <p:nvPr/>
        </p:nvPicPr>
        <p:blipFill>
          <a:blip r:embed="rId3"/>
          <a:stretch>
            <a:fillRect/>
          </a:stretch>
        </p:blipFill>
        <p:spPr>
          <a:xfrm>
            <a:off x="1104900" y="1465729"/>
            <a:ext cx="6809577" cy="256989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B07C097-508C-221C-A566-96077E65E7F3}"/>
              </a:ext>
            </a:extLst>
          </p:cNvPr>
          <p:cNvPicPr>
            <a:picLocks noChangeAspect="1"/>
          </p:cNvPicPr>
          <p:nvPr/>
        </p:nvPicPr>
        <p:blipFill>
          <a:blip r:embed="rId4"/>
          <a:stretch>
            <a:fillRect/>
          </a:stretch>
        </p:blipFill>
        <p:spPr>
          <a:xfrm>
            <a:off x="6431417" y="3321424"/>
            <a:ext cx="5130800" cy="3200400"/>
          </a:xfrm>
          <a:prstGeom prst="rect">
            <a:avLst/>
          </a:prstGeom>
        </p:spPr>
      </p:pic>
    </p:spTree>
    <p:extLst>
      <p:ext uri="{BB962C8B-B14F-4D97-AF65-F5344CB8AC3E}">
        <p14:creationId xmlns:p14="http://schemas.microsoft.com/office/powerpoint/2010/main" val="275964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28A0A-BA55-15CC-FD8E-85EB1763C573}"/>
              </a:ext>
            </a:extLst>
          </p:cNvPr>
          <p:cNvPicPr>
            <a:picLocks noChangeAspect="1"/>
          </p:cNvPicPr>
          <p:nvPr/>
        </p:nvPicPr>
        <p:blipFill>
          <a:blip r:embed="rId2"/>
          <a:stretch>
            <a:fillRect/>
          </a:stretch>
        </p:blipFill>
        <p:spPr>
          <a:xfrm>
            <a:off x="530786" y="1156447"/>
            <a:ext cx="6235700" cy="4114800"/>
          </a:xfrm>
          <a:prstGeom prst="rect">
            <a:avLst/>
          </a:prstGeom>
        </p:spPr>
      </p:pic>
      <p:pic>
        <p:nvPicPr>
          <p:cNvPr id="3" name="Picture 2">
            <a:extLst>
              <a:ext uri="{FF2B5EF4-FFF2-40B4-BE49-F238E27FC236}">
                <a16:creationId xmlns:a16="http://schemas.microsoft.com/office/drawing/2014/main" id="{1924E65F-87BB-2260-D1B0-2617ECD59013}"/>
              </a:ext>
            </a:extLst>
          </p:cNvPr>
          <p:cNvPicPr>
            <a:picLocks noChangeAspect="1"/>
          </p:cNvPicPr>
          <p:nvPr/>
        </p:nvPicPr>
        <p:blipFill>
          <a:blip r:embed="rId3"/>
          <a:stretch>
            <a:fillRect/>
          </a:stretch>
        </p:blipFill>
        <p:spPr>
          <a:xfrm>
            <a:off x="7010378" y="0"/>
            <a:ext cx="4141738" cy="6858000"/>
          </a:xfrm>
          <a:prstGeom prst="rect">
            <a:avLst/>
          </a:prstGeom>
        </p:spPr>
      </p:pic>
    </p:spTree>
    <p:extLst>
      <p:ext uri="{BB962C8B-B14F-4D97-AF65-F5344CB8AC3E}">
        <p14:creationId xmlns:p14="http://schemas.microsoft.com/office/powerpoint/2010/main" val="151752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decimal</a:t>
            </a:r>
            <a:r>
              <a:rPr lang="zh-CN" altLang="en-US" dirty="0">
                <a:latin typeface="Microsoft YaHei" panose="020B0503020204020204" pitchFamily="34" charset="-122"/>
                <a:ea typeface="Microsoft YaHei" panose="020B0503020204020204" pitchFamily="34" charset="-122"/>
              </a:rPr>
              <a:t>模块：十进制定点和浮点运算</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524000"/>
            <a:ext cx="9982200" cy="1905000"/>
          </a:xfrm>
        </p:spPr>
        <p:txBody>
          <a:bodyPr>
            <a:normAutofit/>
          </a:bodyPr>
          <a:lstStyle/>
          <a:p>
            <a:pPr>
              <a:lnSpc>
                <a:spcPct val="100000"/>
              </a:lnSpc>
            </a:pPr>
            <a:r>
              <a:rPr lang="en-US" altLang="zh-CN" sz="2400" dirty="0">
                <a:ea typeface="宋体" panose="02010600030101010101" pitchFamily="2" charset="-122"/>
                <a:cs typeface="Calibri" panose="020F0502020204030204" pitchFamily="34" charset="0"/>
              </a:rPr>
              <a:t>decimal</a:t>
            </a:r>
            <a:r>
              <a:rPr lang="zh-CN" altLang="en-US" sz="2400" dirty="0">
                <a:ea typeface="宋体" panose="02010600030101010101" pitchFamily="2" charset="-122"/>
                <a:cs typeface="Calibri" panose="020F0502020204030204" pitchFamily="34" charset="0"/>
              </a:rPr>
              <a:t>模块支持快速正确舍入的十进制定点和浮点运算，与</a:t>
            </a:r>
            <a:r>
              <a:rPr lang="en-US" altLang="zh-CN" sz="2400" dirty="0">
                <a:ea typeface="宋体" panose="02010600030101010101" pitchFamily="2" charset="-122"/>
                <a:cs typeface="Calibri" panose="020F0502020204030204" pitchFamily="34" charset="0"/>
              </a:rPr>
              <a:t>float</a:t>
            </a:r>
            <a:r>
              <a:rPr lang="zh-CN" altLang="en-US" sz="2400" dirty="0">
                <a:ea typeface="宋体" panose="02010600030101010101" pitchFamily="2" charset="-122"/>
                <a:cs typeface="Calibri" panose="020F0502020204030204" pitchFamily="34" charset="0"/>
              </a:rPr>
              <a:t>数据类型相比，</a:t>
            </a:r>
            <a:r>
              <a:rPr lang="en-US" altLang="zh-CN" sz="2400" dirty="0">
                <a:ea typeface="宋体" panose="02010600030101010101" pitchFamily="2" charset="-122"/>
                <a:cs typeface="Calibri" panose="020F0502020204030204" pitchFamily="34" charset="0"/>
              </a:rPr>
              <a:t>decimal</a:t>
            </a:r>
            <a:r>
              <a:rPr lang="zh-CN" altLang="en-US" sz="2400" dirty="0">
                <a:ea typeface="宋体" panose="02010600030101010101" pitchFamily="2" charset="-122"/>
                <a:cs typeface="Calibri" panose="020F0502020204030204" pitchFamily="34" charset="0"/>
              </a:rPr>
              <a:t>模块中十进制数字可以准确表示，算术运算能够得到精确结果，并且保留尾随零。</a:t>
            </a:r>
            <a:endParaRPr lang="en-US" altLang="zh-CN" sz="2400" dirty="0">
              <a:ea typeface="宋体" panose="02010600030101010101" pitchFamily="2" charset="-122"/>
              <a:cs typeface="Calibri" panose="020F0502020204030204" pitchFamily="34" charset="0"/>
            </a:endParaRPr>
          </a:p>
          <a:p>
            <a:pPr>
              <a:lnSpc>
                <a:spcPct val="100000"/>
              </a:lnSpc>
            </a:pPr>
            <a:r>
              <a:rPr lang="zh-CN" altLang="en-US" sz="2400" dirty="0">
                <a:ea typeface="宋体" panose="02010600030101010101" pitchFamily="2" charset="-122"/>
                <a:cs typeface="Calibri" panose="020F0502020204030204" pitchFamily="34" charset="0"/>
              </a:rPr>
              <a:t>导入模块：</a:t>
            </a:r>
            <a:r>
              <a:rPr lang="en-US" altLang="zh-CN" sz="2400" b="1" dirty="0">
                <a:solidFill>
                  <a:srgbClr val="7030A0"/>
                </a:solidFill>
                <a:ea typeface="宋体" panose="02010600030101010101" pitchFamily="2" charset="-122"/>
                <a:cs typeface="Calibri" panose="020F0502020204030204" pitchFamily="34" charset="0"/>
              </a:rPr>
              <a:t>from decimal import </a:t>
            </a:r>
            <a:r>
              <a:rPr lang="zh-CN" altLang="en-US" sz="2400" b="1" dirty="0">
                <a:solidFill>
                  <a:srgbClr val="7030A0"/>
                </a:solidFill>
                <a:ea typeface="宋体" panose="02010600030101010101" pitchFamily="2" charset="-122"/>
                <a:cs typeface="Calibri" panose="020F0502020204030204" pitchFamily="34" charset="0"/>
              </a:rPr>
              <a:t>*</a:t>
            </a:r>
            <a:endParaRPr lang="en-US" altLang="zh-CN" sz="2400" b="1" dirty="0">
              <a:solidFill>
                <a:srgbClr val="7030A0"/>
              </a:solidFill>
              <a:ea typeface="宋体" panose="02010600030101010101" pitchFamily="2" charset="-122"/>
              <a:cs typeface="Calibri" panose="020F0502020204030204" pitchFamily="34" charset="0"/>
            </a:endParaRPr>
          </a:p>
        </p:txBody>
      </p:sp>
      <p:pic>
        <p:nvPicPr>
          <p:cNvPr id="2" name="Picture 1">
            <a:extLst>
              <a:ext uri="{FF2B5EF4-FFF2-40B4-BE49-F238E27FC236}">
                <a16:creationId xmlns:a16="http://schemas.microsoft.com/office/drawing/2014/main" id="{3E6D2559-5E7B-1E46-E573-4B7175C01A5B}"/>
              </a:ext>
            </a:extLst>
          </p:cNvPr>
          <p:cNvPicPr>
            <a:picLocks noChangeAspect="1"/>
          </p:cNvPicPr>
          <p:nvPr/>
        </p:nvPicPr>
        <p:blipFill>
          <a:blip r:embed="rId3"/>
          <a:stretch>
            <a:fillRect/>
          </a:stretch>
        </p:blipFill>
        <p:spPr>
          <a:xfrm>
            <a:off x="2209067" y="3429000"/>
            <a:ext cx="7773865" cy="2998694"/>
          </a:xfrm>
          <a:prstGeom prst="rect">
            <a:avLst/>
          </a:prstGeom>
        </p:spPr>
      </p:pic>
    </p:spTree>
    <p:extLst>
      <p:ext uri="{BB962C8B-B14F-4D97-AF65-F5344CB8AC3E}">
        <p14:creationId xmlns:p14="http://schemas.microsoft.com/office/powerpoint/2010/main" val="313669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68A824-AF40-76F2-4F77-0569CF0708CE}"/>
              </a:ext>
            </a:extLst>
          </p:cNvPr>
          <p:cNvPicPr>
            <a:picLocks noChangeAspect="1"/>
          </p:cNvPicPr>
          <p:nvPr/>
        </p:nvPicPr>
        <p:blipFill>
          <a:blip r:embed="rId2"/>
          <a:stretch>
            <a:fillRect/>
          </a:stretch>
        </p:blipFill>
        <p:spPr>
          <a:xfrm>
            <a:off x="948878" y="932329"/>
            <a:ext cx="10294243" cy="4993341"/>
          </a:xfrm>
          <a:prstGeom prst="rect">
            <a:avLst/>
          </a:prstGeom>
        </p:spPr>
      </p:pic>
    </p:spTree>
    <p:extLst>
      <p:ext uri="{BB962C8B-B14F-4D97-AF65-F5344CB8AC3E}">
        <p14:creationId xmlns:p14="http://schemas.microsoft.com/office/powerpoint/2010/main" val="96529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fractions</a:t>
            </a:r>
            <a:r>
              <a:rPr lang="zh-CN" altLang="en-US" dirty="0">
                <a:latin typeface="Microsoft YaHei" panose="020B0503020204020204" pitchFamily="34" charset="-122"/>
                <a:ea typeface="Microsoft YaHei" panose="020B0503020204020204" pitchFamily="34" charset="-122"/>
              </a:rPr>
              <a:t>模块：分数运算</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600200"/>
            <a:ext cx="9982200" cy="4420590"/>
          </a:xfrm>
        </p:spPr>
        <p:txBody>
          <a:bodyPr>
            <a:normAutofit/>
          </a:bodyPr>
          <a:lstStyle/>
          <a:p>
            <a:pPr>
              <a:lnSpc>
                <a:spcPct val="100000"/>
              </a:lnSpc>
            </a:pPr>
            <a:r>
              <a:rPr lang="zh-CN" altLang="en-US" sz="2400" dirty="0">
                <a:ea typeface="宋体" panose="02010600030101010101" pitchFamily="2" charset="-122"/>
                <a:cs typeface="Calibri" panose="020F0502020204030204" pitchFamily="34" charset="0"/>
              </a:rPr>
              <a:t>导入模块：</a:t>
            </a:r>
            <a:r>
              <a:rPr lang="en-US" altLang="zh-CN" sz="2400" b="1" dirty="0">
                <a:ea typeface="宋体" panose="02010600030101010101" pitchFamily="2" charset="-122"/>
                <a:cs typeface="Calibri" panose="020F0502020204030204" pitchFamily="34" charset="0"/>
              </a:rPr>
              <a:t>from fractions import </a:t>
            </a:r>
            <a:r>
              <a:rPr lang="zh-CN" altLang="en-US" sz="2400" b="1" dirty="0">
                <a:ea typeface="宋体" panose="02010600030101010101" pitchFamily="2" charset="-122"/>
                <a:cs typeface="Calibri" panose="020F0502020204030204" pitchFamily="34" charset="0"/>
              </a:rPr>
              <a:t>*</a:t>
            </a:r>
            <a:endParaRPr lang="en-US" altLang="zh-CN" sz="2400" b="1" dirty="0">
              <a:ea typeface="宋体" panose="02010600030101010101" pitchFamily="2" charset="-122"/>
              <a:cs typeface="Calibri" panose="020F0502020204030204" pitchFamily="34" charset="0"/>
            </a:endParaRPr>
          </a:p>
          <a:p>
            <a:pPr>
              <a:lnSpc>
                <a:spcPct val="100000"/>
              </a:lnSpc>
            </a:pPr>
            <a:r>
              <a:rPr lang="zh-CN" altLang="en-US" sz="2400" dirty="0">
                <a:ea typeface="宋体" panose="02010600030101010101" pitchFamily="2" charset="-122"/>
                <a:cs typeface="Calibri" panose="020F0502020204030204" pitchFamily="34" charset="0"/>
              </a:rPr>
              <a:t>构造函数：</a:t>
            </a:r>
            <a:r>
              <a:rPr lang="en-US" altLang="zh-CN" sz="2400" b="1" dirty="0" err="1">
                <a:ea typeface="宋体" panose="02010600030101010101" pitchFamily="2" charset="-122"/>
                <a:cs typeface="Calibri" panose="020F0502020204030204" pitchFamily="34" charset="0"/>
              </a:rPr>
              <a:t>fractions.Fraction</a:t>
            </a:r>
            <a:r>
              <a:rPr lang="en-US" altLang="zh-CN" sz="2400" b="1" dirty="0">
                <a:ea typeface="宋体" panose="02010600030101010101" pitchFamily="2" charset="-122"/>
                <a:cs typeface="Calibri" panose="020F0502020204030204" pitchFamily="34" charset="0"/>
              </a:rPr>
              <a:t>(value)</a:t>
            </a:r>
          </a:p>
          <a:p>
            <a:pPr lvl="1">
              <a:lnSpc>
                <a:spcPct val="100000"/>
              </a:lnSpc>
            </a:pPr>
            <a:r>
              <a:rPr lang="en-US" altLang="zh-CN" sz="2000" dirty="0">
                <a:ea typeface="宋体" panose="02010600030101010101" pitchFamily="2" charset="-122"/>
                <a:cs typeface="Calibri" panose="020F0502020204030204" pitchFamily="34" charset="0"/>
              </a:rPr>
              <a:t>value</a:t>
            </a:r>
            <a:r>
              <a:rPr lang="zh-CN" altLang="en-US" sz="2000" dirty="0">
                <a:ea typeface="宋体" panose="02010600030101010101" pitchFamily="2" charset="-122"/>
                <a:cs typeface="Calibri" panose="020F0502020204030204" pitchFamily="34" charset="0"/>
              </a:rPr>
              <a:t>可以是一对整数、一个分数、一个浮点数、一个</a:t>
            </a:r>
            <a:r>
              <a:rPr lang="en-US" altLang="zh-CN" sz="2000" dirty="0" err="1">
                <a:ea typeface="宋体" panose="02010600030101010101" pitchFamily="2" charset="-122"/>
                <a:cs typeface="Calibri" panose="020F0502020204030204" pitchFamily="34" charset="0"/>
              </a:rPr>
              <a:t>decimal.Decimal</a:t>
            </a:r>
            <a:r>
              <a:rPr lang="zh-CN" altLang="en-US" sz="2000" dirty="0">
                <a:ea typeface="宋体" panose="02010600030101010101" pitchFamily="2" charset="-122"/>
                <a:cs typeface="Calibri" panose="020F0502020204030204" pitchFamily="34" charset="0"/>
              </a:rPr>
              <a:t>对象或一个字符串。即：</a:t>
            </a:r>
            <a:endParaRPr lang="en-US" altLang="zh-CN" sz="2000" dirty="0">
              <a:ea typeface="宋体" panose="02010600030101010101" pitchFamily="2" charset="-122"/>
              <a:cs typeface="Calibri" panose="020F0502020204030204" pitchFamily="34" charset="0"/>
            </a:endParaRPr>
          </a:p>
          <a:p>
            <a:pPr lvl="1">
              <a:lnSpc>
                <a:spcPct val="100000"/>
              </a:lnSpc>
            </a:pPr>
            <a:r>
              <a:rPr lang="en-US" altLang="zh-CN" sz="2000" dirty="0" err="1">
                <a:ea typeface="宋体" panose="02010600030101010101" pitchFamily="2" charset="-122"/>
                <a:cs typeface="Calibri" panose="020F0502020204030204" pitchFamily="34" charset="0"/>
              </a:rPr>
              <a:t>fractions.Fraction</a:t>
            </a:r>
            <a:r>
              <a:rPr lang="en-US" altLang="zh-CN" sz="2000" dirty="0">
                <a:ea typeface="宋体" panose="02010600030101010101" pitchFamily="2" charset="-122"/>
                <a:cs typeface="Calibri" panose="020F0502020204030204" pitchFamily="34" charset="0"/>
              </a:rPr>
              <a:t>(numerator=0, denominator=1)</a:t>
            </a:r>
            <a:r>
              <a:rPr lang="zh-CN" altLang="en-US" sz="2000" dirty="0">
                <a:ea typeface="宋体" panose="02010600030101010101" pitchFamily="2" charset="-122"/>
                <a:cs typeface="Calibri" panose="020F0502020204030204" pitchFamily="34" charset="0"/>
              </a:rPr>
              <a:t>，分子默认为</a:t>
            </a:r>
            <a:r>
              <a:rPr lang="en-US" altLang="zh-CN" sz="2000" dirty="0">
                <a:ea typeface="宋体" panose="02010600030101010101" pitchFamily="2" charset="-122"/>
                <a:cs typeface="Calibri" panose="020F0502020204030204" pitchFamily="34" charset="0"/>
              </a:rPr>
              <a:t>0</a:t>
            </a:r>
            <a:r>
              <a:rPr lang="zh-CN" altLang="en-US" sz="2000" dirty="0">
                <a:ea typeface="宋体" panose="02010600030101010101" pitchFamily="2" charset="-122"/>
                <a:cs typeface="Calibri" panose="020F0502020204030204" pitchFamily="34" charset="0"/>
              </a:rPr>
              <a:t>，分母默认为</a:t>
            </a:r>
            <a:r>
              <a:rPr lang="en-US" altLang="zh-CN" sz="2000" dirty="0">
                <a:ea typeface="宋体" panose="02010600030101010101" pitchFamily="2" charset="-122"/>
                <a:cs typeface="Calibri" panose="020F0502020204030204" pitchFamily="34" charset="0"/>
              </a:rPr>
              <a:t>1</a:t>
            </a:r>
          </a:p>
          <a:p>
            <a:pPr lvl="1">
              <a:lnSpc>
                <a:spcPct val="100000"/>
              </a:lnSpc>
            </a:pPr>
            <a:r>
              <a:rPr lang="en-US" altLang="zh-CN" sz="2000" dirty="0" err="1">
                <a:ea typeface="宋体" panose="02010600030101010101" pitchFamily="2" charset="-122"/>
                <a:cs typeface="Calibri" panose="020F0502020204030204" pitchFamily="34" charset="0"/>
              </a:rPr>
              <a:t>fractions.Fraction</a:t>
            </a:r>
            <a:r>
              <a:rPr lang="en-US" altLang="zh-CN" sz="2000" dirty="0">
                <a:ea typeface="宋体" panose="02010600030101010101" pitchFamily="2" charset="-122"/>
                <a:cs typeface="Calibri" panose="020F0502020204030204" pitchFamily="34" charset="0"/>
              </a:rPr>
              <a:t>(</a:t>
            </a:r>
            <a:r>
              <a:rPr lang="en-US" altLang="zh-CN" sz="2000" dirty="0" err="1">
                <a:ea typeface="宋体" panose="02010600030101010101" pitchFamily="2" charset="-122"/>
                <a:cs typeface="Calibri" panose="020F0502020204030204" pitchFamily="34" charset="0"/>
              </a:rPr>
              <a:t>other_fraction</a:t>
            </a:r>
            <a:r>
              <a:rPr lang="en-US" altLang="zh-CN" sz="2000" dirty="0">
                <a:ea typeface="宋体" panose="02010600030101010101" pitchFamily="2" charset="-122"/>
                <a:cs typeface="Calibri" panose="020F0502020204030204" pitchFamily="34" charset="0"/>
              </a:rPr>
              <a:t>)</a:t>
            </a:r>
          </a:p>
          <a:p>
            <a:pPr lvl="1">
              <a:lnSpc>
                <a:spcPct val="100000"/>
              </a:lnSpc>
            </a:pPr>
            <a:r>
              <a:rPr lang="en-US" altLang="zh-CN" sz="2000" dirty="0" err="1">
                <a:ea typeface="宋体" panose="02010600030101010101" pitchFamily="2" charset="-122"/>
                <a:cs typeface="Calibri" panose="020F0502020204030204" pitchFamily="34" charset="0"/>
              </a:rPr>
              <a:t>fractions.Fraction</a:t>
            </a:r>
            <a:r>
              <a:rPr lang="en-US" altLang="zh-CN" sz="2000" dirty="0">
                <a:ea typeface="宋体" panose="02010600030101010101" pitchFamily="2" charset="-122"/>
                <a:cs typeface="Calibri" panose="020F0502020204030204" pitchFamily="34" charset="0"/>
              </a:rPr>
              <a:t>(float)</a:t>
            </a:r>
          </a:p>
          <a:p>
            <a:pPr lvl="1">
              <a:lnSpc>
                <a:spcPct val="100000"/>
              </a:lnSpc>
            </a:pPr>
            <a:r>
              <a:rPr lang="en-US" altLang="zh-CN" sz="2000" dirty="0" err="1">
                <a:ea typeface="宋体" panose="02010600030101010101" pitchFamily="2" charset="-122"/>
                <a:cs typeface="Calibri" panose="020F0502020204030204" pitchFamily="34" charset="0"/>
              </a:rPr>
              <a:t>fractions.Fraction</a:t>
            </a:r>
            <a:r>
              <a:rPr lang="en-US" altLang="zh-CN" sz="2000" dirty="0">
                <a:ea typeface="宋体" panose="02010600030101010101" pitchFamily="2" charset="-122"/>
                <a:cs typeface="Calibri" panose="020F0502020204030204" pitchFamily="34" charset="0"/>
              </a:rPr>
              <a:t>(decimal)</a:t>
            </a:r>
          </a:p>
          <a:p>
            <a:pPr lvl="1">
              <a:lnSpc>
                <a:spcPct val="100000"/>
              </a:lnSpc>
            </a:pPr>
            <a:r>
              <a:rPr lang="en-US" altLang="zh-CN" sz="2000" dirty="0" err="1">
                <a:ea typeface="宋体" panose="02010600030101010101" pitchFamily="2" charset="-122"/>
                <a:cs typeface="Calibri" panose="020F0502020204030204" pitchFamily="34" charset="0"/>
              </a:rPr>
              <a:t>fractions.Fraction</a:t>
            </a:r>
            <a:r>
              <a:rPr lang="en-US" altLang="zh-CN" sz="2000" dirty="0">
                <a:ea typeface="宋体" panose="02010600030101010101" pitchFamily="2" charset="-122"/>
                <a:cs typeface="Calibri" panose="020F0502020204030204" pitchFamily="34" charset="0"/>
              </a:rPr>
              <a:t>(string)</a:t>
            </a: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2223194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fractions</a:t>
            </a:r>
            <a:r>
              <a:rPr lang="zh-CN" altLang="en-US" dirty="0">
                <a:latin typeface="Microsoft YaHei" panose="020B0503020204020204" pitchFamily="34" charset="-122"/>
                <a:ea typeface="Microsoft YaHei" panose="020B0503020204020204" pitchFamily="34" charset="-122"/>
              </a:rPr>
              <a:t>模块：分数运算</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600200"/>
            <a:ext cx="9982200" cy="4491842"/>
          </a:xfrm>
        </p:spPr>
        <p:txBody>
          <a:bodyPr>
            <a:normAutofit/>
          </a:bodyPr>
          <a:lstStyle/>
          <a:p>
            <a:pPr>
              <a:lnSpc>
                <a:spcPct val="150000"/>
              </a:lnSpc>
            </a:pPr>
            <a:r>
              <a:rPr lang="zh-CN" altLang="en-US" sz="2400" dirty="0">
                <a:ea typeface="宋体" panose="02010600030101010101" pitchFamily="2" charset="-122"/>
                <a:cs typeface="Calibri" panose="020F0502020204030204" pitchFamily="34" charset="0"/>
              </a:rPr>
              <a:t>值得注意的是，由于二进制浮点运算的问题，</a:t>
            </a:r>
            <a:r>
              <a:rPr lang="en-US" altLang="zh-CN" sz="2400" dirty="0">
                <a:ea typeface="宋体" panose="02010600030101010101" pitchFamily="2" charset="-122"/>
                <a:cs typeface="Calibri" panose="020F0502020204030204" pitchFamily="34" charset="0"/>
              </a:rPr>
              <a:t>Fraction(1.1)</a:t>
            </a:r>
            <a:r>
              <a:rPr lang="zh-CN" altLang="en-US" sz="2400" dirty="0">
                <a:ea typeface="宋体" panose="02010600030101010101" pitchFamily="2" charset="-122"/>
                <a:cs typeface="Calibri" panose="020F0502020204030204" pitchFamily="34" charset="0"/>
              </a:rPr>
              <a:t>的结果并不等于表达式</a:t>
            </a:r>
            <a:r>
              <a:rPr lang="en-US" altLang="zh-CN" sz="2400" dirty="0">
                <a:ea typeface="宋体" panose="02010600030101010101" pitchFamily="2" charset="-122"/>
                <a:cs typeface="Calibri" panose="020F0502020204030204" pitchFamily="34" charset="0"/>
              </a:rPr>
              <a:t>11/10</a:t>
            </a:r>
            <a:r>
              <a:rPr lang="zh-CN" altLang="en-US" sz="2400" dirty="0">
                <a:ea typeface="宋体" panose="02010600030101010101" pitchFamily="2" charset="-122"/>
                <a:cs typeface="Calibri" panose="020F0502020204030204" pitchFamily="34" charset="0"/>
              </a:rPr>
              <a:t>的值，所以构造</a:t>
            </a:r>
            <a:r>
              <a:rPr lang="en-US" altLang="zh-CN" sz="2400" dirty="0">
                <a:ea typeface="宋体" panose="02010600030101010101" pitchFamily="2" charset="-122"/>
                <a:cs typeface="Calibri" panose="020F0502020204030204" pitchFamily="34" charset="0"/>
              </a:rPr>
              <a:t>Fraction(1.1)</a:t>
            </a:r>
            <a:r>
              <a:rPr lang="zh-CN" altLang="en-US" sz="2400" dirty="0">
                <a:ea typeface="宋体" panose="02010600030101010101" pitchFamily="2" charset="-122"/>
                <a:cs typeface="Calibri" panose="020F0502020204030204" pitchFamily="34" charset="0"/>
              </a:rPr>
              <a:t>不会返回通常认为的</a:t>
            </a:r>
            <a:r>
              <a:rPr lang="en-US" altLang="zh-CN" sz="2400" dirty="0">
                <a:ea typeface="宋体" panose="02010600030101010101" pitchFamily="2" charset="-122"/>
                <a:cs typeface="Calibri" panose="020F0502020204030204" pitchFamily="34" charset="0"/>
              </a:rPr>
              <a:t>Fraction(11,10)</a:t>
            </a:r>
            <a:r>
              <a:rPr lang="zh-CN" altLang="en-US" sz="2400" dirty="0">
                <a:ea typeface="宋体" panose="02010600030101010101" pitchFamily="2" charset="-122"/>
                <a:cs typeface="Calibri" panose="020F0502020204030204" pitchFamily="34" charset="0"/>
              </a:rPr>
              <a:t>对象，可以通过</a:t>
            </a:r>
            <a:r>
              <a:rPr lang="en-US" altLang="zh-CN" sz="2400" dirty="0">
                <a:ea typeface="宋体" panose="02010600030101010101" pitchFamily="2" charset="-122"/>
                <a:cs typeface="Calibri" panose="020F0502020204030204" pitchFamily="34" charset="0"/>
              </a:rPr>
              <a:t>Fraction</a:t>
            </a:r>
            <a:r>
              <a:rPr lang="zh-CN" altLang="en-US" sz="2400" dirty="0">
                <a:ea typeface="宋体" panose="02010600030101010101" pitchFamily="2" charset="-122"/>
                <a:cs typeface="Calibri" panose="020F0502020204030204" pitchFamily="34" charset="0"/>
              </a:rPr>
              <a:t>对象的</a:t>
            </a:r>
            <a:r>
              <a:rPr lang="en-US" altLang="zh-CN" sz="2400" dirty="0" err="1">
                <a:ea typeface="宋体" panose="02010600030101010101" pitchFamily="2" charset="-122"/>
                <a:cs typeface="Calibri" panose="020F0502020204030204" pitchFamily="34" charset="0"/>
              </a:rPr>
              <a:t>limit_denominator</a:t>
            </a:r>
            <a:r>
              <a:rPr lang="en-US" altLang="zh-CN" sz="2400" dirty="0">
                <a:ea typeface="宋体" panose="02010600030101010101" pitchFamily="2" charset="-122"/>
                <a:cs typeface="Calibri" panose="020F0502020204030204" pitchFamily="34" charset="0"/>
              </a:rPr>
              <a:t>()</a:t>
            </a:r>
            <a:r>
              <a:rPr lang="zh-CN" altLang="en-US" sz="2400" dirty="0">
                <a:ea typeface="宋体" panose="02010600030101010101" pitchFamily="2" charset="-122"/>
                <a:cs typeface="Calibri" panose="020F0502020204030204" pitchFamily="34" charset="0"/>
              </a:rPr>
              <a:t>函数返回近似的分数值。</a:t>
            </a:r>
          </a:p>
          <a:p>
            <a:pPr>
              <a:lnSpc>
                <a:spcPct val="150000"/>
              </a:lnSpc>
            </a:pPr>
            <a:r>
              <a:rPr lang="zh-CN" altLang="en-US" sz="2400" dirty="0">
                <a:ea typeface="宋体" panose="02010600030101010101" pitchFamily="2" charset="-122"/>
                <a:cs typeface="Calibri" panose="020F0502020204030204" pitchFamily="34" charset="0"/>
              </a:rPr>
              <a:t>例如：</a:t>
            </a:r>
            <a:r>
              <a:rPr lang="en-US" altLang="zh-CN" sz="2400" dirty="0">
                <a:ea typeface="宋体" panose="02010600030101010101" pitchFamily="2" charset="-122"/>
                <a:cs typeface="Calibri" panose="020F0502020204030204" pitchFamily="34" charset="0"/>
              </a:rPr>
              <a:t>Fraction(1.1)</a:t>
            </a:r>
            <a:r>
              <a:rPr lang="zh-CN" altLang="en-US" sz="2400" dirty="0">
                <a:ea typeface="宋体" panose="02010600030101010101" pitchFamily="2" charset="-122"/>
                <a:cs typeface="Calibri" panose="020F0502020204030204" pitchFamily="34" charset="0"/>
              </a:rPr>
              <a:t>的构造结果是</a:t>
            </a:r>
            <a:r>
              <a:rPr lang="en-US" altLang="zh-CN" sz="2400" dirty="0">
                <a:ea typeface="宋体" panose="02010600030101010101" pitchFamily="2" charset="-122"/>
                <a:cs typeface="Calibri" panose="020F0502020204030204" pitchFamily="34" charset="0"/>
              </a:rPr>
              <a:t>Fraction(2476979795053773, 2251799813685248)</a:t>
            </a:r>
            <a:r>
              <a:rPr lang="zh-CN" altLang="en-US" sz="2400" dirty="0">
                <a:ea typeface="宋体" panose="02010600030101010101" pitchFamily="2" charset="-122"/>
                <a:cs typeface="Calibri" panose="020F0502020204030204" pitchFamily="34" charset="0"/>
              </a:rPr>
              <a:t>，而</a:t>
            </a:r>
            <a:r>
              <a:rPr lang="en-US" altLang="zh-CN" sz="2400" dirty="0">
                <a:ea typeface="宋体" panose="02010600030101010101" pitchFamily="2" charset="-122"/>
                <a:cs typeface="Calibri" panose="020F0502020204030204" pitchFamily="34" charset="0"/>
              </a:rPr>
              <a:t>Fraction(1.1).</a:t>
            </a:r>
            <a:r>
              <a:rPr lang="en-US" altLang="zh-CN" sz="2400" dirty="0" err="1">
                <a:ea typeface="宋体" panose="02010600030101010101" pitchFamily="2" charset="-122"/>
                <a:cs typeface="Calibri" panose="020F0502020204030204" pitchFamily="34" charset="0"/>
              </a:rPr>
              <a:t>limit_denominator</a:t>
            </a:r>
            <a:r>
              <a:rPr lang="en-US" altLang="zh-CN" sz="2400" dirty="0">
                <a:ea typeface="宋体" panose="02010600030101010101" pitchFamily="2" charset="-122"/>
                <a:cs typeface="Calibri" panose="020F0502020204030204" pitchFamily="34" charset="0"/>
              </a:rPr>
              <a:t>()</a:t>
            </a:r>
            <a:r>
              <a:rPr lang="zh-CN" altLang="en-US" sz="2400" dirty="0">
                <a:ea typeface="宋体" panose="02010600030101010101" pitchFamily="2" charset="-122"/>
                <a:cs typeface="Calibri" panose="020F0502020204030204" pitchFamily="34" charset="0"/>
              </a:rPr>
              <a:t>的结果是</a:t>
            </a:r>
            <a:r>
              <a:rPr lang="en-US" altLang="zh-CN" sz="2400" dirty="0">
                <a:ea typeface="宋体" panose="02010600030101010101" pitchFamily="2" charset="-122"/>
                <a:cs typeface="Calibri" panose="020F0502020204030204" pitchFamily="34" charset="0"/>
              </a:rPr>
              <a:t>Fraction(11,10)</a:t>
            </a:r>
            <a:r>
              <a:rPr lang="zh-CN" altLang="en-US" sz="2400" dirty="0">
                <a:ea typeface="宋体" panose="02010600030101010101" pitchFamily="2" charset="-122"/>
                <a:cs typeface="Calibri" panose="020F0502020204030204" pitchFamily="34" charset="0"/>
              </a:rPr>
              <a:t>。</a:t>
            </a:r>
          </a:p>
          <a:p>
            <a:pPr>
              <a:lnSpc>
                <a:spcPct val="150000"/>
              </a:lnSpc>
            </a:pPr>
            <a:endParaRPr lang="en-US" altLang="zh-CN" sz="2000" dirty="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37399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2DC2C4-8E2E-6AE3-0613-32B34F6253E9}"/>
              </a:ext>
            </a:extLst>
          </p:cNvPr>
          <p:cNvPicPr>
            <a:picLocks noChangeAspect="1"/>
          </p:cNvPicPr>
          <p:nvPr/>
        </p:nvPicPr>
        <p:blipFill>
          <a:blip r:embed="rId3"/>
          <a:stretch>
            <a:fillRect/>
          </a:stretch>
        </p:blipFill>
        <p:spPr>
          <a:xfrm>
            <a:off x="582333" y="1817968"/>
            <a:ext cx="4787900" cy="4432300"/>
          </a:xfrm>
          <a:prstGeom prst="rect">
            <a:avLst/>
          </a:prstGeom>
          <a:effectLst>
            <a:outerShdw blurRad="63500" sx="102000" sy="102000" algn="ctr" rotWithShape="0">
              <a:prstClr val="black">
                <a:alpha val="40000"/>
              </a:prstClr>
            </a:outerShdw>
          </a:effectLst>
        </p:spPr>
      </p:pic>
      <p:sp>
        <p:nvSpPr>
          <p:cNvPr id="7" name="Title 12">
            <a:extLst>
              <a:ext uri="{FF2B5EF4-FFF2-40B4-BE49-F238E27FC236}">
                <a16:creationId xmlns:a16="http://schemas.microsoft.com/office/drawing/2014/main" id="{4DAB9893-575B-B26D-D2E8-1A5361C3AF61}"/>
              </a:ext>
            </a:extLst>
          </p:cNvPr>
          <p:cNvSpPr>
            <a:spLocks noGrp="1"/>
          </p:cNvSpPr>
          <p:nvPr>
            <p:ph type="title"/>
          </p:nvPr>
        </p:nvSpPr>
        <p:spPr>
          <a:xfrm>
            <a:off x="1104900" y="76200"/>
            <a:ext cx="9980682" cy="1096962"/>
          </a:xfrm>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fractions</a:t>
            </a:r>
            <a:r>
              <a:rPr lang="zh-CN" altLang="en-US" dirty="0">
                <a:latin typeface="Microsoft YaHei" panose="020B0503020204020204" pitchFamily="34" charset="-122"/>
                <a:ea typeface="Microsoft YaHei" panose="020B0503020204020204" pitchFamily="34" charset="-122"/>
              </a:rPr>
              <a:t>模块：分数运算</a:t>
            </a:r>
            <a:endParaRPr lang="en-US" dirty="0">
              <a:latin typeface="Microsoft YaHei" panose="020B0503020204020204" pitchFamily="34" charset="-122"/>
              <a:ea typeface="Microsoft YaHei" panose="020B0503020204020204" pitchFamily="34" charset="-122"/>
            </a:endParaRPr>
          </a:p>
        </p:txBody>
      </p:sp>
      <p:pic>
        <p:nvPicPr>
          <p:cNvPr id="8" name="Picture 7">
            <a:extLst>
              <a:ext uri="{FF2B5EF4-FFF2-40B4-BE49-F238E27FC236}">
                <a16:creationId xmlns:a16="http://schemas.microsoft.com/office/drawing/2014/main" id="{AA5C355B-AF1C-C0D3-6713-6159F1A6121F}"/>
              </a:ext>
            </a:extLst>
          </p:cNvPr>
          <p:cNvPicPr>
            <a:picLocks noChangeAspect="1"/>
          </p:cNvPicPr>
          <p:nvPr/>
        </p:nvPicPr>
        <p:blipFill>
          <a:blip r:embed="rId4"/>
          <a:stretch>
            <a:fillRect/>
          </a:stretch>
        </p:blipFill>
        <p:spPr>
          <a:xfrm>
            <a:off x="4727015" y="1371973"/>
            <a:ext cx="7175500" cy="38989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8440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latin typeface="Microsoft YaHei" panose="020B0503020204020204" pitchFamily="34" charset="-122"/>
                <a:ea typeface="Microsoft YaHei" panose="020B0503020204020204" pitchFamily="34" charset="-122"/>
              </a:rPr>
              <a:t>random</a:t>
            </a:r>
            <a:r>
              <a:rPr lang="zh-CN" altLang="en-US" dirty="0">
                <a:latin typeface="Microsoft YaHei" panose="020B0503020204020204" pitchFamily="34" charset="-122"/>
                <a:ea typeface="Microsoft YaHei" panose="020B0503020204020204" pitchFamily="34" charset="-122"/>
              </a:rPr>
              <a:t>模块：各种分布的伪随机数生成器</a:t>
            </a:r>
            <a:endParaRPr lang="en-US" dirty="0">
              <a:latin typeface="Microsoft YaHei" panose="020B0503020204020204" pitchFamily="34" charset="-122"/>
              <a:ea typeface="Microsoft YaHei" panose="020B0503020204020204" pitchFamily="34" charset="-122"/>
            </a:endParaRPr>
          </a:p>
        </p:txBody>
      </p:sp>
      <p:sp>
        <p:nvSpPr>
          <p:cNvPr id="14" name="Content Placeholder 13"/>
          <p:cNvSpPr>
            <a:spLocks noGrp="1"/>
          </p:cNvSpPr>
          <p:nvPr>
            <p:ph idx="1"/>
          </p:nvPr>
        </p:nvSpPr>
        <p:spPr>
          <a:xfrm>
            <a:off x="1104900" y="1268786"/>
            <a:ext cx="10351994" cy="2160214"/>
          </a:xfrm>
        </p:spPr>
        <p:txBody>
          <a:bodyPr>
            <a:normAutofit/>
          </a:bodyPr>
          <a:lstStyle/>
          <a:p>
            <a:pPr>
              <a:lnSpc>
                <a:spcPct val="100000"/>
              </a:lnSpc>
            </a:pPr>
            <a:r>
              <a:rPr lang="zh-CN" altLang="en-US" dirty="0">
                <a:ea typeface="宋体" panose="02010600030101010101" pitchFamily="2" charset="-122"/>
                <a:cs typeface="Calibri" panose="020F0502020204030204" pitchFamily="34" charset="0"/>
              </a:rPr>
              <a:t>对于</a:t>
            </a:r>
            <a:r>
              <a:rPr lang="zh-CN" altLang="en-US" b="1" dirty="0">
                <a:solidFill>
                  <a:srgbClr val="0432FF"/>
                </a:solidFill>
                <a:ea typeface="宋体" panose="02010600030101010101" pitchFamily="2" charset="-122"/>
                <a:cs typeface="Calibri" panose="020F0502020204030204" pitchFamily="34" charset="0"/>
              </a:rPr>
              <a:t>整数</a:t>
            </a:r>
            <a:r>
              <a:rPr lang="zh-CN" altLang="en-US" dirty="0">
                <a:ea typeface="宋体" panose="02010600030101010101" pitchFamily="2" charset="-122"/>
                <a:cs typeface="Calibri" panose="020F0502020204030204" pitchFamily="34" charset="0"/>
              </a:rPr>
              <a:t>，提供从范围中进行统一选择的函数；</a:t>
            </a:r>
          </a:p>
          <a:p>
            <a:pPr>
              <a:lnSpc>
                <a:spcPct val="100000"/>
              </a:lnSpc>
            </a:pPr>
            <a:r>
              <a:rPr lang="zh-CN" altLang="en-US" dirty="0">
                <a:ea typeface="宋体" panose="02010600030101010101" pitchFamily="2" charset="-122"/>
                <a:cs typeface="Calibri" panose="020F0502020204030204" pitchFamily="34" charset="0"/>
              </a:rPr>
              <a:t>对于</a:t>
            </a:r>
            <a:r>
              <a:rPr lang="zh-CN" altLang="en-US" b="1" dirty="0">
                <a:solidFill>
                  <a:srgbClr val="0432FF"/>
                </a:solidFill>
                <a:ea typeface="宋体" panose="02010600030101010101" pitchFamily="2" charset="-122"/>
                <a:cs typeface="Calibri" panose="020F0502020204030204" pitchFamily="34" charset="0"/>
              </a:rPr>
              <a:t>序列</a:t>
            </a:r>
            <a:r>
              <a:rPr lang="zh-CN" altLang="en-US" dirty="0">
                <a:ea typeface="宋体" panose="02010600030101010101" pitchFamily="2" charset="-122"/>
                <a:cs typeface="Calibri" panose="020F0502020204030204" pitchFamily="34" charset="0"/>
              </a:rPr>
              <a:t>，提供随机元素的统一选择函数、用于生成列表的随机排列的函数以及用于随机抽样且不改变原列表的函数；</a:t>
            </a:r>
          </a:p>
          <a:p>
            <a:pPr>
              <a:lnSpc>
                <a:spcPct val="100000"/>
              </a:lnSpc>
            </a:pPr>
            <a:r>
              <a:rPr lang="zh-CN" altLang="en-US" dirty="0">
                <a:ea typeface="宋体" panose="02010600030101010101" pitchFamily="2" charset="-122"/>
                <a:cs typeface="Calibri" panose="020F0502020204030204" pitchFamily="34" charset="0"/>
              </a:rPr>
              <a:t>对于</a:t>
            </a:r>
            <a:r>
              <a:rPr lang="zh-CN" altLang="en-US" b="1" dirty="0">
                <a:solidFill>
                  <a:srgbClr val="0432FF"/>
                </a:solidFill>
                <a:ea typeface="宋体" panose="02010600030101010101" pitchFamily="2" charset="-122"/>
                <a:cs typeface="Calibri" panose="020F0502020204030204" pitchFamily="34" charset="0"/>
              </a:rPr>
              <a:t>实数</a:t>
            </a:r>
            <a:r>
              <a:rPr lang="zh-CN" altLang="en-US" dirty="0">
                <a:ea typeface="宋体" panose="02010600030101010101" pitchFamily="2" charset="-122"/>
                <a:cs typeface="Calibri" panose="020F0502020204030204" pitchFamily="34" charset="0"/>
              </a:rPr>
              <a:t>，则在实数轴上提供平均、正态（高斯）、对数正态、负指数、伽马和贝塔分布的函数来生成随机实数。为了生成角度分布，还可以使用</a:t>
            </a:r>
            <a:r>
              <a:rPr lang="en-US" altLang="zh-CN" dirty="0">
                <a:ea typeface="宋体" panose="02010600030101010101" pitchFamily="2" charset="-122"/>
                <a:cs typeface="Calibri" panose="020F0502020204030204" pitchFamily="34" charset="0"/>
              </a:rPr>
              <a:t>von Mises</a:t>
            </a:r>
            <a:r>
              <a:rPr lang="zh-CN" altLang="en-US" dirty="0">
                <a:ea typeface="宋体" panose="02010600030101010101" pitchFamily="2" charset="-122"/>
                <a:cs typeface="Calibri" panose="020F0502020204030204" pitchFamily="34" charset="0"/>
              </a:rPr>
              <a:t>分布。</a:t>
            </a:r>
            <a:endParaRPr lang="en-US" altLang="zh-CN" dirty="0">
              <a:ea typeface="宋体" panose="02010600030101010101" pitchFamily="2" charset="-122"/>
              <a:cs typeface="Calibri" panose="020F0502020204030204" pitchFamily="34" charset="0"/>
            </a:endParaRPr>
          </a:p>
        </p:txBody>
      </p:sp>
      <p:pic>
        <p:nvPicPr>
          <p:cNvPr id="2" name="Picture 1">
            <a:extLst>
              <a:ext uri="{FF2B5EF4-FFF2-40B4-BE49-F238E27FC236}">
                <a16:creationId xmlns:a16="http://schemas.microsoft.com/office/drawing/2014/main" id="{6E514C95-B66E-AF0D-3CF6-51790207EBEE}"/>
              </a:ext>
            </a:extLst>
          </p:cNvPr>
          <p:cNvPicPr>
            <a:picLocks noChangeAspect="1"/>
          </p:cNvPicPr>
          <p:nvPr/>
        </p:nvPicPr>
        <p:blipFill>
          <a:blip r:embed="rId3"/>
          <a:stretch>
            <a:fillRect/>
          </a:stretch>
        </p:blipFill>
        <p:spPr>
          <a:xfrm>
            <a:off x="4814048" y="3429000"/>
            <a:ext cx="6654800" cy="3149600"/>
          </a:xfrm>
          <a:prstGeom prst="rect">
            <a:avLst/>
          </a:prstGeom>
        </p:spPr>
      </p:pic>
      <p:sp>
        <p:nvSpPr>
          <p:cNvPr id="4" name="TextBox 3">
            <a:extLst>
              <a:ext uri="{FF2B5EF4-FFF2-40B4-BE49-F238E27FC236}">
                <a16:creationId xmlns:a16="http://schemas.microsoft.com/office/drawing/2014/main" id="{53B76CF9-6ECB-E9F6-5CB9-24F37AAAD302}"/>
              </a:ext>
            </a:extLst>
          </p:cNvPr>
          <p:cNvSpPr txBox="1"/>
          <p:nvPr/>
        </p:nvSpPr>
        <p:spPr>
          <a:xfrm>
            <a:off x="997324" y="3524624"/>
            <a:ext cx="3816724" cy="233563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000" dirty="0">
                <a:ea typeface="宋体" panose="02010600030101010101" pitchFamily="2" charset="-122"/>
                <a:cs typeface="Calibri" panose="020F0502020204030204" pitchFamily="34" charset="0"/>
              </a:rPr>
              <a:t>导入模块：</a:t>
            </a:r>
            <a:r>
              <a:rPr lang="en-US" altLang="zh-CN" sz="2000" b="1" dirty="0">
                <a:solidFill>
                  <a:srgbClr val="7030A0"/>
                </a:solidFill>
                <a:ea typeface="宋体" panose="02010600030101010101" pitchFamily="2" charset="-122"/>
                <a:cs typeface="Calibri" panose="020F0502020204030204" pitchFamily="34" charset="0"/>
              </a:rPr>
              <a:t>import random</a:t>
            </a:r>
          </a:p>
          <a:p>
            <a:pPr marL="285750" indent="-285750">
              <a:lnSpc>
                <a:spcPct val="150000"/>
              </a:lnSpc>
              <a:buFont typeface="Arial" panose="020B0604020202020204" pitchFamily="34" charset="0"/>
              <a:buChar char="•"/>
            </a:pPr>
            <a:r>
              <a:rPr lang="en-US" altLang="zh-CN" sz="2000" dirty="0">
                <a:ea typeface="宋体" panose="02010600030101010101" pitchFamily="2" charset="-122"/>
                <a:cs typeface="Calibri" panose="020F0502020204030204" pitchFamily="34" charset="0"/>
              </a:rPr>
              <a:t>random</a:t>
            </a:r>
            <a:r>
              <a:rPr lang="zh-CN" altLang="en-US" sz="2000" dirty="0">
                <a:ea typeface="宋体" panose="02010600030101010101" pitchFamily="2" charset="-122"/>
                <a:cs typeface="Calibri" panose="020F0502020204030204" pitchFamily="34" charset="0"/>
              </a:rPr>
              <a:t>模块的函数可分为簿记功能函数、整数用函数、序列用函数和实值分布类函数，下面对它们分别进行介绍。</a:t>
            </a:r>
            <a:endParaRPr lang="en-US" altLang="zh-CN" dirty="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24064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random</a:t>
            </a:r>
            <a:r>
              <a:rPr lang="zh-CN" altLang="en-US" dirty="0"/>
              <a:t>模块：常用函数</a:t>
            </a:r>
            <a:endParaRPr lang="en-US" dirty="0"/>
          </a:p>
        </p:txBody>
      </p:sp>
      <p:sp>
        <p:nvSpPr>
          <p:cNvPr id="14" name="Content Placeholder 13"/>
          <p:cNvSpPr>
            <a:spLocks noGrp="1"/>
          </p:cNvSpPr>
          <p:nvPr>
            <p:ph idx="1"/>
          </p:nvPr>
        </p:nvSpPr>
        <p:spPr>
          <a:xfrm>
            <a:off x="1104900" y="1600200"/>
            <a:ext cx="9982200" cy="5257800"/>
          </a:xfrm>
        </p:spPr>
        <p:txBody>
          <a:bodyPr>
            <a:normAutofit/>
          </a:bodyPr>
          <a:lstStyle/>
          <a:p>
            <a:pPr marL="0" indent="0">
              <a:lnSpc>
                <a:spcPct val="100000"/>
              </a:lnSpc>
              <a:buNone/>
            </a:pPr>
            <a:r>
              <a:rPr lang="zh-CN" altLang="en-US" sz="2400" b="1" dirty="0">
                <a:ea typeface="宋体" panose="02010600030101010101" pitchFamily="2" charset="-122"/>
                <a:cs typeface="Calibri" panose="020F0502020204030204" pitchFamily="34" charset="0"/>
              </a:rPr>
              <a:t>①</a:t>
            </a:r>
            <a:r>
              <a:rPr lang="zh-CN" altLang="en-US" sz="2400" b="1" dirty="0">
                <a:solidFill>
                  <a:srgbClr val="0432FF"/>
                </a:solidFill>
                <a:ea typeface="宋体" panose="02010600030101010101" pitchFamily="2" charset="-122"/>
                <a:cs typeface="Calibri" panose="020F0502020204030204" pitchFamily="34" charset="0"/>
              </a:rPr>
              <a:t>簿记功能函数</a:t>
            </a:r>
            <a:r>
              <a:rPr lang="zh-CN" altLang="en-US" sz="2400" dirty="0">
                <a:ea typeface="宋体" panose="02010600030101010101" pitchFamily="2" charset="-122"/>
                <a:cs typeface="Calibri" panose="020F0502020204030204" pitchFamily="34" charset="0"/>
              </a:rPr>
              <a:t>：初始化随机数生成器，并可以设置和获取生成器当前的内部状态。</a:t>
            </a:r>
            <a:endParaRPr lang="en-US" altLang="zh-CN" sz="2400" dirty="0">
              <a:ea typeface="宋体" panose="02010600030101010101" pitchFamily="2" charset="-122"/>
              <a:cs typeface="Calibri" panose="020F0502020204030204" pitchFamily="34" charset="0"/>
            </a:endParaRPr>
          </a:p>
          <a:p>
            <a:pPr>
              <a:lnSpc>
                <a:spcPct val="100000"/>
              </a:lnSpc>
            </a:pPr>
            <a:r>
              <a:rPr lang="zh-CN" altLang="en-US" sz="2400" dirty="0">
                <a:ea typeface="宋体" panose="02010600030101010101" pitchFamily="2" charset="-122"/>
                <a:cs typeface="Calibri" panose="020F0502020204030204" pitchFamily="34" charset="0"/>
              </a:rPr>
              <a:t>示例：生成</a:t>
            </a:r>
            <a:r>
              <a:rPr lang="en-US" altLang="zh-CN" sz="2400" dirty="0">
                <a:ea typeface="宋体" panose="02010600030101010101" pitchFamily="2" charset="-122"/>
                <a:cs typeface="Calibri" panose="020F0502020204030204" pitchFamily="34" charset="0"/>
              </a:rPr>
              <a:t>4</a:t>
            </a:r>
            <a:r>
              <a:rPr lang="zh-CN" altLang="en-US" sz="2400" dirty="0">
                <a:ea typeface="宋体" panose="02010600030101010101" pitchFamily="2" charset="-122"/>
                <a:cs typeface="Calibri" panose="020F0502020204030204" pitchFamily="34" charset="0"/>
              </a:rPr>
              <a:t>位和</a:t>
            </a:r>
            <a:r>
              <a:rPr lang="en-US" altLang="zh-CN" sz="2400" dirty="0">
                <a:ea typeface="宋体" panose="02010600030101010101" pitchFamily="2" charset="-122"/>
                <a:cs typeface="Calibri" panose="020F0502020204030204" pitchFamily="34" charset="0"/>
              </a:rPr>
              <a:t>16</a:t>
            </a:r>
            <a:r>
              <a:rPr lang="zh-CN" altLang="en-US" sz="2400" dirty="0">
                <a:ea typeface="宋体" panose="02010600030101010101" pitchFamily="2" charset="-122"/>
                <a:cs typeface="Calibri" panose="020F0502020204030204" pitchFamily="34" charset="0"/>
              </a:rPr>
              <a:t>位的随机整数。</a:t>
            </a:r>
          </a:p>
          <a:p>
            <a:pPr>
              <a:lnSpc>
                <a:spcPct val="100000"/>
              </a:lnSpc>
            </a:pP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12</a:t>
            </a:r>
          </a:p>
          <a:p>
            <a:pPr>
              <a:lnSpc>
                <a:spcPct val="100000"/>
              </a:lnSpc>
            </a:pPr>
            <a:endParaRPr lang="en-US" altLang="zh-CN" dirty="0">
              <a:latin typeface="Consolas" panose="020B0609020204030204" pitchFamily="49" charset="0"/>
              <a:ea typeface="宋体" panose="02010600030101010101" pitchFamily="2" charset="-122"/>
              <a:cs typeface="Calibri" panose="020F0502020204030204" pitchFamily="34" charset="0"/>
            </a:endParaRPr>
          </a:p>
          <a:p>
            <a:pPr>
              <a:lnSpc>
                <a:spcPct val="100000"/>
              </a:lnSpc>
            </a:pPr>
            <a:endParaRPr lang="en-US" altLang="zh-CN"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29557</a:t>
            </a: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778663313"/>
              </p:ext>
            </p:extLst>
          </p:nvPr>
        </p:nvGraphicFramePr>
        <p:xfrm>
          <a:off x="1104900" y="3190456"/>
          <a:ext cx="9287692" cy="792353"/>
        </p:xfrm>
        <a:graphic>
          <a:graphicData uri="http://schemas.openxmlformats.org/drawingml/2006/table">
            <a:tbl>
              <a:tblPr firstRow="1" bandRow="1">
                <a:tableStyleId>{5C22544A-7EE6-4342-B048-85BDC9FD1C3A}</a:tableStyleId>
              </a:tblPr>
              <a:tblGrid>
                <a:gridCol w="928769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fr-FR" altLang="zh-CN" sz="2000" b="0" kern="100" dirty="0">
                          <a:solidFill>
                            <a:schemeClr val="tx2"/>
                          </a:solidFill>
                          <a:latin typeface="Consolas" panose="020B0609020204030204" pitchFamily="49" charset="0"/>
                          <a:ea typeface="+mn-ea"/>
                          <a:cs typeface="Times New Roman" panose="02020603050405020304" pitchFamily="18" charset="0"/>
                        </a:rPr>
                        <a:t>import random</a:t>
                      </a:r>
                    </a:p>
                    <a:p>
                      <a:pPr marL="0" lvl="1" algn="just" defTabSz="914400" rtl="0" eaLnBrk="1" latinLnBrk="0" hangingPunct="1">
                        <a:lnSpc>
                          <a:spcPct val="120000"/>
                        </a:lnSpc>
                      </a:pPr>
                      <a:r>
                        <a:rPr lang="fr-FR" altLang="zh-CN" sz="2000" b="0" kern="100" dirty="0">
                          <a:solidFill>
                            <a:schemeClr val="tx2"/>
                          </a:solidFill>
                          <a:latin typeface="Consolas" panose="020B0609020204030204" pitchFamily="49" charset="0"/>
                          <a:ea typeface="+mn-ea"/>
                          <a:cs typeface="Times New Roman" panose="02020603050405020304" pitchFamily="18" charset="0"/>
                        </a:rPr>
                        <a:t>random.getrandbits(4)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a:t>
                      </a:r>
                      <a:r>
                        <a:rPr lang="en-US" altLang="zh-CN" sz="2000" b="0" kern="100" dirty="0">
                          <a:solidFill>
                            <a:schemeClr val="tx2"/>
                          </a:solidFill>
                          <a:latin typeface="Consolas" panose="020B0609020204030204" pitchFamily="49" charset="0"/>
                          <a:ea typeface="+mn-ea"/>
                          <a:cs typeface="Times New Roman" panose="02020603050405020304" pitchFamily="18" charset="0"/>
                        </a:rPr>
                        <a:t>4</a:t>
                      </a:r>
                      <a:r>
                        <a:rPr lang="zh-CN" altLang="en-US" sz="2000" b="0" kern="100" dirty="0">
                          <a:solidFill>
                            <a:schemeClr val="tx2"/>
                          </a:solidFill>
                          <a:latin typeface="Consolas" panose="020B0609020204030204" pitchFamily="49" charset="0"/>
                          <a:ea typeface="+mn-ea"/>
                          <a:cs typeface="Times New Roman" panose="02020603050405020304" pitchFamily="18" charset="0"/>
                        </a:rPr>
                        <a:t>位的随机整数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844862221"/>
              </p:ext>
            </p:extLst>
          </p:nvPr>
        </p:nvGraphicFramePr>
        <p:xfrm>
          <a:off x="1104900" y="4769892"/>
          <a:ext cx="9287692" cy="538844"/>
        </p:xfrm>
        <a:graphic>
          <a:graphicData uri="http://schemas.openxmlformats.org/drawingml/2006/table">
            <a:tbl>
              <a:tblPr firstRow="1" bandRow="1">
                <a:tableStyleId>{5C22544A-7EE6-4342-B048-85BDC9FD1C3A}</a:tableStyleId>
              </a:tblPr>
              <a:tblGrid>
                <a:gridCol w="928769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fr-FR" altLang="zh-CN" sz="2000" b="0" kern="100" dirty="0">
                          <a:solidFill>
                            <a:schemeClr val="tx2"/>
                          </a:solidFill>
                          <a:latin typeface="Consolas" panose="020B0609020204030204" pitchFamily="49" charset="0"/>
                          <a:ea typeface="+mn-ea"/>
                          <a:cs typeface="Times New Roman" panose="02020603050405020304" pitchFamily="18" charset="0"/>
                        </a:rPr>
                        <a:t>random.getrandbits(16)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a:t>
                      </a:r>
                      <a:r>
                        <a:rPr lang="en-US" altLang="zh-CN" sz="2000" b="0" kern="100" dirty="0">
                          <a:solidFill>
                            <a:schemeClr val="tx2"/>
                          </a:solidFill>
                          <a:latin typeface="Consolas" panose="020B0609020204030204" pitchFamily="49" charset="0"/>
                          <a:ea typeface="+mn-ea"/>
                          <a:cs typeface="Times New Roman" panose="02020603050405020304" pitchFamily="18" charset="0"/>
                        </a:rPr>
                        <a:t>16</a:t>
                      </a:r>
                      <a:r>
                        <a:rPr lang="zh-CN" altLang="en-US" sz="2000" b="0" kern="100" dirty="0">
                          <a:solidFill>
                            <a:schemeClr val="tx2"/>
                          </a:solidFill>
                          <a:latin typeface="Consolas" panose="020B0609020204030204" pitchFamily="49" charset="0"/>
                          <a:ea typeface="+mn-ea"/>
                          <a:cs typeface="Times New Roman" panose="02020603050405020304" pitchFamily="18" charset="0"/>
                        </a:rPr>
                        <a:t>位的随机整数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895006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random</a:t>
            </a:r>
            <a:r>
              <a:rPr lang="zh-CN" altLang="en-US" dirty="0"/>
              <a:t>模块：常用函数</a:t>
            </a:r>
            <a:endParaRPr lang="en-US" dirty="0"/>
          </a:p>
        </p:txBody>
      </p:sp>
      <p:sp>
        <p:nvSpPr>
          <p:cNvPr id="14" name="Content Placeholder 13"/>
          <p:cNvSpPr>
            <a:spLocks noGrp="1"/>
          </p:cNvSpPr>
          <p:nvPr>
            <p:ph idx="1"/>
          </p:nvPr>
        </p:nvSpPr>
        <p:spPr>
          <a:xfrm>
            <a:off x="1104900" y="1600200"/>
            <a:ext cx="9982200" cy="5257800"/>
          </a:xfrm>
        </p:spPr>
        <p:txBody>
          <a:bodyPr>
            <a:normAutofit/>
          </a:bodyPr>
          <a:lstStyle/>
          <a:p>
            <a:pPr marL="0" indent="0">
              <a:lnSpc>
                <a:spcPct val="100000"/>
              </a:lnSpc>
              <a:buNone/>
            </a:pPr>
            <a:r>
              <a:rPr lang="zh-CN" altLang="en-US" sz="2400" b="1" dirty="0">
                <a:latin typeface="Calibri" panose="020F0502020204030204" pitchFamily="34" charset="0"/>
                <a:ea typeface="宋体" panose="02010600030101010101" pitchFamily="2" charset="-122"/>
                <a:cs typeface="Calibri" panose="020F0502020204030204" pitchFamily="34" charset="0"/>
              </a:rPr>
              <a:t>②</a:t>
            </a:r>
            <a:r>
              <a:rPr lang="zh-CN" altLang="en-US" sz="2400" b="1" dirty="0">
                <a:solidFill>
                  <a:srgbClr val="0432FF"/>
                </a:solidFill>
                <a:latin typeface="Calibri" panose="020F0502020204030204" pitchFamily="34" charset="0"/>
                <a:ea typeface="宋体" panose="02010600030101010101" pitchFamily="2" charset="-122"/>
                <a:cs typeface="Calibri" panose="020F0502020204030204" pitchFamily="34" charset="0"/>
              </a:rPr>
              <a:t>整数用函数</a:t>
            </a:r>
            <a:r>
              <a:rPr lang="zh-CN" altLang="en-US" sz="2400" dirty="0">
                <a:latin typeface="Calibri" panose="020F0502020204030204" pitchFamily="34" charset="0"/>
                <a:ea typeface="宋体" panose="02010600030101010101" pitchFamily="2" charset="-122"/>
                <a:cs typeface="Calibri" panose="020F0502020204030204" pitchFamily="34" charset="0"/>
              </a:rPr>
              <a:t>：生成满足某些条件的随机整数。</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r>
              <a:rPr lang="zh-CN" altLang="en-US" sz="2400" dirty="0">
                <a:latin typeface="Calibri" panose="020F0502020204030204" pitchFamily="34" charset="0"/>
                <a:ea typeface="宋体" panose="02010600030101010101" pitchFamily="2" charset="-122"/>
                <a:cs typeface="Calibri" panose="020F0502020204030204" pitchFamily="34" charset="0"/>
              </a:rPr>
              <a:t>示例：生成随机整数</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1</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5</a:t>
            </a: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92374621"/>
              </p:ext>
            </p:extLst>
          </p:nvPr>
        </p:nvGraphicFramePr>
        <p:xfrm>
          <a:off x="1104900" y="2870639"/>
          <a:ext cx="9287692" cy="792353"/>
        </p:xfrm>
        <a:graphic>
          <a:graphicData uri="http://schemas.openxmlformats.org/drawingml/2006/table">
            <a:tbl>
              <a:tblPr firstRow="1" bandRow="1">
                <a:tableStyleId>{5C22544A-7EE6-4342-B048-85BDC9FD1C3A}</a:tableStyleId>
              </a:tblPr>
              <a:tblGrid>
                <a:gridCol w="928769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fr-FR" altLang="zh-CN" sz="2000" b="0" kern="100" dirty="0">
                          <a:solidFill>
                            <a:schemeClr val="tx2"/>
                          </a:solidFill>
                          <a:latin typeface="Consolas" panose="020B0609020204030204" pitchFamily="49" charset="0"/>
                          <a:ea typeface="+mn-ea"/>
                          <a:cs typeface="Times New Roman" panose="02020603050405020304" pitchFamily="18" charset="0"/>
                        </a:rPr>
                        <a:t>from random import *     #</a:t>
                      </a:r>
                      <a:r>
                        <a:rPr lang="zh-CN" altLang="en-US" sz="2000" b="0" kern="100" dirty="0">
                          <a:solidFill>
                            <a:schemeClr val="tx2"/>
                          </a:solidFill>
                          <a:latin typeface="Consolas" panose="020B0609020204030204" pitchFamily="49" charset="0"/>
                          <a:ea typeface="+mn-ea"/>
                          <a:cs typeface="Times New Roman" panose="02020603050405020304" pitchFamily="18" charset="0"/>
                        </a:rPr>
                        <a:t>导入</a:t>
                      </a:r>
                      <a:r>
                        <a:rPr lang="fr-FR" altLang="zh-CN" sz="2000" b="0" kern="100" dirty="0">
                          <a:solidFill>
                            <a:schemeClr val="tx2"/>
                          </a:solidFill>
                          <a:latin typeface="Consolas" panose="020B0609020204030204" pitchFamily="49" charset="0"/>
                          <a:ea typeface="+mn-ea"/>
                          <a:cs typeface="Times New Roman" panose="02020603050405020304" pitchFamily="18" charset="0"/>
                        </a:rPr>
                        <a:t>random</a:t>
                      </a:r>
                      <a:r>
                        <a:rPr lang="zh-CN" altLang="en-US" sz="2000" b="0" kern="100" dirty="0">
                          <a:solidFill>
                            <a:schemeClr val="tx2"/>
                          </a:solidFill>
                          <a:latin typeface="Consolas" panose="020B0609020204030204" pitchFamily="49" charset="0"/>
                          <a:ea typeface="+mn-ea"/>
                          <a:cs typeface="Times New Roman" panose="02020603050405020304" pitchFamily="18" charset="0"/>
                        </a:rPr>
                        <a:t>模块所有函数</a:t>
                      </a:r>
                    </a:p>
                    <a:p>
                      <a:pPr marL="0" lvl="1" algn="just" defTabSz="914400" rtl="0" eaLnBrk="1" latinLnBrk="0" hangingPunct="1">
                        <a:lnSpc>
                          <a:spcPct val="120000"/>
                        </a:lnSpc>
                      </a:pPr>
                      <a:r>
                        <a:rPr lang="fr-FR" altLang="zh-CN" sz="2000" b="0" kern="100" dirty="0">
                          <a:solidFill>
                            <a:schemeClr val="tx2"/>
                          </a:solidFill>
                          <a:latin typeface="Consolas" panose="020B0609020204030204" pitchFamily="49" charset="0"/>
                          <a:ea typeface="+mn-ea"/>
                          <a:cs typeface="Times New Roman" panose="02020603050405020304" pitchFamily="18" charset="0"/>
                        </a:rPr>
                        <a:t>randrange(1,10,2)         #</a:t>
                      </a:r>
                      <a:r>
                        <a:rPr lang="zh-CN" altLang="en-US" sz="2000" b="0" kern="100" dirty="0">
                          <a:solidFill>
                            <a:schemeClr val="tx2"/>
                          </a:solidFill>
                          <a:latin typeface="Consolas" panose="020B0609020204030204" pitchFamily="49" charset="0"/>
                          <a:ea typeface="+mn-ea"/>
                          <a:cs typeface="Times New Roman" panose="02020603050405020304" pitchFamily="18" charset="0"/>
                        </a:rPr>
                        <a:t>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[1,9]</a:t>
                      </a:r>
                      <a:r>
                        <a:rPr lang="zh-CN" altLang="en-US" sz="2000" b="0" kern="100" dirty="0">
                          <a:solidFill>
                            <a:schemeClr val="tx2"/>
                          </a:solidFill>
                          <a:latin typeface="Consolas" panose="020B0609020204030204" pitchFamily="49" charset="0"/>
                          <a:ea typeface="+mn-ea"/>
                          <a:cs typeface="Times New Roman" panose="02020603050405020304" pitchFamily="18" charset="0"/>
                        </a:rPr>
                        <a:t>范围内以</a:t>
                      </a:r>
                      <a:r>
                        <a:rPr lang="en-US" altLang="zh-CN" sz="2000" b="0" kern="100" dirty="0">
                          <a:solidFill>
                            <a:schemeClr val="tx2"/>
                          </a:solidFill>
                          <a:latin typeface="Consolas" panose="020B0609020204030204" pitchFamily="49" charset="0"/>
                          <a:ea typeface="+mn-ea"/>
                          <a:cs typeface="Times New Roman" panose="02020603050405020304" pitchFamily="18" charset="0"/>
                        </a:rPr>
                        <a:t>2</a:t>
                      </a:r>
                      <a:r>
                        <a:rPr lang="zh-CN" altLang="en-US" sz="2000" b="0" kern="100" dirty="0">
                          <a:solidFill>
                            <a:schemeClr val="tx2"/>
                          </a:solidFill>
                          <a:latin typeface="Consolas" panose="020B0609020204030204" pitchFamily="49" charset="0"/>
                          <a:ea typeface="+mn-ea"/>
                          <a:cs typeface="Times New Roman" panose="02020603050405020304" pitchFamily="18" charset="0"/>
                        </a:rPr>
                        <a:t>为步长的随机整数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864030648"/>
              </p:ext>
            </p:extLst>
          </p:nvPr>
        </p:nvGraphicFramePr>
        <p:xfrm>
          <a:off x="1104900" y="4229100"/>
          <a:ext cx="9287692" cy="538844"/>
        </p:xfrm>
        <a:graphic>
          <a:graphicData uri="http://schemas.openxmlformats.org/drawingml/2006/table">
            <a:tbl>
              <a:tblPr firstRow="1" bandRow="1">
                <a:tableStyleId>{5C22544A-7EE6-4342-B048-85BDC9FD1C3A}</a:tableStyleId>
              </a:tblPr>
              <a:tblGrid>
                <a:gridCol w="928769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err="1">
                          <a:solidFill>
                            <a:schemeClr val="tx2"/>
                          </a:solidFill>
                          <a:latin typeface="Consolas" panose="020B0609020204030204" pitchFamily="49" charset="0"/>
                          <a:ea typeface="+mn-ea"/>
                          <a:cs typeface="Times New Roman" panose="02020603050405020304" pitchFamily="18" charset="0"/>
                        </a:rPr>
                        <a:t>randint</a:t>
                      </a:r>
                      <a:r>
                        <a:rPr lang="en-US" altLang="zh-CN" sz="2000" b="0" kern="100" dirty="0">
                          <a:solidFill>
                            <a:schemeClr val="tx2"/>
                          </a:solidFill>
                          <a:latin typeface="Consolas" panose="020B0609020204030204" pitchFamily="49" charset="0"/>
                          <a:ea typeface="+mn-ea"/>
                          <a:cs typeface="Times New Roman" panose="02020603050405020304" pitchFamily="18" charset="0"/>
                        </a:rPr>
                        <a:t>(1, 10)            #</a:t>
                      </a:r>
                      <a:r>
                        <a:rPr lang="zh-CN" altLang="en-US" sz="2000" b="0" kern="100" dirty="0">
                          <a:solidFill>
                            <a:schemeClr val="tx2"/>
                          </a:solidFill>
                          <a:latin typeface="Consolas" panose="020B0609020204030204" pitchFamily="49" charset="0"/>
                          <a:ea typeface="+mn-ea"/>
                          <a:cs typeface="Times New Roman" panose="02020603050405020304" pitchFamily="18" charset="0"/>
                        </a:rPr>
                        <a:t>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[1, 10]</a:t>
                      </a:r>
                      <a:r>
                        <a:rPr lang="zh-CN" altLang="en-US" sz="2000" b="0" kern="100" dirty="0">
                          <a:solidFill>
                            <a:schemeClr val="tx2"/>
                          </a:solidFill>
                          <a:latin typeface="Consolas" panose="020B0609020204030204" pitchFamily="49" charset="0"/>
                          <a:ea typeface="+mn-ea"/>
                          <a:cs typeface="Times New Roman" panose="02020603050405020304" pitchFamily="18" charset="0"/>
                        </a:rPr>
                        <a:t>范围内的随机整数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338665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random</a:t>
            </a:r>
            <a:r>
              <a:rPr lang="zh-CN" altLang="en-US" dirty="0"/>
              <a:t>模块：常用函数</a:t>
            </a:r>
            <a:endParaRPr lang="en-US" dirty="0"/>
          </a:p>
        </p:txBody>
      </p:sp>
      <p:sp>
        <p:nvSpPr>
          <p:cNvPr id="14" name="Content Placeholder 13"/>
          <p:cNvSpPr>
            <a:spLocks noGrp="1"/>
          </p:cNvSpPr>
          <p:nvPr>
            <p:ph idx="1"/>
          </p:nvPr>
        </p:nvSpPr>
        <p:spPr>
          <a:xfrm>
            <a:off x="1104900" y="1600200"/>
            <a:ext cx="9982200" cy="5257800"/>
          </a:xfrm>
        </p:spPr>
        <p:txBody>
          <a:bodyPr>
            <a:normAutofit lnSpcReduction="10000"/>
          </a:bodyPr>
          <a:lstStyle/>
          <a:p>
            <a:pPr marL="0" indent="0">
              <a:lnSpc>
                <a:spcPct val="100000"/>
              </a:lnSpc>
              <a:buNone/>
            </a:pPr>
            <a:r>
              <a:rPr lang="zh-CN" altLang="en-US" sz="2400" b="1" dirty="0">
                <a:latin typeface="Calibri" panose="020F0502020204030204" pitchFamily="34" charset="0"/>
                <a:ea typeface="宋体" panose="02010600030101010101" pitchFamily="2" charset="-122"/>
                <a:cs typeface="Calibri" panose="020F0502020204030204" pitchFamily="34" charset="0"/>
              </a:rPr>
              <a:t>③</a:t>
            </a:r>
            <a:r>
              <a:rPr lang="zh-CN" altLang="en-US" sz="2400" b="1" dirty="0">
                <a:solidFill>
                  <a:srgbClr val="0432FF"/>
                </a:solidFill>
                <a:latin typeface="Calibri" panose="020F0502020204030204" pitchFamily="34" charset="0"/>
                <a:ea typeface="宋体" panose="02010600030101010101" pitchFamily="2" charset="-122"/>
                <a:cs typeface="Calibri" panose="020F0502020204030204" pitchFamily="34" charset="0"/>
              </a:rPr>
              <a:t>序列用函数</a:t>
            </a:r>
            <a:r>
              <a:rPr lang="zh-CN" altLang="en-US" sz="2400" dirty="0">
                <a:latin typeface="Calibri" panose="020F0502020204030204" pitchFamily="34" charset="0"/>
                <a:ea typeface="宋体" panose="02010600030101010101" pitchFamily="2" charset="-122"/>
                <a:cs typeface="Calibri" panose="020F0502020204030204" pitchFamily="34" charset="0"/>
              </a:rPr>
              <a:t>：包括提供随机元素的统一选择函数、用于生成列表的随机排列的函数以及用于随机抽样且不改变原列表的函数。</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r>
              <a:rPr lang="zh-CN" altLang="en-US" sz="2400" dirty="0">
                <a:latin typeface="Calibri" panose="020F0502020204030204" pitchFamily="34" charset="0"/>
                <a:ea typeface="宋体" panose="02010600030101010101" pitchFamily="2" charset="-122"/>
                <a:cs typeface="Calibri" panose="020F0502020204030204" pitchFamily="34" charset="0"/>
              </a:rPr>
              <a:t>示例：</a:t>
            </a: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7</a:t>
            </a:r>
          </a:p>
          <a:p>
            <a:pPr lvl="1">
              <a:lnSpc>
                <a:spcPct val="100000"/>
              </a:lnSpc>
            </a:pPr>
            <a:endParaRPr lang="en-US" altLang="zh-CN" sz="24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4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[9, 9, 4]</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[4, 1, 3]</a:t>
            </a:r>
          </a:p>
          <a:p>
            <a:pPr>
              <a:lnSpc>
                <a:spcPct val="100000"/>
              </a:lnSpc>
            </a:pP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799277018"/>
              </p:ext>
            </p:extLst>
          </p:nvPr>
        </p:nvGraphicFramePr>
        <p:xfrm>
          <a:off x="1104900" y="2987296"/>
          <a:ext cx="9980682" cy="792353"/>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from random import *      #</a:t>
                      </a:r>
                      <a:r>
                        <a:rPr lang="zh-CN" altLang="en-US" sz="2000" b="0" kern="100" dirty="0">
                          <a:solidFill>
                            <a:schemeClr val="tx2"/>
                          </a:solidFill>
                          <a:latin typeface="Consolas" panose="020B0609020204030204" pitchFamily="49" charset="0"/>
                          <a:ea typeface="+mn-ea"/>
                          <a:cs typeface="Times New Roman" panose="02020603050405020304" pitchFamily="18" charset="0"/>
                        </a:rPr>
                        <a:t>导入</a:t>
                      </a:r>
                      <a:r>
                        <a:rPr lang="en-US" altLang="zh-CN" sz="2000" b="0" kern="100" dirty="0">
                          <a:solidFill>
                            <a:schemeClr val="tx2"/>
                          </a:solidFill>
                          <a:latin typeface="Consolas" panose="020B0609020204030204" pitchFamily="49" charset="0"/>
                          <a:ea typeface="+mn-ea"/>
                          <a:cs typeface="Times New Roman" panose="02020603050405020304" pitchFamily="18" charset="0"/>
                        </a:rPr>
                        <a:t>random</a:t>
                      </a:r>
                      <a:r>
                        <a:rPr lang="zh-CN" altLang="en-US" sz="2000" b="0" kern="100" dirty="0">
                          <a:solidFill>
                            <a:schemeClr val="tx2"/>
                          </a:solidFill>
                          <a:latin typeface="Consolas" panose="020B0609020204030204" pitchFamily="49" charset="0"/>
                          <a:ea typeface="+mn-ea"/>
                          <a:cs typeface="Times New Roman" panose="02020603050405020304" pitchFamily="18" charset="0"/>
                        </a:rPr>
                        <a:t>模块所有函数</a:t>
                      </a:r>
                    </a:p>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choice(range(1,10))       #</a:t>
                      </a:r>
                      <a:r>
                        <a:rPr lang="zh-CN" altLang="en-US" sz="2000" b="0" kern="100" dirty="0">
                          <a:solidFill>
                            <a:schemeClr val="tx2"/>
                          </a:solidFill>
                          <a:latin typeface="Consolas" panose="020B0609020204030204" pitchFamily="49" charset="0"/>
                          <a:ea typeface="+mn-ea"/>
                          <a:cs typeface="Times New Roman" panose="02020603050405020304" pitchFamily="18" charset="0"/>
                        </a:rPr>
                        <a:t>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range(1,10)</a:t>
                      </a:r>
                      <a:r>
                        <a:rPr lang="zh-CN" altLang="en-US" sz="2000" b="0" kern="100" dirty="0">
                          <a:solidFill>
                            <a:schemeClr val="tx2"/>
                          </a:solidFill>
                          <a:latin typeface="Consolas" panose="020B0609020204030204" pitchFamily="49" charset="0"/>
                          <a:ea typeface="+mn-ea"/>
                          <a:cs typeface="Times New Roman" panose="02020603050405020304" pitchFamily="18" charset="0"/>
                        </a:rPr>
                        <a:t>之间的随机元素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741345256"/>
              </p:ext>
            </p:extLst>
          </p:nvPr>
        </p:nvGraphicFramePr>
        <p:xfrm>
          <a:off x="1104900" y="4383804"/>
          <a:ext cx="9980682" cy="538844"/>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choices(range(1,10),k=3)      #</a:t>
                      </a:r>
                      <a:r>
                        <a:rPr lang="zh-CN" altLang="en-US" sz="2000" b="0" kern="100" dirty="0">
                          <a:solidFill>
                            <a:schemeClr val="tx2"/>
                          </a:solidFill>
                          <a:latin typeface="Consolas" panose="020B0609020204030204" pitchFamily="49" charset="0"/>
                          <a:ea typeface="+mn-ea"/>
                          <a:cs typeface="Times New Roman" panose="02020603050405020304" pitchFamily="18" charset="0"/>
                        </a:rPr>
                        <a:t>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range(1,10)</a:t>
                      </a:r>
                      <a:r>
                        <a:rPr lang="zh-CN" altLang="en-US" sz="2000" b="0" kern="100" dirty="0">
                          <a:solidFill>
                            <a:schemeClr val="tx2"/>
                          </a:solidFill>
                          <a:latin typeface="Consolas" panose="020B0609020204030204" pitchFamily="49" charset="0"/>
                          <a:ea typeface="+mn-ea"/>
                          <a:cs typeface="Times New Roman" panose="02020603050405020304" pitchFamily="18" charset="0"/>
                        </a:rPr>
                        <a:t>之间</a:t>
                      </a:r>
                      <a:r>
                        <a:rPr lang="en-US" altLang="zh-CN" sz="2000" b="0" kern="100" dirty="0">
                          <a:solidFill>
                            <a:schemeClr val="tx2"/>
                          </a:solidFill>
                          <a:latin typeface="Consolas" panose="020B0609020204030204" pitchFamily="49" charset="0"/>
                          <a:ea typeface="+mn-ea"/>
                          <a:cs typeface="Times New Roman" panose="02020603050405020304" pitchFamily="18" charset="0"/>
                        </a:rPr>
                        <a:t>3</a:t>
                      </a:r>
                      <a:r>
                        <a:rPr lang="zh-CN" altLang="en-US" sz="2000" b="0" kern="100" dirty="0">
                          <a:solidFill>
                            <a:schemeClr val="tx2"/>
                          </a:solidFill>
                          <a:latin typeface="Consolas" panose="020B0609020204030204" pitchFamily="49" charset="0"/>
                          <a:ea typeface="+mn-ea"/>
                          <a:cs typeface="Times New Roman" panose="02020603050405020304" pitchFamily="18" charset="0"/>
                        </a:rPr>
                        <a:t>个随机元素的新列表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643945496"/>
              </p:ext>
            </p:extLst>
          </p:nvPr>
        </p:nvGraphicFramePr>
        <p:xfrm>
          <a:off x="1104900" y="5526803"/>
          <a:ext cx="9980682" cy="538844"/>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a:lnSpc>
                          <a:spcPct val="120000"/>
                        </a:lnSpc>
                      </a:pPr>
                      <a:r>
                        <a:rPr lang="en-US" altLang="zh-CN" sz="2000" b="0" kern="100" dirty="0">
                          <a:solidFill>
                            <a:schemeClr val="tx2"/>
                          </a:solidFill>
                          <a:latin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sample(range(1,10),3)    #</a:t>
                      </a:r>
                      <a:r>
                        <a:rPr lang="zh-CN" altLang="en-US" sz="2000" b="0" kern="100" dirty="0">
                          <a:solidFill>
                            <a:schemeClr val="tx2"/>
                          </a:solidFill>
                          <a:latin typeface="Consolas" panose="020B0609020204030204" pitchFamily="49" charset="0"/>
                          <a:ea typeface="+mn-ea"/>
                          <a:cs typeface="Times New Roman" panose="02020603050405020304" pitchFamily="18" charset="0"/>
                        </a:rPr>
                        <a:t>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range(1,10)</a:t>
                      </a:r>
                      <a:r>
                        <a:rPr lang="zh-CN" altLang="en-US" sz="2000" b="0" kern="100" dirty="0">
                          <a:solidFill>
                            <a:schemeClr val="tx2"/>
                          </a:solidFill>
                          <a:latin typeface="Consolas" panose="020B0609020204030204" pitchFamily="49" charset="0"/>
                          <a:ea typeface="+mn-ea"/>
                          <a:cs typeface="Times New Roman" panose="02020603050405020304" pitchFamily="18" charset="0"/>
                        </a:rPr>
                        <a:t>之间的无重复抽样</a:t>
                      </a:r>
                      <a:r>
                        <a:rPr lang="en-US" altLang="zh-CN" sz="2000" b="0" kern="100" dirty="0">
                          <a:solidFill>
                            <a:schemeClr val="tx2"/>
                          </a:solidFill>
                          <a:latin typeface="Consolas" panose="020B0609020204030204" pitchFamily="49" charset="0"/>
                          <a:ea typeface="+mn-ea"/>
                          <a:cs typeface="Times New Roman" panose="02020603050405020304" pitchFamily="18" charset="0"/>
                        </a:rPr>
                        <a:t>3</a:t>
                      </a:r>
                      <a:r>
                        <a:rPr lang="zh-CN" altLang="en-US" sz="2000" b="0" kern="100" dirty="0">
                          <a:solidFill>
                            <a:schemeClr val="tx2"/>
                          </a:solidFill>
                          <a:latin typeface="Consolas" panose="020B0609020204030204" pitchFamily="49" charset="0"/>
                          <a:ea typeface="+mn-ea"/>
                          <a:cs typeface="Times New Roman" panose="02020603050405020304" pitchFamily="18" charset="0"/>
                        </a:rPr>
                        <a:t>个元素的新列表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2996204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random</a:t>
            </a:r>
            <a:r>
              <a:rPr lang="zh-CN" altLang="en-US" dirty="0"/>
              <a:t>模块：常用函数</a:t>
            </a:r>
            <a:endParaRPr lang="en-US" dirty="0"/>
          </a:p>
        </p:txBody>
      </p:sp>
      <p:sp>
        <p:nvSpPr>
          <p:cNvPr id="14" name="Content Placeholder 13"/>
          <p:cNvSpPr>
            <a:spLocks noGrp="1"/>
          </p:cNvSpPr>
          <p:nvPr>
            <p:ph idx="1"/>
          </p:nvPr>
        </p:nvSpPr>
        <p:spPr>
          <a:xfrm>
            <a:off x="1104900" y="1600200"/>
            <a:ext cx="9982200" cy="5257800"/>
          </a:xfrm>
        </p:spPr>
        <p:txBody>
          <a:bodyPr>
            <a:normAutofit/>
          </a:bodyPr>
          <a:lstStyle/>
          <a:p>
            <a:pPr marL="0" indent="0">
              <a:lnSpc>
                <a:spcPct val="100000"/>
              </a:lnSpc>
              <a:buNone/>
            </a:pPr>
            <a:r>
              <a:rPr lang="zh-CN" altLang="en-US" sz="2400" b="1" dirty="0">
                <a:latin typeface="Calibri" panose="020F0502020204030204" pitchFamily="34" charset="0"/>
                <a:ea typeface="宋体" panose="02010600030101010101" pitchFamily="2" charset="-122"/>
                <a:cs typeface="Calibri" panose="020F0502020204030204" pitchFamily="34" charset="0"/>
              </a:rPr>
              <a:t>③</a:t>
            </a:r>
            <a:r>
              <a:rPr lang="zh-CN" altLang="en-US" sz="2400" b="1" dirty="0">
                <a:solidFill>
                  <a:srgbClr val="0432FF"/>
                </a:solidFill>
                <a:latin typeface="Calibri" panose="020F0502020204030204" pitchFamily="34" charset="0"/>
                <a:ea typeface="宋体" panose="02010600030101010101" pitchFamily="2" charset="-122"/>
                <a:cs typeface="Calibri" panose="020F0502020204030204" pitchFamily="34" charset="0"/>
              </a:rPr>
              <a:t>序列用函数</a:t>
            </a:r>
            <a:endParaRPr lang="en-US" altLang="zh-CN" sz="2400" b="1" dirty="0">
              <a:solidFill>
                <a:srgbClr val="0432FF"/>
              </a:solidFill>
              <a:latin typeface="Calibri" panose="020F0502020204030204" pitchFamily="34" charset="0"/>
              <a:ea typeface="宋体" panose="02010600030101010101" pitchFamily="2" charset="-122"/>
              <a:cs typeface="Calibri" panose="020F0502020204030204" pitchFamily="34" charset="0"/>
            </a:endParaRPr>
          </a:p>
          <a:p>
            <a:pPr>
              <a:lnSpc>
                <a:spcPct val="100000"/>
              </a:lnSpc>
            </a:pPr>
            <a:r>
              <a:rPr lang="zh-CN" altLang="en-US" sz="2400" dirty="0">
                <a:latin typeface="Calibri" panose="020F0502020204030204" pitchFamily="34" charset="0"/>
                <a:ea typeface="宋体" panose="02010600030101010101" pitchFamily="2" charset="-122"/>
                <a:cs typeface="Calibri" panose="020F0502020204030204" pitchFamily="34" charset="0"/>
              </a:rPr>
              <a:t>示例：</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[1, 2, 3, 4, 5]</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[3, 5, 4, 1, 2]</a:t>
            </a: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186415321"/>
              </p:ext>
            </p:extLst>
          </p:nvPr>
        </p:nvGraphicFramePr>
        <p:xfrm>
          <a:off x="1104900" y="2898004"/>
          <a:ext cx="9980682" cy="792353"/>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a:lnSpc>
                          <a:spcPct val="120000"/>
                        </a:lnSpc>
                      </a:pPr>
                      <a:r>
                        <a:rPr lang="en-US" altLang="zh-CN" sz="2000" b="0" kern="100" dirty="0">
                          <a:solidFill>
                            <a:schemeClr val="tx2"/>
                          </a:solidFill>
                          <a:latin typeface="+mn-ea"/>
                          <a:cs typeface="Times New Roman" panose="02020603050405020304" pitchFamily="18" charset="0"/>
                        </a:rPr>
                        <a:t> </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r>
                        <a:rPr lang="en-US" altLang="zh-CN" sz="2000" b="0" kern="100" dirty="0">
                          <a:solidFill>
                            <a:schemeClr val="tx2"/>
                          </a:solidFill>
                          <a:latin typeface="Consolas" panose="020B0609020204030204" pitchFamily="49" charset="0"/>
                          <a:ea typeface="+mn-ea"/>
                          <a:cs typeface="Times New Roman" panose="02020603050405020304" pitchFamily="18" charset="0"/>
                        </a:rPr>
                        <a:t> = [1,2,3,4,5]        #</a:t>
                      </a:r>
                      <a:r>
                        <a:rPr lang="zh-CN" altLang="en-US" sz="2000" b="0" kern="100" dirty="0">
                          <a:solidFill>
                            <a:schemeClr val="tx2"/>
                          </a:solidFill>
                          <a:latin typeface="Consolas" panose="020B0609020204030204" pitchFamily="49" charset="0"/>
                          <a:ea typeface="+mn-ea"/>
                          <a:cs typeface="Times New Roman" panose="02020603050405020304" pitchFamily="18" charset="0"/>
                        </a:rPr>
                        <a:t>定义一个列表</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endParaRPr lang="en-US"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print(</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输出</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endParaRPr lang="en-US" altLang="zh-CN"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879660306"/>
              </p:ext>
            </p:extLst>
          </p:nvPr>
        </p:nvGraphicFramePr>
        <p:xfrm>
          <a:off x="1104900" y="4466522"/>
          <a:ext cx="9980682" cy="792353"/>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shuffle(</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打乱</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endParaRPr lang="en-US"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print(</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输出打乱后的</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seq</a:t>
                      </a:r>
                      <a:endParaRPr lang="en-US" altLang="zh-CN"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025185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random</a:t>
            </a:r>
            <a:r>
              <a:rPr lang="zh-CN" altLang="en-US" dirty="0"/>
              <a:t>模块：常用函数</a:t>
            </a:r>
            <a:endParaRPr lang="en-US" dirty="0"/>
          </a:p>
        </p:txBody>
      </p:sp>
      <p:sp>
        <p:nvSpPr>
          <p:cNvPr id="14" name="Content Placeholder 13"/>
          <p:cNvSpPr>
            <a:spLocks noGrp="1"/>
          </p:cNvSpPr>
          <p:nvPr>
            <p:ph idx="1"/>
          </p:nvPr>
        </p:nvSpPr>
        <p:spPr>
          <a:xfrm>
            <a:off x="1104900" y="1600200"/>
            <a:ext cx="9982200" cy="5257800"/>
          </a:xfrm>
        </p:spPr>
        <p:txBody>
          <a:bodyPr>
            <a:normAutofit fontScale="92500" lnSpcReduction="20000"/>
          </a:bodyPr>
          <a:lstStyle/>
          <a:p>
            <a:pPr marL="0" indent="0">
              <a:lnSpc>
                <a:spcPct val="100000"/>
              </a:lnSpc>
              <a:buNone/>
            </a:pPr>
            <a:r>
              <a:rPr lang="zh-CN" altLang="en-US" sz="2400" b="1" dirty="0">
                <a:latin typeface="Calibri" panose="020F0502020204030204" pitchFamily="34" charset="0"/>
                <a:ea typeface="宋体" panose="02010600030101010101" pitchFamily="2" charset="-122"/>
                <a:cs typeface="Calibri" panose="020F0502020204030204" pitchFamily="34" charset="0"/>
              </a:rPr>
              <a:t>④</a:t>
            </a:r>
            <a:r>
              <a:rPr lang="zh-CN" altLang="en-US" sz="2400" b="1" dirty="0">
                <a:solidFill>
                  <a:srgbClr val="0432FF"/>
                </a:solidFill>
                <a:latin typeface="Calibri" panose="020F0502020204030204" pitchFamily="34" charset="0"/>
                <a:ea typeface="宋体" panose="02010600030101010101" pitchFamily="2" charset="-122"/>
                <a:cs typeface="Calibri" panose="020F0502020204030204" pitchFamily="34" charset="0"/>
              </a:rPr>
              <a:t>实值分布函数</a:t>
            </a:r>
            <a:r>
              <a:rPr lang="zh-CN" altLang="en-US" sz="2400" dirty="0">
                <a:latin typeface="Calibri" panose="020F0502020204030204" pitchFamily="34" charset="0"/>
                <a:ea typeface="宋体" panose="02010600030101010101" pitchFamily="2" charset="-122"/>
                <a:cs typeface="Calibri" panose="020F0502020204030204" pitchFamily="34" charset="0"/>
              </a:rPr>
              <a:t>：生成特定的实值分布，返回分布内的随机实数。</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r>
              <a:rPr lang="zh-CN" altLang="en-US" sz="2400" dirty="0">
                <a:latin typeface="Calibri" panose="020F0502020204030204" pitchFamily="34" charset="0"/>
                <a:ea typeface="宋体" panose="02010600030101010101" pitchFamily="2" charset="-122"/>
                <a:cs typeface="Calibri" panose="020F0502020204030204" pitchFamily="34" charset="0"/>
              </a:rPr>
              <a:t>示例：</a:t>
            </a: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200" dirty="0">
              <a:latin typeface="Calibri" panose="020F0502020204030204" pitchFamily="34" charset="0"/>
              <a:ea typeface="宋体" panose="02010600030101010101" pitchFamily="2" charset="-122"/>
              <a:cs typeface="Calibri" panose="020F0502020204030204" pitchFamily="34" charset="0"/>
            </a:endParaRPr>
          </a:p>
          <a:p>
            <a:pPr lvl="1">
              <a:lnSpc>
                <a:spcPct val="100000"/>
              </a:lnSpc>
            </a:pPr>
            <a:endParaRPr lang="en-US" altLang="zh-CN" sz="2200" dirty="0">
              <a:latin typeface="Calibri" panose="020F0502020204030204" pitchFamily="34" charset="0"/>
              <a:ea typeface="宋体" panose="02010600030101010101" pitchFamily="2" charset="-122"/>
              <a:cs typeface="Calibri" panose="020F0502020204030204" pitchFamily="34" charset="0"/>
            </a:endParaRPr>
          </a:p>
          <a:p>
            <a:pPr marL="457200" lvl="1" indent="0">
              <a:lnSpc>
                <a:spcPct val="100000"/>
              </a:lnSpc>
              <a:buNone/>
            </a:pPr>
            <a:r>
              <a:rPr lang="en-US" altLang="zh-CN" sz="2200" dirty="0">
                <a:latin typeface="Consolas" panose="020B0609020204030204" pitchFamily="49" charset="0"/>
                <a:ea typeface="宋体" panose="02010600030101010101" pitchFamily="2" charset="-122"/>
                <a:cs typeface="Calibri" panose="020F0502020204030204" pitchFamily="34" charset="0"/>
              </a:rPr>
              <a:t>0.7657272075548429</a:t>
            </a: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200" dirty="0">
                <a:latin typeface="Consolas" panose="020B0609020204030204" pitchFamily="49" charset="0"/>
                <a:ea typeface="宋体" panose="02010600030101010101" pitchFamily="2" charset="-122"/>
                <a:cs typeface="Calibri" panose="020F0502020204030204" pitchFamily="34" charset="0"/>
              </a:rPr>
              <a:t>2.1745669590691947</a:t>
            </a: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200" dirty="0">
                <a:latin typeface="Consolas" panose="020B0609020204030204" pitchFamily="49" charset="0"/>
                <a:ea typeface="宋体" panose="02010600030101010101" pitchFamily="2" charset="-122"/>
                <a:cs typeface="Calibri" panose="020F0502020204030204" pitchFamily="34" charset="0"/>
              </a:rPr>
              <a:t>-0.5506009464471489</a:t>
            </a: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2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200" dirty="0">
                <a:latin typeface="Consolas" panose="020B0609020204030204" pitchFamily="49" charset="0"/>
                <a:ea typeface="宋体" panose="02010600030101010101" pitchFamily="2" charset="-122"/>
                <a:cs typeface="Calibri" panose="020F0502020204030204" pitchFamily="34" charset="0"/>
              </a:rPr>
              <a:t>0.7994256634811251</a:t>
            </a:r>
          </a:p>
          <a:p>
            <a:pPr>
              <a:lnSpc>
                <a:spcPct val="100000"/>
              </a:lnSpc>
            </a:pPr>
            <a:endParaRPr lang="en-US" altLang="zh-CN" sz="2400" dirty="0">
              <a:latin typeface="Calibri" panose="020F0502020204030204" pitchFamily="34" charset="0"/>
              <a:ea typeface="宋体" panose="02010600030101010101" pitchFamily="2" charset="-122"/>
              <a:cs typeface="Calibri" panose="020F0502020204030204" pitchFamily="34" charset="0"/>
            </a:endParaRPr>
          </a:p>
          <a:p>
            <a:pPr>
              <a:lnSpc>
                <a:spcPct val="100000"/>
              </a:lnSpc>
            </a:pP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349868557"/>
              </p:ext>
            </p:extLst>
          </p:nvPr>
        </p:nvGraphicFramePr>
        <p:xfrm>
          <a:off x="1104900" y="2519619"/>
          <a:ext cx="9980682" cy="792353"/>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from random import *      #</a:t>
                      </a:r>
                      <a:r>
                        <a:rPr lang="zh-CN" altLang="en-US" sz="2000" b="0" kern="100" dirty="0">
                          <a:solidFill>
                            <a:schemeClr val="tx2"/>
                          </a:solidFill>
                          <a:latin typeface="Consolas" panose="020B0609020204030204" pitchFamily="49" charset="0"/>
                          <a:ea typeface="+mn-ea"/>
                          <a:cs typeface="Times New Roman" panose="02020603050405020304" pitchFamily="18" charset="0"/>
                        </a:rPr>
                        <a:t>导入</a:t>
                      </a:r>
                      <a:r>
                        <a:rPr lang="en-US" altLang="zh-CN" sz="2000" b="0" kern="100" dirty="0">
                          <a:solidFill>
                            <a:schemeClr val="tx2"/>
                          </a:solidFill>
                          <a:latin typeface="Consolas" panose="020B0609020204030204" pitchFamily="49" charset="0"/>
                          <a:ea typeface="+mn-ea"/>
                          <a:cs typeface="Times New Roman" panose="02020603050405020304" pitchFamily="18" charset="0"/>
                        </a:rPr>
                        <a:t>random</a:t>
                      </a:r>
                      <a:r>
                        <a:rPr lang="zh-CN" altLang="en-US" sz="2000" b="0" kern="100" dirty="0">
                          <a:solidFill>
                            <a:schemeClr val="tx2"/>
                          </a:solidFill>
                          <a:latin typeface="Consolas" panose="020B0609020204030204" pitchFamily="49" charset="0"/>
                          <a:ea typeface="+mn-ea"/>
                          <a:cs typeface="Times New Roman" panose="02020603050405020304" pitchFamily="18" charset="0"/>
                        </a:rPr>
                        <a:t>模块所有函数</a:t>
                      </a:r>
                    </a:p>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random()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a:t>
                      </a:r>
                      <a:r>
                        <a:rPr lang="en-US" altLang="zh-CN" sz="2000" b="0" kern="100" dirty="0">
                          <a:solidFill>
                            <a:schemeClr val="tx2"/>
                          </a:solidFill>
                          <a:latin typeface="Consolas" panose="020B0609020204030204" pitchFamily="49" charset="0"/>
                          <a:ea typeface="+mn-ea"/>
                          <a:cs typeface="Times New Roman" panose="02020603050405020304" pitchFamily="18" charset="0"/>
                        </a:rPr>
                        <a:t>[0.0,1.0)</a:t>
                      </a:r>
                      <a:r>
                        <a:rPr lang="zh-CN" altLang="en-US" sz="2000" b="0" kern="100" dirty="0">
                          <a:solidFill>
                            <a:schemeClr val="tx2"/>
                          </a:solidFill>
                          <a:latin typeface="Consolas" panose="020B0609020204030204" pitchFamily="49" charset="0"/>
                          <a:ea typeface="+mn-ea"/>
                          <a:cs typeface="Times New Roman" panose="02020603050405020304" pitchFamily="18" charset="0"/>
                        </a:rPr>
                        <a:t>内的随机浮点数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491894477"/>
              </p:ext>
            </p:extLst>
          </p:nvPr>
        </p:nvGraphicFramePr>
        <p:xfrm>
          <a:off x="1104900" y="3733295"/>
          <a:ext cx="9980682" cy="538844"/>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uniform(2.0,3.0)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a:t>
                      </a:r>
                      <a:r>
                        <a:rPr lang="en-US" altLang="zh-CN" sz="2000" b="0" kern="100" dirty="0">
                          <a:solidFill>
                            <a:schemeClr val="tx2"/>
                          </a:solidFill>
                          <a:latin typeface="Consolas" panose="020B0609020204030204" pitchFamily="49" charset="0"/>
                          <a:ea typeface="+mn-ea"/>
                          <a:cs typeface="Times New Roman" panose="02020603050405020304" pitchFamily="18" charset="0"/>
                        </a:rPr>
                        <a:t>[2.0,3.0]</a:t>
                      </a:r>
                      <a:r>
                        <a:rPr lang="zh-CN" altLang="en-US" sz="2000" b="0" kern="100" dirty="0">
                          <a:solidFill>
                            <a:schemeClr val="tx2"/>
                          </a:solidFill>
                          <a:latin typeface="Consolas" panose="020B0609020204030204" pitchFamily="49" charset="0"/>
                          <a:ea typeface="+mn-ea"/>
                          <a:cs typeface="Times New Roman" panose="02020603050405020304" pitchFamily="18" charset="0"/>
                        </a:rPr>
                        <a:t>内的随机浮点数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991614609"/>
              </p:ext>
            </p:extLst>
          </p:nvPr>
        </p:nvGraphicFramePr>
        <p:xfrm>
          <a:off x="1104900" y="4699177"/>
          <a:ext cx="9980682" cy="538844"/>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triangular(-1,1)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a:t>
                      </a:r>
                      <a:r>
                        <a:rPr lang="en-US" altLang="zh-CN" sz="2000" b="0" kern="100" dirty="0">
                          <a:solidFill>
                            <a:schemeClr val="tx2"/>
                          </a:solidFill>
                          <a:latin typeface="Consolas" panose="020B0609020204030204" pitchFamily="49" charset="0"/>
                          <a:ea typeface="+mn-ea"/>
                          <a:cs typeface="Times New Roman" panose="02020603050405020304" pitchFamily="18" charset="0"/>
                        </a:rPr>
                        <a:t>[-1,1]</a:t>
                      </a:r>
                      <a:r>
                        <a:rPr lang="zh-CN" altLang="en-US" sz="2000" b="0" kern="100" dirty="0">
                          <a:solidFill>
                            <a:schemeClr val="tx2"/>
                          </a:solidFill>
                          <a:latin typeface="Consolas" panose="020B0609020204030204" pitchFamily="49" charset="0"/>
                          <a:ea typeface="+mn-ea"/>
                          <a:cs typeface="Times New Roman" panose="02020603050405020304" pitchFamily="18" charset="0"/>
                        </a:rPr>
                        <a:t>内的以</a:t>
                      </a:r>
                      <a:r>
                        <a:rPr lang="en-US" altLang="zh-CN" sz="2000" b="0" kern="100" dirty="0">
                          <a:solidFill>
                            <a:schemeClr val="tx2"/>
                          </a:solidFill>
                          <a:latin typeface="Consolas" panose="020B0609020204030204" pitchFamily="49" charset="0"/>
                          <a:ea typeface="+mn-ea"/>
                          <a:cs typeface="Times New Roman" panose="02020603050405020304" pitchFamily="18" charset="0"/>
                        </a:rPr>
                        <a:t>0</a:t>
                      </a:r>
                      <a:r>
                        <a:rPr lang="zh-CN" altLang="en-US" sz="2000" b="0" kern="100" dirty="0">
                          <a:solidFill>
                            <a:schemeClr val="tx2"/>
                          </a:solidFill>
                          <a:latin typeface="Consolas" panose="020B0609020204030204" pitchFamily="49" charset="0"/>
                          <a:ea typeface="+mn-ea"/>
                          <a:cs typeface="Times New Roman" panose="02020603050405020304" pitchFamily="18" charset="0"/>
                        </a:rPr>
                        <a:t>为中点的对称分布的随机函数值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542980580"/>
              </p:ext>
            </p:extLst>
          </p:nvPr>
        </p:nvGraphicFramePr>
        <p:xfrm>
          <a:off x="1104900" y="5622020"/>
          <a:ext cx="9980682" cy="538844"/>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err="1">
                          <a:solidFill>
                            <a:schemeClr val="tx2"/>
                          </a:solidFill>
                          <a:latin typeface="Consolas" panose="020B0609020204030204" pitchFamily="49" charset="0"/>
                          <a:ea typeface="+mn-ea"/>
                          <a:cs typeface="Times New Roman" panose="02020603050405020304" pitchFamily="18" charset="0"/>
                        </a:rPr>
                        <a:t>normalvariate</a:t>
                      </a:r>
                      <a:r>
                        <a:rPr lang="en-US" altLang="zh-CN" sz="2000" b="0" kern="100" dirty="0">
                          <a:solidFill>
                            <a:schemeClr val="tx2"/>
                          </a:solidFill>
                          <a:latin typeface="Consolas" panose="020B0609020204030204" pitchFamily="49" charset="0"/>
                          <a:ea typeface="+mn-ea"/>
                          <a:cs typeface="Times New Roman" panose="02020603050405020304" pitchFamily="18" charset="0"/>
                        </a:rPr>
                        <a:t>(0,1)        #</a:t>
                      </a:r>
                      <a:r>
                        <a:rPr lang="zh-CN" altLang="en-US" sz="2000" b="0" kern="100" dirty="0">
                          <a:solidFill>
                            <a:schemeClr val="tx2"/>
                          </a:solidFill>
                          <a:latin typeface="Consolas" panose="020B0609020204030204" pitchFamily="49" charset="0"/>
                          <a:ea typeface="+mn-ea"/>
                          <a:cs typeface="Times New Roman" panose="02020603050405020304" pitchFamily="18" charset="0"/>
                        </a:rPr>
                        <a:t>生成以</a:t>
                      </a:r>
                      <a:r>
                        <a:rPr lang="en-US" altLang="zh-CN" sz="2000" b="0" kern="100" dirty="0">
                          <a:solidFill>
                            <a:schemeClr val="tx2"/>
                          </a:solidFill>
                          <a:latin typeface="Consolas" panose="020B0609020204030204" pitchFamily="49" charset="0"/>
                          <a:ea typeface="+mn-ea"/>
                          <a:cs typeface="Times New Roman" panose="02020603050405020304" pitchFamily="18" charset="0"/>
                        </a:rPr>
                        <a:t>0</a:t>
                      </a:r>
                      <a:r>
                        <a:rPr lang="zh-CN" altLang="en-US" sz="2000" b="0" kern="100" dirty="0">
                          <a:solidFill>
                            <a:schemeClr val="tx2"/>
                          </a:solidFill>
                          <a:latin typeface="Consolas" panose="020B0609020204030204" pitchFamily="49" charset="0"/>
                          <a:ea typeface="+mn-ea"/>
                          <a:cs typeface="Times New Roman" panose="02020603050405020304" pitchFamily="18" charset="0"/>
                        </a:rPr>
                        <a:t>为均值，</a:t>
                      </a:r>
                      <a:r>
                        <a:rPr lang="en-US" altLang="zh-CN" sz="2000" b="0" kern="100" dirty="0">
                          <a:solidFill>
                            <a:schemeClr val="tx2"/>
                          </a:solidFill>
                          <a:latin typeface="Consolas" panose="020B0609020204030204" pitchFamily="49" charset="0"/>
                          <a:ea typeface="+mn-ea"/>
                          <a:cs typeface="Times New Roman" panose="02020603050405020304" pitchFamily="18" charset="0"/>
                        </a:rPr>
                        <a:t>1</a:t>
                      </a:r>
                      <a:r>
                        <a:rPr lang="zh-CN" altLang="en-US" sz="2000" b="0" kern="100" dirty="0">
                          <a:solidFill>
                            <a:schemeClr val="tx2"/>
                          </a:solidFill>
                          <a:latin typeface="Consolas" panose="020B0609020204030204" pitchFamily="49" charset="0"/>
                          <a:ea typeface="+mn-ea"/>
                          <a:cs typeface="Times New Roman" panose="02020603050405020304" pitchFamily="18" charset="0"/>
                        </a:rPr>
                        <a:t>为标准差的正态分布的随机函数值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32144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31799E-DDCC-CC81-85B7-81B403C73BDA}"/>
              </a:ext>
            </a:extLst>
          </p:cNvPr>
          <p:cNvPicPr>
            <a:picLocks noChangeAspect="1"/>
          </p:cNvPicPr>
          <p:nvPr/>
        </p:nvPicPr>
        <p:blipFill>
          <a:blip r:embed="rId2"/>
          <a:stretch>
            <a:fillRect/>
          </a:stretch>
        </p:blipFill>
        <p:spPr>
          <a:xfrm>
            <a:off x="809336" y="806162"/>
            <a:ext cx="6340080" cy="5439641"/>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2AE19B4D-B26A-077A-21CD-891121CF0123}"/>
              </a:ext>
            </a:extLst>
          </p:cNvPr>
          <p:cNvPicPr>
            <a:picLocks noChangeAspect="1"/>
          </p:cNvPicPr>
          <p:nvPr/>
        </p:nvPicPr>
        <p:blipFill>
          <a:blip r:embed="rId3"/>
          <a:stretch>
            <a:fillRect/>
          </a:stretch>
        </p:blipFill>
        <p:spPr>
          <a:xfrm>
            <a:off x="5312064" y="341746"/>
            <a:ext cx="6070600" cy="4927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10324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cap="none" dirty="0"/>
              <a:t>8.3 </a:t>
            </a:r>
            <a:r>
              <a:rPr lang="zh-CN" altLang="en-US" cap="none" dirty="0"/>
              <a:t>绘图模块：</a:t>
            </a:r>
            <a:r>
              <a:rPr lang="en-US" altLang="zh-CN" cap="none" dirty="0"/>
              <a:t>turtle</a:t>
            </a:r>
            <a:r>
              <a:rPr lang="zh-CN" altLang="en-US" cap="none" dirty="0"/>
              <a:t>（建议在</a:t>
            </a:r>
            <a:r>
              <a:rPr lang="en-US" altLang="zh-CN" cap="none" dirty="0"/>
              <a:t>IDLE</a:t>
            </a:r>
            <a:r>
              <a:rPr lang="zh-CN" altLang="en-US" cap="none" dirty="0"/>
              <a:t>或</a:t>
            </a:r>
            <a:r>
              <a:rPr lang="en-US" altLang="zh-CN" cap="none" dirty="0" err="1"/>
              <a:t>Pycharm</a:t>
            </a:r>
            <a:r>
              <a:rPr lang="zh-CN" altLang="en-US" cap="none" dirty="0"/>
              <a:t>中运行</a:t>
            </a:r>
            <a:r>
              <a:rPr lang="en-US" altLang="zh-CN" cap="none" dirty="0"/>
              <a:t>turtle</a:t>
            </a:r>
            <a:r>
              <a:rPr lang="zh-CN" altLang="en-US" cap="none" dirty="0"/>
              <a:t>相关程序）</a:t>
            </a:r>
            <a:endParaRPr lang="en-US" cap="none" dirty="0"/>
          </a:p>
        </p:txBody>
      </p:sp>
    </p:spTree>
    <p:extLst>
      <p:ext uri="{BB962C8B-B14F-4D97-AF65-F5344CB8AC3E}">
        <p14:creationId xmlns:p14="http://schemas.microsoft.com/office/powerpoint/2010/main" val="225787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turtle</a:t>
            </a:r>
            <a:r>
              <a:rPr lang="zh-CN" altLang="en-US" dirty="0"/>
              <a:t>模块：海龟绘图</a:t>
            </a:r>
            <a:endParaRPr lang="en-US" dirty="0"/>
          </a:p>
        </p:txBody>
      </p:sp>
      <p:sp>
        <p:nvSpPr>
          <p:cNvPr id="14" name="Content Placeholder 13"/>
          <p:cNvSpPr>
            <a:spLocks noGrp="1"/>
          </p:cNvSpPr>
          <p:nvPr>
            <p:ph idx="1"/>
          </p:nvPr>
        </p:nvSpPr>
        <p:spPr>
          <a:xfrm>
            <a:off x="744038" y="1645024"/>
            <a:ext cx="10703923" cy="4137212"/>
          </a:xfrm>
        </p:spPr>
        <p:txBody>
          <a:bodyPr>
            <a:normAutofit/>
          </a:bodyPr>
          <a:lstStyle/>
          <a:p>
            <a:pPr>
              <a:lnSpc>
                <a:spcPct val="150000"/>
              </a:lnSpc>
              <a:spcBef>
                <a:spcPts val="0"/>
              </a:spcBef>
            </a:pPr>
            <a:r>
              <a:rPr lang="en-US" altLang="zh-CN" dirty="0">
                <a:latin typeface="Microsoft YaHei" panose="020B0503020204020204" pitchFamily="34" charset="-122"/>
                <a:ea typeface="Microsoft YaHei" panose="020B0503020204020204" pitchFamily="34" charset="-122"/>
                <a:cs typeface="Calibri" panose="020F0502020204030204" pitchFamily="34" charset="0"/>
              </a:rPr>
              <a:t>turtle</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模块是</a:t>
            </a:r>
            <a:r>
              <a:rPr lang="en-US" altLang="zh-CN" dirty="0">
                <a:latin typeface="Microsoft YaHei" panose="020B0503020204020204" pitchFamily="34" charset="-122"/>
                <a:ea typeface="Microsoft YaHei" panose="020B0503020204020204" pitchFamily="34" charset="-122"/>
                <a:cs typeface="Calibri" panose="020F0502020204030204" pitchFamily="34" charset="0"/>
              </a:rPr>
              <a:t>Python</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中一个常用的绘图工具，其原理是想象在绘图区内有一只会移动的机器海龟，起始位置在</a:t>
            </a:r>
            <a:r>
              <a:rPr lang="en-US" altLang="zh-CN" dirty="0" err="1">
                <a:latin typeface="Microsoft YaHei" panose="020B0503020204020204" pitchFamily="34" charset="-122"/>
                <a:ea typeface="Microsoft YaHei" panose="020B0503020204020204" pitchFamily="34" charset="-122"/>
                <a:cs typeface="Calibri" panose="020F0502020204030204" pitchFamily="34" charset="0"/>
              </a:rPr>
              <a:t>xy</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二维平面的</a:t>
            </a:r>
            <a:r>
              <a:rPr lang="en-US" altLang="zh-CN" dirty="0">
                <a:latin typeface="Microsoft YaHei" panose="020B0503020204020204" pitchFamily="34" charset="-122"/>
                <a:ea typeface="Microsoft YaHei" panose="020B0503020204020204" pitchFamily="34" charset="-122"/>
                <a:cs typeface="Calibri" panose="020F0502020204030204" pitchFamily="34" charset="0"/>
              </a:rPr>
              <a:t>(0, 0)</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点，以海龟走过的路线为轨迹，通过控制海龟的前进方向、前进距离以及对画笔风格等元素，绘制出想要的图形。</a:t>
            </a:r>
            <a:endParaRPr lang="en-US" altLang="zh-CN" dirty="0">
              <a:latin typeface="Microsoft YaHei" panose="020B0503020204020204" pitchFamily="34" charset="-122"/>
              <a:ea typeface="Microsoft YaHei" panose="020B0503020204020204" pitchFamily="34" charset="-122"/>
              <a:cs typeface="Calibri" panose="020F0502020204030204" pitchFamily="34" charset="0"/>
            </a:endParaRPr>
          </a:p>
          <a:p>
            <a:pPr>
              <a:lnSpc>
                <a:spcPct val="150000"/>
              </a:lnSpc>
              <a:spcBef>
                <a:spcPts val="0"/>
              </a:spcBef>
            </a:pPr>
            <a:r>
              <a:rPr lang="zh-CN" altLang="en-US" dirty="0">
                <a:latin typeface="Microsoft YaHei" panose="020B0503020204020204" pitchFamily="34" charset="-122"/>
                <a:ea typeface="Microsoft YaHei" panose="020B0503020204020204" pitchFamily="34" charset="-122"/>
                <a:cs typeface="Calibri" panose="020F0502020204030204" pitchFamily="34" charset="0"/>
              </a:rPr>
              <a:t>导入模块：</a:t>
            </a:r>
            <a:r>
              <a:rPr lang="en-US" altLang="zh-CN" b="1" dirty="0">
                <a:solidFill>
                  <a:srgbClr val="7030A0"/>
                </a:solidFill>
                <a:latin typeface="Microsoft YaHei" panose="020B0503020204020204" pitchFamily="34" charset="-122"/>
                <a:ea typeface="Microsoft YaHei" panose="020B0503020204020204" pitchFamily="34" charset="-122"/>
                <a:cs typeface="Calibri" panose="020F0502020204030204" pitchFamily="34" charset="0"/>
              </a:rPr>
              <a:t>import turtle</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或者 </a:t>
            </a:r>
            <a:r>
              <a:rPr lang="en-US" altLang="zh-CN" b="1" dirty="0">
                <a:solidFill>
                  <a:srgbClr val="7030A0"/>
                </a:solidFill>
                <a:latin typeface="Microsoft YaHei" panose="020B0503020204020204" pitchFamily="34" charset="-122"/>
                <a:ea typeface="Microsoft YaHei" panose="020B0503020204020204" pitchFamily="34" charset="-122"/>
                <a:cs typeface="Calibri" panose="020F0502020204030204" pitchFamily="34" charset="0"/>
              </a:rPr>
              <a:t>from turtle import *</a:t>
            </a:r>
          </a:p>
          <a:p>
            <a:pPr>
              <a:lnSpc>
                <a:spcPct val="150000"/>
              </a:lnSpc>
              <a:spcBef>
                <a:spcPts val="0"/>
              </a:spcBef>
            </a:pPr>
            <a:r>
              <a:rPr lang="en-US" altLang="zh-CN" dirty="0">
                <a:latin typeface="Microsoft YaHei" panose="020B0503020204020204" pitchFamily="34" charset="-122"/>
                <a:ea typeface="Microsoft YaHei" panose="020B0503020204020204" pitchFamily="34" charset="-122"/>
                <a:cs typeface="Calibri" panose="020F0502020204030204" pitchFamily="34" charset="0"/>
              </a:rPr>
              <a:t>turtle</a:t>
            </a:r>
            <a:r>
              <a:rPr lang="zh-CN" altLang="en-US" dirty="0">
                <a:latin typeface="Microsoft YaHei" panose="020B0503020204020204" pitchFamily="34" charset="-122"/>
                <a:ea typeface="Microsoft YaHei" panose="020B0503020204020204" pitchFamily="34" charset="-122"/>
                <a:cs typeface="Calibri" panose="020F0502020204030204" pitchFamily="34" charset="0"/>
              </a:rPr>
              <a:t>模块提供了面向对象和面向过程两种绘图方式，如果在图形界面中需要调用多个海龟同时绘图，则必须使用调用模块的面向对象方式接口进行绘图。面向对象的接口主要包括两个类：</a:t>
            </a:r>
            <a:endParaRPr lang="en-US" altLang="zh-CN" dirty="0">
              <a:latin typeface="Microsoft YaHei" panose="020B0503020204020204" pitchFamily="34" charset="-122"/>
              <a:ea typeface="Microsoft YaHei" panose="020B0503020204020204" pitchFamily="34" charset="-122"/>
              <a:cs typeface="Calibri" panose="020F0502020204030204" pitchFamily="34" charset="0"/>
            </a:endParaRPr>
          </a:p>
          <a:p>
            <a:pPr lvl="1">
              <a:lnSpc>
                <a:spcPct val="150000"/>
              </a:lnSpc>
              <a:spcBef>
                <a:spcPts val="0"/>
              </a:spcBef>
            </a:pP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a:t>
            </a:r>
            <a:r>
              <a:rPr lang="en-US" altLang="zh-CN" sz="2000" dirty="0">
                <a:latin typeface="Microsoft YaHei" panose="020B0503020204020204" pitchFamily="34" charset="-122"/>
                <a:ea typeface="Microsoft YaHei" panose="020B0503020204020204" pitchFamily="34" charset="-122"/>
                <a:cs typeface="Calibri" panose="020F0502020204030204" pitchFamily="34" charset="0"/>
              </a:rPr>
              <a:t>1</a:t>
            </a: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a:t>
            </a:r>
            <a:r>
              <a:rPr lang="en-US" altLang="zh-CN" sz="2000" dirty="0" err="1">
                <a:latin typeface="Microsoft YaHei" panose="020B0503020204020204" pitchFamily="34" charset="-122"/>
                <a:ea typeface="Microsoft YaHei" panose="020B0503020204020204" pitchFamily="34" charset="-122"/>
                <a:cs typeface="Calibri" panose="020F0502020204030204" pitchFamily="34" charset="0"/>
              </a:rPr>
              <a:t>TurtleScreen</a:t>
            </a: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类，定义图形窗口作为绘图场所，即绘图海龟的活动区域；</a:t>
            </a:r>
            <a:endParaRPr lang="en-US" altLang="zh-CN" sz="2000" dirty="0">
              <a:latin typeface="Microsoft YaHei" panose="020B0503020204020204" pitchFamily="34" charset="-122"/>
              <a:ea typeface="Microsoft YaHei" panose="020B0503020204020204" pitchFamily="34" charset="-122"/>
              <a:cs typeface="Calibri" panose="020F0502020204030204" pitchFamily="34" charset="0"/>
            </a:endParaRPr>
          </a:p>
          <a:p>
            <a:pPr lvl="1">
              <a:lnSpc>
                <a:spcPct val="150000"/>
              </a:lnSpc>
              <a:spcBef>
                <a:spcPts val="0"/>
              </a:spcBef>
            </a:pP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a:t>
            </a:r>
            <a:r>
              <a:rPr lang="en-US" altLang="zh-CN" sz="2000" dirty="0">
                <a:latin typeface="Microsoft YaHei" panose="020B0503020204020204" pitchFamily="34" charset="-122"/>
                <a:ea typeface="Microsoft YaHei" panose="020B0503020204020204" pitchFamily="34" charset="-122"/>
                <a:cs typeface="Calibri" panose="020F0502020204030204" pitchFamily="34" charset="0"/>
              </a:rPr>
              <a:t>2</a:t>
            </a: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a:t>
            </a:r>
            <a:r>
              <a:rPr lang="en-US" altLang="zh-CN" sz="2000" dirty="0" err="1">
                <a:latin typeface="Microsoft YaHei" panose="020B0503020204020204" pitchFamily="34" charset="-122"/>
                <a:ea typeface="Microsoft YaHei" panose="020B0503020204020204" pitchFamily="34" charset="-122"/>
                <a:cs typeface="Calibri" panose="020F0502020204030204" pitchFamily="34" charset="0"/>
              </a:rPr>
              <a:t>RawTurtle</a:t>
            </a:r>
            <a:r>
              <a:rPr lang="en-US" altLang="zh-CN" sz="2000" dirty="0">
                <a:latin typeface="Microsoft YaHei" panose="020B0503020204020204" pitchFamily="34" charset="-122"/>
                <a:ea typeface="Microsoft YaHei" panose="020B0503020204020204" pitchFamily="34" charset="-122"/>
                <a:cs typeface="Calibri" panose="020F0502020204030204" pitchFamily="34" charset="0"/>
              </a:rPr>
              <a:t>/</a:t>
            </a:r>
            <a:r>
              <a:rPr lang="en-US" altLang="zh-CN" sz="2000" dirty="0" err="1">
                <a:latin typeface="Microsoft YaHei" panose="020B0503020204020204" pitchFamily="34" charset="-122"/>
                <a:ea typeface="Microsoft YaHei" panose="020B0503020204020204" pitchFamily="34" charset="-122"/>
                <a:cs typeface="Calibri" panose="020F0502020204030204" pitchFamily="34" charset="0"/>
              </a:rPr>
              <a:t>RawPen</a:t>
            </a: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类，定义海龟对象在</a:t>
            </a:r>
            <a:r>
              <a:rPr lang="en-US" altLang="zh-CN" sz="2000" dirty="0" err="1">
                <a:latin typeface="Microsoft YaHei" panose="020B0503020204020204" pitchFamily="34" charset="-122"/>
                <a:ea typeface="Microsoft YaHei" panose="020B0503020204020204" pitchFamily="34" charset="-122"/>
                <a:cs typeface="Calibri" panose="020F0502020204030204" pitchFamily="34" charset="0"/>
              </a:rPr>
              <a:t>TurtleScreen</a:t>
            </a:r>
            <a:r>
              <a:rPr lang="zh-CN" altLang="en-US" sz="2000" dirty="0">
                <a:latin typeface="Microsoft YaHei" panose="020B0503020204020204" pitchFamily="34" charset="-122"/>
                <a:ea typeface="Microsoft YaHei" panose="020B0503020204020204" pitchFamily="34" charset="-122"/>
                <a:cs typeface="Calibri" panose="020F0502020204030204" pitchFamily="34" charset="0"/>
              </a:rPr>
              <a:t>上移动，即定义如何绘图。</a:t>
            </a:r>
            <a:endParaRPr lang="en-US" altLang="zh-CN" sz="2000" dirty="0">
              <a:latin typeface="Microsoft YaHei" panose="020B0503020204020204" pitchFamily="34" charset="-122"/>
              <a:ea typeface="Microsoft YaHei"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3104052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06284-DC75-73E2-C0D0-B8DE80BD3B76}"/>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1</a:t>
            </a:r>
            <a:r>
              <a:rPr kumimoji="1" lang="zh-CN" altLang="en-US" dirty="0">
                <a:solidFill>
                  <a:srgbClr val="0432FF"/>
                </a:solidFill>
                <a:latin typeface="Microsoft YaHei" panose="020B0503020204020204" pitchFamily="34" charset="-122"/>
                <a:ea typeface="Microsoft YaHei" panose="020B0503020204020204" pitchFamily="34" charset="-122"/>
              </a:rPr>
              <a:t>）常用函数</a:t>
            </a:r>
          </a:p>
        </p:txBody>
      </p:sp>
      <p:pic>
        <p:nvPicPr>
          <p:cNvPr id="3" name="Picture 2">
            <a:extLst>
              <a:ext uri="{FF2B5EF4-FFF2-40B4-BE49-F238E27FC236}">
                <a16:creationId xmlns:a16="http://schemas.microsoft.com/office/drawing/2014/main" id="{E74E3C4D-4311-62EF-5D57-A62467AEB28E}"/>
              </a:ext>
            </a:extLst>
          </p:cNvPr>
          <p:cNvPicPr>
            <a:picLocks noChangeAspect="1"/>
          </p:cNvPicPr>
          <p:nvPr/>
        </p:nvPicPr>
        <p:blipFill>
          <a:blip r:embed="rId2"/>
          <a:stretch>
            <a:fillRect/>
          </a:stretch>
        </p:blipFill>
        <p:spPr>
          <a:xfrm>
            <a:off x="1481418" y="1919381"/>
            <a:ext cx="4058418" cy="301923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D756D47-E3BD-F149-1452-3EB36436F0A3}"/>
              </a:ext>
            </a:extLst>
          </p:cNvPr>
          <p:cNvPicPr>
            <a:picLocks noChangeAspect="1"/>
          </p:cNvPicPr>
          <p:nvPr/>
        </p:nvPicPr>
        <p:blipFill>
          <a:blip r:embed="rId3"/>
          <a:stretch>
            <a:fillRect/>
          </a:stretch>
        </p:blipFill>
        <p:spPr>
          <a:xfrm>
            <a:off x="6365687" y="1586005"/>
            <a:ext cx="4629551" cy="4572747"/>
          </a:xfrm>
          <a:prstGeom prst="rect">
            <a:avLst/>
          </a:prstGeom>
        </p:spPr>
      </p:pic>
    </p:spTree>
    <p:extLst>
      <p:ext uri="{BB962C8B-B14F-4D97-AF65-F5344CB8AC3E}">
        <p14:creationId xmlns:p14="http://schemas.microsoft.com/office/powerpoint/2010/main" val="265365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28C54-5FE1-8A1F-4B50-1D6E9DFDF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C4C4E-EDEB-6F7B-D0D0-9C61396A033E}"/>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2</a:t>
            </a:r>
            <a:r>
              <a:rPr kumimoji="1" lang="zh-CN" altLang="en-US" dirty="0">
                <a:solidFill>
                  <a:srgbClr val="0432FF"/>
                </a:solidFill>
                <a:latin typeface="Microsoft YaHei" panose="020B0503020204020204" pitchFamily="34" charset="-122"/>
                <a:ea typeface="Microsoft YaHei" panose="020B0503020204020204" pitchFamily="34" charset="-122"/>
              </a:rPr>
              <a:t>）常用函数</a:t>
            </a:r>
          </a:p>
        </p:txBody>
      </p:sp>
      <p:pic>
        <p:nvPicPr>
          <p:cNvPr id="3" name="Picture 2">
            <a:extLst>
              <a:ext uri="{FF2B5EF4-FFF2-40B4-BE49-F238E27FC236}">
                <a16:creationId xmlns:a16="http://schemas.microsoft.com/office/drawing/2014/main" id="{F1EF5419-0E08-F11A-17B5-78AA1EFFA5A8}"/>
              </a:ext>
            </a:extLst>
          </p:cNvPr>
          <p:cNvPicPr>
            <a:picLocks noChangeAspect="1"/>
          </p:cNvPicPr>
          <p:nvPr/>
        </p:nvPicPr>
        <p:blipFill>
          <a:blip r:embed="rId2"/>
          <a:stretch>
            <a:fillRect/>
          </a:stretch>
        </p:blipFill>
        <p:spPr>
          <a:xfrm>
            <a:off x="956982" y="2046939"/>
            <a:ext cx="4615707" cy="334532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888045F2-34C8-ED2D-F9FC-D65FB5921C59}"/>
              </a:ext>
            </a:extLst>
          </p:cNvPr>
          <p:cNvPicPr>
            <a:picLocks noChangeAspect="1"/>
          </p:cNvPicPr>
          <p:nvPr/>
        </p:nvPicPr>
        <p:blipFill>
          <a:blip r:embed="rId3"/>
          <a:stretch>
            <a:fillRect/>
          </a:stretch>
        </p:blipFill>
        <p:spPr>
          <a:xfrm>
            <a:off x="6095241" y="2046939"/>
            <a:ext cx="5748906" cy="3345329"/>
          </a:xfrm>
          <a:prstGeom prst="rect">
            <a:avLst/>
          </a:prstGeom>
        </p:spPr>
      </p:pic>
    </p:spTree>
    <p:extLst>
      <p:ext uri="{BB962C8B-B14F-4D97-AF65-F5344CB8AC3E}">
        <p14:creationId xmlns:p14="http://schemas.microsoft.com/office/powerpoint/2010/main" val="234089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turtle </a:t>
            </a:r>
            <a:r>
              <a:rPr lang="zh-CN" altLang="en-US" dirty="0"/>
              <a:t>模块的应用</a:t>
            </a:r>
            <a:endParaRPr lang="en-US" dirty="0"/>
          </a:p>
        </p:txBody>
      </p:sp>
      <p:pic>
        <p:nvPicPr>
          <p:cNvPr id="5" name="Picture 4">
            <a:extLst>
              <a:ext uri="{FF2B5EF4-FFF2-40B4-BE49-F238E27FC236}">
                <a16:creationId xmlns:a16="http://schemas.microsoft.com/office/drawing/2014/main" id="{C0542D15-9A07-B801-C40E-2A6A4E0844F3}"/>
              </a:ext>
            </a:extLst>
          </p:cNvPr>
          <p:cNvPicPr>
            <a:picLocks noChangeAspect="1"/>
          </p:cNvPicPr>
          <p:nvPr/>
        </p:nvPicPr>
        <p:blipFill>
          <a:blip r:embed="rId3"/>
          <a:stretch>
            <a:fillRect/>
          </a:stretch>
        </p:blipFill>
        <p:spPr>
          <a:xfrm>
            <a:off x="1104899" y="2591921"/>
            <a:ext cx="4559210" cy="3006538"/>
          </a:xfrm>
          <a:prstGeom prst="rect">
            <a:avLst/>
          </a:prstGeom>
        </p:spPr>
      </p:pic>
      <p:pic>
        <p:nvPicPr>
          <p:cNvPr id="6" name="Picture 5">
            <a:extLst>
              <a:ext uri="{FF2B5EF4-FFF2-40B4-BE49-F238E27FC236}">
                <a16:creationId xmlns:a16="http://schemas.microsoft.com/office/drawing/2014/main" id="{95514B9B-9FF1-8CAF-EC35-E9036CE73371}"/>
              </a:ext>
            </a:extLst>
          </p:cNvPr>
          <p:cNvPicPr>
            <a:picLocks noChangeAspect="1"/>
          </p:cNvPicPr>
          <p:nvPr/>
        </p:nvPicPr>
        <p:blipFill>
          <a:blip r:embed="rId4"/>
          <a:stretch>
            <a:fillRect/>
          </a:stretch>
        </p:blipFill>
        <p:spPr>
          <a:xfrm>
            <a:off x="6527892" y="1636059"/>
            <a:ext cx="4279900" cy="3962400"/>
          </a:xfrm>
          <a:prstGeom prst="rect">
            <a:avLst/>
          </a:prstGeom>
        </p:spPr>
      </p:pic>
      <p:sp>
        <p:nvSpPr>
          <p:cNvPr id="10" name="TextBox 9">
            <a:extLst>
              <a:ext uri="{FF2B5EF4-FFF2-40B4-BE49-F238E27FC236}">
                <a16:creationId xmlns:a16="http://schemas.microsoft.com/office/drawing/2014/main" id="{3D670337-75FE-0F1A-8347-D2DE6526E9A8}"/>
              </a:ext>
            </a:extLst>
          </p:cNvPr>
          <p:cNvSpPr txBox="1"/>
          <p:nvPr/>
        </p:nvSpPr>
        <p:spPr>
          <a:xfrm>
            <a:off x="1104899" y="1697875"/>
            <a:ext cx="3346077" cy="369332"/>
          </a:xfrm>
          <a:prstGeom prst="rect">
            <a:avLst/>
          </a:prstGeom>
          <a:noFill/>
        </p:spPr>
        <p:txBody>
          <a:bodyPr wrap="square">
            <a:spAutoFit/>
          </a:bodyPr>
          <a:lstStyle/>
          <a:p>
            <a:r>
              <a:rPr lang="zh-CN" altLang="en-US" dirty="0">
                <a:solidFill>
                  <a:srgbClr val="0432FF"/>
                </a:solidFill>
              </a:rPr>
              <a:t>（1）使用 turtle 模块绘图</a:t>
            </a:r>
          </a:p>
        </p:txBody>
      </p:sp>
    </p:spTree>
    <p:extLst>
      <p:ext uri="{BB962C8B-B14F-4D97-AF65-F5344CB8AC3E}">
        <p14:creationId xmlns:p14="http://schemas.microsoft.com/office/powerpoint/2010/main" val="2836315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C8415D-973D-CA39-D1F3-62F5B7933D87}"/>
              </a:ext>
            </a:extLst>
          </p:cNvPr>
          <p:cNvPicPr>
            <a:picLocks noChangeAspect="1"/>
          </p:cNvPicPr>
          <p:nvPr/>
        </p:nvPicPr>
        <p:blipFill>
          <a:blip r:embed="rId2"/>
          <a:stretch>
            <a:fillRect/>
          </a:stretch>
        </p:blipFill>
        <p:spPr>
          <a:xfrm>
            <a:off x="1189929" y="1090061"/>
            <a:ext cx="5461000" cy="53975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74C3C7C5-F4B3-A624-B80C-1C04C5832EA2}"/>
              </a:ext>
            </a:extLst>
          </p:cNvPr>
          <p:cNvPicPr>
            <a:picLocks noChangeAspect="1"/>
          </p:cNvPicPr>
          <p:nvPr/>
        </p:nvPicPr>
        <p:blipFill>
          <a:blip r:embed="rId3"/>
          <a:stretch>
            <a:fillRect/>
          </a:stretch>
        </p:blipFill>
        <p:spPr>
          <a:xfrm>
            <a:off x="7286336" y="1966768"/>
            <a:ext cx="4241800" cy="3949700"/>
          </a:xfrm>
          <a:prstGeom prst="rect">
            <a:avLst/>
          </a:prstGeom>
        </p:spPr>
      </p:pic>
      <p:sp>
        <p:nvSpPr>
          <p:cNvPr id="5" name="TextBox 4">
            <a:extLst>
              <a:ext uri="{FF2B5EF4-FFF2-40B4-BE49-F238E27FC236}">
                <a16:creationId xmlns:a16="http://schemas.microsoft.com/office/drawing/2014/main" id="{C60FA618-7578-850E-01B9-3AF6D57BD1DD}"/>
              </a:ext>
            </a:extLst>
          </p:cNvPr>
          <p:cNvSpPr txBox="1"/>
          <p:nvPr/>
        </p:nvSpPr>
        <p:spPr>
          <a:xfrm>
            <a:off x="871309" y="370439"/>
            <a:ext cx="6098240" cy="369332"/>
          </a:xfrm>
          <a:prstGeom prst="rect">
            <a:avLst/>
          </a:prstGeom>
          <a:noFill/>
        </p:spPr>
        <p:txBody>
          <a:bodyPr wrap="square">
            <a:spAutoFit/>
          </a:bodyPr>
          <a:lstStyle/>
          <a:p>
            <a:r>
              <a:rPr lang="zh-CN" altLang="en-US" dirty="0">
                <a:solidFill>
                  <a:srgbClr val="0432FF"/>
                </a:solidFill>
              </a:rPr>
              <a:t>（2）构建 Turtle 对象绘图</a:t>
            </a:r>
          </a:p>
        </p:txBody>
      </p:sp>
    </p:spTree>
    <p:extLst>
      <p:ext uri="{BB962C8B-B14F-4D97-AF65-F5344CB8AC3E}">
        <p14:creationId xmlns:p14="http://schemas.microsoft.com/office/powerpoint/2010/main" val="2251313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D3AFFF-05B4-BE25-C1C7-9ECBAECDE737}"/>
              </a:ext>
            </a:extLst>
          </p:cNvPr>
          <p:cNvSpPr txBox="1"/>
          <p:nvPr/>
        </p:nvSpPr>
        <p:spPr>
          <a:xfrm>
            <a:off x="857250" y="649052"/>
            <a:ext cx="6098240" cy="369332"/>
          </a:xfrm>
          <a:prstGeom prst="rect">
            <a:avLst/>
          </a:prstGeom>
          <a:noFill/>
        </p:spPr>
        <p:txBody>
          <a:bodyPr wrap="square">
            <a:spAutoFit/>
          </a:bodyPr>
          <a:lstStyle/>
          <a:p>
            <a:r>
              <a:rPr lang="zh-CN" altLang="en-US" dirty="0">
                <a:solidFill>
                  <a:srgbClr val="0432FF"/>
                </a:solidFill>
              </a:rPr>
              <a:t>（3）构建 RawTurtle 对象绘图</a:t>
            </a:r>
          </a:p>
        </p:txBody>
      </p:sp>
      <p:pic>
        <p:nvPicPr>
          <p:cNvPr id="4" name="Picture 3">
            <a:extLst>
              <a:ext uri="{FF2B5EF4-FFF2-40B4-BE49-F238E27FC236}">
                <a16:creationId xmlns:a16="http://schemas.microsoft.com/office/drawing/2014/main" id="{A5EEB150-B9D2-7B5F-EEAA-4DB1BA89FB06}"/>
              </a:ext>
            </a:extLst>
          </p:cNvPr>
          <p:cNvPicPr>
            <a:picLocks noChangeAspect="1"/>
          </p:cNvPicPr>
          <p:nvPr/>
        </p:nvPicPr>
        <p:blipFill>
          <a:blip r:embed="rId2"/>
          <a:stretch>
            <a:fillRect/>
          </a:stretch>
        </p:blipFill>
        <p:spPr>
          <a:xfrm>
            <a:off x="758265" y="1422400"/>
            <a:ext cx="5969000" cy="4013200"/>
          </a:xfrm>
          <a:prstGeom prst="rect">
            <a:avLst/>
          </a:prstGeom>
        </p:spPr>
      </p:pic>
      <p:pic>
        <p:nvPicPr>
          <p:cNvPr id="6" name="Picture 5">
            <a:extLst>
              <a:ext uri="{FF2B5EF4-FFF2-40B4-BE49-F238E27FC236}">
                <a16:creationId xmlns:a16="http://schemas.microsoft.com/office/drawing/2014/main" id="{153C0CBD-8CFE-EA2B-FD2C-8C55BF3B6496}"/>
              </a:ext>
            </a:extLst>
          </p:cNvPr>
          <p:cNvPicPr>
            <a:picLocks noChangeAspect="1"/>
          </p:cNvPicPr>
          <p:nvPr/>
        </p:nvPicPr>
        <p:blipFill>
          <a:blip r:embed="rId3"/>
          <a:stretch>
            <a:fillRect/>
          </a:stretch>
        </p:blipFill>
        <p:spPr>
          <a:xfrm>
            <a:off x="7302873" y="1473200"/>
            <a:ext cx="4229100" cy="3962400"/>
          </a:xfrm>
          <a:prstGeom prst="rect">
            <a:avLst/>
          </a:prstGeom>
        </p:spPr>
      </p:pic>
    </p:spTree>
    <p:extLst>
      <p:ext uri="{BB962C8B-B14F-4D97-AF65-F5344CB8AC3E}">
        <p14:creationId xmlns:p14="http://schemas.microsoft.com/office/powerpoint/2010/main" val="2457850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1EA5-127A-C443-9FE5-BEB121BF11B3}"/>
              </a:ext>
            </a:extLst>
          </p:cNvPr>
          <p:cNvSpPr>
            <a:spLocks noGrp="1"/>
          </p:cNvSpPr>
          <p:nvPr>
            <p:ph type="title"/>
          </p:nvPr>
        </p:nvSpPr>
        <p:spPr/>
        <p:txBody>
          <a:bodyPr/>
          <a:lstStyle/>
          <a:p>
            <a:r>
              <a:rPr kumimoji="1" lang="zh-TW" altLang="en-US" dirty="0"/>
              <a:t>案例</a:t>
            </a:r>
            <a:r>
              <a:rPr kumimoji="1" lang="zh-CN" altLang="en-US" dirty="0"/>
              <a:t>：</a:t>
            </a:r>
            <a:r>
              <a:rPr lang="zh-CN" altLang="en-US" dirty="0">
                <a:solidFill>
                  <a:srgbClr val="262626"/>
                </a:solidFill>
                <a:latin typeface="微软雅黑" panose="020B0503020204020204" pitchFamily="34" charset="-122"/>
                <a:ea typeface="微软雅黑" panose="020B0503020204020204" pitchFamily="34" charset="-122"/>
              </a:rPr>
              <a:t>七段数码管绘制</a:t>
            </a:r>
            <a:endParaRPr kumimoji="1" lang="zh-CN" altLang="en-US" dirty="0"/>
          </a:p>
        </p:txBody>
      </p:sp>
      <p:sp>
        <p:nvSpPr>
          <p:cNvPr id="3" name="Rectangle 2">
            <a:extLst>
              <a:ext uri="{FF2B5EF4-FFF2-40B4-BE49-F238E27FC236}">
                <a16:creationId xmlns:a16="http://schemas.microsoft.com/office/drawing/2014/main" id="{ABAD180D-4EFF-2D43-9AC6-57EE1F0F08B2}"/>
              </a:ext>
            </a:extLst>
          </p:cNvPr>
          <p:cNvSpPr/>
          <p:nvPr/>
        </p:nvSpPr>
        <p:spPr>
          <a:xfrm>
            <a:off x="1397330" y="1382760"/>
            <a:ext cx="8126680" cy="874407"/>
          </a:xfrm>
          <a:prstGeom prst="rect">
            <a:avLst/>
          </a:prstGeom>
        </p:spPr>
        <p:txBody>
          <a:bodyPr wrap="square">
            <a:spAutoFit/>
          </a:bodyPr>
          <a:lstStyle/>
          <a:p>
            <a:pPr>
              <a:lnSpc>
                <a:spcPct val="150000"/>
              </a:lnSpc>
              <a:spcBef>
                <a:spcPct val="0"/>
              </a:spcBef>
              <a:buFontTx/>
              <a:buNone/>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实例代码定义了</a:t>
            </a:r>
            <a:r>
              <a:rPr lang="en-US" altLang="zh-CN" dirty="0" err="1">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drawDigit</a:t>
            </a:r>
            <a:r>
              <a:rPr lang="en-US" altLang="zh-CN" dirty="0">
                <a:solidFill>
                  <a:srgbClr val="0432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函数，该函数根据输入的数字</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绘制七段数码管，结合七段数码管结构，每个数码管的绘制采用图所示顺序。</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4">
            <a:extLst>
              <a:ext uri="{FF2B5EF4-FFF2-40B4-BE49-F238E27FC236}">
                <a16:creationId xmlns:a16="http://schemas.microsoft.com/office/drawing/2014/main" id="{7A571363-5626-EA4A-BC59-1283FD857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8827" y="1382760"/>
            <a:ext cx="1962150"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C6C2421-63D4-7046-AF43-401A780ABB79}"/>
              </a:ext>
            </a:extLst>
          </p:cNvPr>
          <p:cNvSpPr/>
          <p:nvPr/>
        </p:nvSpPr>
        <p:spPr>
          <a:xfrm>
            <a:off x="1397330" y="2613866"/>
            <a:ext cx="7497288" cy="1289905"/>
          </a:xfrm>
          <a:prstGeom prst="rect">
            <a:avLst/>
          </a:prstGeom>
        </p:spPr>
        <p:txBody>
          <a:bodyPr wrap="square">
            <a:spAutoFit/>
          </a:bodyPr>
          <a:lstStyle/>
          <a:p>
            <a:pPr marL="285750" indent="-285750" algn="just">
              <a:lnSpc>
                <a:spcPct val="150000"/>
              </a:lnSpc>
              <a:spcBef>
                <a:spcPct val="0"/>
              </a:spcBef>
              <a:buFont typeface="Arial" panose="020B0604020202020204" pitchFamily="34" charset="0"/>
              <a:buChar char="•"/>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绘制起点在数码管中部左侧，无论每段数码管是否被绘制出来，</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turtle</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画笔都按顺序“画完”所有</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个数码管。</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spcBef>
                <a:spcPct val="0"/>
              </a:spcBef>
              <a:buFont typeface="Arial" panose="020B0604020202020204" pitchFamily="34" charset="0"/>
              <a:buChar char="•"/>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对于给定数字</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，哪个数码段被绘制出来采用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if…else…</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语句判断。</a:t>
            </a:r>
            <a:endParaRPr lang="zh-CN"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Rectangle 5">
            <a:extLst>
              <a:ext uri="{FF2B5EF4-FFF2-40B4-BE49-F238E27FC236}">
                <a16:creationId xmlns:a16="http://schemas.microsoft.com/office/drawing/2014/main" id="{CFF6BE28-0930-C14F-B53F-0503E82D5D52}"/>
              </a:ext>
            </a:extLst>
          </p:cNvPr>
          <p:cNvSpPr/>
          <p:nvPr/>
        </p:nvSpPr>
        <p:spPr>
          <a:xfrm>
            <a:off x="2586780" y="4024699"/>
            <a:ext cx="8708571" cy="353943"/>
          </a:xfrm>
          <a:prstGeom prst="rect">
            <a:avLst/>
          </a:prstGeom>
          <a:solidFill>
            <a:schemeClr val="tx1">
              <a:lumMod val="20000"/>
              <a:lumOff val="80000"/>
            </a:schemeClr>
          </a:solidFill>
          <a:ln>
            <a:solidFill>
              <a:srgbClr val="92D050"/>
            </a:solidFill>
          </a:ln>
        </p:spPr>
        <p:txBody>
          <a:bodyPr wrap="square">
            <a:spAutoFit/>
          </a:bodyPr>
          <a:lstStyle/>
          <a:p>
            <a:pPr indent="266700" algn="just" fontAlgn="base">
              <a:lnSpc>
                <a:spcPts val="2000"/>
              </a:lnSpc>
              <a:spcAft>
                <a:spcPts val="0"/>
              </a:spcAft>
            </a:pPr>
            <a:r>
              <a:rPr lang="en-US" b="1" kern="0" dirty="0" err="1">
                <a:latin typeface="Courier New" charset="0"/>
                <a:ea typeface="宋体" charset="0"/>
                <a:cs typeface="Times New Roman" charset="0"/>
              </a:rPr>
              <a:t>drawLine</a:t>
            </a:r>
            <a:r>
              <a:rPr lang="en-US" b="1" kern="0" dirty="0">
                <a:latin typeface="Courier New" charset="0"/>
                <a:ea typeface="宋体" charset="0"/>
                <a:cs typeface="Times New Roman" charset="0"/>
              </a:rPr>
              <a:t>(True) if d in [2,3,4,5,6,8,9] else </a:t>
            </a:r>
            <a:r>
              <a:rPr lang="en-US" b="1" kern="0" dirty="0" err="1">
                <a:latin typeface="Courier New" charset="0"/>
                <a:ea typeface="宋体" charset="0"/>
                <a:cs typeface="Times New Roman" charset="0"/>
              </a:rPr>
              <a:t>drawLine</a:t>
            </a:r>
            <a:r>
              <a:rPr lang="en-US" b="1" kern="0" dirty="0">
                <a:latin typeface="Courier New" charset="0"/>
                <a:ea typeface="宋体" charset="0"/>
                <a:cs typeface="Times New Roman" charset="0"/>
              </a:rPr>
              <a:t>(False)</a:t>
            </a:r>
            <a:endParaRPr lang="zh-CN" altLang="en-US" sz="2000" kern="100" dirty="0">
              <a:latin typeface="Calibri" charset="0"/>
              <a:ea typeface="宋体" charset="0"/>
              <a:cs typeface="Times New Roman" charset="0"/>
            </a:endParaRPr>
          </a:p>
        </p:txBody>
      </p:sp>
      <p:pic>
        <p:nvPicPr>
          <p:cNvPr id="7" name="图片 4">
            <a:extLst>
              <a:ext uri="{FF2B5EF4-FFF2-40B4-BE49-F238E27FC236}">
                <a16:creationId xmlns:a16="http://schemas.microsoft.com/office/drawing/2014/main" id="{194903FE-40DD-F442-B2F4-7ECE66157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4726031"/>
            <a:ext cx="3873182" cy="189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4">
            <a:extLst>
              <a:ext uri="{FF2B5EF4-FFF2-40B4-BE49-F238E27FC236}">
                <a16:creationId xmlns:a16="http://schemas.microsoft.com/office/drawing/2014/main" id="{662576FD-657F-E445-8645-117751FD0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1378" y="4726031"/>
            <a:ext cx="3580453" cy="18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8">
            <a:extLst>
              <a:ext uri="{FF2B5EF4-FFF2-40B4-BE49-F238E27FC236}">
                <a16:creationId xmlns:a16="http://schemas.microsoft.com/office/drawing/2014/main" id="{2935496C-115D-7244-927E-CFB310A5B199}"/>
              </a:ext>
            </a:extLst>
          </p:cNvPr>
          <p:cNvSpPr/>
          <p:nvPr/>
        </p:nvSpPr>
        <p:spPr>
          <a:xfrm>
            <a:off x="5539777" y="5519183"/>
            <a:ext cx="1401288" cy="30140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541666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27C7C7-8B4E-9B6C-9A0B-88BD2F3D9439}"/>
              </a:ext>
            </a:extLst>
          </p:cNvPr>
          <p:cNvPicPr>
            <a:picLocks noChangeAspect="1"/>
          </p:cNvPicPr>
          <p:nvPr/>
        </p:nvPicPr>
        <p:blipFill>
          <a:blip r:embed="rId2"/>
          <a:stretch>
            <a:fillRect/>
          </a:stretch>
        </p:blipFill>
        <p:spPr>
          <a:xfrm>
            <a:off x="1946910" y="488950"/>
            <a:ext cx="7658100" cy="5880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45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071263-1A43-861F-52CB-9D55AF385B88}"/>
              </a:ext>
            </a:extLst>
          </p:cNvPr>
          <p:cNvPicPr>
            <a:picLocks noChangeAspect="1"/>
          </p:cNvPicPr>
          <p:nvPr/>
        </p:nvPicPr>
        <p:blipFill>
          <a:blip r:embed="rId2"/>
          <a:stretch>
            <a:fillRect/>
          </a:stretch>
        </p:blipFill>
        <p:spPr>
          <a:xfrm>
            <a:off x="283210" y="0"/>
            <a:ext cx="6063783" cy="68580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8F63EBE5-9A77-D82C-7C5A-DA9B1943614A}"/>
              </a:ext>
            </a:extLst>
          </p:cNvPr>
          <p:cNvPicPr>
            <a:picLocks noChangeAspect="1"/>
          </p:cNvPicPr>
          <p:nvPr/>
        </p:nvPicPr>
        <p:blipFill>
          <a:blip r:embed="rId3"/>
          <a:stretch>
            <a:fillRect/>
          </a:stretch>
        </p:blipFill>
        <p:spPr>
          <a:xfrm>
            <a:off x="5190490" y="1447800"/>
            <a:ext cx="6718300" cy="19812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5DD654DF-E556-FACB-83C4-839DA96BB1BC}"/>
              </a:ext>
            </a:extLst>
          </p:cNvPr>
          <p:cNvPicPr>
            <a:picLocks noChangeAspect="1"/>
          </p:cNvPicPr>
          <p:nvPr/>
        </p:nvPicPr>
        <p:blipFill>
          <a:blip r:embed="rId4"/>
          <a:stretch>
            <a:fillRect/>
          </a:stretch>
        </p:blipFill>
        <p:spPr>
          <a:xfrm>
            <a:off x="6995160" y="4463207"/>
            <a:ext cx="4526280" cy="100795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9760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dirty="0"/>
              <a:t>8.</a:t>
            </a:r>
            <a:r>
              <a:rPr lang="en-US" altLang="zh-CN" dirty="0"/>
              <a:t>4</a:t>
            </a:r>
            <a:r>
              <a:rPr lang="en-US" dirty="0"/>
              <a:t> </a:t>
            </a:r>
            <a:r>
              <a:rPr lang="zh-CN" altLang="en-US" dirty="0"/>
              <a:t>操作系统模块：</a:t>
            </a:r>
            <a:r>
              <a:rPr lang="en-US" altLang="zh-CN" dirty="0"/>
              <a:t>OS</a:t>
            </a:r>
            <a:r>
              <a:rPr lang="zh-CN" altLang="en-US" dirty="0"/>
              <a:t> </a:t>
            </a:r>
            <a:r>
              <a:rPr lang="en-US" altLang="zh-CN" dirty="0"/>
              <a:t>Module</a:t>
            </a:r>
            <a:endParaRPr lang="en-US" dirty="0"/>
          </a:p>
        </p:txBody>
      </p:sp>
    </p:spTree>
    <p:extLst>
      <p:ext uri="{BB962C8B-B14F-4D97-AF65-F5344CB8AC3E}">
        <p14:creationId xmlns:p14="http://schemas.microsoft.com/office/powerpoint/2010/main" val="9201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t>os</a:t>
            </a:r>
            <a:r>
              <a:rPr lang="zh-CN" altLang="en-US" dirty="0"/>
              <a:t>模块</a:t>
            </a:r>
            <a:endParaRPr lang="en-US" dirty="0"/>
          </a:p>
        </p:txBody>
      </p:sp>
      <p:sp>
        <p:nvSpPr>
          <p:cNvPr id="14" name="Content Placeholder 13"/>
          <p:cNvSpPr>
            <a:spLocks noGrp="1"/>
          </p:cNvSpPr>
          <p:nvPr>
            <p:ph idx="1"/>
          </p:nvPr>
        </p:nvSpPr>
        <p:spPr>
          <a:xfrm>
            <a:off x="1104900" y="1414220"/>
            <a:ext cx="10115873" cy="4196166"/>
          </a:xfrm>
        </p:spPr>
        <p:txBody>
          <a:bodyPr>
            <a:normAutofit/>
          </a:bodyPr>
          <a:lstStyle/>
          <a:p>
            <a:pPr>
              <a:lnSpc>
                <a:spcPct val="150000"/>
              </a:lnSpc>
            </a:pPr>
            <a:r>
              <a:rPr lang="zh-CN" altLang="en-US" sz="2400" dirty="0">
                <a:ea typeface="宋体" panose="02010600030101010101" pitchFamily="2" charset="-122"/>
                <a:cs typeface="Calibri" panose="020F0502020204030204" pitchFamily="34" charset="0"/>
              </a:rPr>
              <a:t>在</a:t>
            </a:r>
            <a:r>
              <a:rPr lang="en-US" altLang="zh-CN" sz="2400" dirty="0">
                <a:ea typeface="宋体" panose="02010600030101010101" pitchFamily="2" charset="-122"/>
                <a:cs typeface="Calibri" panose="020F0502020204030204" pitchFamily="34" charset="0"/>
              </a:rPr>
              <a:t>Python</a:t>
            </a:r>
            <a:r>
              <a:rPr lang="zh-CN" altLang="en-US" sz="2400" dirty="0">
                <a:ea typeface="宋体" panose="02010600030101010101" pitchFamily="2" charset="-122"/>
                <a:cs typeface="Calibri" panose="020F0502020204030204" pitchFamily="34" charset="0"/>
              </a:rPr>
              <a:t>中，</a:t>
            </a:r>
            <a:r>
              <a:rPr lang="en-US" altLang="zh-CN" sz="2400" dirty="0" err="1">
                <a:ea typeface="宋体" panose="02010600030101010101" pitchFamily="2" charset="-122"/>
                <a:cs typeface="Calibri" panose="020F0502020204030204" pitchFamily="34" charset="0"/>
              </a:rPr>
              <a:t>os</a:t>
            </a:r>
            <a:r>
              <a:rPr lang="zh-CN" altLang="en-US" sz="2400" dirty="0">
                <a:ea typeface="宋体" panose="02010600030101010101" pitchFamily="2" charset="-122"/>
                <a:cs typeface="Calibri" panose="020F0502020204030204" pitchFamily="34" charset="0"/>
              </a:rPr>
              <a:t>模块是一个提供与操作系统交互的接口的标准库模块。它允许用户执行许多与文件系统和进程相关的操作，从文件和目录的创建、删除、重命名，到获取系统信息和执行命令。</a:t>
            </a:r>
            <a:endParaRPr lang="en-US" altLang="zh-CN" sz="2400" dirty="0">
              <a:ea typeface="宋体" panose="02010600030101010101" pitchFamily="2" charset="-122"/>
              <a:cs typeface="Calibri" panose="020F0502020204030204" pitchFamily="34" charset="0"/>
            </a:endParaRPr>
          </a:p>
          <a:p>
            <a:pPr>
              <a:lnSpc>
                <a:spcPct val="150000"/>
              </a:lnSpc>
            </a:pPr>
            <a:r>
              <a:rPr lang="en-US" altLang="zh-CN" sz="2400" dirty="0" err="1">
                <a:ea typeface="宋体" panose="02010600030101010101" pitchFamily="2" charset="-122"/>
                <a:cs typeface="Calibri" panose="020F0502020204030204" pitchFamily="34" charset="0"/>
              </a:rPr>
              <a:t>os</a:t>
            </a:r>
            <a:r>
              <a:rPr lang="zh-CN" altLang="en-US" sz="2400" dirty="0">
                <a:ea typeface="宋体" panose="02010600030101010101" pitchFamily="2" charset="-122"/>
                <a:cs typeface="Calibri" panose="020F0502020204030204" pitchFamily="34" charset="0"/>
              </a:rPr>
              <a:t>模块的详细功能包括路径操作、目录和文件操作、系统信息、文件信息、执行命令和进程控制等。</a:t>
            </a:r>
            <a:endParaRPr lang="en-US" altLang="zh-CN" sz="2400" dirty="0">
              <a:ea typeface="宋体" panose="02010600030101010101" pitchFamily="2" charset="-122"/>
              <a:cs typeface="Calibri" panose="020F0502020204030204" pitchFamily="34" charset="0"/>
            </a:endParaRPr>
          </a:p>
          <a:p>
            <a:pPr>
              <a:lnSpc>
                <a:spcPct val="150000"/>
              </a:lnSpc>
            </a:pPr>
            <a:endParaRPr lang="en-US" altLang="zh-CN" sz="2000" dirty="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587596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E1B2E-5548-DB84-E622-75DA5A5BDE8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0436187-1916-CE17-2EEB-B348917B06F9}"/>
              </a:ext>
            </a:extLst>
          </p:cNvPr>
          <p:cNvPicPr>
            <a:picLocks noChangeAspect="1"/>
          </p:cNvPicPr>
          <p:nvPr/>
        </p:nvPicPr>
        <p:blipFill>
          <a:blip r:embed="rId3"/>
          <a:stretch>
            <a:fillRect/>
          </a:stretch>
        </p:blipFill>
        <p:spPr>
          <a:xfrm>
            <a:off x="918679" y="3765672"/>
            <a:ext cx="6756400" cy="2603500"/>
          </a:xfrm>
          <a:prstGeom prst="rect">
            <a:avLst/>
          </a:prstGeom>
          <a:effectLst>
            <a:outerShdw blurRad="63500" sx="102000" sy="102000" algn="ctr" rotWithShape="0">
              <a:prstClr val="black">
                <a:alpha val="40000"/>
              </a:prstClr>
            </a:outerShdw>
          </a:effectLst>
        </p:spPr>
      </p:pic>
      <p:sp>
        <p:nvSpPr>
          <p:cNvPr id="13" name="Title 12">
            <a:extLst>
              <a:ext uri="{FF2B5EF4-FFF2-40B4-BE49-F238E27FC236}">
                <a16:creationId xmlns:a16="http://schemas.microsoft.com/office/drawing/2014/main" id="{82269C9C-25C4-AA7B-7969-752461E9AAE4}"/>
              </a:ext>
            </a:extLst>
          </p:cNvPr>
          <p:cNvSpPr>
            <a:spLocks noGrp="1"/>
          </p:cNvSpPr>
          <p:nvPr>
            <p:ph type="title"/>
          </p:nvPr>
        </p:nvSpPr>
        <p:spPr/>
        <p:txBody>
          <a:bodyPr vert="horz" lIns="0" tIns="45720" rIns="0" bIns="45720" rtlCol="0" anchor="b">
            <a:normAutofit/>
          </a:bodyPr>
          <a:lstStyle/>
          <a:p>
            <a:r>
              <a:rPr lang="en-US" altLang="zh-CN" dirty="0" err="1"/>
              <a:t>os</a:t>
            </a:r>
            <a:r>
              <a:rPr lang="zh-CN" altLang="en-US" dirty="0"/>
              <a:t>模块的主要功能</a:t>
            </a:r>
            <a:endParaRPr lang="en-US" dirty="0"/>
          </a:p>
        </p:txBody>
      </p:sp>
      <p:pic>
        <p:nvPicPr>
          <p:cNvPr id="10" name="Picture 9">
            <a:extLst>
              <a:ext uri="{FF2B5EF4-FFF2-40B4-BE49-F238E27FC236}">
                <a16:creationId xmlns:a16="http://schemas.microsoft.com/office/drawing/2014/main" id="{96FFCDCE-82C5-6618-4018-838344D2D2C2}"/>
              </a:ext>
            </a:extLst>
          </p:cNvPr>
          <p:cNvPicPr>
            <a:picLocks noChangeAspect="1"/>
          </p:cNvPicPr>
          <p:nvPr/>
        </p:nvPicPr>
        <p:blipFill>
          <a:blip r:embed="rId4"/>
          <a:stretch>
            <a:fillRect/>
          </a:stretch>
        </p:blipFill>
        <p:spPr>
          <a:xfrm>
            <a:off x="5399848" y="364842"/>
            <a:ext cx="5848909" cy="4253752"/>
          </a:xfrm>
          <a:prstGeom prst="rect">
            <a:avLst/>
          </a:prstGeom>
          <a:effectLst>
            <a:outerShdw blurRad="63500" sx="102000" sy="102000" algn="ctr" rotWithShape="0">
              <a:prstClr val="black">
                <a:alpha val="40000"/>
              </a:prstClr>
            </a:outerShdw>
          </a:effectLst>
        </p:spPr>
      </p:pic>
      <p:sp>
        <p:nvSpPr>
          <p:cNvPr id="15" name="TextBox 14">
            <a:extLst>
              <a:ext uri="{FF2B5EF4-FFF2-40B4-BE49-F238E27FC236}">
                <a16:creationId xmlns:a16="http://schemas.microsoft.com/office/drawing/2014/main" id="{CBBF89AB-3899-630D-51D5-510A51BF0860}"/>
              </a:ext>
            </a:extLst>
          </p:cNvPr>
          <p:cNvSpPr txBox="1"/>
          <p:nvPr/>
        </p:nvSpPr>
        <p:spPr>
          <a:xfrm>
            <a:off x="1104900" y="2060392"/>
            <a:ext cx="2855562" cy="400110"/>
          </a:xfrm>
          <a:prstGeom prst="rect">
            <a:avLst/>
          </a:prstGeom>
          <a:noFill/>
        </p:spPr>
        <p:txBody>
          <a:bodyPr wrap="square">
            <a:spAutoFit/>
          </a:bodyPr>
          <a:lstStyle/>
          <a:p>
            <a:pPr marL="285750" indent="-285750">
              <a:lnSpc>
                <a:spcPct val="100000"/>
              </a:lnSpc>
              <a:buFont typeface="Arial" panose="020B0604020202020204" pitchFamily="34" charset="0"/>
              <a:buChar char="•"/>
            </a:pPr>
            <a:r>
              <a:rPr lang="zh-CN" altLang="en-US" sz="2000" dirty="0">
                <a:ea typeface="宋体" panose="02010600030101010101" pitchFamily="2" charset="-122"/>
                <a:cs typeface="Calibri" panose="020F0502020204030204" pitchFamily="34" charset="0"/>
              </a:rPr>
              <a:t>导入模块：</a:t>
            </a:r>
            <a:r>
              <a:rPr lang="en-US" altLang="zh-CN" sz="2000" b="1" dirty="0">
                <a:solidFill>
                  <a:srgbClr val="7030A0"/>
                </a:solidFill>
                <a:ea typeface="宋体" panose="02010600030101010101" pitchFamily="2" charset="-122"/>
                <a:cs typeface="Calibri" panose="020F0502020204030204" pitchFamily="34" charset="0"/>
              </a:rPr>
              <a:t>import </a:t>
            </a:r>
            <a:r>
              <a:rPr lang="en-US" altLang="zh-CN" sz="2000" b="1" dirty="0" err="1">
                <a:solidFill>
                  <a:srgbClr val="7030A0"/>
                </a:solidFill>
                <a:ea typeface="宋体" panose="02010600030101010101" pitchFamily="2" charset="-122"/>
                <a:cs typeface="Calibri" panose="020F0502020204030204" pitchFamily="34" charset="0"/>
              </a:rPr>
              <a:t>os</a:t>
            </a:r>
            <a:endParaRPr lang="en-US" altLang="zh-CN" sz="2000" b="1" dirty="0">
              <a:solidFill>
                <a:srgbClr val="7030A0"/>
              </a:solidFill>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258800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err="1"/>
              <a:t>os</a:t>
            </a:r>
            <a:r>
              <a:rPr lang="zh-CN" altLang="en-US" dirty="0"/>
              <a:t>模块示例</a:t>
            </a:r>
            <a:endParaRPr lang="en-US" dirty="0"/>
          </a:p>
        </p:txBody>
      </p:sp>
      <p:pic>
        <p:nvPicPr>
          <p:cNvPr id="5" name="Picture 4">
            <a:extLst>
              <a:ext uri="{FF2B5EF4-FFF2-40B4-BE49-F238E27FC236}">
                <a16:creationId xmlns:a16="http://schemas.microsoft.com/office/drawing/2014/main" id="{90EAB411-EEBA-053E-9766-00B73FD73C44}"/>
              </a:ext>
            </a:extLst>
          </p:cNvPr>
          <p:cNvPicPr>
            <a:picLocks noChangeAspect="1"/>
          </p:cNvPicPr>
          <p:nvPr/>
        </p:nvPicPr>
        <p:blipFill>
          <a:blip r:embed="rId3"/>
          <a:stretch>
            <a:fillRect/>
          </a:stretch>
        </p:blipFill>
        <p:spPr>
          <a:xfrm>
            <a:off x="881878" y="1462571"/>
            <a:ext cx="4361696" cy="4389302"/>
          </a:xfrm>
          <a:prstGeom prst="rect">
            <a:avLst/>
          </a:prstGeom>
        </p:spPr>
      </p:pic>
      <p:pic>
        <p:nvPicPr>
          <p:cNvPr id="7" name="Picture 6">
            <a:extLst>
              <a:ext uri="{FF2B5EF4-FFF2-40B4-BE49-F238E27FC236}">
                <a16:creationId xmlns:a16="http://schemas.microsoft.com/office/drawing/2014/main" id="{C44F8A81-5F83-F410-1D8A-60EB88335FA5}"/>
              </a:ext>
            </a:extLst>
          </p:cNvPr>
          <p:cNvPicPr>
            <a:picLocks noChangeAspect="1"/>
          </p:cNvPicPr>
          <p:nvPr/>
        </p:nvPicPr>
        <p:blipFill>
          <a:blip r:embed="rId4"/>
          <a:stretch>
            <a:fillRect/>
          </a:stretch>
        </p:blipFill>
        <p:spPr>
          <a:xfrm>
            <a:off x="5730066" y="1828046"/>
            <a:ext cx="5580056" cy="3658353"/>
          </a:xfrm>
          <a:prstGeom prst="rect">
            <a:avLst/>
          </a:prstGeom>
        </p:spPr>
      </p:pic>
    </p:spTree>
    <p:extLst>
      <p:ext uri="{BB962C8B-B14F-4D97-AF65-F5344CB8AC3E}">
        <p14:creationId xmlns:p14="http://schemas.microsoft.com/office/powerpoint/2010/main" val="72285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dirty="0"/>
              <a:t>8.</a:t>
            </a:r>
            <a:r>
              <a:rPr lang="en-US" altLang="zh-CN" dirty="0"/>
              <a:t>5</a:t>
            </a:r>
            <a:r>
              <a:rPr lang="en-US" dirty="0"/>
              <a:t> </a:t>
            </a:r>
            <a:r>
              <a:rPr lang="zh-CN" altLang="en-US" dirty="0"/>
              <a:t>系统模块：</a:t>
            </a:r>
            <a:r>
              <a:rPr lang="en-US" altLang="zh-CN" dirty="0"/>
              <a:t>sys</a:t>
            </a:r>
            <a:r>
              <a:rPr lang="zh-CN" altLang="en-US" dirty="0"/>
              <a:t> </a:t>
            </a:r>
            <a:r>
              <a:rPr lang="en-US" altLang="zh-CN" dirty="0"/>
              <a:t>Module</a:t>
            </a:r>
            <a:endParaRPr lang="en-US" dirty="0"/>
          </a:p>
        </p:txBody>
      </p:sp>
    </p:spTree>
    <p:extLst>
      <p:ext uri="{BB962C8B-B14F-4D97-AF65-F5344CB8AC3E}">
        <p14:creationId xmlns:p14="http://schemas.microsoft.com/office/powerpoint/2010/main" val="94698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sys</a:t>
            </a:r>
            <a:r>
              <a:rPr lang="zh-CN" altLang="en-US" dirty="0"/>
              <a:t>模块</a:t>
            </a:r>
            <a:endParaRPr lang="en-US" dirty="0"/>
          </a:p>
        </p:txBody>
      </p:sp>
      <p:sp>
        <p:nvSpPr>
          <p:cNvPr id="14" name="Content Placeholder 13"/>
          <p:cNvSpPr>
            <a:spLocks noGrp="1"/>
          </p:cNvSpPr>
          <p:nvPr>
            <p:ph idx="1"/>
          </p:nvPr>
        </p:nvSpPr>
        <p:spPr>
          <a:xfrm>
            <a:off x="1104900" y="1299463"/>
            <a:ext cx="10217524" cy="1592451"/>
          </a:xfrm>
        </p:spPr>
        <p:txBody>
          <a:bodyPr>
            <a:normAutofit/>
          </a:bodyPr>
          <a:lstStyle/>
          <a:p>
            <a:pPr>
              <a:lnSpc>
                <a:spcPct val="100000"/>
              </a:lnSpc>
            </a:pPr>
            <a:r>
              <a:rPr lang="en" altLang="zh-CN" sz="2400" dirty="0">
                <a:ea typeface="宋体" panose="02010600030101010101" pitchFamily="2" charset="-122"/>
                <a:cs typeface="Calibri" panose="020F0502020204030204" pitchFamily="34" charset="0"/>
              </a:rPr>
              <a:t>Python</a:t>
            </a:r>
            <a:r>
              <a:rPr lang="zh-CN" altLang="en-US" sz="2400" dirty="0">
                <a:ea typeface="宋体" panose="02010600030101010101" pitchFamily="2" charset="-122"/>
                <a:cs typeface="Calibri" panose="020F0502020204030204" pitchFamily="34" charset="0"/>
              </a:rPr>
              <a:t>的</a:t>
            </a:r>
            <a:r>
              <a:rPr lang="en" altLang="zh-CN" sz="2400" dirty="0">
                <a:ea typeface="宋体" panose="02010600030101010101" pitchFamily="2" charset="-122"/>
                <a:cs typeface="Calibri" panose="020F0502020204030204" pitchFamily="34" charset="0"/>
              </a:rPr>
              <a:t>sys</a:t>
            </a:r>
            <a:r>
              <a:rPr lang="zh-CN" altLang="en-US" sz="2400" dirty="0">
                <a:ea typeface="宋体" panose="02010600030101010101" pitchFamily="2" charset="-122"/>
                <a:cs typeface="Calibri" panose="020F0502020204030204" pitchFamily="34" charset="0"/>
              </a:rPr>
              <a:t>模块是一个提供访问</a:t>
            </a:r>
            <a:r>
              <a:rPr lang="en" altLang="zh-CN" sz="2400" dirty="0">
                <a:ea typeface="宋体" panose="02010600030101010101" pitchFamily="2" charset="-122"/>
                <a:cs typeface="Calibri" panose="020F0502020204030204" pitchFamily="34" charset="0"/>
              </a:rPr>
              <a:t>Python</a:t>
            </a:r>
            <a:r>
              <a:rPr lang="zh-CN" altLang="en-US" sz="2400" dirty="0">
                <a:ea typeface="宋体" panose="02010600030101010101" pitchFamily="2" charset="-122"/>
                <a:cs typeface="Calibri" panose="020F0502020204030204" pitchFamily="34" charset="0"/>
              </a:rPr>
              <a:t>解释器内部变量和函数的标准库模块，它允许用户与解释器进行交互，获取和修改系统级别的配置和信息。</a:t>
            </a:r>
            <a:endParaRPr lang="en-US" altLang="zh-CN" sz="2400" dirty="0">
              <a:ea typeface="宋体" panose="02010600030101010101" pitchFamily="2" charset="-122"/>
              <a:cs typeface="Calibri" panose="020F0502020204030204" pitchFamily="34" charset="0"/>
            </a:endParaRPr>
          </a:p>
          <a:p>
            <a:pPr>
              <a:lnSpc>
                <a:spcPct val="100000"/>
              </a:lnSpc>
            </a:pPr>
            <a:r>
              <a:rPr lang="zh-CN" altLang="en-US" sz="2400" dirty="0">
                <a:ea typeface="宋体" panose="02010600030101010101" pitchFamily="2" charset="-122"/>
                <a:cs typeface="Calibri" panose="020F0502020204030204" pitchFamily="34" charset="0"/>
              </a:rPr>
              <a:t>导入模块：</a:t>
            </a:r>
            <a:r>
              <a:rPr lang="en-US" altLang="zh-CN" sz="2400" b="1" dirty="0">
                <a:solidFill>
                  <a:srgbClr val="7030A0"/>
                </a:solidFill>
                <a:ea typeface="宋体" panose="02010600030101010101" pitchFamily="2" charset="-122"/>
                <a:cs typeface="Calibri" panose="020F0502020204030204" pitchFamily="34" charset="0"/>
              </a:rPr>
              <a:t>import sys</a:t>
            </a:r>
          </a:p>
          <a:p>
            <a:pPr marL="0" indent="0">
              <a:lnSpc>
                <a:spcPct val="100000"/>
              </a:lnSpc>
              <a:buNone/>
            </a:pPr>
            <a:endParaRPr lang="en-US" altLang="zh-CN" sz="2400" b="1" dirty="0">
              <a:ea typeface="宋体" panose="02010600030101010101" pitchFamily="2" charset="-122"/>
              <a:cs typeface="Calibri" panose="020F0502020204030204" pitchFamily="34" charset="0"/>
            </a:endParaRPr>
          </a:p>
          <a:p>
            <a:pPr>
              <a:lnSpc>
                <a:spcPct val="100000"/>
              </a:lnSpc>
            </a:pPr>
            <a:endParaRPr lang="en-US" altLang="zh-CN" sz="2000" dirty="0">
              <a:ea typeface="宋体" panose="02010600030101010101" pitchFamily="2" charset="-122"/>
              <a:cs typeface="Calibri" panose="020F0502020204030204" pitchFamily="34" charset="0"/>
            </a:endParaRPr>
          </a:p>
        </p:txBody>
      </p:sp>
      <p:pic>
        <p:nvPicPr>
          <p:cNvPr id="2" name="Picture 1">
            <a:extLst>
              <a:ext uri="{FF2B5EF4-FFF2-40B4-BE49-F238E27FC236}">
                <a16:creationId xmlns:a16="http://schemas.microsoft.com/office/drawing/2014/main" id="{40C0EEBB-808C-02F0-F7EE-89B91A3DD8D9}"/>
              </a:ext>
            </a:extLst>
          </p:cNvPr>
          <p:cNvPicPr>
            <a:picLocks noChangeAspect="1"/>
          </p:cNvPicPr>
          <p:nvPr/>
        </p:nvPicPr>
        <p:blipFill>
          <a:blip r:embed="rId3"/>
          <a:stretch>
            <a:fillRect/>
          </a:stretch>
        </p:blipFill>
        <p:spPr>
          <a:xfrm>
            <a:off x="691776" y="2775866"/>
            <a:ext cx="6883400" cy="20320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962BA737-8DE9-66DC-D27F-3972D48CAC3D}"/>
              </a:ext>
            </a:extLst>
          </p:cNvPr>
          <p:cNvPicPr>
            <a:picLocks noChangeAspect="1"/>
          </p:cNvPicPr>
          <p:nvPr/>
        </p:nvPicPr>
        <p:blipFill>
          <a:blip r:embed="rId4"/>
          <a:stretch>
            <a:fillRect/>
          </a:stretch>
        </p:blipFill>
        <p:spPr>
          <a:xfrm>
            <a:off x="691776" y="5129037"/>
            <a:ext cx="6705600" cy="15113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159EF99B-71C1-FB9D-62B4-58A69262E811}"/>
              </a:ext>
            </a:extLst>
          </p:cNvPr>
          <p:cNvPicPr>
            <a:picLocks noChangeAspect="1"/>
          </p:cNvPicPr>
          <p:nvPr/>
        </p:nvPicPr>
        <p:blipFill>
          <a:blip r:embed="rId5"/>
          <a:stretch>
            <a:fillRect/>
          </a:stretch>
        </p:blipFill>
        <p:spPr>
          <a:xfrm>
            <a:off x="6806351" y="4484364"/>
            <a:ext cx="5284898" cy="128934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3323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sys</a:t>
            </a:r>
            <a:r>
              <a:rPr lang="zh-CN" altLang="en-US" dirty="0"/>
              <a:t>模块的主要功能</a:t>
            </a:r>
            <a:endParaRPr lang="en-US" dirty="0"/>
          </a:p>
        </p:txBody>
      </p:sp>
      <p:sp>
        <p:nvSpPr>
          <p:cNvPr id="14" name="Content Placeholder 13"/>
          <p:cNvSpPr>
            <a:spLocks noGrp="1"/>
          </p:cNvSpPr>
          <p:nvPr>
            <p:ph idx="1"/>
          </p:nvPr>
        </p:nvSpPr>
        <p:spPr>
          <a:xfrm>
            <a:off x="970428" y="1530532"/>
            <a:ext cx="9980682" cy="5251268"/>
          </a:xfrm>
        </p:spPr>
        <p:txBody>
          <a:bodyPr>
            <a:noAutofit/>
          </a:bodyPr>
          <a:lstStyle/>
          <a:p>
            <a:pPr lvl="1">
              <a:lnSpc>
                <a:spcPct val="100000"/>
              </a:lnSpc>
              <a:buFont typeface="Wingdings" pitchFamily="2" charset="2"/>
              <a:buChar char="p"/>
            </a:pPr>
            <a:r>
              <a:rPr lang="zh-CN" altLang="en-US" sz="2400" b="1" dirty="0">
                <a:latin typeface="Consolas" panose="020B0609020204030204" pitchFamily="49" charset="0"/>
                <a:ea typeface="宋体" panose="02010600030101010101" pitchFamily="2" charset="-122"/>
                <a:cs typeface="Calibri" panose="020F0502020204030204" pitchFamily="34" charset="0"/>
              </a:rPr>
              <a:t>命令行参数</a:t>
            </a:r>
            <a:endParaRPr lang="en-US" altLang="zh-CN" sz="2400" b="1"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sys.argv</a:t>
            </a:r>
            <a:r>
              <a:rPr lang="zh-CN" altLang="en-US" sz="2000" dirty="0">
                <a:latin typeface="Consolas" panose="020B0609020204030204" pitchFamily="49" charset="0"/>
                <a:ea typeface="宋体" panose="02010600030101010101" pitchFamily="2" charset="-122"/>
                <a:cs typeface="Calibri" panose="020F0502020204030204" pitchFamily="34" charset="0"/>
              </a:rPr>
              <a:t>：包含命令行参数的列表，第一个元素是脚本名称。</a:t>
            </a:r>
          </a:p>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sys.argv</a:t>
            </a:r>
            <a:r>
              <a:rPr lang="en-US" altLang="zh-CN" sz="2000" dirty="0">
                <a:latin typeface="Consolas" panose="020B0609020204030204" pitchFamily="49" charset="0"/>
                <a:ea typeface="宋体" panose="02010600030101010101" pitchFamily="2" charset="-122"/>
                <a:cs typeface="Calibri" panose="020F0502020204030204" pitchFamily="34" charset="0"/>
              </a:rPr>
              <a:t>[1:]</a:t>
            </a:r>
            <a:r>
              <a:rPr lang="zh-CN" altLang="en-US" sz="2000" dirty="0">
                <a:latin typeface="Consolas" panose="020B0609020204030204" pitchFamily="49" charset="0"/>
                <a:ea typeface="宋体" panose="02010600030101010101" pitchFamily="2" charset="-122"/>
                <a:cs typeface="Calibri" panose="020F0502020204030204" pitchFamily="34" charset="0"/>
              </a:rPr>
              <a:t>：获取除脚本名称外的命令行参数。</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Script Name: /Users/Administer/anaconda3/lib/python3.10/site-packages/</a:t>
            </a:r>
            <a:r>
              <a:rPr lang="en-US" altLang="zh-CN" sz="2000" dirty="0" err="1">
                <a:latin typeface="Consolas" panose="020B0609020204030204" pitchFamily="49" charset="0"/>
                <a:ea typeface="宋体" panose="02010600030101010101" pitchFamily="2" charset="-122"/>
                <a:cs typeface="Calibri" panose="020F0502020204030204" pitchFamily="34" charset="0"/>
              </a:rPr>
              <a:t>ipykernel_launcher.py</a:t>
            </a:r>
            <a:r>
              <a:rPr lang="en-US" altLang="zh-CN" sz="2000" dirty="0">
                <a:latin typeface="Consolas" panose="020B0609020204030204" pitchFamily="49" charset="0"/>
                <a:ea typeface="宋体" panose="02010600030101010101" pitchFamily="2" charset="-122"/>
                <a:cs typeface="Calibri" panose="020F0502020204030204" pitchFamily="34" charset="0"/>
              </a:rPr>
              <a:t> </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Arguments: ['--f=/Users/ Administer /Library/</a:t>
            </a:r>
            <a:r>
              <a:rPr lang="en-US" altLang="zh-CN" sz="2000" dirty="0" err="1">
                <a:latin typeface="Consolas" panose="020B0609020204030204" pitchFamily="49" charset="0"/>
                <a:ea typeface="宋体" panose="02010600030101010101" pitchFamily="2" charset="-122"/>
                <a:cs typeface="Calibri" panose="020F0502020204030204" pitchFamily="34" charset="0"/>
              </a:rPr>
              <a:t>Jupyter</a:t>
            </a:r>
            <a:r>
              <a:rPr lang="en-US" altLang="zh-CN" sz="2000" dirty="0">
                <a:latin typeface="Consolas" panose="020B0609020204030204" pitchFamily="49" charset="0"/>
                <a:ea typeface="宋体" panose="02010600030101010101" pitchFamily="2" charset="-122"/>
                <a:cs typeface="Calibri" panose="020F0502020204030204" pitchFamily="34" charset="0"/>
              </a:rPr>
              <a:t>/runtime/kernel-v2-14271WCncDknegg4S.json']</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444709306"/>
              </p:ext>
            </p:extLst>
          </p:nvPr>
        </p:nvGraphicFramePr>
        <p:xfrm>
          <a:off x="1418737" y="2858446"/>
          <a:ext cx="9353005" cy="189407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script_name</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sys.argv</a:t>
                      </a:r>
                      <a:r>
                        <a:rPr lang="en" altLang="zh-CN" sz="2000" b="0" kern="100" dirty="0">
                          <a:solidFill>
                            <a:schemeClr val="tx2"/>
                          </a:solidFill>
                          <a:latin typeface="Consolas" panose="020B0609020204030204" pitchFamily="49" charset="0"/>
                          <a:ea typeface="+mn-ea"/>
                          <a:cs typeface="Times New Roman" panose="02020603050405020304" pitchFamily="18" charset="0"/>
                        </a:rPr>
                        <a:t>[0]   # </a:t>
                      </a:r>
                      <a:r>
                        <a:rPr lang="zh-CN" altLang="en-US" sz="2000" b="0" kern="100" dirty="0">
                          <a:solidFill>
                            <a:schemeClr val="tx2"/>
                          </a:solidFill>
                          <a:latin typeface="Consolas" panose="020B0609020204030204" pitchFamily="49" charset="0"/>
                          <a:ea typeface="+mn-ea"/>
                          <a:cs typeface="Times New Roman" panose="02020603050405020304" pitchFamily="18" charset="0"/>
                        </a:rPr>
                        <a:t>脚本名称</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arguments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sys.argv</a:t>
                      </a:r>
                      <a:r>
                        <a:rPr lang="en" altLang="zh-CN" sz="2000" b="0" kern="100" dirty="0">
                          <a:solidFill>
                            <a:schemeClr val="tx2"/>
                          </a:solidFill>
                          <a:latin typeface="Consolas" panose="020B0609020204030204" pitchFamily="49" charset="0"/>
                          <a:ea typeface="+mn-ea"/>
                          <a:cs typeface="Times New Roman" panose="02020603050405020304" pitchFamily="18" charset="0"/>
                        </a:rPr>
                        <a:t>[1:]    # </a:t>
                      </a:r>
                      <a:r>
                        <a:rPr lang="zh-CN" altLang="en-US" sz="2000" b="0" kern="100" dirty="0">
                          <a:solidFill>
                            <a:schemeClr val="tx2"/>
                          </a:solidFill>
                          <a:latin typeface="Consolas" panose="020B0609020204030204" pitchFamily="49" charset="0"/>
                          <a:ea typeface="+mn-ea"/>
                          <a:cs typeface="Times New Roman" panose="02020603050405020304" pitchFamily="18" charset="0"/>
                        </a:rPr>
                        <a:t>命令行参数</a:t>
                      </a:r>
                    </a:p>
                    <a:p>
                      <a:pPr marL="0" lvl="1" algn="just" defTabSz="914400" rtl="0" eaLnBrk="1" latinLnBrk="0" hangingPunct="1">
                        <a:lnSpc>
                          <a:spcPct val="120000"/>
                        </a:lnSpc>
                      </a:pP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print("Script Name:",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script_name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print("Arguments:", arguments)</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261959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sys</a:t>
            </a:r>
            <a:r>
              <a:rPr lang="zh-CN" altLang="en-US" dirty="0"/>
              <a:t>模块的主要功能</a:t>
            </a:r>
            <a:endParaRPr lang="en-US" dirty="0"/>
          </a:p>
        </p:txBody>
      </p:sp>
      <p:sp>
        <p:nvSpPr>
          <p:cNvPr id="14" name="Content Placeholder 13"/>
          <p:cNvSpPr>
            <a:spLocks noGrp="1"/>
          </p:cNvSpPr>
          <p:nvPr>
            <p:ph idx="1"/>
          </p:nvPr>
        </p:nvSpPr>
        <p:spPr>
          <a:xfrm>
            <a:off x="970428" y="1530532"/>
            <a:ext cx="9980682" cy="5251268"/>
          </a:xfrm>
        </p:spPr>
        <p:txBody>
          <a:bodyPr>
            <a:noAutofit/>
          </a:bodyPr>
          <a:lstStyle/>
          <a:p>
            <a:pPr lvl="1">
              <a:lnSpc>
                <a:spcPct val="100000"/>
              </a:lnSpc>
              <a:buFont typeface="Wingdings" pitchFamily="2" charset="2"/>
              <a:buChar char="p"/>
            </a:pPr>
            <a:r>
              <a:rPr lang="zh-CN" altLang="en-US" sz="2400" b="1" dirty="0">
                <a:latin typeface="Consolas" panose="020B0609020204030204" pitchFamily="49" charset="0"/>
                <a:ea typeface="宋体" panose="02010600030101010101" pitchFamily="2" charset="-122"/>
                <a:cs typeface="Calibri" panose="020F0502020204030204" pitchFamily="34" charset="0"/>
              </a:rPr>
              <a:t>退出程序</a:t>
            </a:r>
            <a:endParaRPr lang="en-US" altLang="zh-CN" sz="2400" b="1"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err="1">
                <a:latin typeface="Consolas" panose="020B0609020204030204" pitchFamily="49" charset="0"/>
                <a:ea typeface="宋体" panose="02010600030101010101" pitchFamily="2" charset="-122"/>
                <a:cs typeface="Calibri" panose="020F0502020204030204" pitchFamily="34" charset="0"/>
              </a:rPr>
              <a:t>SystemExit</a:t>
            </a:r>
            <a:r>
              <a:rPr lang="en-US" altLang="zh-CN" sz="2000" dirty="0">
                <a:latin typeface="Consolas" panose="020B0609020204030204" pitchFamily="49" charset="0"/>
                <a:ea typeface="宋体" panose="02010600030101010101" pitchFamily="2" charset="-122"/>
                <a:cs typeface="Calibri" panose="020F0502020204030204" pitchFamily="34" charset="0"/>
              </a:rPr>
              <a:t>: This program is exiting.</a:t>
            </a: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buFont typeface="Wingdings" pitchFamily="2" charset="2"/>
              <a:buChar char="p"/>
            </a:pPr>
            <a:r>
              <a:rPr lang="zh-CN" altLang="en-US" sz="2400" b="1" dirty="0">
                <a:latin typeface="Consolas" panose="020B0609020204030204" pitchFamily="49" charset="0"/>
                <a:ea typeface="宋体" panose="02010600030101010101" pitchFamily="2" charset="-122"/>
                <a:cs typeface="Calibri" panose="020F0502020204030204" pitchFamily="34" charset="0"/>
              </a:rPr>
              <a:t>标准输入输出</a:t>
            </a:r>
            <a:endParaRPr lang="en-US" altLang="zh-CN" sz="2400" b="1"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Hello, </a:t>
            </a:r>
            <a:r>
              <a:rPr lang="en-US" altLang="zh-CN" sz="2000" dirty="0" err="1">
                <a:latin typeface="Consolas" panose="020B0609020204030204" pitchFamily="49" charset="0"/>
                <a:ea typeface="宋体" panose="02010600030101010101" pitchFamily="2" charset="-122"/>
                <a:cs typeface="Calibri" panose="020F0502020204030204" pitchFamily="34" charset="0"/>
              </a:rPr>
              <a:t>stdout</a:t>
            </a:r>
            <a:r>
              <a:rPr lang="en-US" altLang="zh-CN" sz="2000" dirty="0">
                <a:latin typeface="Consolas" panose="020B0609020204030204" pitchFamily="49" charset="0"/>
                <a:ea typeface="宋体" panose="02010600030101010101" pitchFamily="2" charset="-122"/>
                <a:cs typeface="Calibri" panose="020F0502020204030204" pitchFamily="34" charset="0"/>
              </a:rPr>
              <a:t>!</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This is an error!</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nvGraphicFramePr>
        <p:xfrm>
          <a:off x="1418738" y="2078517"/>
          <a:ext cx="9353005" cy="79679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退出程序</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sys.exit</a:t>
                      </a:r>
                      <a:r>
                        <a:rPr lang="en" altLang="zh-CN" sz="2000" b="0" kern="100" dirty="0">
                          <a:solidFill>
                            <a:schemeClr val="tx2"/>
                          </a:solidFill>
                          <a:latin typeface="Consolas" panose="020B0609020204030204" pitchFamily="49" charset="0"/>
                          <a:ea typeface="+mn-ea"/>
                          <a:cs typeface="Times New Roman" panose="02020603050405020304" pitchFamily="18" charset="0"/>
                        </a:rPr>
                        <a:t>("This program is exiting.")</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a:extLst>
              <a:ext uri="{FF2B5EF4-FFF2-40B4-BE49-F238E27FC236}">
                <a16:creationId xmlns:a16="http://schemas.microsoft.com/office/drawing/2014/main" id="{89A384A5-A51D-1945-8232-7C4D126811EA}"/>
              </a:ext>
            </a:extLst>
          </p:cNvPr>
          <p:cNvGraphicFramePr>
            <a:graphicFrameLocks noGrp="1"/>
          </p:cNvGraphicFramePr>
          <p:nvPr>
            <p:extLst>
              <p:ext uri="{D42A27DB-BD31-4B8C-83A1-F6EECF244321}">
                <p14:modId xmlns:p14="http://schemas.microsoft.com/office/powerpoint/2010/main" val="1803432392"/>
              </p:ext>
            </p:extLst>
          </p:nvPr>
        </p:nvGraphicFramePr>
        <p:xfrm>
          <a:off x="1418738" y="4483909"/>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与标准输入、输出和错误进行交互</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sys.stdout.write</a:t>
                      </a:r>
                      <a:r>
                        <a:rPr lang="en" altLang="zh-CN" sz="2000" b="0" kern="100" dirty="0">
                          <a:solidFill>
                            <a:schemeClr val="tx2"/>
                          </a:solidFill>
                          <a:latin typeface="Consolas" panose="020B0609020204030204" pitchFamily="49" charset="0"/>
                          <a:ea typeface="+mn-ea"/>
                          <a:cs typeface="Times New Roman" panose="02020603050405020304" pitchFamily="18" charset="0"/>
                        </a:rPr>
                        <a:t>("Hello,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stdout</a:t>
                      </a:r>
                      <a:r>
                        <a:rPr lang="en" altLang="zh-CN" sz="2000" b="0" kern="100" dirty="0">
                          <a:solidFill>
                            <a:schemeClr val="tx2"/>
                          </a:solidFill>
                          <a:latin typeface="Consolas" panose="020B0609020204030204" pitchFamily="49" charset="0"/>
                          <a:ea typeface="+mn-ea"/>
                          <a:cs typeface="Times New Roman" panose="02020603050405020304" pitchFamily="18" charset="0"/>
                        </a:rPr>
                        <a:t>!\n")</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sys.stderr.write</a:t>
                      </a:r>
                      <a:r>
                        <a:rPr lang="en" altLang="zh-CN" sz="2000" b="0" kern="100" dirty="0">
                          <a:solidFill>
                            <a:schemeClr val="tx2"/>
                          </a:solidFill>
                          <a:latin typeface="Consolas" panose="020B0609020204030204" pitchFamily="49" charset="0"/>
                          <a:ea typeface="+mn-ea"/>
                          <a:cs typeface="Times New Roman" panose="02020603050405020304" pitchFamily="18" charset="0"/>
                        </a:rPr>
                        <a:t>("This is an error!\n")</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60098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sys</a:t>
            </a:r>
            <a:r>
              <a:rPr lang="zh-CN" altLang="en-US" dirty="0"/>
              <a:t>模块的主要功能</a:t>
            </a:r>
            <a:endParaRPr lang="en-US" dirty="0"/>
          </a:p>
        </p:txBody>
      </p:sp>
      <p:sp>
        <p:nvSpPr>
          <p:cNvPr id="14" name="Content Placeholder 13"/>
          <p:cNvSpPr>
            <a:spLocks noGrp="1"/>
          </p:cNvSpPr>
          <p:nvPr>
            <p:ph idx="1"/>
          </p:nvPr>
        </p:nvSpPr>
        <p:spPr>
          <a:xfrm>
            <a:off x="970428" y="1530532"/>
            <a:ext cx="9980682" cy="5251268"/>
          </a:xfrm>
        </p:spPr>
        <p:txBody>
          <a:bodyPr>
            <a:noAutofit/>
          </a:bodyPr>
          <a:lstStyle/>
          <a:p>
            <a:pPr lvl="1">
              <a:lnSpc>
                <a:spcPct val="100000"/>
              </a:lnSpc>
              <a:buFont typeface="Wingdings" pitchFamily="2" charset="2"/>
              <a:buChar char="p"/>
            </a:pPr>
            <a:r>
              <a:rPr lang="zh-CN" altLang="en-US" sz="2400" b="1" dirty="0">
                <a:latin typeface="Consolas" panose="020B0609020204030204" pitchFamily="49" charset="0"/>
                <a:ea typeface="宋体" panose="02010600030101010101" pitchFamily="2" charset="-122"/>
                <a:cs typeface="Calibri" panose="020F0502020204030204" pitchFamily="34" charset="0"/>
              </a:rPr>
              <a:t>模块导入路径</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3492057860"/>
              </p:ext>
            </p:extLst>
          </p:nvPr>
        </p:nvGraphicFramePr>
        <p:xfrm>
          <a:off x="1418738" y="2078517"/>
          <a:ext cx="9353005" cy="445439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zh-CN" altLang="en-US" sz="2000" b="0" kern="100" dirty="0">
                          <a:solidFill>
                            <a:schemeClr val="tx2"/>
                          </a:solidFill>
                          <a:latin typeface="Consolas" panose="020B0609020204030204" pitchFamily="49" charset="0"/>
                          <a:ea typeface="+mn-ea"/>
                          <a:cs typeface="Times New Roman" panose="02020603050405020304" pitchFamily="18" charset="0"/>
                        </a:rPr>
                        <a:t>包含一个字符串列表，表示解释器在导入模块时查找模块的路径</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可以通过修改</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zh-CN" altLang="en-US" sz="2000" b="0" kern="100" dirty="0">
                          <a:solidFill>
                            <a:schemeClr val="tx2"/>
                          </a:solidFill>
                          <a:latin typeface="Consolas" panose="020B0609020204030204" pitchFamily="49" charset="0"/>
                          <a:ea typeface="+mn-ea"/>
                          <a:cs typeface="Times New Roman" panose="02020603050405020304" pitchFamily="18" charset="0"/>
                        </a:rPr>
                        <a:t>来添加或删除模块的搜索路径</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new_path</a:t>
                      </a:r>
                      <a:r>
                        <a:rPr lang="en" altLang="zh-CN" sz="2000" b="0" kern="100" dirty="0">
                          <a:solidFill>
                            <a:schemeClr val="tx2"/>
                          </a:solidFill>
                          <a:latin typeface="Consolas" panose="020B0609020204030204" pitchFamily="49" charset="0"/>
                          <a:ea typeface="+mn-ea"/>
                          <a:cs typeface="Times New Roman" panose="02020603050405020304" pitchFamily="18" charset="0"/>
                        </a:rPr>
                        <a:t> = '/path/to/your/module'   # </a:t>
                      </a:r>
                      <a:r>
                        <a:rPr lang="zh-CN" altLang="en-US" sz="2000" b="0" kern="100" dirty="0">
                          <a:solidFill>
                            <a:schemeClr val="tx2"/>
                          </a:solidFill>
                          <a:latin typeface="Consolas" panose="020B0609020204030204" pitchFamily="49" charset="0"/>
                          <a:ea typeface="+mn-ea"/>
                          <a:cs typeface="Times New Roman" panose="02020603050405020304" pitchFamily="18" charset="0"/>
                        </a:rPr>
                        <a:t>添加的路径</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sys.path.append</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new_path</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path_to_remove</a:t>
                      </a:r>
                      <a:r>
                        <a:rPr lang="en" altLang="zh-CN" sz="2000" b="0" kern="100" dirty="0">
                          <a:solidFill>
                            <a:schemeClr val="tx2"/>
                          </a:solidFill>
                          <a:latin typeface="Consolas" panose="020B0609020204030204" pitchFamily="49" charset="0"/>
                          <a:ea typeface="+mn-ea"/>
                          <a:cs typeface="Times New Roman" panose="02020603050405020304" pitchFamily="18" charset="0"/>
                        </a:rPr>
                        <a:t> = '/path/to/your/module' # </a:t>
                      </a:r>
                      <a:r>
                        <a:rPr lang="zh-CN" altLang="en-US" sz="2000" b="0" kern="100" dirty="0">
                          <a:solidFill>
                            <a:schemeClr val="tx2"/>
                          </a:solidFill>
                          <a:latin typeface="Consolas" panose="020B0609020204030204" pitchFamily="49" charset="0"/>
                          <a:ea typeface="+mn-ea"/>
                          <a:cs typeface="Times New Roman" panose="02020603050405020304" pitchFamily="18" charset="0"/>
                        </a:rPr>
                        <a:t>删除的路径</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if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path_to_remove</a:t>
                      </a:r>
                      <a:r>
                        <a:rPr lang="en" altLang="zh-CN" sz="2000" b="0" kern="100" dirty="0">
                          <a:solidFill>
                            <a:schemeClr val="tx2"/>
                          </a:solidFill>
                          <a:latin typeface="Consolas" panose="020B0609020204030204" pitchFamily="49" charset="0"/>
                          <a:ea typeface="+mn-ea"/>
                          <a:cs typeface="Times New Roman" panose="02020603050405020304" pitchFamily="18" charset="0"/>
                        </a:rPr>
                        <a:t> in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zh-CN" altLang="en-US" sz="2000" b="0" kern="100" dirty="0">
                          <a:solidFill>
                            <a:schemeClr val="tx2"/>
                          </a:solidFill>
                          <a:latin typeface="Consolas" panose="020B0609020204030204" pitchFamily="49" charset="0"/>
                          <a:ea typeface="+mn-ea"/>
                          <a:cs typeface="Times New Roman" panose="02020603050405020304" pitchFamily="18" charset="0"/>
                        </a:rPr>
                        <a:t>使用</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sys.path.remove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方法删除路径</a:t>
                      </a:r>
                    </a:p>
                    <a:p>
                      <a:pPr marL="0" lvl="1" algn="just" defTabSz="914400" rtl="0" eaLnBrk="1" latinLnBrk="0" hangingPunct="1">
                        <a:lnSpc>
                          <a:spcPct val="120000"/>
                        </a:lnSpc>
                      </a:pP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sys.path.remove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path_to_remove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sys.path</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329363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071099" cy="2299854"/>
          </a:xfrm>
        </p:spPr>
        <p:txBody>
          <a:bodyPr/>
          <a:lstStyle/>
          <a:p>
            <a:r>
              <a:rPr lang="en-US" dirty="0"/>
              <a:t>8.6 </a:t>
            </a:r>
            <a:r>
              <a:rPr lang="zh-CN" altLang="en-US" dirty="0"/>
              <a:t>统计模块：</a:t>
            </a:r>
            <a:r>
              <a:rPr lang="en-US" altLang="zh-CN" dirty="0"/>
              <a:t>Statistics</a:t>
            </a:r>
            <a:r>
              <a:rPr lang="zh-CN" altLang="en-US" dirty="0"/>
              <a:t> </a:t>
            </a:r>
            <a:r>
              <a:rPr lang="en-US" altLang="zh-CN" dirty="0"/>
              <a:t>Module</a:t>
            </a:r>
            <a:endParaRPr lang="en-US" dirty="0"/>
          </a:p>
        </p:txBody>
      </p:sp>
    </p:spTree>
    <p:extLst>
      <p:ext uri="{BB962C8B-B14F-4D97-AF65-F5344CB8AC3E}">
        <p14:creationId xmlns:p14="http://schemas.microsoft.com/office/powerpoint/2010/main" val="207663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statistics</a:t>
            </a:r>
            <a:r>
              <a:rPr lang="zh-CN" altLang="en-US" dirty="0"/>
              <a:t>模块</a:t>
            </a:r>
            <a:endParaRPr lang="en-US" dirty="0"/>
          </a:p>
        </p:txBody>
      </p:sp>
      <p:sp>
        <p:nvSpPr>
          <p:cNvPr id="14" name="Content Placeholder 13"/>
          <p:cNvSpPr>
            <a:spLocks noGrp="1"/>
          </p:cNvSpPr>
          <p:nvPr>
            <p:ph idx="1"/>
          </p:nvPr>
        </p:nvSpPr>
        <p:spPr>
          <a:xfrm>
            <a:off x="1104900" y="1600200"/>
            <a:ext cx="10217524" cy="5257800"/>
          </a:xfrm>
        </p:spPr>
        <p:txBody>
          <a:bodyPr>
            <a:normAutofit/>
          </a:bodyPr>
          <a:lstStyle/>
          <a:p>
            <a:pPr>
              <a:lnSpc>
                <a:spcPct val="100000"/>
              </a:lnSpc>
            </a:pPr>
            <a:r>
              <a:rPr lang="en" altLang="zh-CN" sz="2400" dirty="0">
                <a:ea typeface="宋体" panose="02010600030101010101" pitchFamily="2" charset="-122"/>
                <a:cs typeface="Calibri" panose="020F0502020204030204" pitchFamily="34" charset="0"/>
              </a:rPr>
              <a:t>Python</a:t>
            </a:r>
            <a:r>
              <a:rPr lang="zh-CN" altLang="en-US" sz="2400" dirty="0">
                <a:ea typeface="宋体" panose="02010600030101010101" pitchFamily="2" charset="-122"/>
                <a:cs typeface="Calibri" panose="020F0502020204030204" pitchFamily="34" charset="0"/>
              </a:rPr>
              <a:t>的</a:t>
            </a:r>
            <a:r>
              <a:rPr lang="en" altLang="zh-CN" sz="2400" dirty="0">
                <a:ea typeface="宋体" panose="02010600030101010101" pitchFamily="2" charset="-122"/>
                <a:cs typeface="Calibri" panose="020F0502020204030204" pitchFamily="34" charset="0"/>
              </a:rPr>
              <a:t>statistics</a:t>
            </a:r>
            <a:r>
              <a:rPr lang="zh-CN" altLang="en-US" sz="2400" dirty="0">
                <a:ea typeface="宋体" panose="02010600030101010101" pitchFamily="2" charset="-122"/>
                <a:cs typeface="Calibri" panose="020F0502020204030204" pitchFamily="34" charset="0"/>
              </a:rPr>
              <a:t>模块是用于执行统计操作的标准库模块，它提供了一系列函数，可用于计算数据集的各种统计指标。该模块对于数据分析和科学计算非常有用，能够方便地进行中心趋势、离散程度、分布形状等方面的统计分析。</a:t>
            </a:r>
          </a:p>
          <a:p>
            <a:pPr>
              <a:lnSpc>
                <a:spcPct val="100000"/>
              </a:lnSpc>
            </a:pPr>
            <a:r>
              <a:rPr lang="zh-CN" altLang="en-US" sz="2400" dirty="0">
                <a:ea typeface="宋体" panose="02010600030101010101" pitchFamily="2" charset="-122"/>
                <a:cs typeface="Calibri" panose="020F0502020204030204" pitchFamily="34" charset="0"/>
              </a:rPr>
              <a:t>导入模块：</a:t>
            </a:r>
            <a:r>
              <a:rPr lang="en-US" altLang="zh-CN" sz="2400" b="1" dirty="0">
                <a:solidFill>
                  <a:srgbClr val="7030A0"/>
                </a:solidFill>
                <a:ea typeface="宋体" panose="02010600030101010101" pitchFamily="2" charset="-122"/>
                <a:cs typeface="Calibri" panose="020F0502020204030204" pitchFamily="34" charset="0"/>
              </a:rPr>
              <a:t>import statistics</a:t>
            </a:r>
          </a:p>
          <a:p>
            <a:pPr lvl="1">
              <a:lnSpc>
                <a:spcPct val="150000"/>
              </a:lnSpc>
            </a:pPr>
            <a:r>
              <a:rPr lang="zh-CN" altLang="en-US" sz="2400" b="1" dirty="0">
                <a:ea typeface="宋体" panose="02010600030101010101" pitchFamily="2" charset="-122"/>
                <a:cs typeface="Calibri" panose="020F0502020204030204" pitchFamily="34" charset="0"/>
              </a:rPr>
              <a:t>均值</a:t>
            </a:r>
            <a:endParaRPr lang="en-US" altLang="zh-CN" sz="2400" b="1" dirty="0">
              <a:ea typeface="宋体" panose="02010600030101010101" pitchFamily="2" charset="-122"/>
              <a:cs typeface="Calibri" panose="020F0502020204030204" pitchFamily="34" charset="0"/>
            </a:endParaRPr>
          </a:p>
          <a:p>
            <a:pPr lvl="1">
              <a:lnSpc>
                <a:spcPct val="150000"/>
              </a:lnSpc>
            </a:pPr>
            <a:r>
              <a:rPr lang="zh-CN" altLang="en-US" sz="2400" b="1" dirty="0">
                <a:ea typeface="宋体" panose="02010600030101010101" pitchFamily="2" charset="-122"/>
                <a:cs typeface="Calibri" panose="020F0502020204030204" pitchFamily="34" charset="0"/>
              </a:rPr>
              <a:t>中位数</a:t>
            </a:r>
            <a:endParaRPr lang="en-US" altLang="zh-CN" sz="2400" b="1" dirty="0">
              <a:ea typeface="宋体" panose="02010600030101010101" pitchFamily="2" charset="-122"/>
              <a:cs typeface="Calibri" panose="020F0502020204030204" pitchFamily="34" charset="0"/>
            </a:endParaRPr>
          </a:p>
          <a:p>
            <a:pPr lvl="1">
              <a:lnSpc>
                <a:spcPct val="150000"/>
              </a:lnSpc>
            </a:pPr>
            <a:r>
              <a:rPr lang="zh-CN" altLang="en-US" sz="2400" b="1" dirty="0">
                <a:ea typeface="宋体" panose="02010600030101010101" pitchFamily="2" charset="-122"/>
                <a:cs typeface="Calibri" panose="020F0502020204030204" pitchFamily="34" charset="0"/>
              </a:rPr>
              <a:t>众数</a:t>
            </a:r>
            <a:endParaRPr lang="en-US" altLang="zh-CN" sz="2400" b="1" dirty="0">
              <a:ea typeface="宋体" panose="02010600030101010101" pitchFamily="2" charset="-122"/>
              <a:cs typeface="Calibri" panose="020F0502020204030204" pitchFamily="34" charset="0"/>
            </a:endParaRPr>
          </a:p>
          <a:p>
            <a:pPr lvl="1">
              <a:lnSpc>
                <a:spcPct val="150000"/>
              </a:lnSpc>
            </a:pPr>
            <a:r>
              <a:rPr lang="zh-CN" altLang="en-US" sz="2400" b="1" dirty="0">
                <a:ea typeface="宋体" panose="02010600030101010101" pitchFamily="2" charset="-122"/>
                <a:cs typeface="Calibri" panose="020F0502020204030204" pitchFamily="34" charset="0"/>
              </a:rPr>
              <a:t>标准差、方差</a:t>
            </a:r>
            <a:endParaRPr lang="en-US" altLang="zh-CN" sz="2400" b="1" dirty="0">
              <a:ea typeface="宋体" panose="02010600030101010101" pitchFamily="2" charset="-122"/>
              <a:cs typeface="Calibri" panose="020F0502020204030204" pitchFamily="34" charset="0"/>
            </a:endParaRPr>
          </a:p>
          <a:p>
            <a:pPr>
              <a:lnSpc>
                <a:spcPct val="100000"/>
              </a:lnSpc>
            </a:pPr>
            <a:endParaRPr lang="en-US" altLang="zh-CN" sz="2000" dirty="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44130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statistics</a:t>
            </a:r>
            <a:r>
              <a:rPr lang="zh-CN" altLang="en-US" dirty="0"/>
              <a:t>模块的主要功能</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statistics</a:t>
            </a:r>
            <a:r>
              <a:rPr lang="zh-CN" altLang="en-US" sz="2000" dirty="0">
                <a:latin typeface="Consolas" panose="020B0609020204030204" pitchFamily="49" charset="0"/>
                <a:ea typeface="宋体" panose="02010600030101010101" pitchFamily="2" charset="-122"/>
                <a:cs typeface="Calibri" panose="020F0502020204030204" pitchFamily="34" charset="0"/>
              </a:rPr>
              <a:t>模块包括计算中心趋势的函数，如</a:t>
            </a:r>
            <a:r>
              <a:rPr lang="en-US" altLang="zh-CN" sz="2000" dirty="0">
                <a:latin typeface="Consolas" panose="020B0609020204030204" pitchFamily="49" charset="0"/>
                <a:ea typeface="宋体" panose="02010600030101010101" pitchFamily="2" charset="-122"/>
                <a:cs typeface="Calibri" panose="020F0502020204030204" pitchFamily="34" charset="0"/>
              </a:rPr>
              <a:t>mean()</a:t>
            </a:r>
            <a:r>
              <a:rPr lang="zh-CN" altLang="en-US" sz="2000" dirty="0">
                <a:latin typeface="Consolas" panose="020B0609020204030204" pitchFamily="49" charset="0"/>
                <a:ea typeface="宋体" panose="02010600030101010101" pitchFamily="2" charset="-122"/>
                <a:cs typeface="Calibri" panose="020F0502020204030204" pitchFamily="34" charset="0"/>
              </a:rPr>
              <a:t>用于计算均值，</a:t>
            </a:r>
            <a:r>
              <a:rPr lang="en-US" altLang="zh-CN" sz="2000" dirty="0">
                <a:latin typeface="Consolas" panose="020B0609020204030204" pitchFamily="49" charset="0"/>
                <a:ea typeface="宋体" panose="02010600030101010101" pitchFamily="2" charset="-122"/>
                <a:cs typeface="Calibri" panose="020F0502020204030204" pitchFamily="34" charset="0"/>
              </a:rPr>
              <a:t>median()</a:t>
            </a:r>
            <a:r>
              <a:rPr lang="zh-CN" altLang="en-US" sz="2000" dirty="0">
                <a:latin typeface="Consolas" panose="020B0609020204030204" pitchFamily="49" charset="0"/>
                <a:ea typeface="宋体" panose="02010600030101010101" pitchFamily="2" charset="-122"/>
                <a:cs typeface="Calibri" panose="020F0502020204030204" pitchFamily="34" charset="0"/>
              </a:rPr>
              <a:t>用于计算中位数。</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Mean: 2.8333333333333335</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Median: 2.5</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2081060557"/>
              </p:ext>
            </p:extLst>
          </p:nvPr>
        </p:nvGraphicFramePr>
        <p:xfrm>
          <a:off x="1418738" y="2178058"/>
          <a:ext cx="9353005" cy="225983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数据集</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data = [1, </a:t>
                      </a:r>
                      <a:r>
                        <a:rPr lang="en-US" altLang="zh-CN" sz="2000" b="0" kern="100" dirty="0">
                          <a:solidFill>
                            <a:schemeClr val="tx2"/>
                          </a:solidFill>
                          <a:latin typeface="Consolas" panose="020B0609020204030204" pitchFamily="49" charset="0"/>
                          <a:ea typeface="+mn-ea"/>
                          <a:cs typeface="Times New Roman" panose="02020603050405020304" pitchFamily="18" charset="0"/>
                        </a:rPr>
                        <a:t>2, </a:t>
                      </a:r>
                      <a:r>
                        <a:rPr lang="en" altLang="zh-CN" sz="2000" b="0" kern="100" dirty="0">
                          <a:solidFill>
                            <a:schemeClr val="tx2"/>
                          </a:solidFill>
                          <a:latin typeface="Consolas" panose="020B0609020204030204" pitchFamily="49" charset="0"/>
                          <a:ea typeface="+mn-ea"/>
                          <a:cs typeface="Times New Roman" panose="02020603050405020304" pitchFamily="18" charset="0"/>
                        </a:rPr>
                        <a:t>2, 3, 4, 5]</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计算均值</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mean_value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statistics.mean</a:t>
                      </a:r>
                      <a:r>
                        <a:rPr lang="en" altLang="zh-CN" sz="2000" b="0" kern="100" dirty="0">
                          <a:solidFill>
                            <a:schemeClr val="tx2"/>
                          </a:solidFill>
                          <a:latin typeface="Consolas" panose="020B0609020204030204" pitchFamily="49" charset="0"/>
                          <a:ea typeface="+mn-ea"/>
                          <a:cs typeface="Times New Roman" panose="02020603050405020304" pitchFamily="18" charset="0"/>
                        </a:rPr>
                        <a:t>(data)</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print("Mean:",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mean_value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a:extLst>
              <a:ext uri="{FF2B5EF4-FFF2-40B4-BE49-F238E27FC236}">
                <a16:creationId xmlns:a16="http://schemas.microsoft.com/office/drawing/2014/main" id="{AC9D7C73-538E-1141-86D0-F7E3F34FD1E4}"/>
              </a:ext>
            </a:extLst>
          </p:cNvPr>
          <p:cNvGraphicFramePr>
            <a:graphicFrameLocks noGrp="1"/>
          </p:cNvGraphicFramePr>
          <p:nvPr>
            <p:extLst>
              <p:ext uri="{D42A27DB-BD31-4B8C-83A1-F6EECF244321}">
                <p14:modId xmlns:p14="http://schemas.microsoft.com/office/powerpoint/2010/main" val="793448348"/>
              </p:ext>
            </p:extLst>
          </p:nvPr>
        </p:nvGraphicFramePr>
        <p:xfrm>
          <a:off x="1418737" y="4988227"/>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计算中位数</a:t>
                      </a:r>
                    </a:p>
                    <a:p>
                      <a:pPr marL="0" lvl="1" algn="just" defTabSz="914400" rtl="0" eaLnBrk="1" latinLnBrk="0" hangingPunct="1">
                        <a:lnSpc>
                          <a:spcPct val="120000"/>
                        </a:lnSpc>
                      </a:pPr>
                      <a:r>
                        <a:rPr lang="en-US" altLang="zh-CN" sz="2000" b="0" kern="100" dirty="0" err="1">
                          <a:solidFill>
                            <a:schemeClr val="tx2"/>
                          </a:solidFill>
                          <a:latin typeface="Consolas" panose="020B0609020204030204" pitchFamily="49" charset="0"/>
                          <a:ea typeface="+mn-ea"/>
                          <a:cs typeface="Times New Roman" panose="02020603050405020304" pitchFamily="18" charset="0"/>
                        </a:rPr>
                        <a:t>median_value</a:t>
                      </a:r>
                      <a:r>
                        <a:rPr lang="en-US" altLang="zh-CN" sz="2000" b="0" kern="100" dirty="0">
                          <a:solidFill>
                            <a:schemeClr val="tx2"/>
                          </a:solidFill>
                          <a:latin typeface="Consolas" panose="020B0609020204030204" pitchFamily="49" charset="0"/>
                          <a:ea typeface="+mn-ea"/>
                          <a:cs typeface="Times New Roman" panose="02020603050405020304" pitchFamily="18" charset="0"/>
                        </a:rPr>
                        <a:t> = </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statistics.median</a:t>
                      </a:r>
                      <a:r>
                        <a:rPr lang="en-US" altLang="zh-CN" sz="2000" b="0" kern="100" dirty="0">
                          <a:solidFill>
                            <a:schemeClr val="tx2"/>
                          </a:solidFill>
                          <a:latin typeface="Consolas" panose="020B0609020204030204" pitchFamily="49" charset="0"/>
                          <a:ea typeface="+mn-ea"/>
                          <a:cs typeface="Times New Roman" panose="02020603050405020304" pitchFamily="18" charset="0"/>
                        </a:rPr>
                        <a:t>(data)</a:t>
                      </a:r>
                    </a:p>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print("Median:", </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median_value</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621988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statistics</a:t>
            </a:r>
            <a:r>
              <a:rPr lang="zh-CN" altLang="en-US" dirty="0"/>
              <a:t>模块的主要功能</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statistics</a:t>
            </a:r>
            <a:r>
              <a:rPr lang="zh-CN" altLang="en-US" sz="2000" dirty="0">
                <a:latin typeface="Consolas" panose="020B0609020204030204" pitchFamily="49" charset="0"/>
                <a:ea typeface="宋体" panose="02010600030101010101" pitchFamily="2" charset="-122"/>
                <a:cs typeface="Calibri" panose="020F0502020204030204" pitchFamily="34" charset="0"/>
              </a:rPr>
              <a:t>模块提供了计算离散程度的函数，如</a:t>
            </a:r>
            <a:r>
              <a:rPr lang="en" altLang="zh-CN" sz="2000" dirty="0" err="1">
                <a:latin typeface="Consolas" panose="020B0609020204030204" pitchFamily="49" charset="0"/>
                <a:ea typeface="宋体" panose="02010600030101010101" pitchFamily="2" charset="-122"/>
                <a:cs typeface="Calibri" panose="020F0502020204030204" pitchFamily="34" charset="0"/>
              </a:rPr>
              <a:t>stdev</a:t>
            </a:r>
            <a:r>
              <a:rPr lang="en" altLang="zh-CN" sz="2000" dirty="0">
                <a:latin typeface="Consolas" panose="020B0609020204030204" pitchFamily="49" charset="0"/>
                <a:ea typeface="宋体" panose="02010600030101010101" pitchFamily="2" charset="-122"/>
                <a:cs typeface="Calibri" panose="020F0502020204030204" pitchFamily="34" charset="0"/>
              </a:rPr>
              <a:t>()</a:t>
            </a:r>
            <a:r>
              <a:rPr lang="zh-CN" altLang="en-US" sz="2000" dirty="0">
                <a:latin typeface="Consolas" panose="020B0609020204030204" pitchFamily="49" charset="0"/>
                <a:ea typeface="宋体" panose="02010600030101010101" pitchFamily="2" charset="-122"/>
                <a:cs typeface="Calibri" panose="020F0502020204030204" pitchFamily="34" charset="0"/>
              </a:rPr>
              <a:t>和</a:t>
            </a:r>
            <a:r>
              <a:rPr lang="en" altLang="zh-CN" sz="2000" dirty="0">
                <a:latin typeface="Consolas" panose="020B0609020204030204" pitchFamily="49" charset="0"/>
                <a:ea typeface="宋体" panose="02010600030101010101" pitchFamily="2" charset="-122"/>
                <a:cs typeface="Calibri" panose="020F0502020204030204" pitchFamily="34" charset="0"/>
              </a:rPr>
              <a:t>variance()</a:t>
            </a:r>
            <a:r>
              <a:rPr lang="zh-CN" altLang="en-US" sz="2000" dirty="0">
                <a:latin typeface="Consolas" panose="020B0609020204030204" pitchFamily="49" charset="0"/>
                <a:ea typeface="宋体" panose="02010600030101010101" pitchFamily="2" charset="-122"/>
                <a:cs typeface="Calibri" panose="020F0502020204030204" pitchFamily="34" charset="0"/>
              </a:rPr>
              <a:t>分别用于计算标准差和方差。</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Standard Deviation: 1.4719601443879744</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Variance: 2.1666666666666665</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1621885533"/>
              </p:ext>
            </p:extLst>
          </p:nvPr>
        </p:nvGraphicFramePr>
        <p:xfrm>
          <a:off x="1418737" y="2266442"/>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计算标准差</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stdev_value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statistics.stdev</a:t>
                      </a:r>
                      <a:r>
                        <a:rPr lang="en" altLang="zh-CN" sz="2000" b="0" kern="100" dirty="0">
                          <a:solidFill>
                            <a:schemeClr val="tx2"/>
                          </a:solidFill>
                          <a:latin typeface="Consolas" panose="020B0609020204030204" pitchFamily="49" charset="0"/>
                          <a:ea typeface="+mn-ea"/>
                          <a:cs typeface="Times New Roman" panose="02020603050405020304" pitchFamily="18" charset="0"/>
                        </a:rPr>
                        <a:t>(data)</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print("Standard Deviation:",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stdev_value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a:extLst>
              <a:ext uri="{FF2B5EF4-FFF2-40B4-BE49-F238E27FC236}">
                <a16:creationId xmlns:a16="http://schemas.microsoft.com/office/drawing/2014/main" id="{AC9D7C73-538E-1141-86D0-F7E3F34FD1E4}"/>
              </a:ext>
            </a:extLst>
          </p:cNvPr>
          <p:cNvGraphicFramePr>
            <a:graphicFrameLocks noGrp="1"/>
          </p:cNvGraphicFramePr>
          <p:nvPr>
            <p:extLst>
              <p:ext uri="{D42A27DB-BD31-4B8C-83A1-F6EECF244321}">
                <p14:modId xmlns:p14="http://schemas.microsoft.com/office/powerpoint/2010/main" val="4066832946"/>
              </p:ext>
            </p:extLst>
          </p:nvPr>
        </p:nvGraphicFramePr>
        <p:xfrm>
          <a:off x="1418736" y="4272487"/>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计算方差</a:t>
                      </a:r>
                    </a:p>
                    <a:p>
                      <a:pPr marL="0" lvl="1" algn="just" defTabSz="914400" rtl="0" eaLnBrk="1" latinLnBrk="0" hangingPunct="1">
                        <a:lnSpc>
                          <a:spcPct val="120000"/>
                        </a:lnSpc>
                      </a:pPr>
                      <a:r>
                        <a:rPr lang="en-US" altLang="zh-CN" sz="2000" b="0" kern="100" dirty="0" err="1">
                          <a:solidFill>
                            <a:schemeClr val="tx2"/>
                          </a:solidFill>
                          <a:latin typeface="Consolas" panose="020B0609020204030204" pitchFamily="49" charset="0"/>
                          <a:ea typeface="+mn-ea"/>
                          <a:cs typeface="Times New Roman" panose="02020603050405020304" pitchFamily="18" charset="0"/>
                        </a:rPr>
                        <a:t>variance_value</a:t>
                      </a:r>
                      <a:r>
                        <a:rPr lang="en-US" altLang="zh-CN" sz="2000" b="0" kern="100" dirty="0">
                          <a:solidFill>
                            <a:schemeClr val="tx2"/>
                          </a:solidFill>
                          <a:latin typeface="Consolas" panose="020B0609020204030204" pitchFamily="49" charset="0"/>
                          <a:ea typeface="+mn-ea"/>
                          <a:cs typeface="Times New Roman" panose="02020603050405020304" pitchFamily="18" charset="0"/>
                        </a:rPr>
                        <a:t> = </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statistics.variance</a:t>
                      </a:r>
                      <a:r>
                        <a:rPr lang="en-US" altLang="zh-CN" sz="2000" b="0" kern="100" dirty="0">
                          <a:solidFill>
                            <a:schemeClr val="tx2"/>
                          </a:solidFill>
                          <a:latin typeface="Consolas" panose="020B0609020204030204" pitchFamily="49" charset="0"/>
                          <a:ea typeface="+mn-ea"/>
                          <a:cs typeface="Times New Roman" panose="02020603050405020304" pitchFamily="18" charset="0"/>
                        </a:rPr>
                        <a:t>(data)</a:t>
                      </a:r>
                    </a:p>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print("Variance:", </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variance_value</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2214661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statistics</a:t>
            </a:r>
            <a:r>
              <a:rPr lang="zh-CN" altLang="en-US" dirty="0"/>
              <a:t>模块的主要功能</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statistics</a:t>
            </a:r>
            <a:r>
              <a:rPr lang="zh-CN" altLang="en-US" sz="2000" dirty="0">
                <a:latin typeface="Consolas" panose="020B0609020204030204" pitchFamily="49" charset="0"/>
                <a:ea typeface="宋体" panose="02010600030101010101" pitchFamily="2" charset="-122"/>
                <a:cs typeface="Calibri" panose="020F0502020204030204" pitchFamily="34" charset="0"/>
              </a:rPr>
              <a:t>模块还包括一些计算分布形状的函数，如</a:t>
            </a:r>
            <a:r>
              <a:rPr lang="en-US" altLang="zh-CN" sz="2000" dirty="0">
                <a:latin typeface="Consolas" panose="020B0609020204030204" pitchFamily="49" charset="0"/>
                <a:ea typeface="宋体" panose="02010600030101010101" pitchFamily="2" charset="-122"/>
                <a:cs typeface="Calibri" panose="020F0502020204030204" pitchFamily="34" charset="0"/>
              </a:rPr>
              <a:t>mode()</a:t>
            </a:r>
            <a:r>
              <a:rPr lang="zh-CN" altLang="en-US" sz="2000" dirty="0">
                <a:latin typeface="Consolas" panose="020B0609020204030204" pitchFamily="49" charset="0"/>
                <a:ea typeface="宋体" panose="02010600030101010101" pitchFamily="2" charset="-122"/>
                <a:cs typeface="Calibri" panose="020F0502020204030204" pitchFamily="34" charset="0"/>
              </a:rPr>
              <a:t>用于计算众数。</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Mode: 2</a:t>
            </a: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852778963"/>
              </p:ext>
            </p:extLst>
          </p:nvPr>
        </p:nvGraphicFramePr>
        <p:xfrm>
          <a:off x="1418738" y="2266442"/>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计算众数</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mode_value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statistics.mode</a:t>
                      </a:r>
                      <a:r>
                        <a:rPr lang="en" altLang="zh-CN" sz="2000" b="0" kern="100" dirty="0">
                          <a:solidFill>
                            <a:schemeClr val="tx2"/>
                          </a:solidFill>
                          <a:latin typeface="Consolas" panose="020B0609020204030204" pitchFamily="49" charset="0"/>
                          <a:ea typeface="+mn-ea"/>
                          <a:cs typeface="Times New Roman" panose="02020603050405020304" pitchFamily="18" charset="0"/>
                        </a:rPr>
                        <a:t>(data)</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print("Mode:",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mode_value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259721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044" y="2964873"/>
            <a:ext cx="10594450" cy="2299854"/>
          </a:xfrm>
        </p:spPr>
        <p:txBody>
          <a:bodyPr/>
          <a:lstStyle/>
          <a:p>
            <a:r>
              <a:rPr lang="zh-CN" noProof="0"/>
              <a:t>8.7 集合模块：Collections Module</a:t>
            </a:r>
          </a:p>
        </p:txBody>
      </p:sp>
    </p:spTree>
    <p:extLst>
      <p:ext uri="{BB962C8B-B14F-4D97-AF65-F5344CB8AC3E}">
        <p14:creationId xmlns:p14="http://schemas.microsoft.com/office/powerpoint/2010/main" val="3595548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endParaRPr lang="en-US" dirty="0"/>
          </a:p>
        </p:txBody>
      </p:sp>
      <p:sp>
        <p:nvSpPr>
          <p:cNvPr id="14" name="Content Placeholder 13"/>
          <p:cNvSpPr>
            <a:spLocks noGrp="1"/>
          </p:cNvSpPr>
          <p:nvPr>
            <p:ph idx="1"/>
          </p:nvPr>
        </p:nvSpPr>
        <p:spPr>
          <a:xfrm>
            <a:off x="1104900" y="1524000"/>
            <a:ext cx="10217524" cy="5257800"/>
          </a:xfrm>
        </p:spPr>
        <p:txBody>
          <a:bodyPr>
            <a:normAutofit/>
          </a:bodyPr>
          <a:lstStyle/>
          <a:p>
            <a:pPr>
              <a:lnSpc>
                <a:spcPct val="100000"/>
              </a:lnSpc>
            </a:pPr>
            <a:r>
              <a:rPr lang="en" altLang="zh-CN" sz="2400" dirty="0">
                <a:ea typeface="宋体" panose="02010600030101010101" pitchFamily="2" charset="-122"/>
                <a:cs typeface="Calibri" panose="020F0502020204030204" pitchFamily="34" charset="0"/>
              </a:rPr>
              <a:t>Python</a:t>
            </a:r>
            <a:r>
              <a:rPr lang="zh-CN" altLang="en-US" sz="2400" dirty="0">
                <a:ea typeface="宋体" panose="02010600030101010101" pitchFamily="2" charset="-122"/>
                <a:cs typeface="Calibri" panose="020F0502020204030204" pitchFamily="34" charset="0"/>
              </a:rPr>
              <a:t>的</a:t>
            </a:r>
            <a:r>
              <a:rPr lang="en" altLang="zh-CN" sz="2400" dirty="0">
                <a:ea typeface="宋体" panose="02010600030101010101" pitchFamily="2" charset="-122"/>
                <a:cs typeface="Calibri" panose="020F0502020204030204" pitchFamily="34" charset="0"/>
              </a:rPr>
              <a:t>collections</a:t>
            </a:r>
            <a:r>
              <a:rPr lang="zh-CN" altLang="en-US" sz="2400" dirty="0">
                <a:ea typeface="宋体" panose="02010600030101010101" pitchFamily="2" charset="-122"/>
                <a:cs typeface="Calibri" panose="020F0502020204030204" pitchFamily="34" charset="0"/>
              </a:rPr>
              <a:t>模块提供了额外的数据结构，对于处理集合和容器类型的数据有着丰富而高效的功能。这个模块中包含了一系列的类，用于创建和操作一些常见的数据结构，如字典、命名元组、默认字典等，这些数据结构在解决各种问题时非常有用，提供了更多的灵活性和性能优化。</a:t>
            </a:r>
          </a:p>
          <a:p>
            <a:pPr>
              <a:lnSpc>
                <a:spcPct val="100000"/>
              </a:lnSpc>
            </a:pPr>
            <a:r>
              <a:rPr lang="zh-CN" altLang="en-US" sz="2400" dirty="0">
                <a:ea typeface="宋体" panose="02010600030101010101" pitchFamily="2" charset="-122"/>
                <a:cs typeface="Calibri" panose="020F0502020204030204" pitchFamily="34" charset="0"/>
              </a:rPr>
              <a:t>导入模块：</a:t>
            </a:r>
            <a:r>
              <a:rPr lang="en-US" altLang="zh-CN" sz="2400" b="1" dirty="0">
                <a:solidFill>
                  <a:srgbClr val="7030A0"/>
                </a:solidFill>
                <a:ea typeface="宋体" panose="02010600030101010101" pitchFamily="2" charset="-122"/>
                <a:cs typeface="Calibri" panose="020F0502020204030204" pitchFamily="34" charset="0"/>
              </a:rPr>
              <a:t>import collections</a:t>
            </a:r>
            <a:r>
              <a:rPr lang="zh-CN" altLang="en-US" sz="2400" b="1" dirty="0">
                <a:solidFill>
                  <a:srgbClr val="7030A0"/>
                </a:solidFill>
                <a:ea typeface="宋体" panose="02010600030101010101" pitchFamily="2" charset="-122"/>
                <a:cs typeface="Calibri" panose="020F0502020204030204" pitchFamily="34" charset="0"/>
              </a:rPr>
              <a:t> </a:t>
            </a:r>
            <a:r>
              <a:rPr lang="zh-CN" altLang="en-US" sz="2400" dirty="0">
                <a:ea typeface="宋体" panose="02010600030101010101" pitchFamily="2" charset="-122"/>
                <a:cs typeface="Calibri" panose="020F0502020204030204" pitchFamily="34" charset="0"/>
              </a:rPr>
              <a:t>或者</a:t>
            </a:r>
            <a:r>
              <a:rPr lang="zh-CN" altLang="en-US" sz="2400" b="1" dirty="0">
                <a:ea typeface="宋体" panose="02010600030101010101" pitchFamily="2" charset="-122"/>
                <a:cs typeface="Calibri" panose="020F0502020204030204" pitchFamily="34" charset="0"/>
              </a:rPr>
              <a:t> </a:t>
            </a:r>
            <a:r>
              <a:rPr lang="en-US" altLang="zh-CN" sz="2400" b="1" dirty="0">
                <a:solidFill>
                  <a:srgbClr val="7030A0"/>
                </a:solidFill>
                <a:ea typeface="宋体" panose="02010600030101010101" pitchFamily="2" charset="-122"/>
                <a:cs typeface="Calibri" panose="020F0502020204030204" pitchFamily="34" charset="0"/>
              </a:rPr>
              <a:t>from</a:t>
            </a:r>
            <a:r>
              <a:rPr lang="zh-CN" altLang="en-US" sz="2400" b="1" dirty="0">
                <a:solidFill>
                  <a:srgbClr val="7030A0"/>
                </a:solidFill>
                <a:ea typeface="宋体" panose="02010600030101010101" pitchFamily="2" charset="-122"/>
                <a:cs typeface="Calibri" panose="020F0502020204030204" pitchFamily="34" charset="0"/>
              </a:rPr>
              <a:t> </a:t>
            </a:r>
            <a:r>
              <a:rPr lang="en-US" altLang="zh-CN" sz="2400" b="1" dirty="0" err="1">
                <a:solidFill>
                  <a:srgbClr val="7030A0"/>
                </a:solidFill>
                <a:ea typeface="宋体" panose="02010600030101010101" pitchFamily="2" charset="-122"/>
                <a:cs typeface="Calibri" panose="020F0502020204030204" pitchFamily="34" charset="0"/>
              </a:rPr>
              <a:t>colletions</a:t>
            </a:r>
            <a:r>
              <a:rPr lang="zh-CN" altLang="en-US" sz="2400" b="1" dirty="0">
                <a:solidFill>
                  <a:srgbClr val="7030A0"/>
                </a:solidFill>
                <a:ea typeface="宋体" panose="02010600030101010101" pitchFamily="2" charset="-122"/>
                <a:cs typeface="Calibri" panose="020F0502020204030204" pitchFamily="34" charset="0"/>
              </a:rPr>
              <a:t> </a:t>
            </a:r>
            <a:r>
              <a:rPr lang="en-US" altLang="zh-CN" sz="2400" b="1" dirty="0">
                <a:solidFill>
                  <a:srgbClr val="7030A0"/>
                </a:solidFill>
                <a:ea typeface="宋体" panose="02010600030101010101" pitchFamily="2" charset="-122"/>
                <a:cs typeface="Calibri" panose="020F0502020204030204" pitchFamily="34" charset="0"/>
              </a:rPr>
              <a:t>import</a:t>
            </a:r>
            <a:r>
              <a:rPr lang="zh-CN" altLang="en-US" sz="2400" b="1" dirty="0">
                <a:solidFill>
                  <a:srgbClr val="7030A0"/>
                </a:solidFill>
                <a:ea typeface="宋体" panose="02010600030101010101" pitchFamily="2" charset="-122"/>
                <a:cs typeface="Calibri" panose="020F0502020204030204" pitchFamily="34" charset="0"/>
              </a:rPr>
              <a:t> *</a:t>
            </a:r>
            <a:endParaRPr lang="en-US" altLang="zh-CN" sz="2400" b="1" dirty="0">
              <a:solidFill>
                <a:srgbClr val="7030A0"/>
              </a:solidFill>
              <a:ea typeface="宋体" panose="02010600030101010101" pitchFamily="2" charset="-122"/>
              <a:cs typeface="Calibri" panose="020F0502020204030204" pitchFamily="34" charset="0"/>
            </a:endParaRPr>
          </a:p>
          <a:p>
            <a:pPr lvl="1">
              <a:lnSpc>
                <a:spcPct val="100000"/>
              </a:lnSpc>
            </a:pPr>
            <a:r>
              <a:rPr lang="zh-CN" altLang="en-US" sz="2400" b="1" dirty="0">
                <a:ea typeface="宋体" panose="02010600030101010101" pitchFamily="2" charset="-122"/>
                <a:cs typeface="Calibri" panose="020F0502020204030204" pitchFamily="34" charset="0"/>
              </a:rPr>
              <a:t>命名元组（</a:t>
            </a:r>
            <a:r>
              <a:rPr lang="en" altLang="zh-CN" sz="2400" b="1" dirty="0" err="1">
                <a:ea typeface="宋体" panose="02010600030101010101" pitchFamily="2" charset="-122"/>
                <a:cs typeface="Calibri" panose="020F0502020204030204" pitchFamily="34" charset="0"/>
              </a:rPr>
              <a:t>namedtuple</a:t>
            </a:r>
            <a:r>
              <a:rPr lang="zh-CN" altLang="en" sz="2400" b="1" dirty="0">
                <a:ea typeface="宋体" panose="02010600030101010101" pitchFamily="2" charset="-122"/>
                <a:cs typeface="Calibri" panose="020F0502020204030204" pitchFamily="34" charset="0"/>
              </a:rPr>
              <a:t>）</a:t>
            </a:r>
          </a:p>
          <a:p>
            <a:pPr lvl="1">
              <a:lnSpc>
                <a:spcPct val="100000"/>
              </a:lnSpc>
            </a:pPr>
            <a:r>
              <a:rPr lang="zh-CN" altLang="en-US" sz="2400" b="1" dirty="0">
                <a:ea typeface="宋体" panose="02010600030101010101" pitchFamily="2" charset="-122"/>
                <a:cs typeface="Calibri" panose="020F0502020204030204" pitchFamily="34" charset="0"/>
              </a:rPr>
              <a:t>计数器（</a:t>
            </a:r>
            <a:r>
              <a:rPr lang="en" altLang="zh-CN" sz="2400" b="1" dirty="0">
                <a:ea typeface="宋体" panose="02010600030101010101" pitchFamily="2" charset="-122"/>
                <a:cs typeface="Calibri" panose="020F0502020204030204" pitchFamily="34" charset="0"/>
              </a:rPr>
              <a:t>counter</a:t>
            </a:r>
            <a:r>
              <a:rPr lang="zh-CN" altLang="en" sz="2400" b="1" dirty="0">
                <a:ea typeface="宋体" panose="02010600030101010101" pitchFamily="2" charset="-122"/>
                <a:cs typeface="Calibri" panose="020F0502020204030204" pitchFamily="34" charset="0"/>
              </a:rPr>
              <a:t>）</a:t>
            </a:r>
          </a:p>
          <a:p>
            <a:pPr lvl="1">
              <a:lnSpc>
                <a:spcPct val="100000"/>
              </a:lnSpc>
            </a:pPr>
            <a:r>
              <a:rPr lang="zh-CN" altLang="en-US" sz="2400" b="1" dirty="0">
                <a:ea typeface="宋体" panose="02010600030101010101" pitchFamily="2" charset="-122"/>
                <a:cs typeface="Calibri" panose="020F0502020204030204" pitchFamily="34" charset="0"/>
              </a:rPr>
              <a:t>默认字典（</a:t>
            </a:r>
            <a:r>
              <a:rPr lang="en" altLang="zh-CN" sz="2400" b="1" dirty="0" err="1">
                <a:ea typeface="宋体" panose="02010600030101010101" pitchFamily="2" charset="-122"/>
                <a:cs typeface="Calibri" panose="020F0502020204030204" pitchFamily="34" charset="0"/>
              </a:rPr>
              <a:t>defaultdict</a:t>
            </a:r>
            <a:r>
              <a:rPr lang="zh-CN" altLang="en" sz="2400" b="1" dirty="0">
                <a:ea typeface="宋体" panose="02010600030101010101" pitchFamily="2" charset="-122"/>
                <a:cs typeface="Calibri" panose="020F0502020204030204" pitchFamily="34" charset="0"/>
              </a:rPr>
              <a:t>）</a:t>
            </a:r>
          </a:p>
          <a:p>
            <a:pPr lvl="1">
              <a:lnSpc>
                <a:spcPct val="100000"/>
              </a:lnSpc>
            </a:pPr>
            <a:r>
              <a:rPr lang="zh-CN" altLang="en-US" sz="2400" b="1" dirty="0">
                <a:ea typeface="宋体" panose="02010600030101010101" pitchFamily="2" charset="-122"/>
                <a:cs typeface="Calibri" panose="020F0502020204030204" pitchFamily="34" charset="0"/>
              </a:rPr>
              <a:t>有序字典（</a:t>
            </a:r>
            <a:r>
              <a:rPr lang="en" altLang="zh-CN" sz="2400" b="1" dirty="0" err="1">
                <a:ea typeface="宋体" panose="02010600030101010101" pitchFamily="2" charset="-122"/>
                <a:cs typeface="Calibri" panose="020F0502020204030204" pitchFamily="34" charset="0"/>
              </a:rPr>
              <a:t>ordereddict</a:t>
            </a:r>
            <a:r>
              <a:rPr lang="zh-CN" altLang="en" sz="2400" b="1" dirty="0">
                <a:ea typeface="宋体" panose="02010600030101010101" pitchFamily="2" charset="-122"/>
                <a:cs typeface="Calibri" panose="020F0502020204030204" pitchFamily="34" charset="0"/>
              </a:rPr>
              <a:t>）</a:t>
            </a:r>
          </a:p>
          <a:p>
            <a:pPr lvl="1">
              <a:lnSpc>
                <a:spcPct val="100000"/>
              </a:lnSpc>
            </a:pPr>
            <a:r>
              <a:rPr lang="zh-CN" altLang="en-US" sz="2400" b="1" dirty="0">
                <a:ea typeface="宋体" panose="02010600030101010101" pitchFamily="2" charset="-122"/>
                <a:cs typeface="Calibri" panose="020F0502020204030204" pitchFamily="34" charset="0"/>
              </a:rPr>
              <a:t>链映射</a:t>
            </a:r>
            <a:r>
              <a:rPr lang="en-US" altLang="zh-CN" sz="2400" b="1" dirty="0">
                <a:ea typeface="宋体" panose="02010600030101010101" pitchFamily="2" charset="-122"/>
                <a:cs typeface="Calibri" panose="020F0502020204030204" pitchFamily="34" charset="0"/>
              </a:rPr>
              <a:t>(</a:t>
            </a:r>
            <a:r>
              <a:rPr lang="en" altLang="zh-CN" sz="2400" b="1" dirty="0" err="1">
                <a:ea typeface="宋体" panose="02010600030101010101" pitchFamily="2" charset="-122"/>
                <a:cs typeface="Calibri" panose="020F0502020204030204" pitchFamily="34" charset="0"/>
              </a:rPr>
              <a:t>chainmap</a:t>
            </a:r>
            <a:r>
              <a:rPr lang="en" altLang="zh-CN" sz="2400" b="1" dirty="0">
                <a:ea typeface="宋体" panose="02010600030101010101" pitchFamily="2" charset="-122"/>
                <a:cs typeface="Calibri" panose="020F0502020204030204" pitchFamily="34" charset="0"/>
              </a:rPr>
              <a:t>)</a:t>
            </a:r>
          </a:p>
          <a:p>
            <a:pPr lvl="1">
              <a:lnSpc>
                <a:spcPct val="100000"/>
              </a:lnSpc>
            </a:pPr>
            <a:r>
              <a:rPr lang="zh-CN" altLang="en-US" sz="2400" b="1" dirty="0">
                <a:ea typeface="宋体" panose="02010600030101010101" pitchFamily="2" charset="-122"/>
                <a:cs typeface="Calibri" panose="020F0502020204030204" pitchFamily="34" charset="0"/>
              </a:rPr>
              <a:t>双端队列</a:t>
            </a:r>
            <a:r>
              <a:rPr lang="en-US" altLang="zh-CN" sz="2400" b="1" dirty="0">
                <a:ea typeface="宋体" panose="02010600030101010101" pitchFamily="2" charset="-122"/>
                <a:cs typeface="Calibri" panose="020F0502020204030204" pitchFamily="34" charset="0"/>
              </a:rPr>
              <a:t>(</a:t>
            </a:r>
            <a:r>
              <a:rPr lang="en" altLang="zh-CN" sz="2400" b="1" dirty="0">
                <a:ea typeface="宋体" panose="02010600030101010101" pitchFamily="2" charset="-122"/>
                <a:cs typeface="Calibri" panose="020F0502020204030204" pitchFamily="34" charset="0"/>
              </a:rPr>
              <a:t>deque)</a:t>
            </a:r>
            <a:endParaRPr lang="en-US" altLang="zh-CN" dirty="0">
              <a:ea typeface="宋体" panose="02010600030101010101" pitchFamily="2" charset="-122"/>
              <a:cs typeface="Calibri" panose="020F0502020204030204" pitchFamily="34" charset="0"/>
            </a:endParaRPr>
          </a:p>
        </p:txBody>
      </p:sp>
    </p:spTree>
    <p:extLst>
      <p:ext uri="{BB962C8B-B14F-4D97-AF65-F5344CB8AC3E}">
        <p14:creationId xmlns:p14="http://schemas.microsoft.com/office/powerpoint/2010/main" val="285070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a:t>
            </a:r>
            <a:r>
              <a:rPr lang="en-US" altLang="zh-CN" dirty="0" err="1"/>
              <a:t>namedtuple</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namedtuple</a:t>
            </a:r>
            <a:r>
              <a:rPr lang="zh-CN" altLang="en-US" sz="2000" dirty="0">
                <a:latin typeface="Consolas" panose="020B0609020204030204" pitchFamily="49" charset="0"/>
                <a:ea typeface="宋体" panose="02010600030101010101" pitchFamily="2" charset="-122"/>
                <a:cs typeface="Calibri" panose="020F0502020204030204" pitchFamily="34" charset="0"/>
              </a:rPr>
              <a:t>是一个用于创建具有字段名的元组的工具，这使得元组更具可读性，可以通过字段名来访问元组的各个部分，而不必记住索引位置。</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red</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3812.4</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1266723967"/>
              </p:ext>
            </p:extLst>
          </p:nvPr>
        </p:nvGraphicFramePr>
        <p:xfrm>
          <a:off x="1418738" y="2299081"/>
          <a:ext cx="9353005" cy="225983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from collections import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namedtuple</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Car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namedtuple</a:t>
                      </a:r>
                      <a:r>
                        <a:rPr lang="en" altLang="zh-CN" sz="2000" b="0" kern="100" dirty="0">
                          <a:solidFill>
                            <a:schemeClr val="tx2"/>
                          </a:solidFill>
                          <a:latin typeface="Consolas" panose="020B0609020204030204" pitchFamily="49" charset="0"/>
                          <a:ea typeface="+mn-ea"/>
                          <a:cs typeface="Times New Roman" panose="02020603050405020304" pitchFamily="18" charset="0"/>
                        </a:rPr>
                        <a:t>('color'</a:t>
                      </a:r>
                      <a:r>
                        <a:rPr lang="zh-CN" altLang="en-US" sz="2000" b="0" kern="100" dirty="0">
                          <a:solidFill>
                            <a:schemeClr val="tx2"/>
                          </a:solidFill>
                          <a:latin typeface="Consolas" panose="020B0609020204030204" pitchFamily="49" charset="0"/>
                          <a:ea typeface="+mn-ea"/>
                          <a:cs typeface="Times New Roman" panose="02020603050405020304" pitchFamily="18" charset="0"/>
                        </a:rPr>
                        <a:t>，</a:t>
                      </a:r>
                      <a:r>
                        <a:rPr lang="en" altLang="zh-CN" sz="2000" b="0" kern="100">
                          <a:solidFill>
                            <a:schemeClr val="tx2"/>
                          </a:solidFill>
                          <a:latin typeface="Consolas" panose="020B0609020204030204" pitchFamily="49" charset="0"/>
                          <a:ea typeface="+mn-ea"/>
                          <a:cs typeface="Times New Roman" panose="02020603050405020304" pitchFamily="18" charset="0"/>
                        </a:rPr>
                        <a:t>'mileage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a:t>
                      </a:r>
                      <a:r>
                        <a:rPr lang="en" altLang="zh-CN" sz="2000" b="0" kern="100" dirty="0">
                          <a:solidFill>
                            <a:schemeClr val="tx2"/>
                          </a:solidFill>
                          <a:latin typeface="Consolas" panose="020B0609020204030204" pitchFamily="49" charset="0"/>
                          <a:ea typeface="+mn-ea"/>
                          <a:cs typeface="Times New Roman" panose="02020603050405020304" pitchFamily="18" charset="0"/>
                        </a:rPr>
                        <a:t> = Car('red', 3812.4)</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my_car.color</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my_car.mileage</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776321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a:t>
            </a:r>
            <a:r>
              <a:rPr lang="en-US" altLang="zh-CN" dirty="0" err="1"/>
              <a:t>namedtuple</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red</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red 3812.4</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red 3812.4</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3821198412"/>
              </p:ext>
            </p:extLst>
          </p:nvPr>
        </p:nvGraphicFramePr>
        <p:xfrm>
          <a:off x="1240890" y="1422955"/>
          <a:ext cx="9353005" cy="29913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除了通过其标识符访问命名元组中存储的值外，仍然可以通过它们的索引访问</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a:t>
                      </a:r>
                      <a:r>
                        <a:rPr lang="en" altLang="zh-CN" sz="2000" b="0" kern="100" dirty="0">
                          <a:solidFill>
                            <a:schemeClr val="tx2"/>
                          </a:solidFill>
                          <a:latin typeface="Consolas" panose="020B0609020204030204" pitchFamily="49" charset="0"/>
                          <a:ea typeface="+mn-ea"/>
                          <a:cs typeface="Times New Roman" panose="02020603050405020304" pitchFamily="18" charset="0"/>
                        </a:rPr>
                        <a:t>[0]) </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print(tuple(</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a:t>
                      </a:r>
                      <a:r>
                        <a:rPr lang="en" altLang="zh-CN" sz="2000" b="0" kern="100" dirty="0">
                          <a:solidFill>
                            <a:schemeClr val="tx2"/>
                          </a:solidFill>
                          <a:latin typeface="Consolas" panose="020B0609020204030204" pitchFamily="49" charset="0"/>
                          <a:ea typeface="+mn-ea"/>
                          <a:cs typeface="Times New Roman" panose="02020603050405020304" pitchFamily="18" charset="0"/>
                        </a:rPr>
                        <a:t>)) </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元组解包和*运算符用于函数参数解包也能够按预期工作</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color, mileage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print(color, mileage)</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my_car</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graphicFrame>
        <p:nvGraphicFramePr>
          <p:cNvPr id="5" name="表格 4">
            <a:extLst>
              <a:ext uri="{FF2B5EF4-FFF2-40B4-BE49-F238E27FC236}">
                <a16:creationId xmlns:a16="http://schemas.microsoft.com/office/drawing/2014/main" id="{7DECD56A-2C9B-FE4A-A2EC-81CF366CDABE}"/>
              </a:ext>
            </a:extLst>
          </p:cNvPr>
          <p:cNvGraphicFramePr>
            <a:graphicFrameLocks noGrp="1"/>
          </p:cNvGraphicFramePr>
          <p:nvPr>
            <p:extLst>
              <p:ext uri="{D42A27DB-BD31-4B8C-83A1-F6EECF244321}">
                <p14:modId xmlns:p14="http://schemas.microsoft.com/office/powerpoint/2010/main" val="3429616460"/>
              </p:ext>
            </p:extLst>
          </p:nvPr>
        </p:nvGraphicFramePr>
        <p:xfrm>
          <a:off x="1240889" y="5686477"/>
          <a:ext cx="9353005" cy="79679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像元组一样，</a:t>
                      </a:r>
                      <a:r>
                        <a:rPr lang="en-US" altLang="zh-CN" sz="2000" b="0" kern="100" dirty="0" err="1">
                          <a:solidFill>
                            <a:schemeClr val="tx2"/>
                          </a:solidFill>
                          <a:latin typeface="Consolas" panose="020B0609020204030204" pitchFamily="49" charset="0"/>
                          <a:ea typeface="+mn-ea"/>
                          <a:cs typeface="Times New Roman" panose="02020603050405020304" pitchFamily="18" charset="0"/>
                        </a:rPr>
                        <a:t>namedtuples</a:t>
                      </a:r>
                      <a:r>
                        <a:rPr lang="zh-CN" altLang="en-US" sz="2000" b="0" kern="100" dirty="0">
                          <a:solidFill>
                            <a:schemeClr val="tx2"/>
                          </a:solidFill>
                          <a:latin typeface="Consolas" panose="020B0609020204030204" pitchFamily="49" charset="0"/>
                          <a:ea typeface="+mn-ea"/>
                          <a:cs typeface="Times New Roman" panose="02020603050405020304" pitchFamily="18" charset="0"/>
                        </a:rPr>
                        <a:t>是不可变的</a:t>
                      </a:r>
                    </a:p>
                    <a:p>
                      <a:pPr marL="0" lvl="1" algn="just" defTabSz="914400" rtl="0" eaLnBrk="1" latinLnBrk="0" hangingPunct="1">
                        <a:lnSpc>
                          <a:spcPct val="120000"/>
                        </a:lnSpc>
                      </a:pPr>
                      <a:r>
                        <a:rPr lang="en-US" altLang="zh-CN" sz="2000" b="0" kern="100" dirty="0" err="1">
                          <a:solidFill>
                            <a:schemeClr val="tx2"/>
                          </a:solidFill>
                          <a:latin typeface="Consolas" panose="020B0609020204030204" pitchFamily="49" charset="0"/>
                          <a:ea typeface="+mn-ea"/>
                          <a:cs typeface="Times New Roman" panose="02020603050405020304" pitchFamily="18" charset="0"/>
                        </a:rPr>
                        <a:t>my_car.color</a:t>
                      </a:r>
                      <a:r>
                        <a:rPr lang="en-US" altLang="zh-CN" sz="2000" b="0" kern="100" dirty="0">
                          <a:solidFill>
                            <a:schemeClr val="tx2"/>
                          </a:solidFill>
                          <a:latin typeface="Consolas" panose="020B0609020204030204" pitchFamily="49" charset="0"/>
                          <a:ea typeface="+mn-ea"/>
                          <a:cs typeface="Times New Roman" panose="02020603050405020304" pitchFamily="18" charset="0"/>
                        </a:rPr>
                        <a:t> = 'blue'</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AttributeError</a:t>
                      </a:r>
                      <a:r>
                        <a:rPr lang="en" altLang="zh-CN" sz="2000" b="0" kern="100" dirty="0">
                          <a:solidFill>
                            <a:schemeClr val="tx2"/>
                          </a:solidFill>
                          <a:latin typeface="Consolas" panose="020B0609020204030204" pitchFamily="49" charset="0"/>
                          <a:ea typeface="+mn-ea"/>
                          <a:cs typeface="Times New Roman" panose="02020603050405020304" pitchFamily="18" charset="0"/>
                        </a:rPr>
                        <a:t>: can't set attribute</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31627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——Counter</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Counter</a:t>
            </a:r>
            <a:r>
              <a:rPr lang="zh-CN" altLang="en-US" sz="2000" dirty="0">
                <a:latin typeface="Consolas" panose="020B0609020204030204" pitchFamily="49" charset="0"/>
                <a:ea typeface="宋体" panose="02010600030101010101" pitchFamily="2" charset="-122"/>
                <a:cs typeface="Calibri" panose="020F0502020204030204" pitchFamily="34" charset="0"/>
              </a:rPr>
              <a:t>是一个强大的工具，用于统计可迭代对象中元素的数量。它返回一个字典，其中键是元素，值是该元素在可迭代对象中的出现次数。</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Counter({'r': 2, 'p': 1, 'a': 1, 'o': 1, 't': 1})</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0</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189741062"/>
              </p:ext>
            </p:extLst>
          </p:nvPr>
        </p:nvGraphicFramePr>
        <p:xfrm>
          <a:off x="1284266" y="2299081"/>
          <a:ext cx="9353005" cy="262559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from collections import Counter</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count = Counter('parrot')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print(count)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与字典不同，如果访问一个不存在的元素，计数器不会引发异常，而是返回</a:t>
                      </a:r>
                      <a:r>
                        <a:rPr lang="en-US" altLang="zh-CN" sz="2000" b="0" kern="100" dirty="0">
                          <a:solidFill>
                            <a:schemeClr val="tx2"/>
                          </a:solidFill>
                          <a:latin typeface="Consolas" panose="020B0609020204030204" pitchFamily="49" charset="0"/>
                          <a:ea typeface="+mn-ea"/>
                          <a:cs typeface="Times New Roman" panose="02020603050405020304" pitchFamily="18" charset="0"/>
                        </a:rPr>
                        <a:t>0</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print(count['d'])</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983132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——Counter</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Counter</a:t>
            </a:r>
            <a:r>
              <a:rPr lang="zh-CN" altLang="en-US" sz="2000" dirty="0">
                <a:latin typeface="Consolas" panose="020B0609020204030204" pitchFamily="49" charset="0"/>
                <a:ea typeface="宋体" panose="02010600030101010101" pitchFamily="2" charset="-122"/>
                <a:cs typeface="Calibri" panose="020F0502020204030204" pitchFamily="34" charset="0"/>
              </a:rPr>
              <a:t>提供了执行类似集合操作的方法和运算符，包括加法、减法、并集和交集，以及一个常用方法</a:t>
            </a:r>
            <a:r>
              <a:rPr lang="en" altLang="zh-CN" sz="2000" dirty="0" err="1">
                <a:latin typeface="Consolas" panose="020B0609020204030204" pitchFamily="49" charset="0"/>
                <a:ea typeface="宋体" panose="02010600030101010101" pitchFamily="2" charset="-122"/>
                <a:cs typeface="Calibri" panose="020F0502020204030204" pitchFamily="34" charset="0"/>
              </a:rPr>
              <a:t>most_common</a:t>
            </a:r>
            <a:r>
              <a:rPr lang="zh-CN" altLang="en" sz="2000" dirty="0">
                <a:latin typeface="Consolas" panose="020B0609020204030204" pitchFamily="49" charset="0"/>
                <a:ea typeface="宋体" panose="02010600030101010101" pitchFamily="2" charset="-122"/>
                <a:cs typeface="Calibri" panose="020F0502020204030204" pitchFamily="34" charset="0"/>
              </a:rPr>
              <a:t>，</a:t>
            </a:r>
            <a:r>
              <a:rPr lang="zh-CN" altLang="en-US" sz="2000" dirty="0">
                <a:latin typeface="Consolas" panose="020B0609020204030204" pitchFamily="49" charset="0"/>
                <a:ea typeface="宋体" panose="02010600030101010101" pitchFamily="2" charset="-122"/>
                <a:cs typeface="Calibri" panose="020F0502020204030204" pitchFamily="34" charset="0"/>
              </a:rPr>
              <a:t>该方法返回一个按值</a:t>
            </a:r>
            <a:r>
              <a:rPr lang="en-US" altLang="zh-CN" sz="2000" dirty="0">
                <a:latin typeface="Consolas" panose="020B0609020204030204" pitchFamily="49" charset="0"/>
                <a:ea typeface="宋体" panose="02010600030101010101" pitchFamily="2" charset="-122"/>
                <a:cs typeface="Calibri" panose="020F0502020204030204" pitchFamily="34" charset="0"/>
              </a:rPr>
              <a:t>-</a:t>
            </a:r>
            <a:r>
              <a:rPr lang="zh-CN" altLang="en-US" sz="2000" dirty="0">
                <a:latin typeface="Consolas" panose="020B0609020204030204" pitchFamily="49" charset="0"/>
                <a:ea typeface="宋体" panose="02010600030101010101" pitchFamily="2" charset="-122"/>
                <a:cs typeface="Calibri" panose="020F0502020204030204" pitchFamily="34" charset="0"/>
              </a:rPr>
              <a:t>频率对排序的列表，从最常见到最不常见。</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r 2</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p 1</a:t>
            </a: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a 1</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2274095772"/>
              </p:ext>
            </p:extLst>
          </p:nvPr>
        </p:nvGraphicFramePr>
        <p:xfrm>
          <a:off x="1418738" y="2608363"/>
          <a:ext cx="9353005" cy="11625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count = Counter('parrot')</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for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val</a:t>
                      </a: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freq</a:t>
                      </a:r>
                      <a:r>
                        <a:rPr lang="en" altLang="zh-CN" sz="2000" b="0" kern="100" dirty="0">
                          <a:solidFill>
                            <a:schemeClr val="tx2"/>
                          </a:solidFill>
                          <a:latin typeface="Consolas" panose="020B0609020204030204" pitchFamily="49" charset="0"/>
                          <a:ea typeface="+mn-ea"/>
                          <a:cs typeface="Times New Roman" panose="02020603050405020304" pitchFamily="18" charset="0"/>
                        </a:rPr>
                        <a:t> in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count.most_common</a:t>
                      </a:r>
                      <a:r>
                        <a:rPr lang="en" altLang="zh-CN" sz="2000" b="0" kern="100" dirty="0">
                          <a:solidFill>
                            <a:schemeClr val="tx2"/>
                          </a:solidFill>
                          <a:latin typeface="Consolas" panose="020B0609020204030204" pitchFamily="49" charset="0"/>
                          <a:ea typeface="+mn-ea"/>
                          <a:cs typeface="Times New Roman" panose="02020603050405020304" pitchFamily="18" charset="0"/>
                        </a:rPr>
                        <a:t>(3):</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val</a:t>
                      </a: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freq</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77245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a:t>
            </a:r>
            <a:r>
              <a:rPr lang="en-US" altLang="zh-CN" dirty="0" err="1"/>
              <a:t>defaultdict</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defaultdict</a:t>
            </a:r>
            <a:r>
              <a:rPr lang="zh-CN" altLang="en-US" sz="2000" dirty="0">
                <a:latin typeface="Consolas" panose="020B0609020204030204" pitchFamily="49" charset="0"/>
                <a:ea typeface="宋体" panose="02010600030101010101" pitchFamily="2" charset="-122"/>
                <a:cs typeface="Calibri" panose="020F0502020204030204" pitchFamily="34" charset="0"/>
              </a:rPr>
              <a:t>扩展了内置字典类，允许指定默认值的字典。当访问一个不存在的键时，</a:t>
            </a:r>
            <a:r>
              <a:rPr lang="en-US" altLang="zh-CN" sz="2000" dirty="0" err="1">
                <a:latin typeface="Consolas" panose="020B0609020204030204" pitchFamily="49" charset="0"/>
                <a:ea typeface="宋体" panose="02010600030101010101" pitchFamily="2" charset="-122"/>
                <a:cs typeface="Calibri" panose="020F0502020204030204" pitchFamily="34" charset="0"/>
              </a:rPr>
              <a:t>defaultdict</a:t>
            </a:r>
            <a:r>
              <a:rPr lang="zh-CN" altLang="en-US" sz="2000" dirty="0">
                <a:latin typeface="Consolas" panose="020B0609020204030204" pitchFamily="49" charset="0"/>
                <a:ea typeface="宋体" panose="02010600030101010101" pitchFamily="2" charset="-122"/>
                <a:cs typeface="Calibri" panose="020F0502020204030204" pitchFamily="34" charset="0"/>
              </a:rPr>
              <a:t>会自动创建该键并将其对应的值初始化为指定的默认值，这样就避免了一些常见的键错误问题。</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a:latin typeface="Consolas" panose="020B0609020204030204" pitchFamily="49" charset="0"/>
                <a:ea typeface="宋体" panose="02010600030101010101" pitchFamily="2" charset="-122"/>
                <a:cs typeface="Calibri" panose="020F0502020204030204" pitchFamily="34" charset="0"/>
              </a:rPr>
              <a:t>[]</a:t>
            </a:r>
          </a:p>
          <a:p>
            <a:pPr marL="457200" lvl="1" indent="0">
              <a:lnSpc>
                <a:spcPct val="100000"/>
              </a:lnSpc>
              <a:buNone/>
            </a:pPr>
            <a:r>
              <a:rPr lang="en-US" altLang="zh-CN" sz="2000" dirty="0" err="1">
                <a:latin typeface="Consolas" panose="020B0609020204030204" pitchFamily="49" charset="0"/>
                <a:ea typeface="宋体" panose="02010600030101010101" pitchFamily="2" charset="-122"/>
                <a:cs typeface="Calibri" panose="020F0502020204030204" pitchFamily="34" charset="0"/>
              </a:rPr>
              <a:t>defaultdict</a:t>
            </a:r>
            <a:r>
              <a:rPr lang="en-US" altLang="zh-CN" sz="2000" dirty="0">
                <a:latin typeface="Consolas" panose="020B0609020204030204" pitchFamily="49" charset="0"/>
                <a:ea typeface="宋体" panose="02010600030101010101" pitchFamily="2" charset="-122"/>
                <a:cs typeface="Calibri" panose="020F0502020204030204" pitchFamily="34" charset="0"/>
              </a:rPr>
              <a:t>(&lt;class 'list'&gt;, {'new key': ['new value']})</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92453238"/>
              </p:ext>
            </p:extLst>
          </p:nvPr>
        </p:nvGraphicFramePr>
        <p:xfrm>
          <a:off x="1418738" y="2552910"/>
          <a:ext cx="9353005" cy="29913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from collections import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defaultdict</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defaultdict</a:t>
                      </a:r>
                      <a:r>
                        <a:rPr lang="en" altLang="zh-CN" sz="2000" b="0" kern="100" dirty="0">
                          <a:solidFill>
                            <a:schemeClr val="tx2"/>
                          </a:solidFill>
                          <a:latin typeface="Consolas" panose="020B0609020204030204" pitchFamily="49" charset="0"/>
                          <a:ea typeface="+mn-ea"/>
                          <a:cs typeface="Times New Roman" panose="02020603050405020304" pitchFamily="18" charset="0"/>
                        </a:rPr>
                        <a:t>(list)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t = d['new key']</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print(t)</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t.append</a:t>
                      </a:r>
                      <a:r>
                        <a:rPr lang="en" altLang="zh-CN" sz="2000" b="0" kern="100" dirty="0">
                          <a:solidFill>
                            <a:schemeClr val="tx2"/>
                          </a:solidFill>
                          <a:latin typeface="Consolas" panose="020B0609020204030204" pitchFamily="49" charset="0"/>
                          <a:ea typeface="+mn-ea"/>
                          <a:cs typeface="Times New Roman" panose="02020603050405020304" pitchFamily="18" charset="0"/>
                        </a:rPr>
                        <a:t>('new value')</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print(d)</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64157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a:t>
            </a:r>
            <a:r>
              <a:rPr lang="en-US" altLang="zh-CN" dirty="0" err="1"/>
              <a:t>OrderedDict</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OrderedDict</a:t>
            </a:r>
            <a:r>
              <a:rPr lang="zh-CN" altLang="en-US" sz="2000" dirty="0">
                <a:latin typeface="Consolas" panose="020B0609020204030204" pitchFamily="49" charset="0"/>
                <a:ea typeface="宋体" panose="02010600030101010101" pitchFamily="2" charset="-122"/>
                <a:cs typeface="Calibri" panose="020F0502020204030204" pitchFamily="34" charset="0"/>
              </a:rPr>
              <a:t>是一个有序字典，它记住了字典中元素的插入顺序，这对于需要按照插入顺序迭代字典的场景非常有帮助。</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r>
              <a:rPr lang="en-US" altLang="zh-CN" sz="2000" dirty="0" err="1">
                <a:latin typeface="Consolas" panose="020B0609020204030204" pitchFamily="49" charset="0"/>
                <a:ea typeface="宋体" panose="02010600030101010101" pitchFamily="2" charset="-122"/>
                <a:cs typeface="Calibri" panose="020F0502020204030204" pitchFamily="34" charset="0"/>
              </a:rPr>
              <a:t>OrderedDict</a:t>
            </a:r>
            <a:r>
              <a:rPr lang="en-US" altLang="zh-CN" sz="2000" dirty="0">
                <a:latin typeface="Consolas" panose="020B0609020204030204" pitchFamily="49" charset="0"/>
                <a:ea typeface="宋体" panose="02010600030101010101" pitchFamily="2" charset="-122"/>
                <a:cs typeface="Calibri" panose="020F0502020204030204" pitchFamily="34" charset="0"/>
              </a:rPr>
              <a:t>([('one', 1), ('two', 2), ('three', 3)])</a:t>
            </a:r>
          </a:p>
          <a:p>
            <a:pPr marL="457200" lvl="1" indent="0">
              <a:lnSpc>
                <a:spcPct val="100000"/>
              </a:lnSpc>
              <a:buNone/>
            </a:pPr>
            <a:r>
              <a:rPr lang="en-US" altLang="zh-CN" sz="2000" dirty="0" err="1">
                <a:latin typeface="Consolas" panose="020B0609020204030204" pitchFamily="49" charset="0"/>
                <a:ea typeface="宋体" panose="02010600030101010101" pitchFamily="2" charset="-122"/>
                <a:cs typeface="Calibri" panose="020F0502020204030204" pitchFamily="34" charset="0"/>
              </a:rPr>
              <a:t>OrderedDict</a:t>
            </a:r>
            <a:r>
              <a:rPr lang="en-US" altLang="zh-CN" sz="2000" dirty="0">
                <a:latin typeface="Consolas" panose="020B0609020204030204" pitchFamily="49" charset="0"/>
                <a:ea typeface="宋体" panose="02010600030101010101" pitchFamily="2" charset="-122"/>
                <a:cs typeface="Calibri" panose="020F0502020204030204" pitchFamily="34" charset="0"/>
              </a:rPr>
              <a:t>([('one', 1), ('two', 2), ('three', 3), ('four', 4)])</a:t>
            </a:r>
          </a:p>
          <a:p>
            <a:pPr marL="457200" lvl="1" indent="0">
              <a:lnSpc>
                <a:spcPct val="100000"/>
              </a:lnSpc>
              <a:buNone/>
            </a:pPr>
            <a:r>
              <a:rPr lang="en-US" altLang="zh-CN" sz="2000" dirty="0" err="1">
                <a:latin typeface="Consolas" panose="020B0609020204030204" pitchFamily="49" charset="0"/>
                <a:ea typeface="宋体" panose="02010600030101010101" pitchFamily="2" charset="-122"/>
                <a:cs typeface="Calibri" panose="020F0502020204030204" pitchFamily="34" charset="0"/>
              </a:rPr>
              <a:t>odict_keys</a:t>
            </a:r>
            <a:r>
              <a:rPr lang="en-US" altLang="zh-CN" sz="2000" dirty="0">
                <a:latin typeface="Consolas" panose="020B0609020204030204" pitchFamily="49" charset="0"/>
                <a:ea typeface="宋体" panose="02010600030101010101" pitchFamily="2" charset="-122"/>
                <a:cs typeface="Calibri" panose="020F0502020204030204" pitchFamily="34" charset="0"/>
              </a:rPr>
              <a:t>(['one', 'two', 'three', 'four'])</a:t>
            </a: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2428459551"/>
              </p:ext>
            </p:extLst>
          </p:nvPr>
        </p:nvGraphicFramePr>
        <p:xfrm>
          <a:off x="1418738" y="2297416"/>
          <a:ext cx="9353005" cy="2991358"/>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import collections</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collections.OrderedDict</a:t>
                      </a:r>
                      <a:r>
                        <a:rPr lang="en" altLang="zh-CN" sz="2000" b="0" kern="100" dirty="0">
                          <a:solidFill>
                            <a:schemeClr val="tx2"/>
                          </a:solidFill>
                          <a:latin typeface="Consolas" panose="020B0609020204030204" pitchFamily="49" charset="0"/>
                          <a:ea typeface="+mn-ea"/>
                          <a:cs typeface="Times New Roman" panose="02020603050405020304" pitchFamily="18" charset="0"/>
                        </a:rPr>
                        <a:t>(one=1, two=2, three=3)</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print(d)</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d['four'] = 4</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print(d)</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d.keys</a:t>
                      </a:r>
                      <a:r>
                        <a:rPr lang="en" altLang="zh-CN" sz="2000" b="0" kern="100" dirty="0">
                          <a:solidFill>
                            <a:schemeClr val="tx2"/>
                          </a:solidFill>
                          <a:latin typeface="Consolas" panose="020B0609020204030204" pitchFamily="49" charset="0"/>
                          <a:ea typeface="+mn-ea"/>
                          <a:cs typeface="Times New Roman" panose="02020603050405020304" pitchFamily="18" charset="0"/>
                        </a:rPr>
                        <a:t>())</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38871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a:t>
            </a:r>
            <a:r>
              <a:rPr lang="en-US" altLang="zh-CN" dirty="0" err="1"/>
              <a:t>ChainMap</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err="1">
                <a:latin typeface="Consolas" panose="020B0609020204030204" pitchFamily="49" charset="0"/>
                <a:ea typeface="宋体" panose="02010600030101010101" pitchFamily="2" charset="-122"/>
                <a:cs typeface="Calibri" panose="020F0502020204030204" pitchFamily="34" charset="0"/>
              </a:rPr>
              <a:t>ChainMap</a:t>
            </a:r>
            <a:r>
              <a:rPr lang="zh-CN" altLang="en-US" sz="2000" dirty="0">
                <a:latin typeface="Consolas" panose="020B0609020204030204" pitchFamily="49" charset="0"/>
                <a:ea typeface="宋体" panose="02010600030101010101" pitchFamily="2" charset="-122"/>
                <a:cs typeface="Calibri" panose="020F0502020204030204" pitchFamily="34" charset="0"/>
              </a:rPr>
              <a:t>是一个用于合并多个字典或映射的类。当查询键时，它会依次在每个字典中查找，直到找到为止。</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2617607456"/>
              </p:ext>
            </p:extLst>
          </p:nvPr>
        </p:nvGraphicFramePr>
        <p:xfrm>
          <a:off x="1240890" y="2122969"/>
          <a:ext cx="9980682" cy="4449953"/>
        </p:xfrm>
        <a:graphic>
          <a:graphicData uri="http://schemas.openxmlformats.org/drawingml/2006/table">
            <a:tbl>
              <a:tblPr firstRow="1" bandRow="1">
                <a:tableStyleId>{5C22544A-7EE6-4342-B048-85BDC9FD1C3A}</a:tableStyleId>
              </a:tblPr>
              <a:tblGrid>
                <a:gridCol w="9980682">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US"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将多个字典组合成一个映射，查找会逐个搜索底层映射，直到找到键为止，插入、更新和删除仅影响链中添加的第一个映射</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from collections import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ChainMap</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dict1 = {'one': 1, 'two': 2}</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dict2 = {'three': 3, 'four': 4}</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chain =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ChainMap</a:t>
                      </a:r>
                      <a:r>
                        <a:rPr lang="en" altLang="zh-CN" sz="2000" b="0" kern="100" dirty="0">
                          <a:solidFill>
                            <a:schemeClr val="tx2"/>
                          </a:solidFill>
                          <a:latin typeface="Consolas" panose="020B0609020204030204" pitchFamily="49" charset="0"/>
                          <a:ea typeface="+mn-ea"/>
                          <a:cs typeface="Times New Roman" panose="02020603050405020304" pitchFamily="18" charset="0"/>
                        </a:rPr>
                        <a:t>(dict1, dict2)</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print(chain)</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ChainMap</a:t>
                      </a:r>
                      <a:r>
                        <a:rPr lang="en" altLang="zh-CN" sz="2000" b="0" kern="100" dirty="0">
                          <a:solidFill>
                            <a:schemeClr val="tx2"/>
                          </a:solidFill>
                          <a:latin typeface="Consolas" panose="020B0609020204030204" pitchFamily="49" charset="0"/>
                          <a:ea typeface="+mn-ea"/>
                          <a:cs typeface="Times New Roman" panose="02020603050405020304" pitchFamily="18" charset="0"/>
                        </a:rPr>
                        <a:t>({'one': 1, 'two': 2}, {'three': 3, 'four': 4})</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en" altLang="zh-CN" sz="2000" b="0" kern="100" dirty="0" err="1">
                          <a:solidFill>
                            <a:schemeClr val="tx2"/>
                          </a:solidFill>
                          <a:latin typeface="Consolas" panose="020B0609020204030204" pitchFamily="49" charset="0"/>
                          <a:ea typeface="+mn-ea"/>
                          <a:cs typeface="Times New Roman" panose="02020603050405020304" pitchFamily="18" charset="0"/>
                        </a:rPr>
                        <a:t>ChainMap</a:t>
                      </a:r>
                      <a:r>
                        <a:rPr lang="en" altLang="zh-CN" sz="2000" b="0" kern="100" dirty="0">
                          <a:solidFill>
                            <a:schemeClr val="tx2"/>
                          </a:solidFill>
                          <a:latin typeface="Consolas" panose="020B0609020204030204" pitchFamily="49" charset="0"/>
                          <a:ea typeface="+mn-ea"/>
                          <a:cs typeface="Times New Roman" panose="02020603050405020304" pitchFamily="18" charset="0"/>
                        </a:rPr>
                        <a:t> </a:t>
                      </a:r>
                      <a:r>
                        <a:rPr lang="zh-CN" altLang="en-US" sz="2000" b="0" kern="100" dirty="0">
                          <a:solidFill>
                            <a:schemeClr val="tx2"/>
                          </a:solidFill>
                          <a:latin typeface="Consolas" panose="020B0609020204030204" pitchFamily="49" charset="0"/>
                          <a:ea typeface="+mn-ea"/>
                          <a:cs typeface="Times New Roman" panose="02020603050405020304" pitchFamily="18" charset="0"/>
                        </a:rPr>
                        <a:t>从左到右搜索链中的每个集合，直到找到键（或失败）：</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print(chain['three'])</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3</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print(chain['one'])</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1</a:t>
                      </a: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print(chain['missing'])</a:t>
                      </a:r>
                      <a:r>
                        <a:rPr lang="zh-CN" altLang="en-US" sz="2000" b="0" kern="100" dirty="0">
                          <a:solidFill>
                            <a:schemeClr val="tx2"/>
                          </a:solidFill>
                          <a:latin typeface="Consolas" panose="020B0609020204030204" pitchFamily="49" charset="0"/>
                          <a:ea typeface="+mn-ea"/>
                          <a:cs typeface="Times New Roman" panose="02020603050405020304" pitchFamily="18" charset="0"/>
                        </a:rPr>
                        <a:t>  </a:t>
                      </a:r>
                      <a:r>
                        <a:rPr lang="en-US" altLang="zh-CN" sz="2000" b="0" kern="100" dirty="0">
                          <a:solidFill>
                            <a:schemeClr val="tx2"/>
                          </a:solidFill>
                          <a:latin typeface="Consolas" panose="020B0609020204030204" pitchFamily="49" charset="0"/>
                          <a:ea typeface="+mn-ea"/>
                          <a:cs typeface="Times New Roman" panose="02020603050405020304" pitchFamily="18" charset="0"/>
                        </a:rPr>
                        <a:t>#</a:t>
                      </a:r>
                      <a:r>
                        <a:rPr lang="zh-CN" altLang="en-US" sz="2000" b="0" kern="100" dirty="0">
                          <a:solidFill>
                            <a:schemeClr val="tx2"/>
                          </a:solidFill>
                          <a:latin typeface="Consolas" panose="020B0609020204030204" pitchFamily="49" charset="0"/>
                          <a:ea typeface="+mn-ea"/>
                          <a:cs typeface="Times New Roman" panose="02020603050405020304" pitchFamily="18" charset="0"/>
                        </a:rPr>
                        <a:t> 报错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37405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45720" rIns="0" bIns="45720" rtlCol="0" anchor="b">
            <a:normAutofit/>
          </a:bodyPr>
          <a:lstStyle/>
          <a:p>
            <a:r>
              <a:rPr lang="en-US" altLang="zh-CN" dirty="0"/>
              <a:t>collections</a:t>
            </a:r>
            <a:r>
              <a:rPr lang="zh-CN" altLang="en-US" dirty="0"/>
              <a:t>模块</a:t>
            </a:r>
            <a:r>
              <a:rPr lang="en-US" altLang="zh-CN" dirty="0"/>
              <a:t>——deque</a:t>
            </a:r>
            <a:endParaRPr lang="en-US" dirty="0"/>
          </a:p>
        </p:txBody>
      </p:sp>
      <p:sp>
        <p:nvSpPr>
          <p:cNvPr id="14" name="Content Placeholder 13"/>
          <p:cNvSpPr>
            <a:spLocks noGrp="1"/>
          </p:cNvSpPr>
          <p:nvPr>
            <p:ph idx="1"/>
          </p:nvPr>
        </p:nvSpPr>
        <p:spPr>
          <a:xfrm>
            <a:off x="970428" y="1422955"/>
            <a:ext cx="9980682" cy="5251268"/>
          </a:xfrm>
        </p:spPr>
        <p:txBody>
          <a:bodyPr>
            <a:noAutofit/>
          </a:bodyPr>
          <a:lstStyle/>
          <a:p>
            <a:pPr lvl="1">
              <a:lnSpc>
                <a:spcPct val="100000"/>
              </a:lnSpc>
            </a:pPr>
            <a:r>
              <a:rPr lang="en-US" altLang="zh-CN" sz="2000" dirty="0">
                <a:latin typeface="Consolas" panose="020B0609020204030204" pitchFamily="49" charset="0"/>
                <a:ea typeface="宋体" panose="02010600030101010101" pitchFamily="2" charset="-122"/>
                <a:cs typeface="Calibri" panose="020F0502020204030204" pitchFamily="34" charset="0"/>
              </a:rPr>
              <a:t>deque</a:t>
            </a:r>
            <a:r>
              <a:rPr lang="zh-CN" altLang="en-US" sz="2000" dirty="0">
                <a:latin typeface="Consolas" panose="020B0609020204030204" pitchFamily="49" charset="0"/>
                <a:ea typeface="宋体" panose="02010600030101010101" pitchFamily="2" charset="-122"/>
                <a:cs typeface="Calibri" panose="020F0502020204030204" pitchFamily="34" charset="0"/>
              </a:rPr>
              <a:t>（双端队列）提供了在两端进行高效插入和删除操作的数据结构，这对于需要频繁从两端操作数据的场景非常有用，例如实现队列和栈。</a:t>
            </a: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marL="457200" lvl="1" indent="0">
              <a:lnSpc>
                <a:spcPct val="100000"/>
              </a:lnSpc>
              <a:buNone/>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a:p>
            <a:pPr lvl="1">
              <a:lnSpc>
                <a:spcPct val="100000"/>
              </a:lnSpc>
            </a:pPr>
            <a:endParaRPr lang="en-US" altLang="zh-CN" sz="2000" dirty="0">
              <a:latin typeface="Consolas" panose="020B0609020204030204" pitchFamily="49" charset="0"/>
              <a:ea typeface="宋体" panose="02010600030101010101" pitchFamily="2" charset="-122"/>
              <a:cs typeface="Calibri" panose="020F0502020204030204" pitchFamily="34" charset="0"/>
            </a:endParaRPr>
          </a:p>
        </p:txBody>
      </p:sp>
      <p:graphicFrame>
        <p:nvGraphicFramePr>
          <p:cNvPr id="8" name="表格 7">
            <a:extLst>
              <a:ext uri="{FF2B5EF4-FFF2-40B4-BE49-F238E27FC236}">
                <a16:creationId xmlns:a16="http://schemas.microsoft.com/office/drawing/2014/main" id="{40458825-6594-164B-8FA2-739F0719A59D}"/>
              </a:ext>
            </a:extLst>
          </p:cNvPr>
          <p:cNvGraphicFramePr>
            <a:graphicFrameLocks noGrp="1"/>
          </p:cNvGraphicFramePr>
          <p:nvPr>
            <p:extLst>
              <p:ext uri="{D42A27DB-BD31-4B8C-83A1-F6EECF244321}">
                <p14:modId xmlns:p14="http://schemas.microsoft.com/office/powerpoint/2010/main" val="2819293127"/>
              </p:ext>
            </p:extLst>
          </p:nvPr>
        </p:nvGraphicFramePr>
        <p:xfrm>
          <a:off x="1284266" y="2257075"/>
          <a:ext cx="9353005" cy="4084193"/>
        </p:xfrm>
        <a:graphic>
          <a:graphicData uri="http://schemas.openxmlformats.org/drawingml/2006/table">
            <a:tbl>
              <a:tblPr firstRow="1" bandRow="1">
                <a:tableStyleId>{5C22544A-7EE6-4342-B048-85BDC9FD1C3A}</a:tableStyleId>
              </a:tblPr>
              <a:tblGrid>
                <a:gridCol w="9353005">
                  <a:extLst>
                    <a:ext uri="{9D8B030D-6E8A-4147-A177-3AD203B41FA5}">
                      <a16:colId xmlns:a16="http://schemas.microsoft.com/office/drawing/2014/main" val="2860933062"/>
                    </a:ext>
                  </a:extLst>
                </a:gridCol>
              </a:tblGrid>
              <a:tr h="538844">
                <a:tc>
                  <a:txBody>
                    <a:bodyPr/>
                    <a:lstStyle/>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from collections import deque</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q = deque()</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q.append</a:t>
                      </a:r>
                      <a:r>
                        <a:rPr lang="en" altLang="zh-CN" sz="2000" b="0" kern="100" dirty="0">
                          <a:solidFill>
                            <a:schemeClr val="tx2"/>
                          </a:solidFill>
                          <a:latin typeface="Consolas" panose="020B0609020204030204" pitchFamily="49" charset="0"/>
                          <a:ea typeface="+mn-ea"/>
                          <a:cs typeface="Times New Roman" panose="02020603050405020304" pitchFamily="18" charset="0"/>
                        </a:rPr>
                        <a:t>('eat')</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q.append</a:t>
                      </a:r>
                      <a:r>
                        <a:rPr lang="en" altLang="zh-CN" sz="2000" b="0" kern="100" dirty="0">
                          <a:solidFill>
                            <a:schemeClr val="tx2"/>
                          </a:solidFill>
                          <a:latin typeface="Consolas" panose="020B0609020204030204" pitchFamily="49" charset="0"/>
                          <a:ea typeface="+mn-ea"/>
                          <a:cs typeface="Times New Roman" panose="02020603050405020304" pitchFamily="18" charset="0"/>
                        </a:rPr>
                        <a:t>('sleep')</a:t>
                      </a:r>
                    </a:p>
                    <a:p>
                      <a:pPr marL="0" lvl="1" algn="just" defTabSz="914400" rtl="0" eaLnBrk="1" latinLnBrk="0" hangingPunct="1">
                        <a:lnSpc>
                          <a:spcPct val="120000"/>
                        </a:lnSpc>
                      </a:pPr>
                      <a:r>
                        <a:rPr lang="en" altLang="zh-CN" sz="2000" b="0" kern="100" dirty="0" err="1">
                          <a:solidFill>
                            <a:schemeClr val="tx2"/>
                          </a:solidFill>
                          <a:latin typeface="Consolas" panose="020B0609020204030204" pitchFamily="49" charset="0"/>
                          <a:ea typeface="+mn-ea"/>
                          <a:cs typeface="Times New Roman" panose="02020603050405020304" pitchFamily="18" charset="0"/>
                        </a:rPr>
                        <a:t>q.append</a:t>
                      </a:r>
                      <a:r>
                        <a:rPr lang="en" altLang="zh-CN" sz="2000" b="0" kern="100" dirty="0">
                          <a:solidFill>
                            <a:schemeClr val="tx2"/>
                          </a:solidFill>
                          <a:latin typeface="Consolas" panose="020B0609020204030204" pitchFamily="49" charset="0"/>
                          <a:ea typeface="+mn-ea"/>
                          <a:cs typeface="Times New Roman" panose="02020603050405020304" pitchFamily="18" charset="0"/>
                        </a:rPr>
                        <a:t>('code')</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print(q)  # deque(['eat', 'sleep', 'code'])</a:t>
                      </a:r>
                    </a:p>
                    <a:p>
                      <a:pPr marL="0" lvl="1" algn="just" defTabSz="914400" rtl="0" eaLnBrk="1" latinLnBrk="0" hangingPunct="1">
                        <a:lnSpc>
                          <a:spcPct val="120000"/>
                        </a:lnSpc>
                      </a:pPr>
                      <a:endParaRPr lang="en" altLang="zh-CN" sz="2000" b="0" kern="100" dirty="0">
                        <a:solidFill>
                          <a:schemeClr val="tx2"/>
                        </a:solidFill>
                        <a:latin typeface="Consolas" panose="020B0609020204030204" pitchFamily="49" charset="0"/>
                        <a:ea typeface="+mn-ea"/>
                        <a:cs typeface="Times New Roman" panose="02020603050405020304" pitchFamily="18" charset="0"/>
                      </a:endParaRPr>
                    </a:p>
                    <a:p>
                      <a:pPr marL="0" marR="0" lvl="1" indent="0" algn="just" defTabSz="914400" rtl="0" eaLnBrk="1" fontAlgn="auto" latinLnBrk="0" hangingPunct="1">
                        <a:lnSpc>
                          <a:spcPct val="120000"/>
                        </a:lnSpc>
                        <a:spcBef>
                          <a:spcPts val="0"/>
                        </a:spcBef>
                        <a:spcAft>
                          <a:spcPts val="0"/>
                        </a:spcAft>
                        <a:buClrTx/>
                        <a:buSzTx/>
                        <a:buFontTx/>
                        <a:buNone/>
                        <a:tabLst/>
                        <a:defRPr/>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q.popleft</a:t>
                      </a:r>
                      <a:r>
                        <a:rPr lang="en" altLang="zh-CN" sz="2000" b="0" kern="100" dirty="0">
                          <a:solidFill>
                            <a:schemeClr val="tx2"/>
                          </a:solidFill>
                          <a:latin typeface="Consolas" panose="020B0609020204030204" pitchFamily="49" charset="0"/>
                          <a:ea typeface="+mn-ea"/>
                          <a:cs typeface="Times New Roman" panose="02020603050405020304" pitchFamily="18" charset="0"/>
                        </a:rPr>
                        <a:t>()) # eat</a:t>
                      </a:r>
                    </a:p>
                    <a:p>
                      <a:pPr marL="0" marR="0" lvl="1" indent="0" algn="just" defTabSz="914400" rtl="0" eaLnBrk="1" fontAlgn="auto" latinLnBrk="0" hangingPunct="1">
                        <a:lnSpc>
                          <a:spcPct val="120000"/>
                        </a:lnSpc>
                        <a:spcBef>
                          <a:spcPts val="0"/>
                        </a:spcBef>
                        <a:spcAft>
                          <a:spcPts val="0"/>
                        </a:spcAft>
                        <a:buClrTx/>
                        <a:buSzTx/>
                        <a:buFontTx/>
                        <a:buNone/>
                        <a:tabLst/>
                        <a:defRPr/>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q.popleft</a:t>
                      </a:r>
                      <a:r>
                        <a:rPr lang="en" altLang="zh-CN" sz="2000" b="0" kern="100" dirty="0">
                          <a:solidFill>
                            <a:schemeClr val="tx2"/>
                          </a:solidFill>
                          <a:latin typeface="Consolas" panose="020B0609020204030204" pitchFamily="49" charset="0"/>
                          <a:ea typeface="+mn-ea"/>
                          <a:cs typeface="Times New Roman" panose="02020603050405020304" pitchFamily="18" charset="0"/>
                        </a:rPr>
                        <a:t>()) # sleep</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q.popleft</a:t>
                      </a:r>
                      <a:r>
                        <a:rPr lang="en" altLang="zh-CN" sz="2000" b="0" kern="100" dirty="0">
                          <a:solidFill>
                            <a:schemeClr val="tx2"/>
                          </a:solidFill>
                          <a:latin typeface="Consolas" panose="020B0609020204030204" pitchFamily="49" charset="0"/>
                          <a:ea typeface="+mn-ea"/>
                          <a:cs typeface="Times New Roman" panose="02020603050405020304" pitchFamily="18" charset="0"/>
                        </a:rPr>
                        <a:t>()) # code</a:t>
                      </a:r>
                    </a:p>
                    <a:p>
                      <a:pPr marL="0" lvl="1" algn="just" defTabSz="914400" rtl="0" eaLnBrk="1" latinLnBrk="0" hangingPunct="1">
                        <a:lnSpc>
                          <a:spcPct val="120000"/>
                        </a:lnSpc>
                      </a:pPr>
                      <a:r>
                        <a:rPr lang="en" altLang="zh-CN" sz="2000" b="0" kern="100" dirty="0">
                          <a:solidFill>
                            <a:schemeClr val="tx2"/>
                          </a:solidFill>
                          <a:latin typeface="Consolas" panose="020B0609020204030204" pitchFamily="49" charset="0"/>
                          <a:ea typeface="+mn-ea"/>
                          <a:cs typeface="Times New Roman" panose="02020603050405020304" pitchFamily="18" charset="0"/>
                        </a:rPr>
                        <a:t>print(</a:t>
                      </a:r>
                      <a:r>
                        <a:rPr lang="en" altLang="zh-CN" sz="2000" b="0" kern="100" dirty="0" err="1">
                          <a:solidFill>
                            <a:schemeClr val="tx2"/>
                          </a:solidFill>
                          <a:latin typeface="Consolas" panose="020B0609020204030204" pitchFamily="49" charset="0"/>
                          <a:ea typeface="+mn-ea"/>
                          <a:cs typeface="Times New Roman" panose="02020603050405020304" pitchFamily="18" charset="0"/>
                        </a:rPr>
                        <a:t>q.popleft</a:t>
                      </a:r>
                      <a:r>
                        <a:rPr lang="en" altLang="zh-CN" sz="2000" b="0" kern="100" dirty="0">
                          <a:solidFill>
                            <a:schemeClr val="tx2"/>
                          </a:solidFill>
                          <a:latin typeface="Consolas" panose="020B0609020204030204" pitchFamily="49" charset="0"/>
                          <a:ea typeface="+mn-ea"/>
                          <a:cs typeface="Times New Roman" panose="02020603050405020304" pitchFamily="18" charset="0"/>
                        </a:rPr>
                        <a:t>()) # </a:t>
                      </a:r>
                      <a:r>
                        <a:rPr lang="zh-CN" altLang="en" sz="2000" b="0" kern="100" dirty="0">
                          <a:solidFill>
                            <a:schemeClr val="tx2"/>
                          </a:solidFill>
                          <a:latin typeface="Consolas" panose="020B0609020204030204" pitchFamily="49" charset="0"/>
                          <a:ea typeface="+mn-ea"/>
                          <a:cs typeface="Times New Roman" panose="02020603050405020304" pitchFamily="18" charset="0"/>
                        </a:rPr>
                        <a:t>报错</a:t>
                      </a:r>
                      <a:endParaRPr lang="zh-CN" altLang="en-US" sz="2000" b="0" kern="100" dirty="0">
                        <a:solidFill>
                          <a:schemeClr val="tx2"/>
                        </a:solidFill>
                        <a:latin typeface="Consolas" panose="020B0609020204030204" pitchFamily="49"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51767066"/>
                  </a:ext>
                </a:extLst>
              </a:tr>
            </a:tbl>
          </a:graphicData>
        </a:graphic>
      </p:graphicFrame>
    </p:spTree>
    <p:extLst>
      <p:ext uri="{BB962C8B-B14F-4D97-AF65-F5344CB8AC3E}">
        <p14:creationId xmlns:p14="http://schemas.microsoft.com/office/powerpoint/2010/main" val="142771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164167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2.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BAFF00-647E-4627-9B6C-A5CDC1F32200}">
  <ds:schemaRefs>
    <ds:schemaRef ds:uri="a4f35948-e619-41b3-aa29-22878b09cfd2"/>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40262f94-9f35-4ac3-9a90-690165a166b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2613</TotalTime>
  <Words>4439</Words>
  <Application>Microsoft Macintosh PowerPoint</Application>
  <PresentationFormat>Widescreen</PresentationFormat>
  <Paragraphs>559</Paragraphs>
  <Slides>72</Slides>
  <Notes>55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72</vt:i4>
      </vt:variant>
    </vt:vector>
  </HeadingPairs>
  <TitlesOfParts>
    <vt:vector size="86" baseType="lpstr">
      <vt:lpstr>微软雅黑</vt:lpstr>
      <vt:lpstr>微软雅黑</vt:lpstr>
      <vt:lpstr>宋体</vt:lpstr>
      <vt:lpstr>Arial</vt:lpstr>
      <vt:lpstr>Calibri</vt:lpstr>
      <vt:lpstr>Consolas</vt:lpstr>
      <vt:lpstr>Courier New</vt:lpstr>
      <vt:lpstr>Euphemia</vt:lpstr>
      <vt:lpstr>Open Sans</vt:lpstr>
      <vt:lpstr>Palatino Linotype</vt:lpstr>
      <vt:lpstr>Plantagenet Cherokee</vt:lpstr>
      <vt:lpstr>Times New Roman</vt:lpstr>
      <vt:lpstr>Wingdings</vt:lpstr>
      <vt:lpstr>Academic Literature 16x9</vt:lpstr>
      <vt:lpstr>第8章 Python 常用标准库</vt:lpstr>
      <vt:lpstr>教学内容</vt:lpstr>
      <vt:lpstr>8.1 时间模块</vt:lpstr>
      <vt:lpstr>time模块——时间的访问与转换</vt:lpstr>
      <vt:lpstr>time模块——时间的访问与转换</vt:lpstr>
      <vt:lpstr>PowerPoint Presentation</vt:lpstr>
      <vt:lpstr>PowerPoint Presentation</vt:lpstr>
      <vt:lpstr>datetime模块——操作日期和时间</vt:lpstr>
      <vt:lpstr>datetime模块：date类</vt:lpstr>
      <vt:lpstr>datetime模块：time类</vt:lpstr>
      <vt:lpstr>datetime模块：datetime类</vt:lpstr>
      <vt:lpstr>datetime模块：timedelta类</vt:lpstr>
      <vt:lpstr>PowerPoint Presentation</vt:lpstr>
      <vt:lpstr>calendar模块——输出日历格式</vt:lpstr>
      <vt:lpstr>calendar模块——输出日历格式</vt:lpstr>
      <vt:lpstr>8.1.2 双端队列与枚举 </vt:lpstr>
      <vt:lpstr>双端队列</vt:lpstr>
      <vt:lpstr>双端队列</vt:lpstr>
      <vt:lpstr>枚举类型</vt:lpstr>
      <vt:lpstr>8.2 数学模块</vt:lpstr>
      <vt:lpstr>math模块——数学函数的访问</vt:lpstr>
      <vt:lpstr>math模块：数论与表示函数</vt:lpstr>
      <vt:lpstr>PowerPoint Presentation</vt:lpstr>
      <vt:lpstr>math模块：幂函数与对数函数、三角函数</vt:lpstr>
      <vt:lpstr>PowerPoint Presentation</vt:lpstr>
      <vt:lpstr>decimal模块：十进制定点和浮点运算</vt:lpstr>
      <vt:lpstr>PowerPoint Presentation</vt:lpstr>
      <vt:lpstr>fractions模块：分数运算</vt:lpstr>
      <vt:lpstr>fractions模块：分数运算</vt:lpstr>
      <vt:lpstr>fractions模块：分数运算</vt:lpstr>
      <vt:lpstr>random模块：各种分布的伪随机数生成器</vt:lpstr>
      <vt:lpstr>random模块：常用函数</vt:lpstr>
      <vt:lpstr>random模块：常用函数</vt:lpstr>
      <vt:lpstr>random模块：常用函数</vt:lpstr>
      <vt:lpstr>random模块：常用函数</vt:lpstr>
      <vt:lpstr>random模块：常用函数</vt:lpstr>
      <vt:lpstr>PowerPoint Presentation</vt:lpstr>
      <vt:lpstr>8.3 绘图模块：turtle（建议在IDLE或Pycharm中运行turtle相关程序）</vt:lpstr>
      <vt:lpstr>turtle模块：海龟绘图</vt:lpstr>
      <vt:lpstr>（1）常用函数</vt:lpstr>
      <vt:lpstr>（2）常用函数</vt:lpstr>
      <vt:lpstr>turtle 模块的应用</vt:lpstr>
      <vt:lpstr>PowerPoint Presentation</vt:lpstr>
      <vt:lpstr>PowerPoint Presentation</vt:lpstr>
      <vt:lpstr>案例：七段数码管绘制</vt:lpstr>
      <vt:lpstr>PowerPoint Presentation</vt:lpstr>
      <vt:lpstr>PowerPoint Presentation</vt:lpstr>
      <vt:lpstr>8.4 操作系统模块：OS Module</vt:lpstr>
      <vt:lpstr>os模块</vt:lpstr>
      <vt:lpstr>os模块的主要功能</vt:lpstr>
      <vt:lpstr>os模块示例</vt:lpstr>
      <vt:lpstr>8.5 系统模块：sys Module</vt:lpstr>
      <vt:lpstr>sys模块</vt:lpstr>
      <vt:lpstr>sys模块的主要功能</vt:lpstr>
      <vt:lpstr>sys模块的主要功能</vt:lpstr>
      <vt:lpstr>sys模块的主要功能</vt:lpstr>
      <vt:lpstr>8.6 统计模块：Statistics Module</vt:lpstr>
      <vt:lpstr>statistics模块</vt:lpstr>
      <vt:lpstr>statistics模块的主要功能</vt:lpstr>
      <vt:lpstr>statistics模块的主要功能</vt:lpstr>
      <vt:lpstr>statistics模块的主要功能</vt:lpstr>
      <vt:lpstr>8.7 集合模块：Collections Module</vt:lpstr>
      <vt:lpstr>collections模块</vt:lpstr>
      <vt:lpstr>collections模块——namedtuple</vt:lpstr>
      <vt:lpstr>collections模块——namedtuple</vt:lpstr>
      <vt:lpstr>collections模块——Counter</vt:lpstr>
      <vt:lpstr>collections模块——Counter</vt:lpstr>
      <vt:lpstr>collections模块——defaultdict</vt:lpstr>
      <vt:lpstr>collections模块——OrderedDict</vt:lpstr>
      <vt:lpstr>collections模块——ChainMap</vt:lpstr>
      <vt:lpstr>collections模块——deque</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肖燕</dc:creator>
  <cp:lastModifiedBy>Hao Fan</cp:lastModifiedBy>
  <cp:revision>275</cp:revision>
  <dcterms:created xsi:type="dcterms:W3CDTF">2014-04-17T22:28:38Z</dcterms:created>
  <dcterms:modified xsi:type="dcterms:W3CDTF">2026-02-26T07:20:37Z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