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handoutMasterIdLst>
    <p:handoutMasterId r:id="rId49"/>
  </p:handoutMasterIdLst>
  <p:sldIdLst>
    <p:sldId id="256" r:id="rId5"/>
    <p:sldId id="25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261" r:id="rId23"/>
    <p:sldId id="269" r:id="rId24"/>
    <p:sldId id="259" r:id="rId25"/>
    <p:sldId id="270" r:id="rId26"/>
    <p:sldId id="271" r:id="rId27"/>
    <p:sldId id="272" r:id="rId28"/>
    <p:sldId id="273" r:id="rId29"/>
    <p:sldId id="305" r:id="rId30"/>
    <p:sldId id="274" r:id="rId31"/>
    <p:sldId id="275" r:id="rId32"/>
    <p:sldId id="276" r:id="rId33"/>
    <p:sldId id="306" r:id="rId34"/>
    <p:sldId id="277" r:id="rId35"/>
    <p:sldId id="278" r:id="rId36"/>
    <p:sldId id="279" r:id="rId37"/>
    <p:sldId id="307" r:id="rId38"/>
    <p:sldId id="308" r:id="rId39"/>
    <p:sldId id="309" r:id="rId40"/>
    <p:sldId id="310" r:id="rId41"/>
    <p:sldId id="311" r:id="rId42"/>
    <p:sldId id="312" r:id="rId43"/>
    <p:sldId id="313" r:id="rId44"/>
    <p:sldId id="314" r:id="rId45"/>
    <p:sldId id="284" r:id="rId46"/>
    <p:sldId id="31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99" autoAdjust="0"/>
    <p:restoredTop sz="95073" autoAdjust="0"/>
  </p:normalViewPr>
  <p:slideViewPr>
    <p:cSldViewPr snapToGrid="0" showGuides="1">
      <p:cViewPr varScale="1">
        <p:scale>
          <a:sx n="126" d="100"/>
          <a:sy n="126" d="100"/>
        </p:scale>
        <p:origin x="216" y="224"/>
      </p:cViewPr>
      <p:guideLst>
        <p:guide orient="horz" pos="2160"/>
        <p:guide pos="3840"/>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cs typeface="Arial" pitchFamily="34" charset="0"/>
              </a:rPr>
              <a:t>NOTE: </a:t>
            </a:r>
            <a:r>
              <a:rPr lang="en-US" sz="1200" dirty="0">
                <a:cs typeface="Arial" pitchFamily="34" charset="0"/>
              </a:rPr>
              <a:t>Want a different image on this slide? Select the picture and delete it. Now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205551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a:p>
        </p:txBody>
      </p:sp>
    </p:spTree>
    <p:extLst>
      <p:ext uri="{BB962C8B-B14F-4D97-AF65-F5344CB8AC3E}">
        <p14:creationId xmlns:p14="http://schemas.microsoft.com/office/powerpoint/2010/main" val="1943810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A7D97-E2B5-EB01-D4D7-A794E6F09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DC79B-FD87-B70C-6F15-7F6828E60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BCDCC-C260-03B3-69B1-6527B51F46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88A70E-D235-9097-8384-140CC9B0D670}"/>
              </a:ext>
            </a:extLst>
          </p:cNvPr>
          <p:cNvSpPr>
            <a:spLocks noGrp="1"/>
          </p:cNvSpPr>
          <p:nvPr>
            <p:ph type="sldNum" sz="quarter" idx="10"/>
          </p:nvPr>
        </p:nvSpPr>
        <p:spPr/>
        <p:txBody>
          <a:bodyPr/>
          <a:lstStyle/>
          <a:p>
            <a:fld id="{0A3C37BE-C303-496D-B5CD-85F2937540FC}" type="slidenum">
              <a:rPr lang="en-US"/>
              <a:t>3</a:t>
            </a:fld>
            <a:endParaRPr lang="en-US"/>
          </a:p>
        </p:txBody>
      </p:sp>
    </p:spTree>
    <p:extLst>
      <p:ext uri="{BB962C8B-B14F-4D97-AF65-F5344CB8AC3E}">
        <p14:creationId xmlns:p14="http://schemas.microsoft.com/office/powerpoint/2010/main" val="720011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4DAB3-F76E-3AC0-554E-809DB0CA8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7A83B-5576-255C-9B49-C5BD30F96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24117-1181-6E57-0853-3017FD2531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5EF53E-C51A-FEA7-1FFA-A16451038482}"/>
              </a:ext>
            </a:extLst>
          </p:cNvPr>
          <p:cNvSpPr>
            <a:spLocks noGrp="1"/>
          </p:cNvSpPr>
          <p:nvPr>
            <p:ph type="sldNum" sz="quarter" idx="10"/>
          </p:nvPr>
        </p:nvSpPr>
        <p:spPr/>
        <p:txBody>
          <a:bodyPr/>
          <a:lstStyle/>
          <a:p>
            <a:fld id="{0A3C37BE-C303-496D-B5CD-85F2937540FC}" type="slidenum">
              <a:rPr lang="en-US"/>
              <a:t>9</a:t>
            </a:fld>
            <a:endParaRPr lang="en-US"/>
          </a:p>
        </p:txBody>
      </p:sp>
    </p:spTree>
    <p:extLst>
      <p:ext uri="{BB962C8B-B14F-4D97-AF65-F5344CB8AC3E}">
        <p14:creationId xmlns:p14="http://schemas.microsoft.com/office/powerpoint/2010/main" val="1466109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BE2A9-7FD0-59ED-E51B-208193AB4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F060E-267D-0184-CB17-69DF856F5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3D534-B6B7-29C6-5B39-3AF991DAA8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6B6C91-B39F-AFDA-0F0F-6E993344286B}"/>
              </a:ext>
            </a:extLst>
          </p:cNvPr>
          <p:cNvSpPr>
            <a:spLocks noGrp="1"/>
          </p:cNvSpPr>
          <p:nvPr>
            <p:ph type="sldNum" sz="quarter" idx="10"/>
          </p:nvPr>
        </p:nvSpPr>
        <p:spPr/>
        <p:txBody>
          <a:bodyPr/>
          <a:lstStyle/>
          <a:p>
            <a:fld id="{0A3C37BE-C303-496D-B5CD-85F2937540FC}" type="slidenum">
              <a:rPr lang="en-US"/>
              <a:t>14</a:t>
            </a:fld>
            <a:endParaRPr lang="en-US"/>
          </a:p>
        </p:txBody>
      </p:sp>
    </p:spTree>
    <p:extLst>
      <p:ext uri="{BB962C8B-B14F-4D97-AF65-F5344CB8AC3E}">
        <p14:creationId xmlns:p14="http://schemas.microsoft.com/office/powerpoint/2010/main" val="3992935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19</a:t>
            </a:fld>
            <a:endParaRPr lang="en-US"/>
          </a:p>
        </p:txBody>
      </p:sp>
    </p:spTree>
    <p:extLst>
      <p:ext uri="{BB962C8B-B14F-4D97-AF65-F5344CB8AC3E}">
        <p14:creationId xmlns:p14="http://schemas.microsoft.com/office/powerpoint/2010/main" val="275009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20</a:t>
            </a:fld>
            <a:endParaRPr lang="en-US"/>
          </a:p>
        </p:txBody>
      </p:sp>
    </p:spTree>
    <p:extLst>
      <p:ext uri="{BB962C8B-B14F-4D97-AF65-F5344CB8AC3E}">
        <p14:creationId xmlns:p14="http://schemas.microsoft.com/office/powerpoint/2010/main" val="3492913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21</a:t>
            </a:fld>
            <a:endParaRPr lang="en-US"/>
          </a:p>
        </p:txBody>
      </p:sp>
    </p:spTree>
    <p:extLst>
      <p:ext uri="{BB962C8B-B14F-4D97-AF65-F5344CB8AC3E}">
        <p14:creationId xmlns:p14="http://schemas.microsoft.com/office/powerpoint/2010/main" val="1160024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22</a:t>
            </a:fld>
            <a:endParaRPr lang="en-US"/>
          </a:p>
        </p:txBody>
      </p:sp>
    </p:spTree>
    <p:extLst>
      <p:ext uri="{BB962C8B-B14F-4D97-AF65-F5344CB8AC3E}">
        <p14:creationId xmlns:p14="http://schemas.microsoft.com/office/powerpoint/2010/main" val="3878660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23</a:t>
            </a:fld>
            <a:endParaRPr lang="en-US"/>
          </a:p>
        </p:txBody>
      </p:sp>
    </p:spTree>
    <p:extLst>
      <p:ext uri="{BB962C8B-B14F-4D97-AF65-F5344CB8AC3E}">
        <p14:creationId xmlns:p14="http://schemas.microsoft.com/office/powerpoint/2010/main" val="4039836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24</a:t>
            </a:fld>
            <a:endParaRPr lang="en-US"/>
          </a:p>
        </p:txBody>
      </p:sp>
    </p:spTree>
    <p:extLst>
      <p:ext uri="{BB962C8B-B14F-4D97-AF65-F5344CB8AC3E}">
        <p14:creationId xmlns:p14="http://schemas.microsoft.com/office/powerpoint/2010/main" val="3970535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25</a:t>
            </a:fld>
            <a:endParaRPr lang="en-US"/>
          </a:p>
        </p:txBody>
      </p:sp>
    </p:spTree>
    <p:extLst>
      <p:ext uri="{BB962C8B-B14F-4D97-AF65-F5344CB8AC3E}">
        <p14:creationId xmlns:p14="http://schemas.microsoft.com/office/powerpoint/2010/main" val="2523111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27</a:t>
            </a:fld>
            <a:endParaRPr lang="en-US"/>
          </a:p>
        </p:txBody>
      </p:sp>
    </p:spTree>
    <p:extLst>
      <p:ext uri="{BB962C8B-B14F-4D97-AF65-F5344CB8AC3E}">
        <p14:creationId xmlns:p14="http://schemas.microsoft.com/office/powerpoint/2010/main" val="1971825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28</a:t>
            </a:fld>
            <a:endParaRPr lang="en-US"/>
          </a:p>
        </p:txBody>
      </p:sp>
    </p:spTree>
    <p:extLst>
      <p:ext uri="{BB962C8B-B14F-4D97-AF65-F5344CB8AC3E}">
        <p14:creationId xmlns:p14="http://schemas.microsoft.com/office/powerpoint/2010/main" val="4139497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29</a:t>
            </a:fld>
            <a:endParaRPr lang="en-US"/>
          </a:p>
        </p:txBody>
      </p:sp>
    </p:spTree>
    <p:extLst>
      <p:ext uri="{BB962C8B-B14F-4D97-AF65-F5344CB8AC3E}">
        <p14:creationId xmlns:p14="http://schemas.microsoft.com/office/powerpoint/2010/main" val="1229326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31</a:t>
            </a:fld>
            <a:endParaRPr lang="en-US"/>
          </a:p>
        </p:txBody>
      </p:sp>
    </p:spTree>
    <p:extLst>
      <p:ext uri="{BB962C8B-B14F-4D97-AF65-F5344CB8AC3E}">
        <p14:creationId xmlns:p14="http://schemas.microsoft.com/office/powerpoint/2010/main" val="2281931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32</a:t>
            </a:fld>
            <a:endParaRPr lang="en-US"/>
          </a:p>
        </p:txBody>
      </p:sp>
    </p:spTree>
    <p:extLst>
      <p:ext uri="{BB962C8B-B14F-4D97-AF65-F5344CB8AC3E}">
        <p14:creationId xmlns:p14="http://schemas.microsoft.com/office/powerpoint/2010/main" val="2944326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33</a:t>
            </a:fld>
            <a:endParaRPr lang="en-US"/>
          </a:p>
        </p:txBody>
      </p:sp>
    </p:spTree>
    <p:extLst>
      <p:ext uri="{BB962C8B-B14F-4D97-AF65-F5344CB8AC3E}">
        <p14:creationId xmlns:p14="http://schemas.microsoft.com/office/powerpoint/2010/main" val="567402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42</a:t>
            </a:fld>
            <a:endParaRPr lang="en-US"/>
          </a:p>
        </p:txBody>
      </p:sp>
    </p:spTree>
    <p:extLst>
      <p:ext uri="{BB962C8B-B14F-4D97-AF65-F5344CB8AC3E}">
        <p14:creationId xmlns:p14="http://schemas.microsoft.com/office/powerpoint/2010/main" val="3223880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43</a:t>
            </a:fld>
            <a:endParaRPr lang="en-US"/>
          </a:p>
        </p:txBody>
      </p:sp>
    </p:spTree>
    <p:extLst>
      <p:ext uri="{BB962C8B-B14F-4D97-AF65-F5344CB8AC3E}">
        <p14:creationId xmlns:p14="http://schemas.microsoft.com/office/powerpoint/2010/main" val="149693322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1&#21457;&#29616;&#32570;&#22833;&#20540;"/><Relationship Id="rId2" Type="http://schemas.openxmlformats.org/officeDocument/2006/relationships/hyperlink" Target="#1411-&#32570;&#22833;&#20540;&#22788;&#29702;"/><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2&#22788;&#29702;&#32570;&#22833;&#20540;"/><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1412-&#24322;&#24120;&#20540;&#22788;&#29702;"/><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1413-&#37325;&#22797;&#20540;&#22788;&#29702;"/><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1421-&#25968;&#25454;&#35268;&#33539;&#21270;"/><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hyperlink" Target="#1422-&#25968;&#25454;&#26684;&#24335;&#21270;"/><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1423-&#25968;&#25454;&#31867;&#22411;&#36716;&#25442;"/><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1424-&#36830;&#32493;&#23646;&#24615;&#31163;&#25955;&#21270;"/><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1431-pearson-&#30456;&#20851;&#31995;&#25968;"/><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1432-spearman-&#31209;&#30456;&#20851;&#31995;&#25968;"/><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1434-&#21028;&#23450;&#31995;&#25968;"/><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archive.ics.uci.edu/ml/datasets/Adul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1&#25968;&#25454;&#21152;&#36733;"/><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3&#37325;&#22797;&#20540;&#22788;&#29702;"/><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hyperlink" Target="#1452-&#25968;&#25454;&#36716;&#25442;"/><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hyperlink" Target="#1452-&#25968;&#25454;&#36716;&#25442;"/><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hyperlink" Target="#1452-&#25968;&#25454;&#36716;&#25442;"/><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1452-&#25968;&#25454;&#36716;&#25442;"/><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1&#31867;&#21035;&#21464;&#37327;&#30340;&#39057;&#29575;&#20998;&#24067;"/><Relationship Id="rId2" Type="http://schemas.openxmlformats.org/officeDocument/2006/relationships/hyperlink" Target="#1453-&#25506;&#32034;&#24615;&#20998;&#26512;"/><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hyperlink" Target="#2&#24322;&#24120;&#20540;&#26816;&#27979;"/><Relationship Id="rId2" Type="http://schemas.openxmlformats.org/officeDocument/2006/relationships/hyperlink" Target="#1453-&#25506;&#32034;&#24615;&#20998;&#26512;"/><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hyperlink" Target="#3&#30446;&#26631;&#21464;&#37327;&#20998;&#24067;&#20998;&#26512;"/><Relationship Id="rId2" Type="http://schemas.openxmlformats.org/officeDocument/2006/relationships/hyperlink" Target="#1453-&#25506;&#32034;&#24615;&#20998;&#26512;"/><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hyperlink" Target="#4&#25968;&#20540;&#21464;&#37327;&#30340;&#20998;&#24067;&#20998;&#26512;"/><Relationship Id="rId2" Type="http://schemas.openxmlformats.org/officeDocument/2006/relationships/hyperlink" Target="#1453-&#25506;&#32034;&#24615;&#20998;&#26512;"/><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hyperlink" Target="#5&#20998;&#32452;&#20998;&#26512;"/><Relationship Id="rId7" Type="http://schemas.openxmlformats.org/officeDocument/2006/relationships/image" Target="../media/image50.png"/><Relationship Id="rId2" Type="http://schemas.openxmlformats.org/officeDocument/2006/relationships/hyperlink" Target="#1453-&#25506;&#32034;&#24615;&#20998;&#26512;"/><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hyperlink" Target="#1&#23545;-education-&#21644;-income-&#21015;&#36827;&#34892;&#32534;&#30721;"/><Relationship Id="rId2" Type="http://schemas.openxmlformats.org/officeDocument/2006/relationships/hyperlink" Target="#1454-&#30456;&#20851;&#24615;&#20998;&#26512;"/><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hyperlink" Target="#2&#35745;&#31639;&#30382;&#23572;&#36874;&#30456;&#20851;&#31995;&#25968;"/></Relationships>
</file>

<file path=ppt/slides/_rels/slide41.xml.rels><?xml version="1.0" encoding="UTF-8" standalone="yes"?>
<Relationships xmlns="http://schemas.openxmlformats.org/package/2006/relationships"><Relationship Id="rId3" Type="http://schemas.openxmlformats.org/officeDocument/2006/relationships/hyperlink" Target="#3&#32472;&#21046;&#28909;&#21147;&#22270;"/><Relationship Id="rId2" Type="http://schemas.openxmlformats.org/officeDocument/2006/relationships/hyperlink" Target="#1454-&#30456;&#20851;&#24615;&#20998;&#26512;"/><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3" Type="http://schemas.openxmlformats.org/officeDocument/2006/relationships/hyperlink" Target="#1455-&#39044;&#27979;&#24615;&#20998;&#26512;"/><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zh-CN" altLang="en-US" dirty="0"/>
              <a:t>第</a:t>
            </a:r>
            <a:r>
              <a:rPr lang="en-US" altLang="zh-CN" dirty="0"/>
              <a:t>14</a:t>
            </a:r>
            <a:r>
              <a:rPr lang="zh-CN" altLang="en-US" dirty="0"/>
              <a:t>章 数据分析实践</a:t>
            </a:r>
            <a:endParaRPr lang="en-US" dirty="0"/>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数据分析的常规流程</a:t>
            </a:r>
            <a:endParaRPr lang="en-US" dirty="0"/>
          </a:p>
        </p:txBody>
      </p:sp>
      <p:sp>
        <p:nvSpPr>
          <p:cNvPr id="3" name="内容占位符 2"/>
          <p:cNvSpPr>
            <a:spLocks noGrp="1"/>
          </p:cNvSpPr>
          <p:nvPr>
            <p:ph idx="1"/>
          </p:nvPr>
        </p:nvSpPr>
        <p:spPr/>
        <p:txBody>
          <a:bodyPr>
            <a:noAutofit/>
          </a:bodyPr>
          <a:lstStyle/>
          <a:p>
            <a:r>
              <a:rPr lang="zh-CN" altLang="en-US" sz="2400" dirty="0"/>
              <a:t>数据清理</a:t>
            </a:r>
            <a:endParaRPr lang="en-US" altLang="zh-CN" sz="2400" dirty="0"/>
          </a:p>
          <a:p>
            <a:pPr lvl="1"/>
            <a:r>
              <a:rPr lang="zh-CN" altLang="en-US" sz="2400" dirty="0"/>
              <a:t>缺失值处理、异常值处理、重复值处理</a:t>
            </a:r>
            <a:endParaRPr lang="en-US" altLang="zh-CN" sz="2400" dirty="0"/>
          </a:p>
          <a:p>
            <a:r>
              <a:rPr lang="zh-CN" altLang="en-US" sz="2400" dirty="0"/>
              <a:t>数据转换</a:t>
            </a:r>
            <a:endParaRPr lang="en-US" altLang="zh-CN" sz="2400" dirty="0"/>
          </a:p>
          <a:p>
            <a:pPr lvl="1"/>
            <a:r>
              <a:rPr lang="zh-CN" altLang="en-US" sz="2400" dirty="0"/>
              <a:t>规范化</a:t>
            </a:r>
            <a:endParaRPr lang="en-US" altLang="zh-CN" sz="2400" dirty="0"/>
          </a:p>
          <a:p>
            <a:pPr lvl="1"/>
            <a:r>
              <a:rPr lang="zh-CN" altLang="en-US" sz="2400" dirty="0"/>
              <a:t>连续属性离散化</a:t>
            </a:r>
            <a:endParaRPr lang="en-US" altLang="zh-CN" sz="2400" dirty="0"/>
          </a:p>
          <a:p>
            <a:r>
              <a:rPr lang="zh-CN" altLang="en-US" sz="2400" dirty="0"/>
              <a:t>数据探索</a:t>
            </a:r>
            <a:endParaRPr lang="en-US" altLang="zh-CN" sz="2400" dirty="0"/>
          </a:p>
          <a:p>
            <a:pPr lvl="1"/>
            <a:r>
              <a:rPr lang="zh-CN" altLang="en-US" sz="2400" dirty="0"/>
              <a:t>分布分析、集中趋势分析、离中趋势分析、相关分析</a:t>
            </a:r>
            <a:endParaRPr lang="en-US" altLang="zh-CN" sz="2400" dirty="0"/>
          </a:p>
          <a:p>
            <a:r>
              <a:rPr lang="zh-CN" altLang="en-US" sz="2400" dirty="0"/>
              <a:t>数据可视化</a:t>
            </a:r>
            <a:endParaRPr lang="en-US" altLang="zh-CN" sz="2400" dirty="0"/>
          </a:p>
          <a:p>
            <a:pPr lvl="1"/>
            <a:r>
              <a:rPr lang="zh-CN" altLang="zh-CN" sz="2400" dirty="0"/>
              <a:t>条形图和饼图、箱线图、气泡图、条形图、核密度估计图、网络图、雷达图、散点图、树状图等</a:t>
            </a:r>
            <a:endParaRPr lang="zh-CN" altLang="en-US" sz="2400" dirty="0"/>
          </a:p>
        </p:txBody>
      </p:sp>
    </p:spTree>
    <p:extLst>
      <p:ext uri="{BB962C8B-B14F-4D97-AF65-F5344CB8AC3E}">
        <p14:creationId xmlns:p14="http://schemas.microsoft.com/office/powerpoint/2010/main" val="401027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E765D-352F-1666-741C-A5278A18D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59E5C-9538-0458-08A8-7A06208A73A5}"/>
              </a:ext>
            </a:extLst>
          </p:cNvPr>
          <p:cNvSpPr>
            <a:spLocks noGrp="1"/>
          </p:cNvSpPr>
          <p:nvPr>
            <p:ph type="title"/>
          </p:nvPr>
        </p:nvSpPr>
        <p:spPr/>
        <p:txBody>
          <a:bodyPr/>
          <a:lstStyle/>
          <a:p>
            <a:r>
              <a:rPr lang="en-US" altLang="zh-CN" dirty="0"/>
              <a:t>14.1 </a:t>
            </a:r>
            <a:r>
              <a:rPr lang="zh-CN" altLang="en-US" dirty="0"/>
              <a:t>数据清理</a:t>
            </a:r>
            <a:endParaRPr lang="en-US" dirty="0"/>
          </a:p>
        </p:txBody>
      </p:sp>
    </p:spTree>
    <p:extLst>
      <p:ext uri="{BB962C8B-B14F-4D97-AF65-F5344CB8AC3E}">
        <p14:creationId xmlns:p14="http://schemas.microsoft.com/office/powerpoint/2010/main" val="386978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7F4D-0B2C-3B7C-7486-1CC580372BB4}"/>
              </a:ext>
            </a:extLst>
          </p:cNvPr>
          <p:cNvSpPr>
            <a:spLocks noGrp="1"/>
          </p:cNvSpPr>
          <p:nvPr>
            <p:ph type="title"/>
          </p:nvPr>
        </p:nvSpPr>
        <p:spPr/>
        <p:txBody>
          <a:bodyPr/>
          <a:lstStyle/>
          <a:p>
            <a:r>
              <a:rPr lang="en-US" altLang="zh-CN" b="1" dirty="0">
                <a:hlinkClick r:id="rId2"/>
              </a:rPr>
              <a:t>14.1.1 </a:t>
            </a:r>
            <a:r>
              <a:rPr lang="zh-CN" altLang="en-US" b="1" dirty="0">
                <a:hlinkClick r:id="rId2"/>
              </a:rPr>
              <a:t>缺失值处理</a:t>
            </a:r>
            <a:endParaRPr kumimoji="1" lang="zh-CN" altLang="en-US" dirty="0"/>
          </a:p>
        </p:txBody>
      </p:sp>
      <p:sp>
        <p:nvSpPr>
          <p:cNvPr id="4" name="TextBox 3">
            <a:extLst>
              <a:ext uri="{FF2B5EF4-FFF2-40B4-BE49-F238E27FC236}">
                <a16:creationId xmlns:a16="http://schemas.microsoft.com/office/drawing/2014/main" id="{68B347DC-9429-7A24-4DC8-D5BF8C055E43}"/>
              </a:ext>
            </a:extLst>
          </p:cNvPr>
          <p:cNvSpPr txBox="1"/>
          <p:nvPr/>
        </p:nvSpPr>
        <p:spPr>
          <a:xfrm>
            <a:off x="1402080" y="150697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3"/>
              </a:rPr>
              <a:t>（</a:t>
            </a:r>
            <a:r>
              <a:rPr lang="en-US" altLang="zh-CN" b="1" i="0" u="none" strike="noStrike" dirty="0">
                <a:solidFill>
                  <a:srgbClr val="262625"/>
                </a:solidFill>
                <a:effectLst/>
                <a:latin typeface="Open Sans" panose="020B0606030504020204" pitchFamily="34" charset="0"/>
                <a:hlinkClick r:id="rId3"/>
              </a:rPr>
              <a:t>1</a:t>
            </a:r>
            <a:r>
              <a:rPr lang="zh-CN" altLang="en-US" b="1" i="0" u="none" strike="noStrike" dirty="0">
                <a:solidFill>
                  <a:srgbClr val="262625"/>
                </a:solidFill>
                <a:effectLst/>
                <a:latin typeface="Open Sans" panose="020B0606030504020204" pitchFamily="34" charset="0"/>
                <a:hlinkClick r:id="rId3"/>
              </a:rPr>
              <a:t>）发现缺失值</a:t>
            </a:r>
            <a:endParaRPr lang="zh-CN" altLang="en-US" b="1" i="0" dirty="0">
              <a:solidFill>
                <a:srgbClr val="262625"/>
              </a:solidFill>
              <a:effectLst/>
              <a:latin typeface="Open Sans" panose="020B0606030504020204" pitchFamily="34" charset="0"/>
            </a:endParaRPr>
          </a:p>
        </p:txBody>
      </p:sp>
      <p:sp>
        <p:nvSpPr>
          <p:cNvPr id="6" name="TextBox 5">
            <a:extLst>
              <a:ext uri="{FF2B5EF4-FFF2-40B4-BE49-F238E27FC236}">
                <a16:creationId xmlns:a16="http://schemas.microsoft.com/office/drawing/2014/main" id="{7326EC8B-D5BE-02E9-E55B-B94D9FD22FA6}"/>
              </a:ext>
            </a:extLst>
          </p:cNvPr>
          <p:cNvSpPr txBox="1"/>
          <p:nvPr/>
        </p:nvSpPr>
        <p:spPr>
          <a:xfrm>
            <a:off x="3637280" y="1506974"/>
            <a:ext cx="7945120" cy="923330"/>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表</a:t>
            </a:r>
            <a:r>
              <a:rPr lang="en-US" altLang="zh-CN" b="0" i="0" dirty="0">
                <a:solidFill>
                  <a:srgbClr val="262625"/>
                </a:solidFill>
                <a:effectLst/>
                <a:latin typeface="Times New Roman" panose="02020603050405020304" pitchFamily="18" charset="0"/>
              </a:rPr>
              <a:t>14-1</a:t>
            </a:r>
            <a:r>
              <a:rPr lang="zh-CN" altLang="en-US" b="0" i="0" dirty="0">
                <a:solidFill>
                  <a:srgbClr val="262625"/>
                </a:solidFill>
                <a:effectLst/>
                <a:latin typeface="Times New Roman" panose="02020603050405020304" pitchFamily="18" charset="0"/>
              </a:rPr>
              <a:t>展示了一个数据集，其中，</a:t>
            </a:r>
            <a:r>
              <a:rPr lang="en-US" b="0" i="0" dirty="0" err="1">
                <a:solidFill>
                  <a:srgbClr val="262625"/>
                </a:solidFill>
                <a:effectLst/>
                <a:latin typeface="Times New Roman" panose="02020603050405020304" pitchFamily="18" charset="0"/>
              </a:rPr>
              <a:t>NaN</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是由 </a:t>
            </a:r>
            <a:r>
              <a:rPr lang="en-US" b="0" i="0" dirty="0">
                <a:solidFill>
                  <a:srgbClr val="262625"/>
                </a:solidFill>
                <a:effectLst/>
                <a:latin typeface="Times New Roman" panose="02020603050405020304" pitchFamily="18" charset="0"/>
              </a:rPr>
              <a:t>Pandas </a:t>
            </a:r>
            <a:r>
              <a:rPr lang="zh-CN" altLang="en-US" b="0" i="0" dirty="0">
                <a:solidFill>
                  <a:srgbClr val="262625"/>
                </a:solidFill>
                <a:effectLst/>
                <a:latin typeface="Times New Roman" panose="02020603050405020304" pitchFamily="18" charset="0"/>
              </a:rPr>
              <a:t>用来标记缺失值的符号，表示数据值为空（</a:t>
            </a:r>
            <a:r>
              <a:rPr lang="en-US" b="0" i="0" dirty="0">
                <a:solidFill>
                  <a:srgbClr val="262625"/>
                </a:solidFill>
                <a:effectLst/>
                <a:latin typeface="Times New Roman" panose="02020603050405020304" pitchFamily="18" charset="0"/>
              </a:rPr>
              <a:t>None）。</a:t>
            </a:r>
            <a:r>
              <a:rPr lang="zh-CN" altLang="en-US" b="0" i="0" dirty="0">
                <a:solidFill>
                  <a:srgbClr val="262625"/>
                </a:solidFill>
                <a:effectLst/>
                <a:latin typeface="Times New Roman" panose="02020603050405020304" pitchFamily="18" charset="0"/>
              </a:rPr>
              <a:t>在进行算术运算时，</a:t>
            </a:r>
            <a:r>
              <a:rPr lang="en-US" b="0" i="0" dirty="0" err="1">
                <a:solidFill>
                  <a:srgbClr val="262625"/>
                </a:solidFill>
                <a:effectLst/>
                <a:latin typeface="Times New Roman" panose="02020603050405020304" pitchFamily="18" charset="0"/>
              </a:rPr>
              <a:t>NaN</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会导致结果仍为 </a:t>
            </a:r>
            <a:r>
              <a:rPr lang="en-US" b="0" i="0" dirty="0" err="1">
                <a:solidFill>
                  <a:srgbClr val="262625"/>
                </a:solidFill>
                <a:effectLst/>
                <a:latin typeface="Times New Roman" panose="02020603050405020304" pitchFamily="18" charset="0"/>
              </a:rPr>
              <a:t>NaN</a:t>
            </a:r>
            <a:r>
              <a:rPr lang="en-US" b="0" i="0" dirty="0">
                <a:solidFill>
                  <a:srgbClr val="262625"/>
                </a:solidFill>
                <a:effectLst/>
                <a:latin typeface="Times New Roman" panose="02020603050405020304" pitchFamily="18" charset="0"/>
              </a:rPr>
              <a:t>，</a:t>
            </a:r>
            <a:r>
              <a:rPr lang="zh-CN" altLang="en-US" b="0" i="0" dirty="0">
                <a:solidFill>
                  <a:srgbClr val="262625"/>
                </a:solidFill>
                <a:effectLst/>
                <a:latin typeface="Times New Roman" panose="02020603050405020304" pitchFamily="18" charset="0"/>
              </a:rPr>
              <a:t>这表明计算无法进行或结果不可用。</a:t>
            </a:r>
            <a:endParaRPr lang="zh-CN" altLang="en-US" dirty="0"/>
          </a:p>
        </p:txBody>
      </p:sp>
      <p:pic>
        <p:nvPicPr>
          <p:cNvPr id="7" name="Picture 6">
            <a:extLst>
              <a:ext uri="{FF2B5EF4-FFF2-40B4-BE49-F238E27FC236}">
                <a16:creationId xmlns:a16="http://schemas.microsoft.com/office/drawing/2014/main" id="{BB52A046-A14A-9D28-AF44-11EEB733656C}"/>
              </a:ext>
            </a:extLst>
          </p:cNvPr>
          <p:cNvPicPr>
            <a:picLocks noChangeAspect="1"/>
          </p:cNvPicPr>
          <p:nvPr/>
        </p:nvPicPr>
        <p:blipFill>
          <a:blip r:embed="rId4"/>
          <a:stretch>
            <a:fillRect/>
          </a:stretch>
        </p:blipFill>
        <p:spPr>
          <a:xfrm>
            <a:off x="848360" y="2430304"/>
            <a:ext cx="2997200" cy="1689100"/>
          </a:xfrm>
          <a:prstGeom prst="rect">
            <a:avLst/>
          </a:prstGeom>
        </p:spPr>
      </p:pic>
      <p:sp>
        <p:nvSpPr>
          <p:cNvPr id="9" name="TextBox 8">
            <a:extLst>
              <a:ext uri="{FF2B5EF4-FFF2-40B4-BE49-F238E27FC236}">
                <a16:creationId xmlns:a16="http://schemas.microsoft.com/office/drawing/2014/main" id="{A51C9376-FBDA-69A0-5CAB-7BE100B35B77}"/>
              </a:ext>
            </a:extLst>
          </p:cNvPr>
          <p:cNvSpPr txBox="1"/>
          <p:nvPr/>
        </p:nvSpPr>
        <p:spPr>
          <a:xfrm>
            <a:off x="1252979" y="4531162"/>
            <a:ext cx="4599181" cy="1477328"/>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62625"/>
                </a:solidFill>
                <a:effectLst/>
                <a:latin typeface="Times New Roman" panose="02020603050405020304" pitchFamily="18" charset="0"/>
              </a:rPr>
              <a:t>Pandas </a:t>
            </a:r>
            <a:r>
              <a:rPr lang="zh-CN" altLang="en-US" b="0" i="0" dirty="0">
                <a:solidFill>
                  <a:srgbClr val="262625"/>
                </a:solidFill>
                <a:effectLst/>
                <a:latin typeface="Times New Roman" panose="02020603050405020304" pitchFamily="18" charset="0"/>
              </a:rPr>
              <a:t>提供了</a:t>
            </a:r>
            <a:r>
              <a:rPr lang="en-US" b="0" i="0" dirty="0" err="1">
                <a:solidFill>
                  <a:srgbClr val="6E6B5E"/>
                </a:solidFill>
                <a:effectLst/>
                <a:latin typeface="Courier New" panose="02070309020205020404" pitchFamily="49" charset="0"/>
              </a:rPr>
              <a:t>isnull</a:t>
            </a:r>
            <a:r>
              <a:rPr lang="en-US" b="0" i="0" dirty="0">
                <a:solidFill>
                  <a:srgbClr val="6E6B5E"/>
                </a:solidFill>
                <a:effectLst/>
                <a:latin typeface="Courier New" panose="02070309020205020404" pitchFamily="49" charset="0"/>
              </a:rPr>
              <a:t>()</a:t>
            </a:r>
            <a:r>
              <a:rPr lang="zh-CN" altLang="en-US" b="0" i="0" dirty="0">
                <a:solidFill>
                  <a:srgbClr val="262625"/>
                </a:solidFill>
                <a:effectLst/>
                <a:latin typeface="Times New Roman" panose="02020603050405020304" pitchFamily="18" charset="0"/>
              </a:rPr>
              <a:t>函数用于检查数据中的缺失值，它会返回一个与原数据集形状相同的布尔值 </a:t>
            </a:r>
            <a:r>
              <a:rPr lang="en-US" b="0" i="0" dirty="0" err="1">
                <a:solidFill>
                  <a:srgbClr val="262625"/>
                </a:solidFill>
                <a:effectLst/>
                <a:latin typeface="Times New Roman" panose="02020603050405020304" pitchFamily="18" charset="0"/>
              </a:rPr>
              <a:t>DataFrame</a:t>
            </a:r>
            <a:r>
              <a:rPr lang="en-US" b="0" i="0" dirty="0">
                <a:solidFill>
                  <a:srgbClr val="262625"/>
                </a:solidFill>
                <a:effectLst/>
                <a:latin typeface="Times New Roman" panose="02020603050405020304" pitchFamily="18" charset="0"/>
              </a:rPr>
              <a:t>，</a:t>
            </a:r>
            <a:r>
              <a:rPr lang="zh-CN" altLang="en-US" b="0" i="0" dirty="0">
                <a:solidFill>
                  <a:srgbClr val="262625"/>
                </a:solidFill>
                <a:effectLst/>
                <a:latin typeface="Times New Roman" panose="02020603050405020304" pitchFamily="18" charset="0"/>
              </a:rPr>
              <a:t>其中缺失值位置会标记为 </a:t>
            </a:r>
            <a:r>
              <a:rPr lang="en-US" b="0" i="0" dirty="0">
                <a:solidFill>
                  <a:srgbClr val="262625"/>
                </a:solidFill>
                <a:effectLst/>
                <a:latin typeface="Times New Roman" panose="02020603050405020304" pitchFamily="18" charset="0"/>
              </a:rPr>
              <a:t>True，</a:t>
            </a:r>
            <a:r>
              <a:rPr lang="zh-CN" altLang="en-US" b="0" i="0" dirty="0">
                <a:solidFill>
                  <a:srgbClr val="262625"/>
                </a:solidFill>
                <a:effectLst/>
                <a:latin typeface="Times New Roman" panose="02020603050405020304" pitchFamily="18" charset="0"/>
              </a:rPr>
              <a:t>而非缺失值位置标记为 </a:t>
            </a:r>
            <a:r>
              <a:rPr lang="en-US" b="0" i="0" dirty="0">
                <a:solidFill>
                  <a:srgbClr val="262625"/>
                </a:solidFill>
                <a:effectLst/>
                <a:latin typeface="Times New Roman" panose="02020603050405020304" pitchFamily="18" charset="0"/>
              </a:rPr>
              <a:t>False。</a:t>
            </a:r>
            <a:endParaRPr lang="zh-CN" altLang="en-US" dirty="0"/>
          </a:p>
        </p:txBody>
      </p:sp>
      <p:pic>
        <p:nvPicPr>
          <p:cNvPr id="10" name="Picture 9">
            <a:extLst>
              <a:ext uri="{FF2B5EF4-FFF2-40B4-BE49-F238E27FC236}">
                <a16:creationId xmlns:a16="http://schemas.microsoft.com/office/drawing/2014/main" id="{C3678735-DF87-85F3-150F-B480329401BE}"/>
              </a:ext>
            </a:extLst>
          </p:cNvPr>
          <p:cNvPicPr>
            <a:picLocks noChangeAspect="1"/>
          </p:cNvPicPr>
          <p:nvPr/>
        </p:nvPicPr>
        <p:blipFill>
          <a:blip r:embed="rId5"/>
          <a:stretch>
            <a:fillRect/>
          </a:stretch>
        </p:blipFill>
        <p:spPr>
          <a:xfrm>
            <a:off x="6119882" y="3102412"/>
            <a:ext cx="4965700" cy="2857500"/>
          </a:xfrm>
          <a:prstGeom prst="rect">
            <a:avLst/>
          </a:prstGeom>
        </p:spPr>
      </p:pic>
    </p:spTree>
    <p:extLst>
      <p:ext uri="{BB962C8B-B14F-4D97-AF65-F5344CB8AC3E}">
        <p14:creationId xmlns:p14="http://schemas.microsoft.com/office/powerpoint/2010/main" val="2318571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DE0A5-E09F-DACF-45C6-E3D45056EED2}"/>
              </a:ext>
            </a:extLst>
          </p:cNvPr>
          <p:cNvSpPr>
            <a:spLocks noGrp="1"/>
          </p:cNvSpPr>
          <p:nvPr>
            <p:ph type="title"/>
          </p:nvPr>
        </p:nvSpPr>
        <p:spPr/>
        <p:txBody>
          <a:bodyPr/>
          <a:lstStyle/>
          <a:p>
            <a:r>
              <a:rPr lang="zh-CN" altLang="en-US" b="1" dirty="0">
                <a:hlinkClick r:id="rId2"/>
              </a:rPr>
              <a:t>（</a:t>
            </a:r>
            <a:r>
              <a:rPr lang="en-US" altLang="zh-CN" b="1" dirty="0">
                <a:hlinkClick r:id="rId2"/>
              </a:rPr>
              <a:t>2</a:t>
            </a:r>
            <a:r>
              <a:rPr lang="zh-CN" altLang="en-US" b="1" dirty="0">
                <a:hlinkClick r:id="rId2"/>
              </a:rPr>
              <a:t>）处理缺失值</a:t>
            </a:r>
            <a:endParaRPr kumimoji="1" lang="zh-CN" altLang="en-US" dirty="0"/>
          </a:p>
        </p:txBody>
      </p:sp>
      <p:sp>
        <p:nvSpPr>
          <p:cNvPr id="4" name="TextBox 3">
            <a:extLst>
              <a:ext uri="{FF2B5EF4-FFF2-40B4-BE49-F238E27FC236}">
                <a16:creationId xmlns:a16="http://schemas.microsoft.com/office/drawing/2014/main" id="{C0D47E62-B24E-5131-6921-837D96E354DC}"/>
              </a:ext>
            </a:extLst>
          </p:cNvPr>
          <p:cNvSpPr txBox="1"/>
          <p:nvPr/>
        </p:nvSpPr>
        <p:spPr>
          <a:xfrm>
            <a:off x="1280160" y="1456174"/>
            <a:ext cx="6096000" cy="369332"/>
          </a:xfrm>
          <a:prstGeom prst="rect">
            <a:avLst/>
          </a:prstGeom>
          <a:noFill/>
        </p:spPr>
        <p:txBody>
          <a:bodyPr wrap="square">
            <a:spAutoFit/>
          </a:bodyPr>
          <a:lstStyle/>
          <a:p>
            <a:pPr marL="285750" indent="-285750">
              <a:buFont typeface="Arial" panose="020B0604020202020204" pitchFamily="34" charset="0"/>
              <a:buChar char="•"/>
            </a:pPr>
            <a:r>
              <a:rPr lang="zh-CN" altLang="en-US" b="1" i="0" dirty="0">
                <a:solidFill>
                  <a:srgbClr val="262625"/>
                </a:solidFill>
                <a:effectLst/>
                <a:latin typeface="Times New Roman" panose="02020603050405020304" pitchFamily="18" charset="0"/>
              </a:rPr>
              <a:t>删除记录</a:t>
            </a:r>
            <a:endParaRPr lang="zh-CN" altLang="en-US" dirty="0"/>
          </a:p>
        </p:txBody>
      </p:sp>
      <p:pic>
        <p:nvPicPr>
          <p:cNvPr id="5" name="Picture 4">
            <a:extLst>
              <a:ext uri="{FF2B5EF4-FFF2-40B4-BE49-F238E27FC236}">
                <a16:creationId xmlns:a16="http://schemas.microsoft.com/office/drawing/2014/main" id="{8EFCDB7C-CD79-7BF7-F1D0-926BFEC53D0E}"/>
              </a:ext>
            </a:extLst>
          </p:cNvPr>
          <p:cNvPicPr>
            <a:picLocks noChangeAspect="1"/>
          </p:cNvPicPr>
          <p:nvPr/>
        </p:nvPicPr>
        <p:blipFill>
          <a:blip r:embed="rId3"/>
          <a:stretch>
            <a:fillRect/>
          </a:stretch>
        </p:blipFill>
        <p:spPr>
          <a:xfrm>
            <a:off x="4069080" y="624681"/>
            <a:ext cx="4927600" cy="1282700"/>
          </a:xfrm>
          <a:prstGeom prst="rect">
            <a:avLst/>
          </a:prstGeom>
        </p:spPr>
      </p:pic>
      <p:sp>
        <p:nvSpPr>
          <p:cNvPr id="7" name="TextBox 6">
            <a:extLst>
              <a:ext uri="{FF2B5EF4-FFF2-40B4-BE49-F238E27FC236}">
                <a16:creationId xmlns:a16="http://schemas.microsoft.com/office/drawing/2014/main" id="{6B333930-3DC4-A894-7D0C-636643F55E73}"/>
              </a:ext>
            </a:extLst>
          </p:cNvPr>
          <p:cNvSpPr txBox="1"/>
          <p:nvPr/>
        </p:nvSpPr>
        <p:spPr>
          <a:xfrm>
            <a:off x="1280160" y="2859208"/>
            <a:ext cx="6096000" cy="369332"/>
          </a:xfrm>
          <a:prstGeom prst="rect">
            <a:avLst/>
          </a:prstGeom>
          <a:noFill/>
        </p:spPr>
        <p:txBody>
          <a:bodyPr wrap="square">
            <a:spAutoFit/>
          </a:bodyPr>
          <a:lstStyle/>
          <a:p>
            <a:pPr marL="285750" indent="-285750">
              <a:buFont typeface="Arial" panose="020B0604020202020204" pitchFamily="34" charset="0"/>
              <a:buChar char="•"/>
            </a:pPr>
            <a:r>
              <a:rPr lang="zh-CN" altLang="en-US" b="1" i="0" dirty="0">
                <a:solidFill>
                  <a:srgbClr val="262625"/>
                </a:solidFill>
                <a:effectLst/>
                <a:latin typeface="Times New Roman" panose="02020603050405020304" pitchFamily="18" charset="0"/>
              </a:rPr>
              <a:t>数据插补</a:t>
            </a:r>
            <a:endParaRPr lang="zh-CN" altLang="en-US" dirty="0"/>
          </a:p>
        </p:txBody>
      </p:sp>
      <p:pic>
        <p:nvPicPr>
          <p:cNvPr id="8" name="Picture 7">
            <a:extLst>
              <a:ext uri="{FF2B5EF4-FFF2-40B4-BE49-F238E27FC236}">
                <a16:creationId xmlns:a16="http://schemas.microsoft.com/office/drawing/2014/main" id="{B5F54F77-01C6-0232-22A7-9966B128A411}"/>
              </a:ext>
            </a:extLst>
          </p:cNvPr>
          <p:cNvPicPr>
            <a:picLocks noChangeAspect="1"/>
          </p:cNvPicPr>
          <p:nvPr/>
        </p:nvPicPr>
        <p:blipFill>
          <a:blip r:embed="rId4"/>
          <a:stretch>
            <a:fillRect/>
          </a:stretch>
        </p:blipFill>
        <p:spPr>
          <a:xfrm>
            <a:off x="3235960" y="2179479"/>
            <a:ext cx="6819900" cy="3543300"/>
          </a:xfrm>
          <a:prstGeom prst="rect">
            <a:avLst/>
          </a:prstGeom>
        </p:spPr>
      </p:pic>
      <p:sp>
        <p:nvSpPr>
          <p:cNvPr id="10" name="TextBox 9">
            <a:extLst>
              <a:ext uri="{FF2B5EF4-FFF2-40B4-BE49-F238E27FC236}">
                <a16:creationId xmlns:a16="http://schemas.microsoft.com/office/drawing/2014/main" id="{5DC23B62-9AA5-A0E2-82B6-62A763E1D57B}"/>
              </a:ext>
            </a:extLst>
          </p:cNvPr>
          <p:cNvSpPr txBox="1"/>
          <p:nvPr/>
        </p:nvSpPr>
        <p:spPr>
          <a:xfrm>
            <a:off x="1104900" y="5804654"/>
            <a:ext cx="10152380" cy="646331"/>
          </a:xfrm>
          <a:prstGeom prst="rect">
            <a:avLst/>
          </a:prstGeom>
          <a:noFill/>
        </p:spPr>
        <p:txBody>
          <a:bodyPr wrap="square">
            <a:spAutoFit/>
          </a:bodyPr>
          <a:lstStyle/>
          <a:p>
            <a:pPr marL="285750" indent="-285750">
              <a:buFont typeface="Arial" panose="020B0604020202020204" pitchFamily="34" charset="0"/>
              <a:buChar char="•"/>
            </a:pPr>
            <a:r>
              <a:rPr lang="zh-CN" altLang="en-US" b="1" i="0" dirty="0">
                <a:solidFill>
                  <a:srgbClr val="262625"/>
                </a:solidFill>
                <a:effectLst/>
                <a:latin typeface="Times New Roman" panose="02020603050405020304" pitchFamily="18" charset="0"/>
              </a:rPr>
              <a:t>保留缺失值：</a:t>
            </a:r>
            <a:r>
              <a:rPr lang="zh-CN" altLang="en-US" dirty="0"/>
              <a:t>在某些情况下，保留原始数据并在不对缺失值进行改动的前提下进行分析和建模可能更为合适。</a:t>
            </a:r>
          </a:p>
        </p:txBody>
      </p:sp>
    </p:spTree>
    <p:extLst>
      <p:ext uri="{BB962C8B-B14F-4D97-AF65-F5344CB8AC3E}">
        <p14:creationId xmlns:p14="http://schemas.microsoft.com/office/powerpoint/2010/main" val="227663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262EB-8123-627A-CB5E-4C896F112778}"/>
              </a:ext>
            </a:extLst>
          </p:cNvPr>
          <p:cNvSpPr>
            <a:spLocks noGrp="1"/>
          </p:cNvSpPr>
          <p:nvPr>
            <p:ph type="title"/>
          </p:nvPr>
        </p:nvSpPr>
        <p:spPr/>
        <p:txBody>
          <a:bodyPr/>
          <a:lstStyle/>
          <a:p>
            <a:r>
              <a:rPr lang="zh-CN" altLang="en-US" b="1" dirty="0">
                <a:solidFill>
                  <a:srgbClr val="262625"/>
                </a:solidFill>
                <a:latin typeface="Times New Roman" panose="02020603050405020304" pitchFamily="18" charset="0"/>
              </a:rPr>
              <a:t>数据插补案例</a:t>
            </a:r>
            <a:endParaRPr kumimoji="1" lang="zh-CN" altLang="en-US" dirty="0"/>
          </a:p>
        </p:txBody>
      </p:sp>
      <p:pic>
        <p:nvPicPr>
          <p:cNvPr id="3" name="Picture 2">
            <a:extLst>
              <a:ext uri="{FF2B5EF4-FFF2-40B4-BE49-F238E27FC236}">
                <a16:creationId xmlns:a16="http://schemas.microsoft.com/office/drawing/2014/main" id="{6C477DE9-E580-F495-71AF-164E2975B10E}"/>
              </a:ext>
            </a:extLst>
          </p:cNvPr>
          <p:cNvPicPr>
            <a:picLocks noChangeAspect="1"/>
          </p:cNvPicPr>
          <p:nvPr/>
        </p:nvPicPr>
        <p:blipFill>
          <a:blip r:embed="rId2"/>
          <a:stretch>
            <a:fillRect/>
          </a:stretch>
        </p:blipFill>
        <p:spPr>
          <a:xfrm>
            <a:off x="1104900" y="1365250"/>
            <a:ext cx="4343400" cy="2908300"/>
          </a:xfrm>
          <a:prstGeom prst="rect">
            <a:avLst/>
          </a:prstGeom>
        </p:spPr>
      </p:pic>
      <p:pic>
        <p:nvPicPr>
          <p:cNvPr id="4" name="Picture 3">
            <a:extLst>
              <a:ext uri="{FF2B5EF4-FFF2-40B4-BE49-F238E27FC236}">
                <a16:creationId xmlns:a16="http://schemas.microsoft.com/office/drawing/2014/main" id="{14020AC4-7F81-48F9-2670-9A499B16AD63}"/>
              </a:ext>
            </a:extLst>
          </p:cNvPr>
          <p:cNvPicPr>
            <a:picLocks noChangeAspect="1"/>
          </p:cNvPicPr>
          <p:nvPr/>
        </p:nvPicPr>
        <p:blipFill>
          <a:blip r:embed="rId3"/>
          <a:stretch>
            <a:fillRect/>
          </a:stretch>
        </p:blipFill>
        <p:spPr>
          <a:xfrm>
            <a:off x="6288281" y="624681"/>
            <a:ext cx="3098800" cy="3581400"/>
          </a:xfrm>
          <a:prstGeom prst="rect">
            <a:avLst/>
          </a:prstGeom>
        </p:spPr>
      </p:pic>
      <p:pic>
        <p:nvPicPr>
          <p:cNvPr id="5" name="Picture 4">
            <a:extLst>
              <a:ext uri="{FF2B5EF4-FFF2-40B4-BE49-F238E27FC236}">
                <a16:creationId xmlns:a16="http://schemas.microsoft.com/office/drawing/2014/main" id="{0B2C65F5-6D64-3B1D-A429-0560A0536579}"/>
              </a:ext>
            </a:extLst>
          </p:cNvPr>
          <p:cNvPicPr>
            <a:picLocks noChangeAspect="1"/>
          </p:cNvPicPr>
          <p:nvPr/>
        </p:nvPicPr>
        <p:blipFill>
          <a:blip r:embed="rId4"/>
          <a:stretch>
            <a:fillRect/>
          </a:stretch>
        </p:blipFill>
        <p:spPr>
          <a:xfrm>
            <a:off x="1104900" y="4465638"/>
            <a:ext cx="6070600" cy="1993900"/>
          </a:xfrm>
          <a:prstGeom prst="rect">
            <a:avLst/>
          </a:prstGeom>
        </p:spPr>
      </p:pic>
      <p:pic>
        <p:nvPicPr>
          <p:cNvPr id="6" name="Picture 5">
            <a:extLst>
              <a:ext uri="{FF2B5EF4-FFF2-40B4-BE49-F238E27FC236}">
                <a16:creationId xmlns:a16="http://schemas.microsoft.com/office/drawing/2014/main" id="{B67ADF0C-434E-D25D-781C-57AD54B9F1A4}"/>
              </a:ext>
            </a:extLst>
          </p:cNvPr>
          <p:cNvPicPr>
            <a:picLocks noChangeAspect="1"/>
          </p:cNvPicPr>
          <p:nvPr/>
        </p:nvPicPr>
        <p:blipFill>
          <a:blip r:embed="rId5"/>
          <a:stretch>
            <a:fillRect/>
          </a:stretch>
        </p:blipFill>
        <p:spPr>
          <a:xfrm>
            <a:off x="7644641" y="4586288"/>
            <a:ext cx="3225800" cy="1752600"/>
          </a:xfrm>
          <a:prstGeom prst="rect">
            <a:avLst/>
          </a:prstGeom>
        </p:spPr>
      </p:pic>
    </p:spTree>
    <p:extLst>
      <p:ext uri="{BB962C8B-B14F-4D97-AF65-F5344CB8AC3E}">
        <p14:creationId xmlns:p14="http://schemas.microsoft.com/office/powerpoint/2010/main" val="1597842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8C52-DE08-662D-3EB8-29287E8F25DF}"/>
              </a:ext>
            </a:extLst>
          </p:cNvPr>
          <p:cNvSpPr>
            <a:spLocks noGrp="1"/>
          </p:cNvSpPr>
          <p:nvPr>
            <p:ph type="title"/>
          </p:nvPr>
        </p:nvSpPr>
        <p:spPr/>
        <p:txBody>
          <a:bodyPr/>
          <a:lstStyle/>
          <a:p>
            <a:r>
              <a:rPr lang="en-US" altLang="zh-CN" b="1" dirty="0">
                <a:hlinkClick r:id="rId2"/>
              </a:rPr>
              <a:t>14.1.2 </a:t>
            </a:r>
            <a:r>
              <a:rPr lang="zh-CN" altLang="en-US" b="1" dirty="0">
                <a:hlinkClick r:id="rId2"/>
              </a:rPr>
              <a:t>异常值处理</a:t>
            </a:r>
            <a:endParaRPr kumimoji="1" lang="zh-CN" altLang="en-US" dirty="0"/>
          </a:p>
        </p:txBody>
      </p:sp>
      <p:sp>
        <p:nvSpPr>
          <p:cNvPr id="5" name="TextBox 4">
            <a:extLst>
              <a:ext uri="{FF2B5EF4-FFF2-40B4-BE49-F238E27FC236}">
                <a16:creationId xmlns:a16="http://schemas.microsoft.com/office/drawing/2014/main" id="{3428AFF8-5E7B-BCDC-9712-41903871F94C}"/>
              </a:ext>
            </a:extLst>
          </p:cNvPr>
          <p:cNvSpPr txBox="1"/>
          <p:nvPr/>
        </p:nvSpPr>
        <p:spPr>
          <a:xfrm>
            <a:off x="1487681" y="3488690"/>
            <a:ext cx="9215120" cy="2948179"/>
          </a:xfrm>
          <a:prstGeom prst="rect">
            <a:avLst/>
          </a:prstGeom>
          <a:noFill/>
        </p:spPr>
        <p:txBody>
          <a:bodyPr wrap="square">
            <a:spAutoFit/>
          </a:bodyPr>
          <a:lstStyle/>
          <a:p>
            <a:pPr algn="just">
              <a:lnSpc>
                <a:spcPct val="150000"/>
              </a:lnSpc>
              <a:buNone/>
            </a:pPr>
            <a:r>
              <a:rPr lang="zh-CN" altLang="en-US" sz="1800" b="0" i="0" dirty="0">
                <a:solidFill>
                  <a:srgbClr val="262625"/>
                </a:solidFill>
                <a:effectLst/>
                <a:latin typeface="Times New Roman" panose="02020603050405020304" pitchFamily="18" charset="0"/>
              </a:rPr>
              <a:t>处理异常值的常用方法与缺失值处理类似，包括以下几种：</a:t>
            </a:r>
          </a:p>
          <a:p>
            <a:pPr marL="285750" indent="-285750" algn="l">
              <a:lnSpc>
                <a:spcPct val="150000"/>
              </a:lnSpc>
              <a:buFont typeface="Arial" panose="020B0604020202020204" pitchFamily="34" charset="0"/>
              <a:buChar char="•"/>
            </a:pPr>
            <a:r>
              <a:rPr lang="zh-CN" altLang="en-US" sz="1800" b="0" i="0" dirty="0">
                <a:solidFill>
                  <a:srgbClr val="262625"/>
                </a:solidFill>
                <a:effectLst/>
                <a:latin typeface="Times New Roman" panose="02020603050405020304" pitchFamily="18" charset="0"/>
              </a:rPr>
              <a:t>删除法：删除含有异常值的记录，适用于异常值较少且不会影响整体数据结构的情况。</a:t>
            </a:r>
          </a:p>
          <a:p>
            <a:pPr marL="285750" indent="-285750" algn="l">
              <a:lnSpc>
                <a:spcPct val="150000"/>
              </a:lnSpc>
              <a:buFont typeface="Arial" panose="020B0604020202020204" pitchFamily="34" charset="0"/>
              <a:buChar char="•"/>
            </a:pPr>
            <a:r>
              <a:rPr lang="zh-CN" altLang="en-US" sz="1800" b="0" i="0" dirty="0">
                <a:solidFill>
                  <a:srgbClr val="262625"/>
                </a:solidFill>
                <a:effectLst/>
                <a:latin typeface="Times New Roman" panose="02020603050405020304" pitchFamily="18" charset="0"/>
              </a:rPr>
              <a:t>插补法：通过替代值（如均值、中位数、众数等）替换异常值，适用于异常值较为孤立且不会显著影响数据的整体趋势时。</a:t>
            </a:r>
          </a:p>
          <a:p>
            <a:pPr marL="285750" indent="-285750" algn="l">
              <a:lnSpc>
                <a:spcPct val="150000"/>
              </a:lnSpc>
              <a:buFont typeface="Arial" panose="020B0604020202020204" pitchFamily="34" charset="0"/>
              <a:buChar char="•"/>
            </a:pPr>
            <a:r>
              <a:rPr lang="zh-CN" altLang="en-US" sz="1800" b="0" i="0" dirty="0">
                <a:solidFill>
                  <a:srgbClr val="262625"/>
                </a:solidFill>
                <a:effectLst/>
                <a:latin typeface="Times New Roman" panose="02020603050405020304" pitchFamily="18" charset="0"/>
              </a:rPr>
              <a:t>转化法：使用数据变换（如对数转换、平方根转换等）来减小异常值的影响，常用于数据分布较偏斜的情况。</a:t>
            </a:r>
          </a:p>
          <a:p>
            <a:pPr marL="285750" indent="-285750" algn="l">
              <a:lnSpc>
                <a:spcPct val="150000"/>
              </a:lnSpc>
              <a:buFont typeface="Arial" panose="020B0604020202020204" pitchFamily="34" charset="0"/>
              <a:buChar char="•"/>
            </a:pPr>
            <a:r>
              <a:rPr lang="zh-CN" altLang="en-US" sz="1800" b="0" i="0" dirty="0">
                <a:solidFill>
                  <a:srgbClr val="262625"/>
                </a:solidFill>
                <a:effectLst/>
                <a:latin typeface="Times New Roman" panose="02020603050405020304" pitchFamily="18" charset="0"/>
              </a:rPr>
              <a:t>分箱法：将数据划分为多个区间，将异常值归类到相应的箱子中。</a:t>
            </a:r>
          </a:p>
        </p:txBody>
      </p:sp>
      <p:pic>
        <p:nvPicPr>
          <p:cNvPr id="6" name="Picture 5">
            <a:extLst>
              <a:ext uri="{FF2B5EF4-FFF2-40B4-BE49-F238E27FC236}">
                <a16:creationId xmlns:a16="http://schemas.microsoft.com/office/drawing/2014/main" id="{02918B22-16AA-3B76-EF13-1EB422084344}"/>
              </a:ext>
            </a:extLst>
          </p:cNvPr>
          <p:cNvPicPr>
            <a:picLocks noChangeAspect="1"/>
          </p:cNvPicPr>
          <p:nvPr/>
        </p:nvPicPr>
        <p:blipFill>
          <a:blip r:embed="rId3"/>
          <a:stretch>
            <a:fillRect/>
          </a:stretch>
        </p:blipFill>
        <p:spPr>
          <a:xfrm>
            <a:off x="3049270" y="1291590"/>
            <a:ext cx="6337300" cy="2222500"/>
          </a:xfrm>
          <a:prstGeom prst="rect">
            <a:avLst/>
          </a:prstGeom>
        </p:spPr>
      </p:pic>
    </p:spTree>
    <p:extLst>
      <p:ext uri="{BB962C8B-B14F-4D97-AF65-F5344CB8AC3E}">
        <p14:creationId xmlns:p14="http://schemas.microsoft.com/office/powerpoint/2010/main" val="525245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7ECD2-FB14-D165-5C03-161E17467215}"/>
              </a:ext>
            </a:extLst>
          </p:cNvPr>
          <p:cNvSpPr>
            <a:spLocks noGrp="1"/>
          </p:cNvSpPr>
          <p:nvPr>
            <p:ph type="title"/>
          </p:nvPr>
        </p:nvSpPr>
        <p:spPr/>
        <p:txBody>
          <a:bodyPr/>
          <a:lstStyle/>
          <a:p>
            <a:r>
              <a:rPr lang="en-US" altLang="zh-CN" b="1" dirty="0">
                <a:hlinkClick r:id="rId2"/>
              </a:rPr>
              <a:t>14.1.3 </a:t>
            </a:r>
            <a:r>
              <a:rPr lang="zh-CN" altLang="en-US" b="1" dirty="0">
                <a:hlinkClick r:id="rId2"/>
              </a:rPr>
              <a:t>重复值处理</a:t>
            </a:r>
            <a:endParaRPr kumimoji="1" lang="zh-CN" altLang="en-US" dirty="0"/>
          </a:p>
        </p:txBody>
      </p:sp>
      <p:sp>
        <p:nvSpPr>
          <p:cNvPr id="4" name="TextBox 3">
            <a:extLst>
              <a:ext uri="{FF2B5EF4-FFF2-40B4-BE49-F238E27FC236}">
                <a16:creationId xmlns:a16="http://schemas.microsoft.com/office/drawing/2014/main" id="{3155A6E3-A868-7711-5E0B-DC7BEFF14E6F}"/>
              </a:ext>
            </a:extLst>
          </p:cNvPr>
          <p:cNvSpPr txBox="1"/>
          <p:nvPr/>
        </p:nvSpPr>
        <p:spPr>
          <a:xfrm>
            <a:off x="1412240" y="1416596"/>
            <a:ext cx="8503920" cy="1695785"/>
          </a:xfrm>
          <a:prstGeom prst="rect">
            <a:avLst/>
          </a:prstGeom>
          <a:noFill/>
        </p:spPr>
        <p:txBody>
          <a:bodyPr wrap="square">
            <a:spAutoFit/>
          </a:bodyPr>
          <a:lstStyle/>
          <a:p>
            <a:pPr>
              <a:lnSpc>
                <a:spcPct val="150000"/>
              </a:lnSpc>
            </a:pPr>
            <a:r>
              <a:rPr lang="zh-CN" altLang="en-US" b="0" i="0" dirty="0">
                <a:solidFill>
                  <a:srgbClr val="262625"/>
                </a:solidFill>
                <a:effectLst/>
                <a:latin typeface="Times New Roman" panose="02020603050405020304" pitchFamily="18" charset="0"/>
              </a:rPr>
              <a:t>重复值主要有两种情况：</a:t>
            </a:r>
            <a:endParaRPr lang="en-US" altLang="zh-CN" b="0" i="0" dirty="0">
              <a:solidFill>
                <a:srgbClr val="262625"/>
              </a:solidFill>
              <a:effectLst/>
              <a:latin typeface="Times New Roman" panose="02020603050405020304" pitchFamily="18" charset="0"/>
            </a:endParaRPr>
          </a:p>
          <a:p>
            <a:pPr marL="342900" indent="-342900">
              <a:lnSpc>
                <a:spcPct val="150000"/>
              </a:lnSpc>
              <a:buFont typeface="+mj-lt"/>
              <a:buAutoNum type="arabicPeriod"/>
            </a:pPr>
            <a:r>
              <a:rPr lang="zh-CN" altLang="en-US" b="0" i="0" dirty="0">
                <a:solidFill>
                  <a:srgbClr val="262625"/>
                </a:solidFill>
                <a:effectLst/>
                <a:latin typeface="Times New Roman" panose="02020603050405020304" pitchFamily="18" charset="0"/>
              </a:rPr>
              <a:t>一是数据值完全相同的多条记录，</a:t>
            </a:r>
            <a:endParaRPr lang="en-US" altLang="zh-CN" b="0" i="0" dirty="0">
              <a:solidFill>
                <a:srgbClr val="262625"/>
              </a:solidFill>
              <a:effectLst/>
              <a:latin typeface="Times New Roman" panose="02020603050405020304" pitchFamily="18" charset="0"/>
            </a:endParaRPr>
          </a:p>
          <a:p>
            <a:pPr marL="342900" indent="-342900">
              <a:lnSpc>
                <a:spcPct val="150000"/>
              </a:lnSpc>
              <a:buFont typeface="+mj-lt"/>
              <a:buAutoNum type="arabicPeriod"/>
            </a:pPr>
            <a:r>
              <a:rPr lang="zh-CN" altLang="en-US" b="0" i="0" dirty="0">
                <a:solidFill>
                  <a:srgbClr val="262625"/>
                </a:solidFill>
                <a:effectLst/>
                <a:latin typeface="Times New Roman" panose="02020603050405020304" pitchFamily="18" charset="0"/>
              </a:rPr>
              <a:t>二是数据主体相同，但匹配到的唯一属性值不同。</a:t>
            </a:r>
            <a:endParaRPr lang="en-US" altLang="zh-CN" b="0" i="0" dirty="0">
              <a:solidFill>
                <a:srgbClr val="262625"/>
              </a:solidFill>
              <a:effectLst/>
              <a:latin typeface="Times New Roman" panose="02020603050405020304" pitchFamily="18" charset="0"/>
            </a:endParaRPr>
          </a:p>
          <a:p>
            <a:pPr>
              <a:lnSpc>
                <a:spcPct val="150000"/>
              </a:lnSpc>
            </a:pPr>
            <a:r>
              <a:rPr lang="zh-CN" altLang="en-US" b="0" i="0" dirty="0">
                <a:solidFill>
                  <a:srgbClr val="262625"/>
                </a:solidFill>
                <a:effectLst/>
                <a:latin typeface="Times New Roman" panose="02020603050405020304" pitchFamily="18" charset="0"/>
              </a:rPr>
              <a:t>重复值可能源于数据输入错误、系统故障或多个数据源合并时的重复记录。</a:t>
            </a:r>
            <a:endParaRPr lang="zh-CN" altLang="en-US" dirty="0"/>
          </a:p>
        </p:txBody>
      </p:sp>
      <p:pic>
        <p:nvPicPr>
          <p:cNvPr id="5" name="Picture 4">
            <a:extLst>
              <a:ext uri="{FF2B5EF4-FFF2-40B4-BE49-F238E27FC236}">
                <a16:creationId xmlns:a16="http://schemas.microsoft.com/office/drawing/2014/main" id="{021E6D81-111D-D3C2-9A59-E12F78A74E73}"/>
              </a:ext>
            </a:extLst>
          </p:cNvPr>
          <p:cNvPicPr>
            <a:picLocks noChangeAspect="1"/>
          </p:cNvPicPr>
          <p:nvPr/>
        </p:nvPicPr>
        <p:blipFill>
          <a:blip r:embed="rId3"/>
          <a:stretch>
            <a:fillRect/>
          </a:stretch>
        </p:blipFill>
        <p:spPr>
          <a:xfrm>
            <a:off x="699770" y="3267710"/>
            <a:ext cx="6972300" cy="3289300"/>
          </a:xfrm>
          <a:prstGeom prst="rect">
            <a:avLst/>
          </a:prstGeom>
        </p:spPr>
      </p:pic>
      <p:pic>
        <p:nvPicPr>
          <p:cNvPr id="6" name="Picture 5">
            <a:extLst>
              <a:ext uri="{FF2B5EF4-FFF2-40B4-BE49-F238E27FC236}">
                <a16:creationId xmlns:a16="http://schemas.microsoft.com/office/drawing/2014/main" id="{19793D6A-12A6-D534-682C-7CB34F8EE74C}"/>
              </a:ext>
            </a:extLst>
          </p:cNvPr>
          <p:cNvPicPr>
            <a:picLocks noChangeAspect="1"/>
          </p:cNvPicPr>
          <p:nvPr/>
        </p:nvPicPr>
        <p:blipFill>
          <a:blip r:embed="rId4"/>
          <a:stretch>
            <a:fillRect/>
          </a:stretch>
        </p:blipFill>
        <p:spPr>
          <a:xfrm>
            <a:off x="5664200" y="5008491"/>
            <a:ext cx="6057900" cy="1562100"/>
          </a:xfrm>
          <a:prstGeom prst="rect">
            <a:avLst/>
          </a:prstGeom>
        </p:spPr>
      </p:pic>
    </p:spTree>
    <p:extLst>
      <p:ext uri="{BB962C8B-B14F-4D97-AF65-F5344CB8AC3E}">
        <p14:creationId xmlns:p14="http://schemas.microsoft.com/office/powerpoint/2010/main" val="764848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6C158-4868-20E7-7082-34E5658DD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79B3D-C19A-7712-0030-E08A670A0772}"/>
              </a:ext>
            </a:extLst>
          </p:cNvPr>
          <p:cNvSpPr>
            <a:spLocks noGrp="1"/>
          </p:cNvSpPr>
          <p:nvPr>
            <p:ph type="title"/>
          </p:nvPr>
        </p:nvSpPr>
        <p:spPr/>
        <p:txBody>
          <a:bodyPr/>
          <a:lstStyle/>
          <a:p>
            <a:r>
              <a:rPr lang="en-US" altLang="zh-CN" dirty="0"/>
              <a:t>14.2 </a:t>
            </a:r>
            <a:r>
              <a:rPr lang="zh-CN" altLang="en-US" dirty="0"/>
              <a:t>数据转换</a:t>
            </a:r>
            <a:endParaRPr lang="en-US" dirty="0"/>
          </a:p>
        </p:txBody>
      </p:sp>
    </p:spTree>
    <p:extLst>
      <p:ext uri="{BB962C8B-B14F-4D97-AF65-F5344CB8AC3E}">
        <p14:creationId xmlns:p14="http://schemas.microsoft.com/office/powerpoint/2010/main" val="995563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A66E7-F298-18D4-FD6B-5E1E3779A890}"/>
              </a:ext>
            </a:extLst>
          </p:cNvPr>
          <p:cNvSpPr>
            <a:spLocks noGrp="1"/>
          </p:cNvSpPr>
          <p:nvPr>
            <p:ph type="title"/>
          </p:nvPr>
        </p:nvSpPr>
        <p:spPr/>
        <p:txBody>
          <a:bodyPr>
            <a:normAutofit/>
          </a:bodyPr>
          <a:lstStyle/>
          <a:p>
            <a:r>
              <a:rPr lang="en-US" altLang="zh-CN" b="1" dirty="0">
                <a:hlinkClick r:id="rId2"/>
              </a:rPr>
              <a:t>14.2.1 </a:t>
            </a:r>
            <a:r>
              <a:rPr lang="zh-CN" altLang="en-US" b="1" dirty="0">
                <a:hlinkClick r:id="rId2"/>
              </a:rPr>
              <a:t>数据规范化</a:t>
            </a:r>
            <a:endParaRPr kumimoji="1" lang="zh-CN" altLang="en-US" dirty="0"/>
          </a:p>
        </p:txBody>
      </p:sp>
      <p:sp>
        <p:nvSpPr>
          <p:cNvPr id="8" name="Rectangle 4">
            <a:extLst>
              <a:ext uri="{FF2B5EF4-FFF2-40B4-BE49-F238E27FC236}">
                <a16:creationId xmlns:a16="http://schemas.microsoft.com/office/drawing/2014/main" id="{D4276C2F-CD5C-1BA6-EFF8-98EC697E0160}"/>
              </a:ext>
            </a:extLst>
          </p:cNvPr>
          <p:cNvSpPr>
            <a:spLocks noChangeArrowheads="1"/>
          </p:cNvSpPr>
          <p:nvPr/>
        </p:nvSpPr>
        <p:spPr bwMode="auto">
          <a:xfrm>
            <a:off x="1000093" y="3105834"/>
            <a:ext cx="10213340" cy="646331"/>
          </a:xfrm>
          <a:prstGeom prst="rect">
            <a:avLst/>
          </a:prstGeom>
          <a:solidFill>
            <a:srgbClr val="E1E1D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N" altLang="en-CN" b="1"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零-均值规范化</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：也称为标准差规范化，通过这种方法，数据经过转换后，将具有</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0</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的均值和</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1</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的标准差。它将数据的分布转化为标准正态分布。</a:t>
            </a:r>
            <a:endParaRPr kumimoji="0" lang="en-CN" altLang="en-CN" b="0" i="0" u="none" strike="noStrike" cap="none" normalizeH="0" baseline="0" dirty="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77BBC2C1-5049-AEFB-75FA-F02A7E3AD659}"/>
              </a:ext>
            </a:extLst>
          </p:cNvPr>
          <p:cNvSpPr>
            <a:spLocks noChangeArrowheads="1"/>
          </p:cNvSpPr>
          <p:nvPr/>
        </p:nvSpPr>
        <p:spPr bwMode="auto">
          <a:xfrm>
            <a:off x="1104900" y="1378635"/>
            <a:ext cx="9857740" cy="646331"/>
          </a:xfrm>
          <a:prstGeom prst="rect">
            <a:avLst/>
          </a:prstGeom>
          <a:solidFill>
            <a:srgbClr val="E1E1D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N" altLang="en-CN" b="1"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最小-最大规范化</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：也被称为离差标准化，是一种线性变换方法，它将原始数据映射到指定的区间，通常是 </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[0,1]</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之间。</a:t>
            </a:r>
            <a:endParaRPr kumimoji="0" lang="en-CN" altLang="en-CN" b="0" i="0" u="none" strike="noStrike" cap="none" normalizeH="0" baseline="0" dirty="0">
              <a:ln>
                <a:noFill/>
              </a:ln>
              <a:solidFill>
                <a:schemeClr val="tx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012739EA-FB8F-BC58-46DA-CF07D3A688F8}"/>
              </a:ext>
            </a:extLst>
          </p:cNvPr>
          <p:cNvSpPr>
            <a:spLocks noChangeArrowheads="1"/>
          </p:cNvSpPr>
          <p:nvPr/>
        </p:nvSpPr>
        <p:spPr bwMode="auto">
          <a:xfrm>
            <a:off x="1000093" y="5110033"/>
            <a:ext cx="10528031" cy="369332"/>
          </a:xfrm>
          <a:prstGeom prst="rect">
            <a:avLst/>
          </a:prstGeom>
          <a:solidFill>
            <a:srgbClr val="E1E1D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CN" altLang="en-CN" b="1"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小数定标规范化</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：是一种通过移动数据的小数位数，使数据的取值范围被映射到 </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[−1,1]</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区间的方法。</a:t>
            </a:r>
            <a:endParaRPr kumimoji="0" lang="en-CN" altLang="en-CN"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EB0C293A-AD28-9314-813B-7759A6165AE6}"/>
              </a:ext>
            </a:extLst>
          </p:cNvPr>
          <p:cNvPicPr>
            <a:picLocks noChangeAspect="1"/>
          </p:cNvPicPr>
          <p:nvPr/>
        </p:nvPicPr>
        <p:blipFill>
          <a:blip r:embed="rId3"/>
          <a:stretch>
            <a:fillRect/>
          </a:stretch>
        </p:blipFill>
        <p:spPr>
          <a:xfrm>
            <a:off x="4525010" y="2160923"/>
            <a:ext cx="2082800" cy="533400"/>
          </a:xfrm>
          <a:prstGeom prst="rect">
            <a:avLst/>
          </a:prstGeom>
        </p:spPr>
      </p:pic>
      <p:pic>
        <p:nvPicPr>
          <p:cNvPr id="13" name="Picture 12">
            <a:extLst>
              <a:ext uri="{FF2B5EF4-FFF2-40B4-BE49-F238E27FC236}">
                <a16:creationId xmlns:a16="http://schemas.microsoft.com/office/drawing/2014/main" id="{4011FC52-CF3F-8544-52CA-0812052662C2}"/>
              </a:ext>
            </a:extLst>
          </p:cNvPr>
          <p:cNvPicPr>
            <a:picLocks noChangeAspect="1"/>
          </p:cNvPicPr>
          <p:nvPr/>
        </p:nvPicPr>
        <p:blipFill>
          <a:blip r:embed="rId4"/>
          <a:stretch>
            <a:fillRect/>
          </a:stretch>
        </p:blipFill>
        <p:spPr>
          <a:xfrm>
            <a:off x="4941570" y="4140268"/>
            <a:ext cx="1092200" cy="571500"/>
          </a:xfrm>
          <a:prstGeom prst="rect">
            <a:avLst/>
          </a:prstGeom>
        </p:spPr>
      </p:pic>
      <p:pic>
        <p:nvPicPr>
          <p:cNvPr id="14" name="Picture 13">
            <a:extLst>
              <a:ext uri="{FF2B5EF4-FFF2-40B4-BE49-F238E27FC236}">
                <a16:creationId xmlns:a16="http://schemas.microsoft.com/office/drawing/2014/main" id="{23D42279-2630-C5BE-A4D1-6E6F451EA64B}"/>
              </a:ext>
            </a:extLst>
          </p:cNvPr>
          <p:cNvPicPr>
            <a:picLocks noChangeAspect="1"/>
          </p:cNvPicPr>
          <p:nvPr/>
        </p:nvPicPr>
        <p:blipFill>
          <a:blip r:embed="rId5"/>
          <a:stretch>
            <a:fillRect/>
          </a:stretch>
        </p:blipFill>
        <p:spPr>
          <a:xfrm>
            <a:off x="5062220" y="5752136"/>
            <a:ext cx="850900" cy="635000"/>
          </a:xfrm>
          <a:prstGeom prst="rect">
            <a:avLst/>
          </a:prstGeom>
        </p:spPr>
      </p:pic>
    </p:spTree>
    <p:extLst>
      <p:ext uri="{BB962C8B-B14F-4D97-AF65-F5344CB8AC3E}">
        <p14:creationId xmlns:p14="http://schemas.microsoft.com/office/powerpoint/2010/main" val="1069012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A0-2205-F3A2-71AC-436ADABFF58D}"/>
              </a:ext>
            </a:extLst>
          </p:cNvPr>
          <p:cNvSpPr>
            <a:spLocks noGrp="1"/>
          </p:cNvSpPr>
          <p:nvPr>
            <p:ph type="title"/>
          </p:nvPr>
        </p:nvSpPr>
        <p:spPr/>
        <p:txBody>
          <a:bodyPr/>
          <a:lstStyle/>
          <a:p>
            <a:r>
              <a:rPr lang="en-US" altLang="zh-CN" b="1" dirty="0">
                <a:hlinkClick r:id="rId2"/>
              </a:rPr>
              <a:t>14.2.2 </a:t>
            </a:r>
            <a:r>
              <a:rPr lang="zh-CN" altLang="en-US" b="1" dirty="0">
                <a:hlinkClick r:id="rId2"/>
              </a:rPr>
              <a:t>数据格式化</a:t>
            </a:r>
            <a:endParaRPr kumimoji="1" lang="zh-CN" altLang="en-US" dirty="0"/>
          </a:p>
        </p:txBody>
      </p:sp>
      <p:sp>
        <p:nvSpPr>
          <p:cNvPr id="4" name="TextBox 3">
            <a:extLst>
              <a:ext uri="{FF2B5EF4-FFF2-40B4-BE49-F238E27FC236}">
                <a16:creationId xmlns:a16="http://schemas.microsoft.com/office/drawing/2014/main" id="{C6C19CFD-2314-07D9-070C-D3201F8242A8}"/>
              </a:ext>
            </a:extLst>
          </p:cNvPr>
          <p:cNvSpPr txBox="1"/>
          <p:nvPr/>
        </p:nvSpPr>
        <p:spPr>
          <a:xfrm>
            <a:off x="1391920" y="1611759"/>
            <a:ext cx="8930640" cy="4198393"/>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数据格式化（</a:t>
            </a:r>
            <a:r>
              <a:rPr lang="en-US" b="0" i="0" dirty="0">
                <a:solidFill>
                  <a:srgbClr val="262625"/>
                </a:solidFill>
                <a:effectLst/>
                <a:latin typeface="Microsoft YaHei" panose="020B0503020204020204" pitchFamily="34" charset="-122"/>
                <a:ea typeface="Microsoft YaHei" panose="020B0503020204020204" pitchFamily="34" charset="-122"/>
              </a:rPr>
              <a:t>Formatting）</a:t>
            </a:r>
            <a:r>
              <a:rPr lang="zh-CN" altLang="en-US" b="0" i="0" dirty="0">
                <a:solidFill>
                  <a:srgbClr val="262625"/>
                </a:solidFill>
                <a:effectLst/>
                <a:latin typeface="Microsoft YaHei" panose="020B0503020204020204" pitchFamily="34" charset="-122"/>
                <a:ea typeface="Microsoft YaHei" panose="020B0503020204020204" pitchFamily="34" charset="-122"/>
              </a:rPr>
              <a:t>是将数据从一种格式转换为另一种格式的过程，旨在确保数据符合特定的分析需求或存储要求。</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在数据处理过程中，由于不同系统和平台的数据处理方式可能存在差异，数据格式化显得尤为重要。</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en-US" b="0" i="0" dirty="0">
                <a:solidFill>
                  <a:srgbClr val="262625"/>
                </a:solidFill>
                <a:effectLst/>
                <a:latin typeface="Microsoft YaHei" panose="020B0503020204020204" pitchFamily="34" charset="-122"/>
                <a:ea typeface="Microsoft YaHei" panose="020B0503020204020204" pitchFamily="34" charset="-122"/>
              </a:rPr>
              <a:t>常见的格式化操作包括日期时间格式转换、数值格式转换、字符串格式化以及分类数据的编码处理。</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en-US" b="0" i="0" dirty="0">
                <a:solidFill>
                  <a:srgbClr val="262625"/>
                </a:solidFill>
                <a:effectLst/>
                <a:latin typeface="Microsoft YaHei" panose="020B0503020204020204" pitchFamily="34" charset="-122"/>
                <a:ea typeface="Microsoft YaHei" panose="020B0503020204020204" pitchFamily="34" charset="-122"/>
              </a:rPr>
              <a:t>日期时间格式转换通常需要将不同格式的日期字符串转换为标准的日期格式，以便进行时间序列分析；</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en-US" b="0" i="0" dirty="0">
                <a:solidFill>
                  <a:srgbClr val="262625"/>
                </a:solidFill>
                <a:effectLst/>
                <a:latin typeface="Microsoft YaHei" panose="020B0503020204020204" pitchFamily="34" charset="-122"/>
                <a:ea typeface="Microsoft YaHei" panose="020B0503020204020204" pitchFamily="34" charset="-122"/>
              </a:rPr>
              <a:t>数值格式化则涉及统一数字的显示方式，如将浮点数或整数转换为统一的小数位数，保证计算的一致性。</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2188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66E01-7AA2-83F1-43A9-6FF86C9181A7}"/>
              </a:ext>
            </a:extLst>
          </p:cNvPr>
          <p:cNvSpPr>
            <a:spLocks noGrp="1"/>
          </p:cNvSpPr>
          <p:nvPr>
            <p:ph type="title"/>
          </p:nvPr>
        </p:nvSpPr>
        <p:spPr/>
        <p:txBody>
          <a:bodyPr/>
          <a:lstStyle/>
          <a:p>
            <a:r>
              <a:rPr lang="en-US" altLang="zh-CN" b="1" dirty="0">
                <a:hlinkClick r:id="rId2"/>
              </a:rPr>
              <a:t>14.2.3 </a:t>
            </a:r>
            <a:r>
              <a:rPr lang="zh-CN" altLang="en-US" b="1" dirty="0">
                <a:hlinkClick r:id="rId2"/>
              </a:rPr>
              <a:t>数据类型转换</a:t>
            </a:r>
            <a:endParaRPr kumimoji="1" lang="zh-CN" altLang="en-US" dirty="0"/>
          </a:p>
        </p:txBody>
      </p:sp>
      <p:sp>
        <p:nvSpPr>
          <p:cNvPr id="4" name="TextBox 3">
            <a:extLst>
              <a:ext uri="{FF2B5EF4-FFF2-40B4-BE49-F238E27FC236}">
                <a16:creationId xmlns:a16="http://schemas.microsoft.com/office/drawing/2014/main" id="{A4571DE7-FE8B-0420-E966-D7C2548B90F2}"/>
              </a:ext>
            </a:extLst>
          </p:cNvPr>
          <p:cNvSpPr txBox="1"/>
          <p:nvPr/>
        </p:nvSpPr>
        <p:spPr>
          <a:xfrm>
            <a:off x="1584201" y="1648659"/>
            <a:ext cx="8524999" cy="3782895"/>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数据的类型转换（</a:t>
            </a:r>
            <a:r>
              <a:rPr lang="en-US" b="0" i="0" dirty="0">
                <a:solidFill>
                  <a:srgbClr val="262625"/>
                </a:solidFill>
                <a:effectLst/>
                <a:latin typeface="Microsoft YaHei" panose="020B0503020204020204" pitchFamily="34" charset="-122"/>
                <a:ea typeface="Microsoft YaHei" panose="020B0503020204020204" pitchFamily="34" charset="-122"/>
              </a:rPr>
              <a:t>Type Conversion）</a:t>
            </a:r>
            <a:r>
              <a:rPr lang="zh-CN" altLang="en-US" b="0" i="0" dirty="0">
                <a:solidFill>
                  <a:srgbClr val="262625"/>
                </a:solidFill>
                <a:effectLst/>
                <a:latin typeface="Microsoft YaHei" panose="020B0503020204020204" pitchFamily="34" charset="-122"/>
                <a:ea typeface="Microsoft YaHei" panose="020B0503020204020204" pitchFamily="34" charset="-122"/>
              </a:rPr>
              <a:t>是将数据从一种数据类型转变为另一种数据类型的过程。</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这个过程非常关键，因为在实际的数据处理和分析中，不同的数据源或系统可能会采用不同的类型格式。</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en-US" b="0" i="0" dirty="0">
                <a:solidFill>
                  <a:srgbClr val="262625"/>
                </a:solidFill>
                <a:effectLst/>
                <a:latin typeface="Microsoft YaHei" panose="020B0503020204020204" pitchFamily="34" charset="-122"/>
                <a:ea typeface="Microsoft YaHei" panose="020B0503020204020204" pitchFamily="34" charset="-122"/>
              </a:rPr>
              <a:t>例如，字符串类型的数字可能需要转换为整数或浮动数字，以便进行数学运算；</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en-US" b="0" i="0" dirty="0">
                <a:solidFill>
                  <a:srgbClr val="262625"/>
                </a:solidFill>
                <a:effectLst/>
                <a:latin typeface="Microsoft YaHei" panose="020B0503020204020204" pitchFamily="34" charset="-122"/>
                <a:ea typeface="Microsoft YaHei" panose="020B0503020204020204" pitchFamily="34" charset="-122"/>
              </a:rPr>
              <a:t>日期字符串也通常需要转换为日期对象，以便能够进行时间差计算或进行时间序列分析。</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Arial" panose="020B0604020202020204" pitchFamily="34" charset="0"/>
              <a:buChar char="•"/>
            </a:pPr>
            <a:r>
              <a:rPr lang="zh-CN" altLang="en-US" b="0" i="0" dirty="0">
                <a:solidFill>
                  <a:srgbClr val="262625"/>
                </a:solidFill>
                <a:effectLst/>
                <a:latin typeface="Microsoft YaHei" panose="020B0503020204020204" pitchFamily="34" charset="-122"/>
                <a:ea typeface="Microsoft YaHei" panose="020B0503020204020204" pitchFamily="34" charset="-122"/>
              </a:rPr>
              <a:t>类型转换是确保数据一致性、可用性和准确性的基础，尤其在处理不同格式和系统之间的接口时尤为重要。</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49765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8CFDF-ED14-9D76-E115-761F809474A9}"/>
              </a:ext>
            </a:extLst>
          </p:cNvPr>
          <p:cNvSpPr>
            <a:spLocks noGrp="1"/>
          </p:cNvSpPr>
          <p:nvPr>
            <p:ph type="title"/>
          </p:nvPr>
        </p:nvSpPr>
        <p:spPr/>
        <p:txBody>
          <a:bodyPr/>
          <a:lstStyle/>
          <a:p>
            <a:r>
              <a:rPr lang="en-US" altLang="zh-CN" b="1" dirty="0">
                <a:hlinkClick r:id="rId2"/>
              </a:rPr>
              <a:t>14.2.4 </a:t>
            </a:r>
            <a:r>
              <a:rPr lang="zh-CN" altLang="en-US" b="1" dirty="0">
                <a:hlinkClick r:id="rId2"/>
              </a:rPr>
              <a:t>连续属性离散化</a:t>
            </a:r>
            <a:endParaRPr kumimoji="1" lang="zh-CN" altLang="en-US" dirty="0"/>
          </a:p>
        </p:txBody>
      </p:sp>
      <p:sp>
        <p:nvSpPr>
          <p:cNvPr id="4" name="TextBox 3">
            <a:extLst>
              <a:ext uri="{FF2B5EF4-FFF2-40B4-BE49-F238E27FC236}">
                <a16:creationId xmlns:a16="http://schemas.microsoft.com/office/drawing/2014/main" id="{BCEB5C62-D9E7-25A3-4E1D-44DC68228E3B}"/>
              </a:ext>
            </a:extLst>
          </p:cNvPr>
          <p:cNvSpPr txBox="1"/>
          <p:nvPr/>
        </p:nvSpPr>
        <p:spPr>
          <a:xfrm>
            <a:off x="985520" y="1433175"/>
            <a:ext cx="9980682" cy="874407"/>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连续属性离散化（</a:t>
            </a:r>
            <a:r>
              <a:rPr lang="en-US" b="0" i="0" dirty="0">
                <a:solidFill>
                  <a:srgbClr val="262625"/>
                </a:solidFill>
                <a:effectLst/>
                <a:latin typeface="Microsoft YaHei" panose="020B0503020204020204" pitchFamily="34" charset="-122"/>
                <a:ea typeface="Microsoft YaHei" panose="020B0503020204020204" pitchFamily="34" charset="-122"/>
              </a:rPr>
              <a:t>Discretization of Continuous Attributes）</a:t>
            </a:r>
            <a:r>
              <a:rPr lang="zh-CN" altLang="en-US" b="0" i="0" dirty="0">
                <a:solidFill>
                  <a:srgbClr val="262625"/>
                </a:solidFill>
                <a:effectLst/>
                <a:latin typeface="Microsoft YaHei" panose="020B0503020204020204" pitchFamily="34" charset="-122"/>
                <a:ea typeface="Microsoft YaHei" panose="020B0503020204020204" pitchFamily="34" charset="-122"/>
              </a:rPr>
              <a:t>是数据预处理中的一种技术，主要用于将连续数据（如年龄、收入、温度等数值型变量）转换为离散的类别或区间。</a:t>
            </a:r>
            <a:endParaRPr lang="zh-CN" altLang="en-US" dirty="0">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B35645AC-B42A-6334-21BB-D36E29F04B5F}"/>
              </a:ext>
            </a:extLst>
          </p:cNvPr>
          <p:cNvSpPr txBox="1"/>
          <p:nvPr/>
        </p:nvSpPr>
        <p:spPr>
          <a:xfrm>
            <a:off x="1910080" y="2506395"/>
            <a:ext cx="7589520" cy="87440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等宽离散化</a:t>
            </a:r>
            <a:r>
              <a:rPr lang="zh-CN" altLang="en-US"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Equal-width Discretization）</a:t>
            </a:r>
            <a:r>
              <a:rPr lang="zh-CN" altLang="en-US" b="0" i="0" dirty="0">
                <a:solidFill>
                  <a:srgbClr val="262625"/>
                </a:solidFill>
                <a:effectLst/>
                <a:latin typeface="Microsoft YaHei" panose="020B0503020204020204" pitchFamily="34" charset="-122"/>
                <a:ea typeface="Microsoft YaHei" panose="020B0503020204020204" pitchFamily="34" charset="-122"/>
              </a:rPr>
              <a:t>是最简单的一种离散化方法，它将连续数据的取值范围均匀分割成多个区间。</a:t>
            </a:r>
            <a:endParaRPr lang="zh-CN" altLang="en-US" dirty="0">
              <a:latin typeface="Microsoft YaHei" panose="020B0503020204020204" pitchFamily="34" charset="-122"/>
              <a:ea typeface="Microsoft YaHei" panose="020B0503020204020204" pitchFamily="34" charset="-122"/>
            </a:endParaRPr>
          </a:p>
        </p:txBody>
      </p:sp>
      <p:sp>
        <p:nvSpPr>
          <p:cNvPr id="8" name="TextBox 7">
            <a:extLst>
              <a:ext uri="{FF2B5EF4-FFF2-40B4-BE49-F238E27FC236}">
                <a16:creationId xmlns:a16="http://schemas.microsoft.com/office/drawing/2014/main" id="{EB412D0E-A2CC-A6D0-962D-B3480F2D90C4}"/>
              </a:ext>
            </a:extLst>
          </p:cNvPr>
          <p:cNvSpPr txBox="1"/>
          <p:nvPr/>
        </p:nvSpPr>
        <p:spPr>
          <a:xfrm>
            <a:off x="1910080" y="3765174"/>
            <a:ext cx="7589520" cy="87440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等频离散化</a:t>
            </a:r>
            <a:r>
              <a:rPr lang="zh-CN" altLang="en-US"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Equal-frequency Discretization）</a:t>
            </a:r>
            <a:r>
              <a:rPr lang="zh-CN" altLang="en-US" b="0" i="0" dirty="0">
                <a:solidFill>
                  <a:srgbClr val="262625"/>
                </a:solidFill>
                <a:effectLst/>
                <a:latin typeface="Microsoft YaHei" panose="020B0503020204020204" pitchFamily="34" charset="-122"/>
                <a:ea typeface="Microsoft YaHei" panose="020B0503020204020204" pitchFamily="34" charset="-122"/>
              </a:rPr>
              <a:t>将数据划分为相等数量的区间，其中每个区间内包含相同数量的数据点。</a:t>
            </a:r>
            <a:endParaRPr lang="zh-CN" altLang="en-US" dirty="0">
              <a:latin typeface="Microsoft YaHei" panose="020B0503020204020204" pitchFamily="34" charset="-122"/>
              <a:ea typeface="Microsoft YaHei" panose="020B0503020204020204" pitchFamily="34" charset="-122"/>
            </a:endParaRPr>
          </a:p>
        </p:txBody>
      </p:sp>
      <p:sp>
        <p:nvSpPr>
          <p:cNvPr id="10" name="TextBox 9">
            <a:extLst>
              <a:ext uri="{FF2B5EF4-FFF2-40B4-BE49-F238E27FC236}">
                <a16:creationId xmlns:a16="http://schemas.microsoft.com/office/drawing/2014/main" id="{7D8BCCC1-AA11-17E1-B07D-54F63C1B0943}"/>
              </a:ext>
            </a:extLst>
          </p:cNvPr>
          <p:cNvSpPr txBox="1"/>
          <p:nvPr/>
        </p:nvSpPr>
        <p:spPr>
          <a:xfrm>
            <a:off x="1910080" y="4944795"/>
            <a:ext cx="7589520" cy="87440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基于聚类的离散化</a:t>
            </a:r>
            <a:r>
              <a:rPr lang="zh-CN" altLang="en-US"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Clustering-based Discretization）</a:t>
            </a:r>
            <a:r>
              <a:rPr lang="zh-CN" altLang="en-US" b="0" i="0" dirty="0">
                <a:solidFill>
                  <a:srgbClr val="262625"/>
                </a:solidFill>
                <a:effectLst/>
                <a:latin typeface="Microsoft YaHei" panose="020B0503020204020204" pitchFamily="34" charset="-122"/>
                <a:ea typeface="Microsoft YaHei" panose="020B0503020204020204" pitchFamily="34" charset="-122"/>
              </a:rPr>
              <a:t>方法通过利用聚类算法（如 </a:t>
            </a:r>
            <a:r>
              <a:rPr lang="en-US" b="0" i="0" dirty="0">
                <a:solidFill>
                  <a:srgbClr val="262625"/>
                </a:solidFill>
                <a:effectLst/>
                <a:latin typeface="Microsoft YaHei" panose="020B0503020204020204" pitchFamily="34" charset="-122"/>
                <a:ea typeface="Microsoft YaHei" panose="020B0503020204020204" pitchFamily="34" charset="-122"/>
              </a:rPr>
              <a:t>K-means）</a:t>
            </a:r>
            <a:r>
              <a:rPr lang="zh-CN" altLang="en-US" b="0" i="0" dirty="0">
                <a:solidFill>
                  <a:srgbClr val="262625"/>
                </a:solidFill>
                <a:effectLst/>
                <a:latin typeface="Microsoft YaHei" panose="020B0503020204020204" pitchFamily="34" charset="-122"/>
                <a:ea typeface="Microsoft YaHei" panose="020B0503020204020204" pitchFamily="34" charset="-122"/>
              </a:rPr>
              <a:t>将连续属性值分组。</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6951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5FC25-DC39-2613-AACF-1D42473E61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55A7C-0C08-61D4-EC40-C60336420CB6}"/>
              </a:ext>
            </a:extLst>
          </p:cNvPr>
          <p:cNvSpPr>
            <a:spLocks noGrp="1"/>
          </p:cNvSpPr>
          <p:nvPr>
            <p:ph type="title"/>
          </p:nvPr>
        </p:nvSpPr>
        <p:spPr/>
        <p:txBody>
          <a:bodyPr/>
          <a:lstStyle/>
          <a:p>
            <a:r>
              <a:rPr lang="en-US" altLang="zh-CN" dirty="0"/>
              <a:t>14.3 </a:t>
            </a:r>
            <a:r>
              <a:rPr lang="zh-CN" altLang="en-US" dirty="0"/>
              <a:t>数据相关性分析</a:t>
            </a:r>
            <a:endParaRPr lang="en-US" dirty="0"/>
          </a:p>
        </p:txBody>
      </p:sp>
    </p:spTree>
    <p:extLst>
      <p:ext uri="{BB962C8B-B14F-4D97-AF65-F5344CB8AC3E}">
        <p14:creationId xmlns:p14="http://schemas.microsoft.com/office/powerpoint/2010/main" val="3917898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F5F47-B081-62D4-9E94-05071AE77756}"/>
              </a:ext>
            </a:extLst>
          </p:cNvPr>
          <p:cNvSpPr>
            <a:spLocks noGrp="1"/>
          </p:cNvSpPr>
          <p:nvPr>
            <p:ph type="title"/>
          </p:nvPr>
        </p:nvSpPr>
        <p:spPr/>
        <p:txBody>
          <a:bodyPr/>
          <a:lstStyle/>
          <a:p>
            <a:r>
              <a:rPr lang="zh-CN" altLang="en-US" dirty="0"/>
              <a:t>常见的数据分析方法</a:t>
            </a:r>
            <a:endParaRPr kumimoji="1" lang="zh-CN" altLang="en-US" dirty="0"/>
          </a:p>
        </p:txBody>
      </p:sp>
      <p:sp>
        <p:nvSpPr>
          <p:cNvPr id="4" name="TextBox 3">
            <a:extLst>
              <a:ext uri="{FF2B5EF4-FFF2-40B4-BE49-F238E27FC236}">
                <a16:creationId xmlns:a16="http://schemas.microsoft.com/office/drawing/2014/main" id="{D7415C8B-0E71-2EAB-36D7-0951762C36CC}"/>
              </a:ext>
            </a:extLst>
          </p:cNvPr>
          <p:cNvSpPr txBox="1"/>
          <p:nvPr/>
        </p:nvSpPr>
        <p:spPr>
          <a:xfrm>
            <a:off x="1452880" y="1498382"/>
            <a:ext cx="8849360" cy="4198393"/>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zh-CN" altLang="en-US" sz="1800" b="1" i="0" dirty="0">
                <a:solidFill>
                  <a:srgbClr val="262625"/>
                </a:solidFill>
                <a:effectLst/>
                <a:latin typeface="Microsoft YaHei" panose="020B0503020204020204" pitchFamily="34" charset="-122"/>
                <a:ea typeface="Microsoft YaHei" panose="020B0503020204020204" pitchFamily="34" charset="-122"/>
              </a:rPr>
              <a:t>分布分析</a:t>
            </a:r>
            <a:r>
              <a:rPr lang="zh-CN" altLang="en-US" sz="1800" b="0" i="0" dirty="0">
                <a:solidFill>
                  <a:srgbClr val="262625"/>
                </a:solidFill>
                <a:effectLst/>
                <a:latin typeface="Microsoft YaHei" panose="020B0503020204020204" pitchFamily="34" charset="-122"/>
                <a:ea typeface="Microsoft YaHei" panose="020B0503020204020204" pitchFamily="34" charset="-122"/>
              </a:rPr>
              <a:t>：用于揭示数据的分布特征和类型，帮助了解变量的取值范围、分布形态（对称或非对称）以及是否存在异常值（如极大值或极小值）。对于定量数据，常用频率分布表、频率分布图和茎叶图等方式直观展示；而定性数据则多通过饼图或条形图等方式展现分布情况。</a:t>
            </a:r>
          </a:p>
          <a:p>
            <a:pPr marL="285750" indent="-285750" algn="l">
              <a:lnSpc>
                <a:spcPct val="150000"/>
              </a:lnSpc>
              <a:buFont typeface="Arial" panose="020B0604020202020204" pitchFamily="34" charset="0"/>
              <a:buChar char="•"/>
            </a:pPr>
            <a:r>
              <a:rPr lang="zh-CN" altLang="en-US" sz="1800" b="1" i="0" dirty="0">
                <a:solidFill>
                  <a:srgbClr val="262625"/>
                </a:solidFill>
                <a:effectLst/>
                <a:latin typeface="Microsoft YaHei" panose="020B0503020204020204" pitchFamily="34" charset="-122"/>
                <a:ea typeface="Microsoft YaHei" panose="020B0503020204020204" pitchFamily="34" charset="-122"/>
              </a:rPr>
              <a:t>集中趋势分析</a:t>
            </a:r>
            <a:r>
              <a:rPr lang="zh-CN" altLang="en-US" sz="1800" b="0" i="0" dirty="0">
                <a:solidFill>
                  <a:srgbClr val="262625"/>
                </a:solidFill>
                <a:effectLst/>
                <a:latin typeface="Microsoft YaHei" panose="020B0503020204020204" pitchFamily="34" charset="-122"/>
                <a:ea typeface="Microsoft YaHei" panose="020B0503020204020204" pitchFamily="34" charset="-122"/>
              </a:rPr>
              <a:t>和</a:t>
            </a:r>
            <a:r>
              <a:rPr lang="zh-CN" altLang="en-US" sz="1800" b="1" i="0" dirty="0">
                <a:solidFill>
                  <a:srgbClr val="262625"/>
                </a:solidFill>
                <a:effectLst/>
                <a:latin typeface="Microsoft YaHei" panose="020B0503020204020204" pitchFamily="34" charset="-122"/>
                <a:ea typeface="Microsoft YaHei" panose="020B0503020204020204" pitchFamily="34" charset="-122"/>
              </a:rPr>
              <a:t>离中趋势分析</a:t>
            </a:r>
            <a:r>
              <a:rPr lang="zh-CN" altLang="en-US" sz="1800" b="0" i="0" dirty="0">
                <a:solidFill>
                  <a:srgbClr val="262625"/>
                </a:solidFill>
                <a:effectLst/>
                <a:latin typeface="Microsoft YaHei" panose="020B0503020204020204" pitchFamily="34" charset="-122"/>
                <a:ea typeface="Microsoft YaHei" panose="020B0503020204020204" pitchFamily="34" charset="-122"/>
              </a:rPr>
              <a:t>：集中趋势分析侧重于衡量数据集中于某一值附近的程度（如均值、中位数），而离中趋势分析则用来反映数据分布的离散程度（如方差、标准差）。这两类分析方法是数据描述统计中的重要内容，能够有效总结数据特征。</a:t>
            </a:r>
          </a:p>
          <a:p>
            <a:pPr marL="285750" indent="-285750" algn="l">
              <a:lnSpc>
                <a:spcPct val="150000"/>
              </a:lnSpc>
              <a:buFont typeface="Arial" panose="020B0604020202020204" pitchFamily="34" charset="0"/>
              <a:buChar char="•"/>
            </a:pPr>
            <a:r>
              <a:rPr lang="zh-CN" altLang="en-US" sz="1800" b="1" i="0" dirty="0">
                <a:solidFill>
                  <a:srgbClr val="262625"/>
                </a:solidFill>
                <a:effectLst/>
                <a:latin typeface="Microsoft YaHei" panose="020B0503020204020204" pitchFamily="34" charset="-122"/>
                <a:ea typeface="Microsoft YaHei" panose="020B0503020204020204" pitchFamily="34" charset="-122"/>
              </a:rPr>
              <a:t>相关性分析</a:t>
            </a:r>
            <a:r>
              <a:rPr lang="zh-CN" altLang="en-US" sz="1800" b="0" i="0" dirty="0">
                <a:solidFill>
                  <a:srgbClr val="262625"/>
                </a:solidFill>
                <a:effectLst/>
                <a:latin typeface="Microsoft YaHei" panose="020B0503020204020204" pitchFamily="34" charset="-122"/>
                <a:ea typeface="Microsoft YaHei" panose="020B0503020204020204" pitchFamily="34" charset="-122"/>
              </a:rPr>
              <a:t>：研究变量之间的关系，评估变量之间是否存在显著的关联性。相关性分析能够揭示变量之间的线性关系强弱以及方向性，为进一步预测和建模提供依据。</a:t>
            </a:r>
          </a:p>
        </p:txBody>
      </p:sp>
    </p:spTree>
    <p:extLst>
      <p:ext uri="{BB962C8B-B14F-4D97-AF65-F5344CB8AC3E}">
        <p14:creationId xmlns:p14="http://schemas.microsoft.com/office/powerpoint/2010/main" val="532003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077E6-0F61-123F-ADBD-3CE3D284C1B2}"/>
              </a:ext>
            </a:extLst>
          </p:cNvPr>
          <p:cNvSpPr>
            <a:spLocks noGrp="1"/>
          </p:cNvSpPr>
          <p:nvPr>
            <p:ph type="title"/>
          </p:nvPr>
        </p:nvSpPr>
        <p:spPr/>
        <p:txBody>
          <a:bodyPr>
            <a:normAutofit/>
          </a:bodyPr>
          <a:lstStyle/>
          <a:p>
            <a:r>
              <a:rPr lang="en-US" b="1" dirty="0">
                <a:hlinkClick r:id="rId2"/>
              </a:rPr>
              <a:t>14.3.1 Pearson </a:t>
            </a:r>
            <a:r>
              <a:rPr lang="zh-CN" altLang="en-US" b="1" dirty="0">
                <a:hlinkClick r:id="rId2"/>
              </a:rPr>
              <a:t>相关系数</a:t>
            </a:r>
            <a:endParaRPr kumimoji="1" lang="zh-CN" altLang="en-US" dirty="0"/>
          </a:p>
        </p:txBody>
      </p:sp>
      <p:sp>
        <p:nvSpPr>
          <p:cNvPr id="4" name="Rectangle 2">
            <a:extLst>
              <a:ext uri="{FF2B5EF4-FFF2-40B4-BE49-F238E27FC236}">
                <a16:creationId xmlns:a16="http://schemas.microsoft.com/office/drawing/2014/main" id="{A24274B2-FA0C-C001-B2E6-F114C7D7A71A}"/>
              </a:ext>
            </a:extLst>
          </p:cNvPr>
          <p:cNvSpPr>
            <a:spLocks noChangeArrowheads="1"/>
          </p:cNvSpPr>
          <p:nvPr/>
        </p:nvSpPr>
        <p:spPr bwMode="auto">
          <a:xfrm>
            <a:off x="1178560" y="1373083"/>
            <a:ext cx="9570720" cy="1289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CN" altLang="en-CN" b="0" i="0" u="none" strike="noStrike" cap="none" normalizeH="0" baseline="0" dirty="0">
                <a:ln>
                  <a:noFill/>
                </a:ln>
                <a:solidFill>
                  <a:srgbClr val="262625"/>
                </a:solidFill>
                <a:effectLst/>
                <a:latin typeface="Microsoft YaHei" panose="020B0503020204020204" pitchFamily="34" charset="-122"/>
                <a:ea typeface="Microsoft YaHei" panose="020B0503020204020204" pitchFamily="34" charset="-122"/>
              </a:rPr>
              <a:t>Pearson相关系数是一种用来衡量两个连续性变量之间线性相关关系的统计方法。它的值介于 −1 到 1 之间，分别表示完全负相关、无相关性和完全正相关。该方法假定两个变量服从正态分布或接近正态分布，并具有线性关系。</a:t>
            </a:r>
            <a:endParaRPr kumimoji="0" lang="en-CN" altLang="en-CN"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9B02906F-4446-5DE5-FA3E-BFF3E08D93F9}"/>
              </a:ext>
            </a:extLst>
          </p:cNvPr>
          <p:cNvPicPr>
            <a:picLocks noChangeAspect="1"/>
          </p:cNvPicPr>
          <p:nvPr/>
        </p:nvPicPr>
        <p:blipFill>
          <a:blip r:embed="rId3"/>
          <a:stretch>
            <a:fillRect/>
          </a:stretch>
        </p:blipFill>
        <p:spPr>
          <a:xfrm>
            <a:off x="4046220" y="2743200"/>
            <a:ext cx="3022600" cy="965200"/>
          </a:xfrm>
          <a:prstGeom prst="rect">
            <a:avLst/>
          </a:prstGeom>
        </p:spPr>
      </p:pic>
      <p:sp>
        <p:nvSpPr>
          <p:cNvPr id="6" name="Rectangle 3">
            <a:extLst>
              <a:ext uri="{FF2B5EF4-FFF2-40B4-BE49-F238E27FC236}">
                <a16:creationId xmlns:a16="http://schemas.microsoft.com/office/drawing/2014/main" id="{CA6D29A7-C1B5-D1BC-C37F-BA40DAC602D0}"/>
              </a:ext>
            </a:extLst>
          </p:cNvPr>
          <p:cNvSpPr>
            <a:spLocks noChangeArrowheads="1"/>
          </p:cNvSpPr>
          <p:nvPr/>
        </p:nvSpPr>
        <p:spPr bwMode="auto">
          <a:xfrm>
            <a:off x="1328420" y="4061327"/>
            <a:ext cx="9980682" cy="1526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just" defTabSz="914400" rtl="0" eaLnBrk="0" fontAlgn="base" latinLnBrk="0" hangingPunct="0">
              <a:lnSpc>
                <a:spcPct val="150000"/>
              </a:lnSpc>
              <a:spcBef>
                <a:spcPct val="0"/>
              </a:spcBef>
              <a:spcAft>
                <a:spcPct val="0"/>
              </a:spcAft>
              <a:buClrTx/>
              <a:buSzTx/>
              <a:tabLst/>
            </a:pPr>
            <a:r>
              <a:rPr kumimoji="0" lang="en-CN" altLang="en-CN" sz="1600" b="0" i="0" u="none" strike="noStrike" cap="none" normalizeH="0" baseline="0" dirty="0">
                <a:ln>
                  <a:noFill/>
                </a:ln>
                <a:solidFill>
                  <a:srgbClr val="262625"/>
                </a:solidFill>
                <a:effectLst/>
                <a:latin typeface="Microsoft YaHei" panose="020B0503020204020204" pitchFamily="34" charset="-122"/>
                <a:ea typeface="Microsoft YaHei" panose="020B0503020204020204" pitchFamily="34" charset="-122"/>
              </a:rPr>
              <a:t>其中，r 为Pearson相关系数；xi, yi 为第 i 个观测值；x</a:t>
            </a:r>
            <a:r>
              <a:rPr lang="en-US" altLang="en-CN" sz="1600" dirty="0">
                <a:solidFill>
                  <a:srgbClr val="262625"/>
                </a:solidFill>
                <a:latin typeface="Microsoft YaHei" panose="020B0503020204020204" pitchFamily="34" charset="-122"/>
                <a:ea typeface="Microsoft YaHei" panose="020B0503020204020204" pitchFamily="34" charset="-122"/>
              </a:rPr>
              <a:t>’</a:t>
            </a:r>
            <a:r>
              <a:rPr kumimoji="0" lang="en-CN" altLang="en-CN" sz="1600" b="0" i="0" u="none" strike="noStrike" cap="none" normalizeH="0" baseline="0" dirty="0">
                <a:ln>
                  <a:noFill/>
                </a:ln>
                <a:solidFill>
                  <a:srgbClr val="262625"/>
                </a:solidFill>
                <a:effectLst/>
                <a:latin typeface="Microsoft YaHei" panose="020B0503020204020204" pitchFamily="34" charset="-122"/>
                <a:ea typeface="Microsoft YaHei" panose="020B0503020204020204" pitchFamily="34" charset="-122"/>
              </a:rPr>
              <a:t>, </a:t>
            </a:r>
            <a:r>
              <a:rPr lang="en-CN" altLang="en-CN" sz="1600" dirty="0">
                <a:solidFill>
                  <a:srgbClr val="262625"/>
                </a:solidFill>
                <a:latin typeface="Microsoft YaHei" panose="020B0503020204020204" pitchFamily="34" charset="-122"/>
                <a:ea typeface="Microsoft YaHei" panose="020B0503020204020204" pitchFamily="34" charset="-122"/>
              </a:rPr>
              <a:t>y’</a:t>
            </a:r>
            <a:r>
              <a:rPr kumimoji="0" lang="en-CN" altLang="en-CN" sz="1600" b="0" i="0" u="none" strike="noStrike" cap="none" normalizeH="0" baseline="0" dirty="0">
                <a:ln>
                  <a:noFill/>
                </a:ln>
                <a:solidFill>
                  <a:srgbClr val="262625"/>
                </a:solidFill>
                <a:effectLst/>
                <a:latin typeface="Microsoft YaHei" panose="020B0503020204020204" pitchFamily="34" charset="-122"/>
                <a:ea typeface="Microsoft YaHei" panose="020B0503020204020204" pitchFamily="34" charset="-122"/>
              </a:rPr>
              <a:t> 分别是 x 和 y 的均值。相关系数 r 的取值范围为 [−1,1]，r&gt;0 为正相关，r&lt;0 为负相关，|r|=0 表示不存在线性关系，|r|=1 表示完全线性相关。当0&lt;|r|&lt;1时，表示存在不同程度的线性相关。一般而言，|r|≤0.3 为不存在线性相关，0.3&lt;|r|≤0.5 为低度线性相关，0.5&lt;|r|≤0.8 为显著线性相关，|r|&gt;0.8 为高度线性相关。</a:t>
            </a:r>
            <a:endParaRPr kumimoji="0" lang="en-CN" altLang="en-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70490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FE6A-02C5-0A44-A540-FF968D4D96A0}"/>
              </a:ext>
            </a:extLst>
          </p:cNvPr>
          <p:cNvSpPr>
            <a:spLocks noGrp="1"/>
          </p:cNvSpPr>
          <p:nvPr>
            <p:ph type="title"/>
          </p:nvPr>
        </p:nvSpPr>
        <p:spPr/>
        <p:txBody>
          <a:bodyPr/>
          <a:lstStyle/>
          <a:p>
            <a:r>
              <a:rPr lang="en-US" b="1" dirty="0">
                <a:hlinkClick r:id="rId2"/>
              </a:rPr>
              <a:t>14.3.2 Spearman </a:t>
            </a:r>
            <a:r>
              <a:rPr lang="zh-CN" altLang="en-US" b="1" dirty="0">
                <a:hlinkClick r:id="rId2"/>
              </a:rPr>
              <a:t>秩相关系数</a:t>
            </a:r>
            <a:endParaRPr kumimoji="1" lang="zh-CN" altLang="en-US" dirty="0"/>
          </a:p>
        </p:txBody>
      </p:sp>
      <p:sp>
        <p:nvSpPr>
          <p:cNvPr id="4" name="TextBox 3">
            <a:extLst>
              <a:ext uri="{FF2B5EF4-FFF2-40B4-BE49-F238E27FC236}">
                <a16:creationId xmlns:a16="http://schemas.microsoft.com/office/drawing/2014/main" id="{75329294-FD55-ABFF-ED24-084DF485C9C4}"/>
              </a:ext>
            </a:extLst>
          </p:cNvPr>
          <p:cNvSpPr txBox="1"/>
          <p:nvPr/>
        </p:nvSpPr>
        <p:spPr>
          <a:xfrm>
            <a:off x="1483360" y="1478618"/>
            <a:ext cx="8879840" cy="2120902"/>
          </a:xfrm>
          <a:prstGeom prst="rect">
            <a:avLst/>
          </a:prstGeom>
          <a:noFill/>
        </p:spPr>
        <p:txBody>
          <a:bodyPr wrap="square">
            <a:spAutoFit/>
          </a:bodyPr>
          <a:lstStyle/>
          <a:p>
            <a:pPr>
              <a:lnSpc>
                <a:spcPct val="150000"/>
              </a:lnSpc>
            </a:pPr>
            <a:r>
              <a:rPr lang="en-US" b="0" i="0" dirty="0">
                <a:solidFill>
                  <a:srgbClr val="262625"/>
                </a:solidFill>
                <a:effectLst/>
                <a:latin typeface="Microsoft YaHei" panose="020B0503020204020204" pitchFamily="34" charset="-122"/>
                <a:ea typeface="Microsoft YaHei" panose="020B0503020204020204" pitchFamily="34" charset="-122"/>
              </a:rPr>
              <a:t>Spearman </a:t>
            </a:r>
            <a:r>
              <a:rPr lang="zh-CN" altLang="en-US" b="0" i="0" dirty="0">
                <a:solidFill>
                  <a:srgbClr val="262625"/>
                </a:solidFill>
                <a:effectLst/>
                <a:latin typeface="Microsoft YaHei" panose="020B0503020204020204" pitchFamily="34" charset="-122"/>
                <a:ea typeface="Microsoft YaHei" panose="020B0503020204020204" pitchFamily="34" charset="-122"/>
              </a:rPr>
              <a:t>秩相关系数通过计算变量的秩次（而非原始值）之间的相关性，适用于非正态分布数据、非线性关系以及分类或顺序数据之间的关联分析。此外，</a:t>
            </a:r>
            <a:r>
              <a:rPr lang="en-US" b="0" i="0" dirty="0">
                <a:solidFill>
                  <a:srgbClr val="262625"/>
                </a:solidFill>
                <a:effectLst/>
                <a:latin typeface="Microsoft YaHei" panose="020B0503020204020204" pitchFamily="34" charset="-122"/>
                <a:ea typeface="Microsoft YaHei" panose="020B0503020204020204" pitchFamily="34" charset="-122"/>
              </a:rPr>
              <a:t>Spearman</a:t>
            </a:r>
            <a:r>
              <a:rPr lang="zh-CN" altLang="en-US" b="0" i="0" dirty="0">
                <a:solidFill>
                  <a:srgbClr val="262625"/>
                </a:solidFill>
                <a:effectLst/>
                <a:latin typeface="Microsoft YaHei" panose="020B0503020204020204" pitchFamily="34" charset="-122"/>
                <a:ea typeface="Microsoft YaHei" panose="020B0503020204020204" pitchFamily="34" charset="-122"/>
              </a:rPr>
              <a:t>方法对异常值的敏感性较低，因此在数据分布不均或存在极值时，其分析结果更为稳健和可靠。这使其成为</a:t>
            </a:r>
            <a:r>
              <a:rPr lang="en-US" b="0" i="0" dirty="0">
                <a:solidFill>
                  <a:srgbClr val="262625"/>
                </a:solidFill>
                <a:effectLst/>
                <a:latin typeface="Microsoft YaHei" panose="020B0503020204020204" pitchFamily="34" charset="-122"/>
                <a:ea typeface="Microsoft YaHei" panose="020B0503020204020204" pitchFamily="34" charset="-122"/>
              </a:rPr>
              <a:t>Pearson</a:t>
            </a:r>
            <a:r>
              <a:rPr lang="zh-CN" altLang="en-US" b="0" i="0" dirty="0">
                <a:solidFill>
                  <a:srgbClr val="262625"/>
                </a:solidFill>
                <a:effectLst/>
                <a:latin typeface="Microsoft YaHei" panose="020B0503020204020204" pitchFamily="34" charset="-122"/>
                <a:ea typeface="Microsoft YaHei" panose="020B0503020204020204" pitchFamily="34" charset="-122"/>
              </a:rPr>
              <a:t>相关系数的重要补充，在多种数据分析场景中具有广泛的应用价值。其计算公式如下：</a:t>
            </a:r>
            <a:endParaRPr lang="zh-CN" altLang="en-US"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20DFFAFC-268B-0A8D-572A-CD1EC4B8B575}"/>
              </a:ext>
            </a:extLst>
          </p:cNvPr>
          <p:cNvPicPr>
            <a:picLocks noChangeAspect="1"/>
          </p:cNvPicPr>
          <p:nvPr/>
        </p:nvPicPr>
        <p:blipFill>
          <a:blip r:embed="rId3"/>
          <a:stretch>
            <a:fillRect/>
          </a:stretch>
        </p:blipFill>
        <p:spPr>
          <a:xfrm>
            <a:off x="4653280" y="3780843"/>
            <a:ext cx="2540000" cy="774700"/>
          </a:xfrm>
          <a:prstGeom prst="rect">
            <a:avLst/>
          </a:prstGeom>
        </p:spPr>
      </p:pic>
      <p:sp>
        <p:nvSpPr>
          <p:cNvPr id="6" name="Rectangle 1">
            <a:extLst>
              <a:ext uri="{FF2B5EF4-FFF2-40B4-BE49-F238E27FC236}">
                <a16:creationId xmlns:a16="http://schemas.microsoft.com/office/drawing/2014/main" id="{98DC5852-F2A4-0C21-78C8-99A7902DD2CE}"/>
              </a:ext>
            </a:extLst>
          </p:cNvPr>
          <p:cNvSpPr>
            <a:spLocks noChangeArrowheads="1"/>
          </p:cNvSpPr>
          <p:nvPr/>
        </p:nvSpPr>
        <p:spPr bwMode="auto">
          <a:xfrm>
            <a:off x="1483360" y="4736866"/>
            <a:ext cx="9042400" cy="1285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其中，两个变量的成对取值按照从小到大的顺序分别编秩，</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Ri</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表示 </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xi</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的秩次，</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Qi</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表示 </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yi</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的秩次，而 </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Ri</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Qi</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则是 </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xi</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和 </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yi</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对应秩次的差值。公式中的 </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n</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代表样本的数量，</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ni</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=1(</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Ri</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a:t>
            </a:r>
            <a:r>
              <a:rPr kumimoji="0" lang="en-CN" altLang="en-CN" b="0" i="0" u="none" strike="noStrike" cap="none" normalizeH="0" baseline="0" dirty="0">
                <a:ln>
                  <a:noFill/>
                </a:ln>
                <a:solidFill>
                  <a:srgbClr val="262625"/>
                </a:solidFill>
                <a:effectLst/>
                <a:latin typeface="Arial" panose="020B0604020202020204" pitchFamily="34" charset="0"/>
                <a:ea typeface="STIXGeneral-Italic"/>
              </a:rPr>
              <a:t>Qi</a:t>
            </a:r>
            <a:r>
              <a:rPr kumimoji="0" lang="en-CN" altLang="en-CN" b="0" i="0" u="none" strike="noStrike" cap="none" normalizeH="0" baseline="0" dirty="0">
                <a:ln>
                  <a:noFill/>
                </a:ln>
                <a:solidFill>
                  <a:srgbClr val="262625"/>
                </a:solidFill>
                <a:effectLst/>
                <a:latin typeface="Arial" panose="020B0604020202020204" pitchFamily="34" charset="0"/>
                <a:ea typeface="STIXGeneral-Regular"/>
              </a:rPr>
              <a:t>)2</a:t>
            </a:r>
            <a:r>
              <a:rPr kumimoji="0" lang="en-CN" altLang="en-CN" b="0" i="0" u="none" strike="noStrike" cap="none" normalizeH="0" baseline="0" dirty="0">
                <a:ln>
                  <a:noFill/>
                </a:ln>
                <a:solidFill>
                  <a:srgbClr val="262625"/>
                </a:solidFill>
                <a:effectLst/>
                <a:latin typeface="Arial" panose="020B0604020202020204" pitchFamily="34" charset="0"/>
                <a:ea typeface="Times New Roman" panose="02020603050405020304" pitchFamily="18" charset="0"/>
              </a:rPr>
              <a:t> 为所有样本点秩次差平方的总和。</a:t>
            </a:r>
            <a:endParaRPr kumimoji="0" lang="en-CN" altLang="en-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880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3029E-67F5-1668-3E94-3C8FD822BA81}"/>
              </a:ext>
            </a:extLst>
          </p:cNvPr>
          <p:cNvSpPr>
            <a:spLocks noGrp="1"/>
          </p:cNvSpPr>
          <p:nvPr>
            <p:ph type="title"/>
          </p:nvPr>
        </p:nvSpPr>
        <p:spPr>
          <a:xfrm>
            <a:off x="1105659" y="86360"/>
            <a:ext cx="9980682" cy="1096962"/>
          </a:xfrm>
        </p:spPr>
        <p:txBody>
          <a:bodyPr/>
          <a:lstStyle/>
          <a:p>
            <a:r>
              <a:rPr lang="en-US" altLang="zh-CN" b="1" dirty="0">
                <a:hlinkClick r:id="rId2"/>
              </a:rPr>
              <a:t>14.3.4 </a:t>
            </a:r>
            <a:r>
              <a:rPr lang="zh-CN" altLang="en-US" b="1" dirty="0">
                <a:hlinkClick r:id="rId2"/>
              </a:rPr>
              <a:t>判定系数</a:t>
            </a:r>
            <a:endParaRPr kumimoji="1" lang="zh-CN" altLang="en-US" dirty="0"/>
          </a:p>
        </p:txBody>
      </p:sp>
      <p:sp>
        <p:nvSpPr>
          <p:cNvPr id="3" name="Rectangle 1">
            <a:extLst>
              <a:ext uri="{FF2B5EF4-FFF2-40B4-BE49-F238E27FC236}">
                <a16:creationId xmlns:a16="http://schemas.microsoft.com/office/drawing/2014/main" id="{179C6FDC-F58F-7A70-8341-D14309480AA9}"/>
              </a:ext>
            </a:extLst>
          </p:cNvPr>
          <p:cNvSpPr>
            <a:spLocks noChangeArrowheads="1"/>
          </p:cNvSpPr>
          <p:nvPr/>
        </p:nvSpPr>
        <p:spPr bwMode="auto">
          <a:xfrm>
            <a:off x="964982" y="1454994"/>
            <a:ext cx="9980682" cy="869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CN" altLang="en-CN" b="0" i="0" u="none" strike="noStrike" cap="none" normalizeH="0" baseline="0" dirty="0">
                <a:ln>
                  <a:noFill/>
                </a:ln>
                <a:solidFill>
                  <a:srgbClr val="262625"/>
                </a:solidFill>
                <a:effectLst/>
                <a:latin typeface="Microsoft YaHei" panose="020B0503020204020204" pitchFamily="34" charset="-122"/>
                <a:ea typeface="Microsoft YaHei" panose="020B0503020204020204" pitchFamily="34" charset="-122"/>
              </a:rPr>
              <a:t>判定系数（Coefficient of Determination）是相关系数的平方，用 r2 表示，用来衡量回归方程对因变量 y 的解释程度。其公式为：</a:t>
            </a:r>
            <a:endParaRPr kumimoji="0" lang="en-CN" altLang="en-CN"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183C20D6-037F-F9DC-38BC-1841672370E2}"/>
              </a:ext>
            </a:extLst>
          </p:cNvPr>
          <p:cNvPicPr>
            <a:picLocks noChangeAspect="1"/>
          </p:cNvPicPr>
          <p:nvPr/>
        </p:nvPicPr>
        <p:blipFill>
          <a:blip r:embed="rId3"/>
          <a:stretch>
            <a:fillRect/>
          </a:stretch>
        </p:blipFill>
        <p:spPr>
          <a:xfrm>
            <a:off x="4533900" y="2596199"/>
            <a:ext cx="2209800" cy="723900"/>
          </a:xfrm>
          <a:prstGeom prst="rect">
            <a:avLst/>
          </a:prstGeom>
        </p:spPr>
      </p:pic>
      <p:sp>
        <p:nvSpPr>
          <p:cNvPr id="5" name="Rectangle 2">
            <a:extLst>
              <a:ext uri="{FF2B5EF4-FFF2-40B4-BE49-F238E27FC236}">
                <a16:creationId xmlns:a16="http://schemas.microsoft.com/office/drawing/2014/main" id="{904C51E8-AEAB-107A-F73F-7E4CCA4B09C9}"/>
              </a:ext>
            </a:extLst>
          </p:cNvPr>
          <p:cNvSpPr>
            <a:spLocks noChangeArrowheads="1"/>
          </p:cNvSpPr>
          <p:nvPr/>
        </p:nvSpPr>
        <p:spPr bwMode="auto">
          <a:xfrm>
            <a:off x="964981" y="3680772"/>
            <a:ext cx="9980683" cy="1705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CN" altLang="en-CN" b="0" i="0" u="none" strike="noStrike" cap="none" normalizeH="0" baseline="0">
                <a:ln>
                  <a:noFill/>
                </a:ln>
                <a:solidFill>
                  <a:srgbClr val="262625"/>
                </a:solidFill>
                <a:effectLst/>
                <a:latin typeface="Microsoft YaHei" panose="020B0503020204020204" pitchFamily="34" charset="-122"/>
                <a:ea typeface="Microsoft YaHei" panose="020B0503020204020204" pitchFamily="34" charset="-122"/>
              </a:rPr>
              <a:t>其中，残差平方和衡量回归模型未解释的部分，总平方和反映 y 的总体波动。判定系数的取值范围为 [0,1]。当 r2 值接近于 1 时，说明回归模型对 y 的解释能力较强，x 与 y 之间的关系高度相关；当 r2 接近于 0 时，表明回归模型几乎无法解释 y 的变化，两变量之间几乎没有线性相关关系。判定系数是回归模型评价的重要指标，可以反映回归模型对数据的拟合优度。</a:t>
            </a:r>
            <a:endParaRPr kumimoji="0" lang="en-CN" altLang="en-CN"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64783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14.5 </a:t>
            </a:r>
            <a:r>
              <a:rPr lang="zh-CN" altLang="en-US" dirty="0"/>
              <a:t>数据分析实践</a:t>
            </a:r>
            <a:endParaRPr lang="en-US" dirty="0"/>
          </a:p>
        </p:txBody>
      </p:sp>
      <p:sp>
        <p:nvSpPr>
          <p:cNvPr id="5" name="Text Placeholder 4">
            <a:extLst>
              <a:ext uri="{FF2B5EF4-FFF2-40B4-BE49-F238E27FC236}">
                <a16:creationId xmlns:a16="http://schemas.microsoft.com/office/drawing/2014/main" id="{5C80ED78-D6CB-C614-D37D-24437CA41A0B}"/>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en-US" dirty="0"/>
              <a:t>实验要求</a:t>
            </a:r>
            <a:endParaRPr lang="en-US" dirty="0"/>
          </a:p>
        </p:txBody>
      </p:sp>
      <p:sp>
        <p:nvSpPr>
          <p:cNvPr id="14" name="Content Placeholder 13"/>
          <p:cNvSpPr>
            <a:spLocks noGrp="1"/>
          </p:cNvSpPr>
          <p:nvPr>
            <p:ph idx="1"/>
          </p:nvPr>
        </p:nvSpPr>
        <p:spPr/>
        <p:txBody>
          <a:bodyPr>
            <a:noAutofit/>
          </a:bodyPr>
          <a:lstStyle/>
          <a:p>
            <a:pPr marL="0" indent="0">
              <a:buNone/>
            </a:pPr>
            <a:r>
              <a:rPr lang="zh-CN" altLang="zh-CN" dirty="0"/>
              <a:t>请下载</a:t>
            </a:r>
            <a:r>
              <a:rPr lang="en-US" altLang="zh-CN" dirty="0"/>
              <a:t>Adult</a:t>
            </a:r>
            <a:r>
              <a:rPr lang="zh-CN" altLang="zh-CN" dirty="0"/>
              <a:t>数据集，并使用</a:t>
            </a:r>
            <a:r>
              <a:rPr lang="en-US" altLang="zh-CN" dirty="0"/>
              <a:t>pandas</a:t>
            </a:r>
            <a:r>
              <a:rPr lang="zh-CN" altLang="zh-CN" dirty="0"/>
              <a:t>库和</a:t>
            </a:r>
            <a:r>
              <a:rPr lang="en-US" altLang="zh-CN" dirty="0" err="1"/>
              <a:t>matplotlib.pyplot</a:t>
            </a:r>
            <a:r>
              <a:rPr lang="zh-CN" altLang="zh-CN" dirty="0"/>
              <a:t>库进行数据分析和可视化，具体要求如下：</a:t>
            </a:r>
          </a:p>
          <a:p>
            <a:pPr marL="0" indent="0">
              <a:buNone/>
            </a:pPr>
            <a:r>
              <a:rPr lang="en-US" altLang="zh-CN" dirty="0"/>
              <a:t>1</a:t>
            </a:r>
            <a:r>
              <a:rPr lang="zh-CN" altLang="zh-CN" dirty="0"/>
              <a:t>、对该数据集中的缺失值、异常值和重复值进行处理；</a:t>
            </a:r>
          </a:p>
          <a:p>
            <a:pPr marL="0" indent="0">
              <a:buNone/>
            </a:pPr>
            <a:r>
              <a:rPr lang="en-US" altLang="zh-CN" dirty="0"/>
              <a:t>2</a:t>
            </a:r>
            <a:r>
              <a:rPr lang="zh-CN" altLang="zh-CN" dirty="0"/>
              <a:t>、将</a:t>
            </a:r>
            <a:r>
              <a:rPr lang="en-US" altLang="zh-CN" dirty="0"/>
              <a:t>age</a:t>
            </a:r>
            <a:r>
              <a:rPr lang="zh-CN" altLang="zh-CN" dirty="0"/>
              <a:t>属性进行离散化，分为等宽的区间，区间宽度为</a:t>
            </a:r>
            <a:r>
              <a:rPr lang="en-US" altLang="zh-CN" dirty="0"/>
              <a:t>10</a:t>
            </a:r>
            <a:r>
              <a:rPr lang="zh-CN" altLang="zh-CN" dirty="0"/>
              <a:t>，并绘制年龄分布直方图；</a:t>
            </a:r>
          </a:p>
          <a:p>
            <a:pPr marL="0" indent="0">
              <a:buNone/>
            </a:pPr>
            <a:r>
              <a:rPr lang="en-US" altLang="zh-CN" dirty="0"/>
              <a:t>3</a:t>
            </a:r>
            <a:r>
              <a:rPr lang="zh-CN" altLang="zh-CN" dirty="0"/>
              <a:t>、对该数据集中的定量变量进行统计量分析，定性变量给出其值分布的饼图或直方图；</a:t>
            </a:r>
          </a:p>
          <a:p>
            <a:pPr marL="0" indent="0">
              <a:buNone/>
            </a:pPr>
            <a:r>
              <a:rPr lang="en-US" altLang="zh-CN" dirty="0"/>
              <a:t>4</a:t>
            </a:r>
            <a:r>
              <a:rPr lang="zh-CN" altLang="zh-CN" dirty="0"/>
              <a:t>、分析数据集中的定量描述变量（包括</a:t>
            </a:r>
            <a:r>
              <a:rPr lang="en-US" altLang="zh-CN" dirty="0"/>
              <a:t>age</a:t>
            </a:r>
            <a:r>
              <a:rPr lang="zh-CN" altLang="zh-CN" dirty="0"/>
              <a:t>、</a:t>
            </a:r>
            <a:r>
              <a:rPr lang="en-US" altLang="zh-CN" dirty="0"/>
              <a:t>education-</a:t>
            </a:r>
            <a:r>
              <a:rPr lang="en-US" altLang="zh-CN" dirty="0" err="1"/>
              <a:t>num</a:t>
            </a:r>
            <a:r>
              <a:rPr lang="zh-CN" altLang="zh-CN" dirty="0"/>
              <a:t>、</a:t>
            </a:r>
            <a:r>
              <a:rPr lang="en-US" altLang="zh-CN" dirty="0"/>
              <a:t>capital-gain</a:t>
            </a:r>
            <a:r>
              <a:rPr lang="zh-CN" altLang="zh-CN" dirty="0"/>
              <a:t>、</a:t>
            </a:r>
            <a:r>
              <a:rPr lang="en-US" altLang="zh-CN" dirty="0"/>
              <a:t>capital-loss</a:t>
            </a:r>
            <a:r>
              <a:rPr lang="zh-CN" altLang="zh-CN" dirty="0"/>
              <a:t>、</a:t>
            </a:r>
            <a:r>
              <a:rPr lang="en-US" altLang="zh-CN" dirty="0"/>
              <a:t>hours-per-week</a:t>
            </a:r>
            <a:r>
              <a:rPr lang="zh-CN" altLang="zh-CN" dirty="0"/>
              <a:t>）对预测变量（</a:t>
            </a:r>
            <a:r>
              <a:rPr lang="en-US" altLang="zh-CN" dirty="0"/>
              <a:t>income</a:t>
            </a:r>
            <a:r>
              <a:rPr lang="zh-CN" altLang="zh-CN" dirty="0"/>
              <a:t>）取值的影响，进行相关分析。</a:t>
            </a:r>
          </a:p>
          <a:p>
            <a:pPr marL="0" indent="0">
              <a:buNone/>
            </a:pPr>
            <a:r>
              <a:rPr lang="zh-CN" altLang="zh-CN" b="1" dirty="0"/>
              <a:t>注：数据集下载地址：</a:t>
            </a:r>
            <a:r>
              <a:rPr lang="en-US" altLang="zh-CN" b="1" u="sng" dirty="0">
                <a:hlinkClick r:id="rId3"/>
              </a:rPr>
              <a:t>https://archive.ics.uci.edu/ml/datasets/Adult</a:t>
            </a:r>
            <a:endParaRPr lang="zh-CN" altLang="zh-CN" b="1" dirty="0"/>
          </a:p>
        </p:txBody>
      </p:sp>
    </p:spTree>
    <p:extLst>
      <p:ext uri="{BB962C8B-B14F-4D97-AF65-F5344CB8AC3E}">
        <p14:creationId xmlns:p14="http://schemas.microsoft.com/office/powerpoint/2010/main" val="291151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数据说明</a:t>
            </a:r>
            <a:endParaRPr lang="en-US" dirty="0"/>
          </a:p>
        </p:txBody>
      </p:sp>
      <p:sp>
        <p:nvSpPr>
          <p:cNvPr id="3" name="Content Placeholder 2"/>
          <p:cNvSpPr>
            <a:spLocks noGrp="1"/>
          </p:cNvSpPr>
          <p:nvPr>
            <p:ph sz="half" idx="1"/>
          </p:nvPr>
        </p:nvSpPr>
        <p:spPr>
          <a:xfrm>
            <a:off x="1104900" y="1600200"/>
            <a:ext cx="9980682" cy="4571999"/>
          </a:xfrm>
        </p:spPr>
        <p:txBody>
          <a:bodyPr>
            <a:normAutofit/>
          </a:bodyPr>
          <a:lstStyle/>
          <a:p>
            <a:r>
              <a:rPr lang="en-US" altLang="zh-CN" sz="2200" dirty="0"/>
              <a:t>UCI dataset</a:t>
            </a:r>
            <a:r>
              <a:rPr lang="zh-CN" altLang="zh-CN" sz="2200" dirty="0"/>
              <a:t>对</a:t>
            </a:r>
            <a:r>
              <a:rPr lang="en-US" altLang="zh-CN" sz="2200" dirty="0"/>
              <a:t>Adult </a:t>
            </a:r>
            <a:r>
              <a:rPr lang="zh-CN" altLang="zh-CN" sz="2200" dirty="0"/>
              <a:t>数据集的描述如下图</a:t>
            </a:r>
            <a:endParaRPr lang="en-US" altLang="zh-CN" sz="2200" dirty="0"/>
          </a:p>
          <a:p>
            <a:endParaRPr lang="en-US" sz="2200" dirty="0"/>
          </a:p>
          <a:p>
            <a:endParaRPr lang="en-US" sz="2200" dirty="0"/>
          </a:p>
          <a:p>
            <a:endParaRPr lang="en-US" sz="2200" dirty="0"/>
          </a:p>
          <a:p>
            <a:endParaRPr lang="en-US" sz="2200" dirty="0"/>
          </a:p>
          <a:p>
            <a:r>
              <a:rPr lang="zh-CN" altLang="zh-CN" sz="2200" dirty="0"/>
              <a:t>该训练数据集包含</a:t>
            </a:r>
            <a:r>
              <a:rPr lang="en-US" altLang="zh-CN" sz="2200" dirty="0"/>
              <a:t>15</a:t>
            </a:r>
            <a:r>
              <a:rPr lang="zh-CN" altLang="zh-CN" sz="2200" dirty="0"/>
              <a:t>个字段（</a:t>
            </a:r>
            <a:r>
              <a:rPr lang="en-US" altLang="zh-CN" sz="2200" dirty="0"/>
              <a:t>14</a:t>
            </a:r>
            <a:r>
              <a:rPr lang="zh-CN" altLang="zh-CN" sz="2200" dirty="0"/>
              <a:t>个描述字段及</a:t>
            </a:r>
            <a:r>
              <a:rPr lang="en-US" altLang="zh-CN" sz="2200" dirty="0"/>
              <a:t>1</a:t>
            </a:r>
            <a:r>
              <a:rPr lang="zh-CN" altLang="zh-CN" sz="2200" dirty="0"/>
              <a:t>个预测字段），</a:t>
            </a:r>
            <a:r>
              <a:rPr lang="en-US" altLang="zh-CN" sz="2200" dirty="0"/>
              <a:t>32561</a:t>
            </a:r>
            <a:r>
              <a:rPr lang="zh-CN" altLang="zh-CN" sz="2200" dirty="0"/>
              <a:t>个元组。字段名称及说明如下</a:t>
            </a:r>
            <a:r>
              <a:rPr lang="zh-CN" altLang="en-US" sz="2200" dirty="0"/>
              <a:t>（接下页）</a:t>
            </a:r>
            <a:endParaRPr lang="zh-CN" altLang="zh-CN" sz="2200" dirty="0"/>
          </a:p>
          <a:p>
            <a:r>
              <a:rPr lang="en-US" dirty="0"/>
              <a:t>Adult </a:t>
            </a:r>
            <a:r>
              <a:rPr lang="zh-CN" altLang="en-US" dirty="0"/>
              <a:t>数据集的构建日期为</a:t>
            </a:r>
            <a:r>
              <a:rPr lang="en-US" altLang="zh-CN" dirty="0"/>
              <a:t>1996</a:t>
            </a:r>
            <a:r>
              <a:rPr lang="zh-CN" altLang="en-US" dirty="0"/>
              <a:t>年，数据集共包含约 </a:t>
            </a:r>
            <a:r>
              <a:rPr lang="en-US" altLang="zh-CN" dirty="0"/>
              <a:t>32,561 </a:t>
            </a:r>
            <a:r>
              <a:rPr lang="zh-CN" altLang="en-US" dirty="0"/>
              <a:t>个样本，</a:t>
            </a:r>
            <a:r>
              <a:rPr lang="en-US" altLang="zh-CN" dirty="0"/>
              <a:t>15 </a:t>
            </a:r>
            <a:r>
              <a:rPr lang="zh-CN" altLang="en-US" dirty="0"/>
              <a:t>个特征，涉及各种社会经济属性。数据集自发布以来已经被广泛访问和使用，成为经典的机器学习入门数据集之一。</a:t>
            </a:r>
            <a:endParaRPr lang="en-US" sz="2200" dirty="0"/>
          </a:p>
        </p:txBody>
      </p:sp>
      <p:pic>
        <p:nvPicPr>
          <p:cNvPr id="6" name="图片 5" descr="C:\Users\pc\AppData\Roaming\Tencent\Users\2455015445\QQ\WinTemp\RichOle\1J920B1RB8`UQV`AN`S02[R.png"/>
          <p:cNvPicPr/>
          <p:nvPr/>
        </p:nvPicPr>
        <p:blipFill>
          <a:blip r:embed="rId3">
            <a:extLst>
              <a:ext uri="{28A0092B-C50C-407E-A947-70E740481C1C}">
                <a14:useLocalDpi xmlns:a14="http://schemas.microsoft.com/office/drawing/2010/main" val="0"/>
              </a:ext>
            </a:extLst>
          </a:blip>
          <a:srcRect/>
          <a:stretch>
            <a:fillRect/>
          </a:stretch>
        </p:blipFill>
        <p:spPr bwMode="auto">
          <a:xfrm>
            <a:off x="1934844" y="2136457"/>
            <a:ext cx="7910196" cy="1917383"/>
          </a:xfrm>
          <a:prstGeom prst="rect">
            <a:avLst/>
          </a:prstGeom>
          <a:noFill/>
          <a:ln>
            <a:noFill/>
          </a:ln>
        </p:spPr>
      </p:pic>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数据说明</a:t>
            </a:r>
            <a:endParaRPr lang="en-US" dirty="0"/>
          </a:p>
        </p:txBody>
      </p:sp>
      <p:sp>
        <p:nvSpPr>
          <p:cNvPr id="3" name="Content Placeholder 2"/>
          <p:cNvSpPr>
            <a:spLocks noGrp="1"/>
          </p:cNvSpPr>
          <p:nvPr>
            <p:ph sz="half" idx="1"/>
          </p:nvPr>
        </p:nvSpPr>
        <p:spPr>
          <a:xfrm>
            <a:off x="1104900" y="1600200"/>
            <a:ext cx="9980682" cy="4571999"/>
          </a:xfrm>
        </p:spPr>
        <p:txBody>
          <a:bodyPr>
            <a:normAutofit/>
          </a:bodyPr>
          <a:lstStyle/>
          <a:p>
            <a:pPr marL="457200" lvl="0" indent="-457200">
              <a:buFont typeface="+mj-ea"/>
              <a:buAutoNum type="circleNumDbPlain"/>
            </a:pPr>
            <a:r>
              <a:rPr lang="en-US" altLang="zh-CN" b="1" dirty="0"/>
              <a:t>age</a:t>
            </a:r>
            <a:r>
              <a:rPr lang="zh-CN" altLang="zh-CN" dirty="0"/>
              <a:t>（年龄）：取连续值；</a:t>
            </a:r>
          </a:p>
          <a:p>
            <a:pPr marL="457200" lvl="0" indent="-457200">
              <a:buFont typeface="+mj-ea"/>
              <a:buAutoNum type="circleNumDbPlain"/>
            </a:pPr>
            <a:r>
              <a:rPr lang="en-US" altLang="zh-CN" b="1" dirty="0" err="1"/>
              <a:t>workclass</a:t>
            </a:r>
            <a:r>
              <a:rPr lang="zh-CN" altLang="zh-CN" dirty="0"/>
              <a:t>（工作类别）：类别变量，取值范围为</a:t>
            </a:r>
            <a:r>
              <a:rPr lang="en-US" altLang="zh-CN" dirty="0"/>
              <a:t>{ Private, Self-</a:t>
            </a:r>
            <a:r>
              <a:rPr lang="en-US" altLang="zh-CN" dirty="0" err="1"/>
              <a:t>emp</a:t>
            </a:r>
            <a:r>
              <a:rPr lang="en-US" altLang="zh-CN" dirty="0"/>
              <a:t>-not-</a:t>
            </a:r>
            <a:r>
              <a:rPr lang="en-US" altLang="zh-CN" dirty="0" err="1"/>
              <a:t>inc</a:t>
            </a:r>
            <a:r>
              <a:rPr lang="en-US" altLang="zh-CN" dirty="0"/>
              <a:t>, Self-</a:t>
            </a:r>
            <a:r>
              <a:rPr lang="en-US" altLang="zh-CN" dirty="0" err="1"/>
              <a:t>emp</a:t>
            </a:r>
            <a:r>
              <a:rPr lang="en-US" altLang="zh-CN" dirty="0"/>
              <a:t>-</a:t>
            </a:r>
            <a:r>
              <a:rPr lang="en-US" altLang="zh-CN" dirty="0" err="1"/>
              <a:t>inc</a:t>
            </a:r>
            <a:r>
              <a:rPr lang="en-US" altLang="zh-CN" dirty="0"/>
              <a:t>, Federal-</a:t>
            </a:r>
            <a:r>
              <a:rPr lang="en-US" altLang="zh-CN" dirty="0" err="1"/>
              <a:t>gov</a:t>
            </a:r>
            <a:r>
              <a:rPr lang="en-US" altLang="zh-CN" dirty="0"/>
              <a:t>, Local-</a:t>
            </a:r>
            <a:r>
              <a:rPr lang="en-US" altLang="zh-CN" dirty="0" err="1"/>
              <a:t>gov</a:t>
            </a:r>
            <a:r>
              <a:rPr lang="en-US" altLang="zh-CN" dirty="0"/>
              <a:t>, State-</a:t>
            </a:r>
            <a:r>
              <a:rPr lang="en-US" altLang="zh-CN" dirty="0" err="1"/>
              <a:t>gov</a:t>
            </a:r>
            <a:r>
              <a:rPr lang="en-US" altLang="zh-CN" dirty="0"/>
              <a:t>, Without-pay, Never-worked}</a:t>
            </a:r>
            <a:r>
              <a:rPr lang="zh-CN" altLang="zh-CN" dirty="0"/>
              <a:t>；</a:t>
            </a:r>
          </a:p>
          <a:p>
            <a:pPr marL="457200" lvl="0" indent="-457200">
              <a:buFont typeface="+mj-ea"/>
              <a:buAutoNum type="circleNumDbPlain"/>
            </a:pPr>
            <a:r>
              <a:rPr lang="en-US" altLang="zh-CN" b="1" dirty="0" err="1"/>
              <a:t>fnlwgt</a:t>
            </a:r>
            <a:r>
              <a:rPr lang="zh-CN" altLang="zh-CN" dirty="0"/>
              <a:t>（最终权重法值）：取连续值；</a:t>
            </a:r>
          </a:p>
          <a:p>
            <a:pPr marL="457200" lvl="0" indent="-457200">
              <a:buFont typeface="+mj-ea"/>
              <a:buAutoNum type="circleNumDbPlain"/>
            </a:pPr>
            <a:r>
              <a:rPr lang="en-US" altLang="zh-CN" b="1" dirty="0"/>
              <a:t>education</a:t>
            </a:r>
            <a:r>
              <a:rPr lang="zh-CN" altLang="zh-CN" dirty="0"/>
              <a:t>（学历）：类别变量，取值范围为</a:t>
            </a:r>
            <a:r>
              <a:rPr lang="en-US" altLang="zh-CN" dirty="0"/>
              <a:t>{ Bachelors , Some-college, 11th, HS-grad, Prof-school, </a:t>
            </a:r>
            <a:r>
              <a:rPr lang="en-US" altLang="zh-CN" dirty="0" err="1"/>
              <a:t>Assoc-acdm</a:t>
            </a:r>
            <a:r>
              <a:rPr lang="en-US" altLang="zh-CN" dirty="0"/>
              <a:t>, </a:t>
            </a:r>
            <a:r>
              <a:rPr lang="en-US" altLang="zh-CN" dirty="0" err="1"/>
              <a:t>Assoc-voc</a:t>
            </a:r>
            <a:r>
              <a:rPr lang="en-US" altLang="zh-CN" dirty="0"/>
              <a:t>, 9th, 7th-8th, 12th, Masters, 1st-4th, 10th, Doctorate, 5th-6th, Preschool}</a:t>
            </a:r>
            <a:r>
              <a:rPr lang="zh-CN" altLang="zh-CN" dirty="0"/>
              <a:t>；</a:t>
            </a:r>
          </a:p>
          <a:p>
            <a:pPr marL="457200" lvl="0" indent="-457200">
              <a:buFont typeface="+mj-ea"/>
              <a:buAutoNum type="circleNumDbPlain"/>
            </a:pPr>
            <a:r>
              <a:rPr lang="en-US" altLang="zh-CN" b="1" dirty="0"/>
              <a:t>education-</a:t>
            </a:r>
            <a:r>
              <a:rPr lang="en-US" altLang="zh-CN" b="1" dirty="0" err="1"/>
              <a:t>num</a:t>
            </a:r>
            <a:r>
              <a:rPr lang="zh-CN" altLang="zh-CN" dirty="0"/>
              <a:t>（受教育年份）：取连续值；</a:t>
            </a:r>
          </a:p>
          <a:p>
            <a:pPr marL="0" indent="0">
              <a:buNone/>
            </a:pPr>
            <a:endParaRPr lang="en-US" sz="2200" dirty="0"/>
          </a:p>
        </p:txBody>
      </p:sp>
    </p:spTree>
    <p:extLst>
      <p:ext uri="{BB962C8B-B14F-4D97-AF65-F5344CB8AC3E}">
        <p14:creationId xmlns:p14="http://schemas.microsoft.com/office/powerpoint/2010/main" val="231690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数据说明</a:t>
            </a:r>
            <a:endParaRPr lang="en-US" dirty="0"/>
          </a:p>
        </p:txBody>
      </p:sp>
      <p:sp>
        <p:nvSpPr>
          <p:cNvPr id="3" name="Content Placeholder 2"/>
          <p:cNvSpPr>
            <a:spLocks noGrp="1"/>
          </p:cNvSpPr>
          <p:nvPr>
            <p:ph sz="half" idx="1"/>
          </p:nvPr>
        </p:nvSpPr>
        <p:spPr>
          <a:xfrm>
            <a:off x="1104900" y="1600200"/>
            <a:ext cx="9980682" cy="4571999"/>
          </a:xfrm>
        </p:spPr>
        <p:txBody>
          <a:bodyPr>
            <a:normAutofit/>
          </a:bodyPr>
          <a:lstStyle/>
          <a:p>
            <a:pPr marL="457200" lvl="0" indent="-457200">
              <a:buFont typeface="+mj-ea"/>
              <a:buAutoNum type="circleNumDbPlain" startAt="6"/>
            </a:pPr>
            <a:r>
              <a:rPr lang="en-US" altLang="zh-CN" b="1" dirty="0"/>
              <a:t>marital-status</a:t>
            </a:r>
            <a:r>
              <a:rPr lang="zh-CN" altLang="zh-CN" dirty="0"/>
              <a:t>（婚姻状况）：类别变量，取值范围为</a:t>
            </a:r>
            <a:r>
              <a:rPr lang="en-US" altLang="zh-CN" dirty="0"/>
              <a:t>{ Married-civ-spouse, Divorced, Never-married, Separated, Widowed, Married-spouse-absent, Married-AF-spouse}</a:t>
            </a:r>
            <a:r>
              <a:rPr lang="zh-CN" altLang="zh-CN" dirty="0"/>
              <a:t>；</a:t>
            </a:r>
            <a:endParaRPr lang="en-US" altLang="zh-CN" dirty="0"/>
          </a:p>
          <a:p>
            <a:pPr marL="457200" lvl="0" indent="-457200">
              <a:buFont typeface="+mj-ea"/>
              <a:buAutoNum type="circleNumDbPlain" startAt="6"/>
            </a:pPr>
            <a:r>
              <a:rPr lang="en-US" altLang="zh-CN" b="1" dirty="0"/>
              <a:t>occupation</a:t>
            </a:r>
            <a:r>
              <a:rPr lang="zh-CN" altLang="zh-CN" dirty="0"/>
              <a:t>（职业）：类别变量，取值范围为</a:t>
            </a:r>
            <a:r>
              <a:rPr lang="en-US" altLang="zh-CN" dirty="0"/>
              <a:t>{Tech-support, Craft-repair, Other-service, Sales, Exec-managerial, Prof-specialty, Handlers-cleaners, Machine-op-</a:t>
            </a:r>
            <a:r>
              <a:rPr lang="en-US" altLang="zh-CN" dirty="0" err="1"/>
              <a:t>inspct</a:t>
            </a:r>
            <a:r>
              <a:rPr lang="en-US" altLang="zh-CN" dirty="0"/>
              <a:t>, </a:t>
            </a:r>
            <a:r>
              <a:rPr lang="en-US" altLang="zh-CN" dirty="0" err="1"/>
              <a:t>Adm</a:t>
            </a:r>
            <a:r>
              <a:rPr lang="en-US" altLang="zh-CN" dirty="0"/>
              <a:t>-clerical, Farming-fishing, Transport-moving, </a:t>
            </a:r>
            <a:r>
              <a:rPr lang="en-US" altLang="zh-CN" dirty="0" err="1"/>
              <a:t>Priv</a:t>
            </a:r>
            <a:r>
              <a:rPr lang="en-US" altLang="zh-CN" dirty="0"/>
              <a:t>-house-</a:t>
            </a:r>
            <a:r>
              <a:rPr lang="en-US" altLang="zh-CN" dirty="0" err="1"/>
              <a:t>serv</a:t>
            </a:r>
            <a:r>
              <a:rPr lang="en-US" altLang="zh-CN" dirty="0"/>
              <a:t>, Protective-</a:t>
            </a:r>
            <a:r>
              <a:rPr lang="en-US" altLang="zh-CN" dirty="0" err="1"/>
              <a:t>serv</a:t>
            </a:r>
            <a:r>
              <a:rPr lang="en-US" altLang="zh-CN" dirty="0"/>
              <a:t>, Armed-Forces}</a:t>
            </a:r>
            <a:r>
              <a:rPr lang="zh-CN" altLang="zh-CN" dirty="0"/>
              <a:t>；</a:t>
            </a:r>
            <a:endParaRPr lang="en-US" altLang="zh-CN" dirty="0"/>
          </a:p>
          <a:p>
            <a:pPr marL="457200" lvl="0" indent="-457200">
              <a:buFont typeface="+mj-ea"/>
              <a:buAutoNum type="circleNumDbPlain" startAt="6"/>
            </a:pPr>
            <a:r>
              <a:rPr lang="en-US" altLang="zh-CN" b="1" dirty="0"/>
              <a:t>relationship</a:t>
            </a:r>
            <a:r>
              <a:rPr lang="zh-CN" altLang="zh-CN" dirty="0"/>
              <a:t>（社会关系）：类别变量，取值范围为</a:t>
            </a:r>
            <a:r>
              <a:rPr lang="en-US" altLang="zh-CN" dirty="0"/>
              <a:t>{ Wife, Own-child, Husband, Not-in-family, Other-relative, Unmarried}</a:t>
            </a:r>
            <a:r>
              <a:rPr lang="zh-CN" altLang="zh-CN" dirty="0"/>
              <a:t>；</a:t>
            </a:r>
            <a:endParaRPr lang="en-US" altLang="zh-CN" dirty="0"/>
          </a:p>
          <a:p>
            <a:pPr marL="457200" lvl="0" indent="-457200">
              <a:buFont typeface="+mj-ea"/>
              <a:buAutoNum type="circleNumDbPlain" startAt="6"/>
            </a:pPr>
            <a:r>
              <a:rPr lang="en-US" altLang="zh-CN" b="1" dirty="0"/>
              <a:t>race</a:t>
            </a:r>
            <a:r>
              <a:rPr lang="zh-CN" altLang="zh-CN" dirty="0"/>
              <a:t>（种族）：类别变量，取值范围为</a:t>
            </a:r>
            <a:r>
              <a:rPr lang="en-US" altLang="zh-CN" dirty="0"/>
              <a:t>{White, Asian-Pac-Islander, </a:t>
            </a:r>
            <a:r>
              <a:rPr lang="en-US" altLang="zh-CN" dirty="0" err="1"/>
              <a:t>Amer</a:t>
            </a:r>
            <a:r>
              <a:rPr lang="en-US" altLang="zh-CN" dirty="0"/>
              <a:t>-Indian-Eskimo, Other, Black}</a:t>
            </a:r>
            <a:r>
              <a:rPr lang="zh-CN" altLang="zh-CN" dirty="0"/>
              <a:t>；</a:t>
            </a:r>
            <a:endParaRPr lang="en-US" altLang="zh-CN" dirty="0"/>
          </a:p>
          <a:p>
            <a:pPr marL="457200" lvl="0" indent="-457200">
              <a:buFont typeface="+mj-ea"/>
              <a:buAutoNum type="circleNumDbPlain" startAt="6"/>
            </a:pPr>
            <a:r>
              <a:rPr lang="en-US" altLang="zh-CN" b="1" dirty="0"/>
              <a:t>sex</a:t>
            </a:r>
            <a:r>
              <a:rPr lang="zh-CN" altLang="zh-CN" dirty="0"/>
              <a:t>（性别）：类别变量，取值范围为</a:t>
            </a:r>
            <a:r>
              <a:rPr lang="en-US" altLang="zh-CN" dirty="0"/>
              <a:t>{Female, Male}</a:t>
            </a:r>
            <a:r>
              <a:rPr lang="zh-CN" altLang="zh-CN" dirty="0"/>
              <a:t>；</a:t>
            </a:r>
          </a:p>
          <a:p>
            <a:pPr marL="0" indent="0">
              <a:buNone/>
            </a:pPr>
            <a:endParaRPr lang="en-US" sz="2200" dirty="0"/>
          </a:p>
        </p:txBody>
      </p:sp>
    </p:spTree>
    <p:extLst>
      <p:ext uri="{BB962C8B-B14F-4D97-AF65-F5344CB8AC3E}">
        <p14:creationId xmlns:p14="http://schemas.microsoft.com/office/powerpoint/2010/main" val="383723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数据说明</a:t>
            </a:r>
            <a:endParaRPr lang="en-US" dirty="0"/>
          </a:p>
        </p:txBody>
      </p:sp>
      <p:sp>
        <p:nvSpPr>
          <p:cNvPr id="3" name="Content Placeholder 2"/>
          <p:cNvSpPr>
            <a:spLocks noGrp="1"/>
          </p:cNvSpPr>
          <p:nvPr>
            <p:ph sz="half" idx="1"/>
          </p:nvPr>
        </p:nvSpPr>
        <p:spPr>
          <a:xfrm>
            <a:off x="1104900" y="1600200"/>
            <a:ext cx="9980682" cy="4571999"/>
          </a:xfrm>
        </p:spPr>
        <p:txBody>
          <a:bodyPr>
            <a:normAutofit/>
          </a:bodyPr>
          <a:lstStyle/>
          <a:p>
            <a:pPr marL="457200" lvl="0" indent="-457200">
              <a:buFont typeface="+mj-ea"/>
              <a:buAutoNum type="circleNumDbPlain" startAt="11"/>
            </a:pPr>
            <a:r>
              <a:rPr lang="en-US" altLang="zh-CN" b="1" dirty="0"/>
              <a:t>capital-gain</a:t>
            </a:r>
            <a:r>
              <a:rPr lang="zh-CN" altLang="zh-CN" dirty="0"/>
              <a:t>（资本收入）：取连续值；</a:t>
            </a:r>
            <a:endParaRPr lang="en-US" altLang="zh-CN" dirty="0"/>
          </a:p>
          <a:p>
            <a:pPr marL="457200" lvl="0" indent="-457200">
              <a:buFont typeface="+mj-ea"/>
              <a:buAutoNum type="circleNumDbPlain" startAt="11"/>
            </a:pPr>
            <a:r>
              <a:rPr lang="en-US" altLang="zh-CN" b="1" dirty="0"/>
              <a:t>capital-loss</a:t>
            </a:r>
            <a:r>
              <a:rPr lang="zh-CN" altLang="zh-CN" dirty="0"/>
              <a:t>（资本损失）：取连续值；</a:t>
            </a:r>
            <a:endParaRPr lang="en-US" altLang="zh-CN" dirty="0"/>
          </a:p>
          <a:p>
            <a:pPr marL="457200" lvl="0" indent="-457200">
              <a:buFont typeface="+mj-ea"/>
              <a:buAutoNum type="circleNumDbPlain" startAt="11"/>
            </a:pPr>
            <a:r>
              <a:rPr lang="en-US" altLang="zh-CN" b="1" dirty="0"/>
              <a:t>hours-per-week</a:t>
            </a:r>
            <a:r>
              <a:rPr lang="zh-CN" altLang="zh-CN" dirty="0"/>
              <a:t>（每周工作小时数）：取连续值；</a:t>
            </a:r>
            <a:endParaRPr lang="en-US" altLang="zh-CN" dirty="0"/>
          </a:p>
          <a:p>
            <a:pPr marL="457200" lvl="0" indent="-457200">
              <a:buFont typeface="+mj-ea"/>
              <a:buAutoNum type="circleNumDbPlain" startAt="11"/>
            </a:pPr>
            <a:r>
              <a:rPr lang="en-US" altLang="zh-CN" b="1" dirty="0"/>
              <a:t>native-country</a:t>
            </a:r>
            <a:r>
              <a:rPr lang="zh-CN" altLang="zh-CN" dirty="0"/>
              <a:t>（祖国）：类别变量，取值范围为</a:t>
            </a:r>
            <a:r>
              <a:rPr lang="en-US" altLang="zh-CN" dirty="0"/>
              <a:t>{United-States, Cambodia, England, Puerto-Rico, Canada, Germany, Outlying-US(Guam-USVI-</a:t>
            </a:r>
            <a:r>
              <a:rPr lang="en-US" altLang="zh-CN" dirty="0" err="1"/>
              <a:t>etc</a:t>
            </a:r>
            <a:r>
              <a:rPr lang="en-US" altLang="zh-CN" dirty="0"/>
              <a:t>), India, Japan, Greece, South, China, Cuba, Iran, Honduras, Philippines, Italy, Poland, Jamaica, Vietnam, Mexico, Portugal, Ireland, France, Dominican-Republic, Laos, Ecuador, Taiwan, Haiti, Columbia, Hungary, Guatemala, Nicaragua, Scotland, Thailand, Yugoslavia, El-Salvador, </a:t>
            </a:r>
            <a:r>
              <a:rPr lang="en-US" altLang="zh-CN" dirty="0" err="1"/>
              <a:t>Trinadad&amp;Tobago</a:t>
            </a:r>
            <a:r>
              <a:rPr lang="en-US" altLang="zh-CN" dirty="0"/>
              <a:t>, Peru, Hong, </a:t>
            </a:r>
            <a:r>
              <a:rPr lang="en-US" altLang="zh-CN" dirty="0" err="1"/>
              <a:t>Holand</a:t>
            </a:r>
            <a:r>
              <a:rPr lang="en-US" altLang="zh-CN" dirty="0"/>
              <a:t>-Netherlands}</a:t>
            </a:r>
            <a:r>
              <a:rPr lang="zh-CN" altLang="zh-CN" dirty="0"/>
              <a:t>；</a:t>
            </a:r>
            <a:endParaRPr lang="en-US" altLang="zh-CN" dirty="0"/>
          </a:p>
          <a:p>
            <a:pPr marL="457200" lvl="0" indent="-457200">
              <a:buFont typeface="+mj-ea"/>
              <a:buAutoNum type="circleNumDbPlain" startAt="11"/>
            </a:pPr>
            <a:r>
              <a:rPr lang="en-US" altLang="zh-CN" b="1" dirty="0"/>
              <a:t>income</a:t>
            </a:r>
            <a:r>
              <a:rPr lang="zh-CN" altLang="zh-CN" b="1" dirty="0"/>
              <a:t>（年收入）：类别变量，取值范围为</a:t>
            </a:r>
            <a:r>
              <a:rPr lang="en-US" altLang="zh-CN" b="1" dirty="0"/>
              <a:t>{&gt;50K, &lt;=50K}</a:t>
            </a:r>
            <a:r>
              <a:rPr lang="zh-CN" altLang="zh-CN" b="1" dirty="0"/>
              <a:t>。</a:t>
            </a:r>
          </a:p>
          <a:p>
            <a:pPr marL="0" indent="0">
              <a:buNone/>
            </a:pPr>
            <a:endParaRPr lang="en-US" sz="2200" dirty="0"/>
          </a:p>
        </p:txBody>
      </p:sp>
    </p:spTree>
    <p:extLst>
      <p:ext uri="{BB962C8B-B14F-4D97-AF65-F5344CB8AC3E}">
        <p14:creationId xmlns:p14="http://schemas.microsoft.com/office/powerpoint/2010/main" val="4189053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数据清理：缺失值处理</a:t>
            </a:r>
            <a:endParaRPr lang="en-US" dirty="0"/>
          </a:p>
        </p:txBody>
      </p:sp>
      <p:sp>
        <p:nvSpPr>
          <p:cNvPr id="3" name="Content Placeholder 2"/>
          <p:cNvSpPr>
            <a:spLocks noGrp="1"/>
          </p:cNvSpPr>
          <p:nvPr>
            <p:ph sz="half" idx="1"/>
          </p:nvPr>
        </p:nvSpPr>
        <p:spPr/>
        <p:txBody>
          <a:bodyPr>
            <a:normAutofit/>
          </a:bodyPr>
          <a:lstStyle/>
          <a:p>
            <a:pPr marL="457200" lvl="1" indent="-457200">
              <a:spcBef>
                <a:spcPts val="1800"/>
              </a:spcBef>
              <a:buFont typeface="+mj-ea"/>
              <a:buAutoNum type="circleNumDbPlain"/>
            </a:pPr>
            <a:r>
              <a:rPr lang="zh-CN" altLang="zh-CN" sz="2000" b="1" dirty="0"/>
              <a:t>利用</a:t>
            </a:r>
            <a:r>
              <a:rPr lang="en-US" altLang="zh-CN" sz="2000" b="1" dirty="0"/>
              <a:t>pandas</a:t>
            </a:r>
            <a:r>
              <a:rPr lang="zh-CN" altLang="zh-CN" sz="2000" b="1" dirty="0"/>
              <a:t>的</a:t>
            </a:r>
            <a:r>
              <a:rPr lang="en-US" altLang="zh-CN" sz="2000" b="1" dirty="0" err="1"/>
              <a:t>isnull</a:t>
            </a:r>
            <a:r>
              <a:rPr lang="en-US" altLang="zh-CN" sz="2000" b="1" dirty="0"/>
              <a:t>()</a:t>
            </a:r>
            <a:r>
              <a:rPr lang="zh-CN" altLang="zh-CN" sz="2000" b="1" dirty="0"/>
              <a:t>方法检查缺失值。</a:t>
            </a:r>
            <a:endParaRPr lang="en-US" altLang="zh-CN" sz="2000" b="1" dirty="0"/>
          </a:p>
          <a:p>
            <a:pPr marL="457200" indent="-457200">
              <a:buFont typeface="+mj-ea"/>
              <a:buAutoNum type="circleNumDbPlain"/>
            </a:pPr>
            <a:endParaRPr lang="en-US" dirty="0"/>
          </a:p>
        </p:txBody>
      </p:sp>
      <p:sp>
        <p:nvSpPr>
          <p:cNvPr id="5" name="内容占位符 4"/>
          <p:cNvSpPr>
            <a:spLocks noGrp="1"/>
          </p:cNvSpPr>
          <p:nvPr>
            <p:ph sz="half" idx="2"/>
          </p:nvPr>
        </p:nvSpPr>
        <p:spPr>
          <a:xfrm>
            <a:off x="6315075" y="1785938"/>
            <a:ext cx="4914900" cy="4557711"/>
          </a:xfrm>
        </p:spPr>
        <p:txBody>
          <a:bodyPr>
            <a:normAutofit/>
          </a:bodyPr>
          <a:lstStyle/>
          <a:p>
            <a:pPr>
              <a:lnSpc>
                <a:spcPts val="500"/>
              </a:lnSpc>
            </a:pPr>
            <a:r>
              <a:rPr lang="zh-CN" altLang="en-US" dirty="0"/>
              <a:t>输出如下：</a:t>
            </a:r>
            <a:endParaRPr lang="en-US" altLang="zh-CN" dirty="0"/>
          </a:p>
          <a:p>
            <a:pPr marL="0" indent="0">
              <a:lnSpc>
                <a:spcPts val="500"/>
              </a:lnSpc>
              <a:buNone/>
            </a:pP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231881716"/>
              </p:ext>
            </p:extLst>
          </p:nvPr>
        </p:nvGraphicFramePr>
        <p:xfrm>
          <a:off x="1227137" y="2195899"/>
          <a:ext cx="4940300" cy="3108960"/>
        </p:xfrm>
        <a:graphic>
          <a:graphicData uri="http://schemas.openxmlformats.org/drawingml/2006/table">
            <a:tbl>
              <a:tblPr firstRow="1" bandRow="1">
                <a:tableStyleId>{5C22544A-7EE6-4342-B048-85BDC9FD1C3A}</a:tableStyleId>
              </a:tblPr>
              <a:tblGrid>
                <a:gridCol w="4940300">
                  <a:extLst>
                    <a:ext uri="{9D8B030D-6E8A-4147-A177-3AD203B41FA5}">
                      <a16:colId xmlns:a16="http://schemas.microsoft.com/office/drawing/2014/main" val="3419347165"/>
                    </a:ext>
                  </a:extLst>
                </a:gridCol>
              </a:tblGrid>
              <a:tr h="370840">
                <a:tc>
                  <a:txBody>
                    <a:bodyPr/>
                    <a:lstStyle/>
                    <a:p>
                      <a:pPr>
                        <a:lnSpc>
                          <a:spcPct val="150000"/>
                        </a:lnSpc>
                      </a:pPr>
                      <a:r>
                        <a:rPr lang="en-US" altLang="zh-CN" sz="2000" b="0" dirty="0">
                          <a:solidFill>
                            <a:schemeClr val="tx1"/>
                          </a:solidFill>
                          <a:latin typeface="Consolas" panose="020B0609020204030204" pitchFamily="49" charset="0"/>
                          <a:cs typeface="Calibri" panose="020F0502020204030204" pitchFamily="34" charset="0"/>
                        </a:rPr>
                        <a:t>import pandas as </a:t>
                      </a:r>
                      <a:r>
                        <a:rPr lang="en-US" altLang="zh-CN" sz="2000" b="0" dirty="0" err="1">
                          <a:solidFill>
                            <a:schemeClr val="tx1"/>
                          </a:solidFill>
                          <a:latin typeface="Consolas" panose="020B0609020204030204" pitchFamily="49" charset="0"/>
                          <a:cs typeface="Calibri" panose="020F0502020204030204" pitchFamily="34" charset="0"/>
                        </a:rPr>
                        <a:t>pd</a:t>
                      </a:r>
                      <a:endParaRPr lang="zh-CN" altLang="zh-CN" sz="2000" b="0" dirty="0">
                        <a:solidFill>
                          <a:schemeClr val="tx1"/>
                        </a:solidFill>
                        <a:latin typeface="Consolas" panose="020B0609020204030204" pitchFamily="49" charset="0"/>
                        <a:cs typeface="Calibri" panose="020F0502020204030204" pitchFamily="34" charset="0"/>
                      </a:endParaRPr>
                    </a:p>
                    <a:p>
                      <a:pPr>
                        <a:lnSpc>
                          <a:spcPct val="150000"/>
                        </a:lnSpc>
                      </a:pPr>
                      <a:r>
                        <a:rPr lang="en-US" altLang="zh-CN" sz="2000" b="0" dirty="0" err="1">
                          <a:solidFill>
                            <a:schemeClr val="tx1"/>
                          </a:solidFill>
                          <a:latin typeface="Consolas" panose="020B0609020204030204" pitchFamily="49" charset="0"/>
                          <a:cs typeface="Calibri" panose="020F0502020204030204" pitchFamily="34" charset="0"/>
                        </a:rPr>
                        <a:t>raw_data</a:t>
                      </a:r>
                      <a:r>
                        <a:rPr lang="en-US" altLang="zh-CN" sz="2000" b="0" dirty="0">
                          <a:solidFill>
                            <a:schemeClr val="tx1"/>
                          </a:solidFill>
                          <a:latin typeface="Consolas" panose="020B0609020204030204" pitchFamily="49" charset="0"/>
                          <a:cs typeface="Calibri" panose="020F0502020204030204" pitchFamily="34" charset="0"/>
                        </a:rPr>
                        <a:t> = </a:t>
                      </a:r>
                      <a:r>
                        <a:rPr lang="en-US" altLang="zh-CN" sz="2000" b="0" dirty="0" err="1">
                          <a:solidFill>
                            <a:schemeClr val="tx1"/>
                          </a:solidFill>
                          <a:latin typeface="Consolas" panose="020B0609020204030204" pitchFamily="49" charset="0"/>
                          <a:cs typeface="Calibri" panose="020F0502020204030204" pitchFamily="34" charset="0"/>
                        </a:rPr>
                        <a:t>pd.read_csv</a:t>
                      </a:r>
                      <a:r>
                        <a:rPr lang="en-US" altLang="zh-CN" sz="2000" b="0" dirty="0">
                          <a:solidFill>
                            <a:schemeClr val="tx1"/>
                          </a:solidFill>
                          <a:latin typeface="Consolas" panose="020B0609020204030204" pitchFamily="49" charset="0"/>
                          <a:cs typeface="Calibri" panose="020F0502020204030204" pitchFamily="34" charset="0"/>
                        </a:rPr>
                        <a:t>('Adult.csv',</a:t>
                      </a:r>
                      <a:r>
                        <a:rPr lang="en-US" altLang="zh-CN" sz="2000" b="0" dirty="0" err="1">
                          <a:solidFill>
                            <a:schemeClr val="tx1"/>
                          </a:solidFill>
                          <a:latin typeface="Consolas" panose="020B0609020204030204" pitchFamily="49" charset="0"/>
                          <a:cs typeface="Calibri" panose="020F0502020204030204" pitchFamily="34" charset="0"/>
                        </a:rPr>
                        <a:t>na_values</a:t>
                      </a:r>
                      <a:r>
                        <a:rPr lang="en-US" altLang="zh-CN" sz="2000" b="0" dirty="0">
                          <a:solidFill>
                            <a:schemeClr val="tx1"/>
                          </a:solidFill>
                          <a:latin typeface="Consolas" panose="020B0609020204030204" pitchFamily="49" charset="0"/>
                          <a:cs typeface="Calibri" panose="020F0502020204030204" pitchFamily="34" charset="0"/>
                        </a:rPr>
                        <a:t>='?') #</a:t>
                      </a:r>
                      <a:r>
                        <a:rPr lang="zh-CN" altLang="zh-CN" sz="2000" b="0" dirty="0">
                          <a:solidFill>
                            <a:schemeClr val="tx1"/>
                          </a:solidFill>
                          <a:latin typeface="Consolas" panose="020B0609020204030204" pitchFamily="49" charset="0"/>
                          <a:cs typeface="Calibri" panose="020F0502020204030204" pitchFamily="34" charset="0"/>
                        </a:rPr>
                        <a:t>设定</a:t>
                      </a:r>
                      <a:r>
                        <a:rPr lang="en-US" altLang="zh-CN" sz="2000" b="0" dirty="0">
                          <a:solidFill>
                            <a:schemeClr val="tx1"/>
                          </a:solidFill>
                          <a:latin typeface="Consolas" panose="020B0609020204030204" pitchFamily="49" charset="0"/>
                          <a:cs typeface="Calibri" panose="020F0502020204030204" pitchFamily="34" charset="0"/>
                        </a:rPr>
                        <a:t>'?'</a:t>
                      </a:r>
                      <a:r>
                        <a:rPr lang="zh-CN" altLang="zh-CN" sz="2000" b="0" dirty="0">
                          <a:solidFill>
                            <a:schemeClr val="tx1"/>
                          </a:solidFill>
                          <a:latin typeface="Consolas" panose="020B0609020204030204" pitchFamily="49" charset="0"/>
                          <a:cs typeface="Calibri" panose="020F0502020204030204" pitchFamily="34" charset="0"/>
                        </a:rPr>
                        <a:t>为缺失值</a:t>
                      </a:r>
                    </a:p>
                    <a:p>
                      <a:pPr>
                        <a:lnSpc>
                          <a:spcPct val="150000"/>
                        </a:lnSpc>
                      </a:pPr>
                      <a:r>
                        <a:rPr lang="en-US" altLang="zh-CN" sz="2000" b="0" dirty="0" err="1">
                          <a:solidFill>
                            <a:schemeClr val="tx1"/>
                          </a:solidFill>
                          <a:latin typeface="Consolas" panose="020B0609020204030204" pitchFamily="49" charset="0"/>
                          <a:cs typeface="Calibri" panose="020F0502020204030204" pitchFamily="34" charset="0"/>
                        </a:rPr>
                        <a:t>raw_data.isnull</a:t>
                      </a:r>
                      <a:r>
                        <a:rPr lang="en-US" altLang="zh-CN" sz="2000" b="0" dirty="0">
                          <a:solidFill>
                            <a:schemeClr val="tx1"/>
                          </a:solidFill>
                          <a:latin typeface="Consolas" panose="020B0609020204030204" pitchFamily="49" charset="0"/>
                          <a:cs typeface="Calibri" panose="020F0502020204030204" pitchFamily="34" charset="0"/>
                        </a:rPr>
                        <a:t>().any() #</a:t>
                      </a:r>
                      <a:r>
                        <a:rPr lang="zh-CN" altLang="zh-CN" sz="2000" b="0" dirty="0">
                          <a:solidFill>
                            <a:schemeClr val="tx1"/>
                          </a:solidFill>
                          <a:latin typeface="Consolas" panose="020B0609020204030204" pitchFamily="49" charset="0"/>
                          <a:cs typeface="Calibri" panose="020F0502020204030204" pitchFamily="34" charset="0"/>
                        </a:rPr>
                        <a:t>检查含有缺失值的列</a:t>
                      </a:r>
                    </a:p>
                    <a:p>
                      <a:pPr>
                        <a:lnSpc>
                          <a:spcPct val="100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020282370"/>
                  </a:ext>
                </a:extLst>
              </a:tr>
            </a:tbl>
          </a:graphicData>
        </a:graphic>
      </p:graphicFrame>
      <p:pic>
        <p:nvPicPr>
          <p:cNvPr id="6" name="图片 5"/>
          <p:cNvPicPr>
            <a:picLocks noChangeAspect="1"/>
          </p:cNvPicPr>
          <p:nvPr/>
        </p:nvPicPr>
        <p:blipFill>
          <a:blip r:embed="rId3"/>
          <a:stretch>
            <a:fillRect/>
          </a:stretch>
        </p:blipFill>
        <p:spPr>
          <a:xfrm>
            <a:off x="7407555" y="1980622"/>
            <a:ext cx="2729939" cy="4363027"/>
          </a:xfrm>
          <a:prstGeom prst="rect">
            <a:avLst/>
          </a:prstGeom>
        </p:spPr>
      </p:pic>
      <p:sp>
        <p:nvSpPr>
          <p:cNvPr id="7" name="文本框 6"/>
          <p:cNvSpPr txBox="1"/>
          <p:nvPr/>
        </p:nvSpPr>
        <p:spPr>
          <a:xfrm>
            <a:off x="1166018" y="5614629"/>
            <a:ext cx="5149055" cy="1015663"/>
          </a:xfrm>
          <a:prstGeom prst="rect">
            <a:avLst/>
          </a:prstGeom>
          <a:noFill/>
          <a:ln>
            <a:solidFill>
              <a:srgbClr val="FF0000"/>
            </a:solidFill>
          </a:ln>
        </p:spPr>
        <p:txBody>
          <a:bodyPr wrap="square" rtlCol="0">
            <a:spAutoFit/>
          </a:bodyPr>
          <a:lstStyle/>
          <a:p>
            <a:r>
              <a:rPr lang="zh-CN" altLang="zh-CN" sz="2000" b="1" dirty="0"/>
              <a:t>由输出结果可知，</a:t>
            </a:r>
            <a:r>
              <a:rPr lang="en-US" altLang="zh-CN" sz="2000" b="1" dirty="0" err="1"/>
              <a:t>workclass</a:t>
            </a:r>
            <a:r>
              <a:rPr lang="zh-CN" altLang="zh-CN" sz="2000" b="1" dirty="0"/>
              <a:t>（工作类别）、</a:t>
            </a:r>
            <a:r>
              <a:rPr lang="en-US" altLang="zh-CN" sz="2000" b="1" dirty="0"/>
              <a:t>occupation</a:t>
            </a:r>
            <a:r>
              <a:rPr lang="zh-CN" altLang="zh-CN" sz="2000" b="1" dirty="0"/>
              <a:t>（职业）、</a:t>
            </a:r>
            <a:r>
              <a:rPr lang="en-US" altLang="zh-CN" sz="2000" b="1" dirty="0" err="1"/>
              <a:t>native_country</a:t>
            </a:r>
            <a:r>
              <a:rPr lang="zh-CN" altLang="zh-CN" sz="2000" b="1" dirty="0"/>
              <a:t>（祖国）三列存在缺失值。</a:t>
            </a:r>
            <a:endParaRPr lang="zh-CN" altLang="en-US" sz="2000" b="1" dirty="0"/>
          </a:p>
        </p:txBody>
      </p:sp>
      <p:sp>
        <p:nvSpPr>
          <p:cNvPr id="8" name="椭圆 7"/>
          <p:cNvSpPr/>
          <p:nvPr/>
        </p:nvSpPr>
        <p:spPr>
          <a:xfrm>
            <a:off x="9529763" y="2195899"/>
            <a:ext cx="542925" cy="3187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9529763" y="3571875"/>
            <a:ext cx="542925" cy="3143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529763" y="5429250"/>
            <a:ext cx="542925" cy="3857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1045859" y="3405871"/>
            <a:ext cx="958781" cy="646331"/>
          </a:xfrm>
          <a:prstGeom prst="rect">
            <a:avLst/>
          </a:prstGeom>
          <a:noFill/>
          <a:ln>
            <a:solidFill>
              <a:srgbClr val="FF0000"/>
            </a:solidFill>
          </a:ln>
        </p:spPr>
        <p:txBody>
          <a:bodyPr wrap="square" rtlCol="0">
            <a:spAutoFit/>
          </a:bodyPr>
          <a:lstStyle/>
          <a:p>
            <a:r>
              <a:rPr lang="zh-CN" altLang="en-US" b="1" dirty="0"/>
              <a:t>存在缺失值</a:t>
            </a:r>
          </a:p>
        </p:txBody>
      </p:sp>
      <p:cxnSp>
        <p:nvCxnSpPr>
          <p:cNvPr id="13" name="直接箭头连接符 12"/>
          <p:cNvCxnSpPr>
            <a:stCxn id="8" idx="6"/>
            <a:endCxn id="11" idx="1"/>
          </p:cNvCxnSpPr>
          <p:nvPr/>
        </p:nvCxnSpPr>
        <p:spPr>
          <a:xfrm>
            <a:off x="10072688" y="2355250"/>
            <a:ext cx="973171" cy="137378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9" idx="6"/>
            <a:endCxn id="11" idx="1"/>
          </p:cNvCxnSpPr>
          <p:nvPr/>
        </p:nvCxnSpPr>
        <p:spPr>
          <a:xfrm>
            <a:off x="10072688" y="3729037"/>
            <a:ext cx="973171"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0" idx="6"/>
            <a:endCxn id="11" idx="1"/>
          </p:cNvCxnSpPr>
          <p:nvPr/>
        </p:nvCxnSpPr>
        <p:spPr>
          <a:xfrm flipV="1">
            <a:off x="10072688" y="3729037"/>
            <a:ext cx="973171" cy="189309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9922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CD201-F5C8-0E51-CA71-173EBB6699EF}"/>
              </a:ext>
            </a:extLst>
          </p:cNvPr>
          <p:cNvSpPr>
            <a:spLocks noGrp="1"/>
          </p:cNvSpPr>
          <p:nvPr>
            <p:ph type="title"/>
          </p:nvPr>
        </p:nvSpPr>
        <p:spPr/>
        <p:txBody>
          <a:bodyPr/>
          <a:lstStyle/>
          <a:p>
            <a:r>
              <a:rPr lang="zh-CN" altLang="en-US" b="1" dirty="0">
                <a:hlinkClick r:id="rId2"/>
              </a:rPr>
              <a:t>（</a:t>
            </a:r>
            <a:r>
              <a:rPr lang="en-US" altLang="zh-CN" b="1" dirty="0">
                <a:hlinkClick r:id="rId2"/>
              </a:rPr>
              <a:t>1</a:t>
            </a:r>
            <a:r>
              <a:rPr lang="zh-CN" altLang="en-US" b="1" dirty="0">
                <a:hlinkClick r:id="rId2"/>
              </a:rPr>
              <a:t>）数据加载</a:t>
            </a:r>
            <a:endParaRPr kumimoji="1" lang="zh-CN" altLang="en-US" dirty="0"/>
          </a:p>
        </p:txBody>
      </p:sp>
      <p:sp>
        <p:nvSpPr>
          <p:cNvPr id="4" name="TextBox 3">
            <a:extLst>
              <a:ext uri="{FF2B5EF4-FFF2-40B4-BE49-F238E27FC236}">
                <a16:creationId xmlns:a16="http://schemas.microsoft.com/office/drawing/2014/main" id="{A1F4EFF5-C7A2-83E1-49AD-E888A934BD3D}"/>
              </a:ext>
            </a:extLst>
          </p:cNvPr>
          <p:cNvSpPr txBox="1"/>
          <p:nvPr/>
        </p:nvSpPr>
        <p:spPr>
          <a:xfrm>
            <a:off x="711200" y="2458074"/>
            <a:ext cx="3312160" cy="2111284"/>
          </a:xfrm>
          <a:prstGeom prst="rect">
            <a:avLst/>
          </a:prstGeom>
          <a:noFill/>
        </p:spPr>
        <p:txBody>
          <a:bodyPr wrap="square">
            <a:spAutoFit/>
          </a:bodyPr>
          <a:lstStyle/>
          <a:p>
            <a:pPr>
              <a:lnSpc>
                <a:spcPct val="150000"/>
              </a:lnSpc>
            </a:pPr>
            <a:r>
              <a:rPr lang="zh-CN" altLang="en-US" b="0" i="0" dirty="0">
                <a:solidFill>
                  <a:srgbClr val="262625"/>
                </a:solidFill>
                <a:effectLst/>
                <a:latin typeface="Times New Roman" panose="02020603050405020304" pitchFamily="18" charset="0"/>
              </a:rPr>
              <a:t>首先，将 </a:t>
            </a:r>
            <a:r>
              <a:rPr lang="en-US" b="0" i="0" dirty="0">
                <a:solidFill>
                  <a:srgbClr val="262625"/>
                </a:solidFill>
                <a:effectLst/>
                <a:latin typeface="Times New Roman" panose="02020603050405020304" pitchFamily="18" charset="0"/>
              </a:rPr>
              <a:t>Adult </a:t>
            </a:r>
            <a:r>
              <a:rPr lang="zh-CN" altLang="en-US" b="0" i="0" dirty="0">
                <a:solidFill>
                  <a:srgbClr val="262625"/>
                </a:solidFill>
                <a:effectLst/>
                <a:latin typeface="Times New Roman" panose="02020603050405020304" pitchFamily="18" charset="0"/>
              </a:rPr>
              <a:t>数据集下载到本地并保存为 </a:t>
            </a:r>
            <a:r>
              <a:rPr lang="en-US" altLang="zh-CN" b="0" i="0" dirty="0">
                <a:solidFill>
                  <a:srgbClr val="262625"/>
                </a:solidFill>
                <a:effectLst/>
                <a:latin typeface="Times New Roman" panose="02020603050405020304" pitchFamily="18" charset="0"/>
              </a:rPr>
              <a:t>"</a:t>
            </a:r>
            <a:r>
              <a:rPr lang="en-US" b="0" i="0" dirty="0" err="1">
                <a:solidFill>
                  <a:srgbClr val="262625"/>
                </a:solidFill>
                <a:effectLst/>
                <a:latin typeface="Times New Roman" panose="02020603050405020304" pitchFamily="18" charset="0"/>
              </a:rPr>
              <a:t>adult.data</a:t>
            </a:r>
            <a:r>
              <a:rPr lang="en-US" b="0" i="0" dirty="0">
                <a:solidFill>
                  <a:srgbClr val="262625"/>
                </a:solidFill>
                <a:effectLst/>
                <a:latin typeface="Times New Roman" panose="02020603050405020304" pitchFamily="18" charset="0"/>
              </a:rPr>
              <a:t>"</a:t>
            </a:r>
            <a:r>
              <a:rPr lang="zh-CN" altLang="en-US" b="0" i="0" dirty="0">
                <a:solidFill>
                  <a:srgbClr val="262625"/>
                </a:solidFill>
                <a:effectLst/>
                <a:latin typeface="Times New Roman" panose="02020603050405020304" pitchFamily="18" charset="0"/>
              </a:rPr>
              <a:t>文件。然后，可以通过 </a:t>
            </a:r>
            <a:r>
              <a:rPr lang="en-US" b="0" i="0" dirty="0">
                <a:solidFill>
                  <a:srgbClr val="262625"/>
                </a:solidFill>
                <a:effectLst/>
                <a:latin typeface="Times New Roman" panose="02020603050405020304" pitchFamily="18" charset="0"/>
              </a:rPr>
              <a:t>Pandas </a:t>
            </a:r>
            <a:r>
              <a:rPr lang="zh-CN" altLang="en-US" b="0" i="0" dirty="0">
                <a:solidFill>
                  <a:srgbClr val="262625"/>
                </a:solidFill>
                <a:effectLst/>
                <a:latin typeface="Times New Roman" panose="02020603050405020304" pitchFamily="18" charset="0"/>
              </a:rPr>
              <a:t>库加载该数据集，使用</a:t>
            </a:r>
            <a:r>
              <a:rPr lang="en-US" b="0" i="0" dirty="0" err="1">
                <a:solidFill>
                  <a:srgbClr val="6E6B5E"/>
                </a:solidFill>
                <a:effectLst/>
                <a:latin typeface="Courier New" panose="02070309020205020404" pitchFamily="49" charset="0"/>
              </a:rPr>
              <a:t>read_csv</a:t>
            </a:r>
            <a:r>
              <a:rPr lang="zh-CN" altLang="en-US" b="0" i="0" dirty="0">
                <a:solidFill>
                  <a:srgbClr val="262625"/>
                </a:solidFill>
                <a:effectLst/>
                <a:latin typeface="Times New Roman" panose="02020603050405020304" pitchFamily="18" charset="0"/>
              </a:rPr>
              <a:t>方法读取文件：</a:t>
            </a:r>
            <a:endParaRPr lang="zh-CN" altLang="en-US" dirty="0"/>
          </a:p>
        </p:txBody>
      </p:sp>
      <p:pic>
        <p:nvPicPr>
          <p:cNvPr id="5" name="Picture 4">
            <a:extLst>
              <a:ext uri="{FF2B5EF4-FFF2-40B4-BE49-F238E27FC236}">
                <a16:creationId xmlns:a16="http://schemas.microsoft.com/office/drawing/2014/main" id="{1D844ECA-10C6-D729-5952-CC7A5893768D}"/>
              </a:ext>
            </a:extLst>
          </p:cNvPr>
          <p:cNvPicPr>
            <a:picLocks noChangeAspect="1"/>
          </p:cNvPicPr>
          <p:nvPr/>
        </p:nvPicPr>
        <p:blipFill>
          <a:blip r:embed="rId3"/>
          <a:stretch>
            <a:fillRect/>
          </a:stretch>
        </p:blipFill>
        <p:spPr>
          <a:xfrm>
            <a:off x="4199890" y="1391274"/>
            <a:ext cx="7772400" cy="1823760"/>
          </a:xfrm>
          <a:prstGeom prst="rect">
            <a:avLst/>
          </a:prstGeom>
        </p:spPr>
      </p:pic>
      <p:pic>
        <p:nvPicPr>
          <p:cNvPr id="6" name="Picture 5">
            <a:extLst>
              <a:ext uri="{FF2B5EF4-FFF2-40B4-BE49-F238E27FC236}">
                <a16:creationId xmlns:a16="http://schemas.microsoft.com/office/drawing/2014/main" id="{A9B3E913-D632-C58B-B7B5-758B21C1F917}"/>
              </a:ext>
            </a:extLst>
          </p:cNvPr>
          <p:cNvPicPr>
            <a:picLocks noChangeAspect="1"/>
          </p:cNvPicPr>
          <p:nvPr/>
        </p:nvPicPr>
        <p:blipFill>
          <a:blip r:embed="rId4"/>
          <a:stretch>
            <a:fillRect/>
          </a:stretch>
        </p:blipFill>
        <p:spPr>
          <a:xfrm>
            <a:off x="5026660" y="3429000"/>
            <a:ext cx="4838700" cy="3073400"/>
          </a:xfrm>
          <a:prstGeom prst="rect">
            <a:avLst/>
          </a:prstGeom>
        </p:spPr>
      </p:pic>
    </p:spTree>
    <p:extLst>
      <p:ext uri="{BB962C8B-B14F-4D97-AF65-F5344CB8AC3E}">
        <p14:creationId xmlns:p14="http://schemas.microsoft.com/office/powerpoint/2010/main" val="174382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数据清理：缺失值处理</a:t>
            </a:r>
            <a:endParaRPr lang="en-US" dirty="0"/>
          </a:p>
        </p:txBody>
      </p:sp>
      <p:sp>
        <p:nvSpPr>
          <p:cNvPr id="3" name="Content Placeholder 2"/>
          <p:cNvSpPr>
            <a:spLocks noGrp="1"/>
          </p:cNvSpPr>
          <p:nvPr>
            <p:ph sz="half" idx="1"/>
          </p:nvPr>
        </p:nvSpPr>
        <p:spPr>
          <a:xfrm>
            <a:off x="687070" y="1536748"/>
            <a:ext cx="9757410" cy="560893"/>
          </a:xfrm>
        </p:spPr>
        <p:txBody>
          <a:bodyPr>
            <a:normAutofit/>
          </a:bodyPr>
          <a:lstStyle/>
          <a:p>
            <a:r>
              <a:rPr lang="zh-CN" altLang="zh-CN" dirty="0"/>
              <a:t>为了决定采用何种方法处理缺失值，首先检查数据集中含有缺失值的记录数量</a:t>
            </a:r>
            <a:endParaRPr lang="en-US" dirty="0"/>
          </a:p>
        </p:txBody>
      </p:sp>
      <p:pic>
        <p:nvPicPr>
          <p:cNvPr id="5" name="图片 4"/>
          <p:cNvPicPr/>
          <p:nvPr/>
        </p:nvPicPr>
        <p:blipFill>
          <a:blip r:embed="rId3"/>
          <a:stretch>
            <a:fillRect/>
          </a:stretch>
        </p:blipFill>
        <p:spPr>
          <a:xfrm>
            <a:off x="1031979" y="2097641"/>
            <a:ext cx="7207250" cy="4324284"/>
          </a:xfrm>
          <a:prstGeom prst="rect">
            <a:avLst/>
          </a:prstGeom>
        </p:spPr>
      </p:pic>
      <p:sp>
        <p:nvSpPr>
          <p:cNvPr id="6" name="矩形 5"/>
          <p:cNvSpPr/>
          <p:nvPr/>
        </p:nvSpPr>
        <p:spPr>
          <a:xfrm>
            <a:off x="1031979" y="6118397"/>
            <a:ext cx="1181100" cy="28574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829779" y="3147415"/>
            <a:ext cx="2255803" cy="3139321"/>
          </a:xfrm>
          <a:prstGeom prst="rect">
            <a:avLst/>
          </a:prstGeom>
          <a:noFill/>
          <a:ln>
            <a:solidFill>
              <a:srgbClr val="FF0000"/>
            </a:solidFill>
          </a:ln>
        </p:spPr>
        <p:txBody>
          <a:bodyPr wrap="square" rtlCol="0">
            <a:spAutoFit/>
          </a:bodyPr>
          <a:lstStyle/>
          <a:p>
            <a:r>
              <a:rPr lang="zh-CN" altLang="zh-CN" b="1" dirty="0"/>
              <a:t>由输出结果可知，数据集中共有</a:t>
            </a:r>
            <a:r>
              <a:rPr lang="en-US" altLang="zh-CN" b="1" dirty="0"/>
              <a:t>4262</a:t>
            </a:r>
            <a:r>
              <a:rPr lang="zh-CN" altLang="zh-CN" b="1" dirty="0"/>
              <a:t>条含有缺失值的记录，占所有记录数量的</a:t>
            </a:r>
            <a:r>
              <a:rPr lang="en-US" altLang="zh-CN" b="1" dirty="0"/>
              <a:t>13%</a:t>
            </a:r>
            <a:r>
              <a:rPr lang="zh-CN" altLang="zh-CN" b="1" dirty="0"/>
              <a:t>，若直接删除含有缺失值的记录会损失很多信息，且因为缺失列都为分类变量，在本例中采用众数进行缺失值填充是一种比较合适的方法。</a:t>
            </a:r>
            <a:endParaRPr lang="zh-CN" altLang="en-US" b="1" dirty="0"/>
          </a:p>
        </p:txBody>
      </p:sp>
      <p:cxnSp>
        <p:nvCxnSpPr>
          <p:cNvPr id="9" name="直接箭头连接符 8"/>
          <p:cNvCxnSpPr>
            <a:stCxn id="6" idx="3"/>
            <a:endCxn id="7" idx="1"/>
          </p:cNvCxnSpPr>
          <p:nvPr/>
        </p:nvCxnSpPr>
        <p:spPr>
          <a:xfrm flipV="1">
            <a:off x="2213079" y="4717076"/>
            <a:ext cx="6616700" cy="154419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494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数据清理：缺失值处理</a:t>
            </a:r>
            <a:endParaRPr lang="en-US" dirty="0"/>
          </a:p>
        </p:txBody>
      </p:sp>
      <p:sp>
        <p:nvSpPr>
          <p:cNvPr id="3" name="Content Placeholder 2"/>
          <p:cNvSpPr>
            <a:spLocks noGrp="1"/>
          </p:cNvSpPr>
          <p:nvPr>
            <p:ph sz="half" idx="1"/>
          </p:nvPr>
        </p:nvSpPr>
        <p:spPr/>
        <p:txBody>
          <a:bodyPr>
            <a:normAutofit/>
          </a:bodyPr>
          <a:lstStyle/>
          <a:p>
            <a:pPr marL="457200" indent="-457200">
              <a:buFont typeface="+mj-ea"/>
              <a:buAutoNum type="circleNumDbPlain" startAt="2"/>
            </a:pPr>
            <a:r>
              <a:rPr lang="zh-CN" altLang="zh-CN" b="1" dirty="0"/>
              <a:t>利用</a:t>
            </a:r>
            <a:r>
              <a:rPr lang="en-US" altLang="zh-CN" b="1" dirty="0"/>
              <a:t>pandas</a:t>
            </a:r>
            <a:r>
              <a:rPr lang="zh-CN" altLang="zh-CN" b="1" dirty="0"/>
              <a:t>的</a:t>
            </a:r>
            <a:r>
              <a:rPr lang="en-US" altLang="zh-CN" b="1" dirty="0" err="1"/>
              <a:t>fillna</a:t>
            </a:r>
            <a:r>
              <a:rPr lang="en-US" altLang="zh-CN" b="1" dirty="0"/>
              <a:t>()</a:t>
            </a:r>
            <a:r>
              <a:rPr lang="zh-CN" altLang="zh-CN" b="1" dirty="0"/>
              <a:t>方法填充缺失值。</a:t>
            </a:r>
            <a:endParaRPr lang="en-US" sz="2200" dirty="0"/>
          </a:p>
        </p:txBody>
      </p:sp>
      <p:sp>
        <p:nvSpPr>
          <p:cNvPr id="5" name="内容占位符 4"/>
          <p:cNvSpPr>
            <a:spLocks noGrp="1"/>
          </p:cNvSpPr>
          <p:nvPr>
            <p:ph sz="half" idx="2"/>
          </p:nvPr>
        </p:nvSpPr>
        <p:spPr>
          <a:xfrm>
            <a:off x="6424663" y="1567197"/>
            <a:ext cx="4914900" cy="495299"/>
          </a:xfrm>
        </p:spPr>
        <p:txBody>
          <a:bodyPr/>
          <a:lstStyle/>
          <a:p>
            <a:r>
              <a:rPr lang="zh-CN" altLang="en-US" dirty="0"/>
              <a:t>处理后检查：</a:t>
            </a:r>
            <a:endParaRPr lang="en-US" altLang="zh-CN" dirty="0"/>
          </a:p>
        </p:txBody>
      </p:sp>
      <p:pic>
        <p:nvPicPr>
          <p:cNvPr id="9" name="Picture 8">
            <a:extLst>
              <a:ext uri="{FF2B5EF4-FFF2-40B4-BE49-F238E27FC236}">
                <a16:creationId xmlns:a16="http://schemas.microsoft.com/office/drawing/2014/main" id="{171AC0F9-2C0B-E512-7119-29D3DB3631FB}"/>
              </a:ext>
            </a:extLst>
          </p:cNvPr>
          <p:cNvPicPr>
            <a:picLocks noChangeAspect="1"/>
          </p:cNvPicPr>
          <p:nvPr/>
        </p:nvPicPr>
        <p:blipFill>
          <a:blip r:embed="rId3"/>
          <a:stretch>
            <a:fillRect/>
          </a:stretch>
        </p:blipFill>
        <p:spPr>
          <a:xfrm>
            <a:off x="490538" y="2062496"/>
            <a:ext cx="3987800" cy="1968500"/>
          </a:xfrm>
          <a:prstGeom prst="rect">
            <a:avLst/>
          </a:prstGeom>
        </p:spPr>
      </p:pic>
      <p:pic>
        <p:nvPicPr>
          <p:cNvPr id="10" name="Picture 9">
            <a:extLst>
              <a:ext uri="{FF2B5EF4-FFF2-40B4-BE49-F238E27FC236}">
                <a16:creationId xmlns:a16="http://schemas.microsoft.com/office/drawing/2014/main" id="{979C913E-B690-1F04-DC06-0BBA98CEDADD}"/>
              </a:ext>
            </a:extLst>
          </p:cNvPr>
          <p:cNvPicPr>
            <a:picLocks noChangeAspect="1"/>
          </p:cNvPicPr>
          <p:nvPr/>
        </p:nvPicPr>
        <p:blipFill>
          <a:blip r:embed="rId4"/>
          <a:stretch>
            <a:fillRect/>
          </a:stretch>
        </p:blipFill>
        <p:spPr>
          <a:xfrm>
            <a:off x="376749" y="4373678"/>
            <a:ext cx="7040880" cy="1093304"/>
          </a:xfrm>
          <a:prstGeom prst="rect">
            <a:avLst/>
          </a:prstGeom>
        </p:spPr>
      </p:pic>
      <p:pic>
        <p:nvPicPr>
          <p:cNvPr id="11" name="Picture 10">
            <a:extLst>
              <a:ext uri="{FF2B5EF4-FFF2-40B4-BE49-F238E27FC236}">
                <a16:creationId xmlns:a16="http://schemas.microsoft.com/office/drawing/2014/main" id="{D375D9FE-9E83-C437-89F3-B48478F819B9}"/>
              </a:ext>
            </a:extLst>
          </p:cNvPr>
          <p:cNvPicPr>
            <a:picLocks noChangeAspect="1"/>
          </p:cNvPicPr>
          <p:nvPr/>
        </p:nvPicPr>
        <p:blipFill>
          <a:blip r:embed="rId5"/>
          <a:stretch>
            <a:fillRect/>
          </a:stretch>
        </p:blipFill>
        <p:spPr>
          <a:xfrm>
            <a:off x="6950443" y="2062496"/>
            <a:ext cx="5080000" cy="4076700"/>
          </a:xfrm>
          <a:prstGeom prst="rect">
            <a:avLst/>
          </a:prstGeom>
        </p:spPr>
      </p:pic>
      <p:sp>
        <p:nvSpPr>
          <p:cNvPr id="7" name="文本框 6"/>
          <p:cNvSpPr txBox="1"/>
          <p:nvPr/>
        </p:nvSpPr>
        <p:spPr>
          <a:xfrm>
            <a:off x="10653564" y="3886199"/>
            <a:ext cx="958781" cy="646331"/>
          </a:xfrm>
          <a:prstGeom prst="rect">
            <a:avLst/>
          </a:prstGeom>
          <a:noFill/>
          <a:ln>
            <a:solidFill>
              <a:srgbClr val="FF0000"/>
            </a:solidFill>
          </a:ln>
        </p:spPr>
        <p:txBody>
          <a:bodyPr wrap="square" rtlCol="0">
            <a:spAutoFit/>
          </a:bodyPr>
          <a:lstStyle/>
          <a:p>
            <a:r>
              <a:rPr lang="zh-CN" altLang="en-US" b="1" dirty="0"/>
              <a:t>不存在缺失值</a:t>
            </a:r>
          </a:p>
        </p:txBody>
      </p:sp>
    </p:spTree>
    <p:extLst>
      <p:ext uri="{BB962C8B-B14F-4D97-AF65-F5344CB8AC3E}">
        <p14:creationId xmlns:p14="http://schemas.microsoft.com/office/powerpoint/2010/main" val="164978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数据清理：重复值处理</a:t>
            </a:r>
            <a:endParaRPr lang="en-US" dirty="0"/>
          </a:p>
        </p:txBody>
      </p:sp>
      <p:sp>
        <p:nvSpPr>
          <p:cNvPr id="3" name="Content Placeholder 2"/>
          <p:cNvSpPr>
            <a:spLocks noGrp="1"/>
          </p:cNvSpPr>
          <p:nvPr>
            <p:ph sz="half" idx="1"/>
          </p:nvPr>
        </p:nvSpPr>
        <p:spPr/>
        <p:txBody>
          <a:bodyPr>
            <a:normAutofit/>
          </a:bodyPr>
          <a:lstStyle/>
          <a:p>
            <a:r>
              <a:rPr lang="zh-CN" altLang="zh-CN" dirty="0"/>
              <a:t>通过</a:t>
            </a:r>
            <a:r>
              <a:rPr lang="en-US" altLang="zh-CN" dirty="0"/>
              <a:t>pandas</a:t>
            </a:r>
            <a:r>
              <a:rPr lang="zh-CN" altLang="zh-CN" dirty="0"/>
              <a:t>的</a:t>
            </a:r>
            <a:r>
              <a:rPr lang="en-US" altLang="zh-CN" dirty="0"/>
              <a:t>duplicated()</a:t>
            </a:r>
            <a:r>
              <a:rPr lang="zh-CN" altLang="zh-CN" dirty="0"/>
              <a:t>方法判断数据集中是否存在重复值。</a:t>
            </a:r>
          </a:p>
          <a:p>
            <a:r>
              <a:rPr lang="zh-CN" altLang="zh-CN" dirty="0"/>
              <a:t>代码如下：</a:t>
            </a:r>
          </a:p>
          <a:p>
            <a:pPr marL="0" indent="0">
              <a:buNone/>
            </a:pPr>
            <a:endParaRPr lang="en-US" sz="2200" dirty="0"/>
          </a:p>
        </p:txBody>
      </p:sp>
      <p:sp>
        <p:nvSpPr>
          <p:cNvPr id="5" name="内容占位符 4"/>
          <p:cNvSpPr>
            <a:spLocks noGrp="1"/>
          </p:cNvSpPr>
          <p:nvPr>
            <p:ph sz="half" idx="2"/>
          </p:nvPr>
        </p:nvSpPr>
        <p:spPr/>
        <p:txBody>
          <a:bodyPr/>
          <a:lstStyle/>
          <a:p>
            <a:r>
              <a:rPr lang="zh-CN" altLang="en-US" dirty="0"/>
              <a:t>输出如下：</a:t>
            </a:r>
            <a:endParaRPr lang="en-US" altLang="zh-CN" dirty="0"/>
          </a:p>
          <a:p>
            <a:pPr marL="0" indent="0">
              <a:buNone/>
            </a:pPr>
            <a:endParaRPr lang="zh-CN" altLang="en-US" dirty="0"/>
          </a:p>
        </p:txBody>
      </p:sp>
      <p:sp>
        <p:nvSpPr>
          <p:cNvPr id="7" name="文本框 6"/>
          <p:cNvSpPr txBox="1"/>
          <p:nvPr/>
        </p:nvSpPr>
        <p:spPr>
          <a:xfrm>
            <a:off x="1062751" y="3963459"/>
            <a:ext cx="2499599" cy="1882823"/>
          </a:xfrm>
          <a:prstGeom prst="rect">
            <a:avLst/>
          </a:prstGeom>
          <a:noFill/>
        </p:spPr>
        <p:txBody>
          <a:bodyPr wrap="square" rtlCol="0">
            <a:spAutoFit/>
          </a:bodyPr>
          <a:lstStyle/>
          <a:p>
            <a:pPr>
              <a:lnSpc>
                <a:spcPct val="150000"/>
              </a:lnSpc>
            </a:pPr>
            <a:r>
              <a:rPr lang="zh-CN" altLang="en-US" sz="2000" dirty="0"/>
              <a:t>由</a:t>
            </a:r>
            <a:r>
              <a:rPr lang="zh-CN" altLang="zh-CN" sz="2000" dirty="0"/>
              <a:t>输出结果可知，数据集中不存在重复记录，因此不用进行重复值处理。</a:t>
            </a:r>
            <a:endParaRPr lang="zh-CN" altLang="en-US" sz="2000" dirty="0"/>
          </a:p>
        </p:txBody>
      </p:sp>
      <p:pic>
        <p:nvPicPr>
          <p:cNvPr id="8" name="Picture 7">
            <a:extLst>
              <a:ext uri="{FF2B5EF4-FFF2-40B4-BE49-F238E27FC236}">
                <a16:creationId xmlns:a16="http://schemas.microsoft.com/office/drawing/2014/main" id="{AD86F82D-2B9D-9D24-AC96-97573B75A4BD}"/>
              </a:ext>
            </a:extLst>
          </p:cNvPr>
          <p:cNvPicPr>
            <a:picLocks noChangeAspect="1"/>
          </p:cNvPicPr>
          <p:nvPr/>
        </p:nvPicPr>
        <p:blipFill>
          <a:blip r:embed="rId3"/>
          <a:stretch>
            <a:fillRect/>
          </a:stretch>
        </p:blipFill>
        <p:spPr>
          <a:xfrm>
            <a:off x="3972560" y="2097880"/>
            <a:ext cx="4826000" cy="2400300"/>
          </a:xfrm>
          <a:prstGeom prst="rect">
            <a:avLst/>
          </a:prstGeom>
        </p:spPr>
      </p:pic>
      <p:pic>
        <p:nvPicPr>
          <p:cNvPr id="9" name="Picture 8">
            <a:extLst>
              <a:ext uri="{FF2B5EF4-FFF2-40B4-BE49-F238E27FC236}">
                <a16:creationId xmlns:a16="http://schemas.microsoft.com/office/drawing/2014/main" id="{C4E85608-518F-0B5A-3EE8-66984A1ED9A7}"/>
              </a:ext>
            </a:extLst>
          </p:cNvPr>
          <p:cNvPicPr>
            <a:picLocks noChangeAspect="1"/>
          </p:cNvPicPr>
          <p:nvPr/>
        </p:nvPicPr>
        <p:blipFill>
          <a:blip r:embed="rId4"/>
          <a:stretch>
            <a:fillRect/>
          </a:stretch>
        </p:blipFill>
        <p:spPr>
          <a:xfrm>
            <a:off x="3972560" y="4625179"/>
            <a:ext cx="7467600" cy="2044700"/>
          </a:xfrm>
          <a:prstGeom prst="rect">
            <a:avLst/>
          </a:prstGeom>
        </p:spPr>
      </p:pic>
    </p:spTree>
    <p:extLst>
      <p:ext uri="{BB962C8B-B14F-4D97-AF65-F5344CB8AC3E}">
        <p14:creationId xmlns:p14="http://schemas.microsoft.com/office/powerpoint/2010/main" val="285022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F927C-B8FF-61DB-8355-3C69DFFD04EE}"/>
              </a:ext>
            </a:extLst>
          </p:cNvPr>
          <p:cNvSpPr>
            <a:spLocks noGrp="1"/>
          </p:cNvSpPr>
          <p:nvPr>
            <p:ph type="title"/>
          </p:nvPr>
        </p:nvSpPr>
        <p:spPr/>
        <p:txBody>
          <a:bodyPr/>
          <a:lstStyle/>
          <a:p>
            <a:r>
              <a:rPr lang="zh-CN" altLang="en-US" b="1" dirty="0">
                <a:hlinkClick r:id="rId2"/>
              </a:rPr>
              <a:t>（</a:t>
            </a:r>
            <a:r>
              <a:rPr lang="en-US" altLang="zh-CN" b="1" dirty="0">
                <a:hlinkClick r:id="rId2"/>
              </a:rPr>
              <a:t>3</a:t>
            </a:r>
            <a:r>
              <a:rPr lang="zh-CN" altLang="en-US" b="1" dirty="0">
                <a:hlinkClick r:id="rId2"/>
              </a:rPr>
              <a:t>）重复值处理</a:t>
            </a:r>
            <a:endParaRPr kumimoji="1" lang="zh-CN" altLang="en-US" dirty="0"/>
          </a:p>
        </p:txBody>
      </p:sp>
      <p:pic>
        <p:nvPicPr>
          <p:cNvPr id="3" name="Picture 2">
            <a:extLst>
              <a:ext uri="{FF2B5EF4-FFF2-40B4-BE49-F238E27FC236}">
                <a16:creationId xmlns:a16="http://schemas.microsoft.com/office/drawing/2014/main" id="{EF91F396-7BD0-D677-BE19-928E46A3B348}"/>
              </a:ext>
            </a:extLst>
          </p:cNvPr>
          <p:cNvPicPr>
            <a:picLocks noChangeAspect="1"/>
          </p:cNvPicPr>
          <p:nvPr/>
        </p:nvPicPr>
        <p:blipFill>
          <a:blip r:embed="rId3"/>
          <a:stretch>
            <a:fillRect/>
          </a:stretch>
        </p:blipFill>
        <p:spPr>
          <a:xfrm>
            <a:off x="789940" y="1181100"/>
            <a:ext cx="7759700" cy="4292600"/>
          </a:xfrm>
          <a:prstGeom prst="rect">
            <a:avLst/>
          </a:prstGeom>
        </p:spPr>
      </p:pic>
      <p:pic>
        <p:nvPicPr>
          <p:cNvPr id="4" name="Picture 3">
            <a:extLst>
              <a:ext uri="{FF2B5EF4-FFF2-40B4-BE49-F238E27FC236}">
                <a16:creationId xmlns:a16="http://schemas.microsoft.com/office/drawing/2014/main" id="{6AB37B97-79A5-1256-3961-23FFDD4C4E5F}"/>
              </a:ext>
            </a:extLst>
          </p:cNvPr>
          <p:cNvPicPr>
            <a:picLocks noChangeAspect="1"/>
          </p:cNvPicPr>
          <p:nvPr/>
        </p:nvPicPr>
        <p:blipFill>
          <a:blip r:embed="rId4"/>
          <a:stretch>
            <a:fillRect/>
          </a:stretch>
        </p:blipFill>
        <p:spPr>
          <a:xfrm>
            <a:off x="6621780" y="4457700"/>
            <a:ext cx="5410200" cy="2324100"/>
          </a:xfrm>
          <a:prstGeom prst="rect">
            <a:avLst/>
          </a:prstGeom>
        </p:spPr>
      </p:pic>
    </p:spTree>
    <p:extLst>
      <p:ext uri="{BB962C8B-B14F-4D97-AF65-F5344CB8AC3E}">
        <p14:creationId xmlns:p14="http://schemas.microsoft.com/office/powerpoint/2010/main" val="1188342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hlinkClick r:id="rId3"/>
              </a:rPr>
              <a:t>14.5.2 </a:t>
            </a:r>
            <a:r>
              <a:rPr lang="zh-CN" altLang="en-US" b="1" dirty="0">
                <a:hlinkClick r:id="rId3"/>
              </a:rPr>
              <a:t>数据转换</a:t>
            </a:r>
            <a:endParaRPr lang="zh-CN" altLang="en-US" b="1" dirty="0"/>
          </a:p>
        </p:txBody>
      </p:sp>
      <p:sp>
        <p:nvSpPr>
          <p:cNvPr id="3" name="Content Placeholder 2"/>
          <p:cNvSpPr>
            <a:spLocks noGrp="1"/>
          </p:cNvSpPr>
          <p:nvPr>
            <p:ph sz="half" idx="1"/>
          </p:nvPr>
        </p:nvSpPr>
        <p:spPr>
          <a:xfrm>
            <a:off x="1104900" y="1600200"/>
            <a:ext cx="9980682" cy="4571999"/>
          </a:xfrm>
        </p:spPr>
        <p:txBody>
          <a:bodyPr>
            <a:normAutofit/>
          </a:bodyPr>
          <a:lstStyle/>
          <a:p>
            <a:pPr marL="0" indent="0">
              <a:buNone/>
            </a:pPr>
            <a:r>
              <a:rPr lang="zh-CN" altLang="zh-CN" dirty="0"/>
              <a:t>在本例中，</a:t>
            </a:r>
            <a:r>
              <a:rPr lang="en-US" altLang="zh-CN" dirty="0" err="1"/>
              <a:t>fnlwgt</a:t>
            </a:r>
            <a:r>
              <a:rPr lang="zh-CN" altLang="zh-CN" dirty="0"/>
              <a:t>（最终权重法值）属性可删除，</a:t>
            </a:r>
            <a:r>
              <a:rPr lang="en-US" altLang="zh-CN" dirty="0"/>
              <a:t>age</a:t>
            </a:r>
            <a:r>
              <a:rPr lang="zh-CN" altLang="zh-CN" dirty="0"/>
              <a:t>可划分为等宽区间。删除</a:t>
            </a:r>
            <a:r>
              <a:rPr lang="en-US" altLang="zh-CN" dirty="0" err="1"/>
              <a:t>fnlwht</a:t>
            </a:r>
            <a:r>
              <a:rPr lang="zh-CN" altLang="zh-CN" dirty="0"/>
              <a:t>属性列及</a:t>
            </a:r>
            <a:r>
              <a:rPr lang="en-US" altLang="zh-CN" dirty="0"/>
              <a:t>age</a:t>
            </a:r>
            <a:r>
              <a:rPr lang="zh-CN" altLang="zh-CN" dirty="0"/>
              <a:t>属性离散化代码如下：</a:t>
            </a:r>
            <a:endParaRPr lang="en-US" altLang="zh-CN" dirty="0"/>
          </a:p>
          <a:p>
            <a:pPr marL="0" indent="0">
              <a:buNone/>
            </a:pPr>
            <a:endParaRPr lang="zh-CN" altLang="zh-CN" dirty="0"/>
          </a:p>
          <a:p>
            <a:pPr marL="0" indent="0">
              <a:buNone/>
            </a:pPr>
            <a:endParaRPr lang="en-US" sz="2200" dirty="0"/>
          </a:p>
        </p:txBody>
      </p:sp>
      <p:sp>
        <p:nvSpPr>
          <p:cNvPr id="8" name="TextBox 7">
            <a:extLst>
              <a:ext uri="{FF2B5EF4-FFF2-40B4-BE49-F238E27FC236}">
                <a16:creationId xmlns:a16="http://schemas.microsoft.com/office/drawing/2014/main" id="{B35C2A4E-F3C0-F610-15DF-AEE04F9C5AC7}"/>
              </a:ext>
            </a:extLst>
          </p:cNvPr>
          <p:cNvSpPr txBox="1"/>
          <p:nvPr/>
        </p:nvSpPr>
        <p:spPr>
          <a:xfrm>
            <a:off x="1280160" y="2384475"/>
            <a:ext cx="9712960" cy="646331"/>
          </a:xfrm>
          <a:prstGeom prst="rect">
            <a:avLst/>
          </a:prstGeom>
          <a:noFill/>
        </p:spPr>
        <p:txBody>
          <a:bodyPr wrap="square">
            <a:spAutoFit/>
          </a:bodyPr>
          <a:lstStyle/>
          <a:p>
            <a:pPr algn="l">
              <a:buFont typeface="Arial" panose="020B0604020202020204" pitchFamily="34" charset="0"/>
              <a:buChar char="•"/>
            </a:pPr>
            <a:r>
              <a:rPr lang="zh-CN" altLang="en-US" sz="1800" b="1" i="0" dirty="0">
                <a:solidFill>
                  <a:srgbClr val="262625"/>
                </a:solidFill>
                <a:effectLst/>
                <a:latin typeface="Times New Roman" panose="02020603050405020304" pitchFamily="18" charset="0"/>
              </a:rPr>
              <a:t>删除无关属性</a:t>
            </a:r>
            <a:r>
              <a:rPr lang="zh-CN" altLang="en-US" sz="1800" b="0" i="0" dirty="0">
                <a:solidFill>
                  <a:srgbClr val="262625"/>
                </a:solidFill>
                <a:effectLst/>
                <a:latin typeface="Times New Roman" panose="02020603050405020304" pitchFamily="18" charset="0"/>
              </a:rPr>
              <a:t>：数据集中，</a:t>
            </a:r>
            <a:r>
              <a:rPr lang="en-US" sz="1800" b="0" i="0" dirty="0" err="1">
                <a:solidFill>
                  <a:srgbClr val="6E6B5E"/>
                </a:solidFill>
                <a:effectLst/>
                <a:latin typeface="Courier New" panose="02070309020205020404" pitchFamily="49" charset="0"/>
              </a:rPr>
              <a:t>fnlwgt</a:t>
            </a:r>
            <a:r>
              <a:rPr lang="en-US" sz="1800" b="0" i="0" dirty="0">
                <a:solidFill>
                  <a:srgbClr val="262625"/>
                </a:solidFill>
                <a:effectLst/>
                <a:latin typeface="Times New Roman" panose="02020603050405020304" pitchFamily="18" charset="0"/>
              </a:rPr>
              <a:t>（</a:t>
            </a:r>
            <a:r>
              <a:rPr lang="zh-CN" altLang="en-US" sz="1800" b="0" i="0" dirty="0">
                <a:solidFill>
                  <a:srgbClr val="262625"/>
                </a:solidFill>
                <a:effectLst/>
                <a:latin typeface="Times New Roman" panose="02020603050405020304" pitchFamily="18" charset="0"/>
              </a:rPr>
              <a:t>最终权重法值）对于收入分类预测无直接关系，可删除以简化数据集。</a:t>
            </a:r>
          </a:p>
        </p:txBody>
      </p:sp>
      <p:pic>
        <p:nvPicPr>
          <p:cNvPr id="9" name="Picture 8">
            <a:extLst>
              <a:ext uri="{FF2B5EF4-FFF2-40B4-BE49-F238E27FC236}">
                <a16:creationId xmlns:a16="http://schemas.microsoft.com/office/drawing/2014/main" id="{B528A875-EA40-3254-4201-2E4C81766400}"/>
              </a:ext>
            </a:extLst>
          </p:cNvPr>
          <p:cNvPicPr>
            <a:picLocks noChangeAspect="1"/>
          </p:cNvPicPr>
          <p:nvPr/>
        </p:nvPicPr>
        <p:blipFill>
          <a:blip r:embed="rId4"/>
          <a:stretch>
            <a:fillRect/>
          </a:stretch>
        </p:blipFill>
        <p:spPr>
          <a:xfrm>
            <a:off x="2209041" y="3457844"/>
            <a:ext cx="7772400" cy="1905247"/>
          </a:xfrm>
          <a:prstGeom prst="rect">
            <a:avLst/>
          </a:prstGeom>
        </p:spPr>
      </p:pic>
    </p:spTree>
    <p:extLst>
      <p:ext uri="{BB962C8B-B14F-4D97-AF65-F5344CB8AC3E}">
        <p14:creationId xmlns:p14="http://schemas.microsoft.com/office/powerpoint/2010/main" val="357970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hlinkClick r:id="rId3"/>
              </a:rPr>
              <a:t>14.5.2 </a:t>
            </a:r>
            <a:r>
              <a:rPr lang="zh-CN" altLang="en-US" b="1" dirty="0">
                <a:hlinkClick r:id="rId3"/>
              </a:rPr>
              <a:t>数据转换</a:t>
            </a:r>
            <a:endParaRPr lang="en-US" dirty="0"/>
          </a:p>
        </p:txBody>
      </p:sp>
      <p:sp>
        <p:nvSpPr>
          <p:cNvPr id="12" name="TextBox 11">
            <a:extLst>
              <a:ext uri="{FF2B5EF4-FFF2-40B4-BE49-F238E27FC236}">
                <a16:creationId xmlns:a16="http://schemas.microsoft.com/office/drawing/2014/main" id="{2418DFB0-B41C-6A2B-403C-36AEF7F9D2CE}"/>
              </a:ext>
            </a:extLst>
          </p:cNvPr>
          <p:cNvSpPr txBox="1"/>
          <p:nvPr/>
        </p:nvSpPr>
        <p:spPr>
          <a:xfrm>
            <a:off x="1104900" y="1423015"/>
            <a:ext cx="10071100" cy="646331"/>
          </a:xfrm>
          <a:prstGeom prst="rect">
            <a:avLst/>
          </a:prstGeom>
          <a:noFill/>
        </p:spPr>
        <p:txBody>
          <a:bodyPr wrap="square">
            <a:spAutoFit/>
          </a:bodyPr>
          <a:lstStyle/>
          <a:p>
            <a:pPr marL="285750" indent="-285750">
              <a:buFont typeface="Arial" panose="020B0604020202020204" pitchFamily="34" charset="0"/>
              <a:buChar char="•"/>
            </a:pPr>
            <a:r>
              <a:rPr lang="zh-CN" altLang="en-US" b="1" i="0" dirty="0">
                <a:solidFill>
                  <a:srgbClr val="262625"/>
                </a:solidFill>
                <a:effectLst/>
                <a:latin typeface="Times New Roman" panose="02020603050405020304" pitchFamily="18" charset="0"/>
              </a:rPr>
              <a:t>离散化连续属性</a:t>
            </a:r>
            <a:r>
              <a:rPr lang="zh-CN" altLang="en-US" b="0" i="0" dirty="0">
                <a:solidFill>
                  <a:srgbClr val="262625"/>
                </a:solidFill>
                <a:effectLst/>
                <a:latin typeface="Times New Roman" panose="02020603050405020304" pitchFamily="18" charset="0"/>
              </a:rPr>
              <a:t>：可以将</a:t>
            </a:r>
            <a:r>
              <a:rPr lang="en-US" b="0" i="0" dirty="0">
                <a:solidFill>
                  <a:srgbClr val="6E6B5E"/>
                </a:solidFill>
                <a:effectLst/>
                <a:latin typeface="Courier New" panose="02070309020205020404" pitchFamily="49" charset="0"/>
              </a:rPr>
              <a:t>age</a:t>
            </a:r>
            <a:r>
              <a:rPr lang="zh-CN" altLang="en-US" b="0" i="0" dirty="0">
                <a:solidFill>
                  <a:srgbClr val="262625"/>
                </a:solidFill>
                <a:effectLst/>
                <a:latin typeface="Times New Roman" panose="02020603050405020304" pitchFamily="18" charset="0"/>
              </a:rPr>
              <a:t>分为等宽区间（如青年、中年、老年）或等频区间（如按人数分组），以简化数据并适应分类模型需求。</a:t>
            </a:r>
            <a:endParaRPr lang="zh-CN" altLang="en-US" dirty="0"/>
          </a:p>
        </p:txBody>
      </p:sp>
      <p:pic>
        <p:nvPicPr>
          <p:cNvPr id="13" name="Picture 12">
            <a:extLst>
              <a:ext uri="{FF2B5EF4-FFF2-40B4-BE49-F238E27FC236}">
                <a16:creationId xmlns:a16="http://schemas.microsoft.com/office/drawing/2014/main" id="{90076099-231B-A51B-D590-51680BF3ED7B}"/>
              </a:ext>
            </a:extLst>
          </p:cNvPr>
          <p:cNvPicPr>
            <a:picLocks noChangeAspect="1"/>
          </p:cNvPicPr>
          <p:nvPr/>
        </p:nvPicPr>
        <p:blipFill>
          <a:blip r:embed="rId4"/>
          <a:stretch>
            <a:fillRect/>
          </a:stretch>
        </p:blipFill>
        <p:spPr>
          <a:xfrm>
            <a:off x="2679700" y="2157730"/>
            <a:ext cx="6921500" cy="3822700"/>
          </a:xfrm>
          <a:prstGeom prst="rect">
            <a:avLst/>
          </a:prstGeom>
        </p:spPr>
      </p:pic>
    </p:spTree>
    <p:extLst>
      <p:ext uri="{BB962C8B-B14F-4D97-AF65-F5344CB8AC3E}">
        <p14:creationId xmlns:p14="http://schemas.microsoft.com/office/powerpoint/2010/main" val="2755266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hlinkClick r:id="rId3"/>
              </a:rPr>
              <a:t>14.5.2 </a:t>
            </a:r>
            <a:r>
              <a:rPr lang="zh-CN" altLang="en-US" b="1" dirty="0">
                <a:hlinkClick r:id="rId3"/>
              </a:rPr>
              <a:t>数据转换</a:t>
            </a:r>
            <a:endParaRPr lang="en-US" dirty="0"/>
          </a:p>
        </p:txBody>
      </p:sp>
      <p:sp>
        <p:nvSpPr>
          <p:cNvPr id="8" name="TextBox 7">
            <a:extLst>
              <a:ext uri="{FF2B5EF4-FFF2-40B4-BE49-F238E27FC236}">
                <a16:creationId xmlns:a16="http://schemas.microsoft.com/office/drawing/2014/main" id="{02AE94A9-2756-1468-72F1-D57B60111031}"/>
              </a:ext>
            </a:extLst>
          </p:cNvPr>
          <p:cNvSpPr txBox="1"/>
          <p:nvPr/>
        </p:nvSpPr>
        <p:spPr>
          <a:xfrm>
            <a:off x="1278890" y="1311255"/>
            <a:ext cx="9632702" cy="646331"/>
          </a:xfrm>
          <a:prstGeom prst="rect">
            <a:avLst/>
          </a:prstGeom>
          <a:noFill/>
        </p:spPr>
        <p:txBody>
          <a:bodyPr wrap="square">
            <a:spAutoFit/>
          </a:bodyPr>
          <a:lstStyle/>
          <a:p>
            <a:pPr marL="285750" indent="-285750" algn="l">
              <a:buFont typeface="Arial" panose="020B0604020202020204" pitchFamily="34" charset="0"/>
              <a:buChar char="•"/>
            </a:pPr>
            <a:r>
              <a:rPr lang="zh-CN" altLang="en-US" sz="1800" b="1" i="0" dirty="0">
                <a:solidFill>
                  <a:srgbClr val="262625"/>
                </a:solidFill>
                <a:effectLst/>
                <a:latin typeface="Times New Roman" panose="02020603050405020304" pitchFamily="18" charset="0"/>
              </a:rPr>
              <a:t>标准化数值型变量</a:t>
            </a:r>
            <a:r>
              <a:rPr lang="zh-CN" altLang="en-US" sz="1800" b="0" i="0" dirty="0">
                <a:solidFill>
                  <a:srgbClr val="262625"/>
                </a:solidFill>
                <a:effectLst/>
                <a:latin typeface="Times New Roman" panose="02020603050405020304" pitchFamily="18" charset="0"/>
              </a:rPr>
              <a:t>：对数值变量（如</a:t>
            </a:r>
            <a:r>
              <a:rPr lang="en-US" sz="1800" b="0" i="0" dirty="0">
                <a:solidFill>
                  <a:srgbClr val="6E6B5E"/>
                </a:solidFill>
                <a:effectLst/>
                <a:latin typeface="Courier New" panose="02070309020205020404" pitchFamily="49" charset="0"/>
              </a:rPr>
              <a:t>hours-per-week</a:t>
            </a:r>
            <a:r>
              <a:rPr lang="zh-CN" altLang="en-US" sz="1800" b="0" i="0" dirty="0">
                <a:solidFill>
                  <a:srgbClr val="262625"/>
                </a:solidFill>
                <a:effectLst/>
                <a:latin typeface="Times New Roman" panose="02020603050405020304" pitchFamily="18" charset="0"/>
              </a:rPr>
              <a:t>等）进行标准化处理，使用 </a:t>
            </a:r>
            <a:r>
              <a:rPr lang="en-US" sz="1800" b="0" i="0" dirty="0">
                <a:solidFill>
                  <a:srgbClr val="262625"/>
                </a:solidFill>
                <a:effectLst/>
                <a:latin typeface="Times New Roman" panose="02020603050405020304" pitchFamily="18" charset="0"/>
              </a:rPr>
              <a:t>Z-score </a:t>
            </a:r>
            <a:r>
              <a:rPr lang="zh-CN" altLang="en-US" sz="1800" b="0" i="0" dirty="0">
                <a:solidFill>
                  <a:srgbClr val="262625"/>
                </a:solidFill>
                <a:effectLst/>
                <a:latin typeface="Times New Roman" panose="02020603050405020304" pitchFamily="18" charset="0"/>
              </a:rPr>
              <a:t>标准化或 </a:t>
            </a:r>
            <a:r>
              <a:rPr lang="en-US" sz="1800" b="0" i="0" dirty="0">
                <a:solidFill>
                  <a:srgbClr val="262625"/>
                </a:solidFill>
                <a:effectLst/>
                <a:latin typeface="Times New Roman" panose="02020603050405020304" pitchFamily="18" charset="0"/>
              </a:rPr>
              <a:t>Min-Max </a:t>
            </a:r>
            <a:r>
              <a:rPr lang="zh-CN" altLang="en-US" sz="1800" b="0" i="0" dirty="0">
                <a:solidFill>
                  <a:srgbClr val="262625"/>
                </a:solidFill>
                <a:effectLst/>
                <a:latin typeface="Times New Roman" panose="02020603050405020304" pitchFamily="18" charset="0"/>
              </a:rPr>
              <a:t>归一化，使变量取值范围一致，避免因量级差异影响模型性能。</a:t>
            </a:r>
          </a:p>
        </p:txBody>
      </p:sp>
      <p:pic>
        <p:nvPicPr>
          <p:cNvPr id="9" name="Picture 8">
            <a:extLst>
              <a:ext uri="{FF2B5EF4-FFF2-40B4-BE49-F238E27FC236}">
                <a16:creationId xmlns:a16="http://schemas.microsoft.com/office/drawing/2014/main" id="{F1CAE77A-3C1C-832F-78E2-541FA7920262}"/>
              </a:ext>
            </a:extLst>
          </p:cNvPr>
          <p:cNvPicPr>
            <a:picLocks noChangeAspect="1"/>
          </p:cNvPicPr>
          <p:nvPr/>
        </p:nvPicPr>
        <p:blipFill>
          <a:blip r:embed="rId4"/>
          <a:stretch>
            <a:fillRect/>
          </a:stretch>
        </p:blipFill>
        <p:spPr>
          <a:xfrm>
            <a:off x="833121" y="2095679"/>
            <a:ext cx="7289800" cy="2349500"/>
          </a:xfrm>
          <a:prstGeom prst="rect">
            <a:avLst/>
          </a:prstGeom>
        </p:spPr>
      </p:pic>
      <p:pic>
        <p:nvPicPr>
          <p:cNvPr id="10" name="Picture 9">
            <a:extLst>
              <a:ext uri="{FF2B5EF4-FFF2-40B4-BE49-F238E27FC236}">
                <a16:creationId xmlns:a16="http://schemas.microsoft.com/office/drawing/2014/main" id="{1846F662-81B7-790A-EE1C-E6D4CBBE8372}"/>
              </a:ext>
            </a:extLst>
          </p:cNvPr>
          <p:cNvPicPr>
            <a:picLocks noChangeAspect="1"/>
          </p:cNvPicPr>
          <p:nvPr/>
        </p:nvPicPr>
        <p:blipFill>
          <a:blip r:embed="rId5"/>
          <a:stretch>
            <a:fillRect/>
          </a:stretch>
        </p:blipFill>
        <p:spPr>
          <a:xfrm>
            <a:off x="7713980" y="3845560"/>
            <a:ext cx="4140200" cy="2590800"/>
          </a:xfrm>
          <a:prstGeom prst="rect">
            <a:avLst/>
          </a:prstGeom>
        </p:spPr>
      </p:pic>
    </p:spTree>
    <p:extLst>
      <p:ext uri="{BB962C8B-B14F-4D97-AF65-F5344CB8AC3E}">
        <p14:creationId xmlns:p14="http://schemas.microsoft.com/office/powerpoint/2010/main" val="2667130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3DB6-72F9-36AF-3DE1-25D85D8BCD0A}"/>
              </a:ext>
            </a:extLst>
          </p:cNvPr>
          <p:cNvSpPr>
            <a:spLocks noGrp="1"/>
          </p:cNvSpPr>
          <p:nvPr>
            <p:ph type="title"/>
          </p:nvPr>
        </p:nvSpPr>
        <p:spPr/>
        <p:txBody>
          <a:bodyPr/>
          <a:lstStyle/>
          <a:p>
            <a:r>
              <a:rPr lang="en-US" altLang="zh-CN" b="1" dirty="0">
                <a:hlinkClick r:id="rId2"/>
              </a:rPr>
              <a:t>14.5.2 </a:t>
            </a:r>
            <a:r>
              <a:rPr lang="zh-CN" altLang="en-US" b="1" dirty="0">
                <a:hlinkClick r:id="rId2"/>
              </a:rPr>
              <a:t>数据转换</a:t>
            </a:r>
            <a:endParaRPr kumimoji="1" lang="zh-CN" altLang="en-US" dirty="0"/>
          </a:p>
        </p:txBody>
      </p:sp>
      <p:sp>
        <p:nvSpPr>
          <p:cNvPr id="4" name="TextBox 3">
            <a:extLst>
              <a:ext uri="{FF2B5EF4-FFF2-40B4-BE49-F238E27FC236}">
                <a16:creationId xmlns:a16="http://schemas.microsoft.com/office/drawing/2014/main" id="{DB2ECD63-BDAA-4B12-AE79-2CFF1E573E51}"/>
              </a:ext>
            </a:extLst>
          </p:cNvPr>
          <p:cNvSpPr txBox="1"/>
          <p:nvPr/>
        </p:nvSpPr>
        <p:spPr>
          <a:xfrm>
            <a:off x="965200" y="1459914"/>
            <a:ext cx="9886702" cy="646331"/>
          </a:xfrm>
          <a:prstGeom prst="rect">
            <a:avLst/>
          </a:prstGeom>
          <a:noFill/>
        </p:spPr>
        <p:txBody>
          <a:bodyPr wrap="square">
            <a:spAutoFit/>
          </a:bodyPr>
          <a:lstStyle/>
          <a:p>
            <a:pPr marL="285750" indent="-285750" algn="l">
              <a:buFont typeface="Arial" panose="020B0604020202020204" pitchFamily="34" charset="0"/>
              <a:buChar char="•"/>
            </a:pPr>
            <a:r>
              <a:rPr lang="zh-CN" altLang="en-US" sz="1800" b="1" i="0" dirty="0">
                <a:solidFill>
                  <a:srgbClr val="262625"/>
                </a:solidFill>
                <a:effectLst/>
                <a:latin typeface="Times New Roman" panose="02020603050405020304" pitchFamily="18" charset="0"/>
              </a:rPr>
              <a:t>合并稀疏类别</a:t>
            </a:r>
            <a:r>
              <a:rPr lang="zh-CN" altLang="en-US" sz="1800" b="0" i="0" dirty="0">
                <a:solidFill>
                  <a:srgbClr val="262625"/>
                </a:solidFill>
                <a:effectLst/>
                <a:latin typeface="Times New Roman" panose="02020603050405020304" pitchFamily="18" charset="0"/>
              </a:rPr>
              <a:t>：对于分类变量（如</a:t>
            </a:r>
            <a:r>
              <a:rPr lang="en-US" sz="1800" b="0" i="0" dirty="0">
                <a:solidFill>
                  <a:srgbClr val="6E6B5E"/>
                </a:solidFill>
                <a:effectLst/>
                <a:latin typeface="Courier New" panose="02070309020205020404" pitchFamily="49" charset="0"/>
              </a:rPr>
              <a:t>native-country</a:t>
            </a:r>
            <a:r>
              <a:rPr lang="en-US" sz="1800" b="0" i="0" dirty="0">
                <a:solidFill>
                  <a:srgbClr val="262625"/>
                </a:solidFill>
                <a:effectLst/>
                <a:latin typeface="Times New Roman" panose="02020603050405020304" pitchFamily="18" charset="0"/>
              </a:rPr>
              <a:t>），</a:t>
            </a:r>
            <a:r>
              <a:rPr lang="zh-CN" altLang="en-US" sz="1800" b="0" i="0" dirty="0">
                <a:solidFill>
                  <a:srgbClr val="262625"/>
                </a:solidFill>
                <a:effectLst/>
                <a:latin typeface="Times New Roman" panose="02020603050405020304" pitchFamily="18" charset="0"/>
              </a:rPr>
              <a:t>将频次较低的类别合并为 “</a:t>
            </a:r>
            <a:r>
              <a:rPr lang="en-US" sz="1800" b="0" i="0" dirty="0">
                <a:solidFill>
                  <a:srgbClr val="262625"/>
                </a:solidFill>
                <a:effectLst/>
                <a:latin typeface="Times New Roman" panose="02020603050405020304" pitchFamily="18" charset="0"/>
              </a:rPr>
              <a:t>Other”，</a:t>
            </a:r>
            <a:r>
              <a:rPr lang="zh-CN" altLang="en-US" sz="1800" b="0" i="0" dirty="0">
                <a:solidFill>
                  <a:srgbClr val="262625"/>
                </a:solidFill>
                <a:effectLst/>
                <a:latin typeface="Times New Roman" panose="02020603050405020304" pitchFamily="18" charset="0"/>
              </a:rPr>
              <a:t>以减少噪声并简化数据。</a:t>
            </a:r>
          </a:p>
        </p:txBody>
      </p:sp>
      <p:pic>
        <p:nvPicPr>
          <p:cNvPr id="5" name="Picture 4">
            <a:extLst>
              <a:ext uri="{FF2B5EF4-FFF2-40B4-BE49-F238E27FC236}">
                <a16:creationId xmlns:a16="http://schemas.microsoft.com/office/drawing/2014/main" id="{13476C1C-5669-E184-6E3D-10C4B9D47664}"/>
              </a:ext>
            </a:extLst>
          </p:cNvPr>
          <p:cNvPicPr>
            <a:picLocks noChangeAspect="1"/>
          </p:cNvPicPr>
          <p:nvPr/>
        </p:nvPicPr>
        <p:blipFill>
          <a:blip r:embed="rId3"/>
          <a:stretch>
            <a:fillRect/>
          </a:stretch>
        </p:blipFill>
        <p:spPr>
          <a:xfrm>
            <a:off x="3923030" y="1945640"/>
            <a:ext cx="7759700" cy="4660900"/>
          </a:xfrm>
          <a:prstGeom prst="rect">
            <a:avLst/>
          </a:prstGeom>
        </p:spPr>
      </p:pic>
    </p:spTree>
    <p:extLst>
      <p:ext uri="{BB962C8B-B14F-4D97-AF65-F5344CB8AC3E}">
        <p14:creationId xmlns:p14="http://schemas.microsoft.com/office/powerpoint/2010/main" val="3832599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C27B6-D62C-81BA-C62C-211E7DB494A1}"/>
              </a:ext>
            </a:extLst>
          </p:cNvPr>
          <p:cNvSpPr>
            <a:spLocks noGrp="1"/>
          </p:cNvSpPr>
          <p:nvPr>
            <p:ph type="title"/>
          </p:nvPr>
        </p:nvSpPr>
        <p:spPr/>
        <p:txBody>
          <a:bodyPr/>
          <a:lstStyle/>
          <a:p>
            <a:r>
              <a:rPr lang="en-US" altLang="zh-CN" b="1" dirty="0">
                <a:hlinkClick r:id="rId2"/>
              </a:rPr>
              <a:t>14.5.3 </a:t>
            </a:r>
            <a:r>
              <a:rPr lang="zh-CN" altLang="en-US" b="1" dirty="0">
                <a:hlinkClick r:id="rId2"/>
              </a:rPr>
              <a:t>探索性分析</a:t>
            </a:r>
            <a:endParaRPr kumimoji="1" lang="zh-CN" altLang="en-US" dirty="0"/>
          </a:p>
        </p:txBody>
      </p:sp>
      <p:sp>
        <p:nvSpPr>
          <p:cNvPr id="4" name="TextBox 3">
            <a:extLst>
              <a:ext uri="{FF2B5EF4-FFF2-40B4-BE49-F238E27FC236}">
                <a16:creationId xmlns:a16="http://schemas.microsoft.com/office/drawing/2014/main" id="{AC9D926D-E568-27D1-5EFB-5594A4B64CAA}"/>
              </a:ext>
            </a:extLst>
          </p:cNvPr>
          <p:cNvSpPr txBox="1"/>
          <p:nvPr/>
        </p:nvSpPr>
        <p:spPr>
          <a:xfrm>
            <a:off x="1104900" y="148665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3"/>
              </a:rPr>
              <a:t>（</a:t>
            </a:r>
            <a:r>
              <a:rPr lang="en-US" altLang="zh-CN" b="1" i="0" u="none" strike="noStrike" dirty="0">
                <a:solidFill>
                  <a:srgbClr val="262625"/>
                </a:solidFill>
                <a:effectLst/>
                <a:latin typeface="Open Sans" panose="020B0606030504020204" pitchFamily="34" charset="0"/>
                <a:hlinkClick r:id="rId3"/>
              </a:rPr>
              <a:t>1</a:t>
            </a:r>
            <a:r>
              <a:rPr lang="zh-CN" altLang="en-US" b="1" i="0" u="none" strike="noStrike" dirty="0">
                <a:solidFill>
                  <a:srgbClr val="262625"/>
                </a:solidFill>
                <a:effectLst/>
                <a:latin typeface="Open Sans" panose="020B0606030504020204" pitchFamily="34" charset="0"/>
                <a:hlinkClick r:id="rId3"/>
              </a:rPr>
              <a:t>）类别变量的频率分布</a:t>
            </a:r>
            <a:endParaRPr lang="zh-CN" altLang="en-US" b="1" i="0" dirty="0">
              <a:solidFill>
                <a:srgbClr val="262625"/>
              </a:solidFill>
              <a:effectLst/>
              <a:latin typeface="Open Sans" panose="020B0606030504020204" pitchFamily="34" charset="0"/>
            </a:endParaRPr>
          </a:p>
        </p:txBody>
      </p:sp>
      <p:pic>
        <p:nvPicPr>
          <p:cNvPr id="5" name="Picture 4">
            <a:extLst>
              <a:ext uri="{FF2B5EF4-FFF2-40B4-BE49-F238E27FC236}">
                <a16:creationId xmlns:a16="http://schemas.microsoft.com/office/drawing/2014/main" id="{D328D26D-57C7-1A4B-22BD-8E0D557CD95A}"/>
              </a:ext>
            </a:extLst>
          </p:cNvPr>
          <p:cNvPicPr>
            <a:picLocks noChangeAspect="1"/>
          </p:cNvPicPr>
          <p:nvPr/>
        </p:nvPicPr>
        <p:blipFill>
          <a:blip r:embed="rId4"/>
          <a:stretch>
            <a:fillRect/>
          </a:stretch>
        </p:blipFill>
        <p:spPr>
          <a:xfrm>
            <a:off x="4152900" y="589121"/>
            <a:ext cx="7772400" cy="1998617"/>
          </a:xfrm>
          <a:prstGeom prst="rect">
            <a:avLst/>
          </a:prstGeom>
        </p:spPr>
      </p:pic>
      <p:pic>
        <p:nvPicPr>
          <p:cNvPr id="7" name="Picture 6">
            <a:extLst>
              <a:ext uri="{FF2B5EF4-FFF2-40B4-BE49-F238E27FC236}">
                <a16:creationId xmlns:a16="http://schemas.microsoft.com/office/drawing/2014/main" id="{142615D3-5E92-5932-69D3-E7A6F896E522}"/>
              </a:ext>
            </a:extLst>
          </p:cNvPr>
          <p:cNvPicPr>
            <a:picLocks noChangeAspect="1"/>
          </p:cNvPicPr>
          <p:nvPr/>
        </p:nvPicPr>
        <p:blipFill>
          <a:blip r:embed="rId5"/>
          <a:stretch>
            <a:fillRect/>
          </a:stretch>
        </p:blipFill>
        <p:spPr>
          <a:xfrm>
            <a:off x="4820920" y="2895600"/>
            <a:ext cx="5537200" cy="3886200"/>
          </a:xfrm>
          <a:prstGeom prst="rect">
            <a:avLst/>
          </a:prstGeom>
        </p:spPr>
      </p:pic>
    </p:spTree>
    <p:extLst>
      <p:ext uri="{BB962C8B-B14F-4D97-AF65-F5344CB8AC3E}">
        <p14:creationId xmlns:p14="http://schemas.microsoft.com/office/powerpoint/2010/main" val="2232202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71D01-5CE3-B1D6-8F74-AEC09F183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726FF-2548-88C9-4D6A-1216327B9908}"/>
              </a:ext>
            </a:extLst>
          </p:cNvPr>
          <p:cNvSpPr>
            <a:spLocks noGrp="1"/>
          </p:cNvSpPr>
          <p:nvPr>
            <p:ph type="title"/>
          </p:nvPr>
        </p:nvSpPr>
        <p:spPr/>
        <p:txBody>
          <a:bodyPr/>
          <a:lstStyle/>
          <a:p>
            <a:r>
              <a:rPr lang="en-US" altLang="zh-CN" b="1" dirty="0">
                <a:hlinkClick r:id="rId2"/>
              </a:rPr>
              <a:t>14.5.3 </a:t>
            </a:r>
            <a:r>
              <a:rPr lang="zh-CN" altLang="en-US" b="1" dirty="0">
                <a:hlinkClick r:id="rId2"/>
              </a:rPr>
              <a:t>探索性分析</a:t>
            </a:r>
            <a:endParaRPr kumimoji="1" lang="zh-CN" altLang="en-US" dirty="0"/>
          </a:p>
        </p:txBody>
      </p:sp>
      <p:sp>
        <p:nvSpPr>
          <p:cNvPr id="6" name="TextBox 5">
            <a:extLst>
              <a:ext uri="{FF2B5EF4-FFF2-40B4-BE49-F238E27FC236}">
                <a16:creationId xmlns:a16="http://schemas.microsoft.com/office/drawing/2014/main" id="{CBD1F5B8-F2A1-0586-BED7-33664C56D6C5}"/>
              </a:ext>
            </a:extLst>
          </p:cNvPr>
          <p:cNvSpPr txBox="1"/>
          <p:nvPr/>
        </p:nvSpPr>
        <p:spPr>
          <a:xfrm>
            <a:off x="1104900" y="148665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3"/>
              </a:rPr>
              <a:t>（</a:t>
            </a:r>
            <a:r>
              <a:rPr lang="en-US" altLang="zh-CN" b="1" i="0" u="none" strike="noStrike" dirty="0">
                <a:solidFill>
                  <a:srgbClr val="262625"/>
                </a:solidFill>
                <a:effectLst/>
                <a:latin typeface="Open Sans" panose="020B0606030504020204" pitchFamily="34" charset="0"/>
                <a:hlinkClick r:id="rId3"/>
              </a:rPr>
              <a:t>2</a:t>
            </a:r>
            <a:r>
              <a:rPr lang="zh-CN" altLang="en-US" b="1" i="0" u="none" strike="noStrike" dirty="0">
                <a:solidFill>
                  <a:srgbClr val="262625"/>
                </a:solidFill>
                <a:effectLst/>
                <a:latin typeface="Open Sans" panose="020B0606030504020204" pitchFamily="34" charset="0"/>
                <a:hlinkClick r:id="rId3"/>
              </a:rPr>
              <a:t>）异常值检测</a:t>
            </a:r>
            <a:endParaRPr lang="zh-CN" altLang="en-US" b="1" i="0" dirty="0">
              <a:solidFill>
                <a:srgbClr val="262625"/>
              </a:solidFill>
              <a:effectLst/>
              <a:latin typeface="Open Sans" panose="020B0606030504020204" pitchFamily="34" charset="0"/>
            </a:endParaRPr>
          </a:p>
        </p:txBody>
      </p:sp>
      <p:pic>
        <p:nvPicPr>
          <p:cNvPr id="8" name="Picture 7">
            <a:extLst>
              <a:ext uri="{FF2B5EF4-FFF2-40B4-BE49-F238E27FC236}">
                <a16:creationId xmlns:a16="http://schemas.microsoft.com/office/drawing/2014/main" id="{741F86DA-8B4E-619E-13B0-FB13ED03150B}"/>
              </a:ext>
            </a:extLst>
          </p:cNvPr>
          <p:cNvPicPr>
            <a:picLocks noChangeAspect="1"/>
          </p:cNvPicPr>
          <p:nvPr/>
        </p:nvPicPr>
        <p:blipFill>
          <a:blip r:embed="rId4"/>
          <a:stretch>
            <a:fillRect/>
          </a:stretch>
        </p:blipFill>
        <p:spPr>
          <a:xfrm>
            <a:off x="685800" y="2436138"/>
            <a:ext cx="4724400" cy="2755900"/>
          </a:xfrm>
          <a:prstGeom prst="rect">
            <a:avLst/>
          </a:prstGeom>
        </p:spPr>
      </p:pic>
      <p:pic>
        <p:nvPicPr>
          <p:cNvPr id="9" name="Picture 8">
            <a:extLst>
              <a:ext uri="{FF2B5EF4-FFF2-40B4-BE49-F238E27FC236}">
                <a16:creationId xmlns:a16="http://schemas.microsoft.com/office/drawing/2014/main" id="{0BF96B18-8C78-FEDB-F6B1-0184F3820F6D}"/>
              </a:ext>
            </a:extLst>
          </p:cNvPr>
          <p:cNvPicPr>
            <a:picLocks noChangeAspect="1"/>
          </p:cNvPicPr>
          <p:nvPr/>
        </p:nvPicPr>
        <p:blipFill>
          <a:blip r:embed="rId5"/>
          <a:stretch>
            <a:fillRect/>
          </a:stretch>
        </p:blipFill>
        <p:spPr>
          <a:xfrm>
            <a:off x="5554980" y="2256831"/>
            <a:ext cx="6271260" cy="3114515"/>
          </a:xfrm>
          <a:prstGeom prst="rect">
            <a:avLst/>
          </a:prstGeom>
        </p:spPr>
      </p:pic>
    </p:spTree>
    <p:extLst>
      <p:ext uri="{BB962C8B-B14F-4D97-AF65-F5344CB8AC3E}">
        <p14:creationId xmlns:p14="http://schemas.microsoft.com/office/powerpoint/2010/main" val="196703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481B-7B30-81D2-1369-828490C1D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D28EA-6409-8EC1-E13F-0719D1A55CE3}"/>
              </a:ext>
            </a:extLst>
          </p:cNvPr>
          <p:cNvSpPr>
            <a:spLocks noGrp="1"/>
          </p:cNvSpPr>
          <p:nvPr>
            <p:ph type="title"/>
          </p:nvPr>
        </p:nvSpPr>
        <p:spPr/>
        <p:txBody>
          <a:bodyPr/>
          <a:lstStyle/>
          <a:p>
            <a:r>
              <a:rPr lang="en-US" altLang="zh-CN" b="1" dirty="0">
                <a:hlinkClick r:id="rId2"/>
              </a:rPr>
              <a:t>14.5.3 </a:t>
            </a:r>
            <a:r>
              <a:rPr lang="zh-CN" altLang="en-US" b="1" dirty="0">
                <a:hlinkClick r:id="rId2"/>
              </a:rPr>
              <a:t>探索性分析</a:t>
            </a:r>
            <a:endParaRPr kumimoji="1" lang="zh-CN" altLang="en-US" dirty="0"/>
          </a:p>
        </p:txBody>
      </p:sp>
      <p:sp>
        <p:nvSpPr>
          <p:cNvPr id="4" name="TextBox 3">
            <a:extLst>
              <a:ext uri="{FF2B5EF4-FFF2-40B4-BE49-F238E27FC236}">
                <a16:creationId xmlns:a16="http://schemas.microsoft.com/office/drawing/2014/main" id="{934DEF5E-AC9D-B9D7-5781-3CB15E98D2EA}"/>
              </a:ext>
            </a:extLst>
          </p:cNvPr>
          <p:cNvSpPr txBox="1"/>
          <p:nvPr/>
        </p:nvSpPr>
        <p:spPr>
          <a:xfrm>
            <a:off x="1104900" y="143585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3"/>
              </a:rPr>
              <a:t>（</a:t>
            </a:r>
            <a:r>
              <a:rPr lang="en-US" altLang="zh-CN" b="1" i="0" u="none" strike="noStrike" dirty="0">
                <a:solidFill>
                  <a:srgbClr val="262625"/>
                </a:solidFill>
                <a:effectLst/>
                <a:latin typeface="Open Sans" panose="020B0606030504020204" pitchFamily="34" charset="0"/>
                <a:hlinkClick r:id="rId3"/>
              </a:rPr>
              <a:t>3</a:t>
            </a:r>
            <a:r>
              <a:rPr lang="zh-CN" altLang="en-US" b="1" i="0" u="none" strike="noStrike" dirty="0">
                <a:solidFill>
                  <a:srgbClr val="262625"/>
                </a:solidFill>
                <a:effectLst/>
                <a:latin typeface="Open Sans" panose="020B0606030504020204" pitchFamily="34" charset="0"/>
                <a:hlinkClick r:id="rId3"/>
              </a:rPr>
              <a:t>）目标变量分布分析</a:t>
            </a:r>
            <a:endParaRPr lang="zh-CN" altLang="en-US" b="1" i="0" dirty="0">
              <a:solidFill>
                <a:srgbClr val="262625"/>
              </a:solidFill>
              <a:effectLst/>
              <a:latin typeface="Open Sans" panose="020B0606030504020204" pitchFamily="34" charset="0"/>
            </a:endParaRPr>
          </a:p>
        </p:txBody>
      </p:sp>
      <p:pic>
        <p:nvPicPr>
          <p:cNvPr id="5" name="Picture 4">
            <a:extLst>
              <a:ext uri="{FF2B5EF4-FFF2-40B4-BE49-F238E27FC236}">
                <a16:creationId xmlns:a16="http://schemas.microsoft.com/office/drawing/2014/main" id="{B9509D0D-61E2-3A94-D2E8-83E483C51608}"/>
              </a:ext>
            </a:extLst>
          </p:cNvPr>
          <p:cNvPicPr>
            <a:picLocks noChangeAspect="1"/>
          </p:cNvPicPr>
          <p:nvPr/>
        </p:nvPicPr>
        <p:blipFill>
          <a:blip r:embed="rId4"/>
          <a:stretch>
            <a:fillRect/>
          </a:stretch>
        </p:blipFill>
        <p:spPr>
          <a:xfrm>
            <a:off x="614680" y="2199958"/>
            <a:ext cx="7772400" cy="3827073"/>
          </a:xfrm>
          <a:prstGeom prst="rect">
            <a:avLst/>
          </a:prstGeom>
        </p:spPr>
      </p:pic>
      <p:pic>
        <p:nvPicPr>
          <p:cNvPr id="7" name="Picture 6">
            <a:extLst>
              <a:ext uri="{FF2B5EF4-FFF2-40B4-BE49-F238E27FC236}">
                <a16:creationId xmlns:a16="http://schemas.microsoft.com/office/drawing/2014/main" id="{CAC0E317-0843-0774-FD47-5306DCD2230C}"/>
              </a:ext>
            </a:extLst>
          </p:cNvPr>
          <p:cNvPicPr>
            <a:picLocks noChangeAspect="1"/>
          </p:cNvPicPr>
          <p:nvPr/>
        </p:nvPicPr>
        <p:blipFill>
          <a:blip r:embed="rId5"/>
          <a:stretch>
            <a:fillRect/>
          </a:stretch>
        </p:blipFill>
        <p:spPr>
          <a:xfrm>
            <a:off x="5425697" y="1003689"/>
            <a:ext cx="6407071" cy="3230916"/>
          </a:xfrm>
          <a:prstGeom prst="rect">
            <a:avLst/>
          </a:prstGeom>
        </p:spPr>
      </p:pic>
    </p:spTree>
    <p:extLst>
      <p:ext uri="{BB962C8B-B14F-4D97-AF65-F5344CB8AC3E}">
        <p14:creationId xmlns:p14="http://schemas.microsoft.com/office/powerpoint/2010/main" val="197839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4B49C-2C4B-9F73-C363-0C474F33EF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DE689-08A4-85D2-AB8E-E04D8AECC77D}"/>
              </a:ext>
            </a:extLst>
          </p:cNvPr>
          <p:cNvSpPr>
            <a:spLocks noGrp="1"/>
          </p:cNvSpPr>
          <p:nvPr>
            <p:ph type="title"/>
          </p:nvPr>
        </p:nvSpPr>
        <p:spPr/>
        <p:txBody>
          <a:bodyPr/>
          <a:lstStyle/>
          <a:p>
            <a:r>
              <a:rPr lang="en-US" altLang="zh-CN" b="1" dirty="0">
                <a:hlinkClick r:id="rId2"/>
              </a:rPr>
              <a:t>14.5.3 </a:t>
            </a:r>
            <a:r>
              <a:rPr lang="zh-CN" altLang="en-US" b="1" dirty="0">
                <a:hlinkClick r:id="rId2"/>
              </a:rPr>
              <a:t>探索性分析</a:t>
            </a:r>
            <a:endParaRPr kumimoji="1" lang="zh-CN" altLang="en-US" dirty="0"/>
          </a:p>
        </p:txBody>
      </p:sp>
      <p:sp>
        <p:nvSpPr>
          <p:cNvPr id="4" name="TextBox 3">
            <a:extLst>
              <a:ext uri="{FF2B5EF4-FFF2-40B4-BE49-F238E27FC236}">
                <a16:creationId xmlns:a16="http://schemas.microsoft.com/office/drawing/2014/main" id="{3A825D92-E9E4-EEDD-BB54-A5FC08BF8F98}"/>
              </a:ext>
            </a:extLst>
          </p:cNvPr>
          <p:cNvSpPr txBox="1"/>
          <p:nvPr/>
        </p:nvSpPr>
        <p:spPr>
          <a:xfrm>
            <a:off x="1104900" y="139521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3"/>
              </a:rPr>
              <a:t>（</a:t>
            </a:r>
            <a:r>
              <a:rPr lang="en-US" altLang="zh-CN" b="1" i="0" u="none" strike="noStrike" dirty="0">
                <a:solidFill>
                  <a:srgbClr val="262625"/>
                </a:solidFill>
                <a:effectLst/>
                <a:latin typeface="Open Sans" panose="020B0606030504020204" pitchFamily="34" charset="0"/>
                <a:hlinkClick r:id="rId3"/>
              </a:rPr>
              <a:t>4</a:t>
            </a:r>
            <a:r>
              <a:rPr lang="zh-CN" altLang="en-US" b="1" i="0" u="none" strike="noStrike" dirty="0">
                <a:solidFill>
                  <a:srgbClr val="262625"/>
                </a:solidFill>
                <a:effectLst/>
                <a:latin typeface="Open Sans" panose="020B0606030504020204" pitchFamily="34" charset="0"/>
                <a:hlinkClick r:id="rId3"/>
              </a:rPr>
              <a:t>）数值变量的分布分析</a:t>
            </a:r>
            <a:endParaRPr lang="zh-CN" altLang="en-US" b="1" i="0" dirty="0">
              <a:solidFill>
                <a:srgbClr val="262625"/>
              </a:solidFill>
              <a:effectLst/>
              <a:latin typeface="Open Sans" panose="020B0606030504020204" pitchFamily="34" charset="0"/>
            </a:endParaRPr>
          </a:p>
        </p:txBody>
      </p:sp>
      <p:pic>
        <p:nvPicPr>
          <p:cNvPr id="5" name="Picture 4">
            <a:extLst>
              <a:ext uri="{FF2B5EF4-FFF2-40B4-BE49-F238E27FC236}">
                <a16:creationId xmlns:a16="http://schemas.microsoft.com/office/drawing/2014/main" id="{E088B3E5-237C-E982-464B-58570FC9E18B}"/>
              </a:ext>
            </a:extLst>
          </p:cNvPr>
          <p:cNvPicPr>
            <a:picLocks noChangeAspect="1"/>
          </p:cNvPicPr>
          <p:nvPr/>
        </p:nvPicPr>
        <p:blipFill>
          <a:blip r:embed="rId4"/>
          <a:stretch>
            <a:fillRect/>
          </a:stretch>
        </p:blipFill>
        <p:spPr>
          <a:xfrm>
            <a:off x="4462780" y="284996"/>
            <a:ext cx="5664200" cy="2755900"/>
          </a:xfrm>
          <a:prstGeom prst="rect">
            <a:avLst/>
          </a:prstGeom>
        </p:spPr>
      </p:pic>
      <p:pic>
        <p:nvPicPr>
          <p:cNvPr id="7" name="Picture 6">
            <a:extLst>
              <a:ext uri="{FF2B5EF4-FFF2-40B4-BE49-F238E27FC236}">
                <a16:creationId xmlns:a16="http://schemas.microsoft.com/office/drawing/2014/main" id="{EF112A5C-98BB-9AEF-4EBA-1DE2C9EC9B4C}"/>
              </a:ext>
            </a:extLst>
          </p:cNvPr>
          <p:cNvPicPr>
            <a:picLocks noChangeAspect="1"/>
          </p:cNvPicPr>
          <p:nvPr/>
        </p:nvPicPr>
        <p:blipFill>
          <a:blip r:embed="rId5"/>
          <a:stretch>
            <a:fillRect/>
          </a:stretch>
        </p:blipFill>
        <p:spPr>
          <a:xfrm>
            <a:off x="3796030" y="3191062"/>
            <a:ext cx="6809740" cy="3381942"/>
          </a:xfrm>
          <a:prstGeom prst="rect">
            <a:avLst/>
          </a:prstGeom>
        </p:spPr>
      </p:pic>
    </p:spTree>
    <p:extLst>
      <p:ext uri="{BB962C8B-B14F-4D97-AF65-F5344CB8AC3E}">
        <p14:creationId xmlns:p14="http://schemas.microsoft.com/office/powerpoint/2010/main" val="1581269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C5C77-052A-1D04-1217-FFC4EACB3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6E14E-E70F-4E6A-F4A4-B7024B1141E2}"/>
              </a:ext>
            </a:extLst>
          </p:cNvPr>
          <p:cNvSpPr>
            <a:spLocks noGrp="1"/>
          </p:cNvSpPr>
          <p:nvPr>
            <p:ph type="title"/>
          </p:nvPr>
        </p:nvSpPr>
        <p:spPr/>
        <p:txBody>
          <a:bodyPr/>
          <a:lstStyle/>
          <a:p>
            <a:r>
              <a:rPr lang="en-US" altLang="zh-CN" b="1" dirty="0">
                <a:hlinkClick r:id="rId2"/>
              </a:rPr>
              <a:t>14.5.3 </a:t>
            </a:r>
            <a:r>
              <a:rPr lang="zh-CN" altLang="en-US" b="1" dirty="0">
                <a:hlinkClick r:id="rId2"/>
              </a:rPr>
              <a:t>探索性分析</a:t>
            </a:r>
            <a:endParaRPr kumimoji="1" lang="zh-CN" altLang="en-US" dirty="0"/>
          </a:p>
        </p:txBody>
      </p:sp>
      <p:sp>
        <p:nvSpPr>
          <p:cNvPr id="4" name="TextBox 3">
            <a:extLst>
              <a:ext uri="{FF2B5EF4-FFF2-40B4-BE49-F238E27FC236}">
                <a16:creationId xmlns:a16="http://schemas.microsoft.com/office/drawing/2014/main" id="{AE04F599-0A13-2562-53BA-B24D5DBA435D}"/>
              </a:ext>
            </a:extLst>
          </p:cNvPr>
          <p:cNvSpPr txBox="1"/>
          <p:nvPr/>
        </p:nvSpPr>
        <p:spPr>
          <a:xfrm>
            <a:off x="1104900" y="138505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3"/>
              </a:rPr>
              <a:t>（</a:t>
            </a:r>
            <a:r>
              <a:rPr lang="en-US" altLang="zh-CN" b="1" i="0" u="none" strike="noStrike" dirty="0">
                <a:solidFill>
                  <a:srgbClr val="262625"/>
                </a:solidFill>
                <a:effectLst/>
                <a:latin typeface="Open Sans" panose="020B0606030504020204" pitchFamily="34" charset="0"/>
                <a:hlinkClick r:id="rId3"/>
              </a:rPr>
              <a:t>5</a:t>
            </a:r>
            <a:r>
              <a:rPr lang="zh-CN" altLang="en-US" b="1" i="0" u="none" strike="noStrike" dirty="0">
                <a:solidFill>
                  <a:srgbClr val="262625"/>
                </a:solidFill>
                <a:effectLst/>
                <a:latin typeface="Open Sans" panose="020B0606030504020204" pitchFamily="34" charset="0"/>
                <a:hlinkClick r:id="rId3"/>
              </a:rPr>
              <a:t>）分组分析</a:t>
            </a:r>
            <a:endParaRPr lang="zh-CN" altLang="en-US" b="1" i="0" dirty="0">
              <a:solidFill>
                <a:srgbClr val="262625"/>
              </a:solidFill>
              <a:effectLst/>
              <a:latin typeface="Open Sans" panose="020B0606030504020204" pitchFamily="34" charset="0"/>
            </a:endParaRPr>
          </a:p>
        </p:txBody>
      </p:sp>
      <p:pic>
        <p:nvPicPr>
          <p:cNvPr id="5" name="Picture 4">
            <a:extLst>
              <a:ext uri="{FF2B5EF4-FFF2-40B4-BE49-F238E27FC236}">
                <a16:creationId xmlns:a16="http://schemas.microsoft.com/office/drawing/2014/main" id="{60E8EBA2-066E-5E58-F7A5-F4E3660007D1}"/>
              </a:ext>
            </a:extLst>
          </p:cNvPr>
          <p:cNvPicPr>
            <a:picLocks noChangeAspect="1"/>
          </p:cNvPicPr>
          <p:nvPr/>
        </p:nvPicPr>
        <p:blipFill>
          <a:blip r:embed="rId4"/>
          <a:stretch>
            <a:fillRect/>
          </a:stretch>
        </p:blipFill>
        <p:spPr>
          <a:xfrm>
            <a:off x="965200" y="1966278"/>
            <a:ext cx="6375400" cy="1181100"/>
          </a:xfrm>
          <a:prstGeom prst="rect">
            <a:avLst/>
          </a:prstGeom>
        </p:spPr>
      </p:pic>
      <p:pic>
        <p:nvPicPr>
          <p:cNvPr id="6" name="Picture 5">
            <a:extLst>
              <a:ext uri="{FF2B5EF4-FFF2-40B4-BE49-F238E27FC236}">
                <a16:creationId xmlns:a16="http://schemas.microsoft.com/office/drawing/2014/main" id="{023C6684-B46D-4D97-B7BC-63CF7AEE3AF9}"/>
              </a:ext>
            </a:extLst>
          </p:cNvPr>
          <p:cNvPicPr>
            <a:picLocks noChangeAspect="1"/>
          </p:cNvPicPr>
          <p:nvPr/>
        </p:nvPicPr>
        <p:blipFill>
          <a:blip r:embed="rId5"/>
          <a:stretch>
            <a:fillRect/>
          </a:stretch>
        </p:blipFill>
        <p:spPr>
          <a:xfrm>
            <a:off x="7573010" y="76200"/>
            <a:ext cx="4381500" cy="3467100"/>
          </a:xfrm>
          <a:prstGeom prst="rect">
            <a:avLst/>
          </a:prstGeom>
        </p:spPr>
      </p:pic>
      <p:pic>
        <p:nvPicPr>
          <p:cNvPr id="7" name="Picture 6">
            <a:extLst>
              <a:ext uri="{FF2B5EF4-FFF2-40B4-BE49-F238E27FC236}">
                <a16:creationId xmlns:a16="http://schemas.microsoft.com/office/drawing/2014/main" id="{4E62C877-D774-B7D5-9076-1AB47251A542}"/>
              </a:ext>
            </a:extLst>
          </p:cNvPr>
          <p:cNvPicPr>
            <a:picLocks noChangeAspect="1"/>
          </p:cNvPicPr>
          <p:nvPr/>
        </p:nvPicPr>
        <p:blipFill>
          <a:blip r:embed="rId6"/>
          <a:stretch>
            <a:fillRect/>
          </a:stretch>
        </p:blipFill>
        <p:spPr>
          <a:xfrm>
            <a:off x="378460" y="4390390"/>
            <a:ext cx="7289800" cy="1397000"/>
          </a:xfrm>
          <a:prstGeom prst="rect">
            <a:avLst/>
          </a:prstGeom>
        </p:spPr>
      </p:pic>
      <p:pic>
        <p:nvPicPr>
          <p:cNvPr id="8" name="Picture 7">
            <a:extLst>
              <a:ext uri="{FF2B5EF4-FFF2-40B4-BE49-F238E27FC236}">
                <a16:creationId xmlns:a16="http://schemas.microsoft.com/office/drawing/2014/main" id="{80FEAA21-4BC4-9E3B-ECF4-9EE433811941}"/>
              </a:ext>
            </a:extLst>
          </p:cNvPr>
          <p:cNvPicPr>
            <a:picLocks noChangeAspect="1"/>
          </p:cNvPicPr>
          <p:nvPr/>
        </p:nvPicPr>
        <p:blipFill>
          <a:blip r:embed="rId7"/>
          <a:stretch>
            <a:fillRect/>
          </a:stretch>
        </p:blipFill>
        <p:spPr>
          <a:xfrm>
            <a:off x="7668260" y="3543300"/>
            <a:ext cx="4293306" cy="3091180"/>
          </a:xfrm>
          <a:prstGeom prst="rect">
            <a:avLst/>
          </a:prstGeom>
        </p:spPr>
      </p:pic>
    </p:spTree>
    <p:extLst>
      <p:ext uri="{BB962C8B-B14F-4D97-AF65-F5344CB8AC3E}">
        <p14:creationId xmlns:p14="http://schemas.microsoft.com/office/powerpoint/2010/main" val="346020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7FDAE-5B99-25E4-A410-F28B1BD789CD}"/>
              </a:ext>
            </a:extLst>
          </p:cNvPr>
          <p:cNvSpPr>
            <a:spLocks noGrp="1"/>
          </p:cNvSpPr>
          <p:nvPr>
            <p:ph type="title"/>
          </p:nvPr>
        </p:nvSpPr>
        <p:spPr/>
        <p:txBody>
          <a:bodyPr/>
          <a:lstStyle/>
          <a:p>
            <a:r>
              <a:rPr lang="en-US" altLang="zh-CN" b="1" dirty="0">
                <a:hlinkClick r:id="rId2"/>
              </a:rPr>
              <a:t>14.5.4 </a:t>
            </a:r>
            <a:r>
              <a:rPr lang="zh-CN" altLang="en-US" b="1" dirty="0">
                <a:hlinkClick r:id="rId2"/>
              </a:rPr>
              <a:t>相关性分析</a:t>
            </a:r>
            <a:endParaRPr kumimoji="1" lang="zh-CN" altLang="en-US" dirty="0"/>
          </a:p>
        </p:txBody>
      </p:sp>
      <p:sp>
        <p:nvSpPr>
          <p:cNvPr id="4" name="TextBox 3">
            <a:extLst>
              <a:ext uri="{FF2B5EF4-FFF2-40B4-BE49-F238E27FC236}">
                <a16:creationId xmlns:a16="http://schemas.microsoft.com/office/drawing/2014/main" id="{8BE29E97-C66E-4962-EA1F-B8A50FC1096B}"/>
              </a:ext>
            </a:extLst>
          </p:cNvPr>
          <p:cNvSpPr txBox="1"/>
          <p:nvPr/>
        </p:nvSpPr>
        <p:spPr>
          <a:xfrm>
            <a:off x="985520" y="156793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3"/>
              </a:rPr>
              <a:t>（</a:t>
            </a:r>
            <a:r>
              <a:rPr lang="en-US" altLang="zh-CN" b="1" i="0" u="none" strike="noStrike" dirty="0">
                <a:solidFill>
                  <a:srgbClr val="262625"/>
                </a:solidFill>
                <a:effectLst/>
                <a:latin typeface="Open Sans" panose="020B0606030504020204" pitchFamily="34" charset="0"/>
                <a:hlinkClick r:id="rId3"/>
              </a:rPr>
              <a:t>1</a:t>
            </a:r>
            <a:r>
              <a:rPr lang="zh-CN" altLang="en-US" b="1" i="0" u="none" strike="noStrike" dirty="0">
                <a:solidFill>
                  <a:srgbClr val="262625"/>
                </a:solidFill>
                <a:effectLst/>
                <a:latin typeface="Open Sans" panose="020B0606030504020204" pitchFamily="34" charset="0"/>
                <a:hlinkClick r:id="rId3"/>
              </a:rPr>
              <a:t>）对 </a:t>
            </a:r>
            <a:r>
              <a:rPr lang="en-US" b="1" i="0" u="none" strike="noStrike" dirty="0">
                <a:solidFill>
                  <a:srgbClr val="262625"/>
                </a:solidFill>
                <a:effectLst/>
                <a:latin typeface="Courier New" panose="02070309020205020404" pitchFamily="49" charset="0"/>
                <a:hlinkClick r:id="rId3"/>
              </a:rPr>
              <a:t>education</a:t>
            </a:r>
            <a:r>
              <a:rPr lang="en-US" b="1" i="0" u="none" strike="noStrike" dirty="0">
                <a:solidFill>
                  <a:srgbClr val="262625"/>
                </a:solidFill>
                <a:effectLst/>
                <a:latin typeface="Open Sans" panose="020B0606030504020204" pitchFamily="34" charset="0"/>
                <a:hlinkClick r:id="rId3"/>
              </a:rPr>
              <a:t> </a:t>
            </a:r>
            <a:r>
              <a:rPr lang="zh-CN" altLang="en-US" b="1" i="0" u="none" strike="noStrike" dirty="0">
                <a:solidFill>
                  <a:srgbClr val="262625"/>
                </a:solidFill>
                <a:effectLst/>
                <a:latin typeface="Open Sans" panose="020B0606030504020204" pitchFamily="34" charset="0"/>
                <a:hlinkClick r:id="rId3"/>
              </a:rPr>
              <a:t>和 </a:t>
            </a:r>
            <a:r>
              <a:rPr lang="en-US" b="1" i="0" u="none" strike="noStrike" dirty="0">
                <a:solidFill>
                  <a:srgbClr val="262625"/>
                </a:solidFill>
                <a:effectLst/>
                <a:latin typeface="Courier New" panose="02070309020205020404" pitchFamily="49" charset="0"/>
                <a:hlinkClick r:id="rId3"/>
              </a:rPr>
              <a:t>income</a:t>
            </a:r>
            <a:r>
              <a:rPr lang="en-US" b="1" i="0" u="none" strike="noStrike" dirty="0">
                <a:solidFill>
                  <a:srgbClr val="262625"/>
                </a:solidFill>
                <a:effectLst/>
                <a:latin typeface="Open Sans" panose="020B0606030504020204" pitchFamily="34" charset="0"/>
                <a:hlinkClick r:id="rId3"/>
              </a:rPr>
              <a:t> </a:t>
            </a:r>
            <a:r>
              <a:rPr lang="zh-CN" altLang="en-US" b="1" i="0" u="none" strike="noStrike" dirty="0">
                <a:solidFill>
                  <a:srgbClr val="262625"/>
                </a:solidFill>
                <a:effectLst/>
                <a:latin typeface="Open Sans" panose="020B0606030504020204" pitchFamily="34" charset="0"/>
                <a:hlinkClick r:id="rId3"/>
              </a:rPr>
              <a:t>列进行编码</a:t>
            </a:r>
            <a:endParaRPr lang="zh-CN" altLang="en-US" b="1" i="0" dirty="0">
              <a:solidFill>
                <a:srgbClr val="262625"/>
              </a:solidFill>
              <a:effectLst/>
              <a:latin typeface="Open Sans" panose="020B0606030504020204" pitchFamily="34" charset="0"/>
            </a:endParaRPr>
          </a:p>
        </p:txBody>
      </p:sp>
      <p:sp>
        <p:nvSpPr>
          <p:cNvPr id="6" name="TextBox 5">
            <a:extLst>
              <a:ext uri="{FF2B5EF4-FFF2-40B4-BE49-F238E27FC236}">
                <a16:creationId xmlns:a16="http://schemas.microsoft.com/office/drawing/2014/main" id="{03E89801-87D7-1D0C-94D0-098AFE12E6E6}"/>
              </a:ext>
            </a:extLst>
          </p:cNvPr>
          <p:cNvSpPr txBox="1"/>
          <p:nvPr/>
        </p:nvSpPr>
        <p:spPr>
          <a:xfrm>
            <a:off x="985520" y="424239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4"/>
              </a:rPr>
              <a:t>（</a:t>
            </a:r>
            <a:r>
              <a:rPr lang="en-US" altLang="zh-CN" b="1" i="0" u="none" strike="noStrike" dirty="0">
                <a:solidFill>
                  <a:srgbClr val="262625"/>
                </a:solidFill>
                <a:effectLst/>
                <a:latin typeface="Open Sans" panose="020B0606030504020204" pitchFamily="34" charset="0"/>
                <a:hlinkClick r:id="rId4"/>
              </a:rPr>
              <a:t>2</a:t>
            </a:r>
            <a:r>
              <a:rPr lang="zh-CN" altLang="en-US" b="1" i="0" u="none" strike="noStrike" dirty="0">
                <a:solidFill>
                  <a:srgbClr val="262625"/>
                </a:solidFill>
                <a:effectLst/>
                <a:latin typeface="Open Sans" panose="020B0606030504020204" pitchFamily="34" charset="0"/>
                <a:hlinkClick r:id="rId4"/>
              </a:rPr>
              <a:t>）计算皮尔逊相关系数</a:t>
            </a:r>
            <a:endParaRPr lang="zh-CN" altLang="en-US" b="1" i="0" dirty="0">
              <a:solidFill>
                <a:srgbClr val="262625"/>
              </a:solidFill>
              <a:effectLst/>
              <a:latin typeface="Open Sans" panose="020B0606030504020204" pitchFamily="34" charset="0"/>
            </a:endParaRPr>
          </a:p>
        </p:txBody>
      </p:sp>
      <p:pic>
        <p:nvPicPr>
          <p:cNvPr id="7" name="Picture 6">
            <a:extLst>
              <a:ext uri="{FF2B5EF4-FFF2-40B4-BE49-F238E27FC236}">
                <a16:creationId xmlns:a16="http://schemas.microsoft.com/office/drawing/2014/main" id="{DD3D5B11-70C7-09E2-30E9-D4E6F524954D}"/>
              </a:ext>
            </a:extLst>
          </p:cNvPr>
          <p:cNvPicPr>
            <a:picLocks noChangeAspect="1"/>
          </p:cNvPicPr>
          <p:nvPr/>
        </p:nvPicPr>
        <p:blipFill>
          <a:blip r:embed="rId5"/>
          <a:stretch>
            <a:fillRect/>
          </a:stretch>
        </p:blipFill>
        <p:spPr>
          <a:xfrm>
            <a:off x="2973070" y="2016680"/>
            <a:ext cx="6591300" cy="2146300"/>
          </a:xfrm>
          <a:prstGeom prst="rect">
            <a:avLst/>
          </a:prstGeom>
        </p:spPr>
      </p:pic>
      <p:pic>
        <p:nvPicPr>
          <p:cNvPr id="8" name="Picture 7">
            <a:extLst>
              <a:ext uri="{FF2B5EF4-FFF2-40B4-BE49-F238E27FC236}">
                <a16:creationId xmlns:a16="http://schemas.microsoft.com/office/drawing/2014/main" id="{EDDFB65C-7DD4-D6C8-23BD-AFF6D46E408D}"/>
              </a:ext>
            </a:extLst>
          </p:cNvPr>
          <p:cNvPicPr>
            <a:picLocks noChangeAspect="1"/>
          </p:cNvPicPr>
          <p:nvPr/>
        </p:nvPicPr>
        <p:blipFill>
          <a:blip r:embed="rId6"/>
          <a:stretch>
            <a:fillRect/>
          </a:stretch>
        </p:blipFill>
        <p:spPr>
          <a:xfrm>
            <a:off x="2382520" y="4854991"/>
            <a:ext cx="7772400" cy="1455857"/>
          </a:xfrm>
          <a:prstGeom prst="rect">
            <a:avLst/>
          </a:prstGeom>
        </p:spPr>
      </p:pic>
    </p:spTree>
    <p:extLst>
      <p:ext uri="{BB962C8B-B14F-4D97-AF65-F5344CB8AC3E}">
        <p14:creationId xmlns:p14="http://schemas.microsoft.com/office/powerpoint/2010/main" val="358039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AEB42-D195-4D60-E05C-D3FCEB97F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2B444-9FB1-74F0-45D9-EE087A5F09A6}"/>
              </a:ext>
            </a:extLst>
          </p:cNvPr>
          <p:cNvSpPr>
            <a:spLocks noGrp="1"/>
          </p:cNvSpPr>
          <p:nvPr>
            <p:ph type="title"/>
          </p:nvPr>
        </p:nvSpPr>
        <p:spPr/>
        <p:txBody>
          <a:bodyPr/>
          <a:lstStyle/>
          <a:p>
            <a:r>
              <a:rPr lang="en-US" altLang="zh-CN" b="1" dirty="0">
                <a:hlinkClick r:id="rId2"/>
              </a:rPr>
              <a:t>14.5.4 </a:t>
            </a:r>
            <a:r>
              <a:rPr lang="zh-CN" altLang="en-US" b="1" dirty="0">
                <a:hlinkClick r:id="rId2"/>
              </a:rPr>
              <a:t>相关性分析</a:t>
            </a:r>
            <a:endParaRPr kumimoji="1" lang="zh-CN" altLang="en-US" dirty="0"/>
          </a:p>
        </p:txBody>
      </p:sp>
      <p:sp>
        <p:nvSpPr>
          <p:cNvPr id="5" name="TextBox 4">
            <a:extLst>
              <a:ext uri="{FF2B5EF4-FFF2-40B4-BE49-F238E27FC236}">
                <a16:creationId xmlns:a16="http://schemas.microsoft.com/office/drawing/2014/main" id="{AA67636B-8935-F0B7-F3D9-C49EB61E0090}"/>
              </a:ext>
            </a:extLst>
          </p:cNvPr>
          <p:cNvSpPr txBox="1"/>
          <p:nvPr/>
        </p:nvSpPr>
        <p:spPr>
          <a:xfrm>
            <a:off x="1104900" y="1486654"/>
            <a:ext cx="6096000" cy="369332"/>
          </a:xfrm>
          <a:prstGeom prst="rect">
            <a:avLst/>
          </a:prstGeom>
          <a:noFill/>
        </p:spPr>
        <p:txBody>
          <a:bodyPr wrap="square">
            <a:spAutoFit/>
          </a:bodyPr>
          <a:lstStyle/>
          <a:p>
            <a:pPr algn="l">
              <a:buNone/>
            </a:pPr>
            <a:r>
              <a:rPr lang="zh-CN" altLang="en-US" b="1" i="0" u="none" strike="noStrike" dirty="0">
                <a:solidFill>
                  <a:srgbClr val="262625"/>
                </a:solidFill>
                <a:effectLst/>
                <a:latin typeface="Open Sans" panose="020B0606030504020204" pitchFamily="34" charset="0"/>
                <a:hlinkClick r:id="rId3"/>
              </a:rPr>
              <a:t>（</a:t>
            </a:r>
            <a:r>
              <a:rPr lang="en-US" altLang="zh-CN" b="1" i="0" u="none" strike="noStrike" dirty="0">
                <a:solidFill>
                  <a:srgbClr val="262625"/>
                </a:solidFill>
                <a:effectLst/>
                <a:latin typeface="Open Sans" panose="020B0606030504020204" pitchFamily="34" charset="0"/>
                <a:hlinkClick r:id="rId3"/>
              </a:rPr>
              <a:t>3</a:t>
            </a:r>
            <a:r>
              <a:rPr lang="zh-CN" altLang="en-US" b="1" i="0" u="none" strike="noStrike" dirty="0">
                <a:solidFill>
                  <a:srgbClr val="262625"/>
                </a:solidFill>
                <a:effectLst/>
                <a:latin typeface="Open Sans" panose="020B0606030504020204" pitchFamily="34" charset="0"/>
                <a:hlinkClick r:id="rId3"/>
              </a:rPr>
              <a:t>）绘制热力图</a:t>
            </a:r>
            <a:endParaRPr lang="zh-CN" altLang="en-US" b="1" i="0" dirty="0">
              <a:solidFill>
                <a:srgbClr val="262625"/>
              </a:solidFill>
              <a:effectLst/>
              <a:latin typeface="Open Sans" panose="020B0606030504020204" pitchFamily="34" charset="0"/>
            </a:endParaRPr>
          </a:p>
        </p:txBody>
      </p:sp>
      <p:pic>
        <p:nvPicPr>
          <p:cNvPr id="9" name="Picture 8">
            <a:extLst>
              <a:ext uri="{FF2B5EF4-FFF2-40B4-BE49-F238E27FC236}">
                <a16:creationId xmlns:a16="http://schemas.microsoft.com/office/drawing/2014/main" id="{B0DC39C3-54B4-BEED-2EC3-30DA0B0C0C41}"/>
              </a:ext>
            </a:extLst>
          </p:cNvPr>
          <p:cNvPicPr>
            <a:picLocks noChangeAspect="1"/>
          </p:cNvPicPr>
          <p:nvPr/>
        </p:nvPicPr>
        <p:blipFill>
          <a:blip r:embed="rId4"/>
          <a:stretch>
            <a:fillRect/>
          </a:stretch>
        </p:blipFill>
        <p:spPr>
          <a:xfrm>
            <a:off x="2374141" y="2030730"/>
            <a:ext cx="7442200" cy="1841500"/>
          </a:xfrm>
          <a:prstGeom prst="rect">
            <a:avLst/>
          </a:prstGeom>
        </p:spPr>
      </p:pic>
      <p:pic>
        <p:nvPicPr>
          <p:cNvPr id="10" name="Picture 9">
            <a:extLst>
              <a:ext uri="{FF2B5EF4-FFF2-40B4-BE49-F238E27FC236}">
                <a16:creationId xmlns:a16="http://schemas.microsoft.com/office/drawing/2014/main" id="{AABC533B-EFE3-A1AB-3D62-2914E35CA894}"/>
              </a:ext>
            </a:extLst>
          </p:cNvPr>
          <p:cNvPicPr>
            <a:picLocks noChangeAspect="1"/>
          </p:cNvPicPr>
          <p:nvPr/>
        </p:nvPicPr>
        <p:blipFill>
          <a:blip r:embed="rId5"/>
          <a:stretch>
            <a:fillRect/>
          </a:stretch>
        </p:blipFill>
        <p:spPr>
          <a:xfrm>
            <a:off x="4387850" y="4046974"/>
            <a:ext cx="3213100" cy="2374900"/>
          </a:xfrm>
          <a:prstGeom prst="rect">
            <a:avLst/>
          </a:prstGeom>
        </p:spPr>
      </p:pic>
    </p:spTree>
    <p:extLst>
      <p:ext uri="{BB962C8B-B14F-4D97-AF65-F5344CB8AC3E}">
        <p14:creationId xmlns:p14="http://schemas.microsoft.com/office/powerpoint/2010/main" val="903013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hlinkClick r:id="rId3"/>
              </a:rPr>
              <a:t>14.5.5 </a:t>
            </a:r>
            <a:r>
              <a:rPr lang="zh-CN" altLang="en-US" b="1" dirty="0">
                <a:hlinkClick r:id="rId3"/>
              </a:rPr>
              <a:t>预测性分析</a:t>
            </a:r>
            <a:endParaRPr lang="zh-CN" altLang="en-US" b="1" dirty="0"/>
          </a:p>
        </p:txBody>
      </p:sp>
      <p:pic>
        <p:nvPicPr>
          <p:cNvPr id="6" name="Picture 5">
            <a:extLst>
              <a:ext uri="{FF2B5EF4-FFF2-40B4-BE49-F238E27FC236}">
                <a16:creationId xmlns:a16="http://schemas.microsoft.com/office/drawing/2014/main" id="{E124F01E-3ED7-D3E6-7541-EB55BC399062}"/>
              </a:ext>
            </a:extLst>
          </p:cNvPr>
          <p:cNvPicPr>
            <a:picLocks noChangeAspect="1"/>
          </p:cNvPicPr>
          <p:nvPr/>
        </p:nvPicPr>
        <p:blipFill>
          <a:blip r:embed="rId4"/>
          <a:stretch>
            <a:fillRect/>
          </a:stretch>
        </p:blipFill>
        <p:spPr>
          <a:xfrm>
            <a:off x="4518660" y="851793"/>
            <a:ext cx="6934200" cy="5753100"/>
          </a:xfrm>
          <a:prstGeom prst="rect">
            <a:avLst/>
          </a:prstGeom>
        </p:spPr>
      </p:pic>
      <p:sp>
        <p:nvSpPr>
          <p:cNvPr id="8" name="TextBox 7">
            <a:extLst>
              <a:ext uri="{FF2B5EF4-FFF2-40B4-BE49-F238E27FC236}">
                <a16:creationId xmlns:a16="http://schemas.microsoft.com/office/drawing/2014/main" id="{AD336916-FE96-12E1-8140-05EDFB5EB416}"/>
              </a:ext>
            </a:extLst>
          </p:cNvPr>
          <p:cNvSpPr txBox="1"/>
          <p:nvPr/>
        </p:nvSpPr>
        <p:spPr>
          <a:xfrm>
            <a:off x="861060" y="1836895"/>
            <a:ext cx="3393440" cy="3782895"/>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预测性分析是一种通过数据建模预测未来事件或未知结果的技术方法。其目的是利用已有数据和历史趋势来推断未来，帮助决策者进行更科学、更精准的决策。例如，在商业领域中，预测性分析可以用于预测客户行为、市场需求、风险管理等关键环节，从而提高企业的运营效率和竞争力。</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63430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altLang="zh-CN" dirty="0"/>
            </a:br>
            <a:r>
              <a:rPr lang="en-US" altLang="zh-CN" dirty="0"/>
              <a:t>——The end——</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846177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BAFF00-647E-4627-9B6C-A5CDC1F32200}">
  <ds:schemaRefs>
    <ds:schemaRef ds:uri="40262f94-9f35-4ac3-9a90-690165a166b7"/>
    <ds:schemaRef ds:uri="http://schemas.microsoft.com/office/2006/metadata/properties"/>
    <ds:schemaRef ds:uri="http://purl.org/dc/dcmitype/"/>
    <ds:schemaRef ds:uri="http://www.w3.org/XML/1998/namespace"/>
    <ds:schemaRef ds:uri="a4f35948-e619-41b3-aa29-22878b09cfd2"/>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DDC6030-8312-4894-9236-1E15DA4F39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205</TotalTime>
  <Words>2774</Words>
  <Application>Microsoft Macintosh PowerPoint</Application>
  <PresentationFormat>Widescreen</PresentationFormat>
  <Paragraphs>173</Paragraphs>
  <Slides>43</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Microsoft YaHei</vt:lpstr>
      <vt:lpstr>Arial</vt:lpstr>
      <vt:lpstr>Consolas</vt:lpstr>
      <vt:lpstr>Courier New</vt:lpstr>
      <vt:lpstr>Euphemia</vt:lpstr>
      <vt:lpstr>Open Sans</vt:lpstr>
      <vt:lpstr>Plantagenet Cherokee</vt:lpstr>
      <vt:lpstr>Times New Roman</vt:lpstr>
      <vt:lpstr>Wingdings</vt:lpstr>
      <vt:lpstr>Academic Literature 16x9</vt:lpstr>
      <vt:lpstr>第14章 数据分析实践</vt:lpstr>
      <vt:lpstr>数据分析的常规流程</vt:lpstr>
      <vt:lpstr>14.1 数据清理</vt:lpstr>
      <vt:lpstr>14.1.1 缺失值处理</vt:lpstr>
      <vt:lpstr>（2）处理缺失值</vt:lpstr>
      <vt:lpstr>数据插补案例</vt:lpstr>
      <vt:lpstr>14.1.2 异常值处理</vt:lpstr>
      <vt:lpstr>14.1.3 重复值处理</vt:lpstr>
      <vt:lpstr>14.2 数据转换</vt:lpstr>
      <vt:lpstr>14.2.1 数据规范化</vt:lpstr>
      <vt:lpstr>14.2.2 数据格式化</vt:lpstr>
      <vt:lpstr>14.2.3 数据类型转换</vt:lpstr>
      <vt:lpstr>14.2.4 连续属性离散化</vt:lpstr>
      <vt:lpstr>14.3 数据相关性分析</vt:lpstr>
      <vt:lpstr>常见的数据分析方法</vt:lpstr>
      <vt:lpstr>14.3.1 Pearson 相关系数</vt:lpstr>
      <vt:lpstr>14.3.2 Spearman 秩相关系数</vt:lpstr>
      <vt:lpstr>14.3.4 判定系数</vt:lpstr>
      <vt:lpstr>14.5 数据分析实践</vt:lpstr>
      <vt:lpstr>实验要求</vt:lpstr>
      <vt:lpstr>数据说明</vt:lpstr>
      <vt:lpstr>数据说明</vt:lpstr>
      <vt:lpstr>数据说明</vt:lpstr>
      <vt:lpstr>数据说明</vt:lpstr>
      <vt:lpstr>数据清理：缺失值处理</vt:lpstr>
      <vt:lpstr>（1）数据加载</vt:lpstr>
      <vt:lpstr>数据清理：缺失值处理</vt:lpstr>
      <vt:lpstr>数据清理：缺失值处理</vt:lpstr>
      <vt:lpstr>数据清理：重复值处理</vt:lpstr>
      <vt:lpstr>（3）重复值处理</vt:lpstr>
      <vt:lpstr>14.5.2 数据转换</vt:lpstr>
      <vt:lpstr>14.5.2 数据转换</vt:lpstr>
      <vt:lpstr>14.5.2 数据转换</vt:lpstr>
      <vt:lpstr>14.5.2 数据转换</vt:lpstr>
      <vt:lpstr>14.5.3 探索性分析</vt:lpstr>
      <vt:lpstr>14.5.3 探索性分析</vt:lpstr>
      <vt:lpstr>14.5.3 探索性分析</vt:lpstr>
      <vt:lpstr>14.5.3 探索性分析</vt:lpstr>
      <vt:lpstr>14.5.3 探索性分析</vt:lpstr>
      <vt:lpstr>14.5.4 相关性分析</vt:lpstr>
      <vt:lpstr>14.5.4 相关性分析</vt:lpstr>
      <vt:lpstr>14.5.5 预测性分析</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肖燕</dc:creator>
  <cp:lastModifiedBy>Hao Fan</cp:lastModifiedBy>
  <cp:revision>33</cp:revision>
  <dcterms:created xsi:type="dcterms:W3CDTF">2014-04-17T22:28:38Z</dcterms:created>
  <dcterms:modified xsi:type="dcterms:W3CDTF">2026-02-26T12:54:12Z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