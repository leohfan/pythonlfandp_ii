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68"/>
  </p:notesMasterIdLst>
  <p:handoutMasterIdLst>
    <p:handoutMasterId r:id="rId69"/>
  </p:handoutMasterIdLst>
  <p:sldIdLst>
    <p:sldId id="256" r:id="rId5"/>
    <p:sldId id="257" r:id="rId6"/>
    <p:sldId id="295" r:id="rId7"/>
    <p:sldId id="296" r:id="rId8"/>
    <p:sldId id="262" r:id="rId9"/>
    <p:sldId id="259" r:id="rId10"/>
    <p:sldId id="264" r:id="rId11"/>
    <p:sldId id="261" r:id="rId12"/>
    <p:sldId id="391" r:id="rId13"/>
    <p:sldId id="392" r:id="rId14"/>
    <p:sldId id="258" r:id="rId15"/>
    <p:sldId id="263" r:id="rId16"/>
    <p:sldId id="265" r:id="rId17"/>
    <p:sldId id="355" r:id="rId18"/>
    <p:sldId id="356" r:id="rId19"/>
    <p:sldId id="266" r:id="rId20"/>
    <p:sldId id="268" r:id="rId21"/>
    <p:sldId id="402" r:id="rId22"/>
    <p:sldId id="351" r:id="rId23"/>
    <p:sldId id="352" r:id="rId24"/>
    <p:sldId id="270" r:id="rId25"/>
    <p:sldId id="272" r:id="rId26"/>
    <p:sldId id="271" r:id="rId27"/>
    <p:sldId id="403" r:id="rId28"/>
    <p:sldId id="349" r:id="rId29"/>
    <p:sldId id="273" r:id="rId30"/>
    <p:sldId id="274" r:id="rId31"/>
    <p:sldId id="275" r:id="rId32"/>
    <p:sldId id="276" r:id="rId33"/>
    <p:sldId id="277" r:id="rId34"/>
    <p:sldId id="278" r:id="rId35"/>
    <p:sldId id="404" r:id="rId36"/>
    <p:sldId id="394" r:id="rId37"/>
    <p:sldId id="279" r:id="rId38"/>
    <p:sldId id="294" r:id="rId39"/>
    <p:sldId id="405" r:id="rId40"/>
    <p:sldId id="400" r:id="rId41"/>
    <p:sldId id="406" r:id="rId42"/>
    <p:sldId id="283" r:id="rId43"/>
    <p:sldId id="281" r:id="rId44"/>
    <p:sldId id="347" r:id="rId45"/>
    <p:sldId id="348" r:id="rId46"/>
    <p:sldId id="284" r:id="rId47"/>
    <p:sldId id="407" r:id="rId48"/>
    <p:sldId id="408" r:id="rId49"/>
    <p:sldId id="285" r:id="rId50"/>
    <p:sldId id="409" r:id="rId51"/>
    <p:sldId id="286" r:id="rId52"/>
    <p:sldId id="393" r:id="rId53"/>
    <p:sldId id="287" r:id="rId54"/>
    <p:sldId id="288" r:id="rId55"/>
    <p:sldId id="289" r:id="rId56"/>
    <p:sldId id="354" r:id="rId57"/>
    <p:sldId id="290" r:id="rId58"/>
    <p:sldId id="291" r:id="rId59"/>
    <p:sldId id="292" r:id="rId60"/>
    <p:sldId id="395" r:id="rId61"/>
    <p:sldId id="397" r:id="rId62"/>
    <p:sldId id="396" r:id="rId63"/>
    <p:sldId id="398" r:id="rId64"/>
    <p:sldId id="399" r:id="rId65"/>
    <p:sldId id="410" r:id="rId66"/>
    <p:sldId id="346" r:id="rId67"/>
  </p:sldIdLst>
  <p:sldSz cx="12192000" cy="6858000"/>
  <p:notesSz cx="6858000" cy="9144000"/>
  <p:custDataLst>
    <p:tags r:id="rId7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4E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28" autoAdjust="0"/>
    <p:restoredTop sz="95918" autoAdjust="0"/>
  </p:normalViewPr>
  <p:slideViewPr>
    <p:cSldViewPr snapToGrid="0" showGuides="1">
      <p:cViewPr varScale="1">
        <p:scale>
          <a:sx n="124" d="100"/>
          <a:sy n="124" d="100"/>
        </p:scale>
        <p:origin x="200" y="248"/>
      </p:cViewPr>
      <p:guideLst>
        <p:guide orient="horz" pos="217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2/26/26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cs typeface="Arial" panose="020B0604020202020204" pitchFamily="34" charset="0"/>
              </a:rPr>
              <a:t>NOTE: </a:t>
            </a:r>
            <a:r>
              <a:rPr lang="en-US" sz="1200" dirty="0">
                <a:cs typeface="Arial" panose="020B0604020202020204" pitchFamily="34" charset="0"/>
              </a:rPr>
              <a:t>Want a different image on this slide? Select the picture and delete it. Now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t>56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63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11" name="Picture 10" title="Ribbon tab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16510" y="150927"/>
            <a:ext cx="965037" cy="968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t>Click to edit Master title style</a:t>
            </a:r>
          </a:p>
        </p:txBody>
      </p:sp>
      <p:sp>
        <p:nvSpPr>
          <p:cNvPr id="11" name="Picture Placeholder 10" title="An empty placeholder to add an image. Click on the placeholder and select the image that you wish to add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10" name="Picture 9" title="Ribbon tab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 title="Ribbon tab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16510" y="150927"/>
            <a:ext cx="965037" cy="968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 title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 level</a:t>
            </a:r>
          </a:p>
          <a:p>
            <a:pPr lvl="6"/>
            <a:r>
              <a:t>Seventh level</a:t>
            </a:r>
          </a:p>
          <a:p>
            <a:pPr lvl="7"/>
            <a:r>
              <a:t>Eighth level</a:t>
            </a:r>
          </a:p>
          <a:p>
            <a:pPr lvl="8"/>
            <a:r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616510" y="150927"/>
            <a:ext cx="965037" cy="96844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910937" y="2305112"/>
            <a:ext cx="5734050" cy="2219691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章</a:t>
            </a:r>
            <a:b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组合数据类型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Picture Placeholder 3" title="Open book on table, blurred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副标题 1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/>
              <a:t>Python</a:t>
            </a:r>
            <a:r>
              <a:rPr lang="zh-TW" altLang="en-US" sz="2000" dirty="0"/>
              <a:t>课程组</a:t>
            </a:r>
            <a:endParaRPr lang="en-US" altLang="zh-TW" sz="2000" dirty="0"/>
          </a:p>
          <a:p>
            <a:pPr algn="r">
              <a:lnSpc>
                <a:spcPct val="150000"/>
              </a:lnSpc>
            </a:pPr>
            <a:r>
              <a:rPr lang="zh-TW" altLang="en-US" sz="2000" dirty="0"/>
              <a:t>武汉大学信息管理学院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教学内容</a:t>
            </a:r>
            <a:endParaRPr lang="en-US" sz="3600" b="1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4.1 </a:t>
            </a:r>
            <a:r>
              <a:rPr lang="zh-CN" altLang="en-US" sz="3200" dirty="0"/>
              <a:t>基本概念</a:t>
            </a:r>
            <a:endParaRPr lang="en-US" sz="3200" dirty="0"/>
          </a:p>
          <a:p>
            <a:r>
              <a:rPr lang="en-US" altLang="zh-CN" sz="3200" dirty="0"/>
              <a:t>4.2 </a:t>
            </a:r>
            <a:r>
              <a:rPr lang="zh-CN" altLang="en-US" sz="3200" dirty="0"/>
              <a:t>序列类型（元组和列表）</a:t>
            </a:r>
            <a:endParaRPr lang="en-US" sz="3200" dirty="0"/>
          </a:p>
          <a:p>
            <a:r>
              <a:rPr lang="en-US" sz="3200" dirty="0"/>
              <a:t>4.3 </a:t>
            </a:r>
            <a:r>
              <a:rPr lang="zh-CN" altLang="en-US" sz="3200" dirty="0"/>
              <a:t>集合类型（集合）</a:t>
            </a:r>
            <a:endParaRPr lang="en-US" sz="3200" dirty="0"/>
          </a:p>
          <a:p>
            <a:r>
              <a:rPr lang="en-US" sz="3200" dirty="0"/>
              <a:t>4.4 </a:t>
            </a:r>
            <a:r>
              <a:rPr lang="zh-CN" altLang="en-US" sz="3200" dirty="0"/>
              <a:t>映射类型（字典）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7517" y="2750961"/>
            <a:ext cx="10071099" cy="1684150"/>
          </a:xfrm>
        </p:spPr>
        <p:txBody>
          <a:bodyPr/>
          <a:lstStyle/>
          <a:p>
            <a:r>
              <a:rPr lang="en-US" b="1" dirty="0"/>
              <a:t>4.1 </a:t>
            </a:r>
            <a:r>
              <a:rPr lang="zh-CN" altLang="en-US" b="1" dirty="0"/>
              <a:t>基本概念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altLang="zh-CN" b="1" dirty="0"/>
              <a:t>4.1 </a:t>
            </a:r>
            <a:r>
              <a:rPr lang="zh-CN" altLang="en-US" b="1" dirty="0"/>
              <a:t>基本概念</a:t>
            </a:r>
            <a:endParaRPr 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665790" y="1626476"/>
            <a:ext cx="112021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基本数据类型，如</a:t>
            </a:r>
            <a:r>
              <a:rPr lang="en-US" altLang="zh-CN" sz="2400" dirty="0"/>
              <a:t>number 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, float, complex)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bool</a:t>
            </a:r>
            <a:r>
              <a:rPr lang="en-US" altLang="zh-CN" sz="2400" dirty="0"/>
              <a:t> ---</a:t>
            </a:r>
            <a:r>
              <a:rPr lang="zh-CN" altLang="en-US" sz="2400" dirty="0">
                <a:solidFill>
                  <a:srgbClr val="FF0000"/>
                </a:solidFill>
              </a:rPr>
              <a:t>只能表示单个数据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/>
              <a:t>• </a:t>
            </a:r>
            <a:r>
              <a:rPr lang="zh-CN" altLang="en-US" sz="2400" dirty="0"/>
              <a:t>如何表示一系列数据？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• </a:t>
            </a:r>
            <a:r>
              <a:rPr lang="zh-CN" altLang="en-US" sz="2400" dirty="0"/>
              <a:t>给定一组数据：“</a:t>
            </a:r>
            <a:r>
              <a:rPr lang="en-US" altLang="zh-CN" sz="2400" dirty="0" err="1"/>
              <a:t>abc</a:t>
            </a:r>
            <a:r>
              <a:rPr lang="zh-CN" altLang="en-US" sz="2400" dirty="0"/>
              <a:t>”，“</a:t>
            </a:r>
            <a:r>
              <a:rPr lang="en-US" altLang="zh-CN" sz="2400" dirty="0"/>
              <a:t>China</a:t>
            </a:r>
            <a:r>
              <a:rPr lang="zh-CN" altLang="en-US" sz="2400" dirty="0"/>
              <a:t>”</a:t>
            </a:r>
            <a:r>
              <a:rPr lang="en-US" altLang="zh-CN" sz="2400" dirty="0"/>
              <a:t>,</a:t>
            </a:r>
            <a:r>
              <a:rPr lang="zh-CN" altLang="en-US" sz="2400" dirty="0"/>
              <a:t>“</a:t>
            </a:r>
            <a:r>
              <a:rPr lang="en-US" altLang="zh-CN" sz="2400" dirty="0"/>
              <a:t>university</a:t>
            </a:r>
            <a:r>
              <a:rPr lang="zh-CN" altLang="en-US" sz="2400" dirty="0"/>
              <a:t>”，如何比较每个单词的长度？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• </a:t>
            </a:r>
            <a:r>
              <a:rPr lang="zh-CN" altLang="en-US" sz="2400" dirty="0"/>
              <a:t>给定一个班级期末考试成绩，如何统计不及格人数及其分数？</a:t>
            </a:r>
          </a:p>
        </p:txBody>
      </p:sp>
      <p:sp>
        <p:nvSpPr>
          <p:cNvPr id="5" name="矩形 4"/>
          <p:cNvSpPr/>
          <p:nvPr/>
        </p:nvSpPr>
        <p:spPr>
          <a:xfrm>
            <a:off x="591696" y="4488798"/>
            <a:ext cx="11007090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当需要处理的问题比较复杂时，仅用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基本</a:t>
            </a:r>
            <a:r>
              <a:rPr lang="zh-CN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数据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类型</a:t>
            </a:r>
            <a:r>
              <a:rPr lang="zh-CN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往往无法解决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 b="1" dirty="0">
                <a:solidFill>
                  <a:srgbClr val="FF0000"/>
                </a:solidFill>
              </a:rPr>
              <a:t>组合数据类型</a:t>
            </a:r>
            <a:r>
              <a:rPr lang="zh-CN" altLang="zh-CN" sz="2400" dirty="0"/>
              <a:t>能够将多个同类型或不同类型的数据组织起来，通过</a:t>
            </a:r>
            <a:r>
              <a:rPr lang="zh-CN" altLang="zh-CN" sz="2400" b="1" dirty="0">
                <a:solidFill>
                  <a:srgbClr val="FF0000"/>
                </a:solidFill>
              </a:rPr>
              <a:t>单一名称</a:t>
            </a:r>
            <a:r>
              <a:rPr lang="zh-CN" altLang="zh-CN" sz="2400" dirty="0"/>
              <a:t>来表示数据集，从而对数据集</a:t>
            </a:r>
            <a:r>
              <a:rPr lang="zh-CN" altLang="en-US" sz="2400" dirty="0"/>
              <a:t>进行</a:t>
            </a:r>
            <a:r>
              <a:rPr lang="zh-CN" altLang="en-US" sz="2400" b="1" dirty="0">
                <a:solidFill>
                  <a:srgbClr val="FF0000"/>
                </a:solidFill>
              </a:rPr>
              <a:t>批量操作</a:t>
            </a:r>
            <a:r>
              <a:rPr lang="zh-CN" altLang="en-US" sz="2400" dirty="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4.1 </a:t>
            </a:r>
            <a:r>
              <a:rPr lang="zh-CN" altLang="en-US" b="1" dirty="0"/>
              <a:t>基本概念</a:t>
            </a:r>
            <a:endParaRPr lang="en-US" b="1" dirty="0"/>
          </a:p>
        </p:txBody>
      </p:sp>
      <p:sp>
        <p:nvSpPr>
          <p:cNvPr id="3" name="左大括号 2"/>
          <p:cNvSpPr/>
          <p:nvPr/>
        </p:nvSpPr>
        <p:spPr>
          <a:xfrm>
            <a:off x="2313709" y="2369129"/>
            <a:ext cx="401782" cy="3380508"/>
          </a:xfrm>
          <a:prstGeom prst="leftBrac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937162" y="2107519"/>
            <a:ext cx="169025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</a:rPr>
              <a:t>序列类型</a:t>
            </a:r>
            <a:endParaRPr lang="en-US" altLang="zh-CN" sz="2800" b="1" dirty="0">
              <a:solidFill>
                <a:srgbClr val="7030A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sequence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37162" y="3797773"/>
            <a:ext cx="16902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</a:rPr>
              <a:t>集合类型</a:t>
            </a:r>
            <a:endParaRPr lang="en-US" altLang="zh-CN" sz="2800" b="1" dirty="0">
              <a:solidFill>
                <a:srgbClr val="7030A0"/>
              </a:solidFill>
            </a:endParaRPr>
          </a:p>
          <a:p>
            <a:r>
              <a:rPr lang="en-US" altLang="zh-CN" sz="2800" b="1" dirty="0">
                <a:solidFill>
                  <a:srgbClr val="FF0000"/>
                </a:solidFill>
              </a:rPr>
              <a:t>set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37161" y="5488027"/>
            <a:ext cx="169025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</a:rPr>
              <a:t>映射类型</a:t>
            </a:r>
            <a:endParaRPr lang="en-US" altLang="zh-CN" sz="2800" b="1" dirty="0">
              <a:solidFill>
                <a:srgbClr val="7030A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mapping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5854" y="3643884"/>
            <a:ext cx="1427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常见组合数据类型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627416" y="1900691"/>
            <a:ext cx="59316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是</a:t>
            </a:r>
            <a:r>
              <a:rPr lang="zh-CN" altLang="zh-CN" sz="2000" dirty="0"/>
              <a:t>一维元素的向量</a:t>
            </a:r>
            <a:r>
              <a:rPr lang="zh-CN" altLang="en-US" sz="2000" dirty="0"/>
              <a:t>，元素之间存在先后关系，通过序号访问，典型代表是</a:t>
            </a:r>
            <a:r>
              <a:rPr lang="zh-CN" altLang="zh-CN" sz="2000" dirty="0">
                <a:solidFill>
                  <a:srgbClr val="FF0000"/>
                </a:solidFill>
              </a:rPr>
              <a:t>字符串（</a:t>
            </a:r>
            <a:r>
              <a:rPr lang="en-US" altLang="zh-CN" sz="2000" dirty="0" err="1">
                <a:solidFill>
                  <a:srgbClr val="FF0000"/>
                </a:solidFill>
              </a:rPr>
              <a:t>str</a:t>
            </a:r>
            <a:r>
              <a:rPr lang="zh-CN" altLang="zh-CN" sz="2000" dirty="0">
                <a:solidFill>
                  <a:srgbClr val="FF0000"/>
                </a:solidFill>
              </a:rPr>
              <a:t>）、元组（</a:t>
            </a:r>
            <a:r>
              <a:rPr lang="en-US" altLang="zh-CN" sz="2000" dirty="0">
                <a:solidFill>
                  <a:srgbClr val="FF0000"/>
                </a:solidFill>
              </a:rPr>
              <a:t>tuple</a:t>
            </a:r>
            <a:r>
              <a:rPr lang="zh-CN" altLang="zh-CN" sz="2000" dirty="0">
                <a:solidFill>
                  <a:srgbClr val="FF0000"/>
                </a:solidFill>
              </a:rPr>
              <a:t>）和列表（</a:t>
            </a:r>
            <a:r>
              <a:rPr lang="en-US" altLang="zh-CN" sz="2000" dirty="0">
                <a:solidFill>
                  <a:srgbClr val="FF0000"/>
                </a:solidFill>
              </a:rPr>
              <a:t>list</a:t>
            </a:r>
            <a:r>
              <a:rPr lang="zh-CN" altLang="zh-CN" sz="2000" dirty="0">
                <a:solidFill>
                  <a:srgbClr val="FF0000"/>
                </a:solidFill>
              </a:rPr>
              <a:t>）</a:t>
            </a:r>
            <a:r>
              <a:rPr lang="zh-CN" altLang="en-US" sz="2000" dirty="0"/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627416" y="3802080"/>
            <a:ext cx="6220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是</a:t>
            </a:r>
            <a:r>
              <a:rPr lang="zh-CN" altLang="en-US" sz="2000" dirty="0"/>
              <a:t>一个元素</a:t>
            </a:r>
            <a:r>
              <a:rPr lang="zh-CN" altLang="zh-CN" sz="2000" dirty="0"/>
              <a:t>集合</a:t>
            </a:r>
            <a:r>
              <a:rPr lang="zh-CN" altLang="en-US" sz="2000" dirty="0"/>
              <a:t>，元素间无序、不重复，</a:t>
            </a:r>
            <a:r>
              <a:rPr lang="zh-CN" altLang="en-US" sz="2000" dirty="0">
                <a:solidFill>
                  <a:srgbClr val="FF0000"/>
                </a:solidFill>
              </a:rPr>
              <a:t>集合（</a:t>
            </a:r>
            <a:r>
              <a:rPr lang="en-US" altLang="zh-CN" sz="2000" dirty="0">
                <a:solidFill>
                  <a:srgbClr val="FF0000"/>
                </a:solidFill>
              </a:rPr>
              <a:t>set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  <a:r>
              <a:rPr lang="zh-CN" altLang="en-US" sz="2000" dirty="0"/>
              <a:t>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627416" y="5514110"/>
            <a:ext cx="62206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是</a:t>
            </a:r>
            <a:r>
              <a:rPr lang="zh-CN" altLang="en-US" sz="2000" dirty="0"/>
              <a:t>“键</a:t>
            </a:r>
            <a:r>
              <a:rPr lang="en-US" altLang="zh-CN" sz="2000" dirty="0"/>
              <a:t>-</a:t>
            </a:r>
            <a:r>
              <a:rPr lang="zh-CN" altLang="en-US" sz="2000" dirty="0"/>
              <a:t>值”数据项的组合，每个元素是一个键值对，典型代表是</a:t>
            </a:r>
            <a:r>
              <a:rPr lang="zh-CN" altLang="en-US" sz="2000" dirty="0">
                <a:solidFill>
                  <a:srgbClr val="FF0000"/>
                </a:solidFill>
              </a:rPr>
              <a:t>字典（</a:t>
            </a:r>
            <a:r>
              <a:rPr lang="en-US" altLang="zh-CN" sz="2000" dirty="0" err="1">
                <a:solidFill>
                  <a:srgbClr val="FF0000"/>
                </a:solidFill>
              </a:rPr>
              <a:t>dict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  <a:r>
              <a:rPr lang="zh-CN" altLang="en-US" sz="2000" dirty="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7517" y="2750961"/>
            <a:ext cx="10071099" cy="1684150"/>
          </a:xfrm>
        </p:spPr>
        <p:txBody>
          <a:bodyPr/>
          <a:lstStyle/>
          <a:p>
            <a:r>
              <a:rPr lang="en-US" b="1" dirty="0"/>
              <a:t>4.2 </a:t>
            </a:r>
            <a:r>
              <a:rPr lang="zh-CN" altLang="en-US" b="1" dirty="0"/>
              <a:t>序列类型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05659" y="1400293"/>
            <a:ext cx="9671198" cy="1426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列表</a:t>
            </a:r>
            <a:r>
              <a:rPr lang="zh-CN" altLang="zh-CN" sz="2400" b="1" dirty="0">
                <a:solidFill>
                  <a:srgbClr val="FF0000"/>
                </a:solidFill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</a:rPr>
              <a:t>list</a:t>
            </a:r>
            <a:r>
              <a:rPr lang="zh-CN" altLang="zh-CN" sz="2400" b="1" dirty="0">
                <a:solidFill>
                  <a:srgbClr val="FF0000"/>
                </a:solidFill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r>
              <a:rPr lang="zh-CN" altLang="en-US" dirty="0"/>
              <a:t>是</a:t>
            </a:r>
            <a:r>
              <a:rPr lang="en-US" dirty="0"/>
              <a:t>Python</a:t>
            </a:r>
            <a:r>
              <a:rPr lang="zh-CN" altLang="en-US" dirty="0"/>
              <a:t>语言中最常用的序列数据类型之一，它由一系列按特定顺序排列的任意类型对象组成。列表使用方括号 </a:t>
            </a:r>
            <a:r>
              <a:rPr lang="en-US" altLang="zh-CN" dirty="0"/>
              <a:t>[]</a:t>
            </a:r>
            <a:r>
              <a:rPr lang="zh-CN" altLang="en-US" dirty="0"/>
              <a:t> 进行界定，列表中的各元素通过逗号分隔，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例如：</a:t>
            </a:r>
            <a:r>
              <a:rPr lang="en-US" altLang="zh-CN" dirty="0"/>
              <a:t>[2, 3, 4]</a:t>
            </a:r>
            <a:r>
              <a:rPr lang="zh-CN" altLang="en-US" dirty="0"/>
              <a:t>、</a:t>
            </a:r>
            <a:r>
              <a:rPr lang="en-US" altLang="zh-CN" dirty="0"/>
              <a:t>[(1, 2), (3, 4), 5]</a:t>
            </a:r>
            <a:r>
              <a:rPr lang="zh-CN" altLang="en-US" dirty="0"/>
              <a:t>等。</a:t>
            </a:r>
            <a:endParaRPr lang="en-US" altLang="zh-CN" sz="3200" dirty="0"/>
          </a:p>
        </p:txBody>
      </p:sp>
      <p:sp>
        <p:nvSpPr>
          <p:cNvPr id="6" name="Title 1"/>
          <p:cNvSpPr txBox="1"/>
          <p:nvPr/>
        </p:nvSpPr>
        <p:spPr>
          <a:xfrm>
            <a:off x="1105659" y="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4.2.1 </a:t>
            </a:r>
            <a:r>
              <a:rPr lang="zh-CN" altLang="en-US" b="1" dirty="0">
                <a:sym typeface="+mn-ea"/>
              </a:rPr>
              <a:t>元组、列表、字节串和字节数组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934002-E8F8-6C98-FCED-56BF0CFBC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20" y="3324860"/>
            <a:ext cx="5295900" cy="2565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3B2A8A-AC05-E431-0E7B-1C2415FB3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290" y="3324860"/>
            <a:ext cx="5448300" cy="2730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A5C1FE6-0D3A-EF34-0922-4FA334A26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551" y="3830500"/>
            <a:ext cx="5067300" cy="17907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4.2.1 </a:t>
            </a:r>
            <a:r>
              <a:rPr lang="zh-CN" altLang="en-US" b="1" dirty="0"/>
              <a:t>元组、列表、字节串和字节数组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68299" y="1273399"/>
            <a:ext cx="10117283" cy="1426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元组</a:t>
            </a:r>
            <a:r>
              <a:rPr lang="zh-CN" altLang="zh-CN" sz="2400" b="1" dirty="0">
                <a:solidFill>
                  <a:srgbClr val="FF0000"/>
                </a:solidFill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</a:rPr>
              <a:t>tuple</a:t>
            </a:r>
            <a:r>
              <a:rPr lang="zh-CN" altLang="zh-CN" sz="2400" b="1" dirty="0">
                <a:solidFill>
                  <a:srgbClr val="FF0000"/>
                </a:solidFill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r>
              <a:rPr lang="zh-CN" altLang="en-US" dirty="0"/>
              <a:t>是</a:t>
            </a:r>
            <a:r>
              <a:rPr lang="en-US" altLang="zh-CN" dirty="0"/>
              <a:t>Python</a:t>
            </a:r>
            <a:r>
              <a:rPr lang="zh-CN" altLang="en-US" dirty="0"/>
              <a:t>中另一种重要的序列类型。与列表类似，元组可以包含多个数据项，但元组的特性在于其不可变性。每个元组可以包含 </a:t>
            </a:r>
            <a:r>
              <a:rPr lang="en-US" altLang="zh-CN" dirty="0"/>
              <a:t>0 </a:t>
            </a:r>
            <a:r>
              <a:rPr lang="zh-CN" altLang="en-US" dirty="0"/>
              <a:t>个或多个数据项，并用小括号“</a:t>
            </a:r>
            <a:r>
              <a:rPr lang="en-US" altLang="zh-CN" dirty="0"/>
              <a:t>()”</a:t>
            </a:r>
            <a:r>
              <a:rPr lang="zh-CN" altLang="en-US" dirty="0"/>
              <a:t>来界定，元组内的各个元素之间用逗号分隔。例如：</a:t>
            </a:r>
            <a:r>
              <a:rPr lang="en-US" altLang="zh-CN" dirty="0"/>
              <a:t>(3, 4, 5)</a:t>
            </a:r>
            <a:r>
              <a:rPr lang="zh-CN" altLang="en-US" dirty="0"/>
              <a:t>、</a:t>
            </a:r>
            <a:r>
              <a:rPr lang="en-US" altLang="zh-CN" dirty="0"/>
              <a:t>("Alice", (1995, 7), Ture)</a:t>
            </a:r>
            <a:r>
              <a:rPr lang="zh-CN" altLang="en-US" dirty="0"/>
              <a:t>等。</a:t>
            </a:r>
            <a:endParaRPr lang="en-US" altLang="zh-CN" dirty="0"/>
          </a:p>
        </p:txBody>
      </p:sp>
      <p:sp>
        <p:nvSpPr>
          <p:cNvPr id="16" name="标注: 弯曲线形 1"/>
          <p:cNvSpPr/>
          <p:nvPr/>
        </p:nvSpPr>
        <p:spPr>
          <a:xfrm>
            <a:off x="8789190" y="5924181"/>
            <a:ext cx="2071641" cy="757624"/>
          </a:xfrm>
          <a:prstGeom prst="borderCallout2">
            <a:avLst>
              <a:gd name="adj1" fmla="val 313"/>
              <a:gd name="adj2" fmla="val 75856"/>
              <a:gd name="adj3" fmla="val -27788"/>
              <a:gd name="adj4" fmla="val 91474"/>
              <a:gd name="adj5" fmla="val -172714"/>
              <a:gd name="adj6" fmla="val 9001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只包含一个元素时</a:t>
            </a:r>
            <a:r>
              <a:rPr lang="zh-CN" altLang="en-US" b="1" dirty="0">
                <a:solidFill>
                  <a:srgbClr val="FF0000"/>
                </a:solidFill>
              </a:rPr>
              <a:t>必须加逗号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42D582-C286-3446-5614-5749E9DC9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299" y="2700200"/>
            <a:ext cx="5524500" cy="4051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FB1F98-10B8-1FFC-79DD-DC98A1D022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990" y="2714719"/>
            <a:ext cx="34544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05535" y="1400175"/>
            <a:ext cx="9980930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字节串</a:t>
            </a:r>
            <a:r>
              <a:rPr lang="zh-CN" altLang="zh-CN" sz="2400" b="1" dirty="0">
                <a:solidFill>
                  <a:srgbClr val="FF0000"/>
                </a:solidFill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</a:rPr>
              <a:t>bytes</a:t>
            </a:r>
            <a:r>
              <a:rPr lang="zh-CN" altLang="zh-CN" sz="2400" b="1" dirty="0">
                <a:solidFill>
                  <a:srgbClr val="FF0000"/>
                </a:solidFill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/>
              <a:t>•</a:t>
            </a:r>
            <a:r>
              <a:rPr lang="en-US" altLang="zh-CN" sz="2400" dirty="0"/>
              <a:t> </a:t>
            </a:r>
            <a:r>
              <a:rPr lang="zh-CN" altLang="en-US" sz="2400" dirty="0"/>
              <a:t>定义：字节串是由0-255范围内的整数构成的</a:t>
            </a:r>
            <a:r>
              <a:rPr lang="zh-CN" altLang="en-US" sz="2400" dirty="0">
                <a:solidFill>
                  <a:srgbClr val="FF0000"/>
                </a:solidFill>
              </a:rPr>
              <a:t>不可变序列</a:t>
            </a:r>
            <a:r>
              <a:rPr lang="zh-CN" altLang="en-US" sz="2400" dirty="0"/>
              <a:t>，通常用于处理二进制数据。通常以</a:t>
            </a:r>
            <a:r>
              <a:rPr sz="2400" dirty="0" err="1"/>
              <a:t>前缀b或B来表示一个字节串，例如b"Hello</a:t>
            </a:r>
            <a:r>
              <a:rPr sz="2400" dirty="0"/>
              <a:t>"</a:t>
            </a:r>
          </a:p>
          <a:p>
            <a:pPr>
              <a:lnSpc>
                <a:spcPct val="150000"/>
              </a:lnSpc>
            </a:pPr>
            <a:r>
              <a:rPr lang="zh-CN" altLang="zh-CN" sz="2400" dirty="0"/>
              <a:t>•</a:t>
            </a:r>
            <a:r>
              <a:rPr lang="en-US" altLang="zh-CN" sz="2400" dirty="0"/>
              <a:t> </a:t>
            </a:r>
            <a:r>
              <a:rPr lang="zh-CN" altLang="en-US" sz="2400" dirty="0"/>
              <a:t>创建：</a:t>
            </a:r>
            <a:r>
              <a:rPr lang="zh-CN" altLang="zh-CN" sz="2400" dirty="0"/>
              <a:t>通过函数</a:t>
            </a:r>
            <a:r>
              <a:rPr lang="en-US" altLang="zh-CN" sz="2400" dirty="0"/>
              <a:t>bytes()</a:t>
            </a:r>
            <a:r>
              <a:rPr lang="zh-CN" altLang="en-US" sz="2400" dirty="0">
                <a:ea typeface="宋体" panose="02010600030101010101" pitchFamily="2" charset="-122"/>
              </a:rPr>
              <a:t>或前缀</a:t>
            </a:r>
            <a:r>
              <a:rPr lang="en-US" altLang="zh-CN" sz="2400" dirty="0">
                <a:ea typeface="宋体" panose="02010600030101010101" pitchFamily="2" charset="-122"/>
              </a:rPr>
              <a:t>”b”</a:t>
            </a:r>
            <a:r>
              <a:rPr lang="zh-CN" altLang="zh-CN" sz="2400" dirty="0"/>
              <a:t>创建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  例：                     </a:t>
            </a:r>
            <a:r>
              <a:rPr lang="en-US" altLang="zh-CN" sz="2400" dirty="0"/>
              <a:t>   </a:t>
            </a:r>
            <a:r>
              <a:rPr lang="zh-CN" altLang="en-US" sz="2400" dirty="0"/>
              <a:t>结果：</a:t>
            </a:r>
            <a:endParaRPr lang="en-US" altLang="zh-CN" sz="3200" dirty="0"/>
          </a:p>
        </p:txBody>
      </p:sp>
      <p:sp>
        <p:nvSpPr>
          <p:cNvPr id="6" name="Title 1"/>
          <p:cNvSpPr txBox="1"/>
          <p:nvPr/>
        </p:nvSpPr>
        <p:spPr>
          <a:xfrm>
            <a:off x="1105659" y="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4.2.1 </a:t>
            </a:r>
            <a:r>
              <a:rPr lang="zh-CN" altLang="en-US" b="1" dirty="0">
                <a:sym typeface="+mn-ea"/>
              </a:rPr>
              <a:t>元组、列表、字节串和字节数组</a:t>
            </a:r>
            <a:endParaRPr lang="en-US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2038985" y="4416425"/>
            <a:ext cx="749871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</a:rPr>
              <a:t>bytes((0, 1, 2, 3))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</a:rPr>
              <a:t>          b'\x00\x01\x02\x03'</a:t>
            </a:r>
          </a:p>
          <a:p>
            <a:endParaRPr lang="en-US" altLang="zh-CN" sz="2000" dirty="0">
              <a:latin typeface="黑体" panose="02010609060101010101" charset="-122"/>
              <a:ea typeface="黑体" panose="02010609060101010101" charset="-122"/>
            </a:endParaRPr>
          </a:p>
          <a:p>
            <a:endParaRPr lang="en-US" altLang="zh-CN" sz="20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</a:rPr>
              <a:t>by = b"\</a:t>
            </a:r>
            <a:r>
              <a:rPr lang="en-US" altLang="zh-CN" sz="2000" dirty="0" err="1">
                <a:latin typeface="黑体" panose="02010609060101010101" charset="-122"/>
                <a:ea typeface="黑体" panose="02010609060101010101" charset="-122"/>
              </a:rPr>
              <a:t>xFE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</a:rPr>
              <a:t>\x00"             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sym typeface="+mn-ea"/>
              </a:rPr>
              <a:t>b"\</a:t>
            </a:r>
            <a:r>
              <a:rPr lang="en-US" altLang="zh-CN" sz="2000" dirty="0" err="1">
                <a:latin typeface="黑体" panose="02010609060101010101" charset="-122"/>
                <a:ea typeface="黑体" panose="02010609060101010101" charset="-122"/>
                <a:sym typeface="+mn-ea"/>
              </a:rPr>
              <a:t>xFE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sym typeface="+mn-ea"/>
              </a:rPr>
              <a:t>\x00"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05535" y="1400175"/>
            <a:ext cx="998093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字节数组</a:t>
            </a:r>
            <a:r>
              <a:rPr lang="zh-CN" altLang="zh-CN" sz="2400" b="1" dirty="0">
                <a:solidFill>
                  <a:srgbClr val="FF0000"/>
                </a:solidFill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</a:rPr>
              <a:t>bytearray</a:t>
            </a:r>
            <a:r>
              <a:rPr lang="zh-CN" altLang="zh-CN" sz="2400" b="1" dirty="0">
                <a:solidFill>
                  <a:srgbClr val="FF0000"/>
                </a:solidFill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/>
              <a:t>•</a:t>
            </a:r>
            <a:r>
              <a:rPr lang="en-US" altLang="zh-CN" sz="2400" dirty="0"/>
              <a:t> </a:t>
            </a:r>
            <a:r>
              <a:rPr lang="zh-CN" altLang="en-US" sz="2400" dirty="0"/>
              <a:t>定义：</a:t>
            </a:r>
            <a:r>
              <a:rPr sz="2400"/>
              <a:t>字节数组（bytearray）是</a:t>
            </a:r>
            <a:r>
              <a:rPr sz="2400">
                <a:solidFill>
                  <a:srgbClr val="FF0000"/>
                </a:solidFill>
              </a:rPr>
              <a:t>可变</a:t>
            </a:r>
            <a:r>
              <a:rPr sz="2400"/>
              <a:t>的字节序列类型，可以用于存储二进制数据。</a:t>
            </a:r>
            <a:r>
              <a:rPr lang="zh-CN" altLang="zh-CN" sz="2400" dirty="0">
                <a:sym typeface="+mn-ea"/>
              </a:rPr>
              <a:t>例如：bytearray(b'\x00\x01\x02\x03')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sym typeface="+mn-ea"/>
              </a:rPr>
              <a:t>•</a:t>
            </a:r>
            <a:r>
              <a:rPr lang="en-US" altLang="zh-CN" sz="2400" dirty="0">
                <a:sym typeface="+mn-ea"/>
              </a:rPr>
              <a:t> </a:t>
            </a:r>
            <a:r>
              <a:rPr lang="zh-CN" altLang="en-US" sz="2400" dirty="0">
                <a:sym typeface="+mn-ea"/>
              </a:rPr>
              <a:t>创建：</a:t>
            </a:r>
            <a:r>
              <a:rPr lang="zh-CN" altLang="zh-CN" sz="2400" dirty="0">
                <a:sym typeface="+mn-ea"/>
              </a:rPr>
              <a:t>通过函数</a:t>
            </a:r>
            <a:r>
              <a:rPr lang="en-US" altLang="zh-CN" sz="2400" dirty="0">
                <a:sym typeface="+mn-ea"/>
              </a:rPr>
              <a:t>bytearray()</a:t>
            </a:r>
            <a:r>
              <a:rPr lang="zh-CN" altLang="zh-CN" sz="2400" dirty="0">
                <a:sym typeface="+mn-ea"/>
              </a:rPr>
              <a:t>创建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sz="2400"/>
          </a:p>
          <a:p>
            <a:pPr>
              <a:lnSpc>
                <a:spcPct val="150000"/>
              </a:lnSpc>
            </a:pPr>
            <a:r>
              <a:rPr lang="zh-CN" altLang="en-US" sz="2400" dirty="0"/>
              <a:t>  例：                     </a:t>
            </a:r>
            <a:r>
              <a:rPr lang="en-US" altLang="zh-CN" sz="2400" dirty="0"/>
              <a:t>   </a:t>
            </a:r>
            <a:r>
              <a:rPr lang="zh-CN" altLang="en-US" sz="2400" dirty="0"/>
              <a:t>结果：</a:t>
            </a:r>
            <a:endParaRPr lang="en-US" altLang="zh-CN" sz="3200" dirty="0"/>
          </a:p>
        </p:txBody>
      </p:sp>
      <p:sp>
        <p:nvSpPr>
          <p:cNvPr id="6" name="Title 1"/>
          <p:cNvSpPr txBox="1"/>
          <p:nvPr/>
        </p:nvSpPr>
        <p:spPr>
          <a:xfrm>
            <a:off x="1105659" y="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4.2.1 </a:t>
            </a:r>
            <a:r>
              <a:rPr lang="zh-CN" altLang="en-US" b="1" dirty="0">
                <a:sym typeface="+mn-ea"/>
              </a:rPr>
              <a:t>元组、列表、字节串和字节数组</a:t>
            </a:r>
            <a:endParaRPr lang="en-US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1911350" y="4815205"/>
            <a:ext cx="848042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000">
                <a:latin typeface="黑体" panose="02010609060101010101" charset="-122"/>
                <a:ea typeface="黑体" panose="02010609060101010101" charset="-122"/>
              </a:rPr>
              <a:t>bytearray()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</a:rPr>
              <a:t>                   bytearray(b'')</a:t>
            </a:r>
          </a:p>
          <a:p>
            <a:endParaRPr lang="en-US" altLang="zh-CN" sz="2000">
              <a:latin typeface="黑体" panose="02010609060101010101" charset="-122"/>
              <a:ea typeface="黑体" panose="02010609060101010101" charset="-122"/>
            </a:endParaRPr>
          </a:p>
          <a:p>
            <a:endParaRPr lang="en-US" altLang="zh-CN" sz="20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000">
                <a:latin typeface="黑体" panose="02010609060101010101" charset="-122"/>
                <a:ea typeface="黑体" panose="02010609060101010101" charset="-122"/>
              </a:rPr>
              <a:t>bytearray((0, 1, 2, 3))       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sym typeface="+mn-ea"/>
              </a:rPr>
              <a:t>bytearray(b'\x00\x01\x02\x03')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4.2.2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序列的通用操作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E8C291-27E9-5C7F-3CD3-446180767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362" y="1728903"/>
            <a:ext cx="9131275" cy="39470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）序列成员检查</a:t>
            </a:r>
            <a:endParaRPr lang="en-US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3227" y="1522557"/>
            <a:ext cx="96462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）成员检查</a:t>
            </a:r>
            <a:endParaRPr lang="en-US" altLang="zh-CN" sz="2400" dirty="0"/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       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基本语法格式为：</a:t>
            </a:r>
            <a:r>
              <a:rPr lang="en-US" altLang="zh-CN" sz="2400" b="1" i="1" dirty="0">
                <a:solidFill>
                  <a:srgbClr val="4E8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in/not in </a:t>
            </a:r>
            <a:r>
              <a:rPr lang="en-US" altLang="zh-CN" sz="2400" b="1" i="1" dirty="0">
                <a:solidFill>
                  <a:srgbClr val="4E8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sequence</a:t>
            </a:r>
            <a:endParaRPr lang="zh-CN" altLang="en-US" sz="2400" b="1" i="1" dirty="0">
              <a:solidFill>
                <a:srgbClr val="4E8F00"/>
              </a:solidFill>
            </a:endParaRPr>
          </a:p>
        </p:txBody>
      </p:sp>
      <p:sp>
        <p:nvSpPr>
          <p:cNvPr id="20" name="标注: 弯曲线形 1"/>
          <p:cNvSpPr/>
          <p:nvPr/>
        </p:nvSpPr>
        <p:spPr>
          <a:xfrm>
            <a:off x="8453518" y="2481290"/>
            <a:ext cx="2632064" cy="504119"/>
          </a:xfrm>
          <a:prstGeom prst="borderCallout2">
            <a:avLst>
              <a:gd name="adj1" fmla="val 47413"/>
              <a:gd name="adj2" fmla="val -41"/>
              <a:gd name="adj3" fmla="val 45805"/>
              <a:gd name="adj4" fmla="val -20488"/>
              <a:gd name="adj5" fmla="val 13295"/>
              <a:gd name="adj6" fmla="val -42148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序列</a:t>
            </a:r>
            <a:r>
              <a:rPr lang="en-US" altLang="zh-CN" dirty="0"/>
              <a:t>(</a:t>
            </a:r>
            <a:r>
              <a:rPr lang="en-US" altLang="zh-CN" dirty="0" err="1"/>
              <a:t>str,list</a:t>
            </a:r>
            <a:r>
              <a:rPr lang="en-US" altLang="zh-CN" dirty="0"/>
              <a:t>, tuple)</a:t>
            </a:r>
            <a:endParaRPr lang="zh-CN" altLang="en-US" dirty="0"/>
          </a:p>
        </p:txBody>
      </p:sp>
      <p:sp>
        <p:nvSpPr>
          <p:cNvPr id="21" name="标注: 弯曲线形 1"/>
          <p:cNvSpPr/>
          <p:nvPr/>
        </p:nvSpPr>
        <p:spPr>
          <a:xfrm>
            <a:off x="5959329" y="1435778"/>
            <a:ext cx="1149556" cy="504119"/>
          </a:xfrm>
          <a:prstGeom prst="borderCallout2">
            <a:avLst>
              <a:gd name="adj1" fmla="val 47413"/>
              <a:gd name="adj2" fmla="val -41"/>
              <a:gd name="adj3" fmla="val 45805"/>
              <a:gd name="adj4" fmla="val -20488"/>
              <a:gd name="adj5" fmla="val 156205"/>
              <a:gd name="adj6" fmla="val -46968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检查元素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6DD3B7-7CBD-633B-02F2-D3DF16753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1" y="3340016"/>
            <a:ext cx="5397500" cy="2298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CE1C8DB-7271-7CF4-D9AE-7ED5AD394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241" y="3521684"/>
            <a:ext cx="5854700" cy="800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B78D774-040F-01AB-5773-71276F89A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241" y="4908085"/>
            <a:ext cx="5778500" cy="533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）序列加法</a:t>
            </a:r>
            <a:endParaRPr lang="en-US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51960" y="1398625"/>
            <a:ext cx="925341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ea typeface="宋体" panose="02010600030101010101" pitchFamily="2" charset="-122"/>
                <a:cs typeface="宋体" panose="02010600030101010101" pitchFamily="2" charset="-122"/>
              </a:rPr>
              <a:t>加法：</a:t>
            </a:r>
            <a:r>
              <a:rPr lang="en-US" altLang="zh-CN" sz="2400" kern="100" dirty="0"/>
              <a:t>s + t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solidFill>
                  <a:srgbClr val="FF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序列的首尾相接，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但</a:t>
            </a:r>
            <a:r>
              <a:rPr lang="zh-CN" altLang="zh-CN" sz="2400" b="1" dirty="0">
                <a:solidFill>
                  <a:srgbClr val="FF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加法并不会消除重复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endParaRPr lang="zh-CN" altLang="en-US" sz="2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75D0ADB-80BC-33FD-199D-017E0690E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015" y="2034168"/>
            <a:ext cx="7295970" cy="4288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）序列乘法</a:t>
            </a:r>
            <a:endParaRPr lang="en-US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74262" y="1498986"/>
            <a:ext cx="98630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ea typeface="宋体" panose="02010600030101010101" pitchFamily="2" charset="-122"/>
                <a:cs typeface="宋体" panose="02010600030101010101" pitchFamily="2" charset="-122"/>
              </a:rPr>
              <a:t>乘</a:t>
            </a:r>
            <a:r>
              <a:rPr lang="zh-CN" altLang="zh-CN" sz="2400" dirty="0">
                <a:ea typeface="宋体" panose="02010600030101010101" pitchFamily="2" charset="-122"/>
                <a:cs typeface="宋体" panose="02010600030101010101" pitchFamily="2" charset="-122"/>
              </a:rPr>
              <a:t>法</a:t>
            </a:r>
            <a:r>
              <a:rPr lang="zh-CN" altLang="en-US" sz="2400" dirty="0"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400" kern="100" dirty="0"/>
              <a:t>s * n </a:t>
            </a:r>
            <a:r>
              <a:rPr lang="zh-CN" altLang="zh-CN" sz="2400" b="1" dirty="0">
                <a:solidFill>
                  <a:srgbClr val="FF0000"/>
                </a:solidFill>
              </a:rPr>
              <a:t>复制序列</a:t>
            </a:r>
            <a:r>
              <a:rPr lang="zh-CN" altLang="en-US" sz="2400" b="1" dirty="0">
                <a:solidFill>
                  <a:srgbClr val="FF0000"/>
                </a:solidFill>
              </a:rPr>
              <a:t>，原序列的数据项在</a:t>
            </a:r>
            <a:r>
              <a:rPr lang="zh-CN" altLang="zh-CN" sz="2400" b="1" dirty="0">
                <a:solidFill>
                  <a:srgbClr val="FF0000"/>
                </a:solidFill>
              </a:rPr>
              <a:t>新序列中多次</a:t>
            </a:r>
            <a:r>
              <a:rPr lang="zh-CN" altLang="en-US" sz="2400" b="1" dirty="0">
                <a:solidFill>
                  <a:srgbClr val="FF0000"/>
                </a:solidFill>
              </a:rPr>
              <a:t>重复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1E7790-CD07-5BDE-2997-C105A9E09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262" y="2107814"/>
            <a:ext cx="5105400" cy="3251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61ACE8-9188-D6FD-9A2F-13E097A42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172" y="2083267"/>
            <a:ext cx="3568700" cy="2628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CD9A5D-3A83-4C5A-0A11-82736B83E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882" y="5029200"/>
            <a:ext cx="4711700" cy="1371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）序列乘法</a:t>
            </a:r>
            <a:endParaRPr 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662507" y="2648967"/>
            <a:ext cx="885650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kl = [1,2]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km = kl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ls</a:t>
            </a:r>
            <a:r>
              <a:rPr lang="en-US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[kl]*3                 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print('kl=',kl,', ls=',ls)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kl.append</a:t>
            </a:r>
            <a:r>
              <a:rPr lang="en-US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(3)                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print('kl=',kl,', ls=',</a:t>
            </a:r>
            <a:r>
              <a:rPr lang="en-US" altLang="zh-CN" sz="20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ls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rPr>
              <a:t>print(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'km=',km)</a:t>
            </a:r>
            <a:endParaRPr lang="zh-CN" altLang="en-US" sz="2000" dirty="0"/>
          </a:p>
        </p:txBody>
      </p:sp>
      <p:sp>
        <p:nvSpPr>
          <p:cNvPr id="19" name="矩形 18"/>
          <p:cNvSpPr/>
          <p:nvPr/>
        </p:nvSpPr>
        <p:spPr>
          <a:xfrm>
            <a:off x="4649003" y="5211807"/>
            <a:ext cx="7331242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28600" algn="just">
              <a:lnSpc>
                <a:spcPct val="115000"/>
              </a:lnSpc>
              <a:spcAft>
                <a:spcPts val="0"/>
              </a:spcAft>
            </a:pPr>
            <a:r>
              <a:rPr lang="zh-CN" altLang="en-US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结果：</a:t>
            </a:r>
            <a:r>
              <a:rPr lang="en-US" altLang="zh-CN" sz="2000" b="1" kern="1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kl= [1,2,3], ls= [[1,2,3], [1,2,3], [1,2,3]]</a:t>
            </a:r>
          </a:p>
          <a:p>
            <a:pPr indent="228600" algn="just">
              <a:lnSpc>
                <a:spcPct val="115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km= [1,2,3]</a:t>
            </a:r>
            <a:endParaRPr lang="zh-CN" altLang="zh-CN" sz="2800" b="1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2507" y="2702785"/>
            <a:ext cx="4181139" cy="345588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注: 弯曲线形 1"/>
          <p:cNvSpPr/>
          <p:nvPr/>
        </p:nvSpPr>
        <p:spPr>
          <a:xfrm>
            <a:off x="4958774" y="3677801"/>
            <a:ext cx="4001500" cy="504119"/>
          </a:xfrm>
          <a:prstGeom prst="borderCallout2">
            <a:avLst>
              <a:gd name="adj1" fmla="val 47413"/>
              <a:gd name="adj2" fmla="val -41"/>
              <a:gd name="adj3" fmla="val 48553"/>
              <a:gd name="adj4" fmla="val -19388"/>
              <a:gd name="adj5" fmla="val 51771"/>
              <a:gd name="adj6" fmla="val -5946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将</a:t>
            </a:r>
            <a:r>
              <a:rPr lang="en-US" altLang="zh-CN" dirty="0"/>
              <a:t>kl</a:t>
            </a:r>
            <a:r>
              <a:rPr lang="zh-CN" altLang="en-US" dirty="0"/>
              <a:t>重复引用了</a:t>
            </a:r>
            <a:r>
              <a:rPr lang="en-US" altLang="zh-CN" dirty="0"/>
              <a:t>3</a:t>
            </a:r>
            <a:r>
              <a:rPr lang="zh-CN" altLang="en-US" dirty="0"/>
              <a:t>次 </a:t>
            </a:r>
            <a:r>
              <a:rPr lang="en-US" altLang="zh-CN" dirty="0" err="1"/>
              <a:t>ls</a:t>
            </a:r>
            <a:r>
              <a:rPr lang="en-US" altLang="zh-CN" dirty="0"/>
              <a:t>=[</a:t>
            </a:r>
            <a:r>
              <a:rPr lang="en-US" altLang="zh-CN" dirty="0" err="1"/>
              <a:t>kl,kl,kl</a:t>
            </a:r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11" name="标注: 弯曲线形 1"/>
          <p:cNvSpPr/>
          <p:nvPr/>
        </p:nvSpPr>
        <p:spPr>
          <a:xfrm>
            <a:off x="5005167" y="4582777"/>
            <a:ext cx="2518947" cy="504119"/>
          </a:xfrm>
          <a:prstGeom prst="borderCallout2">
            <a:avLst>
              <a:gd name="adj1" fmla="val 47413"/>
              <a:gd name="adj2" fmla="val -41"/>
              <a:gd name="adj3" fmla="val 45805"/>
              <a:gd name="adj4" fmla="val -20488"/>
              <a:gd name="adj5" fmla="val 46275"/>
              <a:gd name="adj6" fmla="val -5946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向</a:t>
            </a:r>
            <a:r>
              <a:rPr lang="en-US" altLang="zh-CN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kl</a:t>
            </a:r>
            <a:r>
              <a:rPr lang="zh-CN" altLang="zh-CN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中添加一个元素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179106" y="4184671"/>
            <a:ext cx="55675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结果：</a:t>
            </a:r>
            <a:r>
              <a:rPr lang="en-US" altLang="zh-CN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kl= [1,2] , </a:t>
            </a:r>
            <a:r>
              <a:rPr lang="en-US" altLang="zh-CN" b="1" kern="100" dirty="0" err="1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ls</a:t>
            </a:r>
            <a:r>
              <a:rPr lang="en-US" altLang="zh-CN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= [[1,2], [1,2], [1,2]]</a:t>
            </a:r>
            <a:endParaRPr lang="zh-CN" altLang="en-US" dirty="0"/>
          </a:p>
        </p:txBody>
      </p:sp>
      <p:sp>
        <p:nvSpPr>
          <p:cNvPr id="22" name="标注: 弯曲线形 1"/>
          <p:cNvSpPr/>
          <p:nvPr/>
        </p:nvSpPr>
        <p:spPr>
          <a:xfrm>
            <a:off x="4958774" y="3089795"/>
            <a:ext cx="4001500" cy="504119"/>
          </a:xfrm>
          <a:prstGeom prst="borderCallout2">
            <a:avLst>
              <a:gd name="adj1" fmla="val 47413"/>
              <a:gd name="adj2" fmla="val -41"/>
              <a:gd name="adj3" fmla="val 48553"/>
              <a:gd name="adj4" fmla="val -19388"/>
              <a:gd name="adj5" fmla="val 51771"/>
              <a:gd name="adj6" fmla="val -5946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将</a:t>
            </a:r>
            <a:r>
              <a:rPr lang="en-US" altLang="zh-CN" dirty="0"/>
              <a:t>kl</a:t>
            </a:r>
            <a:r>
              <a:rPr lang="zh-CN" altLang="en-US" dirty="0"/>
              <a:t>的引用赋值给</a:t>
            </a:r>
            <a:r>
              <a:rPr lang="en-US" altLang="zh-CN" dirty="0"/>
              <a:t>km</a:t>
            </a:r>
            <a:endParaRPr lang="zh-CN" altLang="en-US" dirty="0"/>
          </a:p>
        </p:txBody>
      </p:sp>
      <p:grpSp>
        <p:nvGrpSpPr>
          <p:cNvPr id="41" name="组合 40"/>
          <p:cNvGrpSpPr/>
          <p:nvPr/>
        </p:nvGrpSpPr>
        <p:grpSpPr>
          <a:xfrm>
            <a:off x="9232735" y="1681915"/>
            <a:ext cx="2442708" cy="2119867"/>
            <a:chOff x="9040229" y="1406653"/>
            <a:chExt cx="2442708" cy="2119867"/>
          </a:xfrm>
        </p:grpSpPr>
        <p:grpSp>
          <p:nvGrpSpPr>
            <p:cNvPr id="13" name="组合 12"/>
            <p:cNvGrpSpPr/>
            <p:nvPr/>
          </p:nvGrpSpPr>
          <p:grpSpPr>
            <a:xfrm>
              <a:off x="9040229" y="1726348"/>
              <a:ext cx="2237523" cy="1800172"/>
              <a:chOff x="9164499" y="2866178"/>
              <a:chExt cx="2237523" cy="1800172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10457533" y="3418411"/>
                <a:ext cx="944489" cy="36933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kern="100" dirty="0">
                    <a:latin typeface="Consolas" panose="020B0609020204030204" pitchFamily="49" charset="0"/>
                    <a:ea typeface="宋体" panose="02010600030101010101" pitchFamily="2" charset="-122"/>
                    <a:cs typeface="Consolas" panose="020B0609020204030204" pitchFamily="49" charset="0"/>
                  </a:rPr>
                  <a:t>[1,2] </a:t>
                </a:r>
                <a:endParaRPr lang="zh-CN" altLang="en-US" dirty="0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9184939" y="3747313"/>
                <a:ext cx="4379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kern="100" dirty="0">
                    <a:latin typeface="Consolas" panose="020B0609020204030204" pitchFamily="49" charset="0"/>
                    <a:ea typeface="宋体" panose="02010600030101010101" pitchFamily="2" charset="-122"/>
                    <a:cs typeface="Consolas" panose="020B0609020204030204" pitchFamily="49" charset="0"/>
                  </a:rPr>
                  <a:t>km</a:t>
                </a:r>
                <a:endParaRPr lang="zh-CN" altLang="en-US" dirty="0"/>
              </a:p>
            </p:txBody>
          </p:sp>
          <p:cxnSp>
            <p:nvCxnSpPr>
              <p:cNvPr id="21" name="直接箭头连接符 20"/>
              <p:cNvCxnSpPr>
                <a:stCxn id="17" idx="3"/>
                <a:endCxn id="14" idx="1"/>
              </p:cNvCxnSpPr>
              <p:nvPr/>
            </p:nvCxnSpPr>
            <p:spPr>
              <a:xfrm flipV="1">
                <a:off x="9622879" y="3603077"/>
                <a:ext cx="834654" cy="328902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矩形 22"/>
              <p:cNvSpPr/>
              <p:nvPr/>
            </p:nvSpPr>
            <p:spPr>
              <a:xfrm>
                <a:off x="9164499" y="3100481"/>
                <a:ext cx="4379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kern="100" dirty="0">
                    <a:latin typeface="Consolas" panose="020B0609020204030204" pitchFamily="49" charset="0"/>
                    <a:ea typeface="宋体" panose="02010600030101010101" pitchFamily="2" charset="-122"/>
                    <a:cs typeface="Consolas" panose="020B0609020204030204" pitchFamily="49" charset="0"/>
                  </a:rPr>
                  <a:t>kl</a:t>
                </a:r>
                <a:endParaRPr lang="zh-CN" altLang="en-US" dirty="0"/>
              </a:p>
            </p:txBody>
          </p:sp>
          <p:cxnSp>
            <p:nvCxnSpPr>
              <p:cNvPr id="24" name="直接箭头连接符 23"/>
              <p:cNvCxnSpPr>
                <a:endCxn id="14" idx="0"/>
              </p:cNvCxnSpPr>
              <p:nvPr/>
            </p:nvCxnSpPr>
            <p:spPr>
              <a:xfrm>
                <a:off x="10870926" y="2876621"/>
                <a:ext cx="58852" cy="541790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矩形 27"/>
              <p:cNvSpPr/>
              <p:nvPr/>
            </p:nvSpPr>
            <p:spPr>
              <a:xfrm>
                <a:off x="10929777" y="4297018"/>
                <a:ext cx="3113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kern="100" dirty="0">
                    <a:latin typeface="Consolas" panose="020B0609020204030204" pitchFamily="49" charset="0"/>
                    <a:ea typeface="宋体" panose="02010600030101010101" pitchFamily="2" charset="-122"/>
                    <a:cs typeface="Consolas" panose="020B0609020204030204" pitchFamily="49" charset="0"/>
                  </a:rPr>
                  <a:t>3</a:t>
                </a:r>
                <a:endParaRPr lang="zh-CN" altLang="en-US" dirty="0"/>
              </a:p>
            </p:txBody>
          </p:sp>
          <p:cxnSp>
            <p:nvCxnSpPr>
              <p:cNvPr id="29" name="直接箭头连接符 28"/>
              <p:cNvCxnSpPr>
                <a:stCxn id="28" idx="0"/>
              </p:cNvCxnSpPr>
              <p:nvPr/>
            </p:nvCxnSpPr>
            <p:spPr>
              <a:xfrm flipV="1">
                <a:off x="11085429" y="3859861"/>
                <a:ext cx="0" cy="43715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/>
              <p:cNvCxnSpPr/>
              <p:nvPr/>
            </p:nvCxnSpPr>
            <p:spPr>
              <a:xfrm>
                <a:off x="10530763" y="2866178"/>
                <a:ext cx="347724" cy="540725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>
                <a:endCxn id="14" idx="0"/>
              </p:cNvCxnSpPr>
              <p:nvPr/>
            </p:nvCxnSpPr>
            <p:spPr>
              <a:xfrm flipH="1">
                <a:off x="10929778" y="2885273"/>
                <a:ext cx="288872" cy="53313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/>
              <p:nvPr/>
            </p:nvCxnSpPr>
            <p:spPr>
              <a:xfrm>
                <a:off x="9525275" y="3325810"/>
                <a:ext cx="850096" cy="1659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矩形 31"/>
            <p:cNvSpPr/>
            <p:nvPr/>
          </p:nvSpPr>
          <p:spPr>
            <a:xfrm>
              <a:off x="10128078" y="1406653"/>
              <a:ext cx="135485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b="1" dirty="0"/>
                <a:t>[</a:t>
              </a:r>
              <a:r>
                <a:rPr lang="en-US" altLang="zh-CN" b="1" dirty="0" err="1"/>
                <a:t>kl,kl,kl</a:t>
              </a:r>
              <a:r>
                <a:rPr lang="en-US" altLang="zh-CN" b="1" dirty="0"/>
                <a:t>]</a:t>
              </a:r>
              <a:endParaRPr lang="zh-CN" altLang="en-US" b="1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9C4197D-DB53-9B9A-9E02-9635EBAF25DC}"/>
              </a:ext>
            </a:extLst>
          </p:cNvPr>
          <p:cNvSpPr txBox="1"/>
          <p:nvPr/>
        </p:nvSpPr>
        <p:spPr>
          <a:xfrm>
            <a:off x="871735" y="1258456"/>
            <a:ext cx="9338707" cy="1156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i="0" dirty="0">
                <a:solidFill>
                  <a:srgbClr val="26262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当多个变量或数据结构引用同一对象时，对任何一个引用对象的修改都会影响到所有引用该对象的地方。</a:t>
            </a:r>
            <a:endParaRPr lang="en-US" altLang="zh-CN" sz="1600" i="0" dirty="0">
              <a:solidFill>
                <a:srgbClr val="262625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i="0" dirty="0">
                <a:solidFill>
                  <a:srgbClr val="26262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因此，在使用列表（或其他可变对象）时，理解引用的概念和如何避免意外修改是确保程序正确运行的关键。</a:t>
            </a:r>
            <a:endParaRPr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）序列索引</a:t>
            </a:r>
            <a:endParaRPr lang="en-US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04900" y="1523573"/>
            <a:ext cx="53094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ea typeface="宋体" panose="02010600030101010101" pitchFamily="2" charset="-122"/>
                <a:cs typeface="宋体" panose="02010600030101010101" pitchFamily="2" charset="-122"/>
              </a:rPr>
              <a:t>索引</a:t>
            </a:r>
            <a:r>
              <a:rPr lang="zh-CN" altLang="en-US" sz="2400" dirty="0"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400" kern="100" dirty="0"/>
              <a:t>s[</a:t>
            </a:r>
            <a:r>
              <a:rPr lang="en-US" altLang="zh-CN" sz="2400" kern="100" dirty="0" err="1"/>
              <a:t>i</a:t>
            </a:r>
            <a:r>
              <a:rPr lang="en-US" altLang="zh-CN" sz="2400" kern="100" dirty="0"/>
              <a:t>]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solidFill>
                  <a:srgbClr val="FF0000"/>
                </a:solidFill>
              </a:rPr>
              <a:t>通过编号访问</a:t>
            </a:r>
            <a:r>
              <a:rPr lang="zh-CN" altLang="en-US" sz="2400" b="1" dirty="0">
                <a:solidFill>
                  <a:srgbClr val="FF0000"/>
                </a:solidFill>
              </a:rPr>
              <a:t>序列中</a:t>
            </a:r>
            <a:r>
              <a:rPr lang="zh-CN" altLang="zh-CN" sz="2400" b="1" dirty="0">
                <a:solidFill>
                  <a:srgbClr val="FF0000"/>
                </a:solidFill>
              </a:rPr>
              <a:t>各元素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14" name="Picture 1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367" y="568713"/>
            <a:ext cx="4502241" cy="16192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BC6E4E-6CCC-25C3-50E6-D20C44206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889" y="2353991"/>
            <a:ext cx="6666703" cy="4013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）序列切片</a:t>
            </a:r>
            <a:endParaRPr lang="en-US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04900" y="1360743"/>
            <a:ext cx="102835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ea typeface="宋体" panose="02010600030101010101" pitchFamily="2" charset="-122"/>
                <a:cs typeface="宋体" panose="02010600030101010101" pitchFamily="2" charset="-122"/>
              </a:rPr>
              <a:t>切片：</a:t>
            </a:r>
            <a:r>
              <a:rPr lang="en-US" altLang="zh-CN" sz="2400" kern="100" dirty="0"/>
              <a:t>s[</a:t>
            </a:r>
            <a:r>
              <a:rPr lang="en-US" altLang="zh-CN" sz="2400" kern="100" dirty="0" err="1"/>
              <a:t>i:j:k</a:t>
            </a:r>
            <a:r>
              <a:rPr lang="en-US" altLang="zh-CN" sz="2400" kern="100" dirty="0"/>
              <a:t>]</a:t>
            </a:r>
            <a:r>
              <a:rPr lang="zh-CN" altLang="en-US" sz="2400" kern="100" dirty="0"/>
              <a:t> </a:t>
            </a:r>
            <a:r>
              <a:rPr lang="zh-CN" altLang="zh-CN" sz="2400" b="1" dirty="0">
                <a:solidFill>
                  <a:srgbClr val="FF0000"/>
                </a:solidFill>
              </a:rPr>
              <a:t>获取</a:t>
            </a:r>
            <a:r>
              <a:rPr lang="zh-CN" altLang="en-US" sz="2400" b="1" dirty="0">
                <a:solidFill>
                  <a:srgbClr val="FF0000"/>
                </a:solidFill>
              </a:rPr>
              <a:t>从</a:t>
            </a:r>
            <a:r>
              <a:rPr lang="en-US" altLang="zh-CN" sz="2400" b="1" dirty="0" err="1">
                <a:solidFill>
                  <a:srgbClr val="FF0000"/>
                </a:solidFill>
              </a:rPr>
              <a:t>i</a:t>
            </a:r>
            <a:r>
              <a:rPr lang="zh-CN" altLang="en-US" sz="2400" b="1" dirty="0">
                <a:solidFill>
                  <a:srgbClr val="FF0000"/>
                </a:solidFill>
              </a:rPr>
              <a:t>到</a:t>
            </a:r>
            <a:r>
              <a:rPr lang="en-US" altLang="zh-CN" sz="2400" b="1" dirty="0">
                <a:solidFill>
                  <a:srgbClr val="FF0000"/>
                </a:solidFill>
              </a:rPr>
              <a:t>j</a:t>
            </a:r>
            <a:r>
              <a:rPr lang="zh-CN" altLang="en-US" sz="2400" b="1" dirty="0">
                <a:solidFill>
                  <a:srgbClr val="FF0000"/>
                </a:solidFill>
              </a:rPr>
              <a:t>且步长为</a:t>
            </a:r>
            <a:r>
              <a:rPr lang="en-US" altLang="zh-CN" sz="2400" b="1" dirty="0">
                <a:solidFill>
                  <a:srgbClr val="FF0000"/>
                </a:solidFill>
              </a:rPr>
              <a:t>k</a:t>
            </a:r>
            <a:r>
              <a:rPr lang="zh-CN" altLang="zh-CN" sz="2400" b="1" dirty="0">
                <a:solidFill>
                  <a:srgbClr val="FF0000"/>
                </a:solidFill>
              </a:rPr>
              <a:t>的元素</a:t>
            </a:r>
            <a:r>
              <a:rPr lang="zh-CN" altLang="en-US" sz="2400" b="1" dirty="0">
                <a:solidFill>
                  <a:srgbClr val="FF0000"/>
                </a:solidFill>
              </a:rPr>
              <a:t>（包含</a:t>
            </a:r>
            <a:r>
              <a:rPr lang="en-US" altLang="zh-CN" sz="2400" b="1" dirty="0" err="1">
                <a:solidFill>
                  <a:srgbClr val="FF0000"/>
                </a:solidFill>
              </a:rPr>
              <a:t>i</a:t>
            </a:r>
            <a:r>
              <a:rPr lang="zh-CN" altLang="en-US" sz="2400" b="1" dirty="0">
                <a:solidFill>
                  <a:srgbClr val="FF0000"/>
                </a:solidFill>
              </a:rPr>
              <a:t>但不包含</a:t>
            </a:r>
            <a:r>
              <a:rPr lang="en-US" altLang="zh-CN" sz="2400" b="1" dirty="0">
                <a:solidFill>
                  <a:srgbClr val="FF0000"/>
                </a:solidFill>
              </a:rPr>
              <a:t>j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		s[</a:t>
            </a:r>
            <a:r>
              <a:rPr lang="en-US" altLang="zh-CN" sz="2400" b="1" dirty="0" err="1">
                <a:solidFill>
                  <a:srgbClr val="FF0000"/>
                </a:solidFill>
              </a:rPr>
              <a:t>i:j</a:t>
            </a:r>
            <a:r>
              <a:rPr lang="en-US" altLang="zh-CN" sz="2400" b="1" dirty="0">
                <a:solidFill>
                  <a:srgbClr val="FF0000"/>
                </a:solidFill>
              </a:rPr>
              <a:t>] </a:t>
            </a:r>
            <a:r>
              <a:rPr lang="zh-CN" altLang="en-US" sz="2400" b="1" dirty="0">
                <a:solidFill>
                  <a:srgbClr val="FF0000"/>
                </a:solidFill>
              </a:rPr>
              <a:t>不输入</a:t>
            </a:r>
            <a:r>
              <a:rPr lang="en-US" altLang="zh-CN" sz="2400" b="1" dirty="0">
                <a:solidFill>
                  <a:srgbClr val="FF0000"/>
                </a:solidFill>
              </a:rPr>
              <a:t>k</a:t>
            </a:r>
            <a:r>
              <a:rPr lang="zh-CN" altLang="en-US" sz="2400" b="1" dirty="0">
                <a:solidFill>
                  <a:srgbClr val="FF0000"/>
                </a:solidFill>
              </a:rPr>
              <a:t>的话，默认步长</a:t>
            </a:r>
            <a:r>
              <a:rPr lang="en-US" altLang="zh-CN" sz="2400" b="1" dirty="0">
                <a:solidFill>
                  <a:srgbClr val="FF0000"/>
                </a:solidFill>
              </a:rPr>
              <a:t>k=1</a:t>
            </a:r>
            <a:endParaRPr lang="zh-CN" altLang="en-US" sz="4000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36465" y="2828246"/>
            <a:ext cx="23006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 = [1,2,3,4,5]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s[2:4] 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36465" y="4090388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s[:3] 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3936465" y="4911230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s[3:] </a:t>
            </a:r>
            <a:endParaRPr lang="zh-CN" altLang="en-US" sz="2000" dirty="0"/>
          </a:p>
        </p:txBody>
      </p:sp>
      <p:sp>
        <p:nvSpPr>
          <p:cNvPr id="9" name="矩形 8"/>
          <p:cNvSpPr/>
          <p:nvPr/>
        </p:nvSpPr>
        <p:spPr>
          <a:xfrm>
            <a:off x="3865932" y="5805259"/>
            <a:ext cx="11721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s[::2] </a:t>
            </a:r>
            <a:endParaRPr lang="zh-CN" altLang="en-US" sz="2000" dirty="0"/>
          </a:p>
        </p:txBody>
      </p:sp>
      <p:sp>
        <p:nvSpPr>
          <p:cNvPr id="10" name="矩形 9"/>
          <p:cNvSpPr/>
          <p:nvPr/>
        </p:nvSpPr>
        <p:spPr>
          <a:xfrm>
            <a:off x="7361441" y="2471078"/>
            <a:ext cx="1954381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8600" algn="just">
              <a:lnSpc>
                <a:spcPct val="115000"/>
              </a:lnSpc>
              <a:spcAft>
                <a:spcPts val="0"/>
              </a:spcAft>
            </a:pPr>
            <a:r>
              <a:rPr lang="zh-CN" altLang="en-US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结果：</a:t>
            </a:r>
            <a:endParaRPr lang="en-US" altLang="zh-CN" sz="2000" b="1" kern="100" dirty="0">
              <a:solidFill>
                <a:srgbClr val="0070C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indent="228600" algn="just">
              <a:lnSpc>
                <a:spcPct val="115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[3, 4]</a:t>
            </a:r>
            <a:endParaRPr lang="zh-CN" altLang="zh-CN" sz="28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064124" y="3844876"/>
            <a:ext cx="1685077" cy="425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8600" algn="just">
              <a:lnSpc>
                <a:spcPct val="115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[1, 2, 3]</a:t>
            </a:r>
            <a:endParaRPr lang="zh-CN" altLang="zh-CN" sz="28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064124" y="4677535"/>
            <a:ext cx="1261884" cy="425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8600" algn="just">
              <a:lnSpc>
                <a:spcPct val="115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[4, 5]</a:t>
            </a:r>
            <a:endParaRPr lang="zh-CN" altLang="zh-CN" sz="28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064123" y="5510194"/>
            <a:ext cx="1685077" cy="425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8600" algn="just">
              <a:lnSpc>
                <a:spcPct val="115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[1, 3, 5]</a:t>
            </a:r>
            <a:endParaRPr lang="zh-CN" altLang="zh-CN" sz="28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936465" y="2849121"/>
            <a:ext cx="3138344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936465" y="4084904"/>
            <a:ext cx="3138344" cy="4634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936465" y="4924841"/>
            <a:ext cx="3138344" cy="4634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926520" y="5837213"/>
            <a:ext cx="3138344" cy="4634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标注: 弯曲线形 1"/>
          <p:cNvSpPr/>
          <p:nvPr/>
        </p:nvSpPr>
        <p:spPr>
          <a:xfrm>
            <a:off x="1413935" y="2722058"/>
            <a:ext cx="1684816" cy="504119"/>
          </a:xfrm>
          <a:prstGeom prst="borderCallout2">
            <a:avLst>
              <a:gd name="adj1" fmla="val 47413"/>
              <a:gd name="adj2" fmla="val 101598"/>
              <a:gd name="adj3" fmla="val 125506"/>
              <a:gd name="adj4" fmla="val 134184"/>
              <a:gd name="adj5" fmla="val 123226"/>
              <a:gd name="adj6" fmla="val 155763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默认步长为</a:t>
            </a:r>
            <a:r>
              <a:rPr lang="en-US" altLang="zh-CN" b="1" kern="1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</a:t>
            </a:r>
            <a:endParaRPr lang="zh-CN" altLang="zh-CN" sz="2400" b="1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标注: 弯曲线形 1"/>
          <p:cNvSpPr/>
          <p:nvPr/>
        </p:nvSpPr>
        <p:spPr>
          <a:xfrm>
            <a:off x="1413935" y="3631476"/>
            <a:ext cx="1684816" cy="658967"/>
          </a:xfrm>
          <a:prstGeom prst="borderCallout2">
            <a:avLst>
              <a:gd name="adj1" fmla="val 47413"/>
              <a:gd name="adj2" fmla="val 101598"/>
              <a:gd name="adj3" fmla="val 104481"/>
              <a:gd name="adj4" fmla="val 131503"/>
              <a:gd name="adj5" fmla="val 104950"/>
              <a:gd name="adj6" fmla="val 155300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Aft>
                <a:spcPts val="0"/>
              </a:spcAft>
            </a:pPr>
            <a:r>
              <a:rPr lang="zh-CN" altLang="en-US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默认从</a:t>
            </a:r>
            <a:r>
              <a:rPr lang="zh-CN" altLang="en-US" b="1" kern="1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第一个</a:t>
            </a:r>
            <a:r>
              <a:rPr lang="zh-CN" altLang="en-US" kern="1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元素</a:t>
            </a:r>
            <a:r>
              <a:rPr lang="zh-CN" altLang="en-US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开始取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标注: 弯曲线形 1"/>
          <p:cNvSpPr/>
          <p:nvPr/>
        </p:nvSpPr>
        <p:spPr>
          <a:xfrm>
            <a:off x="1399336" y="4435151"/>
            <a:ext cx="1684816" cy="658967"/>
          </a:xfrm>
          <a:prstGeom prst="borderCallout2">
            <a:avLst>
              <a:gd name="adj1" fmla="val 47413"/>
              <a:gd name="adj2" fmla="val 101598"/>
              <a:gd name="adj3" fmla="val 104481"/>
              <a:gd name="adj4" fmla="val 131503"/>
              <a:gd name="adj5" fmla="val 104950"/>
              <a:gd name="adj6" fmla="val 155300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Aft>
                <a:spcPts val="0"/>
              </a:spcAft>
            </a:pPr>
            <a:r>
              <a:rPr lang="zh-CN" altLang="en-US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默认取到</a:t>
            </a:r>
            <a:r>
              <a:rPr lang="zh-CN" altLang="en-US" b="1" kern="1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最后一个</a:t>
            </a:r>
            <a:r>
              <a:rPr lang="zh-CN" altLang="en-US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元素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标注: 弯曲线形 1"/>
          <p:cNvSpPr/>
          <p:nvPr/>
        </p:nvSpPr>
        <p:spPr>
          <a:xfrm>
            <a:off x="1396448" y="5350599"/>
            <a:ext cx="1684816" cy="658967"/>
          </a:xfrm>
          <a:prstGeom prst="borderCallout2">
            <a:avLst>
              <a:gd name="adj1" fmla="val 47413"/>
              <a:gd name="adj2" fmla="val 101598"/>
              <a:gd name="adj3" fmla="val 104481"/>
              <a:gd name="adj4" fmla="val 131503"/>
              <a:gd name="adj5" fmla="val 104950"/>
              <a:gd name="adj6" fmla="val 155300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设置步长为</a:t>
            </a:r>
            <a:r>
              <a:rPr lang="en-US" altLang="zh-CN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2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CE468-A002-164E-90F6-C3FF07390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D46BC08-5F12-8E2C-9C6B-868BCECA3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）序列切片</a:t>
            </a:r>
            <a:r>
              <a:rPr lang="en-US" altLang="zh-CN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</a:t>
            </a:r>
            <a:endParaRPr lang="en-US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265D72-F03C-279D-82F1-14BB693CF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41" y="1488378"/>
            <a:ext cx="5257800" cy="4394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B9D0BA-D50C-F50F-3509-BE83B0784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175" y="1354563"/>
            <a:ext cx="5092700" cy="1803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22F48F9-9270-31B7-60C0-3800FE7A5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175" y="3389970"/>
            <a:ext cx="4864100" cy="267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517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）通用内置函数</a:t>
            </a:r>
            <a:endParaRPr lang="en-US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F62634-7223-7514-A683-E946E0FB6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58" y="1912867"/>
            <a:ext cx="4343400" cy="3797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97CFCF-45C1-80B3-5122-515F0A113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282" y="1100679"/>
            <a:ext cx="5575300" cy="3517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E2AAA7-1910-0F2A-4DC0-BE58BE843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333" y="4738617"/>
            <a:ext cx="6413500" cy="1943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）通用内置函数</a:t>
            </a:r>
            <a:endParaRPr lang="en-US" b="1" dirty="0"/>
          </a:p>
        </p:txBody>
      </p:sp>
      <p:sp>
        <p:nvSpPr>
          <p:cNvPr id="6" name="矩形 5"/>
          <p:cNvSpPr/>
          <p:nvPr/>
        </p:nvSpPr>
        <p:spPr>
          <a:xfrm>
            <a:off x="1104900" y="1523573"/>
            <a:ext cx="106860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dirty="0"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dirty="0"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dirty="0">
                <a:ea typeface="宋体" panose="02010600030101010101" pitchFamily="2" charset="-122"/>
                <a:cs typeface="宋体" panose="02010600030101010101" pitchFamily="2" charset="-122"/>
              </a:rPr>
              <a:t>针对序列类型的内置函数：</a:t>
            </a:r>
            <a:r>
              <a:rPr lang="en-US" altLang="zh-CN" sz="2400" b="1" dirty="0" err="1">
                <a:solidFill>
                  <a:srgbClr val="FF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len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max()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min()</a:t>
            </a:r>
            <a:r>
              <a:rPr lang="zh-CN" altLang="en-US" sz="2400" b="1" dirty="0">
                <a:solidFill>
                  <a:srgbClr val="FF0000"/>
                </a:solidFill>
              </a:rPr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sum()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04900" y="2134328"/>
            <a:ext cx="7149714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拓展：</a:t>
            </a:r>
            <a:r>
              <a:rPr lang="en-US" altLang="zh-CN" sz="2000" b="1" dirty="0">
                <a:solidFill>
                  <a:srgbClr val="FF0000"/>
                </a:solidFill>
              </a:rPr>
              <a:t>ASCII</a:t>
            </a:r>
            <a:r>
              <a:rPr lang="zh-CN" altLang="en-US" sz="2000" b="1" dirty="0">
                <a:solidFill>
                  <a:srgbClr val="FF0000"/>
                </a:solidFill>
              </a:rPr>
              <a:t>编码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ASCII</a:t>
            </a:r>
            <a:r>
              <a:rPr lang="zh-CN" altLang="en-US" sz="2000" b="1" dirty="0"/>
              <a:t>编码：计算机里对字符的一种编码方式</a:t>
            </a:r>
            <a:endParaRPr lang="en-US" altLang="zh-CN" sz="2000" b="1" dirty="0"/>
          </a:p>
          <a:p>
            <a:r>
              <a:rPr lang="zh-CN" altLang="en-US" sz="2000" b="1" dirty="0"/>
              <a:t>每个字符，均对应一个二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十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十六等进制</a:t>
            </a:r>
            <a:endParaRPr lang="en-US" altLang="zh-CN" sz="2000" b="1" dirty="0"/>
          </a:p>
          <a:p>
            <a:r>
              <a:rPr lang="zh-CN" altLang="en-US" sz="2000" b="1" dirty="0"/>
              <a:t>例如：</a:t>
            </a:r>
            <a:r>
              <a:rPr lang="en-US" altLang="zh-CN" sz="2000" b="1" dirty="0"/>
              <a:t>	</a:t>
            </a:r>
            <a:r>
              <a:rPr lang="en-US" altLang="zh-CN" sz="2000" b="1" dirty="0">
                <a:solidFill>
                  <a:srgbClr val="7030A0"/>
                </a:solidFill>
              </a:rPr>
              <a:t>A:65; a:97; 0:48</a:t>
            </a:r>
          </a:p>
          <a:p>
            <a:endParaRPr lang="en-US" altLang="zh-CN" sz="2000" b="1" dirty="0"/>
          </a:p>
          <a:p>
            <a:r>
              <a:rPr lang="zh-CN" altLang="en-US" sz="2000" b="1" dirty="0"/>
              <a:t>常见</a:t>
            </a:r>
            <a:r>
              <a:rPr lang="en-US" altLang="zh-CN" sz="2000" b="1" dirty="0"/>
              <a:t>ASCII</a:t>
            </a:r>
            <a:r>
              <a:rPr lang="zh-CN" altLang="en-US" sz="2000" b="1" dirty="0"/>
              <a:t>码的大小规则：</a:t>
            </a:r>
            <a:r>
              <a:rPr lang="en-US" altLang="zh-CN" sz="2000" b="1" dirty="0">
                <a:solidFill>
                  <a:srgbClr val="FF0000"/>
                </a:solidFill>
              </a:rPr>
              <a:t>{0&lt;1&lt;2&lt;…&lt;9}&lt;{A&lt;B&lt;…&lt;Z}&lt;{a&lt;b&lt;…&lt;z}</a:t>
            </a:r>
          </a:p>
          <a:p>
            <a:endParaRPr lang="en-US" altLang="zh-CN" sz="2000" b="1" dirty="0"/>
          </a:p>
          <a:p>
            <a:r>
              <a:rPr lang="zh-CN" altLang="en-US" sz="2000" b="1" dirty="0"/>
              <a:t>同个字母的大写字母比小写字母要小</a:t>
            </a:r>
            <a:r>
              <a:rPr lang="en-US" altLang="zh-CN" sz="2000" b="1" dirty="0"/>
              <a:t>32</a:t>
            </a:r>
          </a:p>
          <a:p>
            <a:endParaRPr lang="en-US" altLang="zh-CN" sz="20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446" y="5304427"/>
            <a:ext cx="2880789" cy="97378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813" y="5304427"/>
            <a:ext cx="2596767" cy="10245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）通用内置函数</a:t>
            </a:r>
            <a:endParaRPr lang="en-US" b="1" dirty="0"/>
          </a:p>
        </p:txBody>
      </p:sp>
      <p:sp>
        <p:nvSpPr>
          <p:cNvPr id="4" name="矩形 3"/>
          <p:cNvSpPr/>
          <p:nvPr/>
        </p:nvSpPr>
        <p:spPr>
          <a:xfrm>
            <a:off x="724832" y="3638955"/>
            <a:ext cx="87044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Consolas" panose="020B0609020204030204" pitchFamily="49" charset="0"/>
              </a:rPr>
              <a:t>lst=['abcdhush8','abc9iujtwertwert',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'abcdjlas','abcdj897h']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a = min(lst)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print(a)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b = min(</a:t>
            </a:r>
            <a:r>
              <a:rPr lang="en-US" altLang="zh-CN" sz="1600" dirty="0" err="1">
                <a:latin typeface="Consolas" panose="020B0609020204030204" pitchFamily="49" charset="0"/>
              </a:rPr>
              <a:t>lst,key</a:t>
            </a:r>
            <a:r>
              <a:rPr lang="en-US" altLang="zh-CN" sz="1600" dirty="0">
                <a:latin typeface="Consolas" panose="020B0609020204030204" pitchFamily="49" charset="0"/>
              </a:rPr>
              <a:t>=</a:t>
            </a:r>
            <a:r>
              <a:rPr lang="en-US" altLang="zh-CN" sz="1600" dirty="0" err="1">
                <a:latin typeface="Consolas" panose="020B0609020204030204" pitchFamily="49" charset="0"/>
              </a:rPr>
              <a:t>len</a:t>
            </a:r>
            <a:r>
              <a:rPr lang="en-US" altLang="zh-CN" sz="1600" dirty="0">
                <a:latin typeface="Consolas" panose="020B0609020204030204" pitchFamily="49" charset="0"/>
              </a:rPr>
              <a:t>)      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print(b)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04900" y="1523573"/>
            <a:ext cx="107181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dirty="0"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dirty="0"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dirty="0">
                <a:ea typeface="宋体" panose="02010600030101010101" pitchFamily="2" charset="-122"/>
                <a:cs typeface="宋体" panose="02010600030101010101" pitchFamily="2" charset="-122"/>
              </a:rPr>
              <a:t>针对序列类型的内置函数：</a:t>
            </a:r>
            <a:r>
              <a:rPr lang="en-US" altLang="zh-CN" sz="2400" b="1" dirty="0" err="1">
                <a:solidFill>
                  <a:srgbClr val="FF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len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max()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min()</a:t>
            </a:r>
            <a:r>
              <a:rPr lang="zh-CN" altLang="en-US" sz="2400" b="1" dirty="0">
                <a:solidFill>
                  <a:srgbClr val="FF0000"/>
                </a:solidFill>
              </a:rPr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sum()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724832" y="3627633"/>
            <a:ext cx="4793653" cy="195031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0" name="矩形 9"/>
          <p:cNvSpPr/>
          <p:nvPr/>
        </p:nvSpPr>
        <p:spPr>
          <a:xfrm>
            <a:off x="749429" y="5556779"/>
            <a:ext cx="25763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</a:rPr>
              <a:t>结果：</a:t>
            </a:r>
            <a:r>
              <a:rPr lang="en-US" altLang="zh-CN" sz="1600" b="1" dirty="0">
                <a:solidFill>
                  <a:srgbClr val="0070C0"/>
                </a:solidFill>
              </a:rPr>
              <a:t>abc9iujtwertwert </a:t>
            </a:r>
          </a:p>
          <a:p>
            <a:r>
              <a:rPr lang="en-US" altLang="zh-CN" sz="1600" b="1" dirty="0">
                <a:solidFill>
                  <a:srgbClr val="0070C0"/>
                </a:solidFill>
              </a:rPr>
              <a:t>      </a:t>
            </a:r>
            <a:r>
              <a:rPr lang="en-US" altLang="zh-CN" sz="1600" b="1" dirty="0" err="1">
                <a:solidFill>
                  <a:srgbClr val="0070C0"/>
                </a:solidFill>
              </a:rPr>
              <a:t>abcdjlas</a:t>
            </a:r>
            <a:r>
              <a:rPr lang="en-US" altLang="zh-CN" sz="1600" b="1" dirty="0">
                <a:solidFill>
                  <a:srgbClr val="0070C0"/>
                </a:solidFill>
              </a:rPr>
              <a:t> </a:t>
            </a:r>
            <a:endParaRPr lang="zh-CN" altLang="en-US" sz="1600" b="1" dirty="0">
              <a:solidFill>
                <a:srgbClr val="0070C0"/>
              </a:solidFill>
            </a:endParaRPr>
          </a:p>
        </p:txBody>
      </p:sp>
      <p:sp>
        <p:nvSpPr>
          <p:cNvPr id="13" name="标注: 弯曲线形 1"/>
          <p:cNvSpPr/>
          <p:nvPr/>
        </p:nvSpPr>
        <p:spPr>
          <a:xfrm>
            <a:off x="6452598" y="3440574"/>
            <a:ext cx="5122588" cy="504119"/>
          </a:xfrm>
          <a:prstGeom prst="borderCallout2">
            <a:avLst>
              <a:gd name="adj1" fmla="val 55659"/>
              <a:gd name="adj2" fmla="val -321"/>
              <a:gd name="adj3" fmla="val 154724"/>
              <a:gd name="adj4" fmla="val -72829"/>
              <a:gd name="adj5" fmla="val 172696"/>
              <a:gd name="adj6" fmla="val -84524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400" dirty="0">
                <a:latin typeface="Consolas" panose="020B0609020204030204" pitchFamily="49" charset="0"/>
              </a:rPr>
              <a:t>默认按ASCII编码方式排序时列表中最小元素</a:t>
            </a:r>
            <a:endParaRPr lang="zh-CN" altLang="zh-CN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标注: 弯曲线形 1"/>
          <p:cNvSpPr/>
          <p:nvPr/>
        </p:nvSpPr>
        <p:spPr>
          <a:xfrm>
            <a:off x="6218226" y="4602790"/>
            <a:ext cx="3417164" cy="504119"/>
          </a:xfrm>
          <a:prstGeom prst="borderCallout2">
            <a:avLst>
              <a:gd name="adj1" fmla="val 55659"/>
              <a:gd name="adj2" fmla="val -321"/>
              <a:gd name="adj3" fmla="val 39297"/>
              <a:gd name="adj4" fmla="val -74596"/>
              <a:gd name="adj5" fmla="val 36151"/>
              <a:gd name="adj6" fmla="val -91651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400" dirty="0">
                <a:latin typeface="Consolas" panose="020B0609020204030204" pitchFamily="49" charset="0"/>
              </a:rPr>
              <a:t>按元素长度排序时的最小元素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008216"/>
            <a:ext cx="5191675" cy="1456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  <p:bldP spid="10" grpId="0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）通用内置函数</a:t>
            </a:r>
            <a:endParaRPr lang="en-US" b="1" dirty="0"/>
          </a:p>
        </p:txBody>
      </p:sp>
      <p:sp>
        <p:nvSpPr>
          <p:cNvPr id="6" name="矩形 5"/>
          <p:cNvSpPr/>
          <p:nvPr/>
        </p:nvSpPr>
        <p:spPr>
          <a:xfrm>
            <a:off x="832027" y="1325179"/>
            <a:ext cx="107301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sorted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/>
              <a:t>sorted(</a:t>
            </a:r>
            <a:r>
              <a:rPr lang="en-US" altLang="zh-CN" sz="2400" b="1" dirty="0" err="1"/>
              <a:t>iterable</a:t>
            </a:r>
            <a:r>
              <a:rPr lang="en-US" altLang="zh-CN" sz="2400" b="1" dirty="0"/>
              <a:t>, /, *, , key=None, reverse=False)</a:t>
            </a:r>
          </a:p>
          <a:p>
            <a:endParaRPr lang="zh-CN" altLang="zh-CN" sz="2400" dirty="0"/>
          </a:p>
          <a:p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1012135" y="2066457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l1 = 'university'</a:t>
            </a:r>
          </a:p>
          <a:p>
            <a:r>
              <a:rPr lang="zh-CN" altLang="en-US" sz="2000" dirty="0">
                <a:latin typeface="Consolas" panose="020B0609020204030204" pitchFamily="49" charset="0"/>
              </a:rPr>
              <a:t>sorted(l1)</a:t>
            </a:r>
          </a:p>
        </p:txBody>
      </p:sp>
      <p:sp>
        <p:nvSpPr>
          <p:cNvPr id="10" name="矩形 9"/>
          <p:cNvSpPr/>
          <p:nvPr/>
        </p:nvSpPr>
        <p:spPr>
          <a:xfrm>
            <a:off x="921826" y="3375305"/>
            <a:ext cx="34291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sorted(l1,reverse=True)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21826" y="4293295"/>
            <a:ext cx="68138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l2 = ['This','Bob','a','university']</a:t>
            </a:r>
          </a:p>
          <a:p>
            <a:r>
              <a:rPr lang="zh-CN" altLang="en-US" sz="2000" dirty="0">
                <a:latin typeface="Consolas" panose="020B0609020204030204" pitchFamily="49" charset="0"/>
              </a:rPr>
              <a:t>sorted(l2,key = len)</a:t>
            </a:r>
          </a:p>
        </p:txBody>
      </p:sp>
      <p:sp>
        <p:nvSpPr>
          <p:cNvPr id="13" name="矩形 12"/>
          <p:cNvSpPr/>
          <p:nvPr/>
        </p:nvSpPr>
        <p:spPr>
          <a:xfrm>
            <a:off x="921826" y="5499369"/>
            <a:ext cx="91071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l3 = [('sun',3),('li',4),('qian',2),('zhao',1)]</a:t>
            </a:r>
          </a:p>
          <a:p>
            <a:r>
              <a:rPr lang="zh-CN" altLang="en-US" sz="2000" dirty="0">
                <a:latin typeface="Consolas" panose="020B0609020204030204" pitchFamily="49" charset="0"/>
              </a:rPr>
              <a:t>sorted(l3,key = lambda x: x[1] )</a:t>
            </a:r>
          </a:p>
        </p:txBody>
      </p:sp>
      <p:sp>
        <p:nvSpPr>
          <p:cNvPr id="14" name="矩形 13"/>
          <p:cNvSpPr/>
          <p:nvPr/>
        </p:nvSpPr>
        <p:spPr>
          <a:xfrm>
            <a:off x="990077" y="2041680"/>
            <a:ext cx="2782576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966981" y="3346463"/>
            <a:ext cx="3383989" cy="4295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66980" y="4275625"/>
            <a:ext cx="5299491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966980" y="5518496"/>
            <a:ext cx="6768740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3024602" y="2788770"/>
            <a:ext cx="9074632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28600" algn="just">
              <a:lnSpc>
                <a:spcPct val="115000"/>
              </a:lnSpc>
              <a:spcAft>
                <a:spcPts val="0"/>
              </a:spcAft>
            </a:pPr>
            <a:r>
              <a:rPr lang="zh-CN" altLang="en-US" sz="2000" b="1" kern="100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结果：</a:t>
            </a:r>
            <a:r>
              <a:rPr lang="en-US" altLang="zh-CN" sz="2000" b="1" kern="100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['e', '</a:t>
            </a:r>
            <a:r>
              <a:rPr lang="en-US" altLang="zh-CN" sz="2000" b="1" kern="100" dirty="0" err="1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kern="100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en-US" altLang="zh-CN" sz="2000" b="1" kern="100" dirty="0" err="1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kern="100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', 'n', 'r', 's', 't', 'u', 'v', 'y']</a:t>
            </a:r>
            <a:endParaRPr lang="zh-CN" altLang="zh-CN" sz="28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024603" y="3713722"/>
            <a:ext cx="8244115" cy="425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15000"/>
              </a:lnSpc>
              <a:spcAft>
                <a:spcPts val="0"/>
              </a:spcAft>
            </a:pPr>
            <a:r>
              <a:rPr lang="zh-CN" altLang="en-US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结果：</a:t>
            </a: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['y', 'v', 'u', 't', 's', 'r', 'n', '</a:t>
            </a:r>
            <a:r>
              <a:rPr lang="en-US" altLang="zh-CN" sz="2000" b="1" kern="100" dirty="0" err="1">
                <a:solidFill>
                  <a:srgbClr val="0070C0"/>
                </a:solidFill>
                <a:latin typeface="Consolas" panose="020B06090202040302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i</a:t>
            </a: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', '</a:t>
            </a:r>
            <a:r>
              <a:rPr lang="en-US" altLang="zh-CN" sz="2000" b="1" kern="100" dirty="0" err="1">
                <a:solidFill>
                  <a:srgbClr val="0070C0"/>
                </a:solidFill>
                <a:latin typeface="Consolas" panose="020B06090202040302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i</a:t>
            </a: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', 'e']</a:t>
            </a:r>
            <a:endParaRPr lang="zh-CN" altLang="zh-CN" sz="28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091650" y="4991611"/>
            <a:ext cx="5981125" cy="425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8600" algn="just">
              <a:lnSpc>
                <a:spcPct val="115000"/>
              </a:lnSpc>
              <a:spcAft>
                <a:spcPts val="0"/>
              </a:spcAft>
            </a:pPr>
            <a:r>
              <a:rPr lang="zh-CN" altLang="en-US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结果：</a:t>
            </a: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['a', 'Bob', 'This', 'university']</a:t>
            </a:r>
            <a:endParaRPr lang="zh-CN" altLang="zh-CN" sz="28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365688" y="6289255"/>
            <a:ext cx="8392461" cy="425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zh-CN" altLang="en-US" sz="2000" b="1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结果：</a:t>
            </a:r>
            <a:r>
              <a:rPr lang="en-US" altLang="zh-CN" sz="2000" b="1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[('</a:t>
            </a:r>
            <a:r>
              <a:rPr lang="en-US" altLang="zh-CN" sz="2000" b="1" kern="100" dirty="0" err="1">
                <a:solidFill>
                  <a:srgbClr val="0070C0"/>
                </a:solidFill>
                <a:latin typeface="Consolas" panose="020B06090202040302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zhao</a:t>
            </a: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', 1), ('</a:t>
            </a:r>
            <a:r>
              <a:rPr lang="en-US" altLang="zh-CN" sz="2000" b="1" kern="100" dirty="0" err="1">
                <a:solidFill>
                  <a:srgbClr val="0070C0"/>
                </a:solidFill>
                <a:latin typeface="Consolas" panose="020B06090202040302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qian</a:t>
            </a: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', 2), ('sun', 3), ('li', 4)]</a:t>
            </a:r>
            <a:endParaRPr lang="zh-CN" altLang="zh-CN" sz="20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标注: 弯曲线形 1"/>
          <p:cNvSpPr/>
          <p:nvPr/>
        </p:nvSpPr>
        <p:spPr>
          <a:xfrm>
            <a:off x="4707246" y="2177374"/>
            <a:ext cx="2535889" cy="504119"/>
          </a:xfrm>
          <a:prstGeom prst="borderCallout2">
            <a:avLst>
              <a:gd name="adj1" fmla="val 41917"/>
              <a:gd name="adj2" fmla="val 85"/>
              <a:gd name="adj3" fmla="val 67792"/>
              <a:gd name="adj4" fmla="val -49352"/>
              <a:gd name="adj5" fmla="val 71010"/>
              <a:gd name="adj6" fmla="val -87647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>
                <a:latin typeface="Consolas" panose="020B0609020204030204" pitchFamily="49" charset="0"/>
              </a:rPr>
              <a:t>默认按</a:t>
            </a:r>
            <a:r>
              <a:rPr lang="en-US" altLang="zh-CN" dirty="0">
                <a:latin typeface="Consolas" panose="020B0609020204030204" pitchFamily="49" charset="0"/>
              </a:rPr>
              <a:t>ASCII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升序</a:t>
            </a:r>
            <a:r>
              <a:rPr lang="zh-CN" altLang="en-US" dirty="0">
                <a:latin typeface="Consolas" panose="020B0609020204030204" pitchFamily="49" charset="0"/>
              </a:rPr>
              <a:t>排序</a:t>
            </a:r>
          </a:p>
        </p:txBody>
      </p:sp>
      <p:sp>
        <p:nvSpPr>
          <p:cNvPr id="23" name="标注: 弯曲线形 1"/>
          <p:cNvSpPr/>
          <p:nvPr/>
        </p:nvSpPr>
        <p:spPr>
          <a:xfrm>
            <a:off x="5301260" y="3252261"/>
            <a:ext cx="2434460" cy="504119"/>
          </a:xfrm>
          <a:prstGeom prst="borderCallout2">
            <a:avLst>
              <a:gd name="adj1" fmla="val 39169"/>
              <a:gd name="adj2" fmla="val 229"/>
              <a:gd name="adj3" fmla="val 81534"/>
              <a:gd name="adj4" fmla="val -50721"/>
              <a:gd name="adj5" fmla="val 82003"/>
              <a:gd name="adj6" fmla="val -72625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>
                <a:latin typeface="Consolas" panose="020B0609020204030204" pitchFamily="49" charset="0"/>
              </a:rPr>
              <a:t>设为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True</a:t>
            </a:r>
            <a:r>
              <a:rPr lang="zh-CN" altLang="en-US" dirty="0">
                <a:latin typeface="Consolas" panose="020B0609020204030204" pitchFamily="49" charset="0"/>
              </a:rPr>
              <a:t>时降序排序</a:t>
            </a:r>
          </a:p>
        </p:txBody>
      </p:sp>
      <p:sp>
        <p:nvSpPr>
          <p:cNvPr id="24" name="标注: 弯曲线形 1"/>
          <p:cNvSpPr/>
          <p:nvPr/>
        </p:nvSpPr>
        <p:spPr>
          <a:xfrm>
            <a:off x="7052717" y="4419999"/>
            <a:ext cx="3780321" cy="504119"/>
          </a:xfrm>
          <a:prstGeom prst="borderCallout2">
            <a:avLst>
              <a:gd name="adj1" fmla="val 39169"/>
              <a:gd name="adj2" fmla="val 229"/>
              <a:gd name="adj3" fmla="val 98023"/>
              <a:gd name="adj4" fmla="val -88103"/>
              <a:gd name="adj5" fmla="val 95744"/>
              <a:gd name="adj6" fmla="val -100478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Key</a:t>
            </a:r>
            <a:r>
              <a:rPr lang="zh-CN" altLang="en-US" dirty="0">
                <a:latin typeface="Consolas" panose="020B0609020204030204" pitchFamily="49" charset="0"/>
              </a:rPr>
              <a:t>参数指定按字符串的长度排序</a:t>
            </a:r>
          </a:p>
        </p:txBody>
      </p:sp>
      <p:sp>
        <p:nvSpPr>
          <p:cNvPr id="25" name="标注: 弯曲线形 1"/>
          <p:cNvSpPr/>
          <p:nvPr/>
        </p:nvSpPr>
        <p:spPr>
          <a:xfrm>
            <a:off x="7977829" y="5611566"/>
            <a:ext cx="3290890" cy="504119"/>
          </a:xfrm>
          <a:prstGeom prst="borderCallout2">
            <a:avLst>
              <a:gd name="adj1" fmla="val 39169"/>
              <a:gd name="adj2" fmla="val 229"/>
              <a:gd name="adj3" fmla="val 103520"/>
              <a:gd name="adj4" fmla="val -84143"/>
              <a:gd name="adj5" fmla="val 101241"/>
              <a:gd name="adj6" fmla="val -14378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>
                <a:latin typeface="Consolas" panose="020B0609020204030204" pitchFamily="49" charset="0"/>
              </a:rPr>
              <a:t>指定按元组的第二个元素排序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）通用内置函数</a:t>
            </a:r>
            <a:endParaRPr lang="en-US" b="1" dirty="0"/>
          </a:p>
        </p:txBody>
      </p:sp>
      <p:sp>
        <p:nvSpPr>
          <p:cNvPr id="4" name="矩形 3"/>
          <p:cNvSpPr/>
          <p:nvPr/>
        </p:nvSpPr>
        <p:spPr>
          <a:xfrm>
            <a:off x="1104900" y="1498662"/>
            <a:ext cx="5642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range()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range(</a:t>
            </a:r>
            <a:r>
              <a:rPr lang="en-US" altLang="zh-CN" sz="2400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start,stop,step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1336707" y="2131619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list(range(2,10,3))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336707" y="3505091"/>
            <a:ext cx="23006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list(range(10))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1336708" y="2077079"/>
            <a:ext cx="3207584" cy="55578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291552" y="3507525"/>
            <a:ext cx="3252739" cy="40011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104900" y="4033563"/>
            <a:ext cx="5416868" cy="4211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8600" algn="just">
              <a:lnSpc>
                <a:spcPct val="115000"/>
              </a:lnSpc>
              <a:spcAft>
                <a:spcPts val="0"/>
              </a:spcAft>
            </a:pPr>
            <a:r>
              <a:rPr lang="zh-CN" altLang="en-US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结果：</a:t>
            </a: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[0, 1, 2, 3, 4, 5, 6, 7, 8, 9]</a:t>
            </a:r>
            <a:endParaRPr lang="zh-CN" altLang="zh-CN" sz="28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04900" y="2804155"/>
            <a:ext cx="2454518" cy="4211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8600" algn="just">
              <a:lnSpc>
                <a:spcPct val="115000"/>
              </a:lnSpc>
              <a:spcAft>
                <a:spcPts val="0"/>
              </a:spcAft>
            </a:pPr>
            <a:r>
              <a:rPr lang="zh-CN" altLang="en-US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结果：</a:t>
            </a: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[2, 5, 8]</a:t>
            </a:r>
            <a:endParaRPr lang="zh-CN" altLang="zh-CN" sz="28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47064" y="4711080"/>
            <a:ext cx="73701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reversed(sequence)</a:t>
            </a:r>
            <a:r>
              <a:rPr lang="zh-CN" altLang="zh-CN" sz="2400" b="1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/>
              <a:t>使序列中的元素反向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336707" y="5361129"/>
            <a:ext cx="67856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s = "hello"</a:t>
            </a:r>
          </a:p>
          <a:p>
            <a:r>
              <a:rPr lang="zh-CN" altLang="en-US" sz="2000" dirty="0">
                <a:latin typeface="Consolas" panose="020B0609020204030204" pitchFamily="49" charset="0"/>
              </a:rPr>
              <a:t>list(reversed(s))</a:t>
            </a:r>
          </a:p>
        </p:txBody>
      </p:sp>
      <p:sp>
        <p:nvSpPr>
          <p:cNvPr id="14" name="矩形 13"/>
          <p:cNvSpPr/>
          <p:nvPr/>
        </p:nvSpPr>
        <p:spPr>
          <a:xfrm>
            <a:off x="1035329" y="6271752"/>
            <a:ext cx="4711546" cy="4211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8600" algn="just">
              <a:lnSpc>
                <a:spcPct val="115000"/>
              </a:lnSpc>
              <a:spcAft>
                <a:spcPts val="0"/>
              </a:spcAft>
            </a:pPr>
            <a:r>
              <a:rPr lang="zh-CN" altLang="en-US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结果：</a:t>
            </a: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['o', 'l', 'l', 'e', 'h']</a:t>
            </a:r>
            <a:endParaRPr lang="zh-CN" altLang="zh-CN" sz="28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291552" y="5395009"/>
            <a:ext cx="3252739" cy="7382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标注: 弯曲线形 1"/>
          <p:cNvSpPr/>
          <p:nvPr/>
        </p:nvSpPr>
        <p:spPr>
          <a:xfrm>
            <a:off x="6095241" y="1979041"/>
            <a:ext cx="3883750" cy="504119"/>
          </a:xfrm>
          <a:prstGeom prst="borderCallout2">
            <a:avLst>
              <a:gd name="adj1" fmla="val 41917"/>
              <a:gd name="adj2" fmla="val 85"/>
              <a:gd name="adj3" fmla="val 67792"/>
              <a:gd name="adj4" fmla="val -49352"/>
              <a:gd name="adj5" fmla="val 71010"/>
              <a:gd name="adj6" fmla="val -4965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>
                <a:latin typeface="Consolas" panose="020B0609020204030204" pitchFamily="49" charset="0"/>
              </a:rPr>
              <a:t>输出</a:t>
            </a:r>
            <a:r>
              <a:rPr lang="en-US" altLang="zh-CN" dirty="0">
                <a:latin typeface="Consolas" panose="020B0609020204030204" pitchFamily="49" charset="0"/>
              </a:rPr>
              <a:t>[2,10)</a:t>
            </a:r>
            <a:r>
              <a:rPr lang="zh-CN" altLang="en-US" dirty="0">
                <a:latin typeface="Consolas" panose="020B0609020204030204" pitchFamily="49" charset="0"/>
              </a:rPr>
              <a:t>范围内切步长为</a:t>
            </a:r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zh-CN" altLang="en-US" dirty="0">
                <a:latin typeface="Consolas" panose="020B0609020204030204" pitchFamily="49" charset="0"/>
              </a:rPr>
              <a:t>的整数</a:t>
            </a:r>
          </a:p>
        </p:txBody>
      </p:sp>
      <p:sp>
        <p:nvSpPr>
          <p:cNvPr id="18" name="标注: 弯曲线形 1"/>
          <p:cNvSpPr/>
          <p:nvPr/>
        </p:nvSpPr>
        <p:spPr>
          <a:xfrm>
            <a:off x="5632239" y="3369345"/>
            <a:ext cx="4162196" cy="504119"/>
          </a:xfrm>
          <a:prstGeom prst="borderCallout2">
            <a:avLst>
              <a:gd name="adj1" fmla="val 41917"/>
              <a:gd name="adj2" fmla="val 85"/>
              <a:gd name="adj3" fmla="val 67792"/>
              <a:gd name="adj4" fmla="val -49352"/>
              <a:gd name="adj5" fmla="val 71010"/>
              <a:gd name="adj6" fmla="val -4965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>
                <a:latin typeface="Consolas" panose="020B0609020204030204" pitchFamily="49" charset="0"/>
              </a:rPr>
              <a:t>默认从第一个元素开始且默认步长为</a:t>
            </a:r>
            <a:r>
              <a:rPr lang="en-US" altLang="zh-CN" dirty="0">
                <a:latin typeface="Consolas" panose="020B0609020204030204" pitchFamily="49" charset="0"/>
              </a:rPr>
              <a:t>1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21768" y="1344994"/>
            <a:ext cx="4455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start,start+step,start+2step,…stop-1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68763-FE20-7B5B-4DAE-25DAA899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AFE125A-7E2E-C653-C9D8-4412DCFE0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）通用内置函数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9F336D-6B0E-D077-4F9B-1E58912E7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5" y="336550"/>
            <a:ext cx="6985000" cy="61849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B72F23C-2AC4-0811-8876-3676DE771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495" y="1447800"/>
            <a:ext cx="4343400" cy="1981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2FE9956-A544-60DA-8D97-EB979761B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4411546"/>
            <a:ext cx="6781800" cy="1422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726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44115"/>
            <a:ext cx="9980682" cy="1096962"/>
          </a:xfrm>
        </p:spPr>
        <p:txBody>
          <a:bodyPr/>
          <a:lstStyle/>
          <a:p>
            <a:r>
              <a:rPr lang="zh-CN" altLang="en-US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列表常用的方法</a:t>
            </a:r>
            <a:endParaRPr kumimoji="1" lang="zh-CN" altLang="en-US" dirty="0"/>
          </a:p>
        </p:txBody>
      </p:sp>
      <p:sp>
        <p:nvSpPr>
          <p:cNvPr id="3" name="矩形 1"/>
          <p:cNvSpPr>
            <a:spLocks noChangeArrowheads="1"/>
          </p:cNvSpPr>
          <p:nvPr/>
        </p:nvSpPr>
        <p:spPr bwMode="auto">
          <a:xfrm>
            <a:off x="1022350" y="1308100"/>
            <a:ext cx="10063480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698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2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与整数和字符串不同，列表要处理一组数据，因此，列表必须通过显式的数据赋值才能生成，简单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将一个列表赋值给另一个列表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不会生成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新的列表对象。</a:t>
            </a:r>
            <a:endParaRPr lang="zh-CN" altLang="zh-CN" sz="16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2"/>
          <p:cNvGraphicFramePr>
            <a:graphicFrameLocks noGrp="1"/>
          </p:cNvGraphicFramePr>
          <p:nvPr/>
        </p:nvGraphicFramePr>
        <p:xfrm>
          <a:off x="2314385" y="2403666"/>
          <a:ext cx="7410450" cy="4238625"/>
        </p:xfrm>
        <a:graphic>
          <a:graphicData uri="http://schemas.openxmlformats.org/drawingml/2006/table">
            <a:tbl>
              <a:tblPr/>
              <a:tblGrid>
                <a:gridCol w="2519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1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函数或方法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] = x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替换列表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数据项为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 j] =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lt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用列表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lt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替换列表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中第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项数据（不含第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项，下同）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 j: k] =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lt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用列表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替换列表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中第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以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为步的数据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del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 j]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删除列表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项数据，等价于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ls[i: j]=[]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del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 j: k]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删除列表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以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为步的数据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+=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lt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ls.extend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lt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将列表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元素增加到列表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*= n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更新列表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，其元素重复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次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ls.append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(x)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在列表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最后增加一个元素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ls.clear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删除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中所有元素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ls.copy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生成一个新列表，复制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中所有元素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ls.insert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x)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在列表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位置增加元素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ls.pop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将列表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中第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项元素取出并删除该元素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ls.remove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(x)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将列表中出现的第一个元素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删除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ls.reverse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(x)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列表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中元素反转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）列表的修改</a:t>
            </a:r>
            <a:endParaRPr lang="en-US" altLang="zh-CN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85286" y="4073224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ls = [1,2,2,4]</a:t>
            </a:r>
          </a:p>
          <a:p>
            <a:r>
              <a:rPr lang="zh-CN" altLang="en-US" sz="2000" dirty="0">
                <a:latin typeface="Consolas" panose="020B0609020204030204" pitchFamily="49" charset="0"/>
              </a:rPr>
              <a:t>ls[2] = 3</a:t>
            </a:r>
          </a:p>
        </p:txBody>
      </p:sp>
      <p:sp>
        <p:nvSpPr>
          <p:cNvPr id="5" name="矩形 4"/>
          <p:cNvSpPr/>
          <p:nvPr/>
        </p:nvSpPr>
        <p:spPr>
          <a:xfrm>
            <a:off x="2001551" y="1590520"/>
            <a:ext cx="852790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列表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作为最常用的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可变序列，灵活多变，除通用操作外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还提供了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许多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其他的操作函数及方法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3756757" y="3963565"/>
            <a:ext cx="2584787" cy="87580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885286" y="5407147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lt = [-2,0]</a:t>
            </a:r>
          </a:p>
          <a:p>
            <a:r>
              <a:rPr lang="zh-CN" altLang="en-US" sz="2000" dirty="0">
                <a:latin typeface="Consolas" panose="020B0609020204030204" pitchFamily="49" charset="0"/>
              </a:rPr>
              <a:t>ls[0:2] = lt</a:t>
            </a:r>
          </a:p>
        </p:txBody>
      </p:sp>
      <p:sp>
        <p:nvSpPr>
          <p:cNvPr id="9" name="矩形 8"/>
          <p:cNvSpPr/>
          <p:nvPr/>
        </p:nvSpPr>
        <p:spPr>
          <a:xfrm>
            <a:off x="3756757" y="5323187"/>
            <a:ext cx="2584787" cy="87580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椭圆形标注 6"/>
          <p:cNvSpPr/>
          <p:nvPr/>
        </p:nvSpPr>
        <p:spPr>
          <a:xfrm>
            <a:off x="7127251" y="3447961"/>
            <a:ext cx="2466026" cy="1139947"/>
          </a:xfrm>
          <a:prstGeom prst="wedgeEllipseCallout">
            <a:avLst>
              <a:gd name="adj1" fmla="val -63532"/>
              <a:gd name="adj2" fmla="val 34547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245928" y="3757211"/>
            <a:ext cx="222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索引赋值</a:t>
            </a:r>
            <a:r>
              <a:rPr lang="zh-CN" altLang="en-US" sz="2400" dirty="0"/>
              <a:t>修改</a:t>
            </a:r>
          </a:p>
        </p:txBody>
      </p:sp>
      <p:sp>
        <p:nvSpPr>
          <p:cNvPr id="11" name="椭圆形标注 10"/>
          <p:cNvSpPr/>
          <p:nvPr/>
        </p:nvSpPr>
        <p:spPr>
          <a:xfrm>
            <a:off x="7245928" y="4976178"/>
            <a:ext cx="2466026" cy="1139947"/>
          </a:xfrm>
          <a:prstGeom prst="wedgeEllipseCallout">
            <a:avLst>
              <a:gd name="adj1" fmla="val -63532"/>
              <a:gd name="adj2" fmla="val 34547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364605" y="5299425"/>
            <a:ext cx="222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切片赋值</a:t>
            </a:r>
            <a:r>
              <a:rPr lang="zh-CN" altLang="en-US" sz="2400" dirty="0"/>
              <a:t>修改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）列表的删除</a:t>
            </a:r>
            <a:endParaRPr lang="en-US" altLang="zh-CN" sz="36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63CC1E-2EA1-6C44-23F6-056DC37BF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670" y="315912"/>
            <a:ext cx="6362700" cy="1714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AC3372-2348-FEF9-AA9E-94B450090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588" y="2184862"/>
            <a:ext cx="7772400" cy="20479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4117CE-F1DD-21D1-0B74-16B16676F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588" y="4500997"/>
            <a:ext cx="7772400" cy="14907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）列表的插入</a:t>
            </a:r>
            <a:endParaRPr lang="en-US" altLang="zh-CN" sz="36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0FD44C-FCC6-49FD-8799-1AA3E0132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723" y="1722451"/>
            <a:ext cx="5816600" cy="27178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BAA3FA1-E898-952E-222B-640D69B65608}"/>
              </a:ext>
            </a:extLst>
          </p:cNvPr>
          <p:cNvGrpSpPr/>
          <p:nvPr/>
        </p:nvGrpSpPr>
        <p:grpSpPr>
          <a:xfrm>
            <a:off x="7466334" y="1530596"/>
            <a:ext cx="3990109" cy="1427018"/>
            <a:chOff x="6864168" y="2352582"/>
            <a:chExt cx="3990109" cy="1427018"/>
          </a:xfrm>
        </p:grpSpPr>
        <p:sp>
          <p:nvSpPr>
            <p:cNvPr id="7" name="云形标注 6"/>
            <p:cNvSpPr/>
            <p:nvPr/>
          </p:nvSpPr>
          <p:spPr>
            <a:xfrm>
              <a:off x="6864168" y="2352582"/>
              <a:ext cx="3990109" cy="1427018"/>
            </a:xfrm>
            <a:prstGeom prst="cloudCallout">
              <a:avLst>
                <a:gd name="adj1" fmla="val -52667"/>
                <a:gd name="adj2" fmla="val 71758"/>
              </a:avLst>
            </a:prstGeom>
            <a:gradFill flip="none" rotWithShape="1">
              <a:gsLst>
                <a:gs pos="0">
                  <a:srgbClr val="92D050">
                    <a:tint val="66000"/>
                    <a:satMod val="160000"/>
                  </a:srgbClr>
                </a:gs>
                <a:gs pos="50000">
                  <a:srgbClr val="92D050">
                    <a:tint val="44500"/>
                    <a:satMod val="160000"/>
                  </a:srgbClr>
                </a:gs>
                <a:gs pos="100000">
                  <a:srgbClr val="92D050">
                    <a:tint val="23500"/>
                    <a:satMod val="160000"/>
                  </a:srgbClr>
                </a:gs>
              </a:gsLst>
              <a:lin ang="10800000" scaled="1"/>
              <a:tileRect/>
            </a:gra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893050" y="2419985"/>
              <a:ext cx="2188845" cy="1198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append()</a:t>
              </a:r>
              <a:r>
                <a:rPr lang="zh-CN" altLang="en-US" sz="2400" dirty="0"/>
                <a:t>方法和</a:t>
              </a:r>
              <a:r>
                <a:rPr lang="en-US" altLang="zh-CN" sz="2400" dirty="0"/>
                <a:t>insert()</a:t>
              </a:r>
              <a:r>
                <a:rPr lang="zh-CN" altLang="en-US" sz="2400" dirty="0"/>
                <a:t>方法为</a:t>
              </a:r>
              <a:r>
                <a:rPr lang="zh-CN" altLang="en-US" sz="2400" b="1" dirty="0">
                  <a:solidFill>
                    <a:srgbClr val="0432FF"/>
                  </a:solidFill>
                </a:rPr>
                <a:t>原地操作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EDE2261A-DA9B-9315-75BF-AF261704C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723" y="4709686"/>
            <a:ext cx="6705600" cy="1765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）列表的排序</a:t>
            </a:r>
            <a:endParaRPr lang="en-US" altLang="zh-CN" sz="36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04900" y="1334170"/>
            <a:ext cx="7813964" cy="963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en-US" altLang="zh-CN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sorted()</a:t>
            </a:r>
            <a:r>
              <a:rPr lang="zh-CN" altLang="en-US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</a:t>
            </a:r>
            <a:r>
              <a:rPr lang="zh-CN" altLang="en-US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 </a:t>
            </a:r>
            <a:r>
              <a:rPr lang="en-US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list_new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= </a:t>
            </a:r>
            <a:r>
              <a:rPr lang="en-US" altLang="zh-CN" sz="20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sorted(list)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en-US" altLang="zh-CN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sort()</a:t>
            </a:r>
            <a:r>
              <a:rPr lang="zh-CN" altLang="en-US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list.</a:t>
            </a:r>
            <a:r>
              <a:rPr lang="en-US" altLang="zh-CN" sz="2000" dirty="0" err="1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sort</a:t>
            </a:r>
            <a:r>
              <a:rPr lang="en-US" altLang="zh-CN" sz="20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(key = </a:t>
            </a:r>
            <a:r>
              <a:rPr lang="en-US" altLang="zh-CN" sz="2000" dirty="0" err="1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None,reverse</a:t>
            </a:r>
            <a:r>
              <a:rPr lang="en-US" altLang="zh-CN" sz="20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False)</a:t>
            </a:r>
            <a:endParaRPr lang="zh-CN" altLang="en-US" sz="2400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85FC13-9FDF-9CC6-FAB1-F761B9758FAC}"/>
              </a:ext>
            </a:extLst>
          </p:cNvPr>
          <p:cNvGrpSpPr/>
          <p:nvPr/>
        </p:nvGrpSpPr>
        <p:grpSpPr>
          <a:xfrm>
            <a:off x="7250402" y="624894"/>
            <a:ext cx="3577431" cy="1714500"/>
            <a:chOff x="1364590" y="4683512"/>
            <a:chExt cx="3577431" cy="1714500"/>
          </a:xfrm>
        </p:grpSpPr>
        <p:sp>
          <p:nvSpPr>
            <p:cNvPr id="7" name="椭圆 6"/>
            <p:cNvSpPr/>
            <p:nvPr/>
          </p:nvSpPr>
          <p:spPr>
            <a:xfrm>
              <a:off x="1364590" y="4683512"/>
              <a:ext cx="3577431" cy="1714500"/>
            </a:xfrm>
            <a:prstGeom prst="ellipse">
              <a:avLst/>
            </a:pr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1786227" y="4848264"/>
              <a:ext cx="2899317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onsolas" panose="020B0609020204030204" pitchFamily="49" charset="0"/>
                </a:rPr>
                <a:t>区别：</a:t>
              </a:r>
              <a:r>
                <a:rPr lang="en-US" altLang="zh-CN" sz="14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onsolas" panose="020B0609020204030204" pitchFamily="49" charset="0"/>
                </a:rPr>
                <a:t>sort()</a:t>
              </a:r>
              <a:r>
                <a:rPr lang="zh-CN" altLang="zh-CN" sz="14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onsolas" panose="020B0609020204030204" pitchFamily="49" charset="0"/>
                </a:rPr>
                <a:t>函数是直接对给定列表中的元素进行排序，</a:t>
              </a:r>
              <a:r>
                <a:rPr lang="zh-CN" altLang="zh-CN" sz="1400" b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onsolas" panose="020B0609020204030204" pitchFamily="49" charset="0"/>
                </a:rPr>
                <a:t>并</a:t>
              </a:r>
              <a:r>
                <a:rPr lang="zh-CN" altLang="zh-CN" sz="1400" b="1" dirty="0">
                  <a:solidFill>
                    <a:srgbClr val="0432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Consolas" panose="020B0609020204030204" pitchFamily="49" charset="0"/>
                </a:rPr>
                <a:t>没有创建新的列表</a:t>
              </a:r>
              <a:r>
                <a:rPr lang="zh-CN" altLang="en-US" sz="14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onsolas" panose="020B0609020204030204" pitchFamily="49" charset="0"/>
                </a:rPr>
                <a:t>；</a:t>
              </a:r>
              <a:endPara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endParaRPr>
            </a:p>
            <a:p>
              <a:r>
                <a:rPr lang="en-US" altLang="zh-CN" sz="14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sorted()</a:t>
              </a:r>
              <a:r>
                <a:rPr lang="zh-CN" altLang="en-US" sz="1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函数并</a:t>
              </a:r>
              <a:r>
                <a:rPr lang="zh-CN" altLang="zh-CN" sz="1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不改变原列表中元素的顺序</a:t>
              </a:r>
              <a:r>
                <a:rPr lang="zh-CN" altLang="en-US" sz="1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，而是</a:t>
              </a:r>
              <a:r>
                <a:rPr lang="zh-CN" altLang="zh-CN" sz="1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建立一个</a:t>
              </a:r>
              <a:r>
                <a:rPr lang="zh-CN" altLang="zh-CN" sz="1400" dirty="0">
                  <a:solidFill>
                    <a:srgbClr val="0432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新的</a:t>
              </a:r>
              <a:r>
                <a:rPr lang="zh-CN" altLang="zh-CN" sz="1400" b="1" dirty="0">
                  <a:solidFill>
                    <a:srgbClr val="0432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列表副本</a:t>
              </a:r>
              <a:r>
                <a:rPr lang="zh-CN" altLang="zh-CN" sz="1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，用于存放排序后的列表。</a:t>
              </a:r>
              <a:endPara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C380464A-50EB-78B0-58E9-314708537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644" y="2597150"/>
            <a:ext cx="5346700" cy="1663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36B02A-8ACD-B92D-50FD-3D550A27D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437" y="2623018"/>
            <a:ext cx="5308600" cy="1714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99B2F8-2D22-BBF9-0FF0-5D58B0DB3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644" y="4787230"/>
            <a:ext cx="5346700" cy="1473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26ED23-36B3-21FA-3174-164606FA06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4037" y="4663025"/>
            <a:ext cx="5359400" cy="1600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）列表的遍历</a:t>
            </a:r>
            <a:endParaRPr lang="en-US" altLang="zh-CN" sz="3600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91906" y="2498531"/>
            <a:ext cx="913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i="1" dirty="0">
                <a:solidFill>
                  <a:srgbClr val="7030A0"/>
                </a:solidFill>
              </a:rPr>
              <a:t>VS</a:t>
            </a:r>
            <a:endParaRPr lang="zh-CN" altLang="en-US" sz="3600" b="1" i="1" dirty="0">
              <a:solidFill>
                <a:srgbClr val="7030A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77A373-C439-DB2B-C18B-044E6F304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71" y="1837447"/>
            <a:ext cx="4648200" cy="1892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1C7351-2015-BFAF-27F3-DC0ECA54E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182" y="1913647"/>
            <a:ext cx="4597400" cy="1816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83605F-CFB8-73C0-0A6E-F75D4C2D33C5}"/>
              </a:ext>
            </a:extLst>
          </p:cNvPr>
          <p:cNvSpPr txBox="1"/>
          <p:nvPr/>
        </p:nvSpPr>
        <p:spPr>
          <a:xfrm>
            <a:off x="761071" y="4470231"/>
            <a:ext cx="4861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循环是 </a:t>
            </a:r>
            <a:r>
              <a:rPr 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Python 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中遍历列表最基础的方式。</a:t>
            </a:r>
            <a:endParaRPr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6447CC-794F-0EBC-7B3F-F5BD4CC83501}"/>
              </a:ext>
            </a:extLst>
          </p:cNvPr>
          <p:cNvSpPr txBox="1"/>
          <p:nvPr/>
        </p:nvSpPr>
        <p:spPr>
          <a:xfrm>
            <a:off x="6302948" y="4377898"/>
            <a:ext cx="49678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enumerate()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函数为遍历提供了一个方便的方式，它不仅可以返回列表中的每个元素，还会返回元素的索引值。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）列表的统计</a:t>
            </a:r>
            <a:endParaRPr lang="en-US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508119-A1FC-2747-75FD-009ECD86E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46" y="2146609"/>
            <a:ext cx="6797989" cy="10091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038E45-84E2-693E-1A1E-4DF94369A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46" y="3390900"/>
            <a:ext cx="5143500" cy="2082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F57F37-B6FE-31CE-5EAB-B2D1A0500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2371" y="3390900"/>
            <a:ext cx="5651500" cy="2159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522FCE-2AEC-5E7A-542C-CA2C164A7AC5}"/>
              </a:ext>
            </a:extLst>
          </p:cNvPr>
          <p:cNvSpPr txBox="1"/>
          <p:nvPr/>
        </p:nvSpPr>
        <p:spPr>
          <a:xfrm>
            <a:off x="1104900" y="1475219"/>
            <a:ext cx="93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函数如</a:t>
            </a:r>
            <a:r>
              <a:rPr lang="en-US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count()</a:t>
            </a:r>
            <a:r>
              <a:rPr 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、</a:t>
            </a:r>
            <a:r>
              <a:rPr lang="en-US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index()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和</a:t>
            </a:r>
            <a:r>
              <a:rPr lang="en-US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sum()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可以极大地方便地实现列表的统计、计算等功能。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106FC-6E1A-93BE-5DBF-5BC08B346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C105589-A2BC-5BEE-46FD-BA5C56414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）列表的拷贝</a:t>
            </a:r>
            <a:endParaRPr lang="en-US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35C67-42FF-D5AE-0F5A-B8111E57067D}"/>
              </a:ext>
            </a:extLst>
          </p:cNvPr>
          <p:cNvSpPr txBox="1"/>
          <p:nvPr/>
        </p:nvSpPr>
        <p:spPr>
          <a:xfrm>
            <a:off x="1432932" y="1549349"/>
            <a:ext cx="4287644" cy="169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浅拷贝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使用</a:t>
            </a:r>
            <a:r>
              <a:rPr lang="en-US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copy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模块中的</a:t>
            </a:r>
            <a:r>
              <a:rPr lang="en-US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copy()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函数来实现。</a:t>
            </a:r>
            <a:br>
              <a:rPr lang="en-US" altLang="zh-CN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</a:b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创建一个新的列表对象，但其中的元素是对原列表中元素的引用。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DDC09-C974-208B-595B-28584CBD0F76}"/>
              </a:ext>
            </a:extLst>
          </p:cNvPr>
          <p:cNvSpPr txBox="1"/>
          <p:nvPr/>
        </p:nvSpPr>
        <p:spPr>
          <a:xfrm>
            <a:off x="1432932" y="3621321"/>
            <a:ext cx="4510218" cy="169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深拷贝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使用</a:t>
            </a:r>
            <a:r>
              <a:rPr lang="en-US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copy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模块中的</a:t>
            </a:r>
            <a:r>
              <a:rPr lang="en-US" b="0" i="0" dirty="0" err="1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deepcopy</a:t>
            </a:r>
            <a:r>
              <a:rPr lang="en-US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函数来实现。</a:t>
            </a:r>
            <a:br>
              <a:rPr lang="en-US" altLang="zh-CN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</a:b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建一个新列表，并递归地复制原列表中的所有元素及其嵌套对象。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AC6F2B-D789-DDA1-C84D-377B40678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150" y="114300"/>
            <a:ext cx="4584700" cy="345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86C0D2-B758-324B-CED9-79629FE3F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850" y="3568700"/>
            <a:ext cx="4572000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67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）双端队列</a:t>
            </a:r>
            <a:endParaRPr lang="en-US" b="1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55579" y="1393806"/>
            <a:ext cx="26966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altLang="zh-CN" sz="2000" b="1" dirty="0" err="1">
                <a:solidFill>
                  <a:srgbClr val="0432FF"/>
                </a:solidFill>
              </a:rPr>
              <a:t>collections.</a:t>
            </a:r>
            <a:r>
              <a:rPr altLang="zh-CN" sz="2000" b="1" dirty="0" err="1">
                <a:solidFill>
                  <a:srgbClr val="7030A0"/>
                </a:solidFill>
              </a:rPr>
              <a:t>deque</a:t>
            </a:r>
            <a:endParaRPr altLang="zh-CN" sz="2000" b="1" dirty="0">
              <a:solidFill>
                <a:srgbClr val="7030A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04900" y="1969218"/>
            <a:ext cx="486346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zh-CN" sz="2000" b="1" dirty="0">
                <a:solidFill>
                  <a:srgbClr val="7030A0"/>
                </a:solidFill>
              </a:rPr>
              <a:t>Deque</a:t>
            </a:r>
            <a:r>
              <a:rPr lang="zh-CN" altLang="zh-CN" sz="2000" dirty="0"/>
              <a:t>可以从队列</a:t>
            </a:r>
            <a:r>
              <a:rPr lang="zh-CN" altLang="zh-CN" sz="2000" b="1" dirty="0">
                <a:solidFill>
                  <a:srgbClr val="FF0000"/>
                </a:solidFill>
              </a:rPr>
              <a:t>两端</a:t>
            </a:r>
            <a:r>
              <a:rPr lang="zh-CN" altLang="zh-CN" sz="2000" b="1" dirty="0">
                <a:solidFill>
                  <a:srgbClr val="0432FF"/>
                </a:solidFill>
              </a:rPr>
              <a:t>添加</a:t>
            </a:r>
            <a:r>
              <a:rPr lang="zh-CN" altLang="zh-CN" sz="2000" b="1" dirty="0">
                <a:solidFill>
                  <a:srgbClr val="FF0000"/>
                </a:solidFill>
              </a:rPr>
              <a:t>和</a:t>
            </a:r>
            <a:r>
              <a:rPr lang="zh-CN" altLang="zh-CN" sz="2000" b="1" dirty="0">
                <a:solidFill>
                  <a:srgbClr val="0432FF"/>
                </a:solidFill>
              </a:rPr>
              <a:t>弹出</a:t>
            </a:r>
            <a:r>
              <a:rPr lang="zh-CN" altLang="zh-CN" sz="2000" b="1" dirty="0">
                <a:solidFill>
                  <a:srgbClr val="FF0000"/>
                </a:solidFill>
              </a:rPr>
              <a:t>元素</a:t>
            </a:r>
          </a:p>
        </p:txBody>
      </p:sp>
      <p:sp>
        <p:nvSpPr>
          <p:cNvPr id="6" name="矩形 5"/>
          <p:cNvSpPr/>
          <p:nvPr/>
        </p:nvSpPr>
        <p:spPr>
          <a:xfrm>
            <a:off x="1636741" y="2680779"/>
            <a:ext cx="1018639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/>
              <a:t>from </a:t>
            </a:r>
            <a:r>
              <a:rPr lang="zh-CN" altLang="en-US" sz="2000" dirty="0"/>
              <a:t>collections import deque</a:t>
            </a:r>
          </a:p>
          <a:p>
            <a:r>
              <a:rPr lang="zh-CN" altLang="en-US" sz="2000" dirty="0"/>
              <a:t>m = deque([1, 2, 3, 4]) </a:t>
            </a:r>
          </a:p>
          <a:p>
            <a:r>
              <a:rPr lang="zh-CN" altLang="en-US" sz="2000" dirty="0"/>
              <a:t>m.pop()</a:t>
            </a:r>
            <a:r>
              <a:rPr lang="en-US" altLang="zh-CN" sz="2000" dirty="0"/>
              <a:t>      # 弹出元素，从右侧即末尾弹出，并返回</a:t>
            </a:r>
          </a:p>
        </p:txBody>
      </p:sp>
      <p:sp>
        <p:nvSpPr>
          <p:cNvPr id="8" name="矩形 7"/>
          <p:cNvSpPr/>
          <p:nvPr/>
        </p:nvSpPr>
        <p:spPr>
          <a:xfrm>
            <a:off x="1636741" y="4396709"/>
            <a:ext cx="4030980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sz="2000" dirty="0"/>
              <a:t>from collections import deque</a:t>
            </a:r>
          </a:p>
          <a:p>
            <a:pPr algn="l"/>
            <a:r>
              <a:rPr sz="2000" dirty="0"/>
              <a:t>m = deque([1, 2, 3, 4]) </a:t>
            </a:r>
          </a:p>
          <a:p>
            <a:pPr algn="l"/>
            <a:r>
              <a:rPr sz="2000" dirty="0"/>
              <a:t>m.popleft()</a:t>
            </a:r>
          </a:p>
        </p:txBody>
      </p:sp>
      <p:sp>
        <p:nvSpPr>
          <p:cNvPr id="12" name="矩形 11"/>
          <p:cNvSpPr/>
          <p:nvPr/>
        </p:nvSpPr>
        <p:spPr>
          <a:xfrm>
            <a:off x="1637030" y="2668905"/>
            <a:ext cx="9280525" cy="107759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28768" y="3859030"/>
            <a:ext cx="1226820" cy="3346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8600" algn="just">
              <a:lnSpc>
                <a:spcPts val="1900"/>
              </a:lnSpc>
              <a:spcAft>
                <a:spcPts val="0"/>
              </a:spcAft>
              <a:tabLst>
                <a:tab pos="981075" algn="l"/>
              </a:tabLst>
            </a:pPr>
            <a:r>
              <a:rPr lang="zh-CN" altLang="en-US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结果：</a:t>
            </a:r>
            <a:r>
              <a:rPr lang="en-US" altLang="zh-CN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4</a:t>
            </a:r>
            <a:endParaRPr lang="zh-CN" altLang="zh-CN" sz="24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37030" y="4396740"/>
            <a:ext cx="9280525" cy="108775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322418" y="5583469"/>
            <a:ext cx="1226820" cy="3346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8600" algn="just">
              <a:lnSpc>
                <a:spcPts val="1900"/>
              </a:lnSpc>
              <a:spcAft>
                <a:spcPts val="0"/>
              </a:spcAft>
              <a:tabLst>
                <a:tab pos="981075" algn="l"/>
              </a:tabLst>
            </a:pPr>
            <a:r>
              <a:rPr lang="zh-CN" altLang="en-US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结果：</a:t>
            </a:r>
            <a:r>
              <a:rPr lang="en-US" altLang="zh-CN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</a:t>
            </a:r>
            <a:endParaRPr lang="zh-CN" altLang="zh-CN" sz="24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4.2.4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列表推导式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04900" y="1340728"/>
            <a:ext cx="927355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Consolas" panose="020B0609020204030204" pitchFamily="49" charset="0"/>
              </a:rPr>
              <a:t>列表推导式</a:t>
            </a:r>
            <a:r>
              <a:rPr lang="zh-CN" altLang="en-US" sz="2400" kern="100" dirty="0">
                <a:latin typeface="等线" panose="02010600030101010101" pitchFamily="2" charset="-122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r>
              <a:rPr lang="zh-CN" altLang="zh-CN" sz="2000" dirty="0"/>
              <a:t>使用非常简洁的方式来快速生成满足特定需求的列表</a:t>
            </a:r>
            <a:r>
              <a:rPr lang="zh-CN" altLang="en-US" sz="2000" dirty="0"/>
              <a:t>，</a:t>
            </a:r>
            <a:r>
              <a:rPr lang="zh-CN" altLang="zh-CN" sz="2000" dirty="0"/>
              <a:t>在逻辑上相当于循环，可以大幅度精简语句。</a:t>
            </a:r>
            <a:r>
              <a:rPr lang="zh-CN" altLang="en-US" sz="2000" dirty="0"/>
              <a:t>常用的列表推导式：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8C20B2-89F7-14EC-783B-7A0F2C7CB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957" y="2448724"/>
            <a:ext cx="5194616" cy="834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EB3787-279F-CD2F-2DF4-706D053E9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956" y="3546549"/>
            <a:ext cx="5893911" cy="690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5A749F-8D67-5BA3-3C76-F5B00676C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956" y="4426004"/>
            <a:ext cx="9263358" cy="6909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7D05ED-6303-C620-712D-54CEBDDB7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956" y="5305459"/>
            <a:ext cx="7165779" cy="8348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4.2.5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序列封包与序列解包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793125-4678-CB6A-F4C6-2BFE666C4BE0}"/>
              </a:ext>
            </a:extLst>
          </p:cNvPr>
          <p:cNvSpPr txBox="1"/>
          <p:nvPr/>
        </p:nvSpPr>
        <p:spPr>
          <a:xfrm>
            <a:off x="1026841" y="1343956"/>
            <a:ext cx="6678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序列封包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是将多个值组合成一个序列（如元组或列表）的过程。</a:t>
            </a:r>
            <a:endParaRPr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9D217A-01CE-0027-BD8A-5660E4CE4D8E}"/>
              </a:ext>
            </a:extLst>
          </p:cNvPr>
          <p:cNvSpPr txBox="1"/>
          <p:nvPr/>
        </p:nvSpPr>
        <p:spPr>
          <a:xfrm>
            <a:off x="1026841" y="3581628"/>
            <a:ext cx="9020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序列解包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是将一个序列（如元组或列表）中的多个值分别赋值给多个变量的过程。</a:t>
            </a:r>
            <a:endParaRPr lang="zh-CN" alt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236F0E9-C660-DFD0-A884-23A817AE1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644" y="1815872"/>
            <a:ext cx="3962400" cy="1460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36A4B8-4961-9222-CFB8-2E96BB06E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267" y="4121754"/>
            <a:ext cx="5765800" cy="2374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544B2-BEC9-6A61-6301-9B8F52790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4C48C49-FEED-D735-84BA-91D20BAF6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4.2.5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序列封包与序列解包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CEEDB-A2F9-95EB-F5C0-EDF92C65780B}"/>
              </a:ext>
            </a:extLst>
          </p:cNvPr>
          <p:cNvSpPr txBox="1"/>
          <p:nvPr/>
        </p:nvSpPr>
        <p:spPr>
          <a:xfrm>
            <a:off x="1276815" y="1428467"/>
            <a:ext cx="9595624" cy="87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需要注意的是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，在进行序列解包时，序列中的元素个数必须与赋值运算符左侧的变量个数相同，</a:t>
            </a:r>
            <a:r>
              <a:rPr 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Python 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会依次将序列中的各个元素赋值给对应的变量。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F4CC3-D79C-D910-C69E-1AF1B06FD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291" y="2359478"/>
            <a:ext cx="7702064" cy="16844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6616C2-2851-8040-8767-2D94E136A382}"/>
              </a:ext>
            </a:extLst>
          </p:cNvPr>
          <p:cNvSpPr txBox="1"/>
          <p:nvPr/>
        </p:nvSpPr>
        <p:spPr>
          <a:xfrm>
            <a:off x="1276815" y="4189514"/>
            <a:ext cx="83020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Python 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通过引入 “星号解包”操作符（</a:t>
            </a:r>
            <a:r>
              <a:rPr lang="zh-CN" altLang="en-US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）来解决这种不匹配的情况。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C0BEFD-593F-9949-D214-F71CF2D46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291" y="4708937"/>
            <a:ext cx="5173643" cy="106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06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894F70E-5DAC-88C9-472E-A376B4518C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4" t="5641" r="5434" b="5385"/>
          <a:stretch/>
        </p:blipFill>
        <p:spPr bwMode="auto">
          <a:xfrm>
            <a:off x="318051" y="1020417"/>
            <a:ext cx="6255027" cy="508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5A6095-5357-EC12-AB4B-5F8D0B0A6299}"/>
              </a:ext>
            </a:extLst>
          </p:cNvPr>
          <p:cNvSpPr txBox="1"/>
          <p:nvPr/>
        </p:nvSpPr>
        <p:spPr>
          <a:xfrm>
            <a:off x="6997148" y="832878"/>
            <a:ext cx="5194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number =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[-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]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A2B7C-7A47-FD58-03EF-84394F189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757" y="1497522"/>
            <a:ext cx="5194852" cy="246891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4892D4-75BE-53F9-815A-EA24D54D6ECE}"/>
              </a:ext>
            </a:extLst>
          </p:cNvPr>
          <p:cNvSpPr txBox="1"/>
          <p:nvPr/>
        </p:nvSpPr>
        <p:spPr>
          <a:xfrm>
            <a:off x="6930888" y="4034433"/>
            <a:ext cx="39358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&gt;&gt;&gt;number[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r>
              <a:rPr lang="en-CN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[-1, 2, 4, 6, 8, 10, 6, 8]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6B70C0-4721-047E-A880-5D29B2B238BE}"/>
              </a:ext>
            </a:extLst>
          </p:cNvPr>
          <p:cNvSpPr txBox="1"/>
          <p:nvPr/>
        </p:nvSpPr>
        <p:spPr>
          <a:xfrm>
            <a:off x="6930888" y="4637381"/>
            <a:ext cx="33925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&gt;&gt;&gt;number[: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r>
              <a:rPr lang="en-CN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[-1, 3, 6, 9, 6]</a:t>
            </a:r>
            <a:endParaRPr lang="zh-CN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778F2F-5A62-A915-1F76-A4528DCE608E}"/>
              </a:ext>
            </a:extLst>
          </p:cNvPr>
          <p:cNvSpPr txBox="1"/>
          <p:nvPr/>
        </p:nvSpPr>
        <p:spPr>
          <a:xfrm>
            <a:off x="6930888" y="5174948"/>
            <a:ext cx="47310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&gt;&gt;&gt;number[-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:-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r>
              <a:rPr lang="en-CN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CN" dirty="0">
                <a:solidFill>
                  <a:srgbClr val="333333"/>
                </a:solidFill>
                <a:latin typeface="Menlo" panose="020B0609030804020204" pitchFamily="49" charset="0"/>
              </a:rPr>
              <a:t>6, 8, 10, 6</a:t>
            </a:r>
            <a:r>
              <a:rPr lang="en-CN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&gt;&gt;&gt;number[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:-</a:t>
            </a:r>
            <a:r>
              <a:rPr lang="en-US" b="0" i="0" dirty="0">
                <a:solidFill>
                  <a:srgbClr val="008080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:]</a:t>
            </a:r>
          </a:p>
          <a:p>
            <a:r>
              <a:rPr lang="en-CN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CN" dirty="0">
                <a:solidFill>
                  <a:srgbClr val="333333"/>
                </a:solidFill>
                <a:latin typeface="Menlo" panose="020B0609030804020204" pitchFamily="49" charset="0"/>
              </a:rPr>
              <a:t>3, 4, 5, 6, 7, 8, 9, 10, 5, 6</a:t>
            </a:r>
            <a:r>
              <a:rPr lang="en-CN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]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08AE6E-A2B9-1013-E115-40AE7B10E5F2}"/>
              </a:ext>
            </a:extLst>
          </p:cNvPr>
          <p:cNvSpPr txBox="1"/>
          <p:nvPr/>
        </p:nvSpPr>
        <p:spPr>
          <a:xfrm>
            <a:off x="439387" y="385126"/>
            <a:ext cx="5656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Ref: https://</a:t>
            </a:r>
            <a:r>
              <a:rPr kumimoji="1" lang="en-US" altLang="zh-CN" dirty="0" err="1"/>
              <a:t>juejin.cn</a:t>
            </a:r>
            <a:r>
              <a:rPr kumimoji="1" lang="en-US" altLang="zh-CN" dirty="0"/>
              <a:t>/post/6996653692707405861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6444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818A0-77CD-7E24-BECE-4D9D84E47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序列的应用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63DA4-FD4C-3074-AC96-AEDCB7188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15" y="1425652"/>
            <a:ext cx="7467600" cy="4965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CE98FE-7A5F-5471-A191-A703FB8BA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721" y="4759867"/>
            <a:ext cx="3675548" cy="141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902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7517" y="2750961"/>
            <a:ext cx="10071099" cy="1684150"/>
          </a:xfrm>
        </p:spPr>
        <p:txBody>
          <a:bodyPr/>
          <a:lstStyle/>
          <a:p>
            <a:r>
              <a:rPr lang="en-US" b="1" dirty="0"/>
              <a:t>4.3 </a:t>
            </a:r>
            <a:r>
              <a:rPr lang="zh-CN" altLang="en-US" b="1" dirty="0"/>
              <a:t>集合类型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17EC8BF-8E40-66E2-D7B3-4373863BD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74" y="2746233"/>
            <a:ext cx="7632700" cy="40132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altLang="zh-CN" b="1" dirty="0"/>
              <a:t>4.3.1 </a:t>
            </a:r>
            <a:r>
              <a:rPr lang="zh-CN" altLang="en-US" b="1" dirty="0"/>
              <a:t>集合定义与创建</a:t>
            </a:r>
            <a:endParaRPr lang="en-US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1252774" y="1249150"/>
            <a:ext cx="9521536" cy="142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• </a:t>
            </a:r>
            <a:r>
              <a:rPr lang="zh-CN" altLang="en-US" sz="2000" b="1" dirty="0">
                <a:solidFill>
                  <a:srgbClr val="FF0000"/>
                </a:solidFill>
              </a:rPr>
              <a:t>集合（</a:t>
            </a:r>
            <a:r>
              <a:rPr lang="en-US" altLang="zh-CN" sz="2000" b="1" dirty="0">
                <a:solidFill>
                  <a:srgbClr val="FF0000"/>
                </a:solidFill>
              </a:rPr>
              <a:t>set</a:t>
            </a:r>
            <a:r>
              <a:rPr lang="zh-CN" altLang="en-US" sz="2000" b="1" dirty="0">
                <a:solidFill>
                  <a:srgbClr val="FF0000"/>
                </a:solidFill>
              </a:rPr>
              <a:t>）</a:t>
            </a:r>
            <a:r>
              <a:rPr lang="zh-CN" altLang="en-US" sz="2000" dirty="0"/>
              <a:t>是</a:t>
            </a:r>
            <a:r>
              <a:rPr lang="zh-CN" altLang="zh-CN" sz="2000" dirty="0"/>
              <a:t>由</a:t>
            </a:r>
            <a:r>
              <a:rPr lang="zh-CN" altLang="zh-CN" sz="2000" b="1" u="sng" dirty="0"/>
              <a:t>无序的、不重复</a:t>
            </a:r>
            <a:r>
              <a:rPr lang="zh-CN" altLang="zh-CN" sz="2000" dirty="0"/>
              <a:t>的元素组成的</a:t>
            </a:r>
            <a:r>
              <a:rPr lang="zh-CN" altLang="en-US" sz="2000" dirty="0"/>
              <a:t>数据类型，</a:t>
            </a:r>
            <a:r>
              <a:rPr lang="zh-CN" altLang="zh-CN" sz="2000" dirty="0"/>
              <a:t>用大括号</a:t>
            </a:r>
            <a:r>
              <a:rPr lang="en-US" altLang="zh-CN" sz="2000" dirty="0"/>
              <a:t>{}</a:t>
            </a:r>
            <a:r>
              <a:rPr lang="zh-CN" altLang="zh-CN" sz="2000" dirty="0"/>
              <a:t>表示，各元素间用逗号分隔。</a:t>
            </a:r>
            <a:r>
              <a:rPr lang="zh-CN" altLang="en-US" sz="2000" dirty="0"/>
              <a:t>例如：</a:t>
            </a:r>
            <a:r>
              <a:rPr lang="en-US" altLang="zh-CN" sz="2000" dirty="0"/>
              <a:t>{0,1,2}</a:t>
            </a:r>
            <a:r>
              <a:rPr lang="zh-CN" altLang="en-US" sz="2000" dirty="0"/>
              <a:t>、</a:t>
            </a:r>
            <a:r>
              <a:rPr lang="en-US" altLang="zh-CN" sz="2000" dirty="0"/>
              <a:t>{</a:t>
            </a:r>
            <a:r>
              <a:rPr lang="zh-CN" altLang="en-US" sz="2000" dirty="0"/>
              <a:t>‘</a:t>
            </a:r>
            <a:r>
              <a:rPr lang="en-US" altLang="zh-CN" sz="2000" dirty="0" err="1"/>
              <a:t>provice</a:t>
            </a:r>
            <a:r>
              <a:rPr lang="zh-CN" altLang="en-US" sz="2000" dirty="0"/>
              <a:t>’</a:t>
            </a:r>
            <a:r>
              <a:rPr lang="en-US" altLang="zh-CN" sz="2000" dirty="0"/>
              <a:t>,1,2}</a:t>
            </a:r>
          </a:p>
          <a:p>
            <a:pPr>
              <a:lnSpc>
                <a:spcPct val="150000"/>
              </a:lnSpc>
            </a:pPr>
            <a:r>
              <a:rPr lang="zh-CN" altLang="zh-CN" sz="2000" dirty="0"/>
              <a:t>•</a:t>
            </a:r>
            <a:r>
              <a:rPr lang="en-US" altLang="zh-CN" sz="2000" dirty="0"/>
              <a:t> </a:t>
            </a:r>
            <a:r>
              <a:rPr lang="zh-CN" altLang="en-US" sz="2000" dirty="0"/>
              <a:t>创建：直接用</a:t>
            </a:r>
            <a:r>
              <a:rPr lang="en-US" altLang="zh-CN" sz="2000" dirty="0"/>
              <a:t>{}</a:t>
            </a:r>
            <a:r>
              <a:rPr lang="zh-CN" altLang="en-US" sz="2000" dirty="0"/>
              <a:t>创建或使用</a:t>
            </a:r>
            <a:r>
              <a:rPr lang="en-US" altLang="zh-CN" sz="2000" dirty="0"/>
              <a:t>set()</a:t>
            </a:r>
            <a:r>
              <a:rPr lang="zh-CN" altLang="en-US" sz="2000" dirty="0"/>
              <a:t>函数建立，创建空集合时只能使用</a:t>
            </a:r>
            <a:r>
              <a:rPr lang="en-US" altLang="zh-CN" sz="2000" dirty="0"/>
              <a:t>set()</a:t>
            </a:r>
            <a:r>
              <a:rPr lang="zh-CN" altLang="en-US" sz="2000" dirty="0"/>
              <a:t>函数</a:t>
            </a:r>
          </a:p>
        </p:txBody>
      </p:sp>
      <p:sp>
        <p:nvSpPr>
          <p:cNvPr id="10" name="标注: 弯曲线形 1"/>
          <p:cNvSpPr/>
          <p:nvPr/>
        </p:nvSpPr>
        <p:spPr>
          <a:xfrm>
            <a:off x="9399173" y="4187756"/>
            <a:ext cx="1808577" cy="638661"/>
          </a:xfrm>
          <a:prstGeom prst="borderCallout2">
            <a:avLst>
              <a:gd name="adj1" fmla="val 39169"/>
              <a:gd name="adj2" fmla="val 229"/>
              <a:gd name="adj3" fmla="val 31806"/>
              <a:gd name="adj4" fmla="val -124331"/>
              <a:gd name="adj5" fmla="val 147504"/>
              <a:gd name="adj6" fmla="val -252005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自动去重！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集合操作</a:t>
            </a:r>
            <a:endParaRPr kumimoji="1" lang="zh-CN" altLang="en-US" dirty="0"/>
          </a:p>
        </p:txBody>
      </p:sp>
      <p:sp>
        <p:nvSpPr>
          <p:cNvPr id="3" name="矩形 1"/>
          <p:cNvSpPr>
            <a:spLocks noChangeArrowheads="1"/>
          </p:cNvSpPr>
          <p:nvPr/>
        </p:nvSpPr>
        <p:spPr bwMode="auto">
          <a:xfrm>
            <a:off x="1208024" y="1540574"/>
            <a:ext cx="88058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上述操作符表达了集合类型的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种基本操作，交集（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&amp;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）、并集（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|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）、差集（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）、补集（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^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），操作逻辑与数学定义相同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174" y="3016949"/>
            <a:ext cx="6606794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集合类型操作</a:t>
            </a:r>
            <a:endParaRPr kumimoji="1" lang="zh-CN" altLang="en-US" dirty="0"/>
          </a:p>
        </p:txBody>
      </p:sp>
      <p:sp>
        <p:nvSpPr>
          <p:cNvPr id="3" name="矩形 1"/>
          <p:cNvSpPr>
            <a:spLocks noChangeArrowheads="1"/>
          </p:cNvSpPr>
          <p:nvPr/>
        </p:nvSpPr>
        <p:spPr bwMode="auto">
          <a:xfrm>
            <a:off x="1715580" y="1544066"/>
            <a:ext cx="42771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集合类型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常见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操作函数或方法 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2"/>
          <p:cNvGraphicFramePr>
            <a:graphicFrameLocks noGrp="1"/>
          </p:cNvGraphicFramePr>
          <p:nvPr/>
        </p:nvGraphicFramePr>
        <p:xfrm>
          <a:off x="1721930" y="2307654"/>
          <a:ext cx="7638638" cy="3527425"/>
        </p:xfrm>
        <a:graphic>
          <a:graphicData uri="http://schemas.openxmlformats.org/drawingml/2006/table">
            <a:tbl>
              <a:tblPr/>
              <a:tblGrid>
                <a:gridCol w="2026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2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函数或方法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S.add(x)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如果数据项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不在集合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中，将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增加到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S.clear()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移除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中所有数据项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S.copy()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返回集合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的一个拷贝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S.pop()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随机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删除并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集合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中的一个元素，如果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为空，产生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KeyError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异常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S.discard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(x)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在集合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中，移除该元素；如果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不在，不报错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S.remove(x)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在集合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中，移除该元素；不在产生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KeyError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异常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S.isdisjoint(T)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如果集合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没有相同元素，返回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len(S)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返回集合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元素个数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in S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的元素，返回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，否则返回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not in S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不是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的元素，返回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，否则返回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altLang="zh-CN" b="1" dirty="0"/>
              <a:t>4.3.2 </a:t>
            </a:r>
            <a:r>
              <a:rPr lang="zh-CN" altLang="en-US" b="1" dirty="0"/>
              <a:t>集合操作</a:t>
            </a:r>
            <a:endParaRPr lang="en-US" b="1" dirty="0"/>
          </a:p>
        </p:txBody>
      </p:sp>
      <p:sp>
        <p:nvSpPr>
          <p:cNvPr id="2" name="矩形 1"/>
          <p:cNvSpPr/>
          <p:nvPr/>
        </p:nvSpPr>
        <p:spPr>
          <a:xfrm>
            <a:off x="1807339" y="1546733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dirty="0"/>
              <a:t> a = set('university')</a:t>
            </a:r>
          </a:p>
          <a:p>
            <a:r>
              <a:rPr lang="zh-CN" altLang="en-US" sz="2000" dirty="0"/>
              <a:t> b = set('beautiful')</a:t>
            </a:r>
          </a:p>
          <a:p>
            <a:r>
              <a:rPr lang="zh-CN" altLang="en-US" sz="2000" dirty="0"/>
              <a:t> a – b</a:t>
            </a:r>
          </a:p>
        </p:txBody>
      </p:sp>
      <p:sp>
        <p:nvSpPr>
          <p:cNvPr id="4" name="矩形 3"/>
          <p:cNvSpPr/>
          <p:nvPr/>
        </p:nvSpPr>
        <p:spPr>
          <a:xfrm>
            <a:off x="1821189" y="3159885"/>
            <a:ext cx="8899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 | b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1807340" y="4067294"/>
            <a:ext cx="8899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 &amp; b</a:t>
            </a:r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1807343" y="4834205"/>
            <a:ext cx="8899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 ^ b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1807338" y="5744240"/>
            <a:ext cx="8899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 &lt; b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1821189" y="1577591"/>
            <a:ext cx="3708711" cy="100085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807338" y="3140871"/>
            <a:ext cx="3708711" cy="3779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807340" y="4068540"/>
            <a:ext cx="3708711" cy="3779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807340" y="4845301"/>
            <a:ext cx="3708711" cy="3779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777723" y="5807100"/>
            <a:ext cx="3708711" cy="3779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661027" y="2639000"/>
            <a:ext cx="3942105" cy="343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8600" algn="just">
              <a:lnSpc>
                <a:spcPts val="19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{'r', 'v', 'n', 'y', 's'}</a:t>
            </a:r>
            <a:endParaRPr lang="zh-CN" altLang="zh-CN" sz="28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64240" y="3650842"/>
            <a:ext cx="10256165" cy="335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28600" algn="just">
              <a:lnSpc>
                <a:spcPts val="19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{'r', 'u', 'a', 't', 'v', 'b', 'n', 'y', 's', 'e', '</a:t>
            </a:r>
            <a:r>
              <a:rPr lang="en-US" altLang="zh-CN" sz="2000" b="1" kern="100" dirty="0" err="1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', 'f', 'l'}</a:t>
            </a:r>
            <a:endParaRPr lang="zh-CN" altLang="zh-CN" sz="28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18555" y="4461051"/>
            <a:ext cx="3236784" cy="343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8600" algn="just">
              <a:lnSpc>
                <a:spcPts val="19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{'u', 't', 'e', '</a:t>
            </a:r>
            <a:r>
              <a:rPr lang="en-US" altLang="zh-CN" sz="2000" b="1" kern="100" dirty="0" err="1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'}</a:t>
            </a:r>
            <a:endParaRPr lang="zh-CN" altLang="zh-CN" sz="28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18555" y="5314019"/>
            <a:ext cx="8787245" cy="335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28600" algn="just">
              <a:lnSpc>
                <a:spcPts val="19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{'r', 'a', 'v', 'b', 'n', 'y', 's', 'f', 'l'}</a:t>
            </a:r>
            <a:endParaRPr lang="zh-CN" altLang="zh-CN" sz="28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665330" y="6252605"/>
            <a:ext cx="1120820" cy="343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8600" algn="just">
              <a:lnSpc>
                <a:spcPts val="19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False</a:t>
            </a:r>
            <a:endParaRPr lang="zh-CN" altLang="zh-CN" sz="2800" b="1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标注: 弯曲线形 1"/>
          <p:cNvSpPr/>
          <p:nvPr/>
        </p:nvSpPr>
        <p:spPr>
          <a:xfrm>
            <a:off x="6276950" y="1587268"/>
            <a:ext cx="4517685" cy="615364"/>
          </a:xfrm>
          <a:prstGeom prst="borderCallout2">
            <a:avLst>
              <a:gd name="adj1" fmla="val 39169"/>
              <a:gd name="adj2" fmla="val 229"/>
              <a:gd name="adj3" fmla="val 127043"/>
              <a:gd name="adj4" fmla="val -75397"/>
              <a:gd name="adj5" fmla="val 38119"/>
              <a:gd name="adj6" fmla="val 734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zh-CN" kern="100" dirty="0">
                <a:latin typeface="+mn-ea"/>
              </a:rPr>
              <a:t>返回一个新集合，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</a:rPr>
              <a:t>包括</a:t>
            </a:r>
            <a:r>
              <a:rPr lang="en-US" altLang="zh-CN" kern="100" dirty="0">
                <a:solidFill>
                  <a:srgbClr val="FF0000"/>
                </a:solidFill>
                <a:latin typeface="+mn-ea"/>
              </a:rPr>
              <a:t>S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</a:rPr>
              <a:t>但不在</a:t>
            </a:r>
            <a:r>
              <a:rPr lang="en-US" altLang="zh-CN" kern="100" dirty="0">
                <a:solidFill>
                  <a:srgbClr val="FF0000"/>
                </a:solidFill>
                <a:latin typeface="+mn-ea"/>
              </a:rPr>
              <a:t>T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</a:rPr>
              <a:t>中的元素</a:t>
            </a:r>
            <a:endParaRPr lang="zh-CN" altLang="zh-CN" kern="100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2" name="标注: 弯曲线形 1"/>
          <p:cNvSpPr/>
          <p:nvPr/>
        </p:nvSpPr>
        <p:spPr>
          <a:xfrm>
            <a:off x="6276950" y="2583593"/>
            <a:ext cx="4517685" cy="615364"/>
          </a:xfrm>
          <a:prstGeom prst="borderCallout2">
            <a:avLst>
              <a:gd name="adj1" fmla="val 39169"/>
              <a:gd name="adj2" fmla="val 229"/>
              <a:gd name="adj3" fmla="val 127043"/>
              <a:gd name="adj4" fmla="val -75397"/>
              <a:gd name="adj5" fmla="val 38119"/>
              <a:gd name="adj6" fmla="val 734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zh-CN" kern="100" dirty="0">
                <a:latin typeface="+mn-ea"/>
              </a:rPr>
              <a:t>返回一个新集合，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</a:rPr>
              <a:t>包括</a:t>
            </a:r>
            <a:r>
              <a:rPr lang="en-US" altLang="zh-CN" kern="100" dirty="0">
                <a:solidFill>
                  <a:srgbClr val="FF0000"/>
                </a:solidFill>
                <a:latin typeface="+mn-ea"/>
              </a:rPr>
              <a:t>S</a:t>
            </a:r>
            <a:r>
              <a:rPr lang="zh-CN" altLang="en-US" kern="100" dirty="0">
                <a:solidFill>
                  <a:srgbClr val="FF0000"/>
                </a:solidFill>
                <a:latin typeface="+mn-ea"/>
              </a:rPr>
              <a:t>和</a:t>
            </a:r>
            <a:r>
              <a:rPr lang="en-US" altLang="zh-CN" kern="100" dirty="0">
                <a:solidFill>
                  <a:srgbClr val="FF0000"/>
                </a:solidFill>
                <a:latin typeface="+mn-ea"/>
              </a:rPr>
              <a:t>T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</a:rPr>
              <a:t>中的元素</a:t>
            </a:r>
            <a:endParaRPr lang="zh-CN" altLang="zh-CN" kern="100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3" name="标注: 弯曲线形 1"/>
          <p:cNvSpPr/>
          <p:nvPr/>
        </p:nvSpPr>
        <p:spPr>
          <a:xfrm>
            <a:off x="6276949" y="4006979"/>
            <a:ext cx="4808633" cy="615364"/>
          </a:xfrm>
          <a:prstGeom prst="borderCallout2">
            <a:avLst>
              <a:gd name="adj1" fmla="val 39169"/>
              <a:gd name="adj2" fmla="val 229"/>
              <a:gd name="adj3" fmla="val 48243"/>
              <a:gd name="adj4" fmla="val -74784"/>
              <a:gd name="adj5" fmla="val 38119"/>
              <a:gd name="adj6" fmla="val 734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zh-CN" kern="100" dirty="0">
                <a:latin typeface="+mn-ea"/>
              </a:rPr>
              <a:t>返回一个新集合，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</a:rPr>
              <a:t>包括</a:t>
            </a:r>
            <a:r>
              <a:rPr lang="zh-CN" altLang="en-US" kern="100" dirty="0">
                <a:solidFill>
                  <a:srgbClr val="FF0000"/>
                </a:solidFill>
                <a:latin typeface="+mn-ea"/>
              </a:rPr>
              <a:t>同时在</a:t>
            </a:r>
            <a:r>
              <a:rPr lang="en-US" altLang="zh-CN" kern="100" dirty="0">
                <a:solidFill>
                  <a:srgbClr val="FF0000"/>
                </a:solidFill>
                <a:latin typeface="+mn-ea"/>
              </a:rPr>
              <a:t>S</a:t>
            </a:r>
            <a:r>
              <a:rPr lang="zh-CN" altLang="en-US" kern="100" dirty="0">
                <a:solidFill>
                  <a:srgbClr val="FF0000"/>
                </a:solidFill>
                <a:latin typeface="+mn-ea"/>
              </a:rPr>
              <a:t>和</a:t>
            </a:r>
            <a:r>
              <a:rPr lang="en-US" altLang="zh-CN" kern="100" dirty="0">
                <a:solidFill>
                  <a:srgbClr val="FF0000"/>
                </a:solidFill>
                <a:latin typeface="+mn-ea"/>
              </a:rPr>
              <a:t>T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</a:rPr>
              <a:t>中的元素</a:t>
            </a:r>
            <a:endParaRPr lang="zh-CN" altLang="zh-CN" kern="100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4" name="标注: 弯曲线形 1"/>
          <p:cNvSpPr/>
          <p:nvPr/>
        </p:nvSpPr>
        <p:spPr>
          <a:xfrm>
            <a:off x="6276949" y="4698655"/>
            <a:ext cx="4808633" cy="615364"/>
          </a:xfrm>
          <a:prstGeom prst="borderCallout2">
            <a:avLst>
              <a:gd name="adj1" fmla="val 39169"/>
              <a:gd name="adj2" fmla="val 229"/>
              <a:gd name="adj3" fmla="val 59500"/>
              <a:gd name="adj4" fmla="val -73920"/>
              <a:gd name="adj5" fmla="val 38119"/>
              <a:gd name="adj6" fmla="val 734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zh-CN" kern="100" dirty="0">
                <a:latin typeface="+mn-ea"/>
              </a:rPr>
              <a:t>返回一个新集合，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</a:rPr>
              <a:t>包括</a:t>
            </a:r>
            <a:r>
              <a:rPr lang="en-US" altLang="zh-CN" kern="100" dirty="0">
                <a:solidFill>
                  <a:srgbClr val="FF0000"/>
                </a:solidFill>
                <a:latin typeface="+mn-ea"/>
              </a:rPr>
              <a:t>S</a:t>
            </a:r>
            <a:r>
              <a:rPr lang="zh-CN" altLang="en-US" kern="100" dirty="0">
                <a:solidFill>
                  <a:srgbClr val="FF0000"/>
                </a:solidFill>
                <a:latin typeface="+mn-ea"/>
              </a:rPr>
              <a:t>和</a:t>
            </a:r>
            <a:r>
              <a:rPr lang="en-US" altLang="zh-CN" kern="100" dirty="0">
                <a:solidFill>
                  <a:srgbClr val="FF0000"/>
                </a:solidFill>
                <a:latin typeface="+mn-ea"/>
              </a:rPr>
              <a:t>T</a:t>
            </a:r>
            <a:r>
              <a:rPr lang="zh-CN" altLang="en-US" kern="100" dirty="0">
                <a:solidFill>
                  <a:srgbClr val="FF0000"/>
                </a:solidFill>
                <a:latin typeface="+mn-ea"/>
              </a:rPr>
              <a:t>中不同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</a:rPr>
              <a:t>的元素</a:t>
            </a:r>
            <a:endParaRPr lang="zh-CN" altLang="zh-CN" kern="100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5" name="标注: 弯曲线形 1"/>
          <p:cNvSpPr/>
          <p:nvPr/>
        </p:nvSpPr>
        <p:spPr>
          <a:xfrm>
            <a:off x="6276948" y="5734928"/>
            <a:ext cx="4808633" cy="615364"/>
          </a:xfrm>
          <a:prstGeom prst="borderCallout2">
            <a:avLst>
              <a:gd name="adj1" fmla="val 39169"/>
              <a:gd name="adj2" fmla="val 229"/>
              <a:gd name="adj3" fmla="val 59500"/>
              <a:gd name="adj4" fmla="val -73920"/>
              <a:gd name="adj5" fmla="val 38119"/>
              <a:gd name="adj6" fmla="val 734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kern="100" dirty="0">
                <a:latin typeface="+mn-ea"/>
              </a:rPr>
              <a:t>判断</a:t>
            </a:r>
            <a:r>
              <a:rPr lang="en-US" altLang="zh-CN" kern="100" dirty="0">
                <a:latin typeface="+mn-ea"/>
              </a:rPr>
              <a:t>S</a:t>
            </a:r>
            <a:r>
              <a:rPr lang="zh-CN" altLang="en-US" kern="100" dirty="0">
                <a:latin typeface="+mn-ea"/>
              </a:rPr>
              <a:t>和</a:t>
            </a:r>
            <a:r>
              <a:rPr lang="en-US" altLang="zh-CN" kern="100" dirty="0">
                <a:latin typeface="+mn-ea"/>
              </a:rPr>
              <a:t>T</a:t>
            </a:r>
            <a:r>
              <a:rPr lang="zh-CN" altLang="en-US" kern="100" dirty="0">
                <a:latin typeface="+mn-ea"/>
              </a:rPr>
              <a:t>的</a:t>
            </a:r>
            <a:r>
              <a:rPr lang="zh-CN" altLang="en-US" kern="100" dirty="0">
                <a:solidFill>
                  <a:srgbClr val="FF0000"/>
                </a:solidFill>
                <a:latin typeface="+mn-ea"/>
              </a:rPr>
              <a:t>子集关系</a:t>
            </a:r>
            <a:endParaRPr lang="zh-CN" altLang="zh-CN" kern="100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5095" y="197980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差集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922696" y="323651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并集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917910" y="486786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补集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17911" y="407943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交集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917909" y="569898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子集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 animBg="1"/>
      <p:bldP spid="10" grpId="0" animBg="1"/>
      <p:bldP spid="11" grpId="0" animBg="1"/>
      <p:bldP spid="12" grpId="0" animBg="1"/>
      <p:bldP spid="13" grpId="0"/>
      <p:bldP spid="15" grpId="0"/>
      <p:bldP spid="16" grpId="0"/>
      <p:bldP spid="18" grpId="0"/>
      <p:bldP spid="19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F17A-86CC-C5D4-C894-EC304A4B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kumimoji="1"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）集合的运算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9E3E47-A18D-487B-686C-A4DF1FF20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423" y="1687864"/>
            <a:ext cx="4394200" cy="1600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093370-5307-03D5-6577-35C3A3763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80" y="1964863"/>
            <a:ext cx="4178300" cy="154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509054-51C3-ED34-2E69-F1A04B715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423" y="4342119"/>
            <a:ext cx="4178300" cy="1536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D68F51-4073-BA80-4818-BB76307BD0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911" y="4396726"/>
            <a:ext cx="5740400" cy="1587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829582-D07C-3A94-4AC7-0CE34DBBE411}"/>
              </a:ext>
            </a:extLst>
          </p:cNvPr>
          <p:cNvSpPr txBox="1"/>
          <p:nvPr/>
        </p:nvSpPr>
        <p:spPr>
          <a:xfrm>
            <a:off x="1104900" y="1318532"/>
            <a:ext cx="4805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并集 </a:t>
            </a:r>
            <a:r>
              <a:rPr lang="en-US" altLang="zh-CN" b="1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US" b="1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Union)</a:t>
            </a:r>
            <a:r>
              <a:rPr lang="en-US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: </a:t>
            </a:r>
            <a:r>
              <a:rPr lang="zh-CN" altLang="en-US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使用</a:t>
            </a:r>
            <a:r>
              <a:rPr lang="en-US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union()</a:t>
            </a:r>
            <a:r>
              <a:rPr lang="zh-CN" altLang="en-US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方法或</a:t>
            </a:r>
            <a:r>
              <a:rPr lang="en-US" altLang="zh-CN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|</a:t>
            </a:r>
            <a:r>
              <a:rPr lang="zh-CN" altLang="en-US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运算符</a:t>
            </a:r>
            <a:endParaRPr lang="zh-CN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C360F8-8B94-86B0-4915-15DDEAC627B9}"/>
              </a:ext>
            </a:extLst>
          </p:cNvPr>
          <p:cNvSpPr txBox="1"/>
          <p:nvPr/>
        </p:nvSpPr>
        <p:spPr>
          <a:xfrm>
            <a:off x="6095241" y="1318532"/>
            <a:ext cx="5435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交集 </a:t>
            </a:r>
            <a:r>
              <a:rPr lang="en-US" altLang="zh-CN" b="1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US" b="1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Intersection)</a:t>
            </a:r>
            <a:r>
              <a:rPr 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：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使用</a:t>
            </a:r>
            <a:r>
              <a:rPr lang="en-US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intersection()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方法或</a:t>
            </a:r>
            <a:r>
              <a:rPr lang="en-US" altLang="zh-CN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&amp;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运算符</a:t>
            </a:r>
            <a:endParaRPr lang="zh-CN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3FA82F-D006-85C4-E2E2-DE17D40351A8}"/>
              </a:ext>
            </a:extLst>
          </p:cNvPr>
          <p:cNvSpPr txBox="1"/>
          <p:nvPr/>
        </p:nvSpPr>
        <p:spPr>
          <a:xfrm>
            <a:off x="1104900" y="3510269"/>
            <a:ext cx="45997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差集 </a:t>
            </a:r>
            <a:r>
              <a:rPr lang="en-US" altLang="zh-CN" b="1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US" b="1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Difference)</a:t>
            </a:r>
            <a:r>
              <a:rPr 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：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使用 </a:t>
            </a:r>
            <a:r>
              <a:rPr lang="en-US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difference()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方法或</a:t>
            </a:r>
            <a:r>
              <a:rPr lang="en-US" altLang="zh-CN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运算符</a:t>
            </a:r>
            <a:endParaRPr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76A95D-CE41-11DD-C96F-29C6790B2F2C}"/>
              </a:ext>
            </a:extLst>
          </p:cNvPr>
          <p:cNvSpPr txBox="1"/>
          <p:nvPr/>
        </p:nvSpPr>
        <p:spPr>
          <a:xfrm>
            <a:off x="5910146" y="3637227"/>
            <a:ext cx="5435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对称差集 </a:t>
            </a:r>
            <a:r>
              <a:rPr lang="en-US" altLang="zh-CN" b="1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en-US" b="1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Symmetric Difference)</a:t>
            </a:r>
            <a:r>
              <a:rPr 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：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使用</a:t>
            </a:r>
            <a:r>
              <a:rPr lang="en-US" b="0" i="0" dirty="0" err="1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symmetric_difference</a:t>
            </a:r>
            <a:r>
              <a:rPr lang="en-US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方法或</a:t>
            </a:r>
            <a:r>
              <a:rPr lang="en-US" altLang="zh-CN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^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运算符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943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CC675-B066-A274-9E54-9DA91C13D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0C81A-E0B6-6AB5-EB79-C1841370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kumimoji="1"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）集合的运算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7B90B4-4CE3-346C-F0BD-F48BD54E5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441449"/>
            <a:ext cx="6680200" cy="48895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110120-E74C-A749-AC1E-CF92F564D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00" y="2104172"/>
            <a:ext cx="5410200" cy="39878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4981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）集合的插入与更新</a:t>
            </a:r>
            <a:endParaRPr lang="zh-CN" altLang="en-US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30034" y="1439402"/>
            <a:ext cx="4696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• </a:t>
            </a:r>
            <a:r>
              <a:rPr lang="en-US" altLang="zh-CN" sz="2000" b="1" dirty="0" err="1">
                <a:solidFill>
                  <a:srgbClr val="FF0000"/>
                </a:solidFill>
              </a:rPr>
              <a:t>s.add</a:t>
            </a:r>
            <a:r>
              <a:rPr lang="en-US" altLang="zh-CN" sz="2000" b="1" dirty="0">
                <a:solidFill>
                  <a:srgbClr val="FF0000"/>
                </a:solidFill>
              </a:rPr>
              <a:t>(x)</a:t>
            </a:r>
            <a:r>
              <a:rPr lang="zh-CN" altLang="en-US" sz="2000" dirty="0"/>
              <a:t>：添加单个元素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330034" y="3228945"/>
            <a:ext cx="10284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• </a:t>
            </a:r>
            <a:r>
              <a:rPr lang="en-US" altLang="zh-CN" sz="2000" b="1" dirty="0" err="1">
                <a:solidFill>
                  <a:srgbClr val="FF0000"/>
                </a:solidFill>
              </a:rPr>
              <a:t>s.update</a:t>
            </a:r>
            <a:r>
              <a:rPr lang="en-US" altLang="zh-CN" sz="2000" b="1" dirty="0">
                <a:solidFill>
                  <a:srgbClr val="FF0000"/>
                </a:solidFill>
              </a:rPr>
              <a:t>(x)</a:t>
            </a:r>
            <a:r>
              <a:rPr lang="zh-CN" altLang="en-US" sz="2000" dirty="0"/>
              <a:t>：添加多个元素，各元素之间用逗号间隔（先转换，后并集）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CC7491-307C-6DE0-975C-B0BF43844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456" y="2031602"/>
            <a:ext cx="6019800" cy="965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211B4D-15C0-9A7A-8FA2-9CAACDB79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456" y="3731785"/>
            <a:ext cx="6134100" cy="2641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962FA-B7F6-BDBF-2F85-64F4125F3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D9048AB-ABB0-1B90-33ED-64D8B936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）集合的删除</a:t>
            </a:r>
            <a:endParaRPr lang="en-US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9F606E-3B91-7C73-55F7-BEE984A2355C}"/>
              </a:ext>
            </a:extLst>
          </p:cNvPr>
          <p:cNvSpPr txBox="1"/>
          <p:nvPr/>
        </p:nvSpPr>
        <p:spPr>
          <a:xfrm>
            <a:off x="1104899" y="1370930"/>
            <a:ext cx="47271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pop()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方法可随机移除集合中的一个元素，并返回该元素。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BA32C9-4E1B-7D2A-9C3F-37B8ED002B17}"/>
              </a:ext>
            </a:extLst>
          </p:cNvPr>
          <p:cNvSpPr txBox="1"/>
          <p:nvPr/>
        </p:nvSpPr>
        <p:spPr>
          <a:xfrm>
            <a:off x="1104899" y="2562574"/>
            <a:ext cx="4637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remove()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和</a:t>
            </a:r>
            <a:r>
              <a:rPr lang="en-US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discard()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方法都移除集合中指定的元素。</a:t>
            </a:r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199A71-24D2-6EDC-0B6E-53FF5D6CF543}"/>
              </a:ext>
            </a:extLst>
          </p:cNvPr>
          <p:cNvSpPr txBox="1"/>
          <p:nvPr/>
        </p:nvSpPr>
        <p:spPr>
          <a:xfrm>
            <a:off x="1104899" y="4437997"/>
            <a:ext cx="4832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6E6B5E"/>
                </a:solidFill>
                <a:effectLst/>
                <a:latin typeface="Courier New" panose="02070309020205020404" pitchFamily="49" charset="0"/>
              </a:rPr>
              <a:t>clear()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方法用于清空集合中的所有元素，集合将变为空集合。</a:t>
            </a:r>
            <a:endParaRPr lang="zh-CN" alt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3E69A4A-409E-35BF-966D-D410893B0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870" y="1335340"/>
            <a:ext cx="5245100" cy="11303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A9FC44-EB96-1D06-04F4-DF2248016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870" y="2627818"/>
            <a:ext cx="4089400" cy="2717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2E3C75A-CA95-3FDA-4B06-C90ED0D17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738" y="5165417"/>
            <a:ext cx="37211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988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dirty="0" err="1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frozenset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</a:t>
            </a:r>
            <a:endParaRPr lang="en-US" altLang="zh-CN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74495" y="1899920"/>
            <a:ext cx="9088120" cy="932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zh-CN" sz="2400" dirty="0">
                <a:ea typeface="宋体" panose="02010600030101010101" pitchFamily="2" charset="-122"/>
                <a:sym typeface="+mn-ea"/>
              </a:rPr>
              <a:t>函数</a:t>
            </a:r>
            <a:r>
              <a:rPr lang="en-US" altLang="zh-CN" sz="2400" dirty="0">
                <a:ea typeface="宋体" panose="02010600030101010101" pitchFamily="2" charset="-122"/>
                <a:sym typeface="+mn-ea"/>
              </a:rPr>
              <a:t>frozenset()</a:t>
            </a:r>
            <a:r>
              <a:rPr lang="zh-CN" altLang="en-US" sz="2400" dirty="0">
                <a:ea typeface="宋体" panose="02010600030101010101" pitchFamily="2" charset="-122"/>
                <a:sym typeface="+mn-ea"/>
              </a:rPr>
              <a:t>返回一个冻结的集合，无法再添加或删除任何元素。</a:t>
            </a:r>
          </a:p>
        </p:txBody>
      </p:sp>
      <p:sp>
        <p:nvSpPr>
          <p:cNvPr id="6" name="矩形 5"/>
          <p:cNvSpPr/>
          <p:nvPr/>
        </p:nvSpPr>
        <p:spPr>
          <a:xfrm>
            <a:off x="2405007" y="3235409"/>
            <a:ext cx="6096000" cy="39878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 </a:t>
            </a:r>
            <a:r>
              <a:rPr lang="zh-CN" altLang="en-US" sz="2000" dirty="0">
                <a:latin typeface="Consolas" panose="020B0609020204030204" pitchFamily="49" charset="0"/>
              </a:rPr>
              <a:t>vowels1 = frozenset({'a','e','i','o'})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674593" y="4242442"/>
            <a:ext cx="469669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• 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  <a:sym typeface="+mn-ea"/>
              </a:rPr>
              <a:t>vowels1.add('p')</a:t>
            </a:r>
            <a:endParaRPr lang="zh-CN" altLang="en-US" sz="2400" b="1" dirty="0">
              <a:solidFill>
                <a:srgbClr val="FF0000"/>
              </a:solidFill>
              <a:latin typeface="Consolas" panose="020B0609020204030204" pitchFamily="49" charset="0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10155" y="3176905"/>
            <a:ext cx="5620385" cy="5708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2201265" y="5099997"/>
            <a:ext cx="8267700" cy="3346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8600" algn="l">
              <a:lnSpc>
                <a:spcPts val="1900"/>
              </a:lnSpc>
              <a:spcAft>
                <a:spcPts val="0"/>
              </a:spcAft>
            </a:pPr>
            <a:r>
              <a:rPr lang="zh-CN" altLang="en-US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结果：</a:t>
            </a:r>
            <a:r>
              <a:rPr lang="en-US" altLang="zh-CN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AttributeError: 'frozenset' object has no attribute 'add'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48000" y="322961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sym typeface="+mn-ea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  <a:sym typeface="+mn-ea"/>
              </a:rPr>
              <a:t>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dirty="0" err="1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collections.counter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函数</a:t>
            </a:r>
            <a:endParaRPr lang="en-US" altLang="zh-CN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9646" y="1405895"/>
            <a:ext cx="9685935" cy="1731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sz="2400" dirty="0">
                <a:ea typeface="宋体" panose="02010600030101010101" pitchFamily="2" charset="-122"/>
                <a:sym typeface="+mn-ea"/>
              </a:rPr>
              <a:t>collections</a:t>
            </a:r>
            <a:r>
              <a:rPr lang="zh-CN" sz="2400" dirty="0">
                <a:ea typeface="宋体" panose="02010600030101010101" pitchFamily="2" charset="-122"/>
                <a:sym typeface="+mn-ea"/>
              </a:rPr>
              <a:t>库</a:t>
            </a:r>
            <a:r>
              <a:rPr sz="2400" dirty="0">
                <a:ea typeface="宋体" panose="02010600030101010101" pitchFamily="2" charset="-122"/>
                <a:sym typeface="+mn-ea"/>
              </a:rPr>
              <a:t>的 counter() 函数是一个计数器工具，用于统计可迭代对象中元素出现的次数，并返回一个字典</a:t>
            </a:r>
            <a:r>
              <a:rPr lang="en-US" sz="2400" dirty="0">
                <a:ea typeface="宋体" panose="02010600030101010101" pitchFamily="2" charset="-122"/>
                <a:sym typeface="+mn-ea"/>
              </a:rPr>
              <a:t>(</a:t>
            </a:r>
            <a:r>
              <a:rPr sz="2400" dirty="0">
                <a:ea typeface="宋体" panose="02010600030101010101" pitchFamily="2" charset="-122"/>
                <a:sym typeface="+mn-ea"/>
              </a:rPr>
              <a:t>key-value</a:t>
            </a:r>
            <a:r>
              <a:rPr lang="en-US" sz="2400" dirty="0">
                <a:ea typeface="宋体" panose="02010600030101010101" pitchFamily="2" charset="-122"/>
                <a:sym typeface="+mn-ea"/>
              </a:rPr>
              <a:t>)</a:t>
            </a:r>
            <a:r>
              <a:rPr lang="zh-CN" altLang="en-US" sz="2400" dirty="0">
                <a:ea typeface="宋体" panose="02010600030101010101" pitchFamily="2" charset="-122"/>
                <a:sym typeface="+mn-ea"/>
              </a:rPr>
              <a:t>。</a:t>
            </a:r>
            <a:endParaRPr lang="en-US" altLang="zh-CN" sz="2400" dirty="0">
              <a:ea typeface="宋体" panose="02010600030101010101" pitchFamily="2" charset="-122"/>
              <a:sym typeface="+mn-ea"/>
            </a:endParaRPr>
          </a:p>
          <a:p>
            <a:pPr marL="800100" lvl="1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sz="2400" dirty="0">
                <a:ea typeface="宋体" panose="02010600030101010101" pitchFamily="2" charset="-122"/>
                <a:sym typeface="+mn-ea"/>
              </a:rPr>
              <a:t>key </a:t>
            </a:r>
            <a:r>
              <a:rPr sz="2400" dirty="0" err="1">
                <a:ea typeface="宋体" panose="02010600030101010101" pitchFamily="2" charset="-122"/>
                <a:sym typeface="+mn-ea"/>
              </a:rPr>
              <a:t>表示元素</a:t>
            </a:r>
            <a:r>
              <a:rPr sz="2400" dirty="0">
                <a:ea typeface="宋体" panose="02010600030101010101" pitchFamily="2" charset="-122"/>
                <a:sym typeface="+mn-ea"/>
              </a:rPr>
              <a:t>，</a:t>
            </a:r>
            <a:endParaRPr lang="en-US" sz="2400" dirty="0">
              <a:ea typeface="宋体" panose="02010600030101010101" pitchFamily="2" charset="-122"/>
              <a:sym typeface="+mn-ea"/>
            </a:endParaRPr>
          </a:p>
          <a:p>
            <a:pPr marL="800100" lvl="1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sz="2400" dirty="0">
                <a:ea typeface="宋体" panose="02010600030101010101" pitchFamily="2" charset="-122"/>
                <a:sym typeface="+mn-ea"/>
              </a:rPr>
              <a:t>value 表示各元素出现的次数，可为任意整数 (即包括0与负数)。</a:t>
            </a:r>
          </a:p>
        </p:txBody>
      </p:sp>
      <p:sp>
        <p:nvSpPr>
          <p:cNvPr id="6" name="矩形 5"/>
          <p:cNvSpPr/>
          <p:nvPr/>
        </p:nvSpPr>
        <p:spPr>
          <a:xfrm>
            <a:off x="2533355" y="3226784"/>
            <a:ext cx="6096000" cy="10147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from collections import Counter</a:t>
            </a:r>
          </a:p>
          <a:p>
            <a:r>
              <a:rPr lang="zh-CN" altLang="en-US" sz="2000" dirty="0">
                <a:latin typeface="Consolas" panose="020B0609020204030204" pitchFamily="49" charset="0"/>
              </a:rPr>
              <a:t>c = Counter("abracadabra") 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c</a:t>
            </a:r>
          </a:p>
        </p:txBody>
      </p:sp>
      <p:sp>
        <p:nvSpPr>
          <p:cNvPr id="11" name="矩形 10"/>
          <p:cNvSpPr/>
          <p:nvPr/>
        </p:nvSpPr>
        <p:spPr>
          <a:xfrm>
            <a:off x="2223568" y="4214437"/>
            <a:ext cx="7261860" cy="3346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8600" algn="l">
              <a:lnSpc>
                <a:spcPts val="1900"/>
              </a:lnSpc>
              <a:spcAft>
                <a:spcPts val="0"/>
              </a:spcAft>
            </a:pPr>
            <a:r>
              <a:rPr lang="zh-CN" altLang="en-US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结果：</a:t>
            </a:r>
            <a:r>
              <a:rPr lang="en-US" altLang="zh-CN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Counter({'a': 5, 'b': 2, 'r': 2, 'c': 1, 'd': 1})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76761" y="4615708"/>
            <a:ext cx="7980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en-US" altLang="zh-CN" sz="2000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c.update</a:t>
            </a:r>
            <a:r>
              <a:rPr lang="zh-CN" altLang="en-US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()</a:t>
            </a:r>
            <a:r>
              <a:rPr lang="en-US" altLang="zh-CN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:</a:t>
            </a:r>
            <a:r>
              <a:rPr lang="zh-CN" altLang="en-US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更新Counter()，相同 key 的 value 相加</a:t>
            </a:r>
          </a:p>
        </p:txBody>
      </p:sp>
      <p:sp>
        <p:nvSpPr>
          <p:cNvPr id="10" name="矩形 9"/>
          <p:cNvSpPr/>
          <p:nvPr/>
        </p:nvSpPr>
        <p:spPr>
          <a:xfrm>
            <a:off x="2533093" y="3266705"/>
            <a:ext cx="5620385" cy="90741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2533093" y="5048515"/>
            <a:ext cx="5620385" cy="9652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2533093" y="5046610"/>
            <a:ext cx="6096000" cy="94805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d = Counter("abcd")</a:t>
            </a:r>
          </a:p>
          <a:p>
            <a:r>
              <a:rPr lang="zh-CN" altLang="en-US" sz="2000" dirty="0">
                <a:latin typeface="Consolas" panose="020B0609020204030204" pitchFamily="49" charset="0"/>
              </a:rPr>
              <a:t>c.update(d)</a:t>
            </a:r>
          </a:p>
          <a:p>
            <a:r>
              <a:rPr lang="zh-CN" altLang="en-US" sz="2000" dirty="0">
                <a:latin typeface="Consolas" panose="020B0609020204030204" pitchFamily="49" charset="0"/>
              </a:rPr>
              <a:t>c</a:t>
            </a:r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2223568" y="6044507"/>
            <a:ext cx="7261860" cy="3346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28600" algn="l">
              <a:lnSpc>
                <a:spcPts val="1900"/>
              </a:lnSpc>
              <a:spcAft>
                <a:spcPts val="0"/>
              </a:spcAft>
            </a:pPr>
            <a:r>
              <a:rPr lang="zh-CN" altLang="en-US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结果：</a:t>
            </a:r>
            <a:r>
              <a:rPr lang="en-US" altLang="zh-CN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Counter({'a': 6, 'b': 3, 'r': 2, 'c': 2, 'd': 2})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7517" y="2750961"/>
            <a:ext cx="10071099" cy="1684150"/>
          </a:xfrm>
        </p:spPr>
        <p:txBody>
          <a:bodyPr/>
          <a:lstStyle/>
          <a:p>
            <a:r>
              <a:rPr lang="en-US" b="1" dirty="0"/>
              <a:t>4.4 </a:t>
            </a:r>
            <a:r>
              <a:rPr lang="zh-CN" altLang="en-US" b="1" dirty="0"/>
              <a:t>映射类型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altLang="zh-CN" b="1" dirty="0"/>
              <a:t>4.4.1 </a:t>
            </a:r>
            <a:r>
              <a:rPr lang="zh-CN" altLang="en-US" b="1" dirty="0"/>
              <a:t>字典定义与创建</a:t>
            </a:r>
            <a:endParaRPr 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104900" y="1290280"/>
            <a:ext cx="9980682" cy="277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• </a:t>
            </a:r>
            <a:r>
              <a:rPr lang="zh-CN" altLang="en-US" sz="2400" b="1" dirty="0">
                <a:solidFill>
                  <a:srgbClr val="FF0000"/>
                </a:solidFill>
              </a:rPr>
              <a:t>字典（</a:t>
            </a:r>
            <a:r>
              <a:rPr lang="en-US" altLang="zh-CN" sz="2400" b="1" dirty="0" err="1">
                <a:solidFill>
                  <a:srgbClr val="FF0000"/>
                </a:solidFill>
              </a:rPr>
              <a:t>dict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r>
              <a:rPr lang="zh-CN" altLang="en-US" sz="2400" dirty="0"/>
              <a:t>是“映射”的体现，通过</a:t>
            </a:r>
            <a:r>
              <a:rPr lang="zh-CN" altLang="en-US" sz="2400" b="1" dirty="0">
                <a:solidFill>
                  <a:srgbClr val="FF0000"/>
                </a:solidFill>
              </a:rPr>
              <a:t>键值对</a:t>
            </a:r>
            <a:r>
              <a:rPr lang="zh-CN" altLang="en-US" sz="2400" dirty="0"/>
              <a:t>存储数据，键值对之间</a:t>
            </a:r>
            <a:r>
              <a:rPr lang="zh-CN" altLang="en-US" sz="2400" b="1" dirty="0">
                <a:solidFill>
                  <a:srgbClr val="FF0000"/>
                </a:solidFill>
              </a:rPr>
              <a:t>无序</a:t>
            </a:r>
            <a:r>
              <a:rPr lang="zh-CN" altLang="zh-CN" sz="2400" dirty="0"/>
              <a:t>。常用大括号</a:t>
            </a:r>
            <a:r>
              <a:rPr lang="en-US" altLang="zh-CN" sz="2400" dirty="0"/>
              <a:t>{}</a:t>
            </a:r>
            <a:r>
              <a:rPr lang="zh-CN" altLang="zh-CN" sz="2400" dirty="0"/>
              <a:t>表示字典，键值对用冒号“：”表示。</a:t>
            </a:r>
            <a:endParaRPr lang="en-US" altLang="zh-CN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例如：</a:t>
            </a:r>
            <a:r>
              <a:rPr lang="en-US" altLang="zh-CN" sz="2400" dirty="0">
                <a:solidFill>
                  <a:srgbClr val="0432FF"/>
                </a:solidFill>
              </a:rPr>
              <a:t>{‘one’: 1, ‘two’: 2}</a:t>
            </a:r>
            <a:r>
              <a:rPr lang="zh-CN" altLang="en-US" sz="2400" dirty="0">
                <a:solidFill>
                  <a:srgbClr val="0432FF"/>
                </a:solidFill>
              </a:rPr>
              <a:t>、</a:t>
            </a:r>
            <a:r>
              <a:rPr lang="en-US" altLang="zh-CN" sz="2400" dirty="0">
                <a:solidFill>
                  <a:srgbClr val="0432FF"/>
                </a:solidFill>
              </a:rPr>
              <a:t>{‘name’:‘</a:t>
            </a:r>
            <a:r>
              <a:rPr lang="en-US" altLang="zh-CN" sz="2400" dirty="0" err="1">
                <a:solidFill>
                  <a:srgbClr val="0432FF"/>
                </a:solidFill>
              </a:rPr>
              <a:t>Zhangsan</a:t>
            </a:r>
            <a:r>
              <a:rPr lang="zh-CN" altLang="en-US" sz="2400" dirty="0">
                <a:solidFill>
                  <a:srgbClr val="0432FF"/>
                </a:solidFill>
              </a:rPr>
              <a:t>’</a:t>
            </a:r>
            <a:r>
              <a:rPr lang="en-US" altLang="zh-CN" sz="2400" dirty="0">
                <a:solidFill>
                  <a:srgbClr val="0432FF"/>
                </a:solidFill>
              </a:rPr>
              <a:t>}</a:t>
            </a:r>
            <a:r>
              <a:rPr lang="zh-CN" altLang="en-US" sz="2400" dirty="0"/>
              <a:t>等。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zh-CN" altLang="zh-CN" sz="2400" dirty="0"/>
              <a:t>•</a:t>
            </a:r>
            <a:r>
              <a:rPr lang="en-US" altLang="zh-CN" sz="2400" dirty="0"/>
              <a:t> </a:t>
            </a:r>
            <a:r>
              <a:rPr lang="zh-CN" altLang="en-US" sz="2400" b="1" dirty="0">
                <a:solidFill>
                  <a:srgbClr val="C00000"/>
                </a:solidFill>
              </a:rPr>
              <a:t>创建</a:t>
            </a:r>
            <a:r>
              <a:rPr lang="zh-CN" altLang="en-US" sz="2400" dirty="0"/>
              <a:t>：</a:t>
            </a:r>
            <a:r>
              <a:rPr lang="zh-CN" altLang="zh-CN" sz="2400" dirty="0"/>
              <a:t>创建空字典时可以直接用大括号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0432FF"/>
                </a:solidFill>
              </a:rPr>
              <a:t>{}</a:t>
            </a:r>
            <a:r>
              <a:rPr lang="zh-CN" altLang="en-US" sz="2400" dirty="0"/>
              <a:t> </a:t>
            </a:r>
            <a:r>
              <a:rPr lang="zh-CN" altLang="zh-CN" sz="2400" dirty="0"/>
              <a:t>表示。也可以用函数</a:t>
            </a:r>
            <a:r>
              <a:rPr lang="zh-CN" altLang="en-US" sz="2400" dirty="0"/>
              <a:t> </a:t>
            </a:r>
            <a:r>
              <a:rPr lang="en-US" altLang="zh-CN" sz="2400" dirty="0" err="1">
                <a:solidFill>
                  <a:srgbClr val="0432FF"/>
                </a:solidFill>
              </a:rPr>
              <a:t>dict</a:t>
            </a:r>
            <a:r>
              <a:rPr lang="en-US" altLang="zh-CN" sz="2400" dirty="0">
                <a:solidFill>
                  <a:srgbClr val="0432FF"/>
                </a:solidFill>
              </a:rPr>
              <a:t>()</a:t>
            </a:r>
            <a:r>
              <a:rPr lang="zh-CN" altLang="zh-CN" sz="2400" dirty="0"/>
              <a:t>来创建字典，键与值之间的对应关系用等号表示。</a:t>
            </a:r>
            <a:endParaRPr lang="zh-CN" altLang="en-US" sz="3200" dirty="0"/>
          </a:p>
        </p:txBody>
      </p:sp>
      <p:grpSp>
        <p:nvGrpSpPr>
          <p:cNvPr id="11" name="组合 10"/>
          <p:cNvGrpSpPr/>
          <p:nvPr/>
        </p:nvGrpSpPr>
        <p:grpSpPr>
          <a:xfrm>
            <a:off x="7170182" y="4527715"/>
            <a:ext cx="3706365" cy="1302501"/>
            <a:chOff x="2718498" y="5005212"/>
            <a:chExt cx="3706365" cy="1302501"/>
          </a:xfrm>
        </p:grpSpPr>
        <p:sp>
          <p:nvSpPr>
            <p:cNvPr id="5" name="矩形 4"/>
            <p:cNvSpPr/>
            <p:nvPr/>
          </p:nvSpPr>
          <p:spPr>
            <a:xfrm>
              <a:off x="2983034" y="5019067"/>
              <a:ext cx="3441829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 </a:t>
              </a:r>
              <a:r>
                <a:rPr lang="zh-CN" altLang="en-US" sz="2000" dirty="0"/>
                <a:t>a = dict(one=1,two=2) </a:t>
              </a:r>
              <a:endParaRPr lang="en-US" altLang="zh-CN" sz="2000" dirty="0"/>
            </a:p>
            <a:p>
              <a:r>
                <a:rPr lang="en-US" altLang="zh-CN" sz="2000" dirty="0"/>
                <a:t> </a:t>
              </a:r>
              <a:r>
                <a:rPr lang="zh-CN" altLang="en-US" sz="2000" dirty="0"/>
                <a:t>a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2983034" y="5005212"/>
              <a:ext cx="3376204" cy="70788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2718498" y="5971724"/>
              <a:ext cx="3640740" cy="33598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28600" algn="just">
                <a:lnSpc>
                  <a:spcPts val="1900"/>
                </a:lnSpc>
                <a:spcAft>
                  <a:spcPts val="0"/>
                </a:spcAft>
              </a:pPr>
              <a:r>
                <a:rPr lang="zh-CN" altLang="en-US" b="1" kern="100" dirty="0">
                  <a:solidFill>
                    <a:srgbClr val="0070C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Consolas" panose="020B0609020204030204" pitchFamily="49" charset="0"/>
                </a:rPr>
                <a:t>结果：</a:t>
              </a:r>
              <a:r>
                <a:rPr lang="en-US" altLang="zh-CN" b="1" kern="100" dirty="0">
                  <a:solidFill>
                    <a:srgbClr val="0070C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Consolas" panose="020B0609020204030204" pitchFamily="49" charset="0"/>
                </a:rPr>
                <a:t>{'one': 1, 'two': 2}</a:t>
              </a:r>
              <a:endParaRPr lang="zh-CN" altLang="zh-CN" sz="2400" b="1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032698" y="4069677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例如：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148033" y="4541570"/>
            <a:ext cx="3640740" cy="1350200"/>
            <a:chOff x="6624750" y="4957512"/>
            <a:chExt cx="3640740" cy="1350200"/>
          </a:xfrm>
        </p:grpSpPr>
        <p:sp>
          <p:nvSpPr>
            <p:cNvPr id="8" name="矩形 7"/>
            <p:cNvSpPr/>
            <p:nvPr/>
          </p:nvSpPr>
          <p:spPr>
            <a:xfrm>
              <a:off x="6959840" y="5019067"/>
              <a:ext cx="237757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b={'one':1,'two':2}</a:t>
              </a:r>
              <a:endParaRPr lang="en-US" altLang="zh-CN" dirty="0"/>
            </a:p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6624750" y="5971723"/>
              <a:ext cx="3640740" cy="33598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28600" algn="just">
                <a:lnSpc>
                  <a:spcPts val="1900"/>
                </a:lnSpc>
                <a:spcAft>
                  <a:spcPts val="0"/>
                </a:spcAft>
              </a:pPr>
              <a:r>
                <a:rPr lang="zh-CN" altLang="en-US" b="1" kern="100" dirty="0">
                  <a:solidFill>
                    <a:srgbClr val="0070C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Consolas" panose="020B0609020204030204" pitchFamily="49" charset="0"/>
                </a:rPr>
                <a:t>结果：</a:t>
              </a:r>
              <a:r>
                <a:rPr lang="en-US" altLang="zh-CN" b="1" kern="100" dirty="0">
                  <a:solidFill>
                    <a:srgbClr val="0070C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Consolas" panose="020B0609020204030204" pitchFamily="49" charset="0"/>
                </a:rPr>
                <a:t>{'one': 1, 'two': 2}</a:t>
              </a:r>
              <a:endParaRPr lang="zh-CN" altLang="zh-CN" sz="2400" b="1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757018" y="4957512"/>
              <a:ext cx="3376204" cy="70788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104900" y="6013429"/>
            <a:ext cx="6681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键：不可改变，所以可用</a:t>
            </a:r>
            <a:r>
              <a:rPr lang="zh-CN" altLang="en-US" b="1" u="sng" dirty="0">
                <a:solidFill>
                  <a:srgbClr val="FF0000"/>
                </a:solidFill>
              </a:rPr>
              <a:t>数字</a:t>
            </a:r>
            <a:r>
              <a:rPr lang="en-US" altLang="zh-CN" b="1" u="sng" dirty="0">
                <a:solidFill>
                  <a:srgbClr val="FF0000"/>
                </a:solidFill>
              </a:rPr>
              <a:t>/</a:t>
            </a:r>
            <a:r>
              <a:rPr lang="zh-CN" altLang="en-US" b="1" u="sng" dirty="0">
                <a:solidFill>
                  <a:srgbClr val="FF0000"/>
                </a:solidFill>
              </a:rPr>
              <a:t>字符串</a:t>
            </a:r>
            <a:r>
              <a:rPr lang="zh-CN" altLang="en-US" b="1" dirty="0">
                <a:solidFill>
                  <a:srgbClr val="FF0000"/>
                </a:solidFill>
              </a:rPr>
              <a:t>或元组，但不能用列表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altLang="zh-CN" b="1" dirty="0"/>
              <a:t>4.4.2 </a:t>
            </a:r>
            <a:r>
              <a:rPr lang="zh-CN" altLang="en-US" b="1" dirty="0"/>
              <a:t>字典操作</a:t>
            </a:r>
            <a:endParaRPr lang="en-US" b="1" dirty="0"/>
          </a:p>
        </p:txBody>
      </p:sp>
      <p:graphicFrame>
        <p:nvGraphicFramePr>
          <p:cNvPr id="13" name="表格 3"/>
          <p:cNvGraphicFramePr>
            <a:graphicFrameLocks noGrp="1"/>
          </p:cNvGraphicFramePr>
          <p:nvPr/>
        </p:nvGraphicFramePr>
        <p:xfrm>
          <a:off x="2147920" y="2199697"/>
          <a:ext cx="7894642" cy="3233692"/>
        </p:xfrm>
        <a:graphic>
          <a:graphicData uri="http://schemas.openxmlformats.org/drawingml/2006/table">
            <a:tbl>
              <a:tblPr/>
              <a:tblGrid>
                <a:gridCol w="3707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6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7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函数和方法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描述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&lt;d&gt;.keys()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返回所有的键信息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&lt;d&gt;.values()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返回所有的值信息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&lt;d&gt;.items()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返回所有的键值对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7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&lt;d&gt;.get(&lt;key&gt;,&lt;default&gt;)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键存在则返回相应值，否则返回默认值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7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&lt;d&gt;.pop(&lt;key&gt;,&lt;default&gt;)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键存在则返回相应值，同时删除键值对，否则返回默认值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7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&lt;d&gt;.popitem()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删除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字典中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最后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一个键值对，以元组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(key, value)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形式返回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7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&lt;d&gt;.clear()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删除所有的键值对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7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del &lt;d&gt;[&lt;key&gt;]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删除字典中某一个键值对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7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&lt;key&gt; in &lt;d&gt;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如果键在字典中返回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True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，否则返回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altLang="zh-CN" b="1" dirty="0"/>
              <a:t>4.4.2 </a:t>
            </a:r>
            <a:r>
              <a:rPr lang="zh-CN" altLang="en-US" b="1" dirty="0"/>
              <a:t>字典操作</a:t>
            </a:r>
            <a:endParaRPr lang="en-US" b="1" dirty="0"/>
          </a:p>
        </p:txBody>
      </p:sp>
      <p:sp>
        <p:nvSpPr>
          <p:cNvPr id="4" name="矩形 3"/>
          <p:cNvSpPr/>
          <p:nvPr/>
        </p:nvSpPr>
        <p:spPr>
          <a:xfrm>
            <a:off x="1356691" y="1517557"/>
            <a:ext cx="2185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dirty="0"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dirty="0">
                <a:ea typeface="宋体" panose="02010600030101010101" pitchFamily="2" charset="-122"/>
                <a:cs typeface="宋体" panose="02010600030101010101" pitchFamily="2" charset="-122"/>
              </a:rPr>
              <a:t>）读取字典</a:t>
            </a: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3903533" y="1574838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lang="zh-CN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zh-CN" altLang="zh-CN" sz="2400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键作为下标</a:t>
            </a:r>
            <a:r>
              <a:rPr lang="zh-CN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读取字典元素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1669136" y="3849066"/>
            <a:ext cx="33109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d.get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()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方法</a:t>
            </a:r>
            <a:r>
              <a:rPr lang="zh-CN" altLang="zh-CN" sz="24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获取指定键对应的值</a:t>
            </a:r>
            <a:endParaRPr lang="zh-CN" alt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5D91BC-76D4-93B9-B960-F4F7D16D2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269" y="2216253"/>
            <a:ext cx="5473700" cy="1143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B36B2D-508D-71EB-F995-7142EE635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119" y="3596284"/>
            <a:ext cx="5930900" cy="2857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CC7F2C9-C67D-6FA5-4822-F7316966A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096" y="3077549"/>
            <a:ext cx="5816600" cy="15494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）修改字典</a:t>
            </a:r>
            <a:endParaRPr lang="zh-CN" altLang="en-US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48976" y="1445715"/>
            <a:ext cx="41408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• </a:t>
            </a:r>
            <a:r>
              <a:rPr lang="zh-CN" altLang="zh-CN" sz="24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以</a:t>
            </a:r>
            <a:r>
              <a:rPr lang="zh-CN" altLang="zh-CN" sz="2400" b="1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指定键为下标</a:t>
            </a:r>
            <a:r>
              <a:rPr lang="zh-CN" altLang="zh-CN" sz="24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为字典赋值</a:t>
            </a:r>
            <a:endParaRPr lang="zh-CN" altLang="en-US" sz="2400" dirty="0"/>
          </a:p>
        </p:txBody>
      </p:sp>
      <p:sp>
        <p:nvSpPr>
          <p:cNvPr id="5" name="椭圆形标注 4"/>
          <p:cNvSpPr/>
          <p:nvPr/>
        </p:nvSpPr>
        <p:spPr>
          <a:xfrm>
            <a:off x="8304821" y="3077549"/>
            <a:ext cx="2780761" cy="1177636"/>
          </a:xfrm>
          <a:prstGeom prst="wedgeEllipseCallout">
            <a:avLst>
              <a:gd name="adj1" fmla="val -94889"/>
              <a:gd name="adj2" fmla="val 70476"/>
            </a:avLst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dirty="0">
                <a:solidFill>
                  <a:schemeClr val="tx1"/>
                </a:solidFill>
              </a:rPr>
              <a:t>原字典中该键不存在，则</a:t>
            </a:r>
            <a:r>
              <a:rPr lang="zh-CN" altLang="zh-CN" sz="2000" b="1" dirty="0">
                <a:solidFill>
                  <a:srgbClr val="FF0000"/>
                </a:solidFill>
              </a:rPr>
              <a:t>添加一个新的键</a:t>
            </a:r>
            <a:r>
              <a:rPr lang="en-US" altLang="zh-CN" sz="2000" b="1" dirty="0">
                <a:solidFill>
                  <a:srgbClr val="FF0000"/>
                </a:solidFill>
              </a:rPr>
              <a:t>-</a:t>
            </a:r>
            <a:r>
              <a:rPr lang="zh-CN" altLang="zh-CN" sz="2000" b="1" dirty="0">
                <a:solidFill>
                  <a:srgbClr val="FF0000"/>
                </a:solidFill>
              </a:rPr>
              <a:t>值对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D220B7-B657-E71A-241B-B2AFEDBF9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711" y="1368365"/>
            <a:ext cx="5829300" cy="1574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FF848E-C6C3-3FB5-DA21-5238682F2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771" y="4713169"/>
            <a:ext cx="6921500" cy="1917700"/>
          </a:xfrm>
          <a:prstGeom prst="rect">
            <a:avLst/>
          </a:prstGeom>
        </p:spPr>
      </p:pic>
      <p:sp>
        <p:nvSpPr>
          <p:cNvPr id="15" name="椭圆形标注 8">
            <a:extLst>
              <a:ext uri="{FF2B5EF4-FFF2-40B4-BE49-F238E27FC236}">
                <a16:creationId xmlns:a16="http://schemas.microsoft.com/office/drawing/2014/main" id="{65380E40-FA6B-D0D8-50D7-0C9C40C0DB37}"/>
              </a:ext>
            </a:extLst>
          </p:cNvPr>
          <p:cNvSpPr/>
          <p:nvPr/>
        </p:nvSpPr>
        <p:spPr>
          <a:xfrm>
            <a:off x="8304821" y="4881418"/>
            <a:ext cx="3152888" cy="1574800"/>
          </a:xfrm>
          <a:prstGeom prst="wedgeEllipseCallout">
            <a:avLst>
              <a:gd name="adj1" fmla="val -79995"/>
              <a:gd name="adj2" fmla="val 28630"/>
            </a:avLst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dirty="0">
                <a:solidFill>
                  <a:schemeClr val="tx1"/>
                </a:solidFill>
              </a:rPr>
              <a:t>如果两个字典中存在</a:t>
            </a:r>
            <a:r>
              <a:rPr lang="zh-CN" altLang="zh-CN" sz="2000" b="1" dirty="0">
                <a:solidFill>
                  <a:srgbClr val="FF0000"/>
                </a:solidFill>
              </a:rPr>
              <a:t>相同的键</a:t>
            </a:r>
            <a:r>
              <a:rPr lang="zh-CN" altLang="zh-CN" sz="2000" dirty="0">
                <a:solidFill>
                  <a:schemeClr val="tx1"/>
                </a:solidFill>
              </a:rPr>
              <a:t>，则键对应的值修改为</a:t>
            </a:r>
            <a:r>
              <a:rPr lang="zh-CN" altLang="en-US" sz="2000" dirty="0">
                <a:solidFill>
                  <a:schemeClr val="tx1"/>
                </a:solidFill>
              </a:rPr>
              <a:t>新</a:t>
            </a:r>
            <a:r>
              <a:rPr lang="zh-CN" altLang="zh-CN" sz="2000" dirty="0">
                <a:solidFill>
                  <a:schemeClr val="tx1"/>
                </a:solidFill>
              </a:rPr>
              <a:t>字典中的值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）删除字典</a:t>
            </a:r>
          </a:p>
        </p:txBody>
      </p:sp>
      <p:sp>
        <p:nvSpPr>
          <p:cNvPr id="5" name="矩形 4"/>
          <p:cNvSpPr/>
          <p:nvPr/>
        </p:nvSpPr>
        <p:spPr>
          <a:xfrm>
            <a:off x="1190051" y="1318775"/>
            <a:ext cx="897986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• </a:t>
            </a:r>
            <a:r>
              <a:rPr lang="en-US" altLang="zh-CN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del d[k]</a:t>
            </a:r>
            <a:r>
              <a:rPr lang="zh-CN" altLang="en-US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语句删除字典中指定键对应的值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• </a:t>
            </a:r>
            <a:r>
              <a:rPr lang="en-US" altLang="zh-CN" sz="20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d.clear</a:t>
            </a:r>
            <a:r>
              <a:rPr lang="en-US" altLang="zh-CN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en-US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方法</a:t>
            </a:r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清空字典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• </a:t>
            </a:r>
            <a:r>
              <a:rPr lang="en-US" altLang="zh-CN" sz="20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d.pop</a:t>
            </a:r>
            <a:r>
              <a:rPr lang="en-US" altLang="zh-CN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(k)</a:t>
            </a:r>
            <a:r>
              <a:rPr lang="zh-CN" altLang="en-US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方法</a:t>
            </a:r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删除指定键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值对，并返回</a:t>
            </a:r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对应的值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• </a:t>
            </a:r>
            <a:r>
              <a:rPr lang="en-US" altLang="zh-CN" sz="20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d.popitem</a:t>
            </a:r>
            <a:r>
              <a:rPr lang="en-US" altLang="zh-CN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en-US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方法删除</a:t>
            </a:r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字典中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最后</a:t>
            </a:r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一个键值对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，并返回其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(key, value)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元组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32F6D5-FD33-FC53-69BB-F11E00CCE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41" y="2787827"/>
            <a:ext cx="5499100" cy="32131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14ABDA-104C-19F4-8A52-2D81D5A22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028" y="567183"/>
            <a:ext cx="5499100" cy="1727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48B1D0-2874-3343-3E4C-7DFC3BFE6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028" y="2453365"/>
            <a:ext cx="5829300" cy="2057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5A4EA1-64D3-3554-94DC-154B491D3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028" y="4669747"/>
            <a:ext cx="5829300" cy="2057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4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）遍历字典</a:t>
            </a:r>
            <a:endParaRPr lang="zh-CN" altLang="en-US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47862" y="1314021"/>
            <a:ext cx="4623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• </a:t>
            </a:r>
            <a:r>
              <a:rPr lang="en-US" altLang="zh-CN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d.items</a:t>
            </a:r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()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方法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遍历字典中的</a:t>
            </a:r>
            <a:r>
              <a:rPr lang="zh-CN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键、值对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列表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47862" y="1677237"/>
            <a:ext cx="38086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• </a:t>
            </a:r>
            <a:r>
              <a:rPr lang="en-US" altLang="zh-CN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d.keys</a:t>
            </a:r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()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方法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遍历字典中的</a:t>
            </a:r>
            <a:r>
              <a:rPr lang="zh-CN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键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列表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47862" y="2040453"/>
            <a:ext cx="40216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• </a:t>
            </a:r>
            <a:r>
              <a:rPr lang="en-US" altLang="zh-CN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d.values</a:t>
            </a:r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()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方法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遍历字典中的</a:t>
            </a:r>
            <a:r>
              <a:rPr lang="zh-CN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列表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34EF943-8B34-E461-1323-1EFA9C82D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391" y="2636087"/>
            <a:ext cx="4152900" cy="3251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2F3D30B-FF63-22CE-4D4E-02612434F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185" y="1498687"/>
            <a:ext cx="3556000" cy="19177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DB93C4-8BD0-0876-AD6B-0E2B790674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0185" y="3906087"/>
            <a:ext cx="3708400" cy="1981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0EC24-AC89-82B4-944F-945CAFB1C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4.4</a:t>
            </a:r>
            <a:r>
              <a:rPr kumimoji="1" lang="zh-CN" altLang="en-US" dirty="0"/>
              <a:t> 应用案例</a:t>
            </a:r>
          </a:p>
        </p:txBody>
      </p:sp>
    </p:spTree>
    <p:extLst>
      <p:ext uri="{BB962C8B-B14F-4D97-AF65-F5344CB8AC3E}">
        <p14:creationId xmlns:p14="http://schemas.microsoft.com/office/powerpoint/2010/main" val="1807387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364E2-5E4A-DADD-5399-1A0DBAF86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List in Python</a:t>
            </a:r>
            <a:endParaRPr kumimoji="1"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C0D46E-3C92-D694-2CD3-6EA215F13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67" y="1488552"/>
            <a:ext cx="3810000" cy="2032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4D56F3-F0EF-06C6-3E8E-BC8240AF1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67" y="3793144"/>
            <a:ext cx="3733800" cy="18796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920E25-A273-A255-F3A1-17C1AE6D7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013" y="1552142"/>
            <a:ext cx="7232301" cy="157630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2A1151-746B-A329-993C-0E9060ACD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284" y="3793144"/>
            <a:ext cx="5377403" cy="160536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8459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1ED46-9E1D-7667-3BB6-A525E3373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8853016" cy="1096962"/>
          </a:xfrm>
        </p:spPr>
        <p:txBody>
          <a:bodyPr>
            <a:normAutofit/>
          </a:bodyPr>
          <a:lstStyle/>
          <a:p>
            <a:r>
              <a:rPr lang="zh-CN" altLang="en-US" sz="2400" b="0" i="0" dirty="0">
                <a:solidFill>
                  <a:srgbClr val="4D4D4D"/>
                </a:solidFill>
                <a:effectLst/>
                <a:latin typeface="-apple-system"/>
              </a:rPr>
              <a:t>例：编写一个简易计算器，要求根据输入的数字和四则运算符号，计算运算结果并输出。</a:t>
            </a:r>
            <a:endParaRPr kumimoji="1" lang="zh-CN" alt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A95A76-3005-E266-DC44-B2DB30AC3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514" y="1587711"/>
            <a:ext cx="7772400" cy="43055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BEE80A-DD9F-9F41-20C2-D219C5282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716" y="4079687"/>
            <a:ext cx="2615766" cy="181359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017F11-9D94-9351-1E48-B0E55461C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7348" y="1987619"/>
            <a:ext cx="3337516" cy="156810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41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54FC9-2059-F999-9173-6570CEC6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打印乘法表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1C9733-AC55-75D0-AA9C-FF9DB1E0C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330" y="1614013"/>
            <a:ext cx="7213600" cy="12446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6D2235-ED41-8776-350F-BC288DB2E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466" y="3429000"/>
            <a:ext cx="7594600" cy="252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40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DA71F-C361-AEB6-4A2B-791052B19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List, Set and Tuple</a:t>
            </a:r>
            <a:endParaRPr kumimoji="1"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CD7BA4-BFAF-F631-4DEB-DA4DEAEA1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185" y="1686063"/>
            <a:ext cx="2730500" cy="1206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2A2679-5193-54AC-D727-C62B70AAB4B6}"/>
              </a:ext>
            </a:extLst>
          </p:cNvPr>
          <p:cNvSpPr txBox="1"/>
          <p:nvPr/>
        </p:nvSpPr>
        <p:spPr>
          <a:xfrm>
            <a:off x="1285185" y="3201913"/>
            <a:ext cx="7819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'H'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'o'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'W'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'o'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'r'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'!'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79BA2B-A157-7FEF-44EA-45A110E125FB}"/>
              </a:ext>
            </a:extLst>
          </p:cNvPr>
          <p:cNvSpPr txBox="1"/>
          <p:nvPr/>
        </p:nvSpPr>
        <p:spPr>
          <a:xfrm>
            <a:off x="1285185" y="36959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'H'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'W'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'o'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'r'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'!'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b="0" i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5DD64B-C72D-C2F6-BFBD-B5755BF83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185" y="4313583"/>
            <a:ext cx="6400800" cy="2286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774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C6893-C8A2-9FAE-7F14-C5B59F9B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字典应用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E9956B-6658-EC05-B1F5-1FE282C10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350696"/>
            <a:ext cx="7772400" cy="292997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66476A-FB89-33F6-2BAE-ADBDD5235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100" y="2957396"/>
            <a:ext cx="6616700" cy="36195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566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br>
              <a:rPr lang="en-US" altLang="zh-CN" dirty="0"/>
            </a:br>
            <a:r>
              <a:rPr lang="en-US" altLang="zh-CN" dirty="0"/>
              <a:t>——The end——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U3NTIwYjMzNWI5YjAwNGIwZDVmZjljNTFiODI0Nm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BAFF00-647E-4627-9B6C-A5CDC1F32200}">
  <ds:schemaRefs/>
</ds:datastoreItem>
</file>

<file path=customXml/itemProps2.xml><?xml version="1.0" encoding="utf-8"?>
<ds:datastoreItem xmlns:ds="http://schemas.openxmlformats.org/officeDocument/2006/customXml" ds:itemID="{5400D5F3-AA73-4EC6-BCD9-0DC3E330E5B0}">
  <ds:schemaRefs/>
</ds:datastoreItem>
</file>

<file path=customXml/itemProps3.xml><?xml version="1.0" encoding="utf-8"?>
<ds:datastoreItem xmlns:ds="http://schemas.openxmlformats.org/officeDocument/2006/customXml" ds:itemID="{2DDC6030-8312-4894-9236-1E15DA4F39C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1703</TotalTime>
  <Words>4208</Words>
  <Application>Microsoft Macintosh PowerPoint</Application>
  <PresentationFormat>Widescreen</PresentationFormat>
  <Paragraphs>406</Paragraphs>
  <Slides>63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9" baseType="lpstr">
      <vt:lpstr>-apple-system</vt:lpstr>
      <vt:lpstr>等线</vt:lpstr>
      <vt:lpstr>微软雅黑</vt:lpstr>
      <vt:lpstr>微软雅黑</vt:lpstr>
      <vt:lpstr>黑体</vt:lpstr>
      <vt:lpstr>宋体</vt:lpstr>
      <vt:lpstr>Arial</vt:lpstr>
      <vt:lpstr>Calibri</vt:lpstr>
      <vt:lpstr>Consolas</vt:lpstr>
      <vt:lpstr>Courier New</vt:lpstr>
      <vt:lpstr>Euphemia</vt:lpstr>
      <vt:lpstr>Menlo</vt:lpstr>
      <vt:lpstr>Plantagenet Cherokee</vt:lpstr>
      <vt:lpstr>Times New Roman</vt:lpstr>
      <vt:lpstr>Wingdings</vt:lpstr>
      <vt:lpstr>Academic Literature 16x9</vt:lpstr>
      <vt:lpstr>第5章 组合数据类型</vt:lpstr>
      <vt:lpstr>教学内容</vt:lpstr>
      <vt:lpstr>4.1 基本概念</vt:lpstr>
      <vt:lpstr>4.1 基本概念</vt:lpstr>
      <vt:lpstr>4.1 基本概念</vt:lpstr>
      <vt:lpstr>4.2 序列类型</vt:lpstr>
      <vt:lpstr>PowerPoint Presentation</vt:lpstr>
      <vt:lpstr>4.2.1 元组、列表、字节串和字节数组</vt:lpstr>
      <vt:lpstr>PowerPoint Presentation</vt:lpstr>
      <vt:lpstr>PowerPoint Presentation</vt:lpstr>
      <vt:lpstr>4.2.2 序列的通用操作</vt:lpstr>
      <vt:lpstr>（1）序列成员检查</vt:lpstr>
      <vt:lpstr>（2）序列加法</vt:lpstr>
      <vt:lpstr>（3）序列乘法</vt:lpstr>
      <vt:lpstr>（3）序列乘法</vt:lpstr>
      <vt:lpstr>（4）序列索引</vt:lpstr>
      <vt:lpstr>（5）序列切片</vt:lpstr>
      <vt:lpstr>（5）序列切片-示例</vt:lpstr>
      <vt:lpstr>（6）通用内置函数</vt:lpstr>
      <vt:lpstr>（6）通用内置函数</vt:lpstr>
      <vt:lpstr>（6）通用内置函数</vt:lpstr>
      <vt:lpstr>（6）通用内置函数</vt:lpstr>
      <vt:lpstr>（6）通用内置函数</vt:lpstr>
      <vt:lpstr>（6）通用内置函数</vt:lpstr>
      <vt:lpstr>列表常用的方法</vt:lpstr>
      <vt:lpstr>（1）列表的修改</vt:lpstr>
      <vt:lpstr>（2）列表的删除</vt:lpstr>
      <vt:lpstr>（3）列表的插入</vt:lpstr>
      <vt:lpstr>（4）列表的排序</vt:lpstr>
      <vt:lpstr>（5）列表的遍历</vt:lpstr>
      <vt:lpstr>（6）列表的统计</vt:lpstr>
      <vt:lpstr>（7）列表的拷贝</vt:lpstr>
      <vt:lpstr>（8）双端队列</vt:lpstr>
      <vt:lpstr>4.2.4 列表推导式</vt:lpstr>
      <vt:lpstr>4.2.5 序列封包与序列解包</vt:lpstr>
      <vt:lpstr>4.2.5 序列封包与序列解包</vt:lpstr>
      <vt:lpstr>PowerPoint Presentation</vt:lpstr>
      <vt:lpstr> 序列的应用</vt:lpstr>
      <vt:lpstr>4.3 集合类型</vt:lpstr>
      <vt:lpstr>4.3.1 集合定义与创建</vt:lpstr>
      <vt:lpstr>集合操作</vt:lpstr>
      <vt:lpstr>集合类型操作</vt:lpstr>
      <vt:lpstr>4.3.2 集合操作</vt:lpstr>
      <vt:lpstr>（1）集合的运算</vt:lpstr>
      <vt:lpstr>（1）集合的运算</vt:lpstr>
      <vt:lpstr>（2）集合的插入与更新</vt:lpstr>
      <vt:lpstr>（3）集合的删除</vt:lpstr>
      <vt:lpstr>（4）frozenset 函数</vt:lpstr>
      <vt:lpstr>（5）collections.counter() 函数</vt:lpstr>
      <vt:lpstr>4.4 映射类型</vt:lpstr>
      <vt:lpstr>4.4.1 字典定义与创建</vt:lpstr>
      <vt:lpstr>4.4.2 字典操作</vt:lpstr>
      <vt:lpstr>4.4.2 字典操作</vt:lpstr>
      <vt:lpstr>（2）修改字典</vt:lpstr>
      <vt:lpstr>（3）删除字典</vt:lpstr>
      <vt:lpstr>（4）遍历字典</vt:lpstr>
      <vt:lpstr>4.4 应用案例</vt:lpstr>
      <vt:lpstr>List in Python</vt:lpstr>
      <vt:lpstr>例：编写一个简易计算器，要求根据输入的数字和四则运算符号，计算运算结果并输出。</vt:lpstr>
      <vt:lpstr>打印乘法表</vt:lpstr>
      <vt:lpstr>List, Set and Tuple</vt:lpstr>
      <vt:lpstr>字典应用</vt:lpstr>
      <vt:lpstr> ——The end——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With Picture Layout</dc:title>
  <dc:creator>hu</dc:creator>
  <cp:lastModifiedBy>Hao Fan</cp:lastModifiedBy>
  <cp:revision>297</cp:revision>
  <dcterms:created xsi:type="dcterms:W3CDTF">2014-04-17T22:28:00Z</dcterms:created>
  <dcterms:modified xsi:type="dcterms:W3CDTF">2026-02-26T07:07:46Z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CV">
    <vt:lpwstr>1C890EE194C1445AAC9BAEF5301EFCCD_12</vt:lpwstr>
  </property>
  <property fmtid="{D5CDD505-2E9C-101B-9397-08002B2CF9AE}" pid="4" name="KSOProductBuildVer">
    <vt:lpwstr>2052-12.1.0.15990</vt:lpwstr>
  </property>
</Properties>
</file>