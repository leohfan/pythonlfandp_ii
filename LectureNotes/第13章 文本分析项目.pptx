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4"/>
  </p:sldMasterIdLst>
  <p:notesMasterIdLst>
    <p:notesMasterId r:id="rId115"/>
  </p:notesMasterIdLst>
  <p:handoutMasterIdLst>
    <p:handoutMasterId r:id="rId116"/>
  </p:handoutMasterIdLst>
  <p:sldIdLst>
    <p:sldId id="269" r:id="rId5"/>
    <p:sldId id="270" r:id="rId6"/>
    <p:sldId id="379" r:id="rId7"/>
    <p:sldId id="1114" r:id="rId8"/>
    <p:sldId id="1115" r:id="rId9"/>
    <p:sldId id="1116" r:id="rId10"/>
    <p:sldId id="1117" r:id="rId11"/>
    <p:sldId id="1119" r:id="rId12"/>
    <p:sldId id="1123" r:id="rId13"/>
    <p:sldId id="1302" r:id="rId14"/>
    <p:sldId id="1124" r:id="rId15"/>
    <p:sldId id="1125" r:id="rId16"/>
    <p:sldId id="1126" r:id="rId17"/>
    <p:sldId id="1151" r:id="rId18"/>
    <p:sldId id="1127" r:id="rId19"/>
    <p:sldId id="1303" r:id="rId20"/>
    <p:sldId id="1304" r:id="rId21"/>
    <p:sldId id="1305" r:id="rId22"/>
    <p:sldId id="1306" r:id="rId23"/>
    <p:sldId id="1128" r:id="rId24"/>
    <p:sldId id="1149" r:id="rId25"/>
    <p:sldId id="1129" r:id="rId26"/>
    <p:sldId id="1130" r:id="rId27"/>
    <p:sldId id="1131" r:id="rId28"/>
    <p:sldId id="1144" r:id="rId29"/>
    <p:sldId id="1132" r:id="rId30"/>
    <p:sldId id="1133" r:id="rId31"/>
    <p:sldId id="1134" r:id="rId32"/>
    <p:sldId id="1307" r:id="rId33"/>
    <p:sldId id="344" r:id="rId34"/>
    <p:sldId id="1152" r:id="rId35"/>
    <p:sldId id="1153" r:id="rId36"/>
    <p:sldId id="1154" r:id="rId37"/>
    <p:sldId id="1155" r:id="rId38"/>
    <p:sldId id="1156" r:id="rId39"/>
    <p:sldId id="1157" r:id="rId40"/>
    <p:sldId id="1158" r:id="rId41"/>
    <p:sldId id="1159" r:id="rId42"/>
    <p:sldId id="1160" r:id="rId43"/>
    <p:sldId id="1161" r:id="rId44"/>
    <p:sldId id="1162" r:id="rId45"/>
    <p:sldId id="1163" r:id="rId46"/>
    <p:sldId id="1164" r:id="rId47"/>
    <p:sldId id="1165" r:id="rId48"/>
    <p:sldId id="1166" r:id="rId49"/>
    <p:sldId id="1167" r:id="rId50"/>
    <p:sldId id="1168" r:id="rId51"/>
    <p:sldId id="345" r:id="rId52"/>
    <p:sldId id="347" r:id="rId53"/>
    <p:sldId id="1170" r:id="rId54"/>
    <p:sldId id="1171" r:id="rId55"/>
    <p:sldId id="1172" r:id="rId56"/>
    <p:sldId id="1214" r:id="rId57"/>
    <p:sldId id="1215" r:id="rId58"/>
    <p:sldId id="1216" r:id="rId59"/>
    <p:sldId id="1217" r:id="rId60"/>
    <p:sldId id="1218" r:id="rId61"/>
    <p:sldId id="1219" r:id="rId62"/>
    <p:sldId id="1220" r:id="rId63"/>
    <p:sldId id="1221" r:id="rId64"/>
    <p:sldId id="348" r:id="rId65"/>
    <p:sldId id="350" r:id="rId66"/>
    <p:sldId id="349" r:id="rId67"/>
    <p:sldId id="1222" r:id="rId68"/>
    <p:sldId id="1287" r:id="rId69"/>
    <p:sldId id="1288" r:id="rId70"/>
    <p:sldId id="1289" r:id="rId71"/>
    <p:sldId id="351" r:id="rId72"/>
    <p:sldId id="352" r:id="rId73"/>
    <p:sldId id="353" r:id="rId74"/>
    <p:sldId id="356" r:id="rId75"/>
    <p:sldId id="378" r:id="rId76"/>
    <p:sldId id="1290" r:id="rId77"/>
    <p:sldId id="1291" r:id="rId78"/>
    <p:sldId id="1292" r:id="rId79"/>
    <p:sldId id="1293" r:id="rId80"/>
    <p:sldId id="359" r:id="rId81"/>
    <p:sldId id="360" r:id="rId82"/>
    <p:sldId id="361" r:id="rId83"/>
    <p:sldId id="362" r:id="rId84"/>
    <p:sldId id="363" r:id="rId85"/>
    <p:sldId id="365" r:id="rId86"/>
    <p:sldId id="1294" r:id="rId87"/>
    <p:sldId id="1308" r:id="rId88"/>
    <p:sldId id="368" r:id="rId89"/>
    <p:sldId id="366" r:id="rId90"/>
    <p:sldId id="1295" r:id="rId91"/>
    <p:sldId id="1309" r:id="rId92"/>
    <p:sldId id="367" r:id="rId93"/>
    <p:sldId id="369" r:id="rId94"/>
    <p:sldId id="371" r:id="rId95"/>
    <p:sldId id="1296" r:id="rId96"/>
    <p:sldId id="1298" r:id="rId97"/>
    <p:sldId id="1299" r:id="rId98"/>
    <p:sldId id="1300" r:id="rId99"/>
    <p:sldId id="1301" r:id="rId100"/>
    <p:sldId id="295" r:id="rId101"/>
    <p:sldId id="1310" r:id="rId102"/>
    <p:sldId id="1311" r:id="rId103"/>
    <p:sldId id="1312" r:id="rId104"/>
    <p:sldId id="1313" r:id="rId105"/>
    <p:sldId id="1314" r:id="rId106"/>
    <p:sldId id="1315" r:id="rId107"/>
    <p:sldId id="1316" r:id="rId108"/>
    <p:sldId id="1317" r:id="rId109"/>
    <p:sldId id="1318" r:id="rId110"/>
    <p:sldId id="1319" r:id="rId111"/>
    <p:sldId id="1320" r:id="rId112"/>
    <p:sldId id="1321" r:id="rId113"/>
    <p:sldId id="1150" r:id="rId1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83" userDrawn="1">
          <p15:clr>
            <a:srgbClr val="A4A3A4"/>
          </p15:clr>
        </p15:guide>
        <p15:guide id="2" pos="3817"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432FF"/>
    <a:srgbClr val="00FA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931" autoAdjust="0"/>
    <p:restoredTop sz="95068" autoAdjust="0"/>
  </p:normalViewPr>
  <p:slideViewPr>
    <p:cSldViewPr snapToGrid="0" showGuides="1">
      <p:cViewPr varScale="1">
        <p:scale>
          <a:sx n="121" d="100"/>
          <a:sy n="121" d="100"/>
        </p:scale>
        <p:origin x="240" y="168"/>
      </p:cViewPr>
      <p:guideLst>
        <p:guide orient="horz" pos="2183"/>
        <p:guide pos="3817"/>
      </p:guideLst>
    </p:cSldViewPr>
  </p:slideViewPr>
  <p:notesTextViewPr>
    <p:cViewPr>
      <p:scale>
        <a:sx n="1" d="1"/>
        <a:sy n="1" d="1"/>
      </p:scale>
      <p:origin x="0" y="0"/>
    </p:cViewPr>
  </p:notesTextViewPr>
  <p:notesViewPr>
    <p:cSldViewPr snapToGrid="0" showGuides="1">
      <p:cViewPr varScale="1">
        <p:scale>
          <a:sx n="92" d="100"/>
          <a:sy n="92" d="100"/>
        </p:scale>
        <p:origin x="3732" y="102"/>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117" Type="http://schemas.openxmlformats.org/officeDocument/2006/relationships/presProps" Target="presProps.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slide" Target="slides/slide64.xml"/><Relationship Id="rId84" Type="http://schemas.openxmlformats.org/officeDocument/2006/relationships/slide" Target="slides/slide80.xml"/><Relationship Id="rId89" Type="http://schemas.openxmlformats.org/officeDocument/2006/relationships/slide" Target="slides/slide85.xml"/><Relationship Id="rId112" Type="http://schemas.openxmlformats.org/officeDocument/2006/relationships/slide" Target="slides/slide108.xml"/><Relationship Id="rId16" Type="http://schemas.openxmlformats.org/officeDocument/2006/relationships/slide" Target="slides/slide12.xml"/><Relationship Id="rId107" Type="http://schemas.openxmlformats.org/officeDocument/2006/relationships/slide" Target="slides/slide103.xml"/><Relationship Id="rId11" Type="http://schemas.openxmlformats.org/officeDocument/2006/relationships/slide" Target="slides/slide7.xml"/><Relationship Id="rId32" Type="http://schemas.openxmlformats.org/officeDocument/2006/relationships/slide" Target="slides/slide28.xml"/><Relationship Id="rId37" Type="http://schemas.openxmlformats.org/officeDocument/2006/relationships/slide" Target="slides/slide33.xml"/><Relationship Id="rId53" Type="http://schemas.openxmlformats.org/officeDocument/2006/relationships/slide" Target="slides/slide49.xml"/><Relationship Id="rId58" Type="http://schemas.openxmlformats.org/officeDocument/2006/relationships/slide" Target="slides/slide54.xml"/><Relationship Id="rId74" Type="http://schemas.openxmlformats.org/officeDocument/2006/relationships/slide" Target="slides/slide70.xml"/><Relationship Id="rId79" Type="http://schemas.openxmlformats.org/officeDocument/2006/relationships/slide" Target="slides/slide75.xml"/><Relationship Id="rId102" Type="http://schemas.openxmlformats.org/officeDocument/2006/relationships/slide" Target="slides/slide98.xml"/><Relationship Id="rId5" Type="http://schemas.openxmlformats.org/officeDocument/2006/relationships/slide" Target="slides/slide1.xml"/><Relationship Id="rId90" Type="http://schemas.openxmlformats.org/officeDocument/2006/relationships/slide" Target="slides/slide86.xml"/><Relationship Id="rId95" Type="http://schemas.openxmlformats.org/officeDocument/2006/relationships/slide" Target="slides/slide91.xml"/><Relationship Id="rId22" Type="http://schemas.openxmlformats.org/officeDocument/2006/relationships/slide" Target="slides/slide18.xml"/><Relationship Id="rId27" Type="http://schemas.openxmlformats.org/officeDocument/2006/relationships/slide" Target="slides/slide23.xml"/><Relationship Id="rId43" Type="http://schemas.openxmlformats.org/officeDocument/2006/relationships/slide" Target="slides/slide39.xml"/><Relationship Id="rId48" Type="http://schemas.openxmlformats.org/officeDocument/2006/relationships/slide" Target="slides/slide44.xml"/><Relationship Id="rId64" Type="http://schemas.openxmlformats.org/officeDocument/2006/relationships/slide" Target="slides/slide60.xml"/><Relationship Id="rId69" Type="http://schemas.openxmlformats.org/officeDocument/2006/relationships/slide" Target="slides/slide65.xml"/><Relationship Id="rId113" Type="http://schemas.openxmlformats.org/officeDocument/2006/relationships/slide" Target="slides/slide109.xml"/><Relationship Id="rId118" Type="http://schemas.openxmlformats.org/officeDocument/2006/relationships/viewProps" Target="viewProps.xml"/><Relationship Id="rId80" Type="http://schemas.openxmlformats.org/officeDocument/2006/relationships/slide" Target="slides/slide76.xml"/><Relationship Id="rId85" Type="http://schemas.openxmlformats.org/officeDocument/2006/relationships/slide" Target="slides/slide81.xml"/><Relationship Id="rId12" Type="http://schemas.openxmlformats.org/officeDocument/2006/relationships/slide" Target="slides/slide8.xml"/><Relationship Id="rId17" Type="http://schemas.openxmlformats.org/officeDocument/2006/relationships/slide" Target="slides/slide13.xml"/><Relationship Id="rId33" Type="http://schemas.openxmlformats.org/officeDocument/2006/relationships/slide" Target="slides/slide29.xml"/><Relationship Id="rId38" Type="http://schemas.openxmlformats.org/officeDocument/2006/relationships/slide" Target="slides/slide34.xml"/><Relationship Id="rId59" Type="http://schemas.openxmlformats.org/officeDocument/2006/relationships/slide" Target="slides/slide55.xml"/><Relationship Id="rId103" Type="http://schemas.openxmlformats.org/officeDocument/2006/relationships/slide" Target="slides/slide99.xml"/><Relationship Id="rId108" Type="http://schemas.openxmlformats.org/officeDocument/2006/relationships/slide" Target="slides/slide104.xml"/><Relationship Id="rId54" Type="http://schemas.openxmlformats.org/officeDocument/2006/relationships/slide" Target="slides/slide50.xml"/><Relationship Id="rId70" Type="http://schemas.openxmlformats.org/officeDocument/2006/relationships/slide" Target="slides/slide66.xml"/><Relationship Id="rId75" Type="http://schemas.openxmlformats.org/officeDocument/2006/relationships/slide" Target="slides/slide71.xml"/><Relationship Id="rId91" Type="http://schemas.openxmlformats.org/officeDocument/2006/relationships/slide" Target="slides/slide87.xml"/><Relationship Id="rId96" Type="http://schemas.openxmlformats.org/officeDocument/2006/relationships/slide" Target="slides/slide92.xml"/><Relationship Id="rId1" Type="http://schemas.openxmlformats.org/officeDocument/2006/relationships/customXml" Target="../customXml/item1.xml"/><Relationship Id="rId6" Type="http://schemas.openxmlformats.org/officeDocument/2006/relationships/slide" Target="slides/slide2.xml"/><Relationship Id="rId23" Type="http://schemas.openxmlformats.org/officeDocument/2006/relationships/slide" Target="slides/slide19.xml"/><Relationship Id="rId28" Type="http://schemas.openxmlformats.org/officeDocument/2006/relationships/slide" Target="slides/slide24.xml"/><Relationship Id="rId49" Type="http://schemas.openxmlformats.org/officeDocument/2006/relationships/slide" Target="slides/slide45.xml"/><Relationship Id="rId114" Type="http://schemas.openxmlformats.org/officeDocument/2006/relationships/slide" Target="slides/slide110.xml"/><Relationship Id="rId119" Type="http://schemas.openxmlformats.org/officeDocument/2006/relationships/theme" Target="theme/theme1.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73" Type="http://schemas.openxmlformats.org/officeDocument/2006/relationships/slide" Target="slides/slide69.xml"/><Relationship Id="rId78" Type="http://schemas.openxmlformats.org/officeDocument/2006/relationships/slide" Target="slides/slide74.xml"/><Relationship Id="rId81" Type="http://schemas.openxmlformats.org/officeDocument/2006/relationships/slide" Target="slides/slide77.xml"/><Relationship Id="rId86" Type="http://schemas.openxmlformats.org/officeDocument/2006/relationships/slide" Target="slides/slide82.xml"/><Relationship Id="rId94" Type="http://schemas.openxmlformats.org/officeDocument/2006/relationships/slide" Target="slides/slide90.xml"/><Relationship Id="rId99" Type="http://schemas.openxmlformats.org/officeDocument/2006/relationships/slide" Target="slides/slide95.xml"/><Relationship Id="rId101" Type="http://schemas.openxmlformats.org/officeDocument/2006/relationships/slide" Target="slides/slide97.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109" Type="http://schemas.openxmlformats.org/officeDocument/2006/relationships/slide" Target="slides/slide10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 Id="rId76" Type="http://schemas.openxmlformats.org/officeDocument/2006/relationships/slide" Target="slides/slide72.xml"/><Relationship Id="rId97" Type="http://schemas.openxmlformats.org/officeDocument/2006/relationships/slide" Target="slides/slide93.xml"/><Relationship Id="rId104" Type="http://schemas.openxmlformats.org/officeDocument/2006/relationships/slide" Target="slides/slide100.xml"/><Relationship Id="rId120" Type="http://schemas.openxmlformats.org/officeDocument/2006/relationships/tableStyles" Target="tableStyles.xml"/><Relationship Id="rId7" Type="http://schemas.openxmlformats.org/officeDocument/2006/relationships/slide" Target="slides/slide3.xml"/><Relationship Id="rId71" Type="http://schemas.openxmlformats.org/officeDocument/2006/relationships/slide" Target="slides/slide67.xml"/><Relationship Id="rId92" Type="http://schemas.openxmlformats.org/officeDocument/2006/relationships/slide" Target="slides/slide88.xml"/><Relationship Id="rId2" Type="http://schemas.openxmlformats.org/officeDocument/2006/relationships/customXml" Target="../customXml/item2.xml"/><Relationship Id="rId29" Type="http://schemas.openxmlformats.org/officeDocument/2006/relationships/slide" Target="slides/slide25.xml"/><Relationship Id="rId24" Type="http://schemas.openxmlformats.org/officeDocument/2006/relationships/slide" Target="slides/slide20.xml"/><Relationship Id="rId40" Type="http://schemas.openxmlformats.org/officeDocument/2006/relationships/slide" Target="slides/slide36.xml"/><Relationship Id="rId45" Type="http://schemas.openxmlformats.org/officeDocument/2006/relationships/slide" Target="slides/slide41.xml"/><Relationship Id="rId66" Type="http://schemas.openxmlformats.org/officeDocument/2006/relationships/slide" Target="slides/slide62.xml"/><Relationship Id="rId87" Type="http://schemas.openxmlformats.org/officeDocument/2006/relationships/slide" Target="slides/slide83.xml"/><Relationship Id="rId110" Type="http://schemas.openxmlformats.org/officeDocument/2006/relationships/slide" Target="slides/slide106.xml"/><Relationship Id="rId115" Type="http://schemas.openxmlformats.org/officeDocument/2006/relationships/notesMaster" Target="notesMasters/notesMaster1.xml"/><Relationship Id="rId61" Type="http://schemas.openxmlformats.org/officeDocument/2006/relationships/slide" Target="slides/slide57.xml"/><Relationship Id="rId82" Type="http://schemas.openxmlformats.org/officeDocument/2006/relationships/slide" Target="slides/slide78.xml"/><Relationship Id="rId19" Type="http://schemas.openxmlformats.org/officeDocument/2006/relationships/slide" Target="slides/slide15.xml"/><Relationship Id="rId14" Type="http://schemas.openxmlformats.org/officeDocument/2006/relationships/slide" Target="slides/slide10.xml"/><Relationship Id="rId30" Type="http://schemas.openxmlformats.org/officeDocument/2006/relationships/slide" Target="slides/slide26.xml"/><Relationship Id="rId35" Type="http://schemas.openxmlformats.org/officeDocument/2006/relationships/slide" Target="slides/slide31.xml"/><Relationship Id="rId56" Type="http://schemas.openxmlformats.org/officeDocument/2006/relationships/slide" Target="slides/slide52.xml"/><Relationship Id="rId77" Type="http://schemas.openxmlformats.org/officeDocument/2006/relationships/slide" Target="slides/slide73.xml"/><Relationship Id="rId100" Type="http://schemas.openxmlformats.org/officeDocument/2006/relationships/slide" Target="slides/slide96.xml"/><Relationship Id="rId105" Type="http://schemas.openxmlformats.org/officeDocument/2006/relationships/slide" Target="slides/slide101.xml"/><Relationship Id="rId8" Type="http://schemas.openxmlformats.org/officeDocument/2006/relationships/slide" Target="slides/slide4.xml"/><Relationship Id="rId51" Type="http://schemas.openxmlformats.org/officeDocument/2006/relationships/slide" Target="slides/slide47.xml"/><Relationship Id="rId72" Type="http://schemas.openxmlformats.org/officeDocument/2006/relationships/slide" Target="slides/slide68.xml"/><Relationship Id="rId93" Type="http://schemas.openxmlformats.org/officeDocument/2006/relationships/slide" Target="slides/slide89.xml"/><Relationship Id="rId98" Type="http://schemas.openxmlformats.org/officeDocument/2006/relationships/slide" Target="slides/slide94.xml"/><Relationship Id="rId3" Type="http://schemas.openxmlformats.org/officeDocument/2006/relationships/customXml" Target="../customXml/item3.xml"/><Relationship Id="rId25" Type="http://schemas.openxmlformats.org/officeDocument/2006/relationships/slide" Target="slides/slide21.xml"/><Relationship Id="rId46" Type="http://schemas.openxmlformats.org/officeDocument/2006/relationships/slide" Target="slides/slide42.xml"/><Relationship Id="rId67" Type="http://schemas.openxmlformats.org/officeDocument/2006/relationships/slide" Target="slides/slide63.xml"/><Relationship Id="rId11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62" Type="http://schemas.openxmlformats.org/officeDocument/2006/relationships/slide" Target="slides/slide58.xml"/><Relationship Id="rId83" Type="http://schemas.openxmlformats.org/officeDocument/2006/relationships/slide" Target="slides/slide79.xml"/><Relationship Id="rId88" Type="http://schemas.openxmlformats.org/officeDocument/2006/relationships/slide" Target="slides/slide84.xml"/><Relationship Id="rId111" Type="http://schemas.openxmlformats.org/officeDocument/2006/relationships/slide" Target="slides/slide107.xml"/><Relationship Id="rId15" Type="http://schemas.openxmlformats.org/officeDocument/2006/relationships/slide" Target="slides/slide11.xml"/><Relationship Id="rId36" Type="http://schemas.openxmlformats.org/officeDocument/2006/relationships/slide" Target="slides/slide32.xml"/><Relationship Id="rId57" Type="http://schemas.openxmlformats.org/officeDocument/2006/relationships/slide" Target="slides/slide53.xml"/><Relationship Id="rId106" Type="http://schemas.openxmlformats.org/officeDocument/2006/relationships/slide" Target="slides/slide102.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3CEAAF3-9831-450B-8D59-2C09DB96C8FC}" type="datetimeFigureOut">
              <a:rPr lang="en-US"/>
              <a:t>2/26/26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834459-7356-44BF-850D-8B30C4FB3B6B}" type="slidenum">
              <a:rPr/>
              <a:t>‹#›</a:t>
            </a:fld>
            <a:endParaRPr/>
          </a:p>
        </p:txBody>
      </p:sp>
    </p:spTree>
    <p:extLst>
      <p:ext uri="{BB962C8B-B14F-4D97-AF65-F5344CB8AC3E}">
        <p14:creationId xmlns:p14="http://schemas.microsoft.com/office/powerpoint/2010/main" val="24690165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D50CD79-FC16-4410-AB61-17F26E6D3BC8}" type="datetimeFigureOut">
              <a:rPr lang="en-US"/>
              <a:t>2/26/26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A3C37BE-C303-496D-B5CD-85F2937540FC}" type="slidenum">
              <a:rPr/>
              <a:t>‹#›</a:t>
            </a:fld>
            <a:endParaRPr/>
          </a:p>
        </p:txBody>
      </p:sp>
    </p:spTree>
    <p:extLst>
      <p:ext uri="{BB962C8B-B14F-4D97-AF65-F5344CB8AC3E}">
        <p14:creationId xmlns:p14="http://schemas.microsoft.com/office/powerpoint/2010/main" val="335084220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105.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1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dirty="0">
                <a:cs typeface="Arial" pitchFamily="34" charset="0"/>
              </a:rPr>
              <a:t>NOTE: </a:t>
            </a:r>
            <a:r>
              <a:rPr lang="en-US" sz="1200" dirty="0">
                <a:cs typeface="Arial" pitchFamily="34" charset="0"/>
              </a:rPr>
              <a:t>Want a different image on this slide? Select the picture and delete it. Now click the Pictures icon in the placeholder to insert your own image.</a:t>
            </a:r>
          </a:p>
        </p:txBody>
      </p:sp>
      <p:sp>
        <p:nvSpPr>
          <p:cNvPr id="4" name="Slide Number Placeholder 3"/>
          <p:cNvSpPr>
            <a:spLocks noGrp="1"/>
          </p:cNvSpPr>
          <p:nvPr>
            <p:ph type="sldNum" sz="quarter" idx="10"/>
          </p:nvPr>
        </p:nvSpPr>
        <p:spPr/>
        <p:txBody>
          <a:bodyPr/>
          <a:lstStyle/>
          <a:p>
            <a:fld id="{0A3C37BE-C303-496D-B5CD-85F2937540FC}" type="slidenum">
              <a:rPr lang="en-US" smtClean="0"/>
              <a:t>1</a:t>
            </a:fld>
            <a:endParaRPr lang="en-US"/>
          </a:p>
        </p:txBody>
      </p:sp>
    </p:spTree>
    <p:extLst>
      <p:ext uri="{BB962C8B-B14F-4D97-AF65-F5344CB8AC3E}">
        <p14:creationId xmlns:p14="http://schemas.microsoft.com/office/powerpoint/2010/main" val="2439763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2</a:t>
            </a:fld>
            <a:endParaRPr lang="en-US"/>
          </a:p>
        </p:txBody>
      </p:sp>
    </p:spTree>
    <p:extLst>
      <p:ext uri="{BB962C8B-B14F-4D97-AF65-F5344CB8AC3E}">
        <p14:creationId xmlns:p14="http://schemas.microsoft.com/office/powerpoint/2010/main" val="178880387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a:t>
            </a:fld>
            <a:endParaRPr lang="en-US"/>
          </a:p>
        </p:txBody>
      </p:sp>
    </p:spTree>
    <p:extLst>
      <p:ext uri="{BB962C8B-B14F-4D97-AF65-F5344CB8AC3E}">
        <p14:creationId xmlns:p14="http://schemas.microsoft.com/office/powerpoint/2010/main" val="26290092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a:t>
            </a:fld>
            <a:endParaRPr lang="en-CN"/>
          </a:p>
        </p:txBody>
      </p:sp>
    </p:spTree>
    <p:extLst>
      <p:ext uri="{BB962C8B-B14F-4D97-AF65-F5344CB8AC3E}">
        <p14:creationId xmlns:p14="http://schemas.microsoft.com/office/powerpoint/2010/main" val="1041788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a:t>
            </a:fld>
            <a:endParaRPr lang="en-CN"/>
          </a:p>
        </p:txBody>
      </p:sp>
    </p:spTree>
    <p:extLst>
      <p:ext uri="{BB962C8B-B14F-4D97-AF65-F5344CB8AC3E}">
        <p14:creationId xmlns:p14="http://schemas.microsoft.com/office/powerpoint/2010/main" val="386511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a:t>
            </a:fld>
            <a:endParaRPr lang="en-CN"/>
          </a:p>
        </p:txBody>
      </p:sp>
    </p:spTree>
    <p:extLst>
      <p:ext uri="{BB962C8B-B14F-4D97-AF65-F5344CB8AC3E}">
        <p14:creationId xmlns:p14="http://schemas.microsoft.com/office/powerpoint/2010/main" val="249891487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7</a:t>
            </a:fld>
            <a:endParaRPr lang="en-CN"/>
          </a:p>
        </p:txBody>
      </p:sp>
    </p:spTree>
    <p:extLst>
      <p:ext uri="{BB962C8B-B14F-4D97-AF65-F5344CB8AC3E}">
        <p14:creationId xmlns:p14="http://schemas.microsoft.com/office/powerpoint/2010/main" val="281908203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8</a:t>
            </a:fld>
            <a:endParaRPr lang="en-CN"/>
          </a:p>
        </p:txBody>
      </p:sp>
    </p:spTree>
    <p:extLst>
      <p:ext uri="{BB962C8B-B14F-4D97-AF65-F5344CB8AC3E}">
        <p14:creationId xmlns:p14="http://schemas.microsoft.com/office/powerpoint/2010/main" val="164578683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9</a:t>
            </a:fld>
            <a:endParaRPr lang="en-CN"/>
          </a:p>
        </p:txBody>
      </p:sp>
    </p:spTree>
    <p:extLst>
      <p:ext uri="{BB962C8B-B14F-4D97-AF65-F5344CB8AC3E}">
        <p14:creationId xmlns:p14="http://schemas.microsoft.com/office/powerpoint/2010/main" val="159436591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46623-EEB1-5B11-C2BD-5D870B3ED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B17844-35F0-8E29-19FD-C807D458BB7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8D7F31-5CBB-533B-37F7-128A5ECD289E}"/>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E0AF5CEA-CEB9-18D2-0693-4899742E2FC2}"/>
              </a:ext>
            </a:extLst>
          </p:cNvPr>
          <p:cNvSpPr>
            <a:spLocks noGrp="1"/>
          </p:cNvSpPr>
          <p:nvPr>
            <p:ph type="sldNum" sz="quarter" idx="5"/>
          </p:nvPr>
        </p:nvSpPr>
        <p:spPr/>
        <p:txBody>
          <a:bodyPr/>
          <a:lstStyle/>
          <a:p>
            <a:fld id="{D2BFE00A-F7D7-9343-8548-BC7E84834634}" type="slidenum">
              <a:rPr lang="en-CN" smtClean="0"/>
              <a:t>10</a:t>
            </a:fld>
            <a:endParaRPr lang="en-CN"/>
          </a:p>
        </p:txBody>
      </p:sp>
    </p:spTree>
    <p:extLst>
      <p:ext uri="{BB962C8B-B14F-4D97-AF65-F5344CB8AC3E}">
        <p14:creationId xmlns:p14="http://schemas.microsoft.com/office/powerpoint/2010/main" val="399001738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11</a:t>
            </a:fld>
            <a:endParaRPr lang="en-CN"/>
          </a:p>
        </p:txBody>
      </p:sp>
    </p:spTree>
    <p:extLst>
      <p:ext uri="{BB962C8B-B14F-4D97-AF65-F5344CB8AC3E}">
        <p14:creationId xmlns:p14="http://schemas.microsoft.com/office/powerpoint/2010/main" val="161738011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12</a:t>
            </a:fld>
            <a:endParaRPr lang="en-CN"/>
          </a:p>
        </p:txBody>
      </p:sp>
    </p:spTree>
    <p:extLst>
      <p:ext uri="{BB962C8B-B14F-4D97-AF65-F5344CB8AC3E}">
        <p14:creationId xmlns:p14="http://schemas.microsoft.com/office/powerpoint/2010/main" val="40780634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13</a:t>
            </a:fld>
            <a:endParaRPr lang="en-CN"/>
          </a:p>
        </p:txBody>
      </p:sp>
    </p:spTree>
    <p:extLst>
      <p:ext uri="{BB962C8B-B14F-4D97-AF65-F5344CB8AC3E}">
        <p14:creationId xmlns:p14="http://schemas.microsoft.com/office/powerpoint/2010/main" val="3124523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14</a:t>
            </a:fld>
            <a:endParaRPr lang="en-CN"/>
          </a:p>
        </p:txBody>
      </p:sp>
    </p:spTree>
    <p:extLst>
      <p:ext uri="{BB962C8B-B14F-4D97-AF65-F5344CB8AC3E}">
        <p14:creationId xmlns:p14="http://schemas.microsoft.com/office/powerpoint/2010/main" val="4898176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15</a:t>
            </a:fld>
            <a:endParaRPr lang="en-CN"/>
          </a:p>
        </p:txBody>
      </p:sp>
    </p:spTree>
    <p:extLst>
      <p:ext uri="{BB962C8B-B14F-4D97-AF65-F5344CB8AC3E}">
        <p14:creationId xmlns:p14="http://schemas.microsoft.com/office/powerpoint/2010/main" val="56454793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C551E8-ABE0-5443-50FC-FFA37DA0EBF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5CBB6C-24E2-20A2-9DDD-59B7B49E8B1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8FFF1C-C525-4480-B68E-1B3FD22F8116}"/>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3F290FC2-8357-EC29-E4D4-4F340FECA7B7}"/>
              </a:ext>
            </a:extLst>
          </p:cNvPr>
          <p:cNvSpPr>
            <a:spLocks noGrp="1"/>
          </p:cNvSpPr>
          <p:nvPr>
            <p:ph type="sldNum" sz="quarter" idx="5"/>
          </p:nvPr>
        </p:nvSpPr>
        <p:spPr/>
        <p:txBody>
          <a:bodyPr/>
          <a:lstStyle/>
          <a:p>
            <a:fld id="{D2BFE00A-F7D7-9343-8548-BC7E84834634}" type="slidenum">
              <a:rPr lang="en-CN" smtClean="0"/>
              <a:t>16</a:t>
            </a:fld>
            <a:endParaRPr lang="en-CN"/>
          </a:p>
        </p:txBody>
      </p:sp>
    </p:spTree>
    <p:extLst>
      <p:ext uri="{BB962C8B-B14F-4D97-AF65-F5344CB8AC3E}">
        <p14:creationId xmlns:p14="http://schemas.microsoft.com/office/powerpoint/2010/main" val="22052869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553548-2830-0CB7-5DC1-B38CCECA4EE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8B60C9-2D4F-ECB0-26C6-BE52F7F580D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142AC8-94EB-055D-D2F9-584CC81B2F9F}"/>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284605CE-37DD-7025-D678-5F0122206F69}"/>
              </a:ext>
            </a:extLst>
          </p:cNvPr>
          <p:cNvSpPr>
            <a:spLocks noGrp="1"/>
          </p:cNvSpPr>
          <p:nvPr>
            <p:ph type="sldNum" sz="quarter" idx="5"/>
          </p:nvPr>
        </p:nvSpPr>
        <p:spPr/>
        <p:txBody>
          <a:bodyPr/>
          <a:lstStyle/>
          <a:p>
            <a:fld id="{D2BFE00A-F7D7-9343-8548-BC7E84834634}" type="slidenum">
              <a:rPr lang="en-CN" smtClean="0"/>
              <a:t>17</a:t>
            </a:fld>
            <a:endParaRPr lang="en-CN"/>
          </a:p>
        </p:txBody>
      </p:sp>
    </p:spTree>
    <p:extLst>
      <p:ext uri="{BB962C8B-B14F-4D97-AF65-F5344CB8AC3E}">
        <p14:creationId xmlns:p14="http://schemas.microsoft.com/office/powerpoint/2010/main" val="404905464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1B7C08-9BF0-2337-7AC9-E191C17EF9E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9D5677-AF05-94BD-7626-99EF2D2A685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289975C-D210-13BF-47A7-32F28ABAC995}"/>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3FB9A2E9-7807-F8D6-89F5-25551E223809}"/>
              </a:ext>
            </a:extLst>
          </p:cNvPr>
          <p:cNvSpPr>
            <a:spLocks noGrp="1"/>
          </p:cNvSpPr>
          <p:nvPr>
            <p:ph type="sldNum" sz="quarter" idx="5"/>
          </p:nvPr>
        </p:nvSpPr>
        <p:spPr/>
        <p:txBody>
          <a:bodyPr/>
          <a:lstStyle/>
          <a:p>
            <a:fld id="{D2BFE00A-F7D7-9343-8548-BC7E84834634}" type="slidenum">
              <a:rPr lang="en-CN" smtClean="0"/>
              <a:t>18</a:t>
            </a:fld>
            <a:endParaRPr lang="en-CN"/>
          </a:p>
        </p:txBody>
      </p:sp>
    </p:spTree>
    <p:extLst>
      <p:ext uri="{BB962C8B-B14F-4D97-AF65-F5344CB8AC3E}">
        <p14:creationId xmlns:p14="http://schemas.microsoft.com/office/powerpoint/2010/main" val="351643191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E64204-E5EA-05A5-9A9D-BD49996563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00B2461-7162-B72B-1145-0FEB90B3D22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CCD38F-6885-E4C2-CB2C-26997FB11C86}"/>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7CDF13DA-86A0-4DCC-648A-CBEFA346FA00}"/>
              </a:ext>
            </a:extLst>
          </p:cNvPr>
          <p:cNvSpPr>
            <a:spLocks noGrp="1"/>
          </p:cNvSpPr>
          <p:nvPr>
            <p:ph type="sldNum" sz="quarter" idx="5"/>
          </p:nvPr>
        </p:nvSpPr>
        <p:spPr/>
        <p:txBody>
          <a:bodyPr/>
          <a:lstStyle/>
          <a:p>
            <a:fld id="{D2BFE00A-F7D7-9343-8548-BC7E84834634}" type="slidenum">
              <a:rPr lang="en-CN" smtClean="0"/>
              <a:t>19</a:t>
            </a:fld>
            <a:endParaRPr lang="en-CN"/>
          </a:p>
        </p:txBody>
      </p:sp>
    </p:spTree>
    <p:extLst>
      <p:ext uri="{BB962C8B-B14F-4D97-AF65-F5344CB8AC3E}">
        <p14:creationId xmlns:p14="http://schemas.microsoft.com/office/powerpoint/2010/main" val="23007431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20</a:t>
            </a:fld>
            <a:endParaRPr lang="en-CN"/>
          </a:p>
        </p:txBody>
      </p:sp>
    </p:spTree>
    <p:extLst>
      <p:ext uri="{BB962C8B-B14F-4D97-AF65-F5344CB8AC3E}">
        <p14:creationId xmlns:p14="http://schemas.microsoft.com/office/powerpoint/2010/main" val="244920279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21</a:t>
            </a:fld>
            <a:endParaRPr lang="en-CN"/>
          </a:p>
        </p:txBody>
      </p:sp>
    </p:spTree>
    <p:extLst>
      <p:ext uri="{BB962C8B-B14F-4D97-AF65-F5344CB8AC3E}">
        <p14:creationId xmlns:p14="http://schemas.microsoft.com/office/powerpoint/2010/main" val="5005942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22</a:t>
            </a:fld>
            <a:endParaRPr lang="en-CN"/>
          </a:p>
        </p:txBody>
      </p:sp>
    </p:spTree>
    <p:extLst>
      <p:ext uri="{BB962C8B-B14F-4D97-AF65-F5344CB8AC3E}">
        <p14:creationId xmlns:p14="http://schemas.microsoft.com/office/powerpoint/2010/main" val="339854999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23</a:t>
            </a:fld>
            <a:endParaRPr lang="en-CN"/>
          </a:p>
        </p:txBody>
      </p:sp>
    </p:spTree>
    <p:extLst>
      <p:ext uri="{BB962C8B-B14F-4D97-AF65-F5344CB8AC3E}">
        <p14:creationId xmlns:p14="http://schemas.microsoft.com/office/powerpoint/2010/main" val="35743711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24</a:t>
            </a:fld>
            <a:endParaRPr lang="en-CN"/>
          </a:p>
        </p:txBody>
      </p:sp>
    </p:spTree>
    <p:extLst>
      <p:ext uri="{BB962C8B-B14F-4D97-AF65-F5344CB8AC3E}">
        <p14:creationId xmlns:p14="http://schemas.microsoft.com/office/powerpoint/2010/main" val="213203731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25</a:t>
            </a:fld>
            <a:endParaRPr lang="en-CN"/>
          </a:p>
        </p:txBody>
      </p:sp>
    </p:spTree>
    <p:extLst>
      <p:ext uri="{BB962C8B-B14F-4D97-AF65-F5344CB8AC3E}">
        <p14:creationId xmlns:p14="http://schemas.microsoft.com/office/powerpoint/2010/main" val="19843812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26</a:t>
            </a:fld>
            <a:endParaRPr lang="en-CN"/>
          </a:p>
        </p:txBody>
      </p:sp>
    </p:spTree>
    <p:extLst>
      <p:ext uri="{BB962C8B-B14F-4D97-AF65-F5344CB8AC3E}">
        <p14:creationId xmlns:p14="http://schemas.microsoft.com/office/powerpoint/2010/main" val="113938637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27</a:t>
            </a:fld>
            <a:endParaRPr lang="en-CN"/>
          </a:p>
        </p:txBody>
      </p:sp>
    </p:spTree>
    <p:extLst>
      <p:ext uri="{BB962C8B-B14F-4D97-AF65-F5344CB8AC3E}">
        <p14:creationId xmlns:p14="http://schemas.microsoft.com/office/powerpoint/2010/main" val="11922916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28</a:t>
            </a:fld>
            <a:endParaRPr lang="en-CN"/>
          </a:p>
        </p:txBody>
      </p:sp>
    </p:spTree>
    <p:extLst>
      <p:ext uri="{BB962C8B-B14F-4D97-AF65-F5344CB8AC3E}">
        <p14:creationId xmlns:p14="http://schemas.microsoft.com/office/powerpoint/2010/main" val="358308505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1D0152-9A14-160B-92A8-C2A174F48CD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194CAA9-D0EB-64FA-86DA-BA9712848D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C70ADC-FB51-EC51-E8DF-713AA5F57235}"/>
              </a:ext>
            </a:extLst>
          </p:cNvPr>
          <p:cNvSpPr>
            <a:spLocks noGrp="1"/>
          </p:cNvSpPr>
          <p:nvPr>
            <p:ph type="body" idx="1"/>
          </p:nvPr>
        </p:nvSpPr>
        <p:spPr/>
        <p:txBody>
          <a:bodyPr/>
          <a:lstStyle/>
          <a:p>
            <a:endParaRPr lang="en-CN" dirty="0"/>
          </a:p>
        </p:txBody>
      </p:sp>
      <p:sp>
        <p:nvSpPr>
          <p:cNvPr id="4" name="Slide Number Placeholder 3">
            <a:extLst>
              <a:ext uri="{FF2B5EF4-FFF2-40B4-BE49-F238E27FC236}">
                <a16:creationId xmlns:a16="http://schemas.microsoft.com/office/drawing/2014/main" id="{276A8093-ED2B-ACCD-8C83-E4CB84ECC1CA}"/>
              </a:ext>
            </a:extLst>
          </p:cNvPr>
          <p:cNvSpPr>
            <a:spLocks noGrp="1"/>
          </p:cNvSpPr>
          <p:nvPr>
            <p:ph type="sldNum" sz="quarter" idx="5"/>
          </p:nvPr>
        </p:nvSpPr>
        <p:spPr/>
        <p:txBody>
          <a:bodyPr/>
          <a:lstStyle/>
          <a:p>
            <a:fld id="{D2BFE00A-F7D7-9343-8548-BC7E84834634}" type="slidenum">
              <a:rPr lang="en-CN" smtClean="0"/>
              <a:t>29</a:t>
            </a:fld>
            <a:endParaRPr lang="en-CN"/>
          </a:p>
        </p:txBody>
      </p:sp>
    </p:spTree>
    <p:extLst>
      <p:ext uri="{BB962C8B-B14F-4D97-AF65-F5344CB8AC3E}">
        <p14:creationId xmlns:p14="http://schemas.microsoft.com/office/powerpoint/2010/main" val="13231838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30</a:t>
            </a:fld>
            <a:endParaRPr lang="en-US"/>
          </a:p>
        </p:txBody>
      </p:sp>
    </p:spTree>
    <p:extLst>
      <p:ext uri="{BB962C8B-B14F-4D97-AF65-F5344CB8AC3E}">
        <p14:creationId xmlns:p14="http://schemas.microsoft.com/office/powerpoint/2010/main" val="358118834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31</a:t>
            </a:fld>
            <a:endParaRPr lang="en-CN"/>
          </a:p>
        </p:txBody>
      </p:sp>
    </p:spTree>
    <p:extLst>
      <p:ext uri="{BB962C8B-B14F-4D97-AF65-F5344CB8AC3E}">
        <p14:creationId xmlns:p14="http://schemas.microsoft.com/office/powerpoint/2010/main" val="271139791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32</a:t>
            </a:fld>
            <a:endParaRPr lang="en-CN"/>
          </a:p>
        </p:txBody>
      </p:sp>
    </p:spTree>
    <p:extLst>
      <p:ext uri="{BB962C8B-B14F-4D97-AF65-F5344CB8AC3E}">
        <p14:creationId xmlns:p14="http://schemas.microsoft.com/office/powerpoint/2010/main" val="3110842388"/>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33</a:t>
            </a:fld>
            <a:endParaRPr lang="en-CN"/>
          </a:p>
        </p:txBody>
      </p:sp>
    </p:spTree>
    <p:extLst>
      <p:ext uri="{BB962C8B-B14F-4D97-AF65-F5344CB8AC3E}">
        <p14:creationId xmlns:p14="http://schemas.microsoft.com/office/powerpoint/2010/main" val="1638624699"/>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34</a:t>
            </a:fld>
            <a:endParaRPr lang="en-CN"/>
          </a:p>
        </p:txBody>
      </p:sp>
    </p:spTree>
    <p:extLst>
      <p:ext uri="{BB962C8B-B14F-4D97-AF65-F5344CB8AC3E}">
        <p14:creationId xmlns:p14="http://schemas.microsoft.com/office/powerpoint/2010/main" val="3365144966"/>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35</a:t>
            </a:fld>
            <a:endParaRPr lang="en-CN"/>
          </a:p>
        </p:txBody>
      </p:sp>
    </p:spTree>
    <p:extLst>
      <p:ext uri="{BB962C8B-B14F-4D97-AF65-F5344CB8AC3E}">
        <p14:creationId xmlns:p14="http://schemas.microsoft.com/office/powerpoint/2010/main" val="303605989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36</a:t>
            </a:fld>
            <a:endParaRPr lang="en-CN"/>
          </a:p>
        </p:txBody>
      </p:sp>
    </p:spTree>
    <p:extLst>
      <p:ext uri="{BB962C8B-B14F-4D97-AF65-F5344CB8AC3E}">
        <p14:creationId xmlns:p14="http://schemas.microsoft.com/office/powerpoint/2010/main" val="250349696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37</a:t>
            </a:fld>
            <a:endParaRPr lang="en-CN"/>
          </a:p>
        </p:txBody>
      </p:sp>
    </p:spTree>
    <p:extLst>
      <p:ext uri="{BB962C8B-B14F-4D97-AF65-F5344CB8AC3E}">
        <p14:creationId xmlns:p14="http://schemas.microsoft.com/office/powerpoint/2010/main" val="2409963484"/>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38</a:t>
            </a:fld>
            <a:endParaRPr lang="en-CN"/>
          </a:p>
        </p:txBody>
      </p:sp>
    </p:spTree>
    <p:extLst>
      <p:ext uri="{BB962C8B-B14F-4D97-AF65-F5344CB8AC3E}">
        <p14:creationId xmlns:p14="http://schemas.microsoft.com/office/powerpoint/2010/main" val="3286915365"/>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39</a:t>
            </a:fld>
            <a:endParaRPr lang="en-CN"/>
          </a:p>
        </p:txBody>
      </p:sp>
    </p:spTree>
    <p:extLst>
      <p:ext uri="{BB962C8B-B14F-4D97-AF65-F5344CB8AC3E}">
        <p14:creationId xmlns:p14="http://schemas.microsoft.com/office/powerpoint/2010/main" val="2605419313"/>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40</a:t>
            </a:fld>
            <a:endParaRPr lang="en-CN"/>
          </a:p>
        </p:txBody>
      </p:sp>
    </p:spTree>
    <p:extLst>
      <p:ext uri="{BB962C8B-B14F-4D97-AF65-F5344CB8AC3E}">
        <p14:creationId xmlns:p14="http://schemas.microsoft.com/office/powerpoint/2010/main" val="351582087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41</a:t>
            </a:fld>
            <a:endParaRPr lang="en-CN"/>
          </a:p>
        </p:txBody>
      </p:sp>
    </p:spTree>
    <p:extLst>
      <p:ext uri="{BB962C8B-B14F-4D97-AF65-F5344CB8AC3E}">
        <p14:creationId xmlns:p14="http://schemas.microsoft.com/office/powerpoint/2010/main" val="1676313978"/>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42</a:t>
            </a:fld>
            <a:endParaRPr lang="en-CN"/>
          </a:p>
        </p:txBody>
      </p:sp>
    </p:spTree>
    <p:extLst>
      <p:ext uri="{BB962C8B-B14F-4D97-AF65-F5344CB8AC3E}">
        <p14:creationId xmlns:p14="http://schemas.microsoft.com/office/powerpoint/2010/main" val="3806376774"/>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43</a:t>
            </a:fld>
            <a:endParaRPr lang="en-CN"/>
          </a:p>
        </p:txBody>
      </p:sp>
    </p:spTree>
    <p:extLst>
      <p:ext uri="{BB962C8B-B14F-4D97-AF65-F5344CB8AC3E}">
        <p14:creationId xmlns:p14="http://schemas.microsoft.com/office/powerpoint/2010/main" val="1917837279"/>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44</a:t>
            </a:fld>
            <a:endParaRPr lang="en-CN"/>
          </a:p>
        </p:txBody>
      </p:sp>
    </p:spTree>
    <p:extLst>
      <p:ext uri="{BB962C8B-B14F-4D97-AF65-F5344CB8AC3E}">
        <p14:creationId xmlns:p14="http://schemas.microsoft.com/office/powerpoint/2010/main" val="2145992060"/>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45</a:t>
            </a:fld>
            <a:endParaRPr lang="en-CN"/>
          </a:p>
        </p:txBody>
      </p:sp>
    </p:spTree>
    <p:extLst>
      <p:ext uri="{BB962C8B-B14F-4D97-AF65-F5344CB8AC3E}">
        <p14:creationId xmlns:p14="http://schemas.microsoft.com/office/powerpoint/2010/main" val="304596192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46</a:t>
            </a:fld>
            <a:endParaRPr lang="en-CN"/>
          </a:p>
        </p:txBody>
      </p:sp>
    </p:spTree>
    <p:extLst>
      <p:ext uri="{BB962C8B-B14F-4D97-AF65-F5344CB8AC3E}">
        <p14:creationId xmlns:p14="http://schemas.microsoft.com/office/powerpoint/2010/main" val="1302257818"/>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47</a:t>
            </a:fld>
            <a:endParaRPr lang="en-CN"/>
          </a:p>
        </p:txBody>
      </p:sp>
    </p:spTree>
    <p:extLst>
      <p:ext uri="{BB962C8B-B14F-4D97-AF65-F5344CB8AC3E}">
        <p14:creationId xmlns:p14="http://schemas.microsoft.com/office/powerpoint/2010/main" val="2792777398"/>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48</a:t>
            </a:fld>
            <a:endParaRPr lang="en-US"/>
          </a:p>
        </p:txBody>
      </p:sp>
    </p:spTree>
    <p:extLst>
      <p:ext uri="{BB962C8B-B14F-4D97-AF65-F5344CB8AC3E}">
        <p14:creationId xmlns:p14="http://schemas.microsoft.com/office/powerpoint/2010/main" val="1919644484"/>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49</a:t>
            </a:fld>
            <a:endParaRPr lang="en-US"/>
          </a:p>
        </p:txBody>
      </p:sp>
    </p:spTree>
    <p:extLst>
      <p:ext uri="{BB962C8B-B14F-4D97-AF65-F5344CB8AC3E}">
        <p14:creationId xmlns:p14="http://schemas.microsoft.com/office/powerpoint/2010/main" val="23289914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50</a:t>
            </a:fld>
            <a:endParaRPr lang="en-CN"/>
          </a:p>
        </p:txBody>
      </p:sp>
    </p:spTree>
    <p:extLst>
      <p:ext uri="{BB962C8B-B14F-4D97-AF65-F5344CB8AC3E}">
        <p14:creationId xmlns:p14="http://schemas.microsoft.com/office/powerpoint/2010/main" val="2711397910"/>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51</a:t>
            </a:fld>
            <a:endParaRPr lang="en-CN"/>
          </a:p>
        </p:txBody>
      </p:sp>
    </p:spTree>
    <p:extLst>
      <p:ext uri="{BB962C8B-B14F-4D97-AF65-F5344CB8AC3E}">
        <p14:creationId xmlns:p14="http://schemas.microsoft.com/office/powerpoint/2010/main" val="3110842388"/>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52</a:t>
            </a:fld>
            <a:endParaRPr lang="en-CN"/>
          </a:p>
        </p:txBody>
      </p:sp>
    </p:spTree>
    <p:extLst>
      <p:ext uri="{BB962C8B-B14F-4D97-AF65-F5344CB8AC3E}">
        <p14:creationId xmlns:p14="http://schemas.microsoft.com/office/powerpoint/2010/main" val="1638624699"/>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53</a:t>
            </a:fld>
            <a:endParaRPr lang="en-CN"/>
          </a:p>
        </p:txBody>
      </p:sp>
    </p:spTree>
    <p:extLst>
      <p:ext uri="{BB962C8B-B14F-4D97-AF65-F5344CB8AC3E}">
        <p14:creationId xmlns:p14="http://schemas.microsoft.com/office/powerpoint/2010/main" val="3276553914"/>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54</a:t>
            </a:fld>
            <a:endParaRPr lang="en-CN"/>
          </a:p>
        </p:txBody>
      </p:sp>
    </p:spTree>
    <p:extLst>
      <p:ext uri="{BB962C8B-B14F-4D97-AF65-F5344CB8AC3E}">
        <p14:creationId xmlns:p14="http://schemas.microsoft.com/office/powerpoint/2010/main" val="407845458"/>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55</a:t>
            </a:fld>
            <a:endParaRPr lang="en-CN"/>
          </a:p>
        </p:txBody>
      </p:sp>
    </p:spTree>
    <p:extLst>
      <p:ext uri="{BB962C8B-B14F-4D97-AF65-F5344CB8AC3E}">
        <p14:creationId xmlns:p14="http://schemas.microsoft.com/office/powerpoint/2010/main" val="3365144966"/>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56</a:t>
            </a:fld>
            <a:endParaRPr lang="en-CN"/>
          </a:p>
        </p:txBody>
      </p:sp>
    </p:spTree>
    <p:extLst>
      <p:ext uri="{BB962C8B-B14F-4D97-AF65-F5344CB8AC3E}">
        <p14:creationId xmlns:p14="http://schemas.microsoft.com/office/powerpoint/2010/main" val="774632635"/>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57</a:t>
            </a:fld>
            <a:endParaRPr lang="en-CN"/>
          </a:p>
        </p:txBody>
      </p:sp>
    </p:spTree>
    <p:extLst>
      <p:ext uri="{BB962C8B-B14F-4D97-AF65-F5344CB8AC3E}">
        <p14:creationId xmlns:p14="http://schemas.microsoft.com/office/powerpoint/2010/main" val="2662114804"/>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58</a:t>
            </a:fld>
            <a:endParaRPr lang="en-CN"/>
          </a:p>
        </p:txBody>
      </p:sp>
    </p:spTree>
    <p:extLst>
      <p:ext uri="{BB962C8B-B14F-4D97-AF65-F5344CB8AC3E}">
        <p14:creationId xmlns:p14="http://schemas.microsoft.com/office/powerpoint/2010/main" val="1314767197"/>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59</a:t>
            </a:fld>
            <a:endParaRPr lang="en-CN"/>
          </a:p>
        </p:txBody>
      </p:sp>
    </p:spTree>
    <p:extLst>
      <p:ext uri="{BB962C8B-B14F-4D97-AF65-F5344CB8AC3E}">
        <p14:creationId xmlns:p14="http://schemas.microsoft.com/office/powerpoint/2010/main" val="2911452130"/>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60</a:t>
            </a:fld>
            <a:endParaRPr lang="en-CN"/>
          </a:p>
        </p:txBody>
      </p:sp>
    </p:spTree>
    <p:extLst>
      <p:ext uri="{BB962C8B-B14F-4D97-AF65-F5344CB8AC3E}">
        <p14:creationId xmlns:p14="http://schemas.microsoft.com/office/powerpoint/2010/main" val="407716945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61</a:t>
            </a:fld>
            <a:endParaRPr lang="en-US"/>
          </a:p>
        </p:txBody>
      </p:sp>
    </p:spTree>
    <p:extLst>
      <p:ext uri="{BB962C8B-B14F-4D97-AF65-F5344CB8AC3E}">
        <p14:creationId xmlns:p14="http://schemas.microsoft.com/office/powerpoint/2010/main" val="9256185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62</a:t>
            </a:fld>
            <a:endParaRPr lang="en-US"/>
          </a:p>
        </p:txBody>
      </p:sp>
    </p:spTree>
    <p:extLst>
      <p:ext uri="{BB962C8B-B14F-4D97-AF65-F5344CB8AC3E}">
        <p14:creationId xmlns:p14="http://schemas.microsoft.com/office/powerpoint/2010/main" val="2028285011"/>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63</a:t>
            </a:fld>
            <a:endParaRPr lang="en-US"/>
          </a:p>
        </p:txBody>
      </p:sp>
    </p:spTree>
    <p:extLst>
      <p:ext uri="{BB962C8B-B14F-4D97-AF65-F5344CB8AC3E}">
        <p14:creationId xmlns:p14="http://schemas.microsoft.com/office/powerpoint/2010/main" val="780578409"/>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64</a:t>
            </a:fld>
            <a:endParaRPr lang="en-CN"/>
          </a:p>
        </p:txBody>
      </p:sp>
    </p:spTree>
    <p:extLst>
      <p:ext uri="{BB962C8B-B14F-4D97-AF65-F5344CB8AC3E}">
        <p14:creationId xmlns:p14="http://schemas.microsoft.com/office/powerpoint/2010/main" val="2711397910"/>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65</a:t>
            </a:fld>
            <a:endParaRPr lang="en-CN"/>
          </a:p>
        </p:txBody>
      </p:sp>
    </p:spTree>
    <p:extLst>
      <p:ext uri="{BB962C8B-B14F-4D97-AF65-F5344CB8AC3E}">
        <p14:creationId xmlns:p14="http://schemas.microsoft.com/office/powerpoint/2010/main" val="1234593830"/>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66</a:t>
            </a:fld>
            <a:endParaRPr lang="en-CN"/>
          </a:p>
        </p:txBody>
      </p:sp>
    </p:spTree>
    <p:extLst>
      <p:ext uri="{BB962C8B-B14F-4D97-AF65-F5344CB8AC3E}">
        <p14:creationId xmlns:p14="http://schemas.microsoft.com/office/powerpoint/2010/main" val="2156840641"/>
      </p:ext>
    </p:extLst>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N" dirty="0"/>
          </a:p>
        </p:txBody>
      </p:sp>
      <p:sp>
        <p:nvSpPr>
          <p:cNvPr id="4" name="Slide Number Placeholder 3"/>
          <p:cNvSpPr>
            <a:spLocks noGrp="1"/>
          </p:cNvSpPr>
          <p:nvPr>
            <p:ph type="sldNum" sz="quarter" idx="5"/>
          </p:nvPr>
        </p:nvSpPr>
        <p:spPr/>
        <p:txBody>
          <a:bodyPr/>
          <a:lstStyle/>
          <a:p>
            <a:fld id="{D2BFE00A-F7D7-9343-8548-BC7E84834634}" type="slidenum">
              <a:rPr lang="en-CN" smtClean="0"/>
              <a:t>67</a:t>
            </a:fld>
            <a:endParaRPr lang="en-CN"/>
          </a:p>
        </p:txBody>
      </p:sp>
    </p:spTree>
    <p:extLst>
      <p:ext uri="{BB962C8B-B14F-4D97-AF65-F5344CB8AC3E}">
        <p14:creationId xmlns:p14="http://schemas.microsoft.com/office/powerpoint/2010/main" val="3174399672"/>
      </p:ext>
    </p:extLst>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68</a:t>
            </a:fld>
            <a:endParaRPr lang="en-US"/>
          </a:p>
        </p:txBody>
      </p:sp>
    </p:spTree>
    <p:extLst>
      <p:ext uri="{BB962C8B-B14F-4D97-AF65-F5344CB8AC3E}">
        <p14:creationId xmlns:p14="http://schemas.microsoft.com/office/powerpoint/2010/main" val="2876175019"/>
      </p:ext>
    </p:extLst>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69</a:t>
            </a:fld>
            <a:endParaRPr lang="en-US"/>
          </a:p>
        </p:txBody>
      </p:sp>
    </p:spTree>
    <p:extLst>
      <p:ext uri="{BB962C8B-B14F-4D97-AF65-F5344CB8AC3E}">
        <p14:creationId xmlns:p14="http://schemas.microsoft.com/office/powerpoint/2010/main" val="3209163995"/>
      </p:ext>
    </p:extLst>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70</a:t>
            </a:fld>
            <a:endParaRPr lang="en-US"/>
          </a:p>
        </p:txBody>
      </p:sp>
    </p:spTree>
    <p:extLst>
      <p:ext uri="{BB962C8B-B14F-4D97-AF65-F5344CB8AC3E}">
        <p14:creationId xmlns:p14="http://schemas.microsoft.com/office/powerpoint/2010/main" val="503016726"/>
      </p:ext>
    </p:extLst>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71</a:t>
            </a:fld>
            <a:endParaRPr lang="en-US"/>
          </a:p>
        </p:txBody>
      </p:sp>
    </p:spTree>
    <p:extLst>
      <p:ext uri="{BB962C8B-B14F-4D97-AF65-F5344CB8AC3E}">
        <p14:creationId xmlns:p14="http://schemas.microsoft.com/office/powerpoint/2010/main" val="1016305548"/>
      </p:ext>
    </p:extLst>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72</a:t>
            </a:fld>
            <a:endParaRPr lang="en-US"/>
          </a:p>
        </p:txBody>
      </p:sp>
    </p:spTree>
    <p:extLst>
      <p:ext uri="{BB962C8B-B14F-4D97-AF65-F5344CB8AC3E}">
        <p14:creationId xmlns:p14="http://schemas.microsoft.com/office/powerpoint/2010/main" val="3056154304"/>
      </p:ext>
    </p:extLst>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77</a:t>
            </a:fld>
            <a:endParaRPr lang="en-US"/>
          </a:p>
        </p:txBody>
      </p:sp>
    </p:spTree>
    <p:extLst>
      <p:ext uri="{BB962C8B-B14F-4D97-AF65-F5344CB8AC3E}">
        <p14:creationId xmlns:p14="http://schemas.microsoft.com/office/powerpoint/2010/main" val="2239880712"/>
      </p:ext>
    </p:extLst>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78</a:t>
            </a:fld>
            <a:endParaRPr lang="en-US"/>
          </a:p>
        </p:txBody>
      </p:sp>
    </p:spTree>
    <p:extLst>
      <p:ext uri="{BB962C8B-B14F-4D97-AF65-F5344CB8AC3E}">
        <p14:creationId xmlns:p14="http://schemas.microsoft.com/office/powerpoint/2010/main" val="3585740671"/>
      </p:ext>
    </p:extLst>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79</a:t>
            </a:fld>
            <a:endParaRPr lang="en-US"/>
          </a:p>
        </p:txBody>
      </p:sp>
    </p:spTree>
    <p:extLst>
      <p:ext uri="{BB962C8B-B14F-4D97-AF65-F5344CB8AC3E}">
        <p14:creationId xmlns:p14="http://schemas.microsoft.com/office/powerpoint/2010/main" val="1080900642"/>
      </p:ext>
    </p:extLst>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80</a:t>
            </a:fld>
            <a:endParaRPr lang="en-US"/>
          </a:p>
        </p:txBody>
      </p:sp>
    </p:spTree>
    <p:extLst>
      <p:ext uri="{BB962C8B-B14F-4D97-AF65-F5344CB8AC3E}">
        <p14:creationId xmlns:p14="http://schemas.microsoft.com/office/powerpoint/2010/main" val="978543778"/>
      </p:ext>
    </p:extLst>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81</a:t>
            </a:fld>
            <a:endParaRPr lang="en-US"/>
          </a:p>
        </p:txBody>
      </p:sp>
    </p:spTree>
    <p:extLst>
      <p:ext uri="{BB962C8B-B14F-4D97-AF65-F5344CB8AC3E}">
        <p14:creationId xmlns:p14="http://schemas.microsoft.com/office/powerpoint/2010/main" val="3658546771"/>
      </p:ext>
    </p:extLst>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82</a:t>
            </a:fld>
            <a:endParaRPr lang="en-US"/>
          </a:p>
        </p:txBody>
      </p:sp>
    </p:spTree>
    <p:extLst>
      <p:ext uri="{BB962C8B-B14F-4D97-AF65-F5344CB8AC3E}">
        <p14:creationId xmlns:p14="http://schemas.microsoft.com/office/powerpoint/2010/main" val="3879189519"/>
      </p:ext>
    </p:extLst>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85</a:t>
            </a:fld>
            <a:endParaRPr lang="en-US"/>
          </a:p>
        </p:txBody>
      </p:sp>
    </p:spTree>
    <p:extLst>
      <p:ext uri="{BB962C8B-B14F-4D97-AF65-F5344CB8AC3E}">
        <p14:creationId xmlns:p14="http://schemas.microsoft.com/office/powerpoint/2010/main" val="2797275687"/>
      </p:ext>
    </p:extLst>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86</a:t>
            </a:fld>
            <a:endParaRPr lang="en-US"/>
          </a:p>
        </p:txBody>
      </p:sp>
    </p:spTree>
    <p:extLst>
      <p:ext uri="{BB962C8B-B14F-4D97-AF65-F5344CB8AC3E}">
        <p14:creationId xmlns:p14="http://schemas.microsoft.com/office/powerpoint/2010/main" val="3950538972"/>
      </p:ext>
    </p:extLst>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89</a:t>
            </a:fld>
            <a:endParaRPr lang="en-US"/>
          </a:p>
        </p:txBody>
      </p:sp>
    </p:spTree>
    <p:extLst>
      <p:ext uri="{BB962C8B-B14F-4D97-AF65-F5344CB8AC3E}">
        <p14:creationId xmlns:p14="http://schemas.microsoft.com/office/powerpoint/2010/main" val="114303762"/>
      </p:ext>
    </p:extLst>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90</a:t>
            </a:fld>
            <a:endParaRPr lang="en-US"/>
          </a:p>
        </p:txBody>
      </p:sp>
    </p:spTree>
    <p:extLst>
      <p:ext uri="{BB962C8B-B14F-4D97-AF65-F5344CB8AC3E}">
        <p14:creationId xmlns:p14="http://schemas.microsoft.com/office/powerpoint/2010/main" val="3114391217"/>
      </p:ext>
    </p:extLst>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0A3C37BE-C303-496D-B5CD-85F2937540FC}" type="slidenum">
              <a:rPr lang="en-US"/>
              <a:t>91</a:t>
            </a:fld>
            <a:endParaRPr lang="en-US"/>
          </a:p>
        </p:txBody>
      </p:sp>
    </p:spTree>
    <p:extLst>
      <p:ext uri="{BB962C8B-B14F-4D97-AF65-F5344CB8AC3E}">
        <p14:creationId xmlns:p14="http://schemas.microsoft.com/office/powerpoint/2010/main" val="3562192316"/>
      </p:ext>
    </p:extLst>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97</a:t>
            </a:fld>
            <a:endParaRPr lang="en-US"/>
          </a:p>
        </p:txBody>
      </p:sp>
    </p:spTree>
    <p:extLst>
      <p:ext uri="{BB962C8B-B14F-4D97-AF65-F5344CB8AC3E}">
        <p14:creationId xmlns:p14="http://schemas.microsoft.com/office/powerpoint/2010/main" val="2058960057"/>
      </p:ext>
    </p:extLst>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C9548C-1AD7-47B8-5844-DE1B888CC1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F0080F-74F8-9AF9-CEA3-897A5AF2FA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91EF99-738B-3409-4D05-A1A94FC5CA33}"/>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14A5C896-7984-44BD-0CB6-4F14ABB2CCE4}"/>
              </a:ext>
            </a:extLst>
          </p:cNvPr>
          <p:cNvSpPr>
            <a:spLocks noGrp="1"/>
          </p:cNvSpPr>
          <p:nvPr>
            <p:ph type="sldNum" sz="quarter" idx="10"/>
          </p:nvPr>
        </p:nvSpPr>
        <p:spPr/>
        <p:txBody>
          <a:bodyPr/>
          <a:lstStyle/>
          <a:p>
            <a:fld id="{0A3C37BE-C303-496D-B5CD-85F2937540FC}" type="slidenum">
              <a:rPr lang="en-US"/>
              <a:t>101</a:t>
            </a:fld>
            <a:endParaRPr lang="en-US"/>
          </a:p>
        </p:txBody>
      </p:sp>
    </p:spTree>
    <p:extLst>
      <p:ext uri="{BB962C8B-B14F-4D97-AF65-F5344CB8AC3E}">
        <p14:creationId xmlns:p14="http://schemas.microsoft.com/office/powerpoint/2010/main" val="550621791"/>
      </p:ext>
    </p:extLst>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384174-6A1D-8E10-AA0D-CEA4E62AD70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350C692-9BD7-4498-25FC-AD2D61ED51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7C9B73A-98DF-F008-0609-D6610587B862}"/>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64EABA8D-8FE5-3E6E-5E27-A61FEA62F9ED}"/>
              </a:ext>
            </a:extLst>
          </p:cNvPr>
          <p:cNvSpPr>
            <a:spLocks noGrp="1"/>
          </p:cNvSpPr>
          <p:nvPr>
            <p:ph type="sldNum" sz="quarter" idx="10"/>
          </p:nvPr>
        </p:nvSpPr>
        <p:spPr/>
        <p:txBody>
          <a:bodyPr/>
          <a:lstStyle/>
          <a:p>
            <a:fld id="{0A3C37BE-C303-496D-B5CD-85F2937540FC}" type="slidenum">
              <a:rPr lang="en-US"/>
              <a:t>105</a:t>
            </a:fld>
            <a:endParaRPr lang="en-US"/>
          </a:p>
        </p:txBody>
      </p:sp>
    </p:spTree>
    <p:extLst>
      <p:ext uri="{BB962C8B-B14F-4D97-AF65-F5344CB8AC3E}">
        <p14:creationId xmlns:p14="http://schemas.microsoft.com/office/powerpoint/2010/main" val="544256883"/>
      </p:ext>
    </p:extLst>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0A3C37BE-C303-496D-B5CD-85F2937540FC}" type="slidenum">
              <a:rPr lang="en-US"/>
              <a:t>110</a:t>
            </a:fld>
            <a:endParaRPr lang="en-US"/>
          </a:p>
        </p:txBody>
      </p:sp>
    </p:spTree>
    <p:extLst>
      <p:ext uri="{BB962C8B-B14F-4D97-AF65-F5344CB8AC3E}">
        <p14:creationId xmlns:p14="http://schemas.microsoft.com/office/powerpoint/2010/main" val="389421986"/>
      </p:ext>
    </p:extLst>
  </p:cSld>
  <p:clrMapOvr>
    <a:masterClrMapping/>
  </p:clrMapOvr>
</p:notes>
</file>

<file path=ppt/slideLayouts/_rels/slideLayout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10096500" cy="2219691"/>
          </a:xfrm>
        </p:spPr>
        <p:txBody>
          <a:bodyPr anchor="ctr">
            <a:normAutofit/>
          </a:bodyPr>
          <a:lstStyle>
            <a:lvl1pPr algn="l">
              <a:defRPr sz="4400" cap="all" baseline="0"/>
            </a:lvl1pPr>
          </a:lstStyle>
          <a:p>
            <a:r>
              <a:t>Click to edit Master title style</a:t>
            </a:r>
          </a:p>
        </p:txBody>
      </p:sp>
      <p:sp>
        <p:nvSpPr>
          <p:cNvPr id="3" name="Subtitle 2"/>
          <p:cNvSpPr>
            <a:spLocks noGrp="1"/>
          </p:cNvSpPr>
          <p:nvPr>
            <p:ph type="subTitle" idx="1"/>
          </p:nvPr>
        </p:nvSpPr>
        <p:spPr>
          <a:xfrm>
            <a:off x="1104898" y="4511784"/>
            <a:ext cx="10096501"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11" name="Picture 10"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4445" y="0"/>
            <a:ext cx="1747524" cy="2292094"/>
          </a:xfrm>
          <a:prstGeom prst="rect">
            <a:avLst/>
          </a:prstGeom>
        </p:spPr>
      </p:pic>
    </p:spTree>
    <p:extLst>
      <p:ext uri="{BB962C8B-B14F-4D97-AF65-F5344CB8AC3E}">
        <p14:creationId xmlns:p14="http://schemas.microsoft.com/office/powerpoint/2010/main" val="1659756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idx="1"/>
          </p:nvPr>
        </p:nvSpPr>
        <p:spPr/>
        <p:txBody>
          <a:bodyPr/>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8" name="Picture 7">
            <a:extLst>
              <a:ext uri="{FF2B5EF4-FFF2-40B4-BE49-F238E27FC236}">
                <a16:creationId xmlns:a16="http://schemas.microsoft.com/office/drawing/2014/main" id="{D7BD9AE7-B410-0F41-9CF1-7EB2080B6841}"/>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7868768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Picture">
    <p:spTree>
      <p:nvGrpSpPr>
        <p:cNvPr id="1" name=""/>
        <p:cNvGrpSpPr/>
        <p:nvPr/>
      </p:nvGrpSpPr>
      <p:grpSpPr>
        <a:xfrm>
          <a:off x="0" y="0"/>
          <a:ext cx="0" cy="0"/>
          <a:chOff x="0" y="0"/>
          <a:chExt cx="0" cy="0"/>
        </a:xfrm>
      </p:grpSpPr>
      <p:grpSp>
        <p:nvGrpSpPr>
          <p:cNvPr id="13" name="Group 12"/>
          <p:cNvGrpSpPr/>
          <p:nvPr/>
        </p:nvGrpSpPr>
        <p:grpSpPr>
          <a:xfrm rot="10800000">
            <a:off x="0" y="5645510"/>
            <a:ext cx="12192000" cy="63125"/>
            <a:chOff x="507492" y="1501519"/>
            <a:chExt cx="8129016" cy="63125"/>
          </a:xfrm>
        </p:grpSpPr>
        <p:cxnSp>
          <p:nvCxnSpPr>
            <p:cNvPr id="17" name="Straight Connector 16"/>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nvGrpSpPr>
          <p:cNvPr id="14" name="Group 13"/>
          <p:cNvGrpSpPr/>
          <p:nvPr/>
        </p:nvGrpSpPr>
        <p:grpSpPr>
          <a:xfrm>
            <a:off x="0" y="1143000"/>
            <a:ext cx="12192000" cy="63125"/>
            <a:chOff x="507492" y="1501519"/>
            <a:chExt cx="8129016" cy="63125"/>
          </a:xfrm>
        </p:grpSpPr>
        <p:cxnSp>
          <p:nvCxnSpPr>
            <p:cNvPr id="15" name="Straight Connector 14"/>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7" name="Rectangle 6"/>
          <p:cNvSpPr/>
          <p:nvPr/>
        </p:nvSpPr>
        <p:spPr>
          <a:xfrm>
            <a:off x="0" y="5778124"/>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0" y="0"/>
            <a:ext cx="12192000" cy="1079876"/>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104900" y="2292094"/>
            <a:ext cx="5734050" cy="2219691"/>
          </a:xfrm>
        </p:spPr>
        <p:txBody>
          <a:bodyPr anchor="ctr">
            <a:normAutofit/>
          </a:bodyPr>
          <a:lstStyle>
            <a:lvl1pPr algn="l">
              <a:defRPr sz="4400" cap="all" baseline="0"/>
            </a:lvl1pPr>
          </a:lstStyle>
          <a:p>
            <a:r>
              <a:t>Click to edit Master title style</a:t>
            </a:r>
          </a:p>
        </p:txBody>
      </p:sp>
      <p:sp>
        <p:nvSpPr>
          <p:cNvPr id="11" name="Picture Placeholder 10" title="An empty placeholder to add an image. Click on the placeholder and select the image that you wish to add"/>
          <p:cNvSpPr>
            <a:spLocks noGrp="1"/>
          </p:cNvSpPr>
          <p:nvPr>
            <p:ph type="pic" sz="quarter" idx="13"/>
          </p:nvPr>
        </p:nvSpPr>
        <p:spPr>
          <a:xfrm>
            <a:off x="6981063" y="1310656"/>
            <a:ext cx="5210937" cy="4208604"/>
          </a:xfrm>
          <a:solidFill>
            <a:schemeClr val="tx1">
              <a:lumMod val="20000"/>
              <a:lumOff val="80000"/>
            </a:schemeClr>
          </a:solidFill>
        </p:spPr>
        <p:txBody>
          <a:bodyPr tIns="1005840"/>
          <a:lstStyle>
            <a:lvl1pPr marL="0" indent="0" algn="ctr">
              <a:buNone/>
              <a:defRPr/>
            </a:lvl1pPr>
          </a:lstStyle>
          <a:p>
            <a:endParaRPr/>
          </a:p>
        </p:txBody>
      </p:sp>
      <p:sp>
        <p:nvSpPr>
          <p:cNvPr id="3" name="Subtitle 2"/>
          <p:cNvSpPr>
            <a:spLocks noGrp="1"/>
          </p:cNvSpPr>
          <p:nvPr>
            <p:ph type="subTitle" idx="1"/>
          </p:nvPr>
        </p:nvSpPr>
        <p:spPr>
          <a:xfrm>
            <a:off x="1104900" y="4511784"/>
            <a:ext cx="5734050" cy="955565"/>
          </a:xfrm>
        </p:spPr>
        <p:txBody>
          <a:bodyPr>
            <a:normAutofit/>
          </a:bodyPr>
          <a:lstStyle>
            <a:lvl1pPr marL="0" indent="0" algn="l">
              <a:spcBef>
                <a:spcPts val="0"/>
              </a:spcBef>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pic>
        <p:nvPicPr>
          <p:cNvPr id="10" name="Picture 9" title="Ribbon tab"/>
          <p:cNvPicPr>
            <a:picLocks noChangeAspect="1"/>
          </p:cNvPicPr>
          <p:nvPr/>
        </p:nvPicPr>
        <p:blipFill rotWithShape="1">
          <a:blip r:embed="rId2" cstate="print">
            <a:duotone>
              <a:schemeClr val="accent2">
                <a:shade val="45000"/>
                <a:satMod val="135000"/>
              </a:schemeClr>
              <a:prstClr val="white"/>
            </a:duotone>
            <a:extLst>
              <a:ext uri="{BEBA8EAE-BF5A-486C-A8C5-ECC9F3942E4B}">
                <a14:imgProps xmlns:a14="http://schemas.microsoft.com/office/drawing/2010/main">
                  <a14:imgLayer r:embed="rId3">
                    <a14:imgEffect>
                      <a14:saturation sat="30000"/>
                    </a14:imgEffect>
                  </a14:imgLayer>
                </a14:imgProps>
              </a:ext>
              <a:ext uri="{28A0092B-C50C-407E-A947-70E740481C1C}">
                <a14:useLocalDpi xmlns:a14="http://schemas.microsoft.com/office/drawing/2010/main" val="0"/>
              </a:ext>
            </a:extLst>
          </a:blip>
          <a:srcRect/>
          <a:stretch/>
        </p:blipFill>
        <p:spPr>
          <a:xfrm>
            <a:off x="1325880" y="0"/>
            <a:ext cx="1747524" cy="2292094"/>
          </a:xfrm>
          <a:prstGeom prst="rect">
            <a:avLst/>
          </a:prstGeom>
        </p:spPr>
      </p:pic>
    </p:spTree>
    <p:extLst>
      <p:ext uri="{BB962C8B-B14F-4D97-AF65-F5344CB8AC3E}">
        <p14:creationId xmlns:p14="http://schemas.microsoft.com/office/powerpoint/2010/main" val="2673943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2514600"/>
            <a:ext cx="12192000" cy="3194035"/>
            <a:chOff x="647402" y="2514600"/>
            <a:chExt cx="10838688" cy="3194035"/>
          </a:xfrm>
        </p:grpSpPr>
        <p:grpSp>
          <p:nvGrpSpPr>
            <p:cNvPr id="9" name="Group 8"/>
            <p:cNvGrpSpPr/>
            <p:nvPr/>
          </p:nvGrpSpPr>
          <p:grpSpPr>
            <a:xfrm>
              <a:off x="647402" y="2514600"/>
              <a:ext cx="10838688" cy="63125"/>
              <a:chOff x="507492" y="1501519"/>
              <a:chExt cx="8129016" cy="63125"/>
            </a:xfrm>
          </p:grpSpPr>
          <p:cxnSp>
            <p:nvCxnSpPr>
              <p:cNvPr id="14" name="Straight Connector 13"/>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5" name="Straight Connector 14"/>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
          <p:nvSpPr>
            <p:cNvPr id="10" name="Rectangle 9"/>
            <p:cNvSpPr/>
            <p:nvPr/>
          </p:nvSpPr>
          <p:spPr>
            <a:xfrm>
              <a:off x="647402" y="2640850"/>
              <a:ext cx="10838688" cy="2941536"/>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grpSp>
          <p:nvGrpSpPr>
            <p:cNvPr id="11" name="Group 10"/>
            <p:cNvGrpSpPr/>
            <p:nvPr/>
          </p:nvGrpSpPr>
          <p:grpSpPr>
            <a:xfrm rot="10800000">
              <a:off x="647402" y="5645510"/>
              <a:ext cx="10838688" cy="63125"/>
              <a:chOff x="507492" y="1501519"/>
              <a:chExt cx="8129016" cy="63125"/>
            </a:xfrm>
          </p:grpSpPr>
          <p:cxnSp>
            <p:nvCxnSpPr>
              <p:cNvPr id="12" name="Straight Connector 11"/>
              <p:cNvCxnSpPr/>
              <p:nvPr/>
            </p:nvCxnSpPr>
            <p:spPr>
              <a:xfrm>
                <a:off x="507492" y="1564644"/>
                <a:ext cx="8129016"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507492" y="1501519"/>
                <a:ext cx="8129016"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grpSp>
      <p:sp>
        <p:nvSpPr>
          <p:cNvPr id="2" name="Title 1"/>
          <p:cNvSpPr>
            <a:spLocks noGrp="1"/>
          </p:cNvSpPr>
          <p:nvPr>
            <p:ph type="title"/>
          </p:nvPr>
        </p:nvSpPr>
        <p:spPr>
          <a:xfrm>
            <a:off x="1104899" y="2971806"/>
            <a:ext cx="10071099" cy="1684150"/>
          </a:xfrm>
        </p:spPr>
        <p:txBody>
          <a:bodyPr anchor="ctr">
            <a:normAutofit/>
          </a:bodyPr>
          <a:lstStyle>
            <a:lvl1pPr>
              <a:defRPr sz="4400" cap="all" baseline="0">
                <a:solidFill>
                  <a:schemeClr val="bg1"/>
                </a:solidFill>
              </a:defRPr>
            </a:lvl1pPr>
          </a:lstStyle>
          <a:p>
            <a:r>
              <a:t>Click to edit Master title style</a:t>
            </a:r>
          </a:p>
        </p:txBody>
      </p:sp>
      <p:sp>
        <p:nvSpPr>
          <p:cNvPr id="3" name="Text Placeholder 2"/>
          <p:cNvSpPr>
            <a:spLocks noGrp="1"/>
          </p:cNvSpPr>
          <p:nvPr>
            <p:ph type="body" idx="1"/>
          </p:nvPr>
        </p:nvSpPr>
        <p:spPr>
          <a:xfrm>
            <a:off x="1104899" y="4655956"/>
            <a:ext cx="10071099" cy="509750"/>
          </a:xfrm>
        </p:spPr>
        <p:txBody>
          <a:bodyPr>
            <a:normAutofit/>
          </a:bodyPr>
          <a:lstStyle>
            <a:lvl1pPr marL="0" indent="0">
              <a:spcBef>
                <a:spcPts val="0"/>
              </a:spcBef>
              <a:buNone/>
              <a:defRPr sz="1600">
                <a:solidFill>
                  <a:schemeClr val="bg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t>Click to edit Master text styles</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pic>
        <p:nvPicPr>
          <p:cNvPr id="7" name="Picture 6" title="Ribbon tab"/>
          <p:cNvPicPr>
            <a:picLocks noChangeAspect="1"/>
          </p:cNvPicPr>
          <p:nvPr/>
        </p:nvPicPr>
        <p:blipFill>
          <a:blip r:embed="rId2">
            <a:duotone>
              <a:schemeClr val="accent2">
                <a:shade val="45000"/>
                <a:satMod val="135000"/>
              </a:schemeClr>
              <a:prstClr val="white"/>
            </a:duotone>
            <a:extLst>
              <a:ext uri="{28A0092B-C50C-407E-A947-70E740481C1C}">
                <a14:useLocalDpi xmlns:a14="http://schemas.microsoft.com/office/drawing/2010/main" val="0"/>
              </a:ext>
            </a:extLst>
          </a:blip>
          <a:stretch>
            <a:fillRect/>
          </a:stretch>
        </p:blipFill>
        <p:spPr>
          <a:xfrm>
            <a:off x="1325880" y="0"/>
            <a:ext cx="1783188" cy="2971806"/>
          </a:xfrm>
          <a:prstGeom prst="rect">
            <a:avLst/>
          </a:prstGeom>
        </p:spPr>
      </p:pic>
    </p:spTree>
    <p:extLst>
      <p:ext uri="{BB962C8B-B14F-4D97-AF65-F5344CB8AC3E}">
        <p14:creationId xmlns:p14="http://schemas.microsoft.com/office/powerpoint/2010/main" val="36026788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Content Placeholder 2"/>
          <p:cNvSpPr>
            <a:spLocks noGrp="1"/>
          </p:cNvSpPr>
          <p:nvPr>
            <p:ph sz="half" idx="1"/>
          </p:nvPr>
        </p:nvSpPr>
        <p:spPr>
          <a:xfrm>
            <a:off x="1104900" y="1600200"/>
            <a:ext cx="4914900" cy="4571999"/>
          </a:xfrm>
        </p:spPr>
        <p:txBody>
          <a:bodyPr/>
          <a:lstStyle>
            <a:lvl5pPr>
              <a:defRPr/>
            </a:lvl5pPr>
            <a:lvl6pPr>
              <a:defRPr/>
            </a:lvl6pPr>
            <a:lvl7pPr>
              <a:defRPr/>
            </a:lvl7pPr>
            <a:lvl8pPr>
              <a:defRPr/>
            </a:lvl8pPr>
            <a:lvl9pPr>
              <a:defRPr/>
            </a:lvl9pPr>
          </a:lstStyle>
          <a:p>
            <a:pPr lvl="0"/>
            <a:r>
              <a:t>Click to edit Master text styles</a:t>
            </a:r>
          </a:p>
          <a:p>
            <a:pPr lvl="1"/>
            <a:r>
              <a:t>Second level</a:t>
            </a:r>
          </a:p>
          <a:p>
            <a:pPr lvl="2"/>
            <a:r>
              <a:t>Third level</a:t>
            </a:r>
          </a:p>
          <a:p>
            <a:pPr lvl="3"/>
            <a:r>
              <a:t>Fourth level</a:t>
            </a:r>
          </a:p>
          <a:p>
            <a:pPr lvl="4"/>
            <a:r>
              <a:t>Fifth level</a:t>
            </a:r>
          </a:p>
        </p:txBody>
      </p:sp>
      <p:sp>
        <p:nvSpPr>
          <p:cNvPr id="4" name="Content Placeholder 3"/>
          <p:cNvSpPr>
            <a:spLocks noGrp="1"/>
          </p:cNvSpPr>
          <p:nvPr>
            <p:ph sz="half" idx="2"/>
          </p:nvPr>
        </p:nvSpPr>
        <p:spPr>
          <a:xfrm>
            <a:off x="6172200" y="1600200"/>
            <a:ext cx="4914900" cy="4571999"/>
          </a:xfrm>
        </p:spPr>
        <p:txBody>
          <a:bodyPr/>
          <a:lstStyle>
            <a:lvl5pPr>
              <a:defRPr/>
            </a:lvl5pPr>
            <a:lvl6pPr>
              <a:defRPr/>
            </a:lvl6pPr>
            <a:lvl7pPr>
              <a:defRPr/>
            </a:lvl7pPr>
            <a:lvl8pPr>
              <a:defRPr/>
            </a:lvl8pPr>
          </a:lstStyle>
          <a:p>
            <a:pPr lvl="0"/>
            <a:r>
              <a:t>Click to edit Master text styles</a:t>
            </a:r>
          </a:p>
          <a:p>
            <a:pPr lvl="1"/>
            <a:r>
              <a:t>Second level</a:t>
            </a:r>
          </a:p>
          <a:p>
            <a:pPr lvl="2"/>
            <a:r>
              <a:t>Third level</a:t>
            </a:r>
          </a:p>
          <a:p>
            <a:pPr lvl="3"/>
            <a:r>
              <a:t>Fourth level</a:t>
            </a:r>
          </a:p>
          <a:p>
            <a:pPr lvl="4"/>
            <a:r>
              <a:t>Fifth level</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5277910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Text Placeholder 2"/>
          <p:cNvSpPr>
            <a:spLocks noGrp="1"/>
          </p:cNvSpPr>
          <p:nvPr>
            <p:ph type="body" idx="1"/>
          </p:nvPr>
        </p:nvSpPr>
        <p:spPr>
          <a:xfrm>
            <a:off x="110490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4" name="Content Placeholder 3"/>
          <p:cNvSpPr>
            <a:spLocks noGrp="1"/>
          </p:cNvSpPr>
          <p:nvPr>
            <p:ph sz="half" idx="2"/>
          </p:nvPr>
        </p:nvSpPr>
        <p:spPr>
          <a:xfrm>
            <a:off x="110490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5" name="Text Placeholder 4"/>
          <p:cNvSpPr>
            <a:spLocks noGrp="1"/>
          </p:cNvSpPr>
          <p:nvPr>
            <p:ph type="body" sz="quarter" idx="3"/>
          </p:nvPr>
        </p:nvSpPr>
        <p:spPr>
          <a:xfrm>
            <a:off x="6166110" y="1600200"/>
            <a:ext cx="4919472" cy="823912"/>
          </a:xfrm>
        </p:spPr>
        <p:txBody>
          <a:bodyPr anchor="b"/>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t>Click to edit Master text styles</a:t>
            </a:r>
          </a:p>
        </p:txBody>
      </p:sp>
      <p:sp>
        <p:nvSpPr>
          <p:cNvPr id="6" name="Content Placeholder 5"/>
          <p:cNvSpPr>
            <a:spLocks noGrp="1"/>
          </p:cNvSpPr>
          <p:nvPr>
            <p:ph sz="quarter" idx="4"/>
          </p:nvPr>
        </p:nvSpPr>
        <p:spPr>
          <a:xfrm>
            <a:off x="6166110" y="2424112"/>
            <a:ext cx="4919472" cy="3748088"/>
          </a:xfrm>
        </p:spPr>
        <p:txBody>
          <a:bodyPr/>
          <a:lstStyle/>
          <a:p>
            <a:pPr lvl="0"/>
            <a:r>
              <a:t>Click to edit Master text styles</a:t>
            </a:r>
          </a:p>
          <a:p>
            <a:pPr lvl="1"/>
            <a:r>
              <a:t>Second level</a:t>
            </a:r>
          </a:p>
          <a:p>
            <a:pPr lvl="2"/>
            <a:r>
              <a:t>Third level</a:t>
            </a:r>
          </a:p>
          <a:p>
            <a:pPr lvl="3"/>
            <a:r>
              <a:t>Fourth level</a:t>
            </a:r>
          </a:p>
          <a:p>
            <a:pPr lvl="4"/>
            <a:r>
              <a:t>Fifth level</a:t>
            </a:r>
          </a:p>
        </p:txBody>
      </p:sp>
      <p:sp>
        <p:nvSpPr>
          <p:cNvPr id="7" name="Date Placeholder 6"/>
          <p:cNvSpPr>
            <a:spLocks noGrp="1"/>
          </p:cNvSpPr>
          <p:nvPr>
            <p:ph type="dt" sz="half" idx="10"/>
          </p:nvPr>
        </p:nvSpPr>
        <p:spPr/>
        <p:txBody>
          <a:bodyPr/>
          <a:lstStyle/>
          <a:p>
            <a:fld id="{402B9795-92DC-40DC-A1CA-9A4B349D7824}" type="datetimeFigureOut">
              <a:rPr lang="en-US" smtClean="0"/>
              <a:t>2/26/26</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971016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Date Placeholder 2"/>
          <p:cNvSpPr>
            <a:spLocks noGrp="1"/>
          </p:cNvSpPr>
          <p:nvPr>
            <p:ph type="dt" sz="half" idx="10"/>
          </p:nvPr>
        </p:nvSpPr>
        <p:spPr/>
        <p:txBody>
          <a:bodyPr/>
          <a:lstStyle/>
          <a:p>
            <a:fld id="{402B9795-92DC-40DC-A1CA-9A4B349D7824}" type="datetimeFigureOut">
              <a:rPr lang="en-US" smtClean="0"/>
              <a:t>2/26/26</a:t>
            </a:fld>
            <a:endParaRPr/>
          </a:p>
        </p:txBody>
      </p:sp>
      <p:sp>
        <p:nvSpPr>
          <p:cNvPr id="4" name="Footer Placeholder 3"/>
          <p:cNvSpPr>
            <a:spLocks noGrp="1"/>
          </p:cNvSpPr>
          <p:nvPr>
            <p:ph type="ftr" sz="quarter" idx="11"/>
          </p:nvPr>
        </p:nvSpPr>
        <p:spPr/>
        <p:txBody>
          <a:bodyPr/>
          <a:lstStyle/>
          <a:p>
            <a:endParaRPr/>
          </a:p>
        </p:txBody>
      </p:sp>
      <p:sp>
        <p:nvSpPr>
          <p:cNvPr id="5" name="Slide Number Placeholder 4"/>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17581115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02B9795-92DC-40DC-A1CA-9A4B349D7824}" type="datetimeFigureOut">
              <a:rPr lang="en-US" smtClean="0"/>
              <a:t>2/26/26</a:t>
            </a:fld>
            <a:endParaRPr/>
          </a:p>
        </p:txBody>
      </p:sp>
      <p:sp>
        <p:nvSpPr>
          <p:cNvPr id="3" name="Footer Placeholder 2"/>
          <p:cNvSpPr>
            <a:spLocks noGrp="1"/>
          </p:cNvSpPr>
          <p:nvPr>
            <p:ph type="ftr" sz="quarter" idx="11"/>
          </p:nvPr>
        </p:nvSpPr>
        <p:spPr/>
        <p:txBody>
          <a:bodyPr/>
          <a:lstStyle/>
          <a:p>
            <a:endParaRPr/>
          </a:p>
        </p:txBody>
      </p:sp>
      <p:sp>
        <p:nvSpPr>
          <p:cNvPr id="4" name="Slide Number Placeholder 3"/>
          <p:cNvSpPr>
            <a:spLocks noGrp="1"/>
          </p:cNvSpPr>
          <p:nvPr>
            <p:ph type="sldNum" sz="quarter" idx="12"/>
          </p:nvPr>
        </p:nvSpPr>
        <p:spPr/>
        <p:txBody>
          <a:bodyPr/>
          <a:lstStyle/>
          <a:p>
            <a:fld id="{0FF54DE5-C571-48E8-A5BC-B369434E2F44}" type="slidenum">
              <a:rPr/>
              <a:t>‹#›</a:t>
            </a:fld>
            <a:endParaRPr/>
          </a:p>
        </p:txBody>
      </p:sp>
      <p:pic>
        <p:nvPicPr>
          <p:cNvPr id="5" name="Picture 4">
            <a:extLst>
              <a:ext uri="{FF2B5EF4-FFF2-40B4-BE49-F238E27FC236}">
                <a16:creationId xmlns:a16="http://schemas.microsoft.com/office/drawing/2014/main" id="{460E5311-D21D-0F4C-8247-28A53E0B0DC2}"/>
              </a:ext>
            </a:extLst>
          </p:cNvPr>
          <p:cNvPicPr>
            <a:picLocks noChangeAspect="1"/>
          </p:cNvPicPr>
          <p:nvPr userDrawn="1"/>
        </p:nvPicPr>
        <p:blipFill>
          <a:blip r:embed="rId2"/>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3024169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Content Placeholder 2"/>
          <p:cNvSpPr>
            <a:spLocks noGrp="1"/>
          </p:cNvSpPr>
          <p:nvPr>
            <p:ph idx="1"/>
          </p:nvPr>
        </p:nvSpPr>
        <p:spPr>
          <a:xfrm>
            <a:off x="5641848" y="1600199"/>
            <a:ext cx="5445252" cy="4572001"/>
          </a:xfrm>
        </p:spPr>
        <p:txBody>
          <a:bodyPr>
            <a:normAutofit/>
          </a:bodyPr>
          <a:lstStyle>
            <a:lvl1pPr>
              <a:defRPr sz="2000"/>
            </a:lvl1pPr>
            <a:lvl2pPr>
              <a:defRPr sz="1600"/>
            </a:lvl2pPr>
            <a:lvl3pPr>
              <a:defRPr sz="1600"/>
            </a:lvl3pPr>
            <a:lvl4pPr>
              <a:defRPr sz="1400"/>
            </a:lvl4pPr>
            <a:lvl5pPr>
              <a:defRPr sz="1400"/>
            </a:lvl5pPr>
            <a:lvl6pPr>
              <a:defRPr sz="1400"/>
            </a:lvl6pPr>
            <a:lvl7pPr>
              <a:defRPr sz="1400"/>
            </a:lvl7pPr>
            <a:lvl8pPr>
              <a:defRPr sz="1400"/>
            </a:lvl8pPr>
            <a:lvl9pPr>
              <a:defRPr sz="1400"/>
            </a:lvl9pPr>
          </a:lstStyle>
          <a:p>
            <a:pPr lvl="0"/>
            <a:r>
              <a:t>Click to edit Master text styles</a:t>
            </a:r>
          </a:p>
          <a:p>
            <a:pPr lvl="1"/>
            <a:r>
              <a:t>Second level</a:t>
            </a:r>
          </a:p>
          <a:p>
            <a:pPr lvl="2"/>
            <a:r>
              <a:t>Third level</a:t>
            </a:r>
          </a:p>
          <a:p>
            <a:pPr lvl="3"/>
            <a:r>
              <a:t>Fourth level</a:t>
            </a:r>
          </a:p>
          <a:p>
            <a:pPr lvl="4"/>
            <a:r>
              <a:t>Fifth level</a:t>
            </a:r>
          </a:p>
        </p:txBody>
      </p:sp>
      <p:sp>
        <p:nvSpPr>
          <p:cNvPr id="4" name="Text Placeholder 3"/>
          <p:cNvSpPr>
            <a:spLocks noGrp="1"/>
          </p:cNvSpPr>
          <p:nvPr>
            <p:ph type="body" sz="half" idx="2"/>
          </p:nvPr>
        </p:nvSpPr>
        <p:spPr>
          <a:xfrm>
            <a:off x="1104900" y="1600200"/>
            <a:ext cx="4384548"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37697646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nchor="b"/>
          <a:lstStyle>
            <a:lvl1pPr>
              <a:defRPr sz="3200"/>
            </a:lvl1pPr>
          </a:lstStyle>
          <a:p>
            <a:r>
              <a:t>Click to edit Master title style</a:t>
            </a:r>
          </a:p>
        </p:txBody>
      </p:sp>
      <p:sp>
        <p:nvSpPr>
          <p:cNvPr id="3" name="Picture Placeholder 2" title="An empty placeholder to add an image. Click on the placeholder and select the image that you wish to add"/>
          <p:cNvSpPr>
            <a:spLocks noGrp="1"/>
          </p:cNvSpPr>
          <p:nvPr>
            <p:ph type="pic" idx="1"/>
          </p:nvPr>
        </p:nvSpPr>
        <p:spPr>
          <a:xfrm>
            <a:off x="4654671" y="1600199"/>
            <a:ext cx="6430912" cy="4572001"/>
          </a:xfrm>
        </p:spPr>
        <p:txBody>
          <a:bodyPr tIns="1188720">
            <a:normAutofit/>
          </a:bodyPr>
          <a:lstStyle>
            <a:lvl1pPr marL="0" indent="0" algn="ctr">
              <a:buNone/>
              <a:defRPr sz="20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p:cNvSpPr>
            <a:spLocks noGrp="1"/>
          </p:cNvSpPr>
          <p:nvPr>
            <p:ph type="body" sz="half" idx="2"/>
          </p:nvPr>
        </p:nvSpPr>
        <p:spPr>
          <a:xfrm>
            <a:off x="1104900" y="1600200"/>
            <a:ext cx="3396996" cy="4572000"/>
          </a:xfrm>
        </p:spPr>
        <p:txBody>
          <a:bodyPr>
            <a:normAutofit/>
          </a:bodyPr>
          <a:lstStyle>
            <a:lvl1pPr marL="0" indent="0">
              <a:spcBef>
                <a:spcPts val="1200"/>
              </a:spcBef>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t>Click to edit Master text styles</a:t>
            </a:r>
          </a:p>
        </p:txBody>
      </p:sp>
      <p:sp>
        <p:nvSpPr>
          <p:cNvPr id="5" name="Date Placeholder 4"/>
          <p:cNvSpPr>
            <a:spLocks noGrp="1"/>
          </p:cNvSpPr>
          <p:nvPr>
            <p:ph type="dt" sz="half" idx="10"/>
          </p:nvPr>
        </p:nvSpPr>
        <p:spPr/>
        <p:txBody>
          <a:bodyPr/>
          <a:lstStyle/>
          <a:p>
            <a:fld id="{402B9795-92DC-40DC-A1CA-9A4B349D7824}" type="datetimeFigureOut">
              <a:rPr lang="en-US" smtClean="0"/>
              <a:t>2/26/26</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7696370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Click to edit Master title style</a:t>
            </a:r>
          </a:p>
        </p:txBody>
      </p:sp>
      <p:sp>
        <p:nvSpPr>
          <p:cNvPr id="3" name="Vertical Text Placeholder 2"/>
          <p:cNvSpPr>
            <a:spLocks noGrp="1"/>
          </p:cNvSpPr>
          <p:nvPr>
            <p:ph type="body" orient="vert" idx="1"/>
          </p:nvPr>
        </p:nvSpPr>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spTree>
    <p:extLst>
      <p:ext uri="{BB962C8B-B14F-4D97-AF65-F5344CB8AC3E}">
        <p14:creationId xmlns:p14="http://schemas.microsoft.com/office/powerpoint/2010/main" val="2012076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372600" y="365125"/>
            <a:ext cx="1714500" cy="5811838"/>
          </a:xfrm>
        </p:spPr>
        <p:txBody>
          <a:bodyPr vert="eaVert"/>
          <a:lstStyle/>
          <a:p>
            <a:r>
              <a:t>Click to edit Master title style</a:t>
            </a:r>
          </a:p>
        </p:txBody>
      </p:sp>
      <p:sp>
        <p:nvSpPr>
          <p:cNvPr id="3" name="Vertical Text Placeholder 2"/>
          <p:cNvSpPr>
            <a:spLocks noGrp="1"/>
          </p:cNvSpPr>
          <p:nvPr>
            <p:ph type="body" orient="vert" idx="1"/>
          </p:nvPr>
        </p:nvSpPr>
        <p:spPr>
          <a:xfrm>
            <a:off x="1104900" y="365125"/>
            <a:ext cx="8098896" cy="5811838"/>
          </a:xfrm>
        </p:spPr>
        <p:txBody>
          <a:bodyPr vert="eaVert"/>
          <a:lstStyle/>
          <a:p>
            <a:pPr lvl="0"/>
            <a:r>
              <a:t>Click to edit Master text styles</a:t>
            </a:r>
          </a:p>
          <a:p>
            <a:pPr lvl="1"/>
            <a:r>
              <a:t>Second level</a:t>
            </a:r>
          </a:p>
          <a:p>
            <a:pPr lvl="2"/>
            <a:r>
              <a:t>Third level</a:t>
            </a:r>
          </a:p>
          <a:p>
            <a:pPr lvl="3"/>
            <a:r>
              <a:t>Fourth level</a:t>
            </a:r>
          </a:p>
          <a:p>
            <a:pPr lvl="4"/>
            <a:r>
              <a:t>Fifth level</a:t>
            </a:r>
          </a:p>
        </p:txBody>
      </p:sp>
      <p:sp>
        <p:nvSpPr>
          <p:cNvPr id="4" name="Date Placeholder 3"/>
          <p:cNvSpPr>
            <a:spLocks noGrp="1"/>
          </p:cNvSpPr>
          <p:nvPr>
            <p:ph type="dt" sz="half" idx="10"/>
          </p:nvPr>
        </p:nvSpPr>
        <p:spPr/>
        <p:txBody>
          <a:bodyPr/>
          <a:lstStyle/>
          <a:p>
            <a:fld id="{402B9795-92DC-40DC-A1CA-9A4B349D7824}" type="datetimeFigureOut">
              <a:rPr lang="en-US" smtClean="0"/>
              <a:t>2/26/26</a:t>
            </a:fld>
            <a:endParaRPr/>
          </a:p>
        </p:txBody>
      </p:sp>
      <p:sp>
        <p:nvSpPr>
          <p:cNvPr id="5" name="Footer Placeholder 4"/>
          <p:cNvSpPr>
            <a:spLocks noGrp="1"/>
          </p:cNvSpPr>
          <p:nvPr>
            <p:ph type="ftr" sz="quarter" idx="11"/>
          </p:nvPr>
        </p:nvSpPr>
        <p:spPr/>
        <p:txBody>
          <a:bodyPr/>
          <a:lstStyle/>
          <a:p>
            <a:endParaRPr/>
          </a:p>
        </p:txBody>
      </p:sp>
      <p:sp>
        <p:nvSpPr>
          <p:cNvPr id="6" name="Slide Number Placeholder 5"/>
          <p:cNvSpPr>
            <a:spLocks noGrp="1"/>
          </p:cNvSpPr>
          <p:nvPr>
            <p:ph type="sldNum" sz="quarter" idx="12"/>
          </p:nvPr>
        </p:nvSpPr>
        <p:spPr/>
        <p:txBody>
          <a:bodyPr/>
          <a:lstStyle/>
          <a:p>
            <a:fld id="{0FF54DE5-C571-48E8-A5BC-B369434E2F44}" type="slidenum">
              <a:rPr/>
              <a:t>‹#›</a:t>
            </a:fld>
            <a:endParaRPr/>
          </a:p>
        </p:txBody>
      </p:sp>
      <p:grpSp>
        <p:nvGrpSpPr>
          <p:cNvPr id="7" name="Group 6"/>
          <p:cNvGrpSpPr/>
          <p:nvPr/>
        </p:nvGrpSpPr>
        <p:grpSpPr>
          <a:xfrm rot="5400000">
            <a:off x="6514047" y="3228843"/>
            <a:ext cx="5632704" cy="84403"/>
            <a:chOff x="1073150" y="1219201"/>
            <a:chExt cx="10058400" cy="63125"/>
          </a:xfrm>
        </p:grpSpPr>
        <p:cxnSp>
          <p:nvCxnSpPr>
            <p:cNvPr id="8" name="Straight Connector 7"/>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45927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104900" y="76200"/>
            <a:ext cx="9980682" cy="1096962"/>
          </a:xfrm>
          <a:prstGeom prst="rect">
            <a:avLst/>
          </a:prstGeom>
        </p:spPr>
        <p:txBody>
          <a:bodyPr vert="horz" lIns="0" tIns="45720" rIns="0" bIns="45720" rtlCol="0" anchor="b">
            <a:normAutofit/>
          </a:bodyPr>
          <a:lstStyle/>
          <a:p>
            <a:r>
              <a:t>Click to edit Master title style</a:t>
            </a:r>
          </a:p>
        </p:txBody>
      </p:sp>
      <p:sp>
        <p:nvSpPr>
          <p:cNvPr id="3" name="Text Placeholder 2"/>
          <p:cNvSpPr>
            <a:spLocks noGrp="1"/>
          </p:cNvSpPr>
          <p:nvPr>
            <p:ph type="body" idx="1"/>
          </p:nvPr>
        </p:nvSpPr>
        <p:spPr>
          <a:xfrm>
            <a:off x="1104900" y="1600200"/>
            <a:ext cx="9982200" cy="4572000"/>
          </a:xfrm>
          <a:prstGeom prst="rect">
            <a:avLst/>
          </a:prstGeom>
        </p:spPr>
        <p:txBody>
          <a:bodyPr vert="horz" lIns="0" tIns="45720" rIns="0" bIns="45720" rtlCol="0">
            <a:normAutofit/>
          </a:bodyPr>
          <a:lstStyle/>
          <a:p>
            <a:pPr lvl="0"/>
            <a:r>
              <a:t>Click to edit Master text styles</a:t>
            </a:r>
          </a:p>
          <a:p>
            <a:pPr lvl="1"/>
            <a:r>
              <a:t>Second level</a:t>
            </a:r>
          </a:p>
          <a:p>
            <a:pPr lvl="2"/>
            <a:r>
              <a:t>Third level</a:t>
            </a:r>
          </a:p>
          <a:p>
            <a:pPr lvl="3"/>
            <a:r>
              <a:t>Fourth level</a:t>
            </a:r>
          </a:p>
          <a:p>
            <a:pPr lvl="4"/>
            <a:r>
              <a:t>Fifth level</a:t>
            </a:r>
          </a:p>
          <a:p>
            <a:pPr lvl="5"/>
            <a:r>
              <a:t>Sixth level</a:t>
            </a:r>
          </a:p>
          <a:p>
            <a:pPr lvl="6"/>
            <a:r>
              <a:t>Seventh level</a:t>
            </a:r>
          </a:p>
          <a:p>
            <a:pPr lvl="7"/>
            <a:r>
              <a:t>Eighth level</a:t>
            </a:r>
          </a:p>
          <a:p>
            <a:pPr lvl="8"/>
            <a:r>
              <a:t>Ninth level</a:t>
            </a:r>
          </a:p>
        </p:txBody>
      </p:sp>
      <p:sp>
        <p:nvSpPr>
          <p:cNvPr id="4" name="Date Placeholder 3"/>
          <p:cNvSpPr>
            <a:spLocks noGrp="1"/>
          </p:cNvSpPr>
          <p:nvPr>
            <p:ph type="dt" sz="half" idx="2"/>
          </p:nvPr>
        </p:nvSpPr>
        <p:spPr>
          <a:xfrm>
            <a:off x="1104899" y="6356351"/>
            <a:ext cx="1829559" cy="365125"/>
          </a:xfrm>
          <a:prstGeom prst="rect">
            <a:avLst/>
          </a:prstGeom>
        </p:spPr>
        <p:txBody>
          <a:bodyPr vert="horz" lIns="0" tIns="45720" rIns="0" bIns="45720" rtlCol="0" anchor="ctr"/>
          <a:lstStyle>
            <a:lvl1pPr algn="l">
              <a:defRPr sz="1200">
                <a:solidFill>
                  <a:schemeClr val="tx1">
                    <a:lumMod val="75000"/>
                  </a:schemeClr>
                </a:solidFill>
              </a:defRPr>
            </a:lvl1pPr>
          </a:lstStyle>
          <a:p>
            <a:fld id="{402B9795-92DC-40DC-A1CA-9A4B349D7824}" type="datetimeFigureOut">
              <a:rPr lang="en-US" smtClean="0"/>
              <a:pPr/>
              <a:t>2/26/26</a:t>
            </a:fld>
            <a:endParaRPr lang="en-US"/>
          </a:p>
        </p:txBody>
      </p:sp>
      <p:sp>
        <p:nvSpPr>
          <p:cNvPr id="5" name="Footer Placeholder 4"/>
          <p:cNvSpPr>
            <a:spLocks noGrp="1"/>
          </p:cNvSpPr>
          <p:nvPr>
            <p:ph type="ftr" sz="quarter" idx="3"/>
          </p:nvPr>
        </p:nvSpPr>
        <p:spPr>
          <a:xfrm>
            <a:off x="2934459" y="6356350"/>
            <a:ext cx="6323082" cy="365126"/>
          </a:xfrm>
          <a:prstGeom prst="rect">
            <a:avLst/>
          </a:prstGeom>
        </p:spPr>
        <p:txBody>
          <a:bodyPr vert="horz" lIns="0" tIns="45720" rIns="0" bIns="45720" rtlCol="0" anchor="ctr"/>
          <a:lstStyle>
            <a:lvl1pPr algn="ctr">
              <a:defRPr sz="1200">
                <a:solidFill>
                  <a:schemeClr val="tx1">
                    <a:lumMod val="75000"/>
                  </a:schemeClr>
                </a:solidFill>
              </a:defRPr>
            </a:lvl1pPr>
          </a:lstStyle>
          <a:p>
            <a:endParaRPr lang="en-US"/>
          </a:p>
        </p:txBody>
      </p:sp>
      <p:sp>
        <p:nvSpPr>
          <p:cNvPr id="6" name="Slide Number Placeholder 5"/>
          <p:cNvSpPr>
            <a:spLocks noGrp="1"/>
          </p:cNvSpPr>
          <p:nvPr>
            <p:ph type="sldNum" sz="quarter" idx="4"/>
          </p:nvPr>
        </p:nvSpPr>
        <p:spPr>
          <a:xfrm>
            <a:off x="9256782" y="6356351"/>
            <a:ext cx="1828800" cy="365125"/>
          </a:xfrm>
          <a:prstGeom prst="rect">
            <a:avLst/>
          </a:prstGeom>
        </p:spPr>
        <p:txBody>
          <a:bodyPr vert="horz" lIns="0" tIns="45720" rIns="0" bIns="45720" rtlCol="0" anchor="ctr"/>
          <a:lstStyle>
            <a:lvl1pPr algn="r">
              <a:defRPr sz="1200">
                <a:solidFill>
                  <a:schemeClr val="tx1">
                    <a:lumMod val="75000"/>
                  </a:schemeClr>
                </a:solidFill>
              </a:defRPr>
            </a:lvl1pPr>
          </a:lstStyle>
          <a:p>
            <a:fld id="{0FF54DE5-C571-48E8-A5BC-B369434E2F44}" type="slidenum">
              <a:rPr lang="en-US" smtClean="0"/>
              <a:pPr/>
              <a:t>‹#›</a:t>
            </a:fld>
            <a:endParaRPr lang="en-US"/>
          </a:p>
        </p:txBody>
      </p:sp>
      <p:grpSp>
        <p:nvGrpSpPr>
          <p:cNvPr id="15" name="Group 14"/>
          <p:cNvGrpSpPr/>
          <p:nvPr/>
        </p:nvGrpSpPr>
        <p:grpSpPr>
          <a:xfrm>
            <a:off x="1103376" y="1219201"/>
            <a:ext cx="9985248" cy="84403"/>
            <a:chOff x="1073150" y="1219201"/>
            <a:chExt cx="10058400" cy="63125"/>
          </a:xfrm>
        </p:grpSpPr>
        <p:cxnSp>
          <p:nvCxnSpPr>
            <p:cNvPr id="13" name="Straight Connector 12"/>
            <p:cNvCxnSpPr/>
            <p:nvPr/>
          </p:nvCxnSpPr>
          <p:spPr>
            <a:xfrm rot="10800000">
              <a:off x="1073150" y="1219201"/>
              <a:ext cx="10058400" cy="0"/>
            </a:xfrm>
            <a:prstGeom prst="line">
              <a:avLst/>
            </a:prstGeom>
            <a:ln w="381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rot="10800000">
              <a:off x="1073150" y="1282326"/>
              <a:ext cx="10058400" cy="0"/>
            </a:xfrm>
            <a:prstGeom prst="line">
              <a:avLst/>
            </a:prstGeom>
            <a:ln w="12700" cap="flat">
              <a:solidFill>
                <a:schemeClr val="tx1"/>
              </a:solidFill>
              <a:miter lim="800000"/>
            </a:ln>
          </p:spPr>
          <p:style>
            <a:lnRef idx="1">
              <a:schemeClr val="accent1"/>
            </a:lnRef>
            <a:fillRef idx="0">
              <a:schemeClr val="accent1"/>
            </a:fillRef>
            <a:effectRef idx="0">
              <a:schemeClr val="accent1"/>
            </a:effectRef>
            <a:fontRef idx="minor">
              <a:schemeClr val="tx1"/>
            </a:fontRef>
          </p:style>
        </p:cxnSp>
      </p:grpSp>
      <p:pic>
        <p:nvPicPr>
          <p:cNvPr id="10" name="Picture 9">
            <a:extLst>
              <a:ext uri="{FF2B5EF4-FFF2-40B4-BE49-F238E27FC236}">
                <a16:creationId xmlns:a16="http://schemas.microsoft.com/office/drawing/2014/main" id="{1FD7FC35-76A9-A241-ACA0-06E04C76B338}"/>
              </a:ext>
            </a:extLst>
          </p:cNvPr>
          <p:cNvPicPr>
            <a:picLocks noChangeAspect="1"/>
          </p:cNvPicPr>
          <p:nvPr userDrawn="1"/>
        </p:nvPicPr>
        <p:blipFill>
          <a:blip r:embed="rId14"/>
          <a:stretch>
            <a:fillRect/>
          </a:stretch>
        </p:blipFill>
        <p:spPr>
          <a:xfrm>
            <a:off x="10616510" y="150927"/>
            <a:ext cx="965037" cy="968447"/>
          </a:xfrm>
          <a:prstGeom prst="rect">
            <a:avLst/>
          </a:prstGeom>
        </p:spPr>
      </p:pic>
    </p:spTree>
    <p:extLst>
      <p:ext uri="{BB962C8B-B14F-4D97-AF65-F5344CB8AC3E}">
        <p14:creationId xmlns:p14="http://schemas.microsoft.com/office/powerpoint/2010/main" val="234625105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28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800"/>
        </a:spcBef>
        <a:buFont typeface="Wingdings" panose="05000000000000000000" pitchFamily="2" charset="2"/>
        <a:buChar char="§"/>
        <a:defRPr sz="2000" kern="1200">
          <a:solidFill>
            <a:schemeClr val="tx1"/>
          </a:solidFill>
          <a:latin typeface="+mn-lt"/>
          <a:ea typeface="+mn-ea"/>
          <a:cs typeface="+mn-cs"/>
        </a:defRPr>
      </a:lvl1pPr>
      <a:lvl2pPr marL="685800" indent="-228600" algn="l" defTabSz="914400" rtl="0" eaLnBrk="1" latinLnBrk="0" hangingPunct="1">
        <a:lnSpc>
          <a:spcPct val="90000"/>
        </a:lnSpc>
        <a:spcBef>
          <a:spcPts val="600"/>
        </a:spcBef>
        <a:buFont typeface="Wingdings" panose="05000000000000000000" pitchFamily="2" charset="2"/>
        <a:buChar char="§"/>
        <a:defRPr sz="1600" kern="1200">
          <a:solidFill>
            <a:schemeClr val="tx1"/>
          </a:solidFill>
          <a:latin typeface="+mn-lt"/>
          <a:ea typeface="+mn-ea"/>
          <a:cs typeface="+mn-cs"/>
        </a:defRPr>
      </a:lvl2pPr>
      <a:lvl3pPr marL="11430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3pPr>
      <a:lvl4pPr marL="16002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4pPr>
      <a:lvl5pPr marL="2057400" indent="-228600" algn="l" defTabSz="914400" rtl="0" eaLnBrk="1" latinLnBrk="0" hangingPunct="1">
        <a:lnSpc>
          <a:spcPct val="90000"/>
        </a:lnSpc>
        <a:spcBef>
          <a:spcPts val="600"/>
        </a:spcBef>
        <a:buFont typeface="Wingdings" panose="05000000000000000000" pitchFamily="2" charset="2"/>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Wingdings" panose="05000000000000000000" pitchFamily="2" charset="2"/>
        <a:buChar char="§"/>
        <a:defRPr sz="14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696">
          <p15:clr>
            <a:srgbClr val="F26B43"/>
          </p15:clr>
        </p15:guide>
        <p15:guide id="2" pos="6984">
          <p15:clr>
            <a:srgbClr val="F26B43"/>
          </p15:clr>
        </p15:guide>
        <p15:guide id="3" orient="horz" pos="1008">
          <p15:clr>
            <a:srgbClr val="F26B43"/>
          </p15:clr>
        </p15:guide>
        <p15:guide id="4" orient="horz" pos="388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3" Type="http://schemas.openxmlformats.org/officeDocument/2006/relationships/image" Target="../media/image5.emf"/><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8.png"/><Relationship Id="rId4" Type="http://schemas.openxmlformats.org/officeDocument/2006/relationships/image" Target="../media/image7.jpe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8.xml"/></Relationships>
</file>

<file path=ppt/slides/_rels/slide20.xml.rels><?xml version="1.0" encoding="UTF-8" standalone="yes"?>
<Relationships xmlns="http://schemas.openxmlformats.org/package/2006/relationships"><Relationship Id="rId3" Type="http://schemas.openxmlformats.org/officeDocument/2006/relationships/image" Target="../media/image10.emf"/><Relationship Id="rId2" Type="http://schemas.openxmlformats.org/officeDocument/2006/relationships/notesSlide" Target="../notesSlides/notesSlide20.xml"/><Relationship Id="rId1" Type="http://schemas.openxmlformats.org/officeDocument/2006/relationships/slideLayout" Target="../slideLayouts/slideLayout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8.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8.xml"/></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4.xml"/><Relationship Id="rId1" Type="http://schemas.openxmlformats.org/officeDocument/2006/relationships/slideLayout" Target="../slideLayouts/slideLayout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8.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8.xml"/></Relationships>
</file>

<file path=ppt/slides/_rels/slide29.xml.rels><?xml version="1.0" encoding="UTF-8" standalone="yes"?>
<Relationships xmlns="http://schemas.openxmlformats.org/package/2006/relationships"><Relationship Id="rId3" Type="http://schemas.openxmlformats.org/officeDocument/2006/relationships/hyperlink" Target="#1&#36328;&#35821;&#35328;&#36716;&#25442;&#19982;&#29983;&#25104;-cross-language-translation--generation"/><Relationship Id="rId7" Type="http://schemas.openxmlformats.org/officeDocument/2006/relationships/hyperlink" Target="#5&#23545;&#35805;&#31995;&#32479;&#19982;&#23545;&#35805;&#24335;ai-dialogue-systems--conversational-ai"/><Relationship Id="rId2" Type="http://schemas.openxmlformats.org/officeDocument/2006/relationships/notesSlide" Target="../notesSlides/notesSlide29.xml"/><Relationship Id="rId1" Type="http://schemas.openxmlformats.org/officeDocument/2006/relationships/slideLayout" Target="../slideLayouts/slideLayout8.xml"/><Relationship Id="rId6" Type="http://schemas.openxmlformats.org/officeDocument/2006/relationships/hyperlink" Target="#4&#26234;&#33021;&#38382;&#31572;&#19982;&#20449;&#24687;&#26816;&#32034;-intelligent-question-answering--information-retrieval"/><Relationship Id="rId5" Type="http://schemas.openxmlformats.org/officeDocument/2006/relationships/hyperlink" Target="#3&#20449;&#24687;&#25552;&#21462;&#19982;&#30693;&#35782;&#25277;&#21462;-information-extraction--knowledge-discovery"/><Relationship Id="rId4" Type="http://schemas.openxmlformats.org/officeDocument/2006/relationships/hyperlink" Target="#2&#20869;&#23481;&#29702;&#35299;&#19982;&#20998;&#31867;-content-understanding--classification"/></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4.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8.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8.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8.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8.xml"/></Relationships>
</file>

<file path=ppt/slides/_rels/slide3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5.xml"/><Relationship Id="rId1" Type="http://schemas.openxmlformats.org/officeDocument/2006/relationships/slideLayout" Target="../slideLayouts/slideLayout8.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8.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8.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8.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8.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8.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8.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8.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8.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8.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8.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8.xml"/></Relationships>
</file>

<file path=ppt/slides/_rels/slide4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8.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9.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8.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8.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8.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8.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8.xml"/></Relationships>
</file>

<file path=ppt/slides/_rels/slide5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5.xml"/><Relationship Id="rId1" Type="http://schemas.openxmlformats.org/officeDocument/2006/relationships/slideLayout" Target="../slideLayouts/slideLayout8.xml"/></Relationships>
</file>

<file path=ppt/slides/_rels/slide5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6.xml"/><Relationship Id="rId1" Type="http://schemas.openxmlformats.org/officeDocument/2006/relationships/slideLayout" Target="../slideLayouts/slideLayout8.xml"/><Relationship Id="rId4" Type="http://schemas.openxmlformats.org/officeDocument/2006/relationships/image" Target="../media/image17.png"/></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8.xml"/></Relationships>
</file>

<file path=ppt/slides/_rels/slide5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58.xml"/><Relationship Id="rId1" Type="http://schemas.openxmlformats.org/officeDocument/2006/relationships/slideLayout" Target="../slideLayouts/slideLayout8.xml"/></Relationships>
</file>

<file path=ppt/slides/_rels/slide59.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9.xml"/><Relationship Id="rId1" Type="http://schemas.openxmlformats.org/officeDocument/2006/relationships/slideLayout" Target="../slideLayouts/slideLayout8.xml"/></Relationships>
</file>

<file path=ppt/slides/_rels/slide6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60.xml"/><Relationship Id="rId1" Type="http://schemas.openxmlformats.org/officeDocument/2006/relationships/slideLayout" Target="../slideLayouts/slideLayout8.xml"/></Relationships>
</file>

<file path=ppt/slides/_rels/slide6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1.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62.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63.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64.xml"/><Relationship Id="rId1" Type="http://schemas.openxmlformats.org/officeDocument/2006/relationships/slideLayout" Target="../slideLayouts/slideLayout8.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65.xml"/><Relationship Id="rId1" Type="http://schemas.openxmlformats.org/officeDocument/2006/relationships/slideLayout" Target="../slideLayouts/slideLayout8.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66.xml"/><Relationship Id="rId1" Type="http://schemas.openxmlformats.org/officeDocument/2006/relationships/slideLayout" Target="../slideLayouts/slideLayout8.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67.xml"/><Relationship Id="rId1" Type="http://schemas.openxmlformats.org/officeDocument/2006/relationships/slideLayout" Target="../slideLayouts/slideLayout8.xml"/></Relationships>
</file>

<file path=ppt/slides/_rels/slide68.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68.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9.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70.xml"/><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71.xml"/><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72.xml"/><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2" Type="http://schemas.openxmlformats.org/officeDocument/2006/relationships/notesSlide" Target="../notesSlides/notesSlide73.xml"/><Relationship Id="rId1" Type="http://schemas.openxmlformats.org/officeDocument/2006/relationships/slideLayout" Target="../slideLayouts/slideLayout4.xml"/></Relationships>
</file>

<file path=ppt/slides/_rels/slide78.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74.xml"/><Relationship Id="rId1" Type="http://schemas.openxmlformats.org/officeDocument/2006/relationships/slideLayout" Target="../slideLayouts/slideLayout7.xml"/><Relationship Id="rId4" Type="http://schemas.openxmlformats.org/officeDocument/2006/relationships/image" Target="../media/image33.png"/></Relationships>
</file>

<file path=ppt/slides/_rels/slide79.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7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6.xml"/><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77.xml"/><Relationship Id="rId1" Type="http://schemas.openxmlformats.org/officeDocument/2006/relationships/slideLayout" Target="../slideLayouts/slideLayout7.xml"/><Relationship Id="rId5" Type="http://schemas.openxmlformats.org/officeDocument/2006/relationships/image" Target="../media/image38.png"/><Relationship Id="rId4" Type="http://schemas.openxmlformats.org/officeDocument/2006/relationships/image" Target="../media/image37.png"/></Relationships>
</file>

<file path=ppt/slides/_rels/slide82.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78.xml"/><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hyperlink" Target="#3nltk-&#24212;&#29992;&#31034;&#20363;"/><Relationship Id="rId1" Type="http://schemas.openxmlformats.org/officeDocument/2006/relationships/slideLayout" Target="../slideLayouts/slideLayout7.xml"/><Relationship Id="rId4" Type="http://schemas.openxmlformats.org/officeDocument/2006/relationships/image" Target="../media/image42.png"/></Relationships>
</file>

<file path=ppt/slides/_rels/slide85.xml.rels><?xml version="1.0" encoding="UTF-8" standalone="yes"?>
<Relationships xmlns="http://schemas.openxmlformats.org/package/2006/relationships"><Relationship Id="rId2" Type="http://schemas.openxmlformats.org/officeDocument/2006/relationships/notesSlide" Target="../notesSlides/notesSlide79.xml"/><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80.xml"/><Relationship Id="rId1" Type="http://schemas.openxmlformats.org/officeDocument/2006/relationships/slideLayout" Target="../slideLayouts/slideLayout7.xml"/><Relationship Id="rId4" Type="http://schemas.openxmlformats.org/officeDocument/2006/relationships/image" Target="../media/image44.png"/></Relationships>
</file>

<file path=ppt/slides/_rels/slide8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hyperlink" Target="#3&#36733;&#20837;&#33258;&#23450;&#20041;&#35789;&#20856;"/><Relationship Id="rId1" Type="http://schemas.openxmlformats.org/officeDocument/2006/relationships/slideLayout" Target="../slideLayouts/slideLayout7.xml"/><Relationship Id="rId5" Type="http://schemas.openxmlformats.org/officeDocument/2006/relationships/image" Target="../media/image47.png"/><Relationship Id="rId4" Type="http://schemas.openxmlformats.org/officeDocument/2006/relationships/image" Target="../media/image46.png"/></Relationships>
</file>

<file path=ppt/slides/_rels/slide88.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hyperlink" Target="#5&#35789;&#24615;&#26631;&#27880;"/><Relationship Id="rId1" Type="http://schemas.openxmlformats.org/officeDocument/2006/relationships/slideLayout" Target="../slideLayouts/slideLayout7.xml"/><Relationship Id="rId4" Type="http://schemas.openxmlformats.org/officeDocument/2006/relationships/image" Target="../media/image49.png"/></Relationships>
</file>

<file path=ppt/slides/_rels/slide89.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81.xml"/><Relationship Id="rId1" Type="http://schemas.openxmlformats.org/officeDocument/2006/relationships/slideLayout" Target="../slideLayouts/slideLayout7.xml"/><Relationship Id="rId4" Type="http://schemas.openxmlformats.org/officeDocument/2006/relationships/image" Target="../media/image51.png"/></Relationships>
</file>

<file path=ppt/slides/_rels/slide90.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82.xml"/><Relationship Id="rId1" Type="http://schemas.openxmlformats.org/officeDocument/2006/relationships/slideLayout" Target="../slideLayouts/slideLayout7.xml"/><Relationship Id="rId4" Type="http://schemas.openxmlformats.org/officeDocument/2006/relationships/image" Target="../media/image53.png"/></Relationships>
</file>

<file path=ppt/slides/_rels/slide91.xml.rels><?xml version="1.0" encoding="UTF-8" standalone="yes"?>
<Relationships xmlns="http://schemas.openxmlformats.org/package/2006/relationships"><Relationship Id="rId3" Type="http://schemas.openxmlformats.org/officeDocument/2006/relationships/hyperlink" Target="https://pypi.org/project/pyltp/" TargetMode="External"/><Relationship Id="rId2" Type="http://schemas.openxmlformats.org/officeDocument/2006/relationships/notesSlide" Target="../notesSlides/notesSlide83.xml"/><Relationship Id="rId1" Type="http://schemas.openxmlformats.org/officeDocument/2006/relationships/slideLayout" Target="../slideLayouts/slideLayout7.xml"/><Relationship Id="rId4" Type="http://schemas.openxmlformats.org/officeDocument/2006/relationships/image" Target="../media/image54.png"/></Relationships>
</file>

<file path=ppt/slides/_rels/slide92.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8.xml"/></Relationships>
</file>

<file path=ppt/slides/_rels/slide94.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image" Target="../media/image58.png"/><Relationship Id="rId1" Type="http://schemas.openxmlformats.org/officeDocument/2006/relationships/slideLayout" Target="../slideLayouts/slideLayout7.xml"/><Relationship Id="rId4" Type="http://schemas.openxmlformats.org/officeDocument/2006/relationships/image" Target="../media/image60.png"/></Relationships>
</file>

<file path=ppt/slides/_rels/slide95.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image" Target="../media/image63.png"/><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84.xml"/><Relationship Id="rId1" Type="http://schemas.openxmlformats.org/officeDocument/2006/relationships/slideLayout" Target="../slideLayouts/slideLayout4.xml"/></Relationships>
</file>

<file path=ppt/slides/_rels/slide98.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image" Target="../media/image64.png"/><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7.xml"/><Relationship Id="rId4" Type="http://schemas.openxmlformats.org/officeDocument/2006/relationships/image" Target="../media/image69.png"/></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85.xml"/><Relationship Id="rId1" Type="http://schemas.openxmlformats.org/officeDocument/2006/relationships/slideLayout" Target="../slideLayouts/slideLayout4.xml"/></Relationships>
</file>

<file path=ppt/slides/_rels/slide102.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2" Type="http://schemas.openxmlformats.org/officeDocument/2006/relationships/image" Target="../media/image72.png"/><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2" Type="http://schemas.openxmlformats.org/officeDocument/2006/relationships/notesSlide" Target="../notesSlides/notesSlide86.xml"/><Relationship Id="rId1" Type="http://schemas.openxmlformats.org/officeDocument/2006/relationships/slideLayout" Target="../slideLayouts/slideLayout4.xml"/></Relationships>
</file>

<file path=ppt/slides/_rels/slide106.xml.rels><?xml version="1.0" encoding="UTF-8" standalone="yes"?>
<Relationships xmlns="http://schemas.openxmlformats.org/package/2006/relationships"><Relationship Id="rId2" Type="http://schemas.openxmlformats.org/officeDocument/2006/relationships/image" Target="../media/image73.png"/><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image" Target="../media/image74.png"/><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hyperlink" Target="#1353-&#35789;&#20113;&#29983;&#25104;"/><Relationship Id="rId1" Type="http://schemas.openxmlformats.org/officeDocument/2006/relationships/slideLayout" Target="../slideLayouts/slideLayout7.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110.xml.rels><?xml version="1.0" encoding="UTF-8" standalone="yes"?>
<Relationships xmlns="http://schemas.openxmlformats.org/package/2006/relationships"><Relationship Id="rId2" Type="http://schemas.openxmlformats.org/officeDocument/2006/relationships/notesSlide" Target="../notesSlides/notesSlide8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910937" y="2305112"/>
            <a:ext cx="5734050" cy="2219691"/>
          </a:xfrm>
        </p:spPr>
        <p:txBody>
          <a:bodyPr anchor="ctr"/>
          <a:lstStyle/>
          <a:p>
            <a:r>
              <a:rPr lang="zh-CN" altLang="en-US" dirty="0">
                <a:latin typeface="Microsoft YaHei" panose="020B0503020204020204" pitchFamily="34" charset="-122"/>
                <a:ea typeface="Microsoft YaHei" panose="020B0503020204020204" pitchFamily="34" charset="-122"/>
              </a:rPr>
              <a:t>第</a:t>
            </a:r>
            <a:r>
              <a:rPr lang="en-US" altLang="zh-CN" dirty="0">
                <a:latin typeface="Microsoft YaHei" panose="020B0503020204020204" pitchFamily="34" charset="-122"/>
                <a:ea typeface="Microsoft YaHei" panose="020B0503020204020204" pitchFamily="34" charset="-122"/>
              </a:rPr>
              <a:t>13</a:t>
            </a:r>
            <a:r>
              <a:rPr lang="zh-CN" altLang="en-US" dirty="0">
                <a:latin typeface="Microsoft YaHei" panose="020B0503020204020204" pitchFamily="34" charset="-122"/>
                <a:ea typeface="Microsoft YaHei" panose="020B0503020204020204" pitchFamily="34" charset="-122"/>
              </a:rPr>
              <a:t>章</a:t>
            </a:r>
            <a:br>
              <a:rPr lang="en-US" altLang="zh-CN" dirty="0">
                <a:latin typeface="Microsoft YaHei" panose="020B0503020204020204" pitchFamily="34" charset="-122"/>
                <a:ea typeface="Microsoft YaHei" panose="020B0503020204020204" pitchFamily="34" charset="-122"/>
              </a:rPr>
            </a:br>
            <a:br>
              <a:rPr lang="en-US" altLang="zh-CN" dirty="0">
                <a:latin typeface="Microsoft YaHei" panose="020B0503020204020204" pitchFamily="34" charset="-122"/>
                <a:ea typeface="Microsoft YaHei" panose="020B0503020204020204" pitchFamily="34" charset="-122"/>
              </a:rPr>
            </a:br>
            <a:r>
              <a:rPr lang="zh-CN" altLang="en-US" dirty="0">
                <a:latin typeface="Microsoft YaHei" panose="020B0503020204020204" pitchFamily="34" charset="-122"/>
                <a:ea typeface="Microsoft YaHei" panose="020B0503020204020204" pitchFamily="34" charset="-122"/>
              </a:rPr>
              <a:t>文本分析项目实践</a:t>
            </a:r>
            <a:endParaRPr lang="en-US" dirty="0">
              <a:latin typeface="Microsoft YaHei" panose="020B0503020204020204" pitchFamily="34" charset="-122"/>
              <a:ea typeface="Microsoft YaHei" panose="020B0503020204020204" pitchFamily="34" charset="-122"/>
            </a:endParaRPr>
          </a:p>
        </p:txBody>
      </p:sp>
      <p:pic>
        <p:nvPicPr>
          <p:cNvPr id="4" name="Picture Placeholder 3" title="Open book on table, blurred books in background"/>
          <p:cNvPicPr>
            <a:picLocks noGrp="1" noChangeAspect="1"/>
          </p:cNvPicPr>
          <p:nvPr>
            <p:ph type="pic" sz="quarter" idx="13"/>
          </p:nvPr>
        </p:nvPicPr>
        <p:blipFill>
          <a:blip r:embed="rId3" cstate="print">
            <a:extLst>
              <a:ext uri="{28A0092B-C50C-407E-A947-70E740481C1C}">
                <a14:useLocalDpi xmlns:a14="http://schemas.microsoft.com/office/drawing/2010/main" val="0"/>
              </a:ext>
            </a:extLst>
          </a:blip>
          <a:srcRect/>
          <a:stretch>
            <a:fillRect/>
          </a:stretch>
        </p:blipFill>
        <p:spPr/>
      </p:pic>
      <p:sp>
        <p:nvSpPr>
          <p:cNvPr id="2" name="副标题 1">
            <a:extLst>
              <a:ext uri="{FF2B5EF4-FFF2-40B4-BE49-F238E27FC236}">
                <a16:creationId xmlns:a16="http://schemas.microsoft.com/office/drawing/2014/main" id="{B7E777C8-2320-4094-18CA-FCE6C8FD9910}"/>
              </a:ext>
            </a:extLst>
          </p:cNvPr>
          <p:cNvSpPr>
            <a:spLocks noGrp="1"/>
          </p:cNvSpPr>
          <p:nvPr>
            <p:ph type="subTitle" idx="1"/>
          </p:nvPr>
        </p:nvSpPr>
        <p:spPr>
          <a:xfrm>
            <a:off x="1104900" y="4511784"/>
            <a:ext cx="5734050" cy="955565"/>
          </a:xfrm>
        </p:spPr>
        <p:txBody>
          <a:bodyPr>
            <a:normAutofit/>
          </a:bodyPr>
          <a:lstStyle/>
          <a:p>
            <a:pPr algn="r">
              <a:lnSpc>
                <a:spcPct val="150000"/>
              </a:lnSpc>
            </a:pPr>
            <a:r>
              <a:rPr lang="en-US" altLang="zh-CN" sz="2000" dirty="0"/>
              <a:t>Python</a:t>
            </a:r>
            <a:r>
              <a:rPr lang="zh-TW" altLang="en-US" sz="2000" dirty="0"/>
              <a:t>课程组</a:t>
            </a:r>
            <a:endParaRPr lang="en-US" altLang="zh-TW" sz="2000" dirty="0"/>
          </a:p>
          <a:p>
            <a:pPr algn="r">
              <a:lnSpc>
                <a:spcPct val="150000"/>
              </a:lnSpc>
            </a:pPr>
            <a:r>
              <a:rPr lang="zh-TW" altLang="en-US" sz="2000" dirty="0"/>
              <a:t>武汉大学信息管理学院</a:t>
            </a:r>
            <a:endParaRPr lang="zh-CN" altLang="en-US" sz="2000" dirty="0"/>
          </a:p>
        </p:txBody>
      </p:sp>
    </p:spTree>
    <p:extLst>
      <p:ext uri="{BB962C8B-B14F-4D97-AF65-F5344CB8AC3E}">
        <p14:creationId xmlns:p14="http://schemas.microsoft.com/office/powerpoint/2010/main" val="3895537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itle 12"/>
          <p:cNvSpPr>
            <a:spLocks noGrp="1"/>
          </p:cNvSpPr>
          <p:nvPr>
            <p:ph type="title"/>
          </p:nvPr>
        </p:nvSpPr>
        <p:spPr/>
        <p:txBody>
          <a:bodyPr>
            <a:normAutofit/>
          </a:bodyPr>
          <a:lstStyle/>
          <a:p>
            <a:r>
              <a:rPr lang="zh-CN" altLang="en-US" sz="3600" dirty="0"/>
              <a:t>教学内容</a:t>
            </a:r>
            <a:endParaRPr lang="en-US" sz="3600" dirty="0"/>
          </a:p>
        </p:txBody>
      </p:sp>
      <p:sp>
        <p:nvSpPr>
          <p:cNvPr id="14" name="Content Placeholder 13"/>
          <p:cNvSpPr>
            <a:spLocks noGrp="1"/>
          </p:cNvSpPr>
          <p:nvPr>
            <p:ph idx="1"/>
          </p:nvPr>
        </p:nvSpPr>
        <p:spPr/>
        <p:txBody>
          <a:bodyPr/>
          <a:lstStyle/>
          <a:p>
            <a:pPr>
              <a:lnSpc>
                <a:spcPct val="150000"/>
              </a:lnSpc>
            </a:pPr>
            <a:r>
              <a:rPr lang="en-US" sz="3200" dirty="0"/>
              <a:t>1</a:t>
            </a:r>
            <a:r>
              <a:rPr lang="en-US" altLang="zh-CN" sz="3200" dirty="0"/>
              <a:t>1</a:t>
            </a:r>
            <a:r>
              <a:rPr lang="en-US" sz="3200" dirty="0"/>
              <a:t>.1 </a:t>
            </a:r>
            <a:r>
              <a:rPr lang="zh-CN" altLang="en-US" sz="3200" dirty="0"/>
              <a:t>自然语言处理概述</a:t>
            </a:r>
            <a:endParaRPr lang="en-US" altLang="zh-CN" sz="3200" dirty="0"/>
          </a:p>
          <a:p>
            <a:pPr>
              <a:lnSpc>
                <a:spcPct val="150000"/>
              </a:lnSpc>
            </a:pPr>
            <a:r>
              <a:rPr lang="en-US" sz="3200" dirty="0"/>
              <a:t>1</a:t>
            </a:r>
            <a:r>
              <a:rPr lang="en-US" altLang="zh-CN" sz="3200" dirty="0"/>
              <a:t>1</a:t>
            </a:r>
            <a:r>
              <a:rPr lang="en-US" sz="3200" dirty="0"/>
              <a:t>.</a:t>
            </a:r>
            <a:r>
              <a:rPr lang="en-US" altLang="zh-CN" sz="3200" dirty="0"/>
              <a:t>2</a:t>
            </a:r>
            <a:r>
              <a:rPr lang="en-US" sz="3200" dirty="0"/>
              <a:t> </a:t>
            </a:r>
            <a:r>
              <a:rPr lang="zh-CN" altLang="en-US" sz="3200" dirty="0"/>
              <a:t>自然语言处理方法</a:t>
            </a:r>
            <a:endParaRPr lang="en-US" altLang="zh-CN" sz="3200" dirty="0"/>
          </a:p>
          <a:p>
            <a:pPr>
              <a:lnSpc>
                <a:spcPct val="150000"/>
              </a:lnSpc>
            </a:pPr>
            <a:r>
              <a:rPr lang="en-US" sz="3200" dirty="0"/>
              <a:t>1</a:t>
            </a:r>
            <a:r>
              <a:rPr lang="en-US" altLang="zh-CN" sz="3200" dirty="0"/>
              <a:t>1</a:t>
            </a:r>
            <a:r>
              <a:rPr lang="en-US" sz="3200" dirty="0"/>
              <a:t>.</a:t>
            </a:r>
            <a:r>
              <a:rPr lang="en-US" altLang="zh-CN" sz="3200" dirty="0"/>
              <a:t>3</a:t>
            </a:r>
            <a:r>
              <a:rPr lang="en-US" sz="3200" dirty="0"/>
              <a:t> </a:t>
            </a:r>
            <a:r>
              <a:rPr lang="zh-CN" altLang="en-US" sz="3200" dirty="0"/>
              <a:t>自然语言处理常用工具库</a:t>
            </a:r>
            <a:endParaRPr lang="en-US" altLang="zh-CN" sz="3200" dirty="0"/>
          </a:p>
          <a:p>
            <a:pPr>
              <a:lnSpc>
                <a:spcPct val="150000"/>
              </a:lnSpc>
            </a:pPr>
            <a:endParaRPr lang="en-US" dirty="0"/>
          </a:p>
        </p:txBody>
      </p:sp>
    </p:spTree>
    <p:extLst>
      <p:ext uri="{BB962C8B-B14F-4D97-AF65-F5344CB8AC3E}">
        <p14:creationId xmlns:p14="http://schemas.microsoft.com/office/powerpoint/2010/main" val="7341737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dirty="0"/>
              <a:t>1</a:t>
            </a:r>
            <a:r>
              <a:rPr lang="en-US" altLang="zh-CN" dirty="0"/>
              <a:t>1</a:t>
            </a:r>
            <a:r>
              <a:rPr lang="en-US" dirty="0"/>
              <a:t>.1</a:t>
            </a:r>
            <a:r>
              <a:rPr lang="zh-CN" altLang="en-US" dirty="0"/>
              <a:t> </a:t>
            </a:r>
            <a:r>
              <a:rPr lang="zh-CN" altLang="en-US" sz="4400" dirty="0"/>
              <a:t>自然语言处理概述</a:t>
            </a:r>
            <a:endParaRPr lang="en-US" dirty="0"/>
          </a:p>
        </p:txBody>
      </p:sp>
    </p:spTree>
    <p:extLst>
      <p:ext uri="{BB962C8B-B14F-4D97-AF65-F5344CB8AC3E}">
        <p14:creationId xmlns:p14="http://schemas.microsoft.com/office/powerpoint/2010/main" val="1207336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9616253"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什么是自然语言处理？</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443125"/>
            <a:ext cx="11195049" cy="1581330"/>
          </a:xfrm>
          <a:prstGeom prst="rect">
            <a:avLst/>
          </a:prstGeom>
          <a:noFill/>
        </p:spPr>
        <p:txBody>
          <a:bodyPr wrap="square">
            <a:spAutoFit/>
          </a:bodyPr>
          <a:lstStyle/>
          <a:p>
            <a:pPr algn="just">
              <a:lnSpc>
                <a:spcPct val="125000"/>
              </a:lnSpc>
            </a:pPr>
            <a:r>
              <a:rPr lang="zh-CN" altLang="en-US" sz="2800" b="1" dirty="0">
                <a:effectLst/>
                <a:latin typeface="Microsoft YaHei" panose="020B0503020204020204" pitchFamily="34" charset="-122"/>
                <a:ea typeface="Microsoft YaHei" panose="020B0503020204020204" pitchFamily="34" charset="-122"/>
              </a:rPr>
              <a:t>自然语言处理</a:t>
            </a:r>
            <a:r>
              <a:rPr lang="zh-CN" altLang="en-US" sz="2400" dirty="0">
                <a:effectLst/>
                <a:latin typeface="Microsoft YaHei" panose="020B0503020204020204" pitchFamily="34" charset="-122"/>
                <a:ea typeface="Microsoft YaHei" panose="020B0503020204020204" pitchFamily="34" charset="-122"/>
              </a:rPr>
              <a:t>（</a:t>
            </a:r>
            <a:r>
              <a:rPr lang="en-US" sz="2400" dirty="0">
                <a:effectLst/>
                <a:latin typeface="Microsoft YaHei" panose="020B0503020204020204" pitchFamily="34" charset="-122"/>
                <a:ea typeface="Microsoft YaHei" panose="020B0503020204020204" pitchFamily="34" charset="-122"/>
              </a:rPr>
              <a:t>Natural Language </a:t>
            </a:r>
            <a:r>
              <a:rPr lang="en-US" sz="2400" dirty="0" err="1">
                <a:effectLst/>
                <a:latin typeface="Microsoft YaHei" panose="020B0503020204020204" pitchFamily="34" charset="-122"/>
                <a:ea typeface="Microsoft YaHei" panose="020B0503020204020204" pitchFamily="34" charset="-122"/>
              </a:rPr>
              <a:t>Processing，NLP</a:t>
            </a:r>
            <a:r>
              <a:rPr lang="en-US" sz="2400" dirty="0">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旨在探索实现人与计算机之间用</a:t>
            </a:r>
            <a:r>
              <a:rPr lang="zh-CN" altLang="en-US" sz="2400" b="1" dirty="0">
                <a:effectLst/>
                <a:latin typeface="Microsoft YaHei" panose="020B0503020204020204" pitchFamily="34" charset="-122"/>
                <a:ea typeface="Microsoft YaHei" panose="020B0503020204020204" pitchFamily="34" charset="-122"/>
              </a:rPr>
              <a:t>自然语言进行有效交流</a:t>
            </a:r>
            <a:r>
              <a:rPr lang="zh-CN" altLang="en-US" sz="2400" dirty="0">
                <a:effectLst/>
                <a:latin typeface="Microsoft YaHei" panose="020B0503020204020204" pitchFamily="34" charset="-122"/>
                <a:ea typeface="Microsoft YaHei" panose="020B0503020204020204" pitchFamily="34" charset="-122"/>
              </a:rPr>
              <a:t>的理论与方法。</a:t>
            </a:r>
            <a:endParaRPr lang="en-US" altLang="zh-CN" sz="2400" dirty="0">
              <a:effectLst/>
              <a:latin typeface="Microsoft YaHei" panose="020B0503020204020204" pitchFamily="34" charset="-122"/>
              <a:ea typeface="Microsoft YaHei" panose="020B0503020204020204" pitchFamily="34" charset="-122"/>
            </a:endParaRPr>
          </a:p>
          <a:p>
            <a:pPr algn="r">
              <a:lnSpc>
                <a:spcPct val="150000"/>
              </a:lnSpc>
            </a:pPr>
            <a:r>
              <a:rPr lang="en-US" altLang="zh-CN" sz="2400" dirty="0">
                <a:latin typeface="Microsoft YaHei" panose="020B0503020204020204" pitchFamily="34" charset="-122"/>
                <a:ea typeface="Microsoft YaHei" panose="020B0503020204020204" pitchFamily="34" charset="-122"/>
              </a:rPr>
              <a:t>---</a:t>
            </a:r>
            <a:r>
              <a:rPr lang="zh-CN" altLang="en-US" sz="2000" dirty="0">
                <a:effectLst/>
                <a:latin typeface="Microsoft YaHei" panose="020B0503020204020204" pitchFamily="34" charset="-122"/>
                <a:ea typeface="Microsoft YaHei" panose="020B0503020204020204" pitchFamily="34" charset="-122"/>
              </a:rPr>
              <a:t>吴立德</a:t>
            </a:r>
            <a:r>
              <a:rPr lang="en-US" altLang="zh-CN" sz="2000" dirty="0">
                <a:effectLst/>
                <a:latin typeface="Microsoft YaHei" panose="020B0503020204020204" pitchFamily="34" charset="-122"/>
                <a:ea typeface="Microsoft YaHei" panose="020B0503020204020204" pitchFamily="34" charset="-122"/>
              </a:rPr>
              <a:t>《</a:t>
            </a:r>
            <a:r>
              <a:rPr lang="zh-CN" altLang="en-US" sz="2000" dirty="0">
                <a:effectLst/>
                <a:latin typeface="Microsoft YaHei" panose="020B0503020204020204" pitchFamily="34" charset="-122"/>
                <a:ea typeface="Microsoft YaHei" panose="020B0503020204020204" pitchFamily="34" charset="-122"/>
              </a:rPr>
              <a:t>大规模文本处理</a:t>
            </a:r>
            <a:r>
              <a:rPr lang="en-US" altLang="zh-CN" sz="2000" dirty="0">
                <a:effectLst/>
                <a:latin typeface="Microsoft YaHei" panose="020B0503020204020204" pitchFamily="34" charset="-122"/>
                <a:ea typeface="Microsoft YaHei" panose="020B0503020204020204" pitchFamily="34" charset="-122"/>
              </a:rPr>
              <a:t>》</a:t>
            </a:r>
            <a:endParaRPr lang="zh-CN" altLang="en-US" sz="2000" dirty="0">
              <a:effectLst/>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EDB747CA-FB47-AB40-D696-EE1AFE11828C}"/>
              </a:ext>
            </a:extLst>
          </p:cNvPr>
          <p:cNvSpPr txBox="1"/>
          <p:nvPr/>
        </p:nvSpPr>
        <p:spPr>
          <a:xfrm>
            <a:off x="817563" y="3429000"/>
            <a:ext cx="11086602" cy="2243050"/>
          </a:xfrm>
          <a:prstGeom prst="rect">
            <a:avLst/>
          </a:prstGeom>
          <a:noFill/>
        </p:spPr>
        <p:txBody>
          <a:bodyPr wrap="square">
            <a:spAutoFit/>
          </a:bodyPr>
          <a:lstStyle/>
          <a:p>
            <a:pPr algn="just">
              <a:lnSpc>
                <a:spcPct val="150000"/>
              </a:lnSpc>
            </a:pPr>
            <a:r>
              <a:rPr lang="zh-CN" altLang="en-US" sz="2400" b="1" dirty="0">
                <a:solidFill>
                  <a:srgbClr val="0432FF"/>
                </a:solidFill>
                <a:latin typeface="Microsoft YaHei" panose="020B0503020204020204" pitchFamily="34" charset="-122"/>
                <a:ea typeface="Microsoft YaHei" panose="020B0503020204020204" pitchFamily="34" charset="-122"/>
              </a:rPr>
              <a:t>能够理解自然语言的意义  </a:t>
            </a:r>
            <a:endParaRPr lang="en-US" altLang="zh-CN" sz="2400" b="1" dirty="0">
              <a:solidFill>
                <a:srgbClr val="0432FF"/>
              </a:solidFill>
              <a:latin typeface="Microsoft YaHei" panose="020B0503020204020204" pitchFamily="34" charset="-122"/>
              <a:ea typeface="Microsoft YaHei" panose="020B0503020204020204" pitchFamily="34" charset="-122"/>
            </a:endParaRPr>
          </a:p>
          <a:p>
            <a:pPr algn="just">
              <a:lnSpc>
                <a:spcPct val="150000"/>
              </a:lnSpc>
            </a:pP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 自然语言理解（</a:t>
            </a:r>
            <a:r>
              <a:rPr lang="en-US" altLang="zh-CN" sz="2400" dirty="0">
                <a:latin typeface="Microsoft YaHei" panose="020B0503020204020204" pitchFamily="34" charset="-122"/>
                <a:ea typeface="Microsoft YaHei" panose="020B0503020204020204" pitchFamily="34" charset="-122"/>
              </a:rPr>
              <a:t>Natural Language</a:t>
            </a:r>
            <a:r>
              <a:rPr lang="zh-CN" altLang="en-US" sz="2400" dirty="0">
                <a:latin typeface="Microsoft YaHei" panose="020B0503020204020204" pitchFamily="34" charset="-122"/>
                <a:ea typeface="Microsoft YaHei" panose="020B0503020204020204" pitchFamily="34" charset="-122"/>
              </a:rPr>
              <a:t>  </a:t>
            </a:r>
            <a:r>
              <a:rPr lang="en-US" altLang="zh-CN" sz="2400" dirty="0">
                <a:latin typeface="Microsoft YaHei" panose="020B0503020204020204" pitchFamily="34" charset="-122"/>
                <a:ea typeface="Microsoft YaHei" panose="020B0503020204020204" pitchFamily="34" charset="-122"/>
              </a:rPr>
              <a:t>Understanding</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NLU</a:t>
            </a:r>
            <a:r>
              <a:rPr lang="zh-CN" altLang="en-US" sz="24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algn="just">
              <a:lnSpc>
                <a:spcPct val="150000"/>
              </a:lnSpc>
            </a:pPr>
            <a:r>
              <a:rPr lang="zh-CN" altLang="en-US" sz="2400" b="1" dirty="0">
                <a:solidFill>
                  <a:srgbClr val="0432FF"/>
                </a:solidFill>
                <a:latin typeface="Microsoft YaHei" panose="020B0503020204020204" pitchFamily="34" charset="-122"/>
                <a:ea typeface="Microsoft YaHei" panose="020B0503020204020204" pitchFamily="34" charset="-122"/>
              </a:rPr>
              <a:t>以自然语言文本来表达给定的意图、思想等  </a:t>
            </a:r>
            <a:endParaRPr lang="en-US" altLang="zh-CN" sz="2400" b="1" dirty="0">
              <a:solidFill>
                <a:srgbClr val="0432FF"/>
              </a:solidFill>
              <a:latin typeface="Microsoft YaHei" panose="020B0503020204020204" pitchFamily="34" charset="-122"/>
              <a:ea typeface="Microsoft YaHei" panose="020B0503020204020204" pitchFamily="34" charset="-122"/>
            </a:endParaRPr>
          </a:p>
          <a:p>
            <a:pPr algn="just">
              <a:lnSpc>
                <a:spcPct val="150000"/>
              </a:lnSpc>
            </a:pP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 自然语言生成（</a:t>
            </a:r>
            <a:r>
              <a:rPr lang="en-US" altLang="zh-CN" sz="2400" dirty="0">
                <a:latin typeface="Microsoft YaHei" panose="020B0503020204020204" pitchFamily="34" charset="-122"/>
                <a:ea typeface="Microsoft YaHei" panose="020B0503020204020204" pitchFamily="34" charset="-122"/>
              </a:rPr>
              <a:t>Natural Language Generation</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NLG</a:t>
            </a:r>
            <a:r>
              <a:rPr lang="zh-CN" altLang="en-US" sz="2400" dirty="0">
                <a:latin typeface="Microsoft YaHei" panose="020B0503020204020204" pitchFamily="34" charset="-122"/>
                <a:ea typeface="Microsoft YaHei" panose="020B0503020204020204" pitchFamily="34" charset="-122"/>
              </a:rPr>
              <a:t>）</a:t>
            </a:r>
          </a:p>
        </p:txBody>
      </p:sp>
    </p:spTree>
    <p:extLst>
      <p:ext uri="{BB962C8B-B14F-4D97-AF65-F5344CB8AC3E}">
        <p14:creationId xmlns:p14="http://schemas.microsoft.com/office/powerpoint/2010/main" val="42816686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237774"/>
            <a:ext cx="11195049" cy="2335383"/>
          </a:xfrm>
          <a:prstGeom prst="rect">
            <a:avLst/>
          </a:prstGeom>
          <a:noFill/>
        </p:spPr>
        <p:txBody>
          <a:bodyPr wrap="square">
            <a:spAutoFit/>
          </a:bodyPr>
          <a:lstStyle/>
          <a:p>
            <a:pPr algn="just">
              <a:lnSpc>
                <a:spcPct val="150000"/>
              </a:lnSpc>
            </a:pPr>
            <a:r>
              <a:rPr lang="zh-CN" altLang="en-US" sz="2800" b="1" dirty="0">
                <a:effectLst/>
                <a:latin typeface="Microsoft YaHei" panose="020B0503020204020204" pitchFamily="34" charset="-122"/>
                <a:ea typeface="Microsoft YaHei" panose="020B0503020204020204" pitchFamily="34" charset="-122"/>
              </a:rPr>
              <a:t>语言</a:t>
            </a:r>
            <a:r>
              <a:rPr lang="zh-CN" altLang="en-US" sz="2800" dirty="0">
                <a:effectLst/>
                <a:latin typeface="Microsoft YaHei" panose="020B0503020204020204" pitchFamily="34" charset="-122"/>
                <a:ea typeface="Microsoft YaHei" panose="020B0503020204020204" pitchFamily="34" charset="-122"/>
              </a:rPr>
              <a:t>是人类与其他动物最重要的区别</a:t>
            </a:r>
            <a:endParaRPr lang="en-US" altLang="zh-CN" sz="2800" dirty="0">
              <a:effectLst/>
              <a:latin typeface="Microsoft YaHei" panose="020B0503020204020204" pitchFamily="34" charset="-122"/>
              <a:ea typeface="Microsoft YaHei" panose="020B0503020204020204" pitchFamily="34" charset="-122"/>
            </a:endParaRPr>
          </a:p>
          <a:p>
            <a:pPr marL="914400" lvl="1" indent="-457200">
              <a:lnSpc>
                <a:spcPct val="150000"/>
              </a:lnSpc>
              <a:buFont typeface="Arial" panose="020B0604020202020204" pitchFamily="34" charset="0"/>
              <a:buChar char="•"/>
            </a:pPr>
            <a:r>
              <a:rPr lang="zh-CN" altLang="en-US" sz="2400" dirty="0">
                <a:solidFill>
                  <a:srgbClr val="0432FF"/>
                </a:solidFill>
                <a:effectLst/>
                <a:latin typeface="Microsoft YaHei" panose="020B0503020204020204" pitchFamily="34" charset="-122"/>
                <a:ea typeface="Microsoft YaHei" panose="020B0503020204020204" pitchFamily="34" charset="-122"/>
              </a:rPr>
              <a:t>逻辑思维以语言的形式表达</a:t>
            </a:r>
            <a:endParaRPr lang="en-US" altLang="zh-CN" sz="2400" dirty="0">
              <a:solidFill>
                <a:srgbClr val="0432FF"/>
              </a:solidFill>
              <a:effectLst/>
              <a:latin typeface="Microsoft YaHei" panose="020B0503020204020204" pitchFamily="34" charset="-122"/>
              <a:ea typeface="Microsoft YaHei" panose="020B0503020204020204" pitchFamily="34" charset="-122"/>
            </a:endParaRPr>
          </a:p>
          <a:p>
            <a:pPr marL="914400" lvl="1" indent="-457200">
              <a:lnSpc>
                <a:spcPct val="150000"/>
              </a:lnSpc>
              <a:buFont typeface="Arial" panose="020B0604020202020204" pitchFamily="34" charset="0"/>
              <a:buChar char="•"/>
            </a:pPr>
            <a:r>
              <a:rPr lang="zh-CN" altLang="en-US" sz="2400" dirty="0">
                <a:solidFill>
                  <a:srgbClr val="0432FF"/>
                </a:solidFill>
                <a:effectLst/>
                <a:latin typeface="Microsoft YaHei" panose="020B0503020204020204" pitchFamily="34" charset="-122"/>
                <a:ea typeface="Microsoft YaHei" panose="020B0503020204020204" pitchFamily="34" charset="-122"/>
              </a:rPr>
              <a:t>知识以文字的形式记录和传播</a:t>
            </a:r>
          </a:p>
          <a:p>
            <a:pPr algn="just">
              <a:lnSpc>
                <a:spcPct val="150000"/>
              </a:lnSpc>
            </a:pPr>
            <a:endParaRPr lang="zh-CN" altLang="en-US" sz="2400" dirty="0">
              <a:effectLst/>
              <a:latin typeface="Microsoft YaHei" panose="020B0503020204020204" pitchFamily="34" charset="-122"/>
              <a:ea typeface="Microsoft YaHei" panose="020B0503020204020204" pitchFamily="34" charset="-122"/>
            </a:endParaRPr>
          </a:p>
        </p:txBody>
      </p:sp>
      <p:sp>
        <p:nvSpPr>
          <p:cNvPr id="5" name="TextBox 4">
            <a:extLst>
              <a:ext uri="{FF2B5EF4-FFF2-40B4-BE49-F238E27FC236}">
                <a16:creationId xmlns:a16="http://schemas.microsoft.com/office/drawing/2014/main" id="{A9412A14-D78C-8481-C08A-A133BABB4285}"/>
              </a:ext>
            </a:extLst>
          </p:cNvPr>
          <p:cNvSpPr txBox="1"/>
          <p:nvPr/>
        </p:nvSpPr>
        <p:spPr>
          <a:xfrm>
            <a:off x="382588" y="4064615"/>
            <a:ext cx="11195048" cy="1308820"/>
          </a:xfrm>
          <a:prstGeom prst="rect">
            <a:avLst/>
          </a:prstGeom>
          <a:noFill/>
        </p:spPr>
        <p:txBody>
          <a:bodyPr wrap="square">
            <a:spAutoFit/>
          </a:bodyPr>
          <a:lstStyle/>
          <a:p>
            <a:pPr algn="just">
              <a:lnSpc>
                <a:spcPct val="150000"/>
              </a:lnSpc>
            </a:pPr>
            <a:r>
              <a:rPr lang="zh-CN" altLang="en-US" sz="2800" dirty="0">
                <a:latin typeface="Microsoft YaHei" panose="020B0503020204020204" pitchFamily="34" charset="-122"/>
                <a:ea typeface="Microsoft YaHei" panose="020B0503020204020204" pitchFamily="34" charset="-122"/>
              </a:rPr>
              <a:t>如果人工智能想要获取知识，就必须懂得理解人类使用的</a:t>
            </a:r>
            <a:r>
              <a:rPr lang="zh-CN" altLang="en-US" sz="2800" b="1" dirty="0">
                <a:solidFill>
                  <a:srgbClr val="0432FF"/>
                </a:solidFill>
                <a:latin typeface="Microsoft YaHei" panose="020B0503020204020204" pitchFamily="34" charset="-122"/>
                <a:ea typeface="Microsoft YaHei" panose="020B0503020204020204" pitchFamily="34" charset="-122"/>
              </a:rPr>
              <a:t>不太精确</a:t>
            </a:r>
            <a:r>
              <a:rPr lang="zh-CN" altLang="en-US" sz="2800" dirty="0">
                <a:solidFill>
                  <a:srgbClr val="0432FF"/>
                </a:solidFill>
                <a:latin typeface="Microsoft YaHei" panose="020B0503020204020204" pitchFamily="34" charset="-122"/>
                <a:ea typeface="Microsoft YaHei" panose="020B0503020204020204" pitchFamily="34" charset="-122"/>
              </a:rPr>
              <a:t>、</a:t>
            </a:r>
            <a:r>
              <a:rPr lang="zh-CN" altLang="en-US" sz="2800" b="1" dirty="0">
                <a:solidFill>
                  <a:srgbClr val="0432FF"/>
                </a:solidFill>
                <a:latin typeface="Microsoft YaHei" panose="020B0503020204020204" pitchFamily="34" charset="-122"/>
                <a:ea typeface="Microsoft YaHei" panose="020B0503020204020204" pitchFamily="34" charset="-122"/>
              </a:rPr>
              <a:t>可能有歧义</a:t>
            </a:r>
            <a:r>
              <a:rPr lang="zh-CN" altLang="en-US" sz="2800" dirty="0">
                <a:solidFill>
                  <a:srgbClr val="0432FF"/>
                </a:solidFill>
                <a:latin typeface="Microsoft YaHei" panose="020B0503020204020204" pitchFamily="34" charset="-122"/>
                <a:ea typeface="Microsoft YaHei" panose="020B0503020204020204" pitchFamily="34" charset="-122"/>
              </a:rPr>
              <a:t>、</a:t>
            </a:r>
            <a:r>
              <a:rPr lang="zh-CN" altLang="en-US" sz="2800" b="1" dirty="0">
                <a:solidFill>
                  <a:srgbClr val="0432FF"/>
                </a:solidFill>
                <a:latin typeface="Microsoft YaHei" panose="020B0503020204020204" pitchFamily="34" charset="-122"/>
                <a:ea typeface="Microsoft YaHei" panose="020B0503020204020204" pitchFamily="34" charset="-122"/>
              </a:rPr>
              <a:t>混乱</a:t>
            </a:r>
            <a:r>
              <a:rPr lang="zh-CN" altLang="en-US" sz="2800" b="1" dirty="0">
                <a:latin typeface="Microsoft YaHei" panose="020B0503020204020204" pitchFamily="34" charset="-122"/>
                <a:ea typeface="Microsoft YaHei" panose="020B0503020204020204" pitchFamily="34" charset="-122"/>
              </a:rPr>
              <a:t>的</a:t>
            </a:r>
            <a:r>
              <a:rPr lang="zh-CN" altLang="en-US" sz="2800" dirty="0">
                <a:latin typeface="Microsoft YaHei" panose="020B0503020204020204" pitchFamily="34" charset="-122"/>
                <a:ea typeface="Microsoft YaHei" panose="020B0503020204020204" pitchFamily="34" charset="-122"/>
              </a:rPr>
              <a:t>语言。</a:t>
            </a:r>
          </a:p>
        </p:txBody>
      </p:sp>
      <p:sp>
        <p:nvSpPr>
          <p:cNvPr id="6" name="平行四边形 6">
            <a:extLst>
              <a:ext uri="{FF2B5EF4-FFF2-40B4-BE49-F238E27FC236}">
                <a16:creationId xmlns:a16="http://schemas.microsoft.com/office/drawing/2014/main" id="{62402670-88F7-00BE-BEC8-509EB7494180}"/>
              </a:ext>
            </a:extLst>
          </p:cNvPr>
          <p:cNvSpPr>
            <a:spLocks noChangeArrowheads="1"/>
          </p:cNvSpPr>
          <p:nvPr/>
        </p:nvSpPr>
        <p:spPr bwMode="auto">
          <a:xfrm>
            <a:off x="996952" y="363538"/>
            <a:ext cx="964707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4768F061-94BB-BE7C-5665-9CCFDD729FA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E6A8A988-B588-9F98-9F98-6D4397497078}"/>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9" name="矩形 8">
            <a:extLst>
              <a:ext uri="{FF2B5EF4-FFF2-40B4-BE49-F238E27FC236}">
                <a16:creationId xmlns:a16="http://schemas.microsoft.com/office/drawing/2014/main" id="{761E483E-4D4E-69FC-99FA-00756F638724}"/>
              </a:ext>
            </a:extLst>
          </p:cNvPr>
          <p:cNvSpPr>
            <a:spLocks noChangeArrowheads="1"/>
          </p:cNvSpPr>
          <p:nvPr/>
        </p:nvSpPr>
        <p:spPr bwMode="auto">
          <a:xfrm>
            <a:off x="1211281" y="406400"/>
            <a:ext cx="510909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语言是人类与其他动物最重要的区别</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A9EF1F56-8DD5-73DE-FA2C-D4C1597A4132}"/>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1A95CC18-770E-B408-BA4C-2BB792D61EB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C5BEED1A-9A9F-6878-92F7-5248963CCFB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Tree>
    <p:extLst>
      <p:ext uri="{BB962C8B-B14F-4D97-AF65-F5344CB8AC3E}">
        <p14:creationId xmlns:p14="http://schemas.microsoft.com/office/powerpoint/2010/main" val="11138269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4171142"/>
          </a:xfrm>
          <a:prstGeom prst="rect">
            <a:avLst/>
          </a:prstGeom>
          <a:noFill/>
        </p:spPr>
        <p:txBody>
          <a:bodyPr wrap="square">
            <a:spAutoFit/>
          </a:bodyPr>
          <a:lstStyle/>
          <a:p>
            <a:pPr algn="just">
              <a:lnSpc>
                <a:spcPct val="150000"/>
              </a:lnSpc>
            </a:pPr>
            <a:r>
              <a:rPr lang="zh-CN" altLang="en-US" sz="3200" dirty="0">
                <a:effectLst/>
                <a:latin typeface="Microsoft YaHei" panose="020B0503020204020204" pitchFamily="34" charset="-122"/>
                <a:ea typeface="Microsoft YaHei" panose="020B0503020204020204" pitchFamily="34" charset="-122"/>
              </a:rPr>
              <a:t>自然语言处理的研究历史可以追溯到</a:t>
            </a:r>
            <a:r>
              <a:rPr lang="en-US" altLang="zh-CN" sz="3200" dirty="0">
                <a:effectLst/>
                <a:latin typeface="Microsoft YaHei" panose="020B0503020204020204" pitchFamily="34" charset="-122"/>
                <a:ea typeface="Microsoft YaHei" panose="020B0503020204020204" pitchFamily="34" charset="-122"/>
              </a:rPr>
              <a:t>1947 </a:t>
            </a:r>
            <a:r>
              <a:rPr lang="zh-CN" altLang="en-US" sz="3200" dirty="0">
                <a:effectLst/>
                <a:latin typeface="Microsoft YaHei" panose="020B0503020204020204" pitchFamily="34" charset="-122"/>
                <a:ea typeface="Microsoft YaHei" panose="020B0503020204020204" pitchFamily="34" charset="-122"/>
              </a:rPr>
              <a:t>年</a:t>
            </a:r>
            <a:endParaRPr lang="en-US" altLang="zh-CN" sz="3200" dirty="0">
              <a:effectLst/>
              <a:latin typeface="Microsoft YaHei" panose="020B0503020204020204" pitchFamily="34" charset="-122"/>
              <a:ea typeface="Microsoft YaHei" panose="020B0503020204020204" pitchFamily="34" charset="-122"/>
            </a:endParaRPr>
          </a:p>
          <a:p>
            <a:pPr marL="457200" indent="-457200">
              <a:lnSpc>
                <a:spcPct val="150000"/>
              </a:lnSpc>
              <a:buFont typeface="Arial" panose="020B0604020202020204" pitchFamily="34" charset="0"/>
              <a:buChar char="•"/>
            </a:pPr>
            <a:r>
              <a:rPr lang="en-US" altLang="zh-CN" sz="2400" dirty="0">
                <a:effectLst/>
                <a:latin typeface="Microsoft YaHei" panose="020B0503020204020204" pitchFamily="34" charset="-122"/>
                <a:ea typeface="Microsoft YaHei" panose="020B0503020204020204" pitchFamily="34" charset="-122"/>
              </a:rPr>
              <a:t>1947</a:t>
            </a:r>
            <a:r>
              <a:rPr lang="zh-CN" altLang="en-US" sz="2400" dirty="0">
                <a:effectLst/>
                <a:latin typeface="Microsoft YaHei" panose="020B0503020204020204" pitchFamily="34" charset="-122"/>
                <a:ea typeface="Microsoft YaHei" panose="020B0503020204020204" pitchFamily="34" charset="-122"/>
              </a:rPr>
              <a:t>年 </a:t>
            </a:r>
            <a:r>
              <a:rPr lang="en-US" sz="2400" dirty="0">
                <a:effectLst/>
                <a:latin typeface="Microsoft YaHei" panose="020B0503020204020204" pitchFamily="34" charset="-122"/>
                <a:ea typeface="Microsoft YaHei" panose="020B0503020204020204" pitchFamily="34" charset="-122"/>
              </a:rPr>
              <a:t>Warren Weaver</a:t>
            </a:r>
            <a:r>
              <a:rPr lang="zh-CN" altLang="en-US" sz="2400" dirty="0">
                <a:latin typeface="Microsoft YaHei" panose="020B0503020204020204" pitchFamily="34" charset="-122"/>
                <a:ea typeface="Microsoft YaHei" panose="020B0503020204020204" pitchFamily="34" charset="-122"/>
              </a:rPr>
              <a:t> </a:t>
            </a:r>
            <a:r>
              <a:rPr lang="zh-CN" altLang="en-US" sz="2400" dirty="0">
                <a:effectLst/>
                <a:latin typeface="Microsoft YaHei" panose="020B0503020204020204" pitchFamily="34" charset="-122"/>
                <a:ea typeface="Microsoft YaHei" panose="020B0503020204020204" pitchFamily="34" charset="-122"/>
              </a:rPr>
              <a:t>提出了利用计算机翻译人类语言的可能</a:t>
            </a:r>
            <a:endParaRPr lang="en-US" altLang="zh-CN" sz="2400" dirty="0">
              <a:effectLst/>
              <a:latin typeface="Microsoft YaHei" panose="020B0503020204020204" pitchFamily="34" charset="-122"/>
              <a:ea typeface="Microsoft YaHei" panose="020B0503020204020204" pitchFamily="34" charset="-122"/>
            </a:endParaRPr>
          </a:p>
          <a:p>
            <a:pPr marL="457200" indent="-457200">
              <a:lnSpc>
                <a:spcPct val="150000"/>
              </a:lnSpc>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1949</a:t>
            </a:r>
            <a:r>
              <a:rPr lang="zh-CN" altLang="en-US" sz="2400" dirty="0">
                <a:latin typeface="Microsoft YaHei" panose="020B0503020204020204" pitchFamily="34" charset="-122"/>
                <a:ea typeface="Microsoft YaHei" panose="020B0503020204020204" pitchFamily="34" charset="-122"/>
              </a:rPr>
              <a:t>年</a:t>
            </a:r>
            <a:r>
              <a:rPr lang="zh-CN" altLang="en-US" sz="2400" dirty="0">
                <a:effectLst/>
                <a:latin typeface="Microsoft YaHei" panose="020B0503020204020204" pitchFamily="34" charset="-122"/>
                <a:ea typeface="Microsoft YaHei" panose="020B0503020204020204" pitchFamily="34" charset="-122"/>
              </a:rPr>
              <a:t>发布</a:t>
            </a:r>
            <a:r>
              <a:rPr lang="en-US" altLang="zh-CN" sz="2400" dirty="0">
                <a:effectLst/>
                <a:latin typeface="Microsoft YaHei" panose="020B0503020204020204" pitchFamily="34" charset="-122"/>
                <a:ea typeface="Microsoft YaHei" panose="020B0503020204020204" pitchFamily="34" charset="-122"/>
              </a:rPr>
              <a:t>《</a:t>
            </a:r>
            <a:r>
              <a:rPr lang="en-US" sz="2400" dirty="0">
                <a:effectLst/>
                <a:latin typeface="Microsoft YaHei" panose="020B0503020204020204" pitchFamily="34" charset="-122"/>
                <a:ea typeface="Microsoft YaHei" panose="020B0503020204020204" pitchFamily="34" charset="-122"/>
              </a:rPr>
              <a:t>Translation》（</a:t>
            </a:r>
            <a:r>
              <a:rPr lang="zh-CN" altLang="en-US" sz="2400" dirty="0">
                <a:effectLst/>
                <a:latin typeface="Microsoft YaHei" panose="020B0503020204020204" pitchFamily="34" charset="-122"/>
                <a:ea typeface="Microsoft YaHei" panose="020B0503020204020204" pitchFamily="34" charset="-122"/>
              </a:rPr>
              <a:t>翻译）备忘录</a:t>
            </a:r>
            <a:endParaRPr lang="en-US" altLang="zh-CN" sz="2400" dirty="0">
              <a:latin typeface="Microsoft YaHei" panose="020B0503020204020204" pitchFamily="34" charset="-122"/>
              <a:ea typeface="Microsoft YaHei" panose="020B0503020204020204" pitchFamily="34" charset="-122"/>
            </a:endParaRPr>
          </a:p>
          <a:p>
            <a:pPr marL="457200" indent="-457200">
              <a:lnSpc>
                <a:spcPct val="150000"/>
              </a:lnSpc>
              <a:buFont typeface="Arial" panose="020B0604020202020204" pitchFamily="34" charset="0"/>
              <a:buChar char="•"/>
            </a:pPr>
            <a:r>
              <a:rPr lang="en-US" altLang="zh-CN" sz="2400" dirty="0">
                <a:effectLst/>
                <a:latin typeface="Microsoft YaHei" panose="020B0503020204020204" pitchFamily="34" charset="-122"/>
                <a:ea typeface="Microsoft YaHei" panose="020B0503020204020204" pitchFamily="34" charset="-122"/>
              </a:rPr>
              <a:t>1950</a:t>
            </a:r>
            <a:r>
              <a:rPr lang="zh-CN" altLang="en-US" sz="2400" dirty="0">
                <a:effectLst/>
                <a:latin typeface="Microsoft YaHei" panose="020B0503020204020204" pitchFamily="34" charset="-122"/>
                <a:ea typeface="Microsoft YaHei" panose="020B0503020204020204" pitchFamily="34" charset="-122"/>
              </a:rPr>
              <a:t>年 </a:t>
            </a:r>
            <a:r>
              <a:rPr lang="en-US" sz="2400" dirty="0">
                <a:effectLst/>
                <a:latin typeface="Microsoft YaHei" panose="020B0503020204020204" pitchFamily="34" charset="-122"/>
                <a:ea typeface="Microsoft YaHei" panose="020B0503020204020204" pitchFamily="34" charset="-122"/>
              </a:rPr>
              <a:t>Alan Turing </a:t>
            </a:r>
            <a:r>
              <a:rPr lang="zh-CN" altLang="en-US" sz="2400" dirty="0">
                <a:effectLst/>
                <a:latin typeface="Microsoft YaHei" panose="020B0503020204020204" pitchFamily="34" charset="-122"/>
                <a:ea typeface="Microsoft YaHei" panose="020B0503020204020204" pitchFamily="34" charset="-122"/>
              </a:rPr>
              <a:t>发表</a:t>
            </a:r>
            <a:r>
              <a:rPr lang="en-US" altLang="zh-CN" sz="2400" dirty="0">
                <a:effectLst/>
                <a:latin typeface="Microsoft YaHei" panose="020B0503020204020204" pitchFamily="34" charset="-122"/>
                <a:ea typeface="Microsoft YaHei" panose="020B0503020204020204" pitchFamily="34" charset="-122"/>
              </a:rPr>
              <a:t>《</a:t>
            </a:r>
            <a:r>
              <a:rPr lang="en-US" sz="2400" dirty="0">
                <a:effectLst/>
                <a:latin typeface="Microsoft YaHei" panose="020B0503020204020204" pitchFamily="34" charset="-122"/>
                <a:ea typeface="Microsoft YaHei" panose="020B0503020204020204" pitchFamily="34" charset="-122"/>
              </a:rPr>
              <a:t>Computing</a:t>
            </a:r>
            <a:r>
              <a:rPr lang="zh-CN" altLang="en-US" sz="2400" dirty="0">
                <a:effectLst/>
                <a:latin typeface="Microsoft YaHei" panose="020B0503020204020204" pitchFamily="34" charset="-122"/>
                <a:ea typeface="Microsoft YaHei" panose="020B0503020204020204" pitchFamily="34" charset="-122"/>
              </a:rPr>
              <a:t> </a:t>
            </a:r>
            <a:r>
              <a:rPr lang="en-US" sz="2400" dirty="0">
                <a:effectLst/>
                <a:latin typeface="Microsoft YaHei" panose="020B0503020204020204" pitchFamily="34" charset="-122"/>
                <a:ea typeface="Microsoft YaHei" panose="020B0503020204020204" pitchFamily="34" charset="-122"/>
              </a:rPr>
              <a:t>Machinery and Intelligence》</a:t>
            </a:r>
          </a:p>
          <a:p>
            <a:pPr marL="457200" indent="-457200">
              <a:lnSpc>
                <a:spcPct val="150000"/>
              </a:lnSpc>
              <a:buFont typeface="Arial" panose="020B0604020202020204" pitchFamily="34" charset="0"/>
              <a:buChar char="•"/>
            </a:pPr>
            <a:r>
              <a:rPr lang="en-US" altLang="zh-CN" sz="2400" dirty="0">
                <a:effectLst/>
                <a:latin typeface="Microsoft YaHei" panose="020B0503020204020204" pitchFamily="34" charset="-122"/>
                <a:ea typeface="Microsoft YaHei" panose="020B0503020204020204" pitchFamily="34" charset="-122"/>
              </a:rPr>
              <a:t>1954</a:t>
            </a:r>
            <a:r>
              <a:rPr lang="zh-CN" altLang="en-US" sz="2400" dirty="0">
                <a:effectLst/>
                <a:latin typeface="Microsoft YaHei" panose="020B0503020204020204" pitchFamily="34" charset="-122"/>
                <a:ea typeface="Microsoft YaHei" panose="020B0503020204020204" pitchFamily="34" charset="-122"/>
              </a:rPr>
              <a:t>年 </a:t>
            </a:r>
            <a:r>
              <a:rPr lang="en-US" altLang="zh-CN" sz="2400" dirty="0">
                <a:effectLst/>
                <a:latin typeface="Microsoft YaHei" panose="020B0503020204020204" pitchFamily="34" charset="-122"/>
                <a:ea typeface="Microsoft YaHei" panose="020B0503020204020204" pitchFamily="34" charset="-122"/>
              </a:rPr>
              <a:t>Georgetown University</a:t>
            </a:r>
            <a:r>
              <a:rPr lang="zh-CN" altLang="en-US" sz="2400" dirty="0">
                <a:effectLst/>
                <a:latin typeface="Microsoft YaHei" panose="020B0503020204020204" pitchFamily="34" charset="-122"/>
                <a:ea typeface="Microsoft YaHei" panose="020B0503020204020204" pitchFamily="34" charset="-122"/>
              </a:rPr>
              <a:t>与</a:t>
            </a:r>
            <a:r>
              <a:rPr lang="en-US" altLang="zh-CN" sz="2400" dirty="0">
                <a:effectLst/>
                <a:latin typeface="Microsoft YaHei" panose="020B0503020204020204" pitchFamily="34" charset="-122"/>
                <a:ea typeface="Microsoft YaHei" panose="020B0503020204020204" pitchFamily="34" charset="-122"/>
              </a:rPr>
              <a:t>IBM </a:t>
            </a:r>
            <a:r>
              <a:rPr lang="zh-CN" altLang="en-US" sz="2400" dirty="0">
                <a:effectLst/>
                <a:latin typeface="Microsoft YaHei" panose="020B0503020204020204" pitchFamily="34" charset="-122"/>
                <a:ea typeface="Microsoft YaHei" panose="020B0503020204020204" pitchFamily="34" charset="-122"/>
              </a:rPr>
              <a:t>合作的机器翻译演示系统将</a:t>
            </a:r>
            <a:r>
              <a:rPr lang="en-US" altLang="zh-CN" sz="2400" dirty="0">
                <a:effectLst/>
                <a:latin typeface="Microsoft YaHei" panose="020B0503020204020204" pitchFamily="34" charset="-122"/>
                <a:ea typeface="Microsoft YaHei" panose="020B0503020204020204" pitchFamily="34" charset="-122"/>
              </a:rPr>
              <a:t>60 </a:t>
            </a:r>
            <a:r>
              <a:rPr lang="zh-CN" altLang="en-US" sz="2400" dirty="0">
                <a:effectLst/>
                <a:latin typeface="Microsoft YaHei" panose="020B0503020204020204" pitchFamily="34" charset="-122"/>
                <a:ea typeface="Microsoft YaHei" panose="020B0503020204020204" pitchFamily="34" charset="-122"/>
              </a:rPr>
              <a:t>多个俄语句子翻译成了英文</a:t>
            </a:r>
            <a:endParaRPr lang="en-US" altLang="zh-CN" sz="2400" dirty="0">
              <a:effectLst/>
              <a:latin typeface="Microsoft YaHei" panose="020B0503020204020204" pitchFamily="34" charset="-122"/>
              <a:ea typeface="Microsoft YaHei" panose="020B0503020204020204" pitchFamily="34" charset="-122"/>
            </a:endParaRPr>
          </a:p>
          <a:p>
            <a:pPr marL="457200" indent="-457200">
              <a:lnSpc>
                <a:spcPct val="150000"/>
              </a:lnSpc>
              <a:buFont typeface="Arial" panose="020B0604020202020204" pitchFamily="34" charset="0"/>
              <a:buChar char="•"/>
            </a:pPr>
            <a:endParaRPr lang="zh-CN" altLang="en-US" sz="2800" dirty="0">
              <a:effectLst/>
              <a:latin typeface="Microsoft YaHei" panose="020B0503020204020204" pitchFamily="34" charset="-122"/>
              <a:ea typeface="Microsoft YaHei" panose="020B0503020204020204" pitchFamily="34" charset="-122"/>
            </a:endParaRPr>
          </a:p>
        </p:txBody>
      </p:sp>
      <p:sp>
        <p:nvSpPr>
          <p:cNvPr id="6" name="平行四边形 6">
            <a:extLst>
              <a:ext uri="{FF2B5EF4-FFF2-40B4-BE49-F238E27FC236}">
                <a16:creationId xmlns:a16="http://schemas.microsoft.com/office/drawing/2014/main" id="{0DF671AF-E576-E10D-A32C-EA71AA4A5B15}"/>
              </a:ext>
            </a:extLst>
          </p:cNvPr>
          <p:cNvSpPr>
            <a:spLocks noChangeArrowheads="1"/>
          </p:cNvSpPr>
          <p:nvPr/>
        </p:nvSpPr>
        <p:spPr bwMode="auto">
          <a:xfrm>
            <a:off x="996951" y="363538"/>
            <a:ext cx="960597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平行四边形 7">
            <a:extLst>
              <a:ext uri="{FF2B5EF4-FFF2-40B4-BE49-F238E27FC236}">
                <a16:creationId xmlns:a16="http://schemas.microsoft.com/office/drawing/2014/main" id="{F3C189F8-39EB-169C-D06D-858FC81987FB}"/>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文本框 5">
            <a:extLst>
              <a:ext uri="{FF2B5EF4-FFF2-40B4-BE49-F238E27FC236}">
                <a16:creationId xmlns:a16="http://schemas.microsoft.com/office/drawing/2014/main" id="{43C482E1-6C36-FDDD-37CA-796F1AC4EC3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26327E3F-2978-A6A7-7E7A-4C15F153E1C8}"/>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328BF95C-C791-A31C-8F87-B43A0C52032B}"/>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B38A32FB-D0EB-6CB2-96D9-20AA6FD58F3F}"/>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矩形 8">
            <a:extLst>
              <a:ext uri="{FF2B5EF4-FFF2-40B4-BE49-F238E27FC236}">
                <a16:creationId xmlns:a16="http://schemas.microsoft.com/office/drawing/2014/main" id="{DB44B0D0-B4FA-2A50-9F2D-602134983DE4}"/>
              </a:ext>
            </a:extLst>
          </p:cNvPr>
          <p:cNvSpPr>
            <a:spLocks noChangeArrowheads="1"/>
          </p:cNvSpPr>
          <p:nvPr/>
        </p:nvSpPr>
        <p:spPr bwMode="auto">
          <a:xfrm>
            <a:off x="1248742" y="408136"/>
            <a:ext cx="41857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自然语言处理的研究历史</a:t>
            </a:r>
            <a:r>
              <a:rPr lang="zh-CN" altLang="en-CN" sz="2400" b="1" dirty="0">
                <a:solidFill>
                  <a:schemeClr val="bg1"/>
                </a:solidFill>
                <a:latin typeface="微软雅黑" panose="020B0503020204020204" pitchFamily="34" charset="-122"/>
                <a:ea typeface="微软雅黑" panose="020B0503020204020204" pitchFamily="34" charset="-122"/>
              </a:rPr>
              <a:t>悠久</a:t>
            </a:r>
          </a:p>
        </p:txBody>
      </p:sp>
    </p:spTree>
    <p:extLst>
      <p:ext uri="{BB962C8B-B14F-4D97-AF65-F5344CB8AC3E}">
        <p14:creationId xmlns:p14="http://schemas.microsoft.com/office/powerpoint/2010/main" val="1379215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7</a:t>
            </a:fld>
            <a:endParaRPr lang="zh-CN" altLang="en-US"/>
          </a:p>
        </p:txBody>
      </p:sp>
      <p:pic>
        <p:nvPicPr>
          <p:cNvPr id="5" name="Picture 4">
            <a:extLst>
              <a:ext uri="{FF2B5EF4-FFF2-40B4-BE49-F238E27FC236}">
                <a16:creationId xmlns:a16="http://schemas.microsoft.com/office/drawing/2014/main" id="{E9127157-7533-489A-18FC-ECD9937162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157" y="1984781"/>
            <a:ext cx="10541429" cy="4359320"/>
          </a:xfrm>
          <a:prstGeom prst="rect">
            <a:avLst/>
          </a:prstGeom>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2E2E3E80-EFCA-8914-B82A-DA4C5A7CB376}"/>
              </a:ext>
            </a:extLst>
          </p:cNvPr>
          <p:cNvSpPr txBox="1"/>
          <p:nvPr/>
        </p:nvSpPr>
        <p:spPr>
          <a:xfrm>
            <a:off x="3046971" y="6396848"/>
            <a:ext cx="6098058" cy="369332"/>
          </a:xfrm>
          <a:prstGeom prst="rect">
            <a:avLst/>
          </a:prstGeom>
          <a:noFill/>
        </p:spPr>
        <p:txBody>
          <a:bodyPr wrap="square">
            <a:spAutoFit/>
          </a:bodyPr>
          <a:lstStyle/>
          <a:p>
            <a:pPr algn="ctr"/>
            <a:r>
              <a:rPr lang="zh-CN" altLang="en-US" i="0" dirty="0">
                <a:effectLst/>
                <a:latin typeface="Microsoft YaHei" panose="020B0503020204020204" pitchFamily="34" charset="-122"/>
                <a:ea typeface="Microsoft YaHei" panose="020B0503020204020204" pitchFamily="34" charset="-122"/>
              </a:rPr>
              <a:t>图 </a:t>
            </a:r>
            <a:r>
              <a:rPr lang="en-US" altLang="zh-CN" i="0" dirty="0">
                <a:effectLst/>
                <a:latin typeface="Microsoft YaHei" panose="020B0503020204020204" pitchFamily="34" charset="-122"/>
                <a:ea typeface="Microsoft YaHei" panose="020B0503020204020204" pitchFamily="34" charset="-122"/>
              </a:rPr>
              <a:t>1.1 </a:t>
            </a:r>
            <a:r>
              <a:rPr lang="zh-CN" altLang="en-US" i="0" dirty="0">
                <a:effectLst/>
                <a:latin typeface="Microsoft YaHei" panose="020B0503020204020204" pitchFamily="34" charset="-122"/>
                <a:ea typeface="Microsoft YaHei" panose="020B0503020204020204" pitchFamily="34" charset="-122"/>
              </a:rPr>
              <a:t>自然语言处理简史时间线</a:t>
            </a:r>
            <a:endParaRPr lang="en-CN" dirty="0">
              <a:latin typeface="Microsoft YaHei" panose="020B0503020204020204" pitchFamily="34" charset="-122"/>
              <a:ea typeface="Microsoft YaHei" panose="020B0503020204020204" pitchFamily="34" charset="-122"/>
            </a:endParaRPr>
          </a:p>
        </p:txBody>
      </p:sp>
      <p:sp>
        <p:nvSpPr>
          <p:cNvPr id="9" name="TextBox 8">
            <a:extLst>
              <a:ext uri="{FF2B5EF4-FFF2-40B4-BE49-F238E27FC236}">
                <a16:creationId xmlns:a16="http://schemas.microsoft.com/office/drawing/2014/main" id="{E3A03E17-49F8-78BF-EC6A-DE5460512330}"/>
              </a:ext>
            </a:extLst>
          </p:cNvPr>
          <p:cNvSpPr txBox="1"/>
          <p:nvPr/>
        </p:nvSpPr>
        <p:spPr>
          <a:xfrm>
            <a:off x="427679" y="1056153"/>
            <a:ext cx="10974386" cy="875881"/>
          </a:xfrm>
          <a:prstGeom prst="rect">
            <a:avLst/>
          </a:prstGeom>
          <a:noFill/>
        </p:spPr>
        <p:txBody>
          <a:bodyPr wrap="square">
            <a:spAutoFit/>
          </a:bodyPr>
          <a:lstStyle/>
          <a:p>
            <a:pPr>
              <a:lnSpc>
                <a:spcPct val="150000"/>
              </a:lnSpc>
            </a:pPr>
            <a:r>
              <a:rPr lang="en-CN" dirty="0">
                <a:latin typeface="Microsoft YaHei" panose="020B0503020204020204" pitchFamily="34" charset="-122"/>
                <a:ea typeface="Microsoft YaHei" panose="020B0503020204020204" pitchFamily="34" charset="-122"/>
              </a:rPr>
              <a:t>20世纪50年代末到60年代的初创期、20世纪70年代到80年代的理性主义时代、20世纪90年代到21世纪初的经验主义时代以及2006年至今的深度学习时代。</a:t>
            </a:r>
          </a:p>
        </p:txBody>
      </p:sp>
      <p:sp>
        <p:nvSpPr>
          <p:cNvPr id="10" name="平行四边形 6">
            <a:extLst>
              <a:ext uri="{FF2B5EF4-FFF2-40B4-BE49-F238E27FC236}">
                <a16:creationId xmlns:a16="http://schemas.microsoft.com/office/drawing/2014/main" id="{232F5D33-A3CD-92E6-AAA2-97EE98244FD1}"/>
              </a:ext>
            </a:extLst>
          </p:cNvPr>
          <p:cNvSpPr>
            <a:spLocks noChangeArrowheads="1"/>
          </p:cNvSpPr>
          <p:nvPr/>
        </p:nvSpPr>
        <p:spPr bwMode="auto">
          <a:xfrm>
            <a:off x="996951" y="363538"/>
            <a:ext cx="9595705"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1" name="平行四边形 7">
            <a:extLst>
              <a:ext uri="{FF2B5EF4-FFF2-40B4-BE49-F238E27FC236}">
                <a16:creationId xmlns:a16="http://schemas.microsoft.com/office/drawing/2014/main" id="{EEBE40C6-A4F6-C8D0-037D-B8DCAD12FB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文本框 5">
            <a:extLst>
              <a:ext uri="{FF2B5EF4-FFF2-40B4-BE49-F238E27FC236}">
                <a16:creationId xmlns:a16="http://schemas.microsoft.com/office/drawing/2014/main" id="{2D11E2C4-99A9-4E39-E558-4EF431BF40A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4" name="组合 11">
            <a:extLst>
              <a:ext uri="{FF2B5EF4-FFF2-40B4-BE49-F238E27FC236}">
                <a16:creationId xmlns:a16="http://schemas.microsoft.com/office/drawing/2014/main" id="{96DF44AA-63D7-2716-49F4-B09F5AEEA585}"/>
              </a:ext>
            </a:extLst>
          </p:cNvPr>
          <p:cNvGrpSpPr>
            <a:grpSpLocks/>
          </p:cNvGrpSpPr>
          <p:nvPr/>
        </p:nvGrpSpPr>
        <p:grpSpPr bwMode="auto">
          <a:xfrm>
            <a:off x="11480800" y="479425"/>
            <a:ext cx="333375" cy="333375"/>
            <a:chOff x="0" y="0"/>
            <a:chExt cx="449943" cy="449943"/>
          </a:xfrm>
        </p:grpSpPr>
        <p:sp>
          <p:nvSpPr>
            <p:cNvPr id="15" name="椭圆 9">
              <a:extLst>
                <a:ext uri="{FF2B5EF4-FFF2-40B4-BE49-F238E27FC236}">
                  <a16:creationId xmlns:a16="http://schemas.microsoft.com/office/drawing/2014/main" id="{C466309F-B9F2-8581-6CA8-D7F4AE8D5C8C}"/>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等腰三角形 10">
              <a:extLst>
                <a:ext uri="{FF2B5EF4-FFF2-40B4-BE49-F238E27FC236}">
                  <a16:creationId xmlns:a16="http://schemas.microsoft.com/office/drawing/2014/main" id="{485DDDAB-ED68-7B82-B92F-FED13D9DC53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7" name="矩形 8">
            <a:extLst>
              <a:ext uri="{FF2B5EF4-FFF2-40B4-BE49-F238E27FC236}">
                <a16:creationId xmlns:a16="http://schemas.microsoft.com/office/drawing/2014/main" id="{ABB77E13-B2FE-70DB-A47B-23A3A4512B75}"/>
              </a:ext>
            </a:extLst>
          </p:cNvPr>
          <p:cNvSpPr>
            <a:spLocks noChangeArrowheads="1"/>
          </p:cNvSpPr>
          <p:nvPr/>
        </p:nvSpPr>
        <p:spPr bwMode="auto">
          <a:xfrm>
            <a:off x="1248742" y="408136"/>
            <a:ext cx="41857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自然语言处理的研究历史</a:t>
            </a:r>
            <a:r>
              <a:rPr lang="zh-CN" altLang="en-CN" sz="2400" b="1" dirty="0">
                <a:solidFill>
                  <a:schemeClr val="bg1"/>
                </a:solidFill>
                <a:latin typeface="微软雅黑" panose="020B0503020204020204" pitchFamily="34" charset="-122"/>
                <a:ea typeface="微软雅黑" panose="020B0503020204020204" pitchFamily="34" charset="-122"/>
              </a:rPr>
              <a:t>悠久</a:t>
            </a:r>
          </a:p>
        </p:txBody>
      </p:sp>
    </p:spTree>
    <p:extLst>
      <p:ext uri="{BB962C8B-B14F-4D97-AF65-F5344CB8AC3E}">
        <p14:creationId xmlns:p14="http://schemas.microsoft.com/office/powerpoint/2010/main" val="184774513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729428" y="1717507"/>
            <a:ext cx="10569192" cy="2807628"/>
          </a:xfrm>
          <a:prstGeom prst="rect">
            <a:avLst/>
          </a:prstGeom>
          <a:noFill/>
        </p:spPr>
        <p:txBody>
          <a:bodyPr wrap="square">
            <a:spAutoFit/>
          </a:bodyPr>
          <a:lstStyle/>
          <a:p>
            <a:pPr algn="just">
              <a:lnSpc>
                <a:spcPct val="150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符号学派</a:t>
            </a:r>
            <a:r>
              <a:rPr lang="zh-CN" altLang="en-US" sz="2400" dirty="0">
                <a:effectLst/>
                <a:latin typeface="Microsoft YaHei" panose="020B0503020204020204" pitchFamily="34" charset="-122"/>
                <a:ea typeface="Microsoft YaHei" panose="020B0503020204020204" pitchFamily="34" charset="-122"/>
              </a:rPr>
              <a:t>和</a:t>
            </a:r>
            <a:r>
              <a:rPr lang="zh-CN" altLang="en-US" sz="2400" b="1" dirty="0">
                <a:solidFill>
                  <a:srgbClr val="0432FF"/>
                </a:solidFill>
                <a:effectLst/>
                <a:latin typeface="Microsoft YaHei" panose="020B0503020204020204" pitchFamily="34" charset="-122"/>
                <a:ea typeface="Microsoft YaHei" panose="020B0503020204020204" pitchFamily="34" charset="-122"/>
              </a:rPr>
              <a:t>随机学派</a:t>
            </a:r>
            <a:endParaRPr lang="en-US" altLang="zh-CN" sz="2400" dirty="0">
              <a:solidFill>
                <a:srgbClr val="0432FF"/>
              </a:solidFill>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en-US" altLang="zh-CN" b="1" dirty="0">
                <a:effectLst/>
                <a:latin typeface="Microsoft YaHei" panose="020B0503020204020204" pitchFamily="34" charset="-122"/>
                <a:ea typeface="Microsoft YaHei" panose="020B0503020204020204" pitchFamily="34" charset="-122"/>
              </a:rPr>
              <a:t>Noam Chomsky</a:t>
            </a:r>
            <a:r>
              <a:rPr lang="zh-CN" altLang="en-US" dirty="0">
                <a:effectLst/>
                <a:latin typeface="Microsoft YaHei" panose="020B0503020204020204" pitchFamily="34" charset="-122"/>
                <a:ea typeface="Microsoft YaHei" panose="020B0503020204020204" pitchFamily="34" charset="-122"/>
              </a:rPr>
              <a:t>为代表的符号学派提出了形式语言理论，基于</a:t>
            </a:r>
            <a:r>
              <a:rPr lang="en-US" altLang="zh-CN" dirty="0">
                <a:effectLst/>
                <a:latin typeface="Microsoft YaHei" panose="020B0503020204020204" pitchFamily="34" charset="-122"/>
                <a:ea typeface="Microsoft YaHei" panose="020B0503020204020204" pitchFamily="34" charset="-122"/>
              </a:rPr>
              <a:t>1957</a:t>
            </a:r>
            <a:r>
              <a:rPr lang="zh-CN" altLang="en-US" dirty="0">
                <a:effectLst/>
                <a:latin typeface="Microsoft YaHei" panose="020B0503020204020204" pitchFamily="34" charset="-122"/>
                <a:ea typeface="Microsoft YaHei" panose="020B0503020204020204" pitchFamily="34" charset="-122"/>
              </a:rPr>
              <a:t>年发表的</a:t>
            </a:r>
            <a:r>
              <a:rPr lang="en-US" altLang="zh-CN" dirty="0">
                <a:solidFill>
                  <a:srgbClr val="C00000"/>
                </a:solidFill>
                <a:effectLst/>
                <a:latin typeface="Microsoft YaHei" panose="020B0503020204020204" pitchFamily="34" charset="-122"/>
                <a:ea typeface="Microsoft YaHei" panose="020B0503020204020204" pitchFamily="34" charset="-122"/>
              </a:rPr>
              <a:t>《Syntactic Structures》</a:t>
            </a:r>
            <a:r>
              <a:rPr lang="zh-CN" altLang="en-US" dirty="0">
                <a:solidFill>
                  <a:srgbClr val="C00000"/>
                </a:solidFill>
                <a:effectLst/>
                <a:latin typeface="Microsoft YaHei" panose="020B0503020204020204" pitchFamily="34" charset="-122"/>
                <a:ea typeface="Microsoft YaHei" panose="020B0503020204020204" pitchFamily="34" charset="-122"/>
              </a:rPr>
              <a:t>（句法结构）</a:t>
            </a:r>
            <a:r>
              <a:rPr lang="zh-CN" altLang="en-US" dirty="0">
                <a:effectLst/>
                <a:latin typeface="Microsoft YaHei" panose="020B0503020204020204" pitchFamily="34" charset="-122"/>
                <a:ea typeface="Microsoft YaHei" panose="020B0503020204020204" pitchFamily="34" charset="-122"/>
              </a:rPr>
              <a:t>介绍了生成语法的概念，并提出了一种特定的生成语法称为转换语法。开启了使用数学方法研究语言的先河。</a:t>
            </a:r>
            <a:endParaRPr lang="en-US" altLang="zh-CN" dirty="0">
              <a:effectLst/>
              <a:latin typeface="Microsoft YaHei" panose="020B0503020204020204" pitchFamily="34" charset="-122"/>
              <a:ea typeface="Microsoft YaHei" panose="020B0503020204020204" pitchFamily="34" charset="-122"/>
            </a:endParaRPr>
          </a:p>
          <a:p>
            <a:pPr marL="457200" indent="-457200" algn="just">
              <a:lnSpc>
                <a:spcPct val="125000"/>
              </a:lnSpc>
              <a:spcBef>
                <a:spcPts val="2400"/>
              </a:spcBef>
              <a:buFont typeface="Arial" panose="020B0604020202020204" pitchFamily="34" charset="0"/>
              <a:buChar char="•"/>
            </a:pPr>
            <a:r>
              <a:rPr lang="zh-CN" altLang="en-US" dirty="0">
                <a:latin typeface="Microsoft YaHei" panose="020B0503020204020204" pitchFamily="34" charset="-122"/>
                <a:ea typeface="Microsoft YaHei" panose="020B0503020204020204" pitchFamily="34" charset="-122"/>
              </a:rPr>
              <a:t>随机学派则是以</a:t>
            </a:r>
            <a:r>
              <a:rPr lang="en-US" altLang="zh-CN" dirty="0">
                <a:latin typeface="Microsoft YaHei" panose="020B0503020204020204" pitchFamily="34" charset="-122"/>
                <a:ea typeface="Microsoft YaHei" panose="020B0503020204020204" pitchFamily="34" charset="-122"/>
              </a:rPr>
              <a:t>1959</a:t>
            </a:r>
            <a:r>
              <a:rPr lang="zh-CN" altLang="en-US" dirty="0">
                <a:latin typeface="Microsoft YaHei" panose="020B0503020204020204" pitchFamily="34" charset="-122"/>
                <a:ea typeface="Microsoft YaHei" panose="020B0503020204020204" pitchFamily="34" charset="-122"/>
              </a:rPr>
              <a:t>年</a:t>
            </a:r>
            <a:r>
              <a:rPr lang="en-US" altLang="zh-CN" b="1" dirty="0">
                <a:latin typeface="Microsoft YaHei" panose="020B0503020204020204" pitchFamily="34" charset="-122"/>
                <a:ea typeface="Microsoft YaHei" panose="020B0503020204020204" pitchFamily="34" charset="-122"/>
              </a:rPr>
              <a:t>Bledsoe</a:t>
            </a:r>
            <a:r>
              <a:rPr lang="zh-CN" altLang="en-US" b="1" dirty="0">
                <a:latin typeface="Microsoft YaHei" panose="020B0503020204020204" pitchFamily="34" charset="-122"/>
                <a:ea typeface="Microsoft YaHei" panose="020B0503020204020204" pitchFamily="34" charset="-122"/>
              </a:rPr>
              <a:t>和</a:t>
            </a:r>
            <a:r>
              <a:rPr lang="en-US" altLang="zh-CN" b="1" dirty="0">
                <a:latin typeface="Microsoft YaHei" panose="020B0503020204020204" pitchFamily="34" charset="-122"/>
                <a:ea typeface="Microsoft YaHei" panose="020B0503020204020204" pitchFamily="34" charset="-122"/>
              </a:rPr>
              <a:t>Browning</a:t>
            </a:r>
            <a:r>
              <a:rPr lang="zh-CN" altLang="en-US" dirty="0">
                <a:latin typeface="Microsoft YaHei" panose="020B0503020204020204" pitchFamily="34" charset="-122"/>
                <a:ea typeface="Microsoft YaHei" panose="020B0503020204020204" pitchFamily="34" charset="-122"/>
              </a:rPr>
              <a:t>将</a:t>
            </a:r>
            <a:r>
              <a:rPr lang="zh-CN" altLang="en-US" dirty="0">
                <a:solidFill>
                  <a:srgbClr val="C00000"/>
                </a:solidFill>
                <a:latin typeface="Microsoft YaHei" panose="020B0503020204020204" pitchFamily="34" charset="-122"/>
                <a:ea typeface="Microsoft YaHei" panose="020B0503020204020204" pitchFamily="34" charset="-122"/>
              </a:rPr>
              <a:t>贝叶斯方法（</a:t>
            </a:r>
            <a:r>
              <a:rPr lang="en-US" altLang="zh-CN" dirty="0">
                <a:solidFill>
                  <a:srgbClr val="C00000"/>
                </a:solidFill>
                <a:latin typeface="Microsoft YaHei" panose="020B0503020204020204" pitchFamily="34" charset="-122"/>
                <a:ea typeface="Microsoft YaHei" panose="020B0503020204020204" pitchFamily="34" charset="-122"/>
              </a:rPr>
              <a:t>Bayesian method</a:t>
            </a:r>
            <a:r>
              <a:rPr lang="zh-CN" altLang="en-US" dirty="0">
                <a:solidFill>
                  <a:srgbClr val="C00000"/>
                </a:solidFill>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应用于字符识别问题为代表。试图通过贝叶斯方法来解决自然语言处理中的问题。</a:t>
            </a:r>
          </a:p>
        </p:txBody>
      </p:sp>
      <p:sp>
        <p:nvSpPr>
          <p:cNvPr id="4" name="TextBox 3">
            <a:extLst>
              <a:ext uri="{FF2B5EF4-FFF2-40B4-BE49-F238E27FC236}">
                <a16:creationId xmlns:a16="http://schemas.microsoft.com/office/drawing/2014/main" id="{DCA2525D-2EDA-A142-3469-CC5B13D81482}"/>
              </a:ext>
            </a:extLst>
          </p:cNvPr>
          <p:cNvSpPr txBox="1"/>
          <p:nvPr/>
        </p:nvSpPr>
        <p:spPr>
          <a:xfrm>
            <a:off x="1045512" y="4678837"/>
            <a:ext cx="10275567" cy="874407"/>
          </a:xfrm>
          <a:prstGeom prst="rect">
            <a:avLst/>
          </a:prstGeom>
          <a:noFill/>
        </p:spPr>
        <p:txBody>
          <a:bodyPr wrap="square">
            <a:spAutoFit/>
          </a:bodyPr>
          <a:lstStyle/>
          <a:p>
            <a:pPr>
              <a:lnSpc>
                <a:spcPct val="150000"/>
              </a:lnSpc>
            </a:pPr>
            <a:r>
              <a:rPr lang="en-CN" dirty="0">
                <a:latin typeface="Microsoft YaHei" panose="020B0503020204020204" pitchFamily="34" charset="-122"/>
                <a:ea typeface="Microsoft YaHei" panose="020B0503020204020204" pitchFamily="34" charset="-122"/>
              </a:rPr>
              <a:t>计算语言学（Computational Linguistics）概念也被正式</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1962</a:t>
            </a:r>
            <a:r>
              <a:rPr lang="zh-CN" altLang="en-US" dirty="0">
                <a:latin typeface="Microsoft YaHei" panose="020B0503020204020204" pitchFamily="34" charset="-122"/>
                <a:ea typeface="Microsoft YaHei" panose="020B0503020204020204" pitchFamily="34" charset="-122"/>
              </a:rPr>
              <a:t>年</a:t>
            </a:r>
            <a:r>
              <a:rPr lang="en-US" altLang="zh-CN" dirty="0">
                <a:latin typeface="Microsoft YaHei" panose="020B0503020204020204" pitchFamily="34" charset="-122"/>
                <a:ea typeface="Microsoft YaHei" panose="020B0503020204020204" pitchFamily="34" charset="-122"/>
              </a:rPr>
              <a:t>ACL</a:t>
            </a:r>
            <a:r>
              <a:rPr lang="zh-CN" altLang="en-US" dirty="0">
                <a:latin typeface="Microsoft YaHei" panose="020B0503020204020204" pitchFamily="34" charset="-122"/>
                <a:ea typeface="Microsoft YaHei" panose="020B0503020204020204" pitchFamily="34" charset="-122"/>
              </a:rPr>
              <a:t>成立，</a:t>
            </a:r>
            <a:r>
              <a:rPr lang="en-CN" dirty="0">
                <a:latin typeface="Microsoft YaHei" panose="020B0503020204020204" pitchFamily="34" charset="-122"/>
                <a:ea typeface="Microsoft YaHei" panose="020B0503020204020204" pitchFamily="34" charset="-122"/>
              </a:rPr>
              <a:t>1965年第一届国际计算语言学大会（The International Conference on Computational Linguistics，COLING）</a:t>
            </a:r>
          </a:p>
        </p:txBody>
      </p:sp>
      <p:sp>
        <p:nvSpPr>
          <p:cNvPr id="5" name="平行四边形 6">
            <a:extLst>
              <a:ext uri="{FF2B5EF4-FFF2-40B4-BE49-F238E27FC236}">
                <a16:creationId xmlns:a16="http://schemas.microsoft.com/office/drawing/2014/main" id="{35EAD082-D1A3-63F1-AFE2-66BA5461C278}"/>
              </a:ext>
            </a:extLst>
          </p:cNvPr>
          <p:cNvSpPr>
            <a:spLocks noChangeArrowheads="1"/>
          </p:cNvSpPr>
          <p:nvPr/>
        </p:nvSpPr>
        <p:spPr bwMode="auto">
          <a:xfrm>
            <a:off x="996951" y="363538"/>
            <a:ext cx="9616253"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平行四边形 7">
            <a:extLst>
              <a:ext uri="{FF2B5EF4-FFF2-40B4-BE49-F238E27FC236}">
                <a16:creationId xmlns:a16="http://schemas.microsoft.com/office/drawing/2014/main" id="{1BB1D367-9D42-5F44-76D8-F52C2A7464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7" name="文本框 5">
            <a:extLst>
              <a:ext uri="{FF2B5EF4-FFF2-40B4-BE49-F238E27FC236}">
                <a16:creationId xmlns:a16="http://schemas.microsoft.com/office/drawing/2014/main" id="{6DBED35E-E4AE-20B9-722E-0A619CD37BE9}"/>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8" name="组合 11">
            <a:extLst>
              <a:ext uri="{FF2B5EF4-FFF2-40B4-BE49-F238E27FC236}">
                <a16:creationId xmlns:a16="http://schemas.microsoft.com/office/drawing/2014/main" id="{1D6D2CDD-6EFC-9ABF-9B33-1B2A55051DDE}"/>
              </a:ext>
            </a:extLst>
          </p:cNvPr>
          <p:cNvGrpSpPr>
            <a:grpSpLocks/>
          </p:cNvGrpSpPr>
          <p:nvPr/>
        </p:nvGrpSpPr>
        <p:grpSpPr bwMode="auto">
          <a:xfrm>
            <a:off x="11480800" y="479425"/>
            <a:ext cx="333375" cy="333375"/>
            <a:chOff x="0" y="0"/>
            <a:chExt cx="449943" cy="449943"/>
          </a:xfrm>
        </p:grpSpPr>
        <p:sp>
          <p:nvSpPr>
            <p:cNvPr id="9" name="椭圆 9">
              <a:extLst>
                <a:ext uri="{FF2B5EF4-FFF2-40B4-BE49-F238E27FC236}">
                  <a16:creationId xmlns:a16="http://schemas.microsoft.com/office/drawing/2014/main" id="{F2F0BB0C-62BE-9B62-5587-6E6FCECD1996}"/>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0" name="等腰三角形 10">
              <a:extLst>
                <a:ext uri="{FF2B5EF4-FFF2-40B4-BE49-F238E27FC236}">
                  <a16:creationId xmlns:a16="http://schemas.microsoft.com/office/drawing/2014/main" id="{4BB03F05-D35B-35E6-F6AE-167863188362}"/>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1" name="矩形 8">
            <a:extLst>
              <a:ext uri="{FF2B5EF4-FFF2-40B4-BE49-F238E27FC236}">
                <a16:creationId xmlns:a16="http://schemas.microsoft.com/office/drawing/2014/main" id="{C68E0BD5-7BC2-5ED7-5F63-F00F63B4F5F7}"/>
              </a:ext>
            </a:extLst>
          </p:cNvPr>
          <p:cNvSpPr>
            <a:spLocks noChangeArrowheads="1"/>
          </p:cNvSpPr>
          <p:nvPr/>
        </p:nvSpPr>
        <p:spPr bwMode="auto">
          <a:xfrm>
            <a:off x="1248742" y="408136"/>
            <a:ext cx="50129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20</a:t>
            </a:r>
            <a:r>
              <a:rPr lang="zh-CN" altLang="en-US" sz="2400" b="1" dirty="0">
                <a:solidFill>
                  <a:schemeClr val="bg1"/>
                </a:solidFill>
                <a:latin typeface="微软雅黑" panose="020B0503020204020204" pitchFamily="34" charset="-122"/>
                <a:ea typeface="微软雅黑" panose="020B0503020204020204" pitchFamily="34" charset="-122"/>
              </a:rPr>
              <a:t>世纪</a:t>
            </a:r>
            <a:r>
              <a:rPr lang="en-US" altLang="zh-CN" sz="2400" b="1" dirty="0">
                <a:solidFill>
                  <a:schemeClr val="bg1"/>
                </a:solidFill>
                <a:latin typeface="微软雅黑" panose="020B0503020204020204" pitchFamily="34" charset="-122"/>
                <a:ea typeface="微软雅黑" panose="020B0503020204020204" pitchFamily="34" charset="-122"/>
              </a:rPr>
              <a:t>50</a:t>
            </a:r>
            <a:r>
              <a:rPr lang="zh-CN" altLang="en-US" sz="2400" b="1" dirty="0">
                <a:solidFill>
                  <a:schemeClr val="bg1"/>
                </a:solidFill>
                <a:latin typeface="微软雅黑" panose="020B0503020204020204" pitchFamily="34" charset="-122"/>
                <a:ea typeface="微软雅黑" panose="020B0503020204020204" pitchFamily="34" charset="-122"/>
              </a:rPr>
              <a:t>年代末到</a:t>
            </a:r>
            <a:r>
              <a:rPr lang="en-US" altLang="zh-CN" sz="2400" b="1" dirty="0">
                <a:solidFill>
                  <a:schemeClr val="bg1"/>
                </a:solidFill>
                <a:latin typeface="微软雅黑" panose="020B0503020204020204" pitchFamily="34" charset="-122"/>
                <a:ea typeface="微软雅黑" panose="020B0503020204020204" pitchFamily="34" charset="-122"/>
              </a:rPr>
              <a:t>60</a:t>
            </a:r>
            <a:r>
              <a:rPr lang="zh-CN" altLang="en-US" sz="2400" b="1" dirty="0">
                <a:solidFill>
                  <a:schemeClr val="bg1"/>
                </a:solidFill>
                <a:latin typeface="微软雅黑" panose="020B0503020204020204" pitchFamily="34" charset="-122"/>
                <a:ea typeface="微软雅黑" panose="020B0503020204020204" pitchFamily="34" charset="-122"/>
              </a:rPr>
              <a:t>年代的初创期</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8960836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9</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436563" y="1152184"/>
            <a:ext cx="11377612" cy="3097130"/>
          </a:xfrm>
          <a:prstGeom prst="rect">
            <a:avLst/>
          </a:prstGeom>
          <a:noFill/>
        </p:spPr>
        <p:txBody>
          <a:bodyPr wrap="square">
            <a:spAutoFit/>
          </a:bodyPr>
          <a:lstStyle/>
          <a:p>
            <a:pPr algn="just">
              <a:lnSpc>
                <a:spcPct val="150000"/>
              </a:lnSpc>
            </a:pPr>
            <a:r>
              <a:rPr lang="zh-CN" altLang="en-US" sz="3200" b="1" dirty="0">
                <a:effectLst/>
                <a:latin typeface="Microsoft YaHei" panose="020B0503020204020204" pitchFamily="34" charset="-122"/>
                <a:ea typeface="Microsoft YaHei" panose="020B0503020204020204" pitchFamily="34" charset="-122"/>
              </a:rPr>
              <a:t>基于</a:t>
            </a:r>
            <a:r>
              <a:rPr lang="zh-CN" altLang="en-US" sz="3200" b="1" dirty="0">
                <a:solidFill>
                  <a:srgbClr val="0432FF"/>
                </a:solidFill>
                <a:effectLst/>
                <a:latin typeface="Microsoft YaHei" panose="020B0503020204020204" pitchFamily="34" charset="-122"/>
                <a:ea typeface="Microsoft YaHei" panose="020B0503020204020204" pitchFamily="34" charset="-122"/>
              </a:rPr>
              <a:t>逻辑的范式</a:t>
            </a:r>
            <a:r>
              <a:rPr lang="zh-CN" altLang="en-US" sz="3200" b="1" dirty="0">
                <a:effectLst/>
                <a:latin typeface="Microsoft YaHei" panose="020B0503020204020204" pitchFamily="34" charset="-122"/>
                <a:ea typeface="Microsoft YaHei" panose="020B0503020204020204" pitchFamily="34" charset="-122"/>
              </a:rPr>
              <a:t>、基于</a:t>
            </a:r>
            <a:r>
              <a:rPr lang="zh-CN" altLang="en-US" sz="3200" b="1" dirty="0">
                <a:solidFill>
                  <a:srgbClr val="0432FF"/>
                </a:solidFill>
                <a:effectLst/>
                <a:latin typeface="Microsoft YaHei" panose="020B0503020204020204" pitchFamily="34" charset="-122"/>
                <a:ea typeface="Microsoft YaHei" panose="020B0503020204020204" pitchFamily="34" charset="-122"/>
              </a:rPr>
              <a:t>规则的范式</a:t>
            </a:r>
            <a:r>
              <a:rPr lang="zh-CN" altLang="en-US" sz="3200" b="1" dirty="0">
                <a:effectLst/>
                <a:latin typeface="Microsoft YaHei" panose="020B0503020204020204" pitchFamily="34" charset="-122"/>
                <a:ea typeface="Microsoft YaHei" panose="020B0503020204020204" pitchFamily="34" charset="-122"/>
              </a:rPr>
              <a:t>和</a:t>
            </a:r>
            <a:r>
              <a:rPr lang="zh-CN" altLang="en-US" sz="3200" b="1" dirty="0">
                <a:solidFill>
                  <a:srgbClr val="0432FF"/>
                </a:solidFill>
                <a:effectLst/>
                <a:latin typeface="Microsoft YaHei" panose="020B0503020204020204" pitchFamily="34" charset="-122"/>
                <a:ea typeface="Microsoft YaHei" panose="020B0503020204020204" pitchFamily="34" charset="-122"/>
              </a:rPr>
              <a:t>随机范式</a:t>
            </a:r>
            <a:endParaRPr lang="en-US" altLang="zh-CN" sz="3200" b="1" dirty="0">
              <a:solidFill>
                <a:srgbClr val="0432FF"/>
              </a:solidFill>
              <a:effectLst/>
              <a:latin typeface="Microsoft YaHei" panose="020B0503020204020204" pitchFamily="34" charset="-122"/>
              <a:ea typeface="Microsoft YaHei" panose="020B0503020204020204" pitchFamily="34" charset="-122"/>
            </a:endParaRPr>
          </a:p>
          <a:p>
            <a:pPr marL="914400" lvl="1" indent="-457200" algn="just">
              <a:lnSpc>
                <a:spcPct val="125000"/>
              </a:lnSpc>
              <a:spcBef>
                <a:spcPts val="2400"/>
              </a:spcBef>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1970</a:t>
            </a:r>
            <a:r>
              <a:rPr lang="zh-CN" altLang="en-US" sz="2400" dirty="0">
                <a:latin typeface="Microsoft YaHei" panose="020B0503020204020204" pitchFamily="34" charset="-122"/>
                <a:ea typeface="Microsoft YaHei" panose="020B0503020204020204" pitchFamily="34" charset="-122"/>
              </a:rPr>
              <a:t>年</a:t>
            </a:r>
            <a:r>
              <a:rPr lang="en-US" altLang="zh-CN" sz="2400" dirty="0" err="1">
                <a:latin typeface="Microsoft YaHei" panose="020B0503020204020204" pitchFamily="34" charset="-122"/>
                <a:ea typeface="Microsoft YaHei" panose="020B0503020204020204" pitchFamily="34" charset="-122"/>
              </a:rPr>
              <a:t>Colmerauer</a:t>
            </a:r>
            <a:r>
              <a:rPr lang="zh-CN" altLang="en-US" sz="2400" dirty="0">
                <a:latin typeface="Microsoft YaHei" panose="020B0503020204020204" pitchFamily="34" charset="-122"/>
                <a:ea typeface="Microsoft YaHei" panose="020B0503020204020204" pitchFamily="34" charset="-122"/>
              </a:rPr>
              <a:t>等人使用逻辑方法研制</a:t>
            </a:r>
            <a:r>
              <a:rPr lang="en-US" altLang="zh-CN" sz="2400" dirty="0">
                <a:latin typeface="Microsoft YaHei" panose="020B0503020204020204" pitchFamily="34" charset="-122"/>
                <a:ea typeface="Microsoft YaHei" panose="020B0503020204020204" pitchFamily="34" charset="-122"/>
              </a:rPr>
              <a:t>Q</a:t>
            </a:r>
            <a:r>
              <a:rPr lang="zh-CN" altLang="en-US" sz="2400" dirty="0">
                <a:latin typeface="Microsoft YaHei" panose="020B0503020204020204" pitchFamily="34" charset="-122"/>
                <a:ea typeface="Microsoft YaHei" panose="020B0503020204020204" pitchFamily="34" charset="-122"/>
              </a:rPr>
              <a:t>系统语言的先河</a:t>
            </a:r>
            <a:endParaRPr lang="en-US" altLang="zh-CN" sz="2400" dirty="0">
              <a:latin typeface="Microsoft YaHei" panose="020B0503020204020204" pitchFamily="34" charset="-122"/>
              <a:ea typeface="Microsoft YaHei" panose="020B0503020204020204" pitchFamily="34" charset="-122"/>
            </a:endParaRPr>
          </a:p>
          <a:p>
            <a:pPr marL="914400" lvl="1" indent="-457200" algn="just">
              <a:lnSpc>
                <a:spcPct val="125000"/>
              </a:lnSpc>
              <a:spcBef>
                <a:spcPts val="2400"/>
              </a:spcBef>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1972</a:t>
            </a:r>
            <a:r>
              <a:rPr lang="zh-CN" altLang="en-US" sz="2400" dirty="0">
                <a:latin typeface="Microsoft YaHei" panose="020B0503020204020204" pitchFamily="34" charset="-122"/>
                <a:ea typeface="Microsoft YaHei" panose="020B0503020204020204" pitchFamily="34" charset="-122"/>
              </a:rPr>
              <a:t>年</a:t>
            </a:r>
            <a:r>
              <a:rPr lang="en-US" altLang="zh-CN" sz="2400" dirty="0">
                <a:latin typeface="Microsoft YaHei" panose="020B0503020204020204" pitchFamily="34" charset="-122"/>
                <a:ea typeface="Microsoft YaHei" panose="020B0503020204020204" pitchFamily="34" charset="-122"/>
              </a:rPr>
              <a:t>SHRDLU</a:t>
            </a:r>
            <a:r>
              <a:rPr lang="zh-CN" altLang="en-US" sz="2400" dirty="0">
                <a:latin typeface="Microsoft YaHei" panose="020B0503020204020204" pitchFamily="34" charset="-122"/>
                <a:ea typeface="Microsoft YaHei" panose="020B0503020204020204" pitchFamily="34" charset="-122"/>
              </a:rPr>
              <a:t>系统使用规则范式模拟了一个玩具积木世界</a:t>
            </a:r>
            <a:endParaRPr lang="en-US" altLang="zh-CN" sz="2400" dirty="0">
              <a:latin typeface="Microsoft YaHei" panose="020B0503020204020204" pitchFamily="34" charset="-122"/>
              <a:ea typeface="Microsoft YaHei" panose="020B0503020204020204" pitchFamily="34" charset="-122"/>
            </a:endParaRPr>
          </a:p>
          <a:p>
            <a:pPr marL="914400" lvl="1" indent="-457200" algn="just">
              <a:lnSpc>
                <a:spcPct val="125000"/>
              </a:lnSpc>
              <a:spcBef>
                <a:spcPts val="2400"/>
              </a:spcBef>
              <a:buFont typeface="Arial" panose="020B0604020202020204" pitchFamily="34" charset="0"/>
              <a:buChar char="•"/>
            </a:pPr>
            <a:r>
              <a:rPr lang="en-US" altLang="zh-CN" sz="2400" dirty="0">
                <a:latin typeface="Microsoft YaHei" panose="020B0503020204020204" pitchFamily="34" charset="-122"/>
                <a:ea typeface="Microsoft YaHei" panose="020B0503020204020204" pitchFamily="34" charset="-122"/>
              </a:rPr>
              <a:t>80</a:t>
            </a:r>
            <a:r>
              <a:rPr lang="zh-CN" altLang="en-US" sz="2400" dirty="0">
                <a:latin typeface="Microsoft YaHei" panose="020B0503020204020204" pitchFamily="34" charset="-122"/>
                <a:ea typeface="Microsoft YaHei" panose="020B0503020204020204" pitchFamily="34" charset="-122"/>
              </a:rPr>
              <a:t>年代初隐马尔可夫模型</a:t>
            </a:r>
            <a:r>
              <a:rPr lang="zh-CN" altLang="en-CN" sz="2400" dirty="0">
                <a:latin typeface="Microsoft YaHei" panose="020B0503020204020204" pitchFamily="34" charset="-122"/>
                <a:ea typeface="Microsoft YaHei" panose="020B0503020204020204" pitchFamily="34" charset="-122"/>
              </a:rPr>
              <a:t>等</a:t>
            </a:r>
            <a:r>
              <a:rPr lang="zh-CN" altLang="en-US" sz="2400" dirty="0">
                <a:latin typeface="Microsoft YaHei" panose="020B0503020204020204" pitchFamily="34" charset="-122"/>
                <a:ea typeface="Microsoft YaHei" panose="020B0503020204020204" pitchFamily="34" charset="-122"/>
              </a:rPr>
              <a:t>模型应用于词性标注、姓名检索等</a:t>
            </a:r>
          </a:p>
        </p:txBody>
      </p:sp>
      <p:sp>
        <p:nvSpPr>
          <p:cNvPr id="3" name="平行四边形 6">
            <a:extLst>
              <a:ext uri="{FF2B5EF4-FFF2-40B4-BE49-F238E27FC236}">
                <a16:creationId xmlns:a16="http://schemas.microsoft.com/office/drawing/2014/main" id="{EB11EC0F-990A-8923-EE1B-4DAADBF7DC03}"/>
              </a:ext>
            </a:extLst>
          </p:cNvPr>
          <p:cNvSpPr>
            <a:spLocks noChangeArrowheads="1"/>
          </p:cNvSpPr>
          <p:nvPr/>
        </p:nvSpPr>
        <p:spPr bwMode="auto">
          <a:xfrm>
            <a:off x="996951" y="363538"/>
            <a:ext cx="960597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4F79362-F186-BD22-1F59-298710C3154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6C4CBCE1-AC1B-0348-1D1E-70FCA0D43AD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71090968-ECEC-DBDD-ABF4-9E2B09ECB5DB}"/>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8D43B8F-8050-E1D0-18A5-9B528D2A8261}"/>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DC058F1-EEFF-3ADE-FB31-6F383721C02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792A4F6-11D5-DE86-13A6-6DAA7B258C36}"/>
              </a:ext>
            </a:extLst>
          </p:cNvPr>
          <p:cNvSpPr>
            <a:spLocks noChangeArrowheads="1"/>
          </p:cNvSpPr>
          <p:nvPr/>
        </p:nvSpPr>
        <p:spPr bwMode="auto">
          <a:xfrm>
            <a:off x="1248742" y="408136"/>
            <a:ext cx="5628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20</a:t>
            </a:r>
            <a:r>
              <a:rPr lang="zh-CN" altLang="en-US" sz="2400" b="1" dirty="0">
                <a:solidFill>
                  <a:schemeClr val="bg1"/>
                </a:solidFill>
                <a:latin typeface="微软雅黑" panose="020B0503020204020204" pitchFamily="34" charset="-122"/>
                <a:ea typeface="微软雅黑" panose="020B0503020204020204" pitchFamily="34" charset="-122"/>
              </a:rPr>
              <a:t>世纪</a:t>
            </a:r>
            <a:r>
              <a:rPr lang="en-US" altLang="zh-CN" sz="2400" b="1" dirty="0">
                <a:solidFill>
                  <a:schemeClr val="bg1"/>
                </a:solidFill>
                <a:latin typeface="微软雅黑" panose="020B0503020204020204" pitchFamily="34" charset="-122"/>
                <a:ea typeface="微软雅黑" panose="020B0503020204020204" pitchFamily="34" charset="-122"/>
              </a:rPr>
              <a:t>70</a:t>
            </a:r>
            <a:r>
              <a:rPr lang="zh-CN" altLang="en-US" sz="2400" b="1" dirty="0">
                <a:solidFill>
                  <a:schemeClr val="bg1"/>
                </a:solidFill>
                <a:latin typeface="微软雅黑" panose="020B0503020204020204" pitchFamily="34" charset="-122"/>
                <a:ea typeface="微软雅黑" panose="020B0503020204020204" pitchFamily="34" charset="-122"/>
              </a:rPr>
              <a:t>年代到</a:t>
            </a:r>
            <a:r>
              <a:rPr lang="en-US" altLang="zh-CN" sz="2400" b="1" dirty="0">
                <a:solidFill>
                  <a:schemeClr val="bg1"/>
                </a:solidFill>
                <a:latin typeface="微软雅黑" panose="020B0503020204020204" pitchFamily="34" charset="-122"/>
                <a:ea typeface="微软雅黑" panose="020B0503020204020204" pitchFamily="34" charset="-122"/>
              </a:rPr>
              <a:t>80</a:t>
            </a:r>
            <a:r>
              <a:rPr lang="zh-CN" altLang="en-US" sz="2400" b="1" dirty="0">
                <a:solidFill>
                  <a:schemeClr val="bg1"/>
                </a:solidFill>
                <a:latin typeface="微软雅黑" panose="020B0503020204020204" pitchFamily="34" charset="-122"/>
                <a:ea typeface="微软雅黑" panose="020B0503020204020204" pitchFamily="34" charset="-122"/>
              </a:rPr>
              <a:t>年代的理性主义时代</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4" name="TextBox 3">
            <a:extLst>
              <a:ext uri="{FF2B5EF4-FFF2-40B4-BE49-F238E27FC236}">
                <a16:creationId xmlns:a16="http://schemas.microsoft.com/office/drawing/2014/main" id="{A30D6622-407A-4C44-D2D7-2EF944B36578}"/>
              </a:ext>
            </a:extLst>
          </p:cNvPr>
          <p:cNvSpPr txBox="1"/>
          <p:nvPr/>
        </p:nvSpPr>
        <p:spPr>
          <a:xfrm>
            <a:off x="902941" y="4378491"/>
            <a:ext cx="9796590" cy="1705403"/>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研究者试图通过手工编写语言规则与词汇表，开发出机器翻译系统和文本处理工具，例如，</a:t>
            </a:r>
            <a:r>
              <a:rPr lang="en-US" altLang="zh-CN" b="0" i="0" dirty="0">
                <a:solidFill>
                  <a:srgbClr val="262625"/>
                </a:solidFill>
                <a:effectLst/>
                <a:latin typeface="Microsoft YaHei" panose="020B0503020204020204" pitchFamily="34" charset="-122"/>
                <a:ea typeface="Microsoft YaHei" panose="020B0503020204020204" pitchFamily="34" charset="-122"/>
              </a:rPr>
              <a:t>1954 </a:t>
            </a:r>
            <a:r>
              <a:rPr lang="zh-CN" altLang="en-US" b="0" i="0" dirty="0">
                <a:solidFill>
                  <a:srgbClr val="262625"/>
                </a:solidFill>
                <a:effectLst/>
                <a:latin typeface="Microsoft YaHei" panose="020B0503020204020204" pitchFamily="34" charset="-122"/>
                <a:ea typeface="Microsoft YaHei" panose="020B0503020204020204" pitchFamily="34" charset="-122"/>
              </a:rPr>
              <a:t>年 </a:t>
            </a:r>
            <a:r>
              <a:rPr lang="en-US" b="0" i="0" dirty="0">
                <a:solidFill>
                  <a:srgbClr val="262625"/>
                </a:solidFill>
                <a:effectLst/>
                <a:latin typeface="Microsoft YaHei" panose="020B0503020204020204" pitchFamily="34" charset="-122"/>
                <a:ea typeface="Microsoft YaHei" panose="020B0503020204020204" pitchFamily="34" charset="-122"/>
              </a:rPr>
              <a:t>IBM </a:t>
            </a:r>
            <a:r>
              <a:rPr lang="zh-CN" altLang="en-US" b="0" i="0" dirty="0">
                <a:solidFill>
                  <a:srgbClr val="262625"/>
                </a:solidFill>
                <a:effectLst/>
                <a:latin typeface="Microsoft YaHei" panose="020B0503020204020204" pitchFamily="34" charset="-122"/>
                <a:ea typeface="Microsoft YaHei" panose="020B0503020204020204" pitchFamily="34" charset="-122"/>
              </a:rPr>
              <a:t>开发的</a:t>
            </a:r>
            <a:r>
              <a:rPr lang="en-US" b="0" i="0" dirty="0">
                <a:solidFill>
                  <a:srgbClr val="262625"/>
                </a:solidFill>
                <a:effectLst/>
                <a:latin typeface="Microsoft YaHei" panose="020B0503020204020204" pitchFamily="34" charset="-122"/>
                <a:ea typeface="Microsoft YaHei" panose="020B0503020204020204" pitchFamily="34" charset="-122"/>
              </a:rPr>
              <a:t>Georgetown-IBM </a:t>
            </a:r>
            <a:r>
              <a:rPr lang="zh-CN" altLang="en-US" b="0" i="0" dirty="0">
                <a:solidFill>
                  <a:srgbClr val="262625"/>
                </a:solidFill>
                <a:effectLst/>
                <a:latin typeface="Microsoft YaHei" panose="020B0503020204020204" pitchFamily="34" charset="-122"/>
                <a:ea typeface="Microsoft YaHei" panose="020B0503020204020204" pitchFamily="34" charset="-122"/>
              </a:rPr>
              <a:t>实验机器翻译系统，利用 </a:t>
            </a:r>
            <a:r>
              <a:rPr lang="en-US" b="0" i="0" dirty="0">
                <a:solidFill>
                  <a:srgbClr val="262625"/>
                </a:solidFill>
                <a:effectLst/>
                <a:latin typeface="Microsoft YaHei" panose="020B0503020204020204" pitchFamily="34" charset="-122"/>
                <a:ea typeface="Microsoft YaHei" panose="020B0503020204020204" pitchFamily="34" charset="-122"/>
              </a:rPr>
              <a:t>IBM 701</a:t>
            </a:r>
            <a:r>
              <a:rPr lang="zh-CN" altLang="en-US" b="0" i="0" dirty="0">
                <a:solidFill>
                  <a:srgbClr val="262625"/>
                </a:solidFill>
                <a:effectLst/>
                <a:latin typeface="Microsoft YaHei" panose="020B0503020204020204" pitchFamily="34" charset="-122"/>
                <a:ea typeface="Microsoft YaHei" panose="020B0503020204020204" pitchFamily="34" charset="-122"/>
              </a:rPr>
              <a:t>计算机将 </a:t>
            </a:r>
            <a:r>
              <a:rPr lang="en-US" altLang="zh-CN" b="0" i="0" dirty="0">
                <a:solidFill>
                  <a:srgbClr val="262625"/>
                </a:solidFill>
                <a:effectLst/>
                <a:latin typeface="Microsoft YaHei" panose="020B0503020204020204" pitchFamily="34" charset="-122"/>
                <a:ea typeface="Microsoft YaHei" panose="020B0503020204020204" pitchFamily="34" charset="-122"/>
              </a:rPr>
              <a:t>60 </a:t>
            </a:r>
            <a:r>
              <a:rPr lang="zh-CN" altLang="en-US" b="0" i="0" dirty="0">
                <a:solidFill>
                  <a:srgbClr val="262625"/>
                </a:solidFill>
                <a:effectLst/>
                <a:latin typeface="Microsoft YaHei" panose="020B0503020204020204" pitchFamily="34" charset="-122"/>
                <a:ea typeface="Microsoft YaHei" panose="020B0503020204020204" pitchFamily="34" charset="-122"/>
              </a:rPr>
              <a:t>多个俄语句子翻译成英文，是机器翻译领域的一个重要里程碑。这一时期的方法依赖于语言学家的语言知识，虽然取得了早期的成果，但规则系统的复杂性和脆弱性使其难以处理复杂的语言现象。</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914246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FACDC7-6315-2AB0-DF9B-48B4DB5002D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F2D55B0-C111-4F7A-5833-5C64D7CF251B}"/>
              </a:ext>
            </a:extLst>
          </p:cNvPr>
          <p:cNvSpPr>
            <a:spLocks noGrp="1"/>
          </p:cNvSpPr>
          <p:nvPr>
            <p:ph type="sldNum" sz="quarter" idx="12"/>
          </p:nvPr>
        </p:nvSpPr>
        <p:spPr/>
        <p:txBody>
          <a:bodyPr/>
          <a:lstStyle/>
          <a:p>
            <a:fld id="{465717F2-DE62-A445-9F03-50055757659A}" type="slidenum">
              <a:rPr lang="zh-CN" altLang="en-US" smtClean="0"/>
              <a:pPr/>
              <a:t>10</a:t>
            </a:fld>
            <a:endParaRPr lang="zh-CN" altLang="en-US"/>
          </a:p>
        </p:txBody>
      </p:sp>
      <p:sp>
        <p:nvSpPr>
          <p:cNvPr id="13" name="TextBox 12">
            <a:extLst>
              <a:ext uri="{FF2B5EF4-FFF2-40B4-BE49-F238E27FC236}">
                <a16:creationId xmlns:a16="http://schemas.microsoft.com/office/drawing/2014/main" id="{595C854F-D14A-E51D-374E-12A0CE0FAA63}"/>
              </a:ext>
            </a:extLst>
          </p:cNvPr>
          <p:cNvSpPr txBox="1"/>
          <p:nvPr/>
        </p:nvSpPr>
        <p:spPr>
          <a:xfrm>
            <a:off x="436563" y="1152184"/>
            <a:ext cx="11377612" cy="4452629"/>
          </a:xfrm>
          <a:prstGeom prst="rect">
            <a:avLst/>
          </a:prstGeom>
          <a:noFill/>
        </p:spPr>
        <p:txBody>
          <a:bodyPr wrap="square">
            <a:spAutoFit/>
          </a:bodyPr>
          <a:lstStyle/>
          <a:p>
            <a:pPr algn="just">
              <a:lnSpc>
                <a:spcPct val="150000"/>
              </a:lnSpc>
            </a:pPr>
            <a:r>
              <a:rPr lang="zh-CN" altLang="en-US" sz="3200" b="1" dirty="0">
                <a:solidFill>
                  <a:srgbClr val="0432FF"/>
                </a:solidFill>
                <a:effectLst/>
                <a:latin typeface="Microsoft YaHei" panose="020B0503020204020204" pitchFamily="34" charset="-122"/>
                <a:ea typeface="Microsoft YaHei" panose="020B0503020204020204" pitchFamily="34" charset="-122"/>
              </a:rPr>
              <a:t>统计方法</a:t>
            </a:r>
            <a:r>
              <a:rPr lang="zh-CN" altLang="en-US" sz="3200" b="1" dirty="0">
                <a:effectLst/>
                <a:latin typeface="Microsoft YaHei" panose="020B0503020204020204" pitchFamily="34" charset="-122"/>
                <a:ea typeface="Microsoft YaHei" panose="020B0503020204020204" pitchFamily="34" charset="-122"/>
              </a:rPr>
              <a:t>崛起</a:t>
            </a:r>
            <a:endParaRPr lang="en-US" altLang="zh-CN" sz="3200" b="1" dirty="0">
              <a:solidFill>
                <a:srgbClr val="0432FF"/>
              </a:solidFill>
              <a:effectLst/>
              <a:latin typeface="Microsoft YaHei" panose="020B0503020204020204" pitchFamily="34" charset="-122"/>
              <a:ea typeface="Microsoft YaHei" panose="020B0503020204020204" pitchFamily="34" charset="-122"/>
            </a:endParaRPr>
          </a:p>
          <a:p>
            <a:pPr marL="914400" lvl="1" indent="-457200" algn="just">
              <a:lnSpc>
                <a:spcPct val="125000"/>
              </a:lnSpc>
              <a:spcBef>
                <a:spcPts val="2400"/>
              </a:spcBef>
              <a:buFont typeface="Arial" panose="020B0604020202020204" pitchFamily="34" charset="0"/>
              <a:buChar char="•"/>
            </a:pPr>
            <a:r>
              <a:rPr lang="zh-CN" altLang="en-US" dirty="0"/>
              <a:t>随着计算能力的提升和大规模文本数据的普及，统计方法逐渐取代了规则方法，成为自然语言处理的主流。</a:t>
            </a:r>
            <a:endParaRPr lang="en-US" altLang="zh-CN" dirty="0"/>
          </a:p>
          <a:p>
            <a:pPr marL="914400" lvl="1" indent="-457200" algn="just">
              <a:lnSpc>
                <a:spcPct val="125000"/>
              </a:lnSpc>
              <a:spcBef>
                <a:spcPts val="2400"/>
              </a:spcBef>
              <a:buFont typeface="Arial" panose="020B0604020202020204" pitchFamily="34" charset="0"/>
              <a:buChar char="•"/>
            </a:pPr>
            <a:r>
              <a:rPr lang="zh-CN" altLang="en-US" dirty="0"/>
              <a:t>研究者们开始应用概率和统计模型来处理语言相关问题，例如，使用隐藏马尔可夫模型（</a:t>
            </a:r>
            <a:r>
              <a:rPr lang="en-US" dirty="0"/>
              <a:t>HMM）</a:t>
            </a:r>
            <a:r>
              <a:rPr lang="zh-CN" altLang="en-US" dirty="0"/>
              <a:t>进行语音识别，和基于 </a:t>
            </a:r>
            <a:r>
              <a:rPr lang="en-US" dirty="0"/>
              <a:t>n-gram </a:t>
            </a:r>
            <a:r>
              <a:rPr lang="zh-CN" altLang="en-US" dirty="0"/>
              <a:t>模型的语言建模来预测词序列。</a:t>
            </a:r>
            <a:endParaRPr lang="en-US" altLang="zh-CN" dirty="0"/>
          </a:p>
          <a:p>
            <a:pPr marL="914400" lvl="1" indent="-457200" algn="just">
              <a:lnSpc>
                <a:spcPct val="125000"/>
              </a:lnSpc>
              <a:spcBef>
                <a:spcPts val="2400"/>
              </a:spcBef>
              <a:buFont typeface="Arial" panose="020B0604020202020204" pitchFamily="34" charset="0"/>
              <a:buChar char="•"/>
            </a:pPr>
            <a:r>
              <a:rPr lang="zh-CN" altLang="en-US" dirty="0"/>
              <a:t>这一阶段的标志性进展包括斯坦福大学开发的统计自然语言处理工具以及机器翻译领域通过句对齐和词对齐的突破，极大提升了翻译的准确性和效率。</a:t>
            </a:r>
            <a:endParaRPr lang="en-US" altLang="zh-CN" dirty="0"/>
          </a:p>
          <a:p>
            <a:pPr marL="914400" lvl="1" indent="-457200" algn="just">
              <a:lnSpc>
                <a:spcPct val="125000"/>
              </a:lnSpc>
              <a:spcBef>
                <a:spcPts val="2400"/>
              </a:spcBef>
              <a:buFont typeface="Arial" panose="020B0604020202020204" pitchFamily="34" charset="0"/>
              <a:buChar char="•"/>
            </a:pPr>
            <a:r>
              <a:rPr lang="zh-CN" altLang="en-US" dirty="0"/>
              <a:t>这一转变使得 </a:t>
            </a:r>
            <a:r>
              <a:rPr lang="en-US" dirty="0"/>
              <a:t>NLP </a:t>
            </a:r>
            <a:r>
              <a:rPr lang="zh-CN" altLang="en-US" dirty="0"/>
              <a:t>技术能够更好地应对复杂的语言现象，并为后续深度学习的应用打下了基础。</a:t>
            </a:r>
            <a:endParaRPr lang="zh-CN" altLang="en-US" sz="2400"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D1FC90D2-A682-CBAE-B875-975570D5DC88}"/>
              </a:ext>
            </a:extLst>
          </p:cNvPr>
          <p:cNvSpPr>
            <a:spLocks noChangeArrowheads="1"/>
          </p:cNvSpPr>
          <p:nvPr/>
        </p:nvSpPr>
        <p:spPr bwMode="auto">
          <a:xfrm>
            <a:off x="996951" y="363538"/>
            <a:ext cx="960597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0BE4FB5E-8DBE-550F-5163-66EDA3D0DBA8}"/>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9546CAD7-EADF-6ACC-15A2-8EE780E007D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41011DEC-7AD4-1639-44A3-0190887A5CFD}"/>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F9F77811-0529-0D94-85DA-2223FC84BC5A}"/>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B7774FE1-E2B8-8112-2005-86077169AA1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D2DB725F-B399-1AB4-E768-B8F46730BD17}"/>
              </a:ext>
            </a:extLst>
          </p:cNvPr>
          <p:cNvSpPr>
            <a:spLocks noChangeArrowheads="1"/>
          </p:cNvSpPr>
          <p:nvPr/>
        </p:nvSpPr>
        <p:spPr bwMode="auto">
          <a:xfrm>
            <a:off x="1248742" y="408136"/>
            <a:ext cx="5628464"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20</a:t>
            </a:r>
            <a:r>
              <a:rPr lang="zh-CN" altLang="en-US" sz="2400" b="1" dirty="0">
                <a:solidFill>
                  <a:schemeClr val="bg1"/>
                </a:solidFill>
                <a:latin typeface="微软雅黑" panose="020B0503020204020204" pitchFamily="34" charset="-122"/>
                <a:ea typeface="微软雅黑" panose="020B0503020204020204" pitchFamily="34" charset="-122"/>
              </a:rPr>
              <a:t>世纪</a:t>
            </a:r>
            <a:r>
              <a:rPr lang="en-US" altLang="zh-CN" sz="2400" b="1" dirty="0">
                <a:solidFill>
                  <a:schemeClr val="bg1"/>
                </a:solidFill>
                <a:latin typeface="微软雅黑" panose="020B0503020204020204" pitchFamily="34" charset="-122"/>
                <a:ea typeface="微软雅黑" panose="020B0503020204020204" pitchFamily="34" charset="-122"/>
              </a:rPr>
              <a:t>80</a:t>
            </a:r>
            <a:r>
              <a:rPr lang="zh-CN" altLang="en-US" sz="2400" b="1" dirty="0">
                <a:solidFill>
                  <a:schemeClr val="bg1"/>
                </a:solidFill>
                <a:latin typeface="微软雅黑" panose="020B0503020204020204" pitchFamily="34" charset="-122"/>
                <a:ea typeface="微软雅黑" panose="020B0503020204020204" pitchFamily="34" charset="-122"/>
              </a:rPr>
              <a:t>年代到</a:t>
            </a:r>
            <a:r>
              <a:rPr lang="en-US" altLang="zh-CN" sz="2400" b="1" dirty="0">
                <a:solidFill>
                  <a:schemeClr val="bg1"/>
                </a:solidFill>
                <a:latin typeface="微软雅黑" panose="020B0503020204020204" pitchFamily="34" charset="-122"/>
                <a:ea typeface="微软雅黑" panose="020B0503020204020204" pitchFamily="34" charset="-122"/>
              </a:rPr>
              <a:t>90</a:t>
            </a:r>
            <a:r>
              <a:rPr lang="zh-CN" altLang="en-US" sz="2400" b="1" dirty="0">
                <a:solidFill>
                  <a:schemeClr val="bg1"/>
                </a:solidFill>
                <a:latin typeface="微软雅黑" panose="020B0503020204020204" pitchFamily="34" charset="-122"/>
                <a:ea typeface="微软雅黑" panose="020B0503020204020204" pitchFamily="34" charset="-122"/>
              </a:rPr>
              <a:t>年代的统计方法崛起</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7794613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5104667"/>
          </a:xfrm>
          <a:prstGeom prst="rect">
            <a:avLst/>
          </a:prstGeom>
          <a:noFill/>
        </p:spPr>
        <p:txBody>
          <a:bodyPr wrap="square">
            <a:spAutoFit/>
          </a:bodyPr>
          <a:lstStyle/>
          <a:p>
            <a:pPr algn="just">
              <a:lnSpc>
                <a:spcPct val="150000"/>
              </a:lnSpc>
            </a:pPr>
            <a:r>
              <a:rPr lang="zh-CN" altLang="en-US" sz="3200" b="1" dirty="0">
                <a:effectLst/>
                <a:latin typeface="Microsoft YaHei" panose="020B0503020204020204" pitchFamily="34" charset="-122"/>
                <a:ea typeface="Microsoft YaHei" panose="020B0503020204020204" pitchFamily="34" charset="-122"/>
              </a:rPr>
              <a:t>基于</a:t>
            </a:r>
            <a:r>
              <a:rPr lang="zh-CN" altLang="en-US" sz="3200" b="1" dirty="0">
                <a:solidFill>
                  <a:srgbClr val="0432FF"/>
                </a:solidFill>
                <a:effectLst/>
                <a:latin typeface="Microsoft YaHei" panose="020B0503020204020204" pitchFamily="34" charset="-122"/>
                <a:ea typeface="Microsoft YaHei" panose="020B0503020204020204" pitchFamily="34" charset="-122"/>
              </a:rPr>
              <a:t>机器学习</a:t>
            </a:r>
            <a:r>
              <a:rPr lang="zh-CN" altLang="en-US" sz="3200" b="1" dirty="0">
                <a:effectLst/>
                <a:latin typeface="Microsoft YaHei" panose="020B0503020204020204" pitchFamily="34" charset="-122"/>
                <a:ea typeface="Microsoft YaHei" panose="020B0503020204020204" pitchFamily="34" charset="-122"/>
              </a:rPr>
              <a:t>和</a:t>
            </a:r>
            <a:r>
              <a:rPr lang="zh-CN" altLang="en-US" sz="3200" b="1" dirty="0">
                <a:solidFill>
                  <a:srgbClr val="0432FF"/>
                </a:solidFill>
                <a:effectLst/>
                <a:latin typeface="Microsoft YaHei" panose="020B0503020204020204" pitchFamily="34" charset="-122"/>
                <a:ea typeface="Microsoft YaHei" panose="020B0503020204020204" pitchFamily="34" charset="-122"/>
              </a:rPr>
              <a:t>数据驱动</a:t>
            </a:r>
            <a:endParaRPr lang="en-US" altLang="zh-CN" sz="3200" b="1" dirty="0">
              <a:solidFill>
                <a:srgbClr val="0432FF"/>
              </a:solidFill>
              <a:effectLst/>
              <a:latin typeface="Microsoft YaHei" panose="020B0503020204020204" pitchFamily="34" charset="-122"/>
              <a:ea typeface="Microsoft YaHei" panose="020B0503020204020204" pitchFamily="34" charset="-122"/>
            </a:endParaRPr>
          </a:p>
          <a:p>
            <a:pPr marL="457200" indent="-457200" algn="just">
              <a:lnSpc>
                <a:spcPct val="125000"/>
              </a:lnSpc>
              <a:spcBef>
                <a:spcPts val="2400"/>
              </a:spcBef>
              <a:buFont typeface="Arial" panose="020B0604020202020204" pitchFamily="34" charset="0"/>
              <a:buChar char="•"/>
            </a:pPr>
            <a:r>
              <a:rPr lang="en-US" altLang="zh-CN" sz="2000" dirty="0">
                <a:latin typeface="Microsoft YaHei" panose="020B0503020204020204" pitchFamily="34" charset="-122"/>
                <a:ea typeface="Microsoft YaHei" panose="020B0503020204020204" pitchFamily="34" charset="-122"/>
              </a:rPr>
              <a:t>1989</a:t>
            </a:r>
            <a:r>
              <a:rPr lang="zh-CN" altLang="en-US" sz="2000" dirty="0">
                <a:latin typeface="Microsoft YaHei" panose="020B0503020204020204" pitchFamily="34" charset="-122"/>
                <a:ea typeface="Microsoft YaHei" panose="020B0503020204020204" pitchFamily="34" charset="-122"/>
              </a:rPr>
              <a:t>年机器翻译任务中引入语料库方法</a:t>
            </a:r>
            <a:endParaRPr lang="en-US" altLang="zh-CN" sz="2000" dirty="0">
              <a:latin typeface="Microsoft YaHei" panose="020B0503020204020204" pitchFamily="34" charset="-122"/>
              <a:ea typeface="Microsoft YaHei" panose="020B0503020204020204" pitchFamily="34" charset="-122"/>
            </a:endParaRPr>
          </a:p>
          <a:p>
            <a:pPr marL="457200" indent="-457200">
              <a:lnSpc>
                <a:spcPct val="125000"/>
              </a:lnSpc>
              <a:spcBef>
                <a:spcPts val="24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进入</a:t>
            </a:r>
            <a:r>
              <a:rPr lang="en-US" altLang="zh-CN" sz="2000" dirty="0">
                <a:latin typeface="Microsoft YaHei" panose="020B0503020204020204" pitchFamily="34" charset="-122"/>
                <a:ea typeface="Microsoft YaHei" panose="020B0503020204020204" pitchFamily="34" charset="-122"/>
              </a:rPr>
              <a:t>21</a:t>
            </a:r>
            <a:r>
              <a:rPr lang="zh-CN" altLang="en-US" sz="2000" dirty="0">
                <a:latin typeface="Microsoft YaHei" panose="020B0503020204020204" pitchFamily="34" charset="-122"/>
                <a:ea typeface="Microsoft YaHei" panose="020B0503020204020204" pitchFamily="34" charset="-122"/>
              </a:rPr>
              <a:t>世纪后，</a:t>
            </a:r>
            <a:r>
              <a:rPr lang="en-US" altLang="zh-CN" sz="2000" dirty="0">
                <a:latin typeface="Microsoft YaHei" panose="020B0503020204020204" pitchFamily="34" charset="-122"/>
                <a:ea typeface="Microsoft YaHei" panose="020B0503020204020204" pitchFamily="34" charset="-122"/>
              </a:rPr>
              <a:t>NLP</a:t>
            </a:r>
            <a:r>
              <a:rPr lang="zh-CN" altLang="en-US" sz="2000" dirty="0">
                <a:latin typeface="Microsoft YaHei" panose="020B0503020204020204" pitchFamily="34" charset="-122"/>
                <a:ea typeface="Microsoft YaHei" panose="020B0503020204020204" pitchFamily="34" charset="-122"/>
              </a:rPr>
              <a:t>进一步转向了机器学习方法，尤其是支持向量机（</a:t>
            </a:r>
            <a:r>
              <a:rPr lang="en-US" altLang="zh-CN" sz="2000" dirty="0">
                <a:latin typeface="Microsoft YaHei" panose="020B0503020204020204" pitchFamily="34" charset="-122"/>
                <a:ea typeface="Microsoft YaHei" panose="020B0503020204020204" pitchFamily="34" charset="-122"/>
              </a:rPr>
              <a:t>SVM</a:t>
            </a:r>
            <a:r>
              <a:rPr lang="zh-CN" altLang="en-US" sz="2000" dirty="0">
                <a:latin typeface="Microsoft YaHei" panose="020B0503020204020204" pitchFamily="34" charset="-122"/>
                <a:ea typeface="Microsoft YaHei" panose="020B0503020204020204" pitchFamily="34" charset="-122"/>
              </a:rPr>
              <a:t>）、朴素贝叶斯和决策树等监督学习算法的广泛应用。</a:t>
            </a:r>
            <a:endParaRPr lang="en-US" altLang="zh-CN" sz="2000" dirty="0">
              <a:latin typeface="Microsoft YaHei" panose="020B0503020204020204" pitchFamily="34" charset="-122"/>
              <a:ea typeface="Microsoft YaHei" panose="020B0503020204020204" pitchFamily="34" charset="-122"/>
            </a:endParaRPr>
          </a:p>
          <a:p>
            <a:pPr marL="457200" indent="-457200">
              <a:lnSpc>
                <a:spcPct val="125000"/>
              </a:lnSpc>
              <a:spcBef>
                <a:spcPts val="24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这个时期的研究重点是特征工程，即从大量语言数据中提取高质量的特征，用于分类、情感分析、实体识别等任务。通过特征工程，研究者能够更有效地训练模型，提高了 </a:t>
            </a:r>
            <a:r>
              <a:rPr lang="en-US" altLang="zh-CN" sz="2000" dirty="0">
                <a:latin typeface="Microsoft YaHei" panose="020B0503020204020204" pitchFamily="34" charset="-122"/>
                <a:ea typeface="Microsoft YaHei" panose="020B0503020204020204" pitchFamily="34" charset="-122"/>
              </a:rPr>
              <a:t>NLP </a:t>
            </a:r>
            <a:r>
              <a:rPr lang="zh-CN" altLang="en-US" sz="2000" dirty="0">
                <a:latin typeface="Microsoft YaHei" panose="020B0503020204020204" pitchFamily="34" charset="-122"/>
                <a:ea typeface="Microsoft YaHei" panose="020B0503020204020204" pitchFamily="34" charset="-122"/>
              </a:rPr>
              <a:t>任务的性能。</a:t>
            </a:r>
            <a:endParaRPr lang="en-US" altLang="zh-CN" sz="2000" dirty="0">
              <a:latin typeface="Microsoft YaHei" panose="020B0503020204020204" pitchFamily="34" charset="-122"/>
              <a:ea typeface="Microsoft YaHei" panose="020B0503020204020204" pitchFamily="34" charset="-122"/>
            </a:endParaRPr>
          </a:p>
          <a:p>
            <a:pPr marL="457200" indent="-457200">
              <a:lnSpc>
                <a:spcPct val="125000"/>
              </a:lnSpc>
              <a:spcBef>
                <a:spcPts val="24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与此同时，这一阶段为深度学习的出现奠定了基础，推动了基于数据的处理方法的广泛应用，并为后续更复杂的学习方法（如神经网络和深度学习）的发展铺平了道路。</a:t>
            </a:r>
            <a:br>
              <a:rPr lang="en-US" sz="2000" dirty="0"/>
            </a:br>
            <a:endParaRPr lang="zh-CN" altLang="en-US" sz="2000"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03D7D563-6AE2-A983-FB46-EF9B7EE8531C}"/>
              </a:ext>
            </a:extLst>
          </p:cNvPr>
          <p:cNvSpPr>
            <a:spLocks noChangeArrowheads="1"/>
          </p:cNvSpPr>
          <p:nvPr/>
        </p:nvSpPr>
        <p:spPr bwMode="auto">
          <a:xfrm>
            <a:off x="996952" y="363538"/>
            <a:ext cx="963680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9580BDAC-6ECD-EB6B-D8C0-CE6B9019C66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F9B48DAF-9D46-FAC7-731D-F31A7A7A02A1}"/>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67D7EAAD-33B3-664A-1087-94D19F6DF876}"/>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546A26C4-3C16-E765-8D8C-A943D0068BD6}"/>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55CC14E6-5840-9910-B713-0B6ED4BC1AC4}"/>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DD22E584-F0B7-E178-F81E-ADB29A2A18B0}"/>
              </a:ext>
            </a:extLst>
          </p:cNvPr>
          <p:cNvSpPr>
            <a:spLocks noChangeArrowheads="1"/>
          </p:cNvSpPr>
          <p:nvPr/>
        </p:nvSpPr>
        <p:spPr bwMode="auto">
          <a:xfrm>
            <a:off x="1248742" y="408136"/>
            <a:ext cx="593624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20</a:t>
            </a:r>
            <a:r>
              <a:rPr lang="zh-CN" altLang="en-US" sz="2400" b="1" dirty="0">
                <a:solidFill>
                  <a:schemeClr val="bg1"/>
                </a:solidFill>
                <a:latin typeface="微软雅黑" panose="020B0503020204020204" pitchFamily="34" charset="-122"/>
                <a:ea typeface="微软雅黑" panose="020B0503020204020204" pitchFamily="34" charset="-122"/>
              </a:rPr>
              <a:t>世纪</a:t>
            </a:r>
            <a:r>
              <a:rPr lang="en-US" altLang="zh-CN" sz="2400" b="1" dirty="0">
                <a:solidFill>
                  <a:schemeClr val="bg1"/>
                </a:solidFill>
                <a:latin typeface="微软雅黑" panose="020B0503020204020204" pitchFamily="34" charset="-122"/>
                <a:ea typeface="微软雅黑" panose="020B0503020204020204" pitchFamily="34" charset="-122"/>
              </a:rPr>
              <a:t>90</a:t>
            </a:r>
            <a:r>
              <a:rPr lang="zh-CN" altLang="en-US" sz="2400" b="1" dirty="0">
                <a:solidFill>
                  <a:schemeClr val="bg1"/>
                </a:solidFill>
                <a:latin typeface="微软雅黑" panose="020B0503020204020204" pitchFamily="34" charset="-122"/>
                <a:ea typeface="微软雅黑" panose="020B0503020204020204" pitchFamily="34" charset="-122"/>
              </a:rPr>
              <a:t>年代到</a:t>
            </a:r>
            <a:r>
              <a:rPr lang="en-US" altLang="zh-CN" sz="2400" b="1" dirty="0">
                <a:solidFill>
                  <a:schemeClr val="bg1"/>
                </a:solidFill>
                <a:latin typeface="微软雅黑" panose="020B0503020204020204" pitchFamily="34" charset="-122"/>
                <a:ea typeface="微软雅黑" panose="020B0503020204020204" pitchFamily="34" charset="-122"/>
              </a:rPr>
              <a:t>21</a:t>
            </a:r>
            <a:r>
              <a:rPr lang="zh-CN" altLang="en-US" sz="2400" b="1" dirty="0">
                <a:solidFill>
                  <a:schemeClr val="bg1"/>
                </a:solidFill>
                <a:latin typeface="微软雅黑" panose="020B0503020204020204" pitchFamily="34" charset="-122"/>
                <a:ea typeface="微软雅黑" panose="020B0503020204020204" pitchFamily="34" charset="-122"/>
              </a:rPr>
              <a:t>世纪初的经验主义时代</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026556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068102"/>
            <a:ext cx="11377612" cy="5416868"/>
          </a:xfrm>
          <a:prstGeom prst="rect">
            <a:avLst/>
          </a:prstGeom>
          <a:noFill/>
        </p:spPr>
        <p:txBody>
          <a:bodyPr wrap="square">
            <a:spAutoFit/>
          </a:bodyPr>
          <a:lstStyle/>
          <a:p>
            <a:pPr algn="just">
              <a:lnSpc>
                <a:spcPct val="150000"/>
              </a:lnSpc>
            </a:pPr>
            <a:r>
              <a:rPr lang="zh-CN" altLang="en-US" sz="3200" b="1" dirty="0">
                <a:solidFill>
                  <a:srgbClr val="0432FF"/>
                </a:solidFill>
                <a:effectLst/>
                <a:latin typeface="Microsoft YaHei" panose="020B0503020204020204" pitchFamily="34" charset="-122"/>
                <a:ea typeface="Microsoft YaHei" panose="020B0503020204020204" pitchFamily="34" charset="-122"/>
              </a:rPr>
              <a:t>深度神经</a:t>
            </a:r>
            <a:r>
              <a:rPr lang="zh-CN" altLang="en-US" sz="3200" b="1" dirty="0">
                <a:solidFill>
                  <a:srgbClr val="0432FF"/>
                </a:solidFill>
                <a:latin typeface="Microsoft YaHei" panose="020B0503020204020204" pitchFamily="34" charset="-122"/>
                <a:ea typeface="Microsoft YaHei" panose="020B0503020204020204" pitchFamily="34" charset="-122"/>
              </a:rPr>
              <a:t>网络</a:t>
            </a:r>
            <a:r>
              <a:rPr lang="en-US" altLang="zh-CN" sz="3200" b="1" dirty="0">
                <a:latin typeface="Microsoft YaHei" panose="020B0503020204020204" pitchFamily="34" charset="-122"/>
                <a:ea typeface="Microsoft YaHei" panose="020B0503020204020204" pitchFamily="34" charset="-122"/>
              </a:rPr>
              <a:t>+</a:t>
            </a:r>
            <a:r>
              <a:rPr lang="zh-CN" altLang="en-US" sz="3200" b="1" dirty="0">
                <a:solidFill>
                  <a:srgbClr val="0432FF"/>
                </a:solidFill>
                <a:latin typeface="Microsoft YaHei" panose="020B0503020204020204" pitchFamily="34" charset="-122"/>
                <a:ea typeface="Microsoft YaHei" panose="020B0503020204020204" pitchFamily="34" charset="-122"/>
              </a:rPr>
              <a:t>向量表示</a:t>
            </a:r>
            <a:endParaRPr lang="en-US" altLang="zh-CN" sz="3200" b="1" dirty="0">
              <a:solidFill>
                <a:srgbClr val="0432FF"/>
              </a:solidFill>
              <a:effectLst/>
              <a:latin typeface="Microsoft YaHei" panose="020B0503020204020204" pitchFamily="34" charset="-122"/>
              <a:ea typeface="Microsoft YaHei" panose="020B0503020204020204" pitchFamily="34" charset="-122"/>
            </a:endParaRPr>
          </a:p>
          <a:p>
            <a:pPr marL="457200" indent="-457200" algn="just">
              <a:spcBef>
                <a:spcPts val="2400"/>
              </a:spcBef>
              <a:buFont typeface="Arial" panose="020B0604020202020204" pitchFamily="34" charset="0"/>
              <a:buChar char="•"/>
            </a:pPr>
            <a:r>
              <a:rPr lang="en-US" altLang="zh-CN" dirty="0">
                <a:latin typeface="Microsoft YaHei" panose="020B0503020204020204" pitchFamily="34" charset="-122"/>
                <a:ea typeface="Microsoft YaHei" panose="020B0503020204020204" pitchFamily="34" charset="-122"/>
              </a:rPr>
              <a:t>2006</a:t>
            </a:r>
            <a:r>
              <a:rPr lang="zh-CN" altLang="en-US" dirty="0">
                <a:latin typeface="Microsoft YaHei" panose="020B0503020204020204" pitchFamily="34" charset="-122"/>
                <a:ea typeface="Microsoft YaHei" panose="020B0503020204020204" pitchFamily="34" charset="-122"/>
              </a:rPr>
              <a:t>年基于深度信念网络（</a:t>
            </a:r>
            <a:r>
              <a:rPr lang="en-US" altLang="zh-CN" dirty="0">
                <a:latin typeface="Microsoft YaHei" panose="020B0503020204020204" pitchFamily="34" charset="-122"/>
                <a:ea typeface="Microsoft YaHei" panose="020B0503020204020204" pitchFamily="34" charset="-122"/>
              </a:rPr>
              <a:t>Deep Belief Networks, DBN</a:t>
            </a:r>
            <a:r>
              <a:rPr lang="zh-CN" altLang="en-US" dirty="0">
                <a:latin typeface="Microsoft YaHei" panose="020B0503020204020204" pitchFamily="34" charset="-122"/>
                <a:ea typeface="Microsoft YaHei" panose="020B0503020204020204" pitchFamily="34" charset="-122"/>
              </a:rPr>
              <a:t>）方法</a:t>
            </a:r>
            <a:endParaRPr lang="en-US" altLang="zh-CN" dirty="0">
              <a:latin typeface="Microsoft YaHei" panose="020B0503020204020204" pitchFamily="34" charset="-122"/>
              <a:ea typeface="Microsoft YaHei" panose="020B0503020204020204" pitchFamily="34" charset="-122"/>
            </a:endParaRPr>
          </a:p>
          <a:p>
            <a:pPr marL="457200" indent="-457200" algn="just">
              <a:spcBef>
                <a:spcPts val="2400"/>
              </a:spcBef>
              <a:buFont typeface="Arial" panose="020B0604020202020204" pitchFamily="34" charset="0"/>
              <a:buChar char="•"/>
            </a:pPr>
            <a:r>
              <a:rPr lang="en-US" altLang="zh-CN" dirty="0">
                <a:latin typeface="Microsoft YaHei" panose="020B0503020204020204" pitchFamily="34" charset="-122"/>
                <a:ea typeface="Microsoft YaHei" panose="020B0503020204020204" pitchFamily="34" charset="-122"/>
              </a:rPr>
              <a:t>2011</a:t>
            </a:r>
            <a:r>
              <a:rPr lang="zh-CN" altLang="en-US" dirty="0">
                <a:latin typeface="Microsoft YaHei" panose="020B0503020204020204" pitchFamily="34" charset="-122"/>
                <a:ea typeface="Microsoft YaHei" panose="020B0503020204020204" pitchFamily="34" charset="-122"/>
              </a:rPr>
              <a:t>年</a:t>
            </a:r>
            <a:r>
              <a:rPr lang="en-US" altLang="zh-CN" dirty="0">
                <a:latin typeface="Microsoft YaHei" panose="020B0503020204020204" pitchFamily="34" charset="-122"/>
                <a:ea typeface="Microsoft YaHei" panose="020B0503020204020204" pitchFamily="34" charset="-122"/>
              </a:rPr>
              <a:t>《Natural language processing (almost) from scratch》</a:t>
            </a:r>
          </a:p>
          <a:p>
            <a:pPr marL="457200" indent="-457200">
              <a:spcBef>
                <a:spcPts val="2400"/>
              </a:spcBef>
              <a:buFont typeface="Arial" panose="020B0604020202020204" pitchFamily="34" charset="0"/>
              <a:buChar char="•"/>
            </a:pPr>
            <a:r>
              <a:rPr lang="en-US" altLang="zh-CN" dirty="0">
                <a:latin typeface="Microsoft YaHei" panose="020B0503020204020204" pitchFamily="34" charset="-122"/>
                <a:ea typeface="Microsoft YaHei" panose="020B0503020204020204" pitchFamily="34" charset="-122"/>
              </a:rPr>
              <a:t>2014 </a:t>
            </a:r>
            <a:r>
              <a:rPr lang="zh-CN" altLang="en-US" dirty="0">
                <a:latin typeface="Microsoft YaHei" panose="020B0503020204020204" pitchFamily="34" charset="-122"/>
                <a:ea typeface="Microsoft YaHei" panose="020B0503020204020204" pitchFamily="34" charset="-122"/>
              </a:rPr>
              <a:t>年 </a:t>
            </a:r>
            <a:r>
              <a:rPr lang="en-US" dirty="0">
                <a:solidFill>
                  <a:srgbClr val="C00000"/>
                </a:solidFill>
                <a:latin typeface="Microsoft YaHei" panose="020B0503020204020204" pitchFamily="34" charset="-122"/>
                <a:ea typeface="Microsoft YaHei" panose="020B0503020204020204" pitchFamily="34" charset="-122"/>
              </a:rPr>
              <a:t>Seq2Seq（</a:t>
            </a:r>
            <a:r>
              <a:rPr lang="zh-CN" altLang="en-US" dirty="0">
                <a:solidFill>
                  <a:srgbClr val="C00000"/>
                </a:solidFill>
                <a:latin typeface="Microsoft YaHei" panose="020B0503020204020204" pitchFamily="34" charset="-122"/>
                <a:ea typeface="Microsoft YaHei" panose="020B0503020204020204" pitchFamily="34" charset="-122"/>
              </a:rPr>
              <a:t>序列到序列）</a:t>
            </a:r>
            <a:r>
              <a:rPr lang="zh-CN" altLang="en-US" dirty="0">
                <a:latin typeface="Microsoft YaHei" panose="020B0503020204020204" pitchFamily="34" charset="-122"/>
                <a:ea typeface="Microsoft YaHei" panose="020B0503020204020204" pitchFamily="34" charset="-122"/>
              </a:rPr>
              <a:t>的模型在机器翻译任务上取得了非常好的效果，并且</a:t>
            </a:r>
            <a:r>
              <a:rPr lang="zh-CN" altLang="en-US" dirty="0">
                <a:solidFill>
                  <a:srgbClr val="7030A0"/>
                </a:solidFill>
                <a:latin typeface="Microsoft YaHei" panose="020B0503020204020204" pitchFamily="34" charset="-122"/>
                <a:ea typeface="Microsoft YaHei" panose="020B0503020204020204" pitchFamily="34" charset="-122"/>
              </a:rPr>
              <a:t>完全不依赖任何人工特征</a:t>
            </a:r>
            <a:r>
              <a:rPr lang="en-US" altLang="zh-CN" dirty="0">
                <a:solidFill>
                  <a:srgbClr val="7030A0"/>
                </a:solidFill>
                <a:latin typeface="Microsoft YaHei" panose="020B0503020204020204" pitchFamily="34" charset="-122"/>
                <a:ea typeface="Microsoft YaHei" panose="020B0503020204020204" pitchFamily="34" charset="-122"/>
              </a:rPr>
              <a:t>.</a:t>
            </a:r>
          </a:p>
          <a:p>
            <a:pPr marL="457200" indent="-457200">
              <a:spcBef>
                <a:spcPts val="2400"/>
              </a:spcBef>
              <a:buFont typeface="Arial" panose="020B0604020202020204" pitchFamily="34" charset="0"/>
              <a:buChar char="•"/>
            </a:pPr>
            <a:r>
              <a:rPr lang="zh-CN" altLang="en-US" dirty="0"/>
              <a:t>卷积神经网络（</a:t>
            </a:r>
            <a:r>
              <a:rPr lang="en-US" dirty="0"/>
              <a:t>CNN）</a:t>
            </a:r>
            <a:r>
              <a:rPr lang="zh-CN" altLang="en-US" dirty="0"/>
              <a:t>和循环神经网络（</a:t>
            </a:r>
            <a:r>
              <a:rPr lang="en-US" dirty="0"/>
              <a:t>RNN）</a:t>
            </a:r>
            <a:r>
              <a:rPr lang="zh-CN" altLang="en-US" dirty="0"/>
              <a:t>在文本分类、机器翻译、语音识别等任务中取得了显著突破，特别是长短期记忆网络（</a:t>
            </a:r>
            <a:r>
              <a:rPr lang="en-US" dirty="0"/>
              <a:t>LSTM）</a:t>
            </a:r>
            <a:r>
              <a:rPr lang="zh-CN" altLang="en-US" dirty="0"/>
              <a:t>和门控循环单元（</a:t>
            </a:r>
            <a:r>
              <a:rPr lang="en-US" dirty="0"/>
              <a:t>GRU）</a:t>
            </a:r>
            <a:r>
              <a:rPr lang="zh-CN" altLang="en-US" dirty="0"/>
              <a:t>的出现，使得模型能够更好地处理序列数据中的长期依赖关系。</a:t>
            </a:r>
            <a:endParaRPr lang="en-US" altLang="zh-CN" dirty="0"/>
          </a:p>
          <a:p>
            <a:pPr marL="457200" indent="-457200">
              <a:spcBef>
                <a:spcPts val="2400"/>
              </a:spcBef>
              <a:buFont typeface="Arial" panose="020B0604020202020204" pitchFamily="34" charset="0"/>
              <a:buChar char="•"/>
            </a:pPr>
            <a:r>
              <a:rPr lang="zh-CN" altLang="en-US" dirty="0"/>
              <a:t>随着技术的进一步发展，基于注意力机制的 </a:t>
            </a:r>
            <a:r>
              <a:rPr lang="en-US" dirty="0"/>
              <a:t>Transformer </a:t>
            </a:r>
            <a:r>
              <a:rPr lang="zh-CN" altLang="en-US" dirty="0"/>
              <a:t>模型问世，显著提升了语言模型的表现力。</a:t>
            </a:r>
            <a:r>
              <a:rPr lang="en-US" dirty="0"/>
              <a:t>Transformer </a:t>
            </a:r>
            <a:r>
              <a:rPr lang="zh-CN" altLang="en-US" dirty="0"/>
              <a:t>通过并行化处理和全局依赖关系建模，极大地提高了计算速度和准确度。基于 </a:t>
            </a:r>
            <a:r>
              <a:rPr lang="en-US" dirty="0"/>
              <a:t>Transformer </a:t>
            </a:r>
            <a:r>
              <a:rPr lang="zh-CN" altLang="en-US" dirty="0"/>
              <a:t>的预训练语言模型（如 </a:t>
            </a:r>
            <a:r>
              <a:rPr lang="en-US" dirty="0"/>
              <a:t>BERT </a:t>
            </a:r>
            <a:r>
              <a:rPr lang="zh-CN" altLang="en-US" dirty="0"/>
              <a:t>和 </a:t>
            </a:r>
            <a:r>
              <a:rPr lang="en-US" dirty="0"/>
              <a:t>GPT </a:t>
            </a:r>
            <a:r>
              <a:rPr lang="zh-CN" altLang="en-US" dirty="0"/>
              <a:t>系列）已成为了 </a:t>
            </a:r>
            <a:r>
              <a:rPr lang="en-US" dirty="0"/>
              <a:t>NLP </a:t>
            </a:r>
            <a:r>
              <a:rPr lang="zh-CN" altLang="en-US" dirty="0"/>
              <a:t>的主流技术，这些模型在机器翻译、情感分析、问答系统等多个任务中取得了前所未有的成果，标志着 </a:t>
            </a:r>
            <a:r>
              <a:rPr lang="en-US" dirty="0"/>
              <a:t>NLP </a:t>
            </a:r>
            <a:r>
              <a:rPr lang="zh-CN" altLang="en-US" dirty="0"/>
              <a:t>进入了一个全新的时代。</a:t>
            </a:r>
            <a:endParaRPr lang="zh-CN" altLang="en-US"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E8D48133-A76D-2ED9-E78D-544551D5A76E}"/>
              </a:ext>
            </a:extLst>
          </p:cNvPr>
          <p:cNvSpPr>
            <a:spLocks noChangeArrowheads="1"/>
          </p:cNvSpPr>
          <p:nvPr/>
        </p:nvSpPr>
        <p:spPr bwMode="auto">
          <a:xfrm>
            <a:off x="996952" y="363538"/>
            <a:ext cx="965735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CF98A5C2-BC96-5F45-DAC4-91F184BF5FE8}"/>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4921F9F5-B2F1-E7E3-C5BF-0C080A80DA9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FD19BB09-F7F5-E9C4-42A2-CE1BD7D5E325}"/>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B8D376D-A464-C59C-C364-AF5918DD206A}"/>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DFC7CFD7-033A-9EA0-CD94-E5B89F942ABA}"/>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8871EAFB-0A73-B977-598C-AFB079BC0223}"/>
              </a:ext>
            </a:extLst>
          </p:cNvPr>
          <p:cNvSpPr>
            <a:spLocks noChangeArrowheads="1"/>
          </p:cNvSpPr>
          <p:nvPr/>
        </p:nvSpPr>
        <p:spPr bwMode="auto">
          <a:xfrm>
            <a:off x="1248742" y="408136"/>
            <a:ext cx="40190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2006</a:t>
            </a:r>
            <a:r>
              <a:rPr lang="zh-CN" altLang="en-US" sz="2400" b="1" dirty="0">
                <a:solidFill>
                  <a:schemeClr val="bg1"/>
                </a:solidFill>
                <a:latin typeface="微软雅黑" panose="020B0503020204020204" pitchFamily="34" charset="-122"/>
                <a:ea typeface="微软雅黑" panose="020B0503020204020204" pitchFamily="34" charset="-122"/>
              </a:rPr>
              <a:t>年至今的深度学习时代</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623711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487691" y="1078612"/>
            <a:ext cx="10905523" cy="4905317"/>
          </a:xfrm>
          <a:prstGeom prst="rect">
            <a:avLst/>
          </a:prstGeom>
          <a:noFill/>
        </p:spPr>
        <p:txBody>
          <a:bodyPr wrap="square">
            <a:spAutoFit/>
          </a:bodyPr>
          <a:lstStyle/>
          <a:p>
            <a:pPr algn="just">
              <a:lnSpc>
                <a:spcPct val="150000"/>
              </a:lnSpc>
            </a:pPr>
            <a:r>
              <a:rPr lang="zh-CN" altLang="en-US" sz="3200" b="1" dirty="0">
                <a:solidFill>
                  <a:srgbClr val="0432FF"/>
                </a:solidFill>
                <a:effectLst/>
                <a:latin typeface="Microsoft YaHei" panose="020B0503020204020204" pitchFamily="34" charset="-122"/>
                <a:ea typeface="Microsoft YaHei" panose="020B0503020204020204" pitchFamily="34" charset="-122"/>
              </a:rPr>
              <a:t>超大规模语言模型</a:t>
            </a:r>
            <a:r>
              <a:rPr lang="en-US" altLang="zh-CN" sz="3200" b="1" dirty="0">
                <a:solidFill>
                  <a:srgbClr val="0432FF"/>
                </a:solidFill>
                <a:effectLst/>
                <a:latin typeface="Microsoft YaHei" panose="020B0503020204020204" pitchFamily="34" charset="-122"/>
                <a:ea typeface="Microsoft YaHei" panose="020B0503020204020204" pitchFamily="34" charset="-122"/>
              </a:rPr>
              <a:t>: </a:t>
            </a:r>
            <a:r>
              <a:rPr lang="zh-CN" altLang="en-US" sz="3200" b="1" dirty="0">
                <a:solidFill>
                  <a:srgbClr val="C00000"/>
                </a:solidFill>
                <a:effectLst/>
                <a:latin typeface="Microsoft YaHei" panose="020B0503020204020204" pitchFamily="34" charset="-122"/>
                <a:ea typeface="Microsoft YaHei" panose="020B0503020204020204" pitchFamily="34" charset="-122"/>
              </a:rPr>
              <a:t>多模态</a:t>
            </a:r>
            <a:r>
              <a:rPr lang="zh-CN" altLang="en-US" sz="3200" b="1" dirty="0">
                <a:solidFill>
                  <a:srgbClr val="0432FF"/>
                </a:solidFill>
                <a:effectLst/>
                <a:latin typeface="Microsoft YaHei" panose="020B0503020204020204" pitchFamily="34" charset="-122"/>
                <a:ea typeface="Microsoft YaHei" panose="020B0503020204020204" pitchFamily="34" charset="-122"/>
              </a:rPr>
              <a:t>与</a:t>
            </a:r>
            <a:r>
              <a:rPr lang="zh-CN" altLang="en-US" sz="3200" b="1" dirty="0">
                <a:solidFill>
                  <a:srgbClr val="C00000"/>
                </a:solidFill>
                <a:effectLst/>
                <a:latin typeface="Microsoft YaHei" panose="020B0503020204020204" pitchFamily="34" charset="-122"/>
                <a:ea typeface="Microsoft YaHei" panose="020B0503020204020204" pitchFamily="34" charset="-122"/>
              </a:rPr>
              <a:t>生成式</a:t>
            </a:r>
            <a:r>
              <a:rPr lang="en-US" altLang="zh-CN" sz="3200" b="1" dirty="0">
                <a:solidFill>
                  <a:srgbClr val="C00000"/>
                </a:solidFill>
                <a:effectLst/>
                <a:latin typeface="Microsoft YaHei" panose="020B0503020204020204" pitchFamily="34" charset="-122"/>
                <a:ea typeface="Microsoft YaHei" panose="020B0503020204020204" pitchFamily="34" charset="-122"/>
              </a:rPr>
              <a:t>AI</a:t>
            </a:r>
          </a:p>
          <a:p>
            <a:pPr marL="457200" indent="-457200" algn="just">
              <a:lnSpc>
                <a:spcPct val="125000"/>
              </a:lnSpc>
              <a:spcBef>
                <a:spcPts val="2400"/>
              </a:spcBef>
              <a:buFont typeface="Arial" panose="020B0604020202020204" pitchFamily="34" charset="0"/>
              <a:buChar char="•"/>
            </a:pPr>
            <a:r>
              <a:rPr lang="zh-CN" altLang="en-US" dirty="0"/>
              <a:t>随着预训练模型技术的不断发展，自然语言处理已经进入了一个更加高级的阶段。</a:t>
            </a:r>
            <a:endParaRPr lang="en-US" altLang="zh-CN" dirty="0"/>
          </a:p>
          <a:p>
            <a:pPr marL="457200" indent="-457200" algn="just">
              <a:lnSpc>
                <a:spcPct val="125000"/>
              </a:lnSpc>
              <a:spcBef>
                <a:spcPts val="2400"/>
              </a:spcBef>
              <a:buFont typeface="Arial" panose="020B0604020202020204" pitchFamily="34" charset="0"/>
              <a:buChar char="•"/>
            </a:pPr>
            <a:r>
              <a:rPr lang="zh-CN" altLang="en-US" dirty="0"/>
              <a:t>在这一阶段，多模态学习成为了研究的热点领域。多模态学习通过结合语言、图像、视频等多种形式的数据，能够实现更深层次的理解，推动了人机交互和智能系统的进一步发展。</a:t>
            </a:r>
            <a:endParaRPr lang="en-US" altLang="zh-CN" dirty="0"/>
          </a:p>
          <a:p>
            <a:pPr marL="457200" indent="-457200" algn="just">
              <a:lnSpc>
                <a:spcPct val="125000"/>
              </a:lnSpc>
              <a:spcBef>
                <a:spcPts val="2400"/>
              </a:spcBef>
              <a:buFont typeface="Arial" panose="020B0604020202020204" pitchFamily="34" charset="0"/>
              <a:buChar char="•"/>
            </a:pPr>
            <a:r>
              <a:rPr lang="zh-CN" altLang="en-US" dirty="0"/>
              <a:t>同时，生成式 </a:t>
            </a:r>
            <a:r>
              <a:rPr lang="en-US" dirty="0"/>
              <a:t>AI</a:t>
            </a:r>
            <a:r>
              <a:rPr lang="zh-CN" altLang="en-US" dirty="0"/>
              <a:t>技术，如 </a:t>
            </a:r>
            <a:r>
              <a:rPr lang="en-US" dirty="0"/>
              <a:t>ChatGPT </a:t>
            </a:r>
            <a:r>
              <a:rPr lang="zh-CN" altLang="en-US" dirty="0"/>
              <a:t>和 </a:t>
            </a:r>
            <a:r>
              <a:rPr lang="en-US" dirty="0"/>
              <a:t>Gemini </a:t>
            </a:r>
            <a:r>
              <a:rPr lang="zh-CN" altLang="en-US" dirty="0"/>
              <a:t>等，已在内容生成、代码自动补全、对话系统等多个领域展现出卓越的能力，极大地提升了智能系统的交互性和实用性。</a:t>
            </a:r>
            <a:endParaRPr lang="en-US" altLang="zh-CN" dirty="0"/>
          </a:p>
          <a:p>
            <a:pPr marL="457200" indent="-457200">
              <a:lnSpc>
                <a:spcPct val="125000"/>
              </a:lnSpc>
              <a:spcBef>
                <a:spcPts val="2400"/>
              </a:spcBef>
              <a:buFont typeface="Arial" panose="020B0604020202020204" pitchFamily="34" charset="0"/>
              <a:buChar char="•"/>
            </a:pPr>
            <a:r>
              <a:rPr lang="zh-CN" altLang="en-US" dirty="0"/>
              <a:t>展望未来，</a:t>
            </a:r>
            <a:r>
              <a:rPr lang="en-US" dirty="0"/>
              <a:t>NLP </a:t>
            </a:r>
            <a:r>
              <a:rPr lang="zh-CN" altLang="en-US" dirty="0"/>
              <a:t>的发展可能会更加关注高效训练和跨领域的通用性，特别是通过更深刻的语言理解和生成能力，更好地服务于实际应用场景。</a:t>
            </a:r>
            <a:br>
              <a:rPr lang="en-US" sz="2400" dirty="0"/>
            </a:br>
            <a:endParaRPr lang="zh-CN" altLang="en-US" sz="2400"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305DA6F2-6558-2630-6A75-87291DE2F2CC}"/>
              </a:ext>
            </a:extLst>
          </p:cNvPr>
          <p:cNvSpPr>
            <a:spLocks noChangeArrowheads="1"/>
          </p:cNvSpPr>
          <p:nvPr/>
        </p:nvSpPr>
        <p:spPr bwMode="auto">
          <a:xfrm>
            <a:off x="996952" y="363538"/>
            <a:ext cx="965735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BEFA07D-EC4D-AE50-BB35-9B88A47F7DB4}"/>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2FF357AA-F3D1-76EB-ECF0-E5E3624282E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(5)</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50C0665F-9983-29EA-8C77-ABB41A3531E6}"/>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BD42FA18-5D6C-C0A2-630A-7588E7AB13DA}"/>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1033AE6F-2681-B4FA-463D-9D05A3FCB530}"/>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D4966035-F948-7987-7ED0-11D749D12F5D}"/>
              </a:ext>
            </a:extLst>
          </p:cNvPr>
          <p:cNvSpPr>
            <a:spLocks noChangeArrowheads="1"/>
          </p:cNvSpPr>
          <p:nvPr/>
        </p:nvSpPr>
        <p:spPr bwMode="auto">
          <a:xfrm>
            <a:off x="1248742" y="408136"/>
            <a:ext cx="2787943"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en-US" altLang="zh-CN" sz="2400" b="1" dirty="0">
                <a:solidFill>
                  <a:schemeClr val="bg1"/>
                </a:solidFill>
                <a:latin typeface="微软雅黑" panose="020B0503020204020204" pitchFamily="34" charset="-122"/>
                <a:ea typeface="微软雅黑" panose="020B0503020204020204" pitchFamily="34" charset="-122"/>
              </a:rPr>
              <a:t>2018</a:t>
            </a:r>
            <a:r>
              <a:rPr lang="zh-CN" altLang="en-US" sz="2400" b="1" dirty="0">
                <a:solidFill>
                  <a:schemeClr val="bg1"/>
                </a:solidFill>
                <a:latin typeface="微软雅黑" panose="020B0503020204020204" pitchFamily="34" charset="-122"/>
                <a:ea typeface="微软雅黑" panose="020B0503020204020204" pitchFamily="34" charset="-122"/>
              </a:rPr>
              <a:t>年至今大模型</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5941622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14</a:t>
            </a:fld>
            <a:endParaRPr lang="zh-CN" altLang="en-US"/>
          </a:p>
        </p:txBody>
      </p:sp>
      <p:sp>
        <p:nvSpPr>
          <p:cNvPr id="10" name="平行四边形 6">
            <a:extLst>
              <a:ext uri="{FF2B5EF4-FFF2-40B4-BE49-F238E27FC236}">
                <a16:creationId xmlns:a16="http://schemas.microsoft.com/office/drawing/2014/main" id="{232F5D33-A3CD-92E6-AAA2-97EE98244FD1}"/>
              </a:ext>
            </a:extLst>
          </p:cNvPr>
          <p:cNvSpPr>
            <a:spLocks noChangeArrowheads="1"/>
          </p:cNvSpPr>
          <p:nvPr/>
        </p:nvSpPr>
        <p:spPr bwMode="auto">
          <a:xfrm>
            <a:off x="996951" y="363538"/>
            <a:ext cx="9595705"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1" name="平行四边形 7">
            <a:extLst>
              <a:ext uri="{FF2B5EF4-FFF2-40B4-BE49-F238E27FC236}">
                <a16:creationId xmlns:a16="http://schemas.microsoft.com/office/drawing/2014/main" id="{EEBE40C6-A4F6-C8D0-037D-B8DCAD12FBD0}"/>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文本框 5">
            <a:extLst>
              <a:ext uri="{FF2B5EF4-FFF2-40B4-BE49-F238E27FC236}">
                <a16:creationId xmlns:a16="http://schemas.microsoft.com/office/drawing/2014/main" id="{2D11E2C4-99A9-4E39-E558-4EF431BF40AA}"/>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4" name="组合 11">
            <a:extLst>
              <a:ext uri="{FF2B5EF4-FFF2-40B4-BE49-F238E27FC236}">
                <a16:creationId xmlns:a16="http://schemas.microsoft.com/office/drawing/2014/main" id="{96DF44AA-63D7-2716-49F4-B09F5AEEA585}"/>
              </a:ext>
            </a:extLst>
          </p:cNvPr>
          <p:cNvGrpSpPr>
            <a:grpSpLocks/>
          </p:cNvGrpSpPr>
          <p:nvPr/>
        </p:nvGrpSpPr>
        <p:grpSpPr bwMode="auto">
          <a:xfrm>
            <a:off x="11480800" y="479425"/>
            <a:ext cx="333375" cy="333375"/>
            <a:chOff x="0" y="0"/>
            <a:chExt cx="449943" cy="449943"/>
          </a:xfrm>
        </p:grpSpPr>
        <p:sp>
          <p:nvSpPr>
            <p:cNvPr id="15" name="椭圆 9">
              <a:extLst>
                <a:ext uri="{FF2B5EF4-FFF2-40B4-BE49-F238E27FC236}">
                  <a16:creationId xmlns:a16="http://schemas.microsoft.com/office/drawing/2014/main" id="{C466309F-B9F2-8581-6CA8-D7F4AE8D5C8C}"/>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6" name="等腰三角形 10">
              <a:extLst>
                <a:ext uri="{FF2B5EF4-FFF2-40B4-BE49-F238E27FC236}">
                  <a16:creationId xmlns:a16="http://schemas.microsoft.com/office/drawing/2014/main" id="{485DDDAB-ED68-7B82-B92F-FED13D9DC53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7" name="矩形 8">
            <a:extLst>
              <a:ext uri="{FF2B5EF4-FFF2-40B4-BE49-F238E27FC236}">
                <a16:creationId xmlns:a16="http://schemas.microsoft.com/office/drawing/2014/main" id="{ABB77E13-B2FE-70DB-A47B-23A3A4512B75}"/>
              </a:ext>
            </a:extLst>
          </p:cNvPr>
          <p:cNvSpPr>
            <a:spLocks noChangeArrowheads="1"/>
          </p:cNvSpPr>
          <p:nvPr/>
        </p:nvSpPr>
        <p:spPr bwMode="auto">
          <a:xfrm>
            <a:off x="1248742" y="408136"/>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大语言模型持续发展</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pic>
        <p:nvPicPr>
          <p:cNvPr id="4" name="Picture 3">
            <a:extLst>
              <a:ext uri="{FF2B5EF4-FFF2-40B4-BE49-F238E27FC236}">
                <a16:creationId xmlns:a16="http://schemas.microsoft.com/office/drawing/2014/main" id="{63B7AF5C-376A-1762-BEDB-69AB87494D25}"/>
              </a:ext>
            </a:extLst>
          </p:cNvPr>
          <p:cNvPicPr>
            <a:picLocks noChangeAspect="1"/>
          </p:cNvPicPr>
          <p:nvPr/>
        </p:nvPicPr>
        <p:blipFill>
          <a:blip r:embed="rId3"/>
          <a:stretch>
            <a:fillRect/>
          </a:stretch>
        </p:blipFill>
        <p:spPr>
          <a:xfrm>
            <a:off x="306996" y="1136651"/>
            <a:ext cx="5397500" cy="5219700"/>
          </a:xfrm>
          <a:prstGeom prst="rect">
            <a:avLst/>
          </a:prstGeom>
          <a:effectLst>
            <a:outerShdw blurRad="63500" sx="102000" sy="102000" algn="ctr" rotWithShape="0">
              <a:prstClr val="black">
                <a:alpha val="40000"/>
              </a:prstClr>
            </a:outerShdw>
          </a:effectLst>
        </p:spPr>
      </p:pic>
      <p:pic>
        <p:nvPicPr>
          <p:cNvPr id="1030" name="Picture 6" descr="Image">
            <a:extLst>
              <a:ext uri="{FF2B5EF4-FFF2-40B4-BE49-F238E27FC236}">
                <a16:creationId xmlns:a16="http://schemas.microsoft.com/office/drawing/2014/main" id="{B5162AF9-B5A3-59C4-3C54-C81F807DAFDC}"/>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41305" t="11749" r="11195" b="24874"/>
          <a:stretch/>
        </p:blipFill>
        <p:spPr bwMode="auto">
          <a:xfrm>
            <a:off x="5809044" y="479425"/>
            <a:ext cx="6180163" cy="3790123"/>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F35326E6-0C33-CD6D-A6EF-3B79B85C368E}"/>
              </a:ext>
            </a:extLst>
          </p:cNvPr>
          <p:cNvPicPr>
            <a:picLocks noChangeAspect="1"/>
          </p:cNvPicPr>
          <p:nvPr/>
        </p:nvPicPr>
        <p:blipFill>
          <a:blip r:embed="rId5"/>
          <a:stretch>
            <a:fillRect/>
          </a:stretch>
        </p:blipFill>
        <p:spPr>
          <a:xfrm>
            <a:off x="7999482" y="4385435"/>
            <a:ext cx="2514600" cy="22733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433411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15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443125"/>
            <a:ext cx="11195049" cy="4128181"/>
          </a:xfrm>
          <a:prstGeom prst="rect">
            <a:avLst/>
          </a:prstGeom>
          <a:noFill/>
        </p:spPr>
        <p:txBody>
          <a:bodyPr wrap="square">
            <a:spAutoFit/>
          </a:bodyPr>
          <a:lstStyle/>
          <a:p>
            <a:pPr algn="just">
              <a:lnSpc>
                <a:spcPct val="125000"/>
              </a:lnSpc>
            </a:pPr>
            <a:r>
              <a:rPr lang="zh-CN" altLang="en-US" sz="2800" dirty="0">
                <a:effectLst/>
                <a:latin typeface="Microsoft YaHei" panose="020B0503020204020204" pitchFamily="34" charset="-122"/>
                <a:ea typeface="Microsoft YaHei" panose="020B0503020204020204" pitchFamily="34" charset="-122"/>
              </a:rPr>
              <a:t>自然语言处理的</a:t>
            </a:r>
            <a:r>
              <a:rPr lang="zh-CN" altLang="en-US" sz="2800" b="1" dirty="0">
                <a:effectLst/>
                <a:latin typeface="Microsoft YaHei" panose="020B0503020204020204" pitchFamily="34" charset="-122"/>
                <a:ea typeface="Microsoft YaHei" panose="020B0503020204020204" pitchFamily="34" charset="-122"/>
              </a:rPr>
              <a:t>研究内容十分庞杂</a:t>
            </a:r>
            <a:endParaRPr lang="en-US" altLang="zh-CN" sz="2800" b="1" dirty="0">
              <a:effectLst/>
              <a:latin typeface="Microsoft YaHei" panose="020B0503020204020204" pitchFamily="34" charset="-122"/>
              <a:ea typeface="Microsoft YaHei" panose="020B0503020204020204" pitchFamily="34" charset="-122"/>
            </a:endParaRPr>
          </a:p>
          <a:p>
            <a:pPr marL="914400" lvl="1" indent="-457200" algn="just">
              <a:lnSpc>
                <a:spcPct val="125000"/>
              </a:lnSpc>
              <a:spcBef>
                <a:spcPts val="1200"/>
              </a:spcBef>
              <a:buFont typeface="Arial" panose="020B0604020202020204" pitchFamily="34" charset="0"/>
              <a:buChar char="•"/>
            </a:pPr>
            <a:r>
              <a:rPr lang="zh-CN" altLang="en-US" sz="2000" b="1" dirty="0">
                <a:latin typeface="Microsoft YaHei" panose="020B0503020204020204" pitchFamily="34" charset="-122"/>
                <a:ea typeface="Microsoft YaHei" panose="020B0503020204020204" pitchFamily="34" charset="-122"/>
              </a:rPr>
              <a:t>整体</a:t>
            </a:r>
            <a:r>
              <a:rPr lang="zh-CN" altLang="en-US" sz="2000" dirty="0">
                <a:latin typeface="Microsoft YaHei" panose="020B0503020204020204" pitchFamily="34" charset="-122"/>
                <a:ea typeface="Microsoft YaHei" panose="020B0503020204020204" pitchFamily="34" charset="-122"/>
              </a:rPr>
              <a:t>：基础算法研究和应用技术研究</a:t>
            </a:r>
            <a:endParaRPr lang="en-US" altLang="zh-CN" sz="2000" dirty="0">
              <a:latin typeface="Microsoft YaHei" panose="020B0503020204020204" pitchFamily="34" charset="-122"/>
              <a:ea typeface="Microsoft YaHei" panose="020B0503020204020204" pitchFamily="34" charset="-122"/>
            </a:endParaRPr>
          </a:p>
          <a:p>
            <a:pPr marL="914400" lvl="1" indent="-457200" algn="just">
              <a:lnSpc>
                <a:spcPct val="125000"/>
              </a:lnSpc>
              <a:spcBef>
                <a:spcPts val="1200"/>
              </a:spcBef>
              <a:buFont typeface="Arial" panose="020B0604020202020204" pitchFamily="34" charset="0"/>
              <a:buChar char="•"/>
            </a:pPr>
            <a:r>
              <a:rPr lang="zh-CN" altLang="en-US" sz="2000" b="1" dirty="0">
                <a:solidFill>
                  <a:srgbClr val="0432FF"/>
                </a:solidFill>
                <a:latin typeface="Microsoft YaHei" panose="020B0503020204020204" pitchFamily="34" charset="-122"/>
                <a:ea typeface="Microsoft YaHei" panose="020B0503020204020204" pitchFamily="34" charset="-122"/>
              </a:rPr>
              <a:t>语言单位角度</a:t>
            </a:r>
            <a:r>
              <a:rPr lang="zh-CN" altLang="en-US" sz="2000" dirty="0">
                <a:latin typeface="Microsoft YaHei" panose="020B0503020204020204" pitchFamily="34" charset="-122"/>
                <a:ea typeface="Microsoft YaHei" panose="020B0503020204020204" pitchFamily="34" charset="-122"/>
              </a:rPr>
              <a:t>：字、词、短语、句子、段落以及篇章等不同粒度</a:t>
            </a:r>
            <a:endParaRPr lang="en-US" altLang="zh-CN" sz="2000" dirty="0">
              <a:latin typeface="Microsoft YaHei" panose="020B0503020204020204" pitchFamily="34" charset="-122"/>
              <a:ea typeface="Microsoft YaHei" panose="020B0503020204020204" pitchFamily="34" charset="-122"/>
            </a:endParaRPr>
          </a:p>
          <a:p>
            <a:pPr marL="914400" lvl="1" indent="-457200" algn="just">
              <a:lnSpc>
                <a:spcPct val="125000"/>
              </a:lnSpc>
              <a:spcBef>
                <a:spcPts val="1200"/>
              </a:spcBef>
              <a:buFont typeface="Arial" panose="020B0604020202020204" pitchFamily="34" charset="0"/>
              <a:buChar char="•"/>
            </a:pPr>
            <a:r>
              <a:rPr lang="zh-CN" altLang="en-US" sz="2000" b="1" dirty="0">
                <a:solidFill>
                  <a:srgbClr val="0432FF"/>
                </a:solidFill>
                <a:latin typeface="Microsoft YaHei" panose="020B0503020204020204" pitchFamily="34" charset="-122"/>
                <a:ea typeface="Microsoft YaHei" panose="020B0503020204020204" pitchFamily="34" charset="-122"/>
              </a:rPr>
              <a:t>语言学研究角度</a:t>
            </a:r>
            <a:r>
              <a:rPr lang="zh-CN" altLang="en-US" sz="2000" dirty="0">
                <a:latin typeface="Microsoft YaHei" panose="020B0503020204020204" pitchFamily="34" charset="-122"/>
                <a:ea typeface="Microsoft YaHei" panose="020B0503020204020204" pitchFamily="34" charset="-122"/>
              </a:rPr>
              <a:t>：形态学、语法学、语义学、语用学等不同层面</a:t>
            </a:r>
            <a:endParaRPr lang="en-US" altLang="zh-CN" sz="2000" dirty="0">
              <a:latin typeface="Microsoft YaHei" panose="020B0503020204020204" pitchFamily="34" charset="-122"/>
              <a:ea typeface="Microsoft YaHei" panose="020B0503020204020204" pitchFamily="34" charset="-122"/>
            </a:endParaRPr>
          </a:p>
          <a:p>
            <a:pPr marL="914400" lvl="1" indent="-457200" algn="just">
              <a:lnSpc>
                <a:spcPct val="125000"/>
              </a:lnSpc>
              <a:spcBef>
                <a:spcPts val="1200"/>
              </a:spcBef>
              <a:buFont typeface="Arial" panose="020B0604020202020204" pitchFamily="34" charset="0"/>
              <a:buChar char="•"/>
            </a:pPr>
            <a:r>
              <a:rPr lang="zh-CN" altLang="en-US" sz="2000" b="1" dirty="0">
                <a:solidFill>
                  <a:srgbClr val="0432FF"/>
                </a:solidFill>
                <a:latin typeface="Microsoft YaHei" panose="020B0503020204020204" pitchFamily="34" charset="-122"/>
                <a:ea typeface="Microsoft YaHei" panose="020B0503020204020204" pitchFamily="34" charset="-122"/>
              </a:rPr>
              <a:t>机器学习方法层面</a:t>
            </a:r>
            <a:r>
              <a:rPr lang="zh-CN" altLang="en-US" sz="2000" dirty="0">
                <a:latin typeface="Microsoft YaHei" panose="020B0503020204020204" pitchFamily="34" charset="-122"/>
                <a:ea typeface="Microsoft YaHei" panose="020B0503020204020204" pitchFamily="34" charset="-122"/>
              </a:rPr>
              <a:t>：有监督、无监督、半监督、强化学习等</a:t>
            </a:r>
            <a:endParaRPr lang="en-US" altLang="zh-CN" sz="2000" dirty="0">
              <a:latin typeface="Microsoft YaHei" panose="020B0503020204020204" pitchFamily="34" charset="-122"/>
              <a:ea typeface="Microsoft YaHei" panose="020B0503020204020204" pitchFamily="34" charset="-122"/>
            </a:endParaRPr>
          </a:p>
          <a:p>
            <a:pPr algn="just">
              <a:lnSpc>
                <a:spcPct val="125000"/>
              </a:lnSpc>
            </a:pPr>
            <a:endParaRPr lang="en-US" altLang="zh-CN" sz="2400" dirty="0">
              <a:latin typeface="Microsoft YaHei" panose="020B0503020204020204" pitchFamily="34" charset="-122"/>
              <a:ea typeface="Microsoft YaHei" panose="020B0503020204020204" pitchFamily="34" charset="-122"/>
            </a:endParaRPr>
          </a:p>
          <a:p>
            <a:pPr algn="just">
              <a:lnSpc>
                <a:spcPct val="125000"/>
              </a:lnSpc>
            </a:pPr>
            <a:r>
              <a:rPr lang="zh-CN" altLang="en-US" sz="2400" dirty="0">
                <a:effectLst/>
                <a:latin typeface="Microsoft YaHei" panose="020B0503020204020204" pitchFamily="34" charset="-122"/>
                <a:ea typeface="Microsoft YaHei" panose="020B0503020204020204" pitchFamily="34" charset="-122"/>
              </a:rPr>
              <a:t>自然语言处理研究与机器学习和语言学研究交织在一起，使得自然语言处理的研究内容涉及范围广，学科交叉度大。</a:t>
            </a:r>
            <a:endParaRPr lang="zh-CN" altLang="en-US" dirty="0">
              <a:effectLst/>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1381C5A5-F4CD-B011-81CD-701D7523079D}"/>
              </a:ext>
            </a:extLst>
          </p:cNvPr>
          <p:cNvSpPr>
            <a:spLocks noChangeArrowheads="1"/>
          </p:cNvSpPr>
          <p:nvPr/>
        </p:nvSpPr>
        <p:spPr bwMode="auto">
          <a:xfrm>
            <a:off x="996952" y="363538"/>
            <a:ext cx="964707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6FFE407C-7B50-3B7E-1FA2-56ACF63BF1FB}"/>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E466C56E-33AD-0E1E-CF12-78E8AA520183}"/>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17831894-2344-FE75-3891-1C0C8A55A2A4}"/>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B06BB0E-0555-3FB4-EF61-641C918EDA4B}"/>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E73D85B6-A981-F479-F8E2-A78DBE31ECA8}"/>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7ACAE0D3-B786-4F88-674F-0A2A4EDF867E}"/>
              </a:ext>
            </a:extLst>
          </p:cNvPr>
          <p:cNvSpPr>
            <a:spLocks noChangeArrowheads="1"/>
          </p:cNvSpPr>
          <p:nvPr/>
        </p:nvSpPr>
        <p:spPr bwMode="auto">
          <a:xfrm>
            <a:off x="1248742" y="408136"/>
            <a:ext cx="41857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自然语言处理的主要研究内容</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15825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3DBE00-65ED-E951-A16D-A0D5281BDE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BC35D81-6D2D-3C36-F92D-2ADFAF76BD1C}"/>
              </a:ext>
            </a:extLst>
          </p:cNvPr>
          <p:cNvSpPr>
            <a:spLocks noGrp="1"/>
          </p:cNvSpPr>
          <p:nvPr>
            <p:ph type="sldNum" sz="quarter" idx="12"/>
          </p:nvPr>
        </p:nvSpPr>
        <p:spPr/>
        <p:txBody>
          <a:bodyPr/>
          <a:lstStyle/>
          <a:p>
            <a:fld id="{465717F2-DE62-A445-9F03-50055757659A}" type="slidenum">
              <a:rPr lang="zh-CN" altLang="en-US" smtClean="0"/>
              <a:pPr/>
              <a:t>16</a:t>
            </a:fld>
            <a:endParaRPr lang="zh-CN" altLang="en-US"/>
          </a:p>
        </p:txBody>
      </p:sp>
      <p:sp>
        <p:nvSpPr>
          <p:cNvPr id="3" name="平行四边形 6">
            <a:extLst>
              <a:ext uri="{FF2B5EF4-FFF2-40B4-BE49-F238E27FC236}">
                <a16:creationId xmlns:a16="http://schemas.microsoft.com/office/drawing/2014/main" id="{190CC9CD-366C-9D31-CBCC-7F1937EF1887}"/>
              </a:ext>
            </a:extLst>
          </p:cNvPr>
          <p:cNvSpPr>
            <a:spLocks noChangeArrowheads="1"/>
          </p:cNvSpPr>
          <p:nvPr/>
        </p:nvSpPr>
        <p:spPr bwMode="auto">
          <a:xfrm>
            <a:off x="996952" y="363538"/>
            <a:ext cx="964707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85752FA6-D326-BA9E-0B0B-037AE193E71C}"/>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9F6706EE-DF37-9F6D-B49B-093646E5256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12EC2936-EA6C-6C13-C0DA-202F4882F892}"/>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2EE842D8-3165-894C-E364-2B48750FCBDF}"/>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0743CD14-E728-2BD0-31A8-7BA66BD6143E}"/>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EE3EFE69-C929-1591-1D3B-B2B10256777B}"/>
              </a:ext>
            </a:extLst>
          </p:cNvPr>
          <p:cNvSpPr>
            <a:spLocks noChangeArrowheads="1"/>
          </p:cNvSpPr>
          <p:nvPr/>
        </p:nvSpPr>
        <p:spPr bwMode="auto">
          <a:xfrm>
            <a:off x="1248742" y="408136"/>
            <a:ext cx="41857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词法分析 </a:t>
            </a:r>
            <a:r>
              <a:rPr lang="en-US" altLang="zh-CN" sz="2400" b="1" dirty="0">
                <a:solidFill>
                  <a:schemeClr val="bg1"/>
                </a:solidFill>
                <a:latin typeface="微软雅黑" panose="020B0503020204020204" pitchFamily="34" charset="-122"/>
                <a:ea typeface="微软雅黑" panose="020B0503020204020204" pitchFamily="34" charset="-122"/>
              </a:rPr>
              <a:t>(Lexical Analysis)</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F937EB5E-1F80-43F9-53D4-F34E353F2E50}"/>
              </a:ext>
            </a:extLst>
          </p:cNvPr>
          <p:cNvSpPr txBox="1"/>
          <p:nvPr/>
        </p:nvSpPr>
        <p:spPr>
          <a:xfrm>
            <a:off x="819807" y="1156589"/>
            <a:ext cx="9743090" cy="1200329"/>
          </a:xfrm>
          <a:prstGeom prst="rect">
            <a:avLst/>
          </a:prstGeom>
          <a:noFill/>
        </p:spPr>
        <p:txBody>
          <a:bodyPr wrap="square">
            <a:spAutoFit/>
          </a:bodyPr>
          <a:lstStyle/>
          <a:p>
            <a:r>
              <a:rPr lang="zh-CN" altLang="en-US" b="0" i="0" dirty="0">
                <a:solidFill>
                  <a:srgbClr val="262625"/>
                </a:solidFill>
                <a:effectLst/>
                <a:latin typeface="Microsoft YaHei" panose="020B0503020204020204" pitchFamily="34" charset="-122"/>
                <a:ea typeface="Microsoft YaHei" panose="020B0503020204020204" pitchFamily="34" charset="-122"/>
              </a:rPr>
              <a:t>词法分析是 </a:t>
            </a:r>
            <a:r>
              <a:rPr lang="en-US" b="0" i="0" dirty="0">
                <a:solidFill>
                  <a:srgbClr val="262625"/>
                </a:solidFill>
                <a:effectLst/>
                <a:latin typeface="Microsoft YaHei" panose="020B0503020204020204" pitchFamily="34" charset="-122"/>
                <a:ea typeface="Microsoft YaHei" panose="020B0503020204020204" pitchFamily="34" charset="-122"/>
              </a:rPr>
              <a:t>NLP </a:t>
            </a:r>
            <a:r>
              <a:rPr lang="zh-CN" altLang="en-US" b="0" i="0" dirty="0">
                <a:solidFill>
                  <a:srgbClr val="262625"/>
                </a:solidFill>
                <a:effectLst/>
                <a:latin typeface="Microsoft YaHei" panose="020B0503020204020204" pitchFamily="34" charset="-122"/>
                <a:ea typeface="Microsoft YaHei" panose="020B0503020204020204" pitchFamily="34" charset="-122"/>
              </a:rPr>
              <a:t>中的底层任务之一，其主要目标是对文本中的基本单元“词”进行识别和分割。词法分析的作用是帮助计算机理解文本中的基本构件，从而为后续的语法分析、语义分析等任务奠定基础。自然语言由于不同语言体系的存在，具有多样性特征，因此词法分析需要处理不同语言的特殊性，如词的拼写、形态变化、词义的多样性等。</a:t>
            </a:r>
            <a:endParaRPr lang="zh-CN" altLang="en-US" dirty="0">
              <a:latin typeface="Microsoft YaHei" panose="020B0503020204020204" pitchFamily="34" charset="-122"/>
              <a:ea typeface="Microsoft YaHei" panose="020B0503020204020204" pitchFamily="34" charset="-122"/>
            </a:endParaRPr>
          </a:p>
        </p:txBody>
      </p:sp>
      <p:sp>
        <p:nvSpPr>
          <p:cNvPr id="14" name="TextBox 13">
            <a:extLst>
              <a:ext uri="{FF2B5EF4-FFF2-40B4-BE49-F238E27FC236}">
                <a16:creationId xmlns:a16="http://schemas.microsoft.com/office/drawing/2014/main" id="{AA715209-85D8-05E4-FAF8-2E12B938DF1F}"/>
              </a:ext>
            </a:extLst>
          </p:cNvPr>
          <p:cNvSpPr txBox="1"/>
          <p:nvPr/>
        </p:nvSpPr>
        <p:spPr>
          <a:xfrm>
            <a:off x="1151905" y="2503776"/>
            <a:ext cx="9647076" cy="923330"/>
          </a:xfrm>
          <a:prstGeom prst="rect">
            <a:avLst/>
          </a:prstGeom>
          <a:noFill/>
        </p:spPr>
        <p:txBody>
          <a:bodyPr wrap="square">
            <a:spAutoFit/>
          </a:bodyPr>
          <a:lstStyle/>
          <a:p>
            <a:pPr algn="just">
              <a:buNone/>
            </a:pPr>
            <a:r>
              <a:rPr lang="en-US" altLang="zh-CN" sz="1800" b="0" i="0" dirty="0">
                <a:solidFill>
                  <a:srgbClr val="262625"/>
                </a:solidFill>
                <a:effectLst/>
                <a:latin typeface="Microsoft YaHei" panose="020B0503020204020204" pitchFamily="34" charset="-122"/>
                <a:ea typeface="Microsoft YaHei" panose="020B0503020204020204" pitchFamily="34" charset="-122"/>
              </a:rPr>
              <a:t>① </a:t>
            </a:r>
            <a:r>
              <a:rPr lang="zh-CN" altLang="en-US" sz="1800" b="1" i="0" dirty="0">
                <a:solidFill>
                  <a:srgbClr val="262625"/>
                </a:solidFill>
                <a:effectLst/>
                <a:latin typeface="Microsoft YaHei" panose="020B0503020204020204" pitchFamily="34" charset="-122"/>
                <a:ea typeface="Microsoft YaHei" panose="020B0503020204020204" pitchFamily="34" charset="-122"/>
              </a:rPr>
              <a:t>分词</a:t>
            </a:r>
            <a:r>
              <a:rPr lang="zh-CN" altLang="en-US" sz="1800" b="0" i="0" dirty="0">
                <a:solidFill>
                  <a:srgbClr val="262625"/>
                </a:solidFill>
                <a:effectLst/>
                <a:latin typeface="Microsoft YaHei" panose="020B0503020204020204" pitchFamily="34" charset="-122"/>
                <a:ea typeface="Microsoft YaHei" panose="020B0503020204020204" pitchFamily="34" charset="-122"/>
              </a:rPr>
              <a:t>（</a:t>
            </a:r>
            <a:r>
              <a:rPr lang="en-US" sz="1800" b="0" i="0" dirty="0">
                <a:solidFill>
                  <a:srgbClr val="262625"/>
                </a:solidFill>
                <a:effectLst/>
                <a:latin typeface="Microsoft YaHei" panose="020B0503020204020204" pitchFamily="34" charset="-122"/>
                <a:ea typeface="Microsoft YaHei" panose="020B0503020204020204" pitchFamily="34" charset="-122"/>
              </a:rPr>
              <a:t>Tokenization）</a:t>
            </a:r>
          </a:p>
          <a:p>
            <a:pPr algn="just">
              <a:buNone/>
            </a:pPr>
            <a:r>
              <a:rPr lang="en-US" sz="1800" b="0" i="0" dirty="0">
                <a:solidFill>
                  <a:srgbClr val="262625"/>
                </a:solidFill>
                <a:effectLst/>
                <a:latin typeface="Microsoft YaHei" panose="020B0503020204020204" pitchFamily="34" charset="-122"/>
                <a:ea typeface="Microsoft YaHei" panose="020B0503020204020204" pitchFamily="34" charset="-122"/>
              </a:rPr>
              <a:t>  </a:t>
            </a:r>
            <a:r>
              <a:rPr lang="zh-CN" altLang="en-US" sz="1800" b="0" i="0" dirty="0">
                <a:solidFill>
                  <a:srgbClr val="262625"/>
                </a:solidFill>
                <a:effectLst/>
                <a:latin typeface="Microsoft YaHei" panose="020B0503020204020204" pitchFamily="34" charset="-122"/>
                <a:ea typeface="Microsoft YaHei" panose="020B0503020204020204" pitchFamily="34" charset="-122"/>
              </a:rPr>
              <a:t>分词是自然语言处理中的一项基本任务，指的是将连续的文本流划分为一个个独立的词或子词。它是文本预处理的第一步，为后续的自然语言处理任务提供了基本的语言单元。</a:t>
            </a:r>
          </a:p>
        </p:txBody>
      </p:sp>
      <p:sp>
        <p:nvSpPr>
          <p:cNvPr id="16" name="TextBox 15">
            <a:extLst>
              <a:ext uri="{FF2B5EF4-FFF2-40B4-BE49-F238E27FC236}">
                <a16:creationId xmlns:a16="http://schemas.microsoft.com/office/drawing/2014/main" id="{94C1BEDE-AE02-BA2C-1CF2-837EA83D25A5}"/>
              </a:ext>
            </a:extLst>
          </p:cNvPr>
          <p:cNvSpPr txBox="1"/>
          <p:nvPr/>
        </p:nvSpPr>
        <p:spPr>
          <a:xfrm>
            <a:off x="1151904" y="3692743"/>
            <a:ext cx="9743090" cy="1200329"/>
          </a:xfrm>
          <a:prstGeom prst="rect">
            <a:avLst/>
          </a:prstGeom>
          <a:noFill/>
        </p:spPr>
        <p:txBody>
          <a:bodyPr wrap="square">
            <a:spAutoFit/>
          </a:bodyPr>
          <a:lstStyle/>
          <a:p>
            <a:pPr algn="just">
              <a:buNone/>
            </a:pPr>
            <a:r>
              <a:rPr lang="en-US" altLang="zh-CN" sz="1800" b="0" i="0" dirty="0">
                <a:solidFill>
                  <a:srgbClr val="262625"/>
                </a:solidFill>
                <a:effectLst/>
                <a:latin typeface="Microsoft YaHei" panose="020B0503020204020204" pitchFamily="34" charset="-122"/>
                <a:ea typeface="Microsoft YaHei" panose="020B0503020204020204" pitchFamily="34" charset="-122"/>
              </a:rPr>
              <a:t>② </a:t>
            </a:r>
            <a:r>
              <a:rPr lang="zh-CN" altLang="en-US" sz="1800" b="1" i="0" dirty="0">
                <a:solidFill>
                  <a:srgbClr val="262625"/>
                </a:solidFill>
                <a:effectLst/>
                <a:latin typeface="Microsoft YaHei" panose="020B0503020204020204" pitchFamily="34" charset="-122"/>
                <a:ea typeface="Microsoft YaHei" panose="020B0503020204020204" pitchFamily="34" charset="-122"/>
              </a:rPr>
              <a:t>词性标注</a:t>
            </a:r>
            <a:r>
              <a:rPr lang="zh-CN" altLang="en-US" sz="1800" b="0" i="0" dirty="0">
                <a:solidFill>
                  <a:srgbClr val="262625"/>
                </a:solidFill>
                <a:effectLst/>
                <a:latin typeface="Microsoft YaHei" panose="020B0503020204020204" pitchFamily="34" charset="-122"/>
                <a:ea typeface="Microsoft YaHei" panose="020B0503020204020204" pitchFamily="34" charset="-122"/>
              </a:rPr>
              <a:t>（</a:t>
            </a:r>
            <a:r>
              <a:rPr lang="en-US" sz="1800" b="0" i="0" dirty="0">
                <a:solidFill>
                  <a:srgbClr val="262625"/>
                </a:solidFill>
                <a:effectLst/>
                <a:latin typeface="Microsoft YaHei" panose="020B0503020204020204" pitchFamily="34" charset="-122"/>
                <a:ea typeface="Microsoft YaHei" panose="020B0503020204020204" pitchFamily="34" charset="-122"/>
              </a:rPr>
              <a:t>Part-of-Speech Tagging, POS Tagging）</a:t>
            </a:r>
          </a:p>
          <a:p>
            <a:pPr algn="just">
              <a:buNone/>
            </a:pPr>
            <a:r>
              <a:rPr lang="en-US" sz="1800" b="0" i="0" dirty="0">
                <a:solidFill>
                  <a:srgbClr val="262625"/>
                </a:solidFill>
                <a:effectLst/>
                <a:latin typeface="Microsoft YaHei" panose="020B0503020204020204" pitchFamily="34" charset="-122"/>
                <a:ea typeface="Microsoft YaHei" panose="020B0503020204020204" pitchFamily="34" charset="-122"/>
              </a:rPr>
              <a:t>  </a:t>
            </a:r>
            <a:r>
              <a:rPr lang="zh-CN" altLang="en-US" sz="1800" b="0" i="0" dirty="0">
                <a:solidFill>
                  <a:srgbClr val="262625"/>
                </a:solidFill>
                <a:effectLst/>
                <a:latin typeface="Microsoft YaHei" panose="020B0503020204020204" pitchFamily="34" charset="-122"/>
                <a:ea typeface="Microsoft YaHei" panose="020B0503020204020204" pitchFamily="34" charset="-122"/>
              </a:rPr>
              <a:t>词性标注是自然语言处理中的基础任务之一，其目的是为文本中的每个词语分配一个对应的词性标签。这些标签可以用来描述词语在句子中的语法功能，例如名词、动词、形容词、副词等，以及更加细化的类别如专有名词、过去式动词等。</a:t>
            </a:r>
          </a:p>
        </p:txBody>
      </p:sp>
      <p:sp>
        <p:nvSpPr>
          <p:cNvPr id="18" name="TextBox 17">
            <a:extLst>
              <a:ext uri="{FF2B5EF4-FFF2-40B4-BE49-F238E27FC236}">
                <a16:creationId xmlns:a16="http://schemas.microsoft.com/office/drawing/2014/main" id="{5BBAF3F7-480E-6949-9409-99D453753FE7}"/>
              </a:ext>
            </a:extLst>
          </p:cNvPr>
          <p:cNvSpPr txBox="1"/>
          <p:nvPr/>
        </p:nvSpPr>
        <p:spPr>
          <a:xfrm>
            <a:off x="1151904" y="5158709"/>
            <a:ext cx="9743090" cy="1477328"/>
          </a:xfrm>
          <a:prstGeom prst="rect">
            <a:avLst/>
          </a:prstGeom>
          <a:noFill/>
        </p:spPr>
        <p:txBody>
          <a:bodyPr wrap="square">
            <a:spAutoFit/>
          </a:bodyPr>
          <a:lstStyle/>
          <a:p>
            <a:pPr algn="just">
              <a:buNone/>
            </a:pPr>
            <a:r>
              <a:rPr lang="en-US" altLang="zh-CN" sz="1800" b="0" i="0" dirty="0">
                <a:solidFill>
                  <a:srgbClr val="262625"/>
                </a:solidFill>
                <a:effectLst/>
                <a:latin typeface="Microsoft YaHei" panose="020B0503020204020204" pitchFamily="34" charset="-122"/>
                <a:ea typeface="Microsoft YaHei" panose="020B0503020204020204" pitchFamily="34" charset="-122"/>
              </a:rPr>
              <a:t>③ </a:t>
            </a:r>
            <a:r>
              <a:rPr lang="zh-CN" altLang="en-US" sz="1800" b="1" i="0" dirty="0">
                <a:solidFill>
                  <a:srgbClr val="262625"/>
                </a:solidFill>
                <a:effectLst/>
                <a:latin typeface="Microsoft YaHei" panose="020B0503020204020204" pitchFamily="34" charset="-122"/>
                <a:ea typeface="Microsoft YaHei" panose="020B0503020204020204" pitchFamily="34" charset="-122"/>
              </a:rPr>
              <a:t>命名实体识别</a:t>
            </a:r>
            <a:r>
              <a:rPr lang="zh-CN" altLang="en-US" sz="1800" b="0" i="0" dirty="0">
                <a:solidFill>
                  <a:srgbClr val="262625"/>
                </a:solidFill>
                <a:effectLst/>
                <a:latin typeface="Microsoft YaHei" panose="020B0503020204020204" pitchFamily="34" charset="-122"/>
                <a:ea typeface="Microsoft YaHei" panose="020B0503020204020204" pitchFamily="34" charset="-122"/>
              </a:rPr>
              <a:t> </a:t>
            </a:r>
            <a:r>
              <a:rPr lang="en-US" altLang="zh-CN" sz="1800" b="0" i="0" dirty="0">
                <a:solidFill>
                  <a:srgbClr val="262625"/>
                </a:solidFill>
                <a:effectLst/>
                <a:latin typeface="Microsoft YaHei" panose="020B0503020204020204" pitchFamily="34" charset="-122"/>
                <a:ea typeface="Microsoft YaHei" panose="020B0503020204020204" pitchFamily="34" charset="-122"/>
              </a:rPr>
              <a:t>(</a:t>
            </a:r>
            <a:r>
              <a:rPr lang="en-US" sz="1800" b="0" i="0" dirty="0">
                <a:solidFill>
                  <a:srgbClr val="262625"/>
                </a:solidFill>
                <a:effectLst/>
                <a:latin typeface="Microsoft YaHei" panose="020B0503020204020204" pitchFamily="34" charset="-122"/>
                <a:ea typeface="Microsoft YaHei" panose="020B0503020204020204" pitchFamily="34" charset="-122"/>
              </a:rPr>
              <a:t>Named Entity Recognition, NER)</a:t>
            </a:r>
          </a:p>
          <a:p>
            <a:pPr algn="just">
              <a:buNone/>
            </a:pPr>
            <a:r>
              <a:rPr lang="en-US" sz="1800" b="0" i="0" dirty="0">
                <a:solidFill>
                  <a:srgbClr val="262625"/>
                </a:solidFill>
                <a:effectLst/>
                <a:latin typeface="Microsoft YaHei" panose="020B0503020204020204" pitchFamily="34" charset="-122"/>
                <a:ea typeface="Microsoft YaHei" panose="020B0503020204020204" pitchFamily="34" charset="-122"/>
              </a:rPr>
              <a:t>  </a:t>
            </a:r>
            <a:r>
              <a:rPr lang="zh-CN" altLang="en-US" sz="1800" b="0" i="0" dirty="0">
                <a:solidFill>
                  <a:srgbClr val="262625"/>
                </a:solidFill>
                <a:effectLst/>
                <a:latin typeface="Microsoft YaHei" panose="020B0503020204020204" pitchFamily="34" charset="-122"/>
                <a:ea typeface="Microsoft YaHei" panose="020B0503020204020204" pitchFamily="34" charset="-122"/>
              </a:rPr>
              <a:t>命名实体识别识别是从文本中识别出具有特定意义的实体，如专有名词、地点名、组织名、日期、时间、数字、货币等。其作用在于帮助计算机系统理解文本中的关键信息，特别是与实际世界中的实体相关的信息。通过识别这些实体，</a:t>
            </a:r>
            <a:r>
              <a:rPr lang="en-US" sz="1800" b="0" i="0" dirty="0">
                <a:solidFill>
                  <a:srgbClr val="262625"/>
                </a:solidFill>
                <a:effectLst/>
                <a:latin typeface="Microsoft YaHei" panose="020B0503020204020204" pitchFamily="34" charset="-122"/>
                <a:ea typeface="Microsoft YaHei" panose="020B0503020204020204" pitchFamily="34" charset="-122"/>
              </a:rPr>
              <a:t>NER </a:t>
            </a:r>
            <a:r>
              <a:rPr lang="zh-CN" altLang="en-US" sz="1800" b="0" i="0" dirty="0">
                <a:solidFill>
                  <a:srgbClr val="262625"/>
                </a:solidFill>
                <a:effectLst/>
                <a:latin typeface="Microsoft YaHei" panose="020B0503020204020204" pitchFamily="34" charset="-122"/>
                <a:ea typeface="Microsoft YaHei" panose="020B0503020204020204" pitchFamily="34" charset="-122"/>
              </a:rPr>
              <a:t>为文本分析、信息抽取、问答系统、机器翻译等任务提供了基础支持。</a:t>
            </a:r>
          </a:p>
        </p:txBody>
      </p:sp>
    </p:spTree>
    <p:extLst>
      <p:ext uri="{BB962C8B-B14F-4D97-AF65-F5344CB8AC3E}">
        <p14:creationId xmlns:p14="http://schemas.microsoft.com/office/powerpoint/2010/main" val="27505388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19BD1B-0393-8C86-BAB1-1F9C38D146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1FC6ADE-60A6-4EF9-9EC7-D3FB86A4087A}"/>
              </a:ext>
            </a:extLst>
          </p:cNvPr>
          <p:cNvSpPr>
            <a:spLocks noGrp="1"/>
          </p:cNvSpPr>
          <p:nvPr>
            <p:ph type="sldNum" sz="quarter" idx="12"/>
          </p:nvPr>
        </p:nvSpPr>
        <p:spPr/>
        <p:txBody>
          <a:bodyPr/>
          <a:lstStyle/>
          <a:p>
            <a:fld id="{465717F2-DE62-A445-9F03-50055757659A}" type="slidenum">
              <a:rPr lang="zh-CN" altLang="en-US" smtClean="0"/>
              <a:pPr/>
              <a:t>17</a:t>
            </a:fld>
            <a:endParaRPr lang="zh-CN" altLang="en-US"/>
          </a:p>
        </p:txBody>
      </p:sp>
      <p:sp>
        <p:nvSpPr>
          <p:cNvPr id="3" name="平行四边形 6">
            <a:extLst>
              <a:ext uri="{FF2B5EF4-FFF2-40B4-BE49-F238E27FC236}">
                <a16:creationId xmlns:a16="http://schemas.microsoft.com/office/drawing/2014/main" id="{C6AB22C2-94AB-731E-2E4A-B73DCA0BCD6A}"/>
              </a:ext>
            </a:extLst>
          </p:cNvPr>
          <p:cNvSpPr>
            <a:spLocks noChangeArrowheads="1"/>
          </p:cNvSpPr>
          <p:nvPr/>
        </p:nvSpPr>
        <p:spPr bwMode="auto">
          <a:xfrm>
            <a:off x="996952" y="363538"/>
            <a:ext cx="964707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F5F6C1E4-C589-B386-A23C-5B76B491D59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0D8A03DD-5B09-B570-E234-D9E25EB5F7A6}"/>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C4C4A273-FC11-4C0B-A494-ED928053DEF4}"/>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396B3457-E3D2-21EA-8C5A-276A457E0409}"/>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F880B30C-6D50-241A-DD60-4930D8E46361}"/>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8939E3F2-5B8D-514B-CA93-5C07BAC9DD4B}"/>
              </a:ext>
            </a:extLst>
          </p:cNvPr>
          <p:cNvSpPr>
            <a:spLocks noChangeArrowheads="1"/>
          </p:cNvSpPr>
          <p:nvPr/>
        </p:nvSpPr>
        <p:spPr bwMode="auto">
          <a:xfrm>
            <a:off x="1248742" y="408136"/>
            <a:ext cx="462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句法分析 </a:t>
            </a:r>
            <a:r>
              <a:rPr lang="en-US" altLang="zh-CN" sz="2400" b="1" dirty="0">
                <a:solidFill>
                  <a:schemeClr val="bg1"/>
                </a:solidFill>
                <a:latin typeface="微软雅黑" panose="020B0503020204020204" pitchFamily="34" charset="-122"/>
                <a:ea typeface="微软雅黑" panose="020B0503020204020204" pitchFamily="34" charset="-122"/>
              </a:rPr>
              <a:t>(Syntactic Analysis)</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CD7740CD-5DA8-89F2-1EDE-0B6B705C783E}"/>
              </a:ext>
            </a:extLst>
          </p:cNvPr>
          <p:cNvSpPr txBox="1"/>
          <p:nvPr/>
        </p:nvSpPr>
        <p:spPr>
          <a:xfrm>
            <a:off x="996953" y="1030970"/>
            <a:ext cx="10259626" cy="3139321"/>
          </a:xfrm>
          <a:prstGeom prst="rect">
            <a:avLst/>
          </a:prstGeom>
          <a:noFill/>
        </p:spPr>
        <p:txBody>
          <a:bodyPr wrap="square">
            <a:spAutoFit/>
          </a:bodyPr>
          <a:lstStyle/>
          <a:p>
            <a:pPr marL="285750" indent="-285750" algn="just">
              <a:buFont typeface="Arial" panose="020B0604020202020204" pitchFamily="34" charset="0"/>
              <a:buChar char="•"/>
            </a:pPr>
            <a:r>
              <a:rPr lang="zh-CN" altLang="en-US" sz="1800" b="1" i="0" dirty="0">
                <a:solidFill>
                  <a:srgbClr val="262625"/>
                </a:solidFill>
                <a:effectLst/>
                <a:latin typeface="Microsoft YaHei" panose="020B0503020204020204" pitchFamily="34" charset="-122"/>
                <a:ea typeface="Microsoft YaHei" panose="020B0503020204020204" pitchFamily="34" charset="-122"/>
              </a:rPr>
              <a:t>成分句法分析</a:t>
            </a:r>
            <a:r>
              <a:rPr lang="zh-CN" altLang="en-US" sz="1800" b="0" i="0" dirty="0">
                <a:solidFill>
                  <a:srgbClr val="262625"/>
                </a:solidFill>
                <a:effectLst/>
                <a:latin typeface="Microsoft YaHei" panose="020B0503020204020204" pitchFamily="34" charset="-122"/>
                <a:ea typeface="Microsoft YaHei" panose="020B0503020204020204" pitchFamily="34" charset="-122"/>
              </a:rPr>
              <a:t>（</a:t>
            </a:r>
            <a:r>
              <a:rPr lang="en-US" sz="1800" b="0" i="0" dirty="0">
                <a:solidFill>
                  <a:srgbClr val="262625"/>
                </a:solidFill>
                <a:effectLst/>
                <a:latin typeface="Microsoft YaHei" panose="020B0503020204020204" pitchFamily="34" charset="-122"/>
                <a:ea typeface="Microsoft YaHei" panose="020B0503020204020204" pitchFamily="34" charset="-122"/>
              </a:rPr>
              <a:t>Constituency Parsing）</a:t>
            </a:r>
          </a:p>
          <a:p>
            <a:pPr algn="just"/>
            <a:r>
              <a:rPr lang="en-US" sz="1800" b="0" i="0" dirty="0">
                <a:solidFill>
                  <a:srgbClr val="262625"/>
                </a:solidFill>
                <a:effectLst/>
                <a:latin typeface="Microsoft YaHei" panose="020B0503020204020204" pitchFamily="34" charset="-122"/>
                <a:ea typeface="Microsoft YaHei" panose="020B0503020204020204" pitchFamily="34" charset="-122"/>
              </a:rPr>
              <a:t>  </a:t>
            </a:r>
            <a:r>
              <a:rPr lang="zh-CN" altLang="en-US" sz="1800" b="0" i="0" dirty="0">
                <a:solidFill>
                  <a:srgbClr val="262625"/>
                </a:solidFill>
                <a:effectLst/>
                <a:latin typeface="Microsoft YaHei" panose="020B0503020204020204" pitchFamily="34" charset="-122"/>
                <a:ea typeface="Microsoft YaHei" panose="020B0503020204020204" pitchFamily="34" charset="-122"/>
              </a:rPr>
              <a:t>成分句法分析关注的是句子如何被分解为多个组成部分（如名词短语、动词短语等）。这种方法通过构建句法树来表示句子中各个成分之间的层级关系。每个节点代表一个成分，叶子节点通常是具体的单词。成分句法分析主要基于句法规则，如上下文无关文法（</a:t>
            </a:r>
            <a:r>
              <a:rPr lang="en-US" sz="1800" b="0" i="0" dirty="0">
                <a:solidFill>
                  <a:srgbClr val="262625"/>
                </a:solidFill>
                <a:effectLst/>
                <a:latin typeface="Microsoft YaHei" panose="020B0503020204020204" pitchFamily="34" charset="-122"/>
                <a:ea typeface="Microsoft YaHei" panose="020B0503020204020204" pitchFamily="34" charset="-122"/>
              </a:rPr>
              <a:t>CFG），</a:t>
            </a:r>
            <a:r>
              <a:rPr lang="zh-CN" altLang="en-US" sz="1800" b="0" i="0" dirty="0">
                <a:solidFill>
                  <a:srgbClr val="262625"/>
                </a:solidFill>
                <a:effectLst/>
                <a:latin typeface="Microsoft YaHei" panose="020B0503020204020204" pitchFamily="34" charset="-122"/>
                <a:ea typeface="Microsoft YaHei" panose="020B0503020204020204" pitchFamily="34" charset="-122"/>
              </a:rPr>
              <a:t>来定义不同成分之间的结构关系。其结果是一个树状结构，其中的每个子树代表一个句子成分。它强调的是词汇之间的组成层次关系。</a:t>
            </a:r>
          </a:p>
          <a:p>
            <a:pPr marL="285750" indent="-285750" algn="just">
              <a:buFont typeface="Arial" panose="020B0604020202020204" pitchFamily="34" charset="0"/>
              <a:buChar char="•"/>
            </a:pPr>
            <a:r>
              <a:rPr lang="zh-CN" altLang="en-US" sz="1800" b="1" i="0" dirty="0">
                <a:solidFill>
                  <a:srgbClr val="262625"/>
                </a:solidFill>
                <a:effectLst/>
                <a:latin typeface="Microsoft YaHei" panose="020B0503020204020204" pitchFamily="34" charset="-122"/>
                <a:ea typeface="Microsoft YaHei" panose="020B0503020204020204" pitchFamily="34" charset="-122"/>
              </a:rPr>
              <a:t>依存句法分析</a:t>
            </a:r>
            <a:r>
              <a:rPr lang="zh-CN" altLang="en-US" sz="1800" b="0" i="0" dirty="0">
                <a:solidFill>
                  <a:srgbClr val="262625"/>
                </a:solidFill>
                <a:effectLst/>
                <a:latin typeface="Microsoft YaHei" panose="020B0503020204020204" pitchFamily="34" charset="-122"/>
                <a:ea typeface="Microsoft YaHei" panose="020B0503020204020204" pitchFamily="34" charset="-122"/>
              </a:rPr>
              <a:t>（</a:t>
            </a:r>
            <a:r>
              <a:rPr lang="en-US" sz="1800" b="0" i="0" dirty="0">
                <a:solidFill>
                  <a:srgbClr val="262625"/>
                </a:solidFill>
                <a:effectLst/>
                <a:latin typeface="Microsoft YaHei" panose="020B0503020204020204" pitchFamily="34" charset="-122"/>
                <a:ea typeface="Microsoft YaHei" panose="020B0503020204020204" pitchFamily="34" charset="-122"/>
              </a:rPr>
              <a:t>Dependency Parsing）</a:t>
            </a:r>
          </a:p>
          <a:p>
            <a:pPr algn="just"/>
            <a:r>
              <a:rPr lang="en-US" sz="1800" b="0" i="0" dirty="0">
                <a:solidFill>
                  <a:srgbClr val="262625"/>
                </a:solidFill>
                <a:effectLst/>
                <a:latin typeface="Microsoft YaHei" panose="020B0503020204020204" pitchFamily="34" charset="-122"/>
                <a:ea typeface="Microsoft YaHei" panose="020B0503020204020204" pitchFamily="34" charset="-122"/>
              </a:rPr>
              <a:t>  </a:t>
            </a:r>
            <a:r>
              <a:rPr lang="zh-CN" altLang="en-US" sz="1800" b="0" i="0" dirty="0">
                <a:solidFill>
                  <a:srgbClr val="262625"/>
                </a:solidFill>
                <a:effectLst/>
                <a:latin typeface="Microsoft YaHei" panose="020B0503020204020204" pitchFamily="34" charset="-122"/>
                <a:ea typeface="Microsoft YaHei" panose="020B0503020204020204" pitchFamily="34" charset="-122"/>
              </a:rPr>
              <a:t>依存句法分析侧重于揭示词与词之间的直接依赖关系，构建依存树模型。每个词都是树中的一个节点，节点之间通过依存关系连接，表明一个词如何依存于另一个词。依存句法分析不强调词汇的层级结构，而是侧重于揭示词与词之间的语法关系，比如“主语</a:t>
            </a:r>
            <a:r>
              <a:rPr lang="en-US" altLang="zh-CN" sz="1800" b="0" i="0" dirty="0">
                <a:solidFill>
                  <a:srgbClr val="262625"/>
                </a:solidFill>
                <a:effectLst/>
                <a:latin typeface="Microsoft YaHei" panose="020B0503020204020204" pitchFamily="34" charset="-122"/>
                <a:ea typeface="Microsoft YaHei" panose="020B0503020204020204" pitchFamily="34" charset="-122"/>
              </a:rPr>
              <a:t>-</a:t>
            </a:r>
            <a:r>
              <a:rPr lang="zh-CN" altLang="en-US" sz="1800" b="0" i="0" dirty="0">
                <a:solidFill>
                  <a:srgbClr val="262625"/>
                </a:solidFill>
                <a:effectLst/>
                <a:latin typeface="Microsoft YaHei" panose="020B0503020204020204" pitchFamily="34" charset="-122"/>
                <a:ea typeface="Microsoft YaHei" panose="020B0503020204020204" pitchFamily="34" charset="-122"/>
              </a:rPr>
              <a:t>谓语</a:t>
            </a:r>
            <a:r>
              <a:rPr lang="en-US" altLang="zh-CN" sz="1800" b="0" i="0" dirty="0">
                <a:solidFill>
                  <a:srgbClr val="262625"/>
                </a:solidFill>
                <a:effectLst/>
                <a:latin typeface="Microsoft YaHei" panose="020B0503020204020204" pitchFamily="34" charset="-122"/>
                <a:ea typeface="Microsoft YaHei" panose="020B0503020204020204" pitchFamily="34" charset="-122"/>
              </a:rPr>
              <a:t>-</a:t>
            </a:r>
            <a:r>
              <a:rPr lang="zh-CN" altLang="en-US" sz="1800" b="0" i="0" dirty="0">
                <a:solidFill>
                  <a:srgbClr val="262625"/>
                </a:solidFill>
                <a:effectLst/>
                <a:latin typeface="Microsoft YaHei" panose="020B0503020204020204" pitchFamily="34" charset="-122"/>
                <a:ea typeface="Microsoft YaHei" panose="020B0503020204020204" pitchFamily="34" charset="-122"/>
              </a:rPr>
              <a:t>宾语”的结构。其核心是捕捉单词之间的关系，特别是哪些词是依赖于其他词的。它反映了句子的核心语法结构。</a:t>
            </a:r>
          </a:p>
        </p:txBody>
      </p:sp>
      <p:pic>
        <p:nvPicPr>
          <p:cNvPr id="12" name="Picture 11">
            <a:extLst>
              <a:ext uri="{FF2B5EF4-FFF2-40B4-BE49-F238E27FC236}">
                <a16:creationId xmlns:a16="http://schemas.microsoft.com/office/drawing/2014/main" id="{960EF812-DBAF-FCCA-C78C-BA8680A30187}"/>
              </a:ext>
            </a:extLst>
          </p:cNvPr>
          <p:cNvPicPr>
            <a:picLocks noChangeAspect="1"/>
          </p:cNvPicPr>
          <p:nvPr/>
        </p:nvPicPr>
        <p:blipFill>
          <a:blip r:embed="rId3"/>
          <a:stretch>
            <a:fillRect/>
          </a:stretch>
        </p:blipFill>
        <p:spPr>
          <a:xfrm>
            <a:off x="3350340" y="4349751"/>
            <a:ext cx="4940300" cy="2006600"/>
          </a:xfrm>
          <a:prstGeom prst="rect">
            <a:avLst/>
          </a:prstGeom>
        </p:spPr>
      </p:pic>
    </p:spTree>
    <p:extLst>
      <p:ext uri="{BB962C8B-B14F-4D97-AF65-F5344CB8AC3E}">
        <p14:creationId xmlns:p14="http://schemas.microsoft.com/office/powerpoint/2010/main" val="7569852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B89F73-C549-A4CD-FB80-D45461370627}"/>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84F5168-B252-87FA-A1AB-4911D28A6B69}"/>
              </a:ext>
            </a:extLst>
          </p:cNvPr>
          <p:cNvSpPr>
            <a:spLocks noGrp="1"/>
          </p:cNvSpPr>
          <p:nvPr>
            <p:ph type="sldNum" sz="quarter" idx="12"/>
          </p:nvPr>
        </p:nvSpPr>
        <p:spPr/>
        <p:txBody>
          <a:bodyPr/>
          <a:lstStyle/>
          <a:p>
            <a:fld id="{465717F2-DE62-A445-9F03-50055757659A}" type="slidenum">
              <a:rPr lang="zh-CN" altLang="en-US" smtClean="0"/>
              <a:pPr/>
              <a:t>18</a:t>
            </a:fld>
            <a:endParaRPr lang="zh-CN" altLang="en-US"/>
          </a:p>
        </p:txBody>
      </p:sp>
      <p:sp>
        <p:nvSpPr>
          <p:cNvPr id="3" name="平行四边形 6">
            <a:extLst>
              <a:ext uri="{FF2B5EF4-FFF2-40B4-BE49-F238E27FC236}">
                <a16:creationId xmlns:a16="http://schemas.microsoft.com/office/drawing/2014/main" id="{792A5795-7F2E-7DAD-C6CB-377A10ED18AF}"/>
              </a:ext>
            </a:extLst>
          </p:cNvPr>
          <p:cNvSpPr>
            <a:spLocks noChangeArrowheads="1"/>
          </p:cNvSpPr>
          <p:nvPr/>
        </p:nvSpPr>
        <p:spPr bwMode="auto">
          <a:xfrm>
            <a:off x="996952" y="363538"/>
            <a:ext cx="964707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A8FB1E64-9F72-8906-1DD6-FAE6758E4CFA}"/>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87D0AC4C-51E7-9F6D-3F31-7E0F82679F53}"/>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12D00044-BE5F-3D3F-EC59-64E4A1A3DD15}"/>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EE927C45-7A39-4DF6-5F20-D1F52A3C895F}"/>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48D62DA9-7CBC-6A61-18BE-76B834821280}"/>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7DDCF977-7B1E-948A-909C-E5286BE15A96}"/>
              </a:ext>
            </a:extLst>
          </p:cNvPr>
          <p:cNvSpPr>
            <a:spLocks noChangeArrowheads="1"/>
          </p:cNvSpPr>
          <p:nvPr/>
        </p:nvSpPr>
        <p:spPr bwMode="auto">
          <a:xfrm>
            <a:off x="1248742" y="408136"/>
            <a:ext cx="462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语义分析 </a:t>
            </a:r>
            <a:r>
              <a:rPr lang="en-US" altLang="zh-CN" sz="2400" b="1" dirty="0">
                <a:solidFill>
                  <a:schemeClr val="bg1"/>
                </a:solidFill>
                <a:latin typeface="微软雅黑" panose="020B0503020204020204" pitchFamily="34" charset="-122"/>
                <a:ea typeface="微软雅黑" panose="020B0503020204020204" pitchFamily="34" charset="-122"/>
              </a:rPr>
              <a:t>(Semantic Analysis)</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13" name="TextBox 12">
            <a:extLst>
              <a:ext uri="{FF2B5EF4-FFF2-40B4-BE49-F238E27FC236}">
                <a16:creationId xmlns:a16="http://schemas.microsoft.com/office/drawing/2014/main" id="{D0CC23CF-E5D5-3BEC-30F6-DF70219F42E7}"/>
              </a:ext>
            </a:extLst>
          </p:cNvPr>
          <p:cNvSpPr txBox="1"/>
          <p:nvPr/>
        </p:nvSpPr>
        <p:spPr>
          <a:xfrm>
            <a:off x="672662" y="996919"/>
            <a:ext cx="9816662" cy="646331"/>
          </a:xfrm>
          <a:prstGeom prst="rect">
            <a:avLst/>
          </a:prstGeom>
          <a:noFill/>
        </p:spPr>
        <p:txBody>
          <a:bodyPr wrap="square">
            <a:spAutoFit/>
          </a:bodyPr>
          <a:lstStyle/>
          <a:p>
            <a:r>
              <a:rPr lang="zh-CN" altLang="en-US" b="0" i="0" dirty="0">
                <a:solidFill>
                  <a:srgbClr val="262625"/>
                </a:solidFill>
                <a:effectLst/>
                <a:latin typeface="Microsoft YaHei" panose="020B0503020204020204" pitchFamily="34" charset="-122"/>
                <a:ea typeface="Microsoft YaHei" panose="020B0503020204020204" pitchFamily="34" charset="-122"/>
              </a:rPr>
              <a:t>语义分析的目标是深入理解句子中的真实含义，即词语在特定上下文中的实际意义。它不仅仅停留在词汇层面，而是要通过语法和上下文信息来推测词语背后的深层语义。</a:t>
            </a:r>
            <a:endParaRPr lang="zh-CN" altLang="en-US" dirty="0">
              <a:latin typeface="Microsoft YaHei" panose="020B0503020204020204" pitchFamily="34" charset="-122"/>
              <a:ea typeface="Microsoft YaHei" panose="020B0503020204020204" pitchFamily="34" charset="-122"/>
            </a:endParaRPr>
          </a:p>
        </p:txBody>
      </p:sp>
      <p:sp>
        <p:nvSpPr>
          <p:cNvPr id="15" name="TextBox 14">
            <a:extLst>
              <a:ext uri="{FF2B5EF4-FFF2-40B4-BE49-F238E27FC236}">
                <a16:creationId xmlns:a16="http://schemas.microsoft.com/office/drawing/2014/main" id="{61E3CC21-5109-CE0E-FE12-71D7753FB28C}"/>
              </a:ext>
            </a:extLst>
          </p:cNvPr>
          <p:cNvSpPr txBox="1"/>
          <p:nvPr/>
        </p:nvSpPr>
        <p:spPr>
          <a:xfrm>
            <a:off x="1248742" y="1793622"/>
            <a:ext cx="9395286" cy="1200329"/>
          </a:xfrm>
          <a:prstGeom prst="rect">
            <a:avLst/>
          </a:prstGeom>
          <a:noFill/>
        </p:spPr>
        <p:txBody>
          <a:bodyPr wrap="square">
            <a:spAutoFit/>
          </a:bodyPr>
          <a:lstStyle/>
          <a:p>
            <a:pPr marL="285750" indent="-285750" algn="just">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语义角色标注</a:t>
            </a:r>
            <a:r>
              <a:rPr lang="zh-CN" altLang="en-US" b="0" i="0" dirty="0">
                <a:solidFill>
                  <a:srgbClr val="262625"/>
                </a:solidFill>
                <a:effectLst/>
                <a:latin typeface="Microsoft YaHei" panose="020B0503020204020204" pitchFamily="34" charset="-122"/>
                <a:ea typeface="Microsoft YaHei" panose="020B0503020204020204" pitchFamily="34" charset="-122"/>
              </a:rPr>
              <a:t> </a:t>
            </a:r>
            <a:r>
              <a:rPr lang="en-US" altLang="zh-CN"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Semantic Role Labeling, SRL)</a:t>
            </a:r>
          </a:p>
          <a:p>
            <a:pPr algn="just">
              <a:buNone/>
            </a:pPr>
            <a:r>
              <a:rPr lang="en-US" b="0" i="0" dirty="0">
                <a:solidFill>
                  <a:srgbClr val="262625"/>
                </a:solidFill>
                <a:effectLst/>
                <a:latin typeface="Microsoft YaHei" panose="020B0503020204020204" pitchFamily="34" charset="-122"/>
                <a:ea typeface="Microsoft YaHei" panose="020B0503020204020204" pitchFamily="34" charset="-122"/>
              </a:rPr>
              <a:t>  </a:t>
            </a:r>
            <a:r>
              <a:rPr lang="zh-CN" altLang="en-US" b="0" i="0" dirty="0">
                <a:solidFill>
                  <a:srgbClr val="262625"/>
                </a:solidFill>
                <a:effectLst/>
                <a:latin typeface="Microsoft YaHei" panose="020B0503020204020204" pitchFamily="34" charset="-122"/>
                <a:ea typeface="Microsoft YaHei" panose="020B0503020204020204" pitchFamily="34" charset="-122"/>
              </a:rPr>
              <a:t>语义角色标注是语义分析中的一个关键任务，旨在识别句子中的动词及其相关的参与者，并明确这些参与者在事件中的具体角色。这些角色通常包括主语、宾语、时间、地点等，它们共同构成事件的语义结构。</a:t>
            </a:r>
          </a:p>
        </p:txBody>
      </p:sp>
      <p:sp>
        <p:nvSpPr>
          <p:cNvPr id="17" name="TextBox 16">
            <a:extLst>
              <a:ext uri="{FF2B5EF4-FFF2-40B4-BE49-F238E27FC236}">
                <a16:creationId xmlns:a16="http://schemas.microsoft.com/office/drawing/2014/main" id="{04E04E66-ED4D-B1A3-E2F1-E1102992F873}"/>
              </a:ext>
            </a:extLst>
          </p:cNvPr>
          <p:cNvSpPr txBox="1"/>
          <p:nvPr/>
        </p:nvSpPr>
        <p:spPr>
          <a:xfrm>
            <a:off x="1151906" y="3144323"/>
            <a:ext cx="9492122" cy="923330"/>
          </a:xfrm>
          <a:prstGeom prst="rect">
            <a:avLst/>
          </a:prstGeom>
          <a:noFill/>
        </p:spPr>
        <p:txBody>
          <a:bodyPr wrap="square">
            <a:spAutoFit/>
          </a:bodyPr>
          <a:lstStyle/>
          <a:p>
            <a:pPr marL="285750" indent="-285750" algn="just">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同义词识别</a:t>
            </a:r>
            <a:r>
              <a:rPr lang="zh-CN" altLang="en-US" b="0" i="0" dirty="0">
                <a:solidFill>
                  <a:srgbClr val="262625"/>
                </a:solidFill>
                <a:effectLst/>
                <a:latin typeface="Microsoft YaHei" panose="020B0503020204020204" pitchFamily="34" charset="-122"/>
                <a:ea typeface="Microsoft YaHei" panose="020B0503020204020204" pitchFamily="34" charset="-122"/>
              </a:rPr>
              <a:t> </a:t>
            </a:r>
            <a:r>
              <a:rPr lang="en-US" altLang="zh-CN"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Word Sense Disambiguation, WSD)</a:t>
            </a:r>
          </a:p>
          <a:p>
            <a:pPr algn="just">
              <a:buNone/>
            </a:pPr>
            <a:r>
              <a:rPr lang="en-US" b="0" i="0" dirty="0">
                <a:solidFill>
                  <a:srgbClr val="262625"/>
                </a:solidFill>
                <a:effectLst/>
                <a:latin typeface="Microsoft YaHei" panose="020B0503020204020204" pitchFamily="34" charset="-122"/>
                <a:ea typeface="Microsoft YaHei" panose="020B0503020204020204" pitchFamily="34" charset="-122"/>
              </a:rPr>
              <a:t>  </a:t>
            </a:r>
            <a:r>
              <a:rPr lang="zh-CN" altLang="en-US" b="0" i="0" dirty="0">
                <a:solidFill>
                  <a:srgbClr val="262625"/>
                </a:solidFill>
                <a:effectLst/>
                <a:latin typeface="Microsoft YaHei" panose="020B0503020204020204" pitchFamily="34" charset="-122"/>
                <a:ea typeface="Microsoft YaHei" panose="020B0503020204020204" pitchFamily="34" charset="-122"/>
              </a:rPr>
              <a:t>同义词识别用来处理多义词的歧义问题。许多词语在不同的上下文中可能具有不同的含义，</a:t>
            </a:r>
            <a:r>
              <a:rPr lang="en-US" b="0" i="0" dirty="0">
                <a:solidFill>
                  <a:srgbClr val="262625"/>
                </a:solidFill>
                <a:effectLst/>
                <a:latin typeface="Microsoft YaHei" panose="020B0503020204020204" pitchFamily="34" charset="-122"/>
                <a:ea typeface="Microsoft YaHei" panose="020B0503020204020204" pitchFamily="34" charset="-122"/>
              </a:rPr>
              <a:t>WSD</a:t>
            </a:r>
            <a:r>
              <a:rPr lang="zh-CN" altLang="en-US" b="0" i="0" dirty="0">
                <a:solidFill>
                  <a:srgbClr val="262625"/>
                </a:solidFill>
                <a:effectLst/>
                <a:latin typeface="Microsoft YaHei" panose="020B0503020204020204" pitchFamily="34" charset="-122"/>
                <a:ea typeface="Microsoft YaHei" panose="020B0503020204020204" pitchFamily="34" charset="-122"/>
              </a:rPr>
              <a:t>的目标是根据上下文信息正确地判断词语的实际含义，从而消除歧义。</a:t>
            </a:r>
          </a:p>
        </p:txBody>
      </p:sp>
      <p:sp>
        <p:nvSpPr>
          <p:cNvPr id="19" name="TextBox 18">
            <a:extLst>
              <a:ext uri="{FF2B5EF4-FFF2-40B4-BE49-F238E27FC236}">
                <a16:creationId xmlns:a16="http://schemas.microsoft.com/office/drawing/2014/main" id="{88661C0B-EC9C-0BBE-FDA8-4CC923A12AF6}"/>
              </a:ext>
            </a:extLst>
          </p:cNvPr>
          <p:cNvSpPr txBox="1"/>
          <p:nvPr/>
        </p:nvSpPr>
        <p:spPr>
          <a:xfrm>
            <a:off x="1151906" y="4383753"/>
            <a:ext cx="9337418" cy="1200329"/>
          </a:xfrm>
          <a:prstGeom prst="rect">
            <a:avLst/>
          </a:prstGeom>
          <a:noFill/>
        </p:spPr>
        <p:txBody>
          <a:bodyPr wrap="square">
            <a:spAutoFit/>
          </a:bodyPr>
          <a:lstStyle/>
          <a:p>
            <a:pPr marL="285750" indent="-285750" algn="just">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情感分析</a:t>
            </a:r>
            <a:r>
              <a:rPr lang="zh-CN" altLang="en-US" b="0" i="0" dirty="0">
                <a:solidFill>
                  <a:srgbClr val="262625"/>
                </a:solidFill>
                <a:effectLst/>
                <a:latin typeface="Microsoft YaHei" panose="020B0503020204020204" pitchFamily="34" charset="-122"/>
                <a:ea typeface="Microsoft YaHei" panose="020B0503020204020204" pitchFamily="34" charset="-122"/>
              </a:rPr>
              <a:t> </a:t>
            </a:r>
            <a:r>
              <a:rPr lang="en-US" altLang="zh-CN"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Sentiment Analysis)</a:t>
            </a:r>
          </a:p>
          <a:p>
            <a:pPr algn="just">
              <a:buNone/>
            </a:pPr>
            <a:r>
              <a:rPr lang="en-US" b="0" i="0" dirty="0">
                <a:solidFill>
                  <a:srgbClr val="262625"/>
                </a:solidFill>
                <a:effectLst/>
                <a:latin typeface="Microsoft YaHei" panose="020B0503020204020204" pitchFamily="34" charset="-122"/>
                <a:ea typeface="Microsoft YaHei" panose="020B0503020204020204" pitchFamily="34" charset="-122"/>
              </a:rPr>
              <a:t>  </a:t>
            </a:r>
            <a:r>
              <a:rPr lang="zh-CN" altLang="en-US" b="0" i="0" dirty="0">
                <a:solidFill>
                  <a:srgbClr val="262625"/>
                </a:solidFill>
                <a:effectLst/>
                <a:latin typeface="Microsoft YaHei" panose="020B0503020204020204" pitchFamily="34" charset="-122"/>
                <a:ea typeface="Microsoft YaHei" panose="020B0503020204020204" pitchFamily="34" charset="-122"/>
              </a:rPr>
              <a:t>情感分析旨在分析文本中的情感倾向，通常判断其是积极、消极还是中性。这项任务通过识别和提取文本中的情感信息，帮助计算机理解情感表达的强度和极性，从而实现对文本情感的准确分类。</a:t>
            </a:r>
          </a:p>
        </p:txBody>
      </p:sp>
    </p:spTree>
    <p:extLst>
      <p:ext uri="{BB962C8B-B14F-4D97-AF65-F5344CB8AC3E}">
        <p14:creationId xmlns:p14="http://schemas.microsoft.com/office/powerpoint/2010/main" val="40607218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E034D-2712-9F90-B9E8-814C207ADD08}"/>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B9CAED3-8764-C720-3678-5D26970E0E59}"/>
              </a:ext>
            </a:extLst>
          </p:cNvPr>
          <p:cNvSpPr>
            <a:spLocks noGrp="1"/>
          </p:cNvSpPr>
          <p:nvPr>
            <p:ph type="sldNum" sz="quarter" idx="12"/>
          </p:nvPr>
        </p:nvSpPr>
        <p:spPr/>
        <p:txBody>
          <a:bodyPr/>
          <a:lstStyle/>
          <a:p>
            <a:fld id="{465717F2-DE62-A445-9F03-50055757659A}" type="slidenum">
              <a:rPr lang="zh-CN" altLang="en-US" smtClean="0"/>
              <a:pPr/>
              <a:t>19</a:t>
            </a:fld>
            <a:endParaRPr lang="zh-CN" altLang="en-US"/>
          </a:p>
        </p:txBody>
      </p:sp>
      <p:sp>
        <p:nvSpPr>
          <p:cNvPr id="3" name="平行四边形 6">
            <a:extLst>
              <a:ext uri="{FF2B5EF4-FFF2-40B4-BE49-F238E27FC236}">
                <a16:creationId xmlns:a16="http://schemas.microsoft.com/office/drawing/2014/main" id="{C613E645-85BF-4CA5-259D-0BF158BE5628}"/>
              </a:ext>
            </a:extLst>
          </p:cNvPr>
          <p:cNvSpPr>
            <a:spLocks noChangeArrowheads="1"/>
          </p:cNvSpPr>
          <p:nvPr/>
        </p:nvSpPr>
        <p:spPr bwMode="auto">
          <a:xfrm>
            <a:off x="996952" y="363538"/>
            <a:ext cx="964707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平行四边形 7">
            <a:extLst>
              <a:ext uri="{FF2B5EF4-FFF2-40B4-BE49-F238E27FC236}">
                <a16:creationId xmlns:a16="http://schemas.microsoft.com/office/drawing/2014/main" id="{498F26B8-2B09-73CA-64E0-7820C3FA3EAD}"/>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6" name="文本框 5">
            <a:extLst>
              <a:ext uri="{FF2B5EF4-FFF2-40B4-BE49-F238E27FC236}">
                <a16:creationId xmlns:a16="http://schemas.microsoft.com/office/drawing/2014/main" id="{2DF7345A-5286-9751-5F4E-3935100D79C4}"/>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7" name="组合 11">
            <a:extLst>
              <a:ext uri="{FF2B5EF4-FFF2-40B4-BE49-F238E27FC236}">
                <a16:creationId xmlns:a16="http://schemas.microsoft.com/office/drawing/2014/main" id="{FA5656F8-90EF-3898-DA89-A69D19113D59}"/>
              </a:ext>
            </a:extLst>
          </p:cNvPr>
          <p:cNvGrpSpPr>
            <a:grpSpLocks/>
          </p:cNvGrpSpPr>
          <p:nvPr/>
        </p:nvGrpSpPr>
        <p:grpSpPr bwMode="auto">
          <a:xfrm>
            <a:off x="11480800" y="479425"/>
            <a:ext cx="333375" cy="333375"/>
            <a:chOff x="0" y="0"/>
            <a:chExt cx="449943" cy="449943"/>
          </a:xfrm>
        </p:grpSpPr>
        <p:sp>
          <p:nvSpPr>
            <p:cNvPr id="8" name="椭圆 9">
              <a:extLst>
                <a:ext uri="{FF2B5EF4-FFF2-40B4-BE49-F238E27FC236}">
                  <a16:creationId xmlns:a16="http://schemas.microsoft.com/office/drawing/2014/main" id="{2FD7DAFE-0DA8-87DB-9D86-FAD37059C85E}"/>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等腰三角形 10">
              <a:extLst>
                <a:ext uri="{FF2B5EF4-FFF2-40B4-BE49-F238E27FC236}">
                  <a16:creationId xmlns:a16="http://schemas.microsoft.com/office/drawing/2014/main" id="{3D279468-5587-D366-2461-7CC9F126694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0" name="矩形 8">
            <a:extLst>
              <a:ext uri="{FF2B5EF4-FFF2-40B4-BE49-F238E27FC236}">
                <a16:creationId xmlns:a16="http://schemas.microsoft.com/office/drawing/2014/main" id="{B53A8FD2-D79E-3412-6305-A3C327F2F84F}"/>
              </a:ext>
            </a:extLst>
          </p:cNvPr>
          <p:cNvSpPr>
            <a:spLocks noChangeArrowheads="1"/>
          </p:cNvSpPr>
          <p:nvPr/>
        </p:nvSpPr>
        <p:spPr bwMode="auto">
          <a:xfrm>
            <a:off x="1248742" y="408136"/>
            <a:ext cx="462633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篇章分析 </a:t>
            </a:r>
            <a:r>
              <a:rPr lang="en-US" altLang="zh-CN" sz="2400" b="1" dirty="0">
                <a:solidFill>
                  <a:schemeClr val="bg1"/>
                </a:solidFill>
                <a:latin typeface="微软雅黑" panose="020B0503020204020204" pitchFamily="34" charset="-122"/>
                <a:ea typeface="微软雅黑" panose="020B0503020204020204" pitchFamily="34" charset="-122"/>
              </a:rPr>
              <a:t>(Discourse Analysis)</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BF7A4DCF-7778-F3A3-0932-16C44328D1A7}"/>
              </a:ext>
            </a:extLst>
          </p:cNvPr>
          <p:cNvSpPr txBox="1"/>
          <p:nvPr/>
        </p:nvSpPr>
        <p:spPr>
          <a:xfrm>
            <a:off x="464698" y="1191849"/>
            <a:ext cx="11112938" cy="646331"/>
          </a:xfrm>
          <a:prstGeom prst="rect">
            <a:avLst/>
          </a:prstGeom>
          <a:noFill/>
        </p:spPr>
        <p:txBody>
          <a:bodyPr wrap="square">
            <a:spAutoFit/>
          </a:bodyPr>
          <a:lstStyle/>
          <a:p>
            <a:r>
              <a:rPr lang="zh-CN" altLang="en-US" b="0" i="0" dirty="0">
                <a:solidFill>
                  <a:srgbClr val="262625"/>
                </a:solidFill>
                <a:effectLst/>
                <a:latin typeface="Microsoft YaHei" panose="020B0503020204020204" pitchFamily="34" charset="-122"/>
                <a:ea typeface="Microsoft YaHei" panose="020B0503020204020204" pitchFamily="34" charset="-122"/>
              </a:rPr>
              <a:t>篇章分析是自然语言处理中的一个关键任务，主要目的是理解文本中的上下文关系，特别是句子间的衔接与连贯性。通过分析文本的篇章结构，篇章分析能够帮助计算机更好地捕捉文章整体的意义和信息流动。</a:t>
            </a:r>
            <a:endParaRPr lang="zh-CN" altLang="en-US" dirty="0">
              <a:latin typeface="Microsoft YaHei" panose="020B0503020204020204" pitchFamily="34" charset="-122"/>
              <a:ea typeface="Microsoft YaHei" panose="020B0503020204020204" pitchFamily="34" charset="-122"/>
            </a:endParaRPr>
          </a:p>
        </p:txBody>
      </p:sp>
      <p:sp>
        <p:nvSpPr>
          <p:cNvPr id="13" name="TextBox 12">
            <a:extLst>
              <a:ext uri="{FF2B5EF4-FFF2-40B4-BE49-F238E27FC236}">
                <a16:creationId xmlns:a16="http://schemas.microsoft.com/office/drawing/2014/main" id="{9C322890-035D-0345-974B-F70DC0A914CA}"/>
              </a:ext>
            </a:extLst>
          </p:cNvPr>
          <p:cNvSpPr txBox="1"/>
          <p:nvPr/>
        </p:nvSpPr>
        <p:spPr>
          <a:xfrm>
            <a:off x="996952" y="1951672"/>
            <a:ext cx="9647076" cy="1200329"/>
          </a:xfrm>
          <a:prstGeom prst="rect">
            <a:avLst/>
          </a:prstGeom>
          <a:noFill/>
        </p:spPr>
        <p:txBody>
          <a:bodyPr wrap="square">
            <a:spAutoFit/>
          </a:bodyPr>
          <a:lstStyle/>
          <a:p>
            <a:pPr marL="285750" indent="-285750" algn="just">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共指消解</a:t>
            </a:r>
            <a:r>
              <a:rPr lang="zh-CN" altLang="en-US" b="0" i="0" dirty="0">
                <a:solidFill>
                  <a:srgbClr val="262625"/>
                </a:solidFill>
                <a:effectLst/>
                <a:latin typeface="Microsoft YaHei" panose="020B0503020204020204" pitchFamily="34" charset="-122"/>
                <a:ea typeface="Microsoft YaHei" panose="020B0503020204020204" pitchFamily="34" charset="-122"/>
              </a:rPr>
              <a:t> </a:t>
            </a:r>
            <a:r>
              <a:rPr lang="en-US" altLang="zh-CN"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Coreference Resolution)</a:t>
            </a:r>
          </a:p>
          <a:p>
            <a:pPr algn="just">
              <a:buNone/>
            </a:pPr>
            <a:r>
              <a:rPr lang="en-US" b="0" i="0" dirty="0">
                <a:solidFill>
                  <a:srgbClr val="262625"/>
                </a:solidFill>
                <a:effectLst/>
                <a:latin typeface="Microsoft YaHei" panose="020B0503020204020204" pitchFamily="34" charset="-122"/>
                <a:ea typeface="Microsoft YaHei" panose="020B0503020204020204" pitchFamily="34" charset="-122"/>
              </a:rPr>
              <a:t>  </a:t>
            </a:r>
            <a:r>
              <a:rPr lang="zh-CN" altLang="en-US" b="0" i="0" dirty="0">
                <a:solidFill>
                  <a:srgbClr val="262625"/>
                </a:solidFill>
                <a:effectLst/>
                <a:latin typeface="Microsoft YaHei" panose="020B0503020204020204" pitchFamily="34" charset="-122"/>
                <a:ea typeface="Microsoft YaHei" panose="020B0503020204020204" pitchFamily="34" charset="-122"/>
              </a:rPr>
              <a:t>共指消解是指在文本中识别代词或其他指代词（如“他”、“她”、“它”）所指代的具体实体。它的主要任务是通过分析代词与其先行词之间的关系，帮助计算机理解文本中代词的指代对象，从而确保句子间的逻辑连贯性。</a:t>
            </a:r>
          </a:p>
        </p:txBody>
      </p:sp>
      <p:sp>
        <p:nvSpPr>
          <p:cNvPr id="15" name="TextBox 14">
            <a:extLst>
              <a:ext uri="{FF2B5EF4-FFF2-40B4-BE49-F238E27FC236}">
                <a16:creationId xmlns:a16="http://schemas.microsoft.com/office/drawing/2014/main" id="{E77285C6-E311-FFAF-91F1-D763877BE41B}"/>
              </a:ext>
            </a:extLst>
          </p:cNvPr>
          <p:cNvSpPr txBox="1"/>
          <p:nvPr/>
        </p:nvSpPr>
        <p:spPr>
          <a:xfrm>
            <a:off x="996952" y="3369181"/>
            <a:ext cx="9954827" cy="923330"/>
          </a:xfrm>
          <a:prstGeom prst="rect">
            <a:avLst/>
          </a:prstGeom>
          <a:noFill/>
        </p:spPr>
        <p:txBody>
          <a:bodyPr wrap="square">
            <a:spAutoFit/>
          </a:bodyPr>
          <a:lstStyle/>
          <a:p>
            <a:pPr marL="285750" indent="-285750" algn="just">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主题建模</a:t>
            </a:r>
            <a:r>
              <a:rPr lang="zh-CN" altLang="en-US" b="0" i="0" dirty="0">
                <a:solidFill>
                  <a:srgbClr val="262625"/>
                </a:solidFill>
                <a:effectLst/>
                <a:latin typeface="Microsoft YaHei" panose="020B0503020204020204" pitchFamily="34" charset="-122"/>
                <a:ea typeface="Microsoft YaHei" panose="020B0503020204020204" pitchFamily="34" charset="-122"/>
              </a:rPr>
              <a:t> </a:t>
            </a:r>
            <a:r>
              <a:rPr lang="en-US" altLang="zh-CN"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Topic Modeling)</a:t>
            </a:r>
          </a:p>
          <a:p>
            <a:pPr algn="just">
              <a:buNone/>
            </a:pPr>
            <a:r>
              <a:rPr lang="en-US" b="0" i="0" dirty="0">
                <a:solidFill>
                  <a:srgbClr val="262625"/>
                </a:solidFill>
                <a:effectLst/>
                <a:latin typeface="Microsoft YaHei" panose="020B0503020204020204" pitchFamily="34" charset="-122"/>
                <a:ea typeface="Microsoft YaHei" panose="020B0503020204020204" pitchFamily="34" charset="-122"/>
              </a:rPr>
              <a:t>  </a:t>
            </a:r>
            <a:r>
              <a:rPr lang="zh-CN" altLang="en-US" b="0" i="0" dirty="0">
                <a:solidFill>
                  <a:srgbClr val="262625"/>
                </a:solidFill>
                <a:effectLst/>
                <a:latin typeface="Microsoft YaHei" panose="020B0503020204020204" pitchFamily="34" charset="-122"/>
                <a:ea typeface="Microsoft YaHei" panose="020B0503020204020204" pitchFamily="34" charset="-122"/>
              </a:rPr>
              <a:t>主题建模是自然语言处理中的一种技术，旨在从大量文本中自动识别出潜在的主题或话题。它通过分析文本中的词频和词汇共现关系，揭示出反复出现的概念和文本的深层结构。</a:t>
            </a:r>
          </a:p>
        </p:txBody>
      </p:sp>
      <p:sp>
        <p:nvSpPr>
          <p:cNvPr id="17" name="TextBox 16">
            <a:extLst>
              <a:ext uri="{FF2B5EF4-FFF2-40B4-BE49-F238E27FC236}">
                <a16:creationId xmlns:a16="http://schemas.microsoft.com/office/drawing/2014/main" id="{D9873602-5172-8E50-3D6A-386669DABBE5}"/>
              </a:ext>
            </a:extLst>
          </p:cNvPr>
          <p:cNvSpPr txBox="1"/>
          <p:nvPr/>
        </p:nvSpPr>
        <p:spPr>
          <a:xfrm>
            <a:off x="996951" y="4683002"/>
            <a:ext cx="9723601" cy="1477328"/>
          </a:xfrm>
          <a:prstGeom prst="rect">
            <a:avLst/>
          </a:prstGeom>
          <a:noFill/>
        </p:spPr>
        <p:txBody>
          <a:bodyPr wrap="square">
            <a:spAutoFit/>
          </a:bodyPr>
          <a:lstStyle/>
          <a:p>
            <a:pPr marL="285750" indent="-285750" algn="just">
              <a:buFont typeface="Arial" panose="020B0604020202020204" pitchFamily="34" charset="0"/>
              <a:buChar char="•"/>
            </a:pPr>
            <a:r>
              <a:rPr lang="zh-CN" altLang="en-US" b="1" i="0" dirty="0">
                <a:solidFill>
                  <a:srgbClr val="262625"/>
                </a:solidFill>
                <a:effectLst/>
                <a:latin typeface="Microsoft YaHei" panose="020B0503020204020204" pitchFamily="34" charset="-122"/>
                <a:ea typeface="Microsoft YaHei" panose="020B0503020204020204" pitchFamily="34" charset="-122"/>
              </a:rPr>
              <a:t>文本摘要</a:t>
            </a:r>
            <a:r>
              <a:rPr lang="zh-CN" altLang="en-US" b="0" i="0" dirty="0">
                <a:solidFill>
                  <a:srgbClr val="262625"/>
                </a:solidFill>
                <a:effectLst/>
                <a:latin typeface="Microsoft YaHei" panose="020B0503020204020204" pitchFamily="34" charset="-122"/>
                <a:ea typeface="Microsoft YaHei" panose="020B0503020204020204" pitchFamily="34" charset="-122"/>
              </a:rPr>
              <a:t> </a:t>
            </a:r>
            <a:r>
              <a:rPr lang="en-US" altLang="zh-CN"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Text Summarization)</a:t>
            </a:r>
          </a:p>
          <a:p>
            <a:pPr algn="just">
              <a:buNone/>
            </a:pPr>
            <a:r>
              <a:rPr lang="en-US" b="0" i="0" dirty="0">
                <a:solidFill>
                  <a:srgbClr val="262625"/>
                </a:solidFill>
                <a:effectLst/>
                <a:latin typeface="Microsoft YaHei" panose="020B0503020204020204" pitchFamily="34" charset="-122"/>
                <a:ea typeface="Microsoft YaHei" panose="020B0503020204020204" pitchFamily="34" charset="-122"/>
              </a:rPr>
              <a:t>  </a:t>
            </a:r>
            <a:r>
              <a:rPr lang="zh-CN" altLang="en-US" b="0" i="0" dirty="0">
                <a:solidFill>
                  <a:srgbClr val="262625"/>
                </a:solidFill>
                <a:effectLst/>
                <a:latin typeface="Microsoft YaHei" panose="020B0503020204020204" pitchFamily="34" charset="-122"/>
                <a:ea typeface="Microsoft YaHei" panose="020B0503020204020204" pitchFamily="34" charset="-122"/>
              </a:rPr>
              <a:t>文本摘要的目标是自动生成文本的简短摘要，提取出关键信息。</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marL="742950" lvl="1" indent="-285750" algn="just">
              <a:buFont typeface="Courier New" panose="02070309020205020404" pitchFamily="49" charset="0"/>
              <a:buChar char="o"/>
            </a:pPr>
            <a:r>
              <a:rPr lang="zh-CN" altLang="en-US" b="1" dirty="0">
                <a:latin typeface="Microsoft YaHei" panose="020B0503020204020204" pitchFamily="34" charset="-122"/>
                <a:ea typeface="Microsoft YaHei" panose="020B0503020204020204" pitchFamily="34" charset="-122"/>
              </a:rPr>
              <a:t>抽取式摘要</a:t>
            </a:r>
            <a:r>
              <a:rPr lang="zh-CN" altLang="en-US" dirty="0">
                <a:latin typeface="Microsoft YaHei" panose="020B0503020204020204" pitchFamily="34" charset="-122"/>
                <a:ea typeface="Microsoft YaHei" panose="020B0503020204020204" pitchFamily="34" charset="-122"/>
              </a:rPr>
              <a:t>通过从原始文本中直接提取关键句子或片段来构建摘要。</a:t>
            </a:r>
            <a:endParaRPr lang="en-US" altLang="zh-CN" dirty="0">
              <a:latin typeface="Microsoft YaHei" panose="020B0503020204020204" pitchFamily="34" charset="-122"/>
              <a:ea typeface="Microsoft YaHei" panose="020B0503020204020204" pitchFamily="34" charset="-122"/>
            </a:endParaRPr>
          </a:p>
          <a:p>
            <a:pPr marL="742950" lvl="1" indent="-285750" algn="just">
              <a:buFont typeface="Courier New" panose="02070309020205020404" pitchFamily="49" charset="0"/>
              <a:buChar char="o"/>
            </a:pPr>
            <a:r>
              <a:rPr lang="zh-CN" altLang="en-US" b="1" dirty="0">
                <a:latin typeface="Microsoft YaHei" panose="020B0503020204020204" pitchFamily="34" charset="-122"/>
                <a:ea typeface="Microsoft YaHei" panose="020B0503020204020204" pitchFamily="34" charset="-122"/>
              </a:rPr>
              <a:t>生成式摘要</a:t>
            </a:r>
            <a:r>
              <a:rPr lang="zh-CN" altLang="en-US" dirty="0">
                <a:latin typeface="Microsoft YaHei" panose="020B0503020204020204" pitchFamily="34" charset="-122"/>
                <a:ea typeface="Microsoft YaHei" panose="020B0503020204020204" pitchFamily="34" charset="-122"/>
              </a:rPr>
              <a:t>则更为复杂，它不仅仅是提取文本中的句子，而是通过理解文本的深层含义，重新组织语言来生成自然流畅的摘要。</a:t>
            </a:r>
            <a:endParaRPr lang="zh-CN" altLang="en-US" b="0" i="0" dirty="0">
              <a:solidFill>
                <a:srgbClr val="262625"/>
              </a:solidFill>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6149781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20</a:t>
            </a:fld>
            <a:endParaRPr lang="zh-CN" altLang="en-US"/>
          </a:p>
        </p:txBody>
      </p:sp>
      <p:pic>
        <p:nvPicPr>
          <p:cNvPr id="4" name="Picture 3">
            <a:extLst>
              <a:ext uri="{FF2B5EF4-FFF2-40B4-BE49-F238E27FC236}">
                <a16:creationId xmlns:a16="http://schemas.microsoft.com/office/drawing/2014/main" id="{17DAB621-2389-EBD8-3A4A-8E9C7424AD8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01661" y="1169312"/>
            <a:ext cx="9388678" cy="4998750"/>
          </a:xfrm>
          <a:prstGeom prst="rect">
            <a:avLst/>
          </a:prstGeom>
          <a:effectLst>
            <a:outerShdw blurRad="63500" sx="102000" sy="102000" algn="ctr" rotWithShape="0">
              <a:prstClr val="black">
                <a:alpha val="40000"/>
              </a:prstClr>
            </a:outerShdw>
          </a:effectLst>
        </p:spPr>
      </p:pic>
      <p:sp>
        <p:nvSpPr>
          <p:cNvPr id="6" name="TextBox 5">
            <a:extLst>
              <a:ext uri="{FF2B5EF4-FFF2-40B4-BE49-F238E27FC236}">
                <a16:creationId xmlns:a16="http://schemas.microsoft.com/office/drawing/2014/main" id="{670AC5BD-9B10-6F67-370B-A5A9F81D0A2F}"/>
              </a:ext>
            </a:extLst>
          </p:cNvPr>
          <p:cNvSpPr txBox="1"/>
          <p:nvPr/>
        </p:nvSpPr>
        <p:spPr>
          <a:xfrm>
            <a:off x="3581401" y="6370368"/>
            <a:ext cx="6097978" cy="369332"/>
          </a:xfrm>
          <a:prstGeom prst="rect">
            <a:avLst/>
          </a:prstGeom>
          <a:noFill/>
        </p:spPr>
        <p:txBody>
          <a:bodyPr wrap="square">
            <a:spAutoFit/>
          </a:bodyPr>
          <a:lstStyle/>
          <a:p>
            <a:pPr algn="ctr"/>
            <a:r>
              <a:rPr lang="zh-CN" altLang="en-US" b="0" i="0" dirty="0">
                <a:effectLst/>
                <a:latin typeface="Microsoft YaHei" panose="020B0503020204020204" pitchFamily="34" charset="-122"/>
                <a:ea typeface="Microsoft YaHei" panose="020B0503020204020204" pitchFamily="34" charset="-122"/>
              </a:rPr>
              <a:t>图 </a:t>
            </a:r>
            <a:r>
              <a:rPr lang="en-US" altLang="zh-CN" b="0" i="0" dirty="0">
                <a:effectLst/>
                <a:latin typeface="Microsoft YaHei" panose="020B0503020204020204" pitchFamily="34" charset="-122"/>
                <a:ea typeface="Microsoft YaHei" panose="020B0503020204020204" pitchFamily="34" charset="-122"/>
              </a:rPr>
              <a:t>1.2 </a:t>
            </a:r>
            <a:r>
              <a:rPr lang="zh-CN" altLang="en-US" b="0" i="0" dirty="0">
                <a:effectLst/>
                <a:latin typeface="Microsoft YaHei" panose="020B0503020204020204" pitchFamily="34" charset="-122"/>
                <a:ea typeface="Microsoft YaHei" panose="020B0503020204020204" pitchFamily="34" charset="-122"/>
              </a:rPr>
              <a:t>自然语言处理主要研究内容</a:t>
            </a:r>
            <a:endParaRPr lang="en-CN" dirty="0">
              <a:latin typeface="Microsoft YaHei" panose="020B0503020204020204" pitchFamily="34" charset="-122"/>
              <a:ea typeface="Microsoft YaHei" panose="020B0503020204020204" pitchFamily="34" charset="-122"/>
            </a:endParaRPr>
          </a:p>
        </p:txBody>
      </p:sp>
      <p:sp>
        <p:nvSpPr>
          <p:cNvPr id="7" name="平行四边形 6">
            <a:extLst>
              <a:ext uri="{FF2B5EF4-FFF2-40B4-BE49-F238E27FC236}">
                <a16:creationId xmlns:a16="http://schemas.microsoft.com/office/drawing/2014/main" id="{7B9E7CDF-44CB-0C39-0DDE-CE1870D5CD77}"/>
              </a:ext>
            </a:extLst>
          </p:cNvPr>
          <p:cNvSpPr>
            <a:spLocks noChangeArrowheads="1"/>
          </p:cNvSpPr>
          <p:nvPr/>
        </p:nvSpPr>
        <p:spPr bwMode="auto">
          <a:xfrm>
            <a:off x="996952" y="363538"/>
            <a:ext cx="962652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平行四边形 7">
            <a:extLst>
              <a:ext uri="{FF2B5EF4-FFF2-40B4-BE49-F238E27FC236}">
                <a16:creationId xmlns:a16="http://schemas.microsoft.com/office/drawing/2014/main" id="{02802401-66EB-DCC9-1ECA-BD529FFF7BF1}"/>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9" name="文本框 5">
            <a:extLst>
              <a:ext uri="{FF2B5EF4-FFF2-40B4-BE49-F238E27FC236}">
                <a16:creationId xmlns:a16="http://schemas.microsoft.com/office/drawing/2014/main" id="{6DAAAC15-5E45-D422-25E4-189A62DF3637}"/>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10" name="组合 11">
            <a:extLst>
              <a:ext uri="{FF2B5EF4-FFF2-40B4-BE49-F238E27FC236}">
                <a16:creationId xmlns:a16="http://schemas.microsoft.com/office/drawing/2014/main" id="{6332A771-9461-DEFB-6218-F7D47DFA8D47}"/>
              </a:ext>
            </a:extLst>
          </p:cNvPr>
          <p:cNvGrpSpPr>
            <a:grpSpLocks/>
          </p:cNvGrpSpPr>
          <p:nvPr/>
        </p:nvGrpSpPr>
        <p:grpSpPr bwMode="auto">
          <a:xfrm>
            <a:off x="11480800" y="479425"/>
            <a:ext cx="333375" cy="333375"/>
            <a:chOff x="0" y="0"/>
            <a:chExt cx="449943" cy="449943"/>
          </a:xfrm>
        </p:grpSpPr>
        <p:sp>
          <p:nvSpPr>
            <p:cNvPr id="11" name="椭圆 9">
              <a:extLst>
                <a:ext uri="{FF2B5EF4-FFF2-40B4-BE49-F238E27FC236}">
                  <a16:creationId xmlns:a16="http://schemas.microsoft.com/office/drawing/2014/main" id="{8F1EFD47-B8B7-4D81-C421-34727D281FCE}"/>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2" name="等腰三角形 10">
              <a:extLst>
                <a:ext uri="{FF2B5EF4-FFF2-40B4-BE49-F238E27FC236}">
                  <a16:creationId xmlns:a16="http://schemas.microsoft.com/office/drawing/2014/main" id="{D99D2E5C-8D9C-6673-E994-07AE49DAFD7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14" name="矩形 8">
            <a:extLst>
              <a:ext uri="{FF2B5EF4-FFF2-40B4-BE49-F238E27FC236}">
                <a16:creationId xmlns:a16="http://schemas.microsoft.com/office/drawing/2014/main" id="{6D520BEA-A7AA-D595-ED8B-A54EE91C215D}"/>
              </a:ext>
            </a:extLst>
          </p:cNvPr>
          <p:cNvSpPr>
            <a:spLocks noChangeArrowheads="1"/>
          </p:cNvSpPr>
          <p:nvPr/>
        </p:nvSpPr>
        <p:spPr bwMode="auto">
          <a:xfrm>
            <a:off x="1248742" y="408136"/>
            <a:ext cx="418576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自然语言处理的主要研究内容</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2570923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579128" y="1358215"/>
            <a:ext cx="10691623" cy="4346767"/>
          </a:xfrm>
          <a:prstGeom prst="rect">
            <a:avLst/>
          </a:prstGeom>
          <a:noFill/>
        </p:spPr>
        <p:txBody>
          <a:bodyPr wrap="square">
            <a:spAutoFit/>
          </a:bodyPr>
          <a:lstStyle/>
          <a:p>
            <a:pPr marL="342900" indent="-342900" algn="just">
              <a:lnSpc>
                <a:spcPct val="130000"/>
              </a:lnSpc>
              <a:spcBef>
                <a:spcPts val="1800"/>
              </a:spcBef>
              <a:buFont typeface="Arial" panose="020B0604020202020204" pitchFamily="34" charset="0"/>
              <a:buChar char="•"/>
            </a:pPr>
            <a:r>
              <a:rPr lang="en-US" altLang="zh-CN" sz="2000" dirty="0" err="1">
                <a:effectLst/>
                <a:latin typeface="Microsoft YaHei" panose="020B0503020204020204" pitchFamily="34" charset="-122"/>
                <a:ea typeface="Microsoft YaHei" panose="020B0503020204020204" pitchFamily="34" charset="-122"/>
              </a:rPr>
              <a:t>ChatGPT</a:t>
            </a:r>
            <a:r>
              <a:rPr lang="en-US" altLang="zh-CN" sz="2000" dirty="0">
                <a:effectLst/>
                <a:latin typeface="Microsoft YaHei" panose="020B0503020204020204" pitchFamily="34" charset="-122"/>
                <a:ea typeface="Microsoft YaHei" panose="020B0503020204020204" pitchFamily="34" charset="-122"/>
              </a:rPr>
              <a:t> </a:t>
            </a:r>
            <a:r>
              <a:rPr lang="zh-CN" altLang="en-US" sz="2000" dirty="0">
                <a:effectLst/>
                <a:latin typeface="Microsoft YaHei" panose="020B0503020204020204" pitchFamily="34" charset="-122"/>
                <a:ea typeface="Microsoft YaHei" panose="020B0503020204020204" pitchFamily="34" charset="-122"/>
              </a:rPr>
              <a:t>所展现出来的</a:t>
            </a:r>
            <a:r>
              <a:rPr lang="zh-CN" altLang="en-US" sz="2000" dirty="0">
                <a:solidFill>
                  <a:srgbClr val="0432FF"/>
                </a:solidFill>
                <a:effectLst/>
                <a:latin typeface="Microsoft YaHei" panose="020B0503020204020204" pitchFamily="34" charset="-122"/>
                <a:ea typeface="Microsoft YaHei" panose="020B0503020204020204" pitchFamily="34" charset="-122"/>
              </a:rPr>
              <a:t>通用任务理解能力</a:t>
            </a:r>
            <a:r>
              <a:rPr lang="zh-CN" altLang="en-US" sz="2000" dirty="0">
                <a:effectLst/>
                <a:latin typeface="Microsoft YaHei" panose="020B0503020204020204" pitchFamily="34" charset="-122"/>
                <a:ea typeface="Microsoft YaHei" panose="020B0503020204020204" pitchFamily="34" charset="-122"/>
              </a:rPr>
              <a:t>和</a:t>
            </a:r>
            <a:r>
              <a:rPr lang="zh-CN" altLang="en-US" sz="2000" dirty="0">
                <a:solidFill>
                  <a:srgbClr val="0432FF"/>
                </a:solidFill>
                <a:effectLst/>
                <a:latin typeface="Microsoft YaHei" panose="020B0503020204020204" pitchFamily="34" charset="-122"/>
                <a:ea typeface="Microsoft YaHei" panose="020B0503020204020204" pitchFamily="34" charset="-122"/>
              </a:rPr>
              <a:t>未知任务泛化能力</a:t>
            </a:r>
            <a:r>
              <a:rPr lang="zh-CN" altLang="en-US" sz="2000" dirty="0">
                <a:effectLst/>
                <a:latin typeface="Microsoft YaHei" panose="020B0503020204020204" pitchFamily="34" charset="-122"/>
                <a:ea typeface="Microsoft YaHei" panose="020B0503020204020204" pitchFamily="34" charset="-122"/>
              </a:rPr>
              <a:t>，使得未来自然语言处理的</a:t>
            </a:r>
            <a:r>
              <a:rPr lang="zh-CN" altLang="en-US" sz="2000" dirty="0">
                <a:solidFill>
                  <a:srgbClr val="C00000"/>
                </a:solidFill>
                <a:effectLst/>
                <a:latin typeface="Microsoft YaHei" panose="020B0503020204020204" pitchFamily="34" charset="-122"/>
                <a:ea typeface="Microsoft YaHei" panose="020B0503020204020204" pitchFamily="34" charset="-122"/>
              </a:rPr>
              <a:t>研究范式可能进一步发生变化</a:t>
            </a:r>
          </a:p>
          <a:p>
            <a:pPr marL="342900" indent="-342900" algn="just">
              <a:lnSpc>
                <a:spcPct val="130000"/>
              </a:lnSpc>
              <a:spcBef>
                <a:spcPts val="1800"/>
              </a:spcBef>
              <a:buFont typeface="Arial" panose="020B0604020202020204" pitchFamily="34" charset="0"/>
              <a:buChar char="•"/>
            </a:pPr>
            <a:r>
              <a:rPr lang="zh-CN" altLang="en-US" sz="2000" dirty="0">
                <a:effectLst/>
                <a:latin typeface="Microsoft YaHei" panose="020B0503020204020204" pitchFamily="34" charset="-122"/>
                <a:ea typeface="Microsoft YaHei" panose="020B0503020204020204" pitchFamily="34" charset="-122"/>
              </a:rPr>
              <a:t>在大规模语言模型构建阶段，通过大量的文本内容，训练模型长文本的建模能力，使得模型具有</a:t>
            </a:r>
            <a:r>
              <a:rPr lang="zh-CN" altLang="en-US" sz="2000" dirty="0">
                <a:solidFill>
                  <a:srgbClr val="C00000"/>
                </a:solidFill>
                <a:effectLst/>
                <a:latin typeface="Microsoft YaHei" panose="020B0503020204020204" pitchFamily="34" charset="-122"/>
                <a:ea typeface="Microsoft YaHei" panose="020B0503020204020204" pitchFamily="34" charset="-122"/>
              </a:rPr>
              <a:t>语言生成能力</a:t>
            </a:r>
            <a:r>
              <a:rPr lang="zh-CN" altLang="en-US" sz="2000" dirty="0">
                <a:effectLst/>
                <a:latin typeface="Microsoft YaHei" panose="020B0503020204020204" pitchFamily="34" charset="-122"/>
                <a:ea typeface="Microsoft YaHei" panose="020B0503020204020204" pitchFamily="34" charset="-122"/>
              </a:rPr>
              <a:t>，并使得模型获得</a:t>
            </a:r>
            <a:r>
              <a:rPr lang="zh-CN" altLang="en-US" sz="2000" dirty="0">
                <a:solidFill>
                  <a:srgbClr val="C00000"/>
                </a:solidFill>
                <a:effectLst/>
                <a:latin typeface="Microsoft YaHei" panose="020B0503020204020204" pitchFamily="34" charset="-122"/>
                <a:ea typeface="Microsoft YaHei" panose="020B0503020204020204" pitchFamily="34" charset="-122"/>
              </a:rPr>
              <a:t>隐式的世界知识</a:t>
            </a:r>
            <a:endParaRPr lang="en-US" altLang="zh-CN" sz="2000" dirty="0">
              <a:solidFill>
                <a:srgbClr val="C00000"/>
              </a:solidFill>
              <a:effectLst/>
              <a:latin typeface="Microsoft YaHei" panose="020B0503020204020204" pitchFamily="34" charset="-122"/>
              <a:ea typeface="Microsoft YaHei" panose="020B0503020204020204" pitchFamily="34" charset="-122"/>
            </a:endParaRPr>
          </a:p>
          <a:p>
            <a:pPr marL="342900" indent="-342900" algn="just">
              <a:lnSpc>
                <a:spcPct val="130000"/>
              </a:lnSpc>
              <a:spcBef>
                <a:spcPts val="1800"/>
              </a:spcBef>
              <a:buFont typeface="Arial" panose="020B0604020202020204" pitchFamily="34" charset="0"/>
              <a:buChar char="•"/>
            </a:pPr>
            <a:r>
              <a:rPr lang="zh-CN" altLang="en-US" sz="2000" dirty="0">
                <a:effectLst/>
                <a:latin typeface="Microsoft YaHei" panose="020B0503020204020204" pitchFamily="34" charset="-122"/>
                <a:ea typeface="Microsoft YaHei" panose="020B0503020204020204" pitchFamily="34" charset="-122"/>
              </a:rPr>
              <a:t>在通用能力注入阶段，利用包括阅读理解、情感分析、信息抽取等现有任务的标注数据，结合人工设计的指令词对模型进行多任务训练，从而使得模型具有很好的</a:t>
            </a:r>
            <a:r>
              <a:rPr lang="zh-CN" altLang="en-US" sz="2000" dirty="0">
                <a:solidFill>
                  <a:srgbClr val="0432FF"/>
                </a:solidFill>
                <a:effectLst/>
                <a:latin typeface="Microsoft YaHei" panose="020B0503020204020204" pitchFamily="34" charset="-122"/>
                <a:ea typeface="Microsoft YaHei" panose="020B0503020204020204" pitchFamily="34" charset="-122"/>
              </a:rPr>
              <a:t>任务泛化能力</a:t>
            </a:r>
            <a:endParaRPr lang="en-US" altLang="zh-CN" sz="2000" dirty="0">
              <a:solidFill>
                <a:srgbClr val="0432FF"/>
              </a:solidFill>
              <a:effectLst/>
              <a:latin typeface="Microsoft YaHei" panose="020B0503020204020204" pitchFamily="34" charset="-122"/>
              <a:ea typeface="Microsoft YaHei" panose="020B0503020204020204" pitchFamily="34" charset="-122"/>
            </a:endParaRPr>
          </a:p>
          <a:p>
            <a:pPr marL="342900" indent="-342900" algn="just">
              <a:lnSpc>
                <a:spcPct val="130000"/>
              </a:lnSpc>
              <a:spcBef>
                <a:spcPts val="1800"/>
              </a:spcBef>
              <a:buFont typeface="Arial" panose="020B0604020202020204" pitchFamily="34" charset="0"/>
              <a:buChar char="•"/>
            </a:pPr>
            <a:r>
              <a:rPr lang="zh-CN" altLang="en-US" sz="2000" dirty="0">
                <a:solidFill>
                  <a:srgbClr val="0432FF"/>
                </a:solidFill>
                <a:effectLst/>
                <a:latin typeface="Microsoft YaHei" panose="020B0503020204020204" pitchFamily="34" charset="-122"/>
                <a:ea typeface="Microsoft YaHei" panose="020B0503020204020204" pitchFamily="34" charset="-122"/>
              </a:rPr>
              <a:t>特定任务使用阶段则变得非常简单</a:t>
            </a:r>
            <a:r>
              <a:rPr lang="zh-CN" altLang="en-US" sz="2000" dirty="0">
                <a:effectLst/>
                <a:latin typeface="Microsoft YaHei" panose="020B0503020204020204" pitchFamily="34" charset="-122"/>
                <a:ea typeface="Microsoft YaHei" panose="020B0503020204020204" pitchFamily="34" charset="-122"/>
              </a:rPr>
              <a:t>，由于模型具备了通用任务能力，只需要根据任务需求设计任务指令，将任务中所需处理的文本内容与指令结合，然后就可以利用大模型得到所需结果</a:t>
            </a:r>
            <a:endParaRPr lang="en-US" altLang="zh-CN" sz="2000" dirty="0">
              <a:effectLst/>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3A3EE810-92E5-9692-80EE-8B9C9236BCDC}"/>
              </a:ext>
            </a:extLst>
          </p:cNvPr>
          <p:cNvSpPr>
            <a:spLocks noChangeArrowheads="1"/>
          </p:cNvSpPr>
          <p:nvPr/>
        </p:nvSpPr>
        <p:spPr bwMode="auto">
          <a:xfrm>
            <a:off x="996952" y="363538"/>
            <a:ext cx="963680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19F683D-8528-02B5-68AE-603A68CF64E2}"/>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55084BB0-7CA7-80BB-862C-EF44D0D4C4C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72FAE4CC-52CA-4606-72C4-1E406025667B}"/>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345ECD8-2668-0AF3-9AA7-026B2CCF057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3C7ADEE5-552E-1067-7351-4FF58E945FC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9EF46DCB-2151-E4B9-1804-808B9A977A1E}"/>
              </a:ext>
            </a:extLst>
          </p:cNvPr>
          <p:cNvSpPr>
            <a:spLocks noChangeArrowheads="1"/>
          </p:cNvSpPr>
          <p:nvPr/>
        </p:nvSpPr>
        <p:spPr bwMode="auto">
          <a:xfrm>
            <a:off x="1248742" y="408136"/>
            <a:ext cx="326243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基于大模型学习的方法</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598530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388696"/>
            <a:ext cx="11195049" cy="4128181"/>
          </a:xfrm>
          <a:prstGeom prst="rect">
            <a:avLst/>
          </a:prstGeom>
          <a:noFill/>
        </p:spPr>
        <p:txBody>
          <a:bodyPr wrap="square">
            <a:spAutoFit/>
          </a:bodyPr>
          <a:lstStyle/>
          <a:p>
            <a:pPr algn="just">
              <a:lnSpc>
                <a:spcPct val="125000"/>
              </a:lnSpc>
            </a:pPr>
            <a:r>
              <a:rPr lang="zh-CN" altLang="en-US" sz="2800" dirty="0">
                <a:effectLst/>
                <a:latin typeface="Microsoft YaHei" panose="020B0503020204020204" pitchFamily="34" charset="-122"/>
                <a:ea typeface="Microsoft YaHei" panose="020B0503020204020204" pitchFamily="34" charset="-122"/>
              </a:rPr>
              <a:t>自然</a:t>
            </a:r>
            <a:r>
              <a:rPr lang="zh-CN" altLang="en-US" sz="2800" dirty="0">
                <a:latin typeface="Microsoft YaHei" panose="020B0503020204020204" pitchFamily="34" charset="-122"/>
                <a:ea typeface="Microsoft YaHei" panose="020B0503020204020204" pitchFamily="34" charset="-122"/>
              </a:rPr>
              <a:t>语言处理难的</a:t>
            </a:r>
            <a:r>
              <a:rPr lang="zh-CN" altLang="en-US" sz="2800" b="1" dirty="0">
                <a:effectLst/>
                <a:latin typeface="Microsoft YaHei" panose="020B0503020204020204" pitchFamily="34" charset="-122"/>
                <a:ea typeface="Microsoft YaHei" panose="020B0503020204020204" pitchFamily="34" charset="-122"/>
              </a:rPr>
              <a:t>根本原因</a:t>
            </a:r>
            <a:r>
              <a:rPr lang="zh-CN" altLang="en-US" sz="2800" dirty="0">
                <a:effectLst/>
                <a:latin typeface="Microsoft YaHei" panose="020B0503020204020204" pitchFamily="34" charset="-122"/>
                <a:ea typeface="Microsoft YaHei" panose="020B0503020204020204" pitchFamily="34" charset="-122"/>
              </a:rPr>
              <a:t>：自然语言在各个层面都广泛存在的各种各样的</a:t>
            </a:r>
            <a:r>
              <a:rPr lang="zh-CN" altLang="en-US" sz="2800" b="1" dirty="0">
                <a:solidFill>
                  <a:srgbClr val="C00000"/>
                </a:solidFill>
                <a:effectLst/>
                <a:latin typeface="Microsoft YaHei" panose="020B0503020204020204" pitchFamily="34" charset="-122"/>
                <a:ea typeface="Microsoft YaHei" panose="020B0503020204020204" pitchFamily="34" charset="-122"/>
              </a:rPr>
              <a:t>歧义性</a:t>
            </a:r>
            <a:endParaRPr lang="en-US" altLang="zh-CN" sz="2800" b="1" dirty="0">
              <a:solidFill>
                <a:srgbClr val="C00000"/>
              </a:solidFill>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自然语言文本从形式上是由</a:t>
            </a:r>
            <a:r>
              <a:rPr lang="zh-CN" altLang="en-US" sz="2000" dirty="0">
                <a:solidFill>
                  <a:srgbClr val="0432FF"/>
                </a:solidFill>
                <a:latin typeface="Microsoft YaHei" panose="020B0503020204020204" pitchFamily="34" charset="-122"/>
                <a:ea typeface="Microsoft YaHei" panose="020B0503020204020204" pitchFamily="34" charset="-122"/>
              </a:rPr>
              <a:t>字符（包括中文汉字、英文字母、符号）</a:t>
            </a:r>
            <a:r>
              <a:rPr lang="zh-CN" altLang="en-US" sz="2000" dirty="0">
                <a:latin typeface="Microsoft YaHei" panose="020B0503020204020204" pitchFamily="34" charset="-122"/>
                <a:ea typeface="Microsoft YaHei" panose="020B0503020204020204" pitchFamily="34" charset="-122"/>
              </a:rPr>
              <a:t>组成的字符串</a:t>
            </a:r>
            <a:endParaRPr lang="en-US" altLang="zh-CN" sz="2000" dirty="0">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由字母或者汉字可以组成词，由词可以组成词组，由词组可以组成句子，进而组成段落、篇章</a:t>
            </a:r>
            <a:endParaRPr lang="en-US" altLang="zh-CN" sz="2000" dirty="0">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无论哪种粒度的语言单元，还是从一个层级向上一个层级转变中都</a:t>
            </a:r>
            <a:r>
              <a:rPr lang="zh-CN" altLang="en-US" sz="2000" dirty="0">
                <a:solidFill>
                  <a:srgbClr val="0432FF"/>
                </a:solidFill>
                <a:latin typeface="Microsoft YaHei" panose="020B0503020204020204" pitchFamily="34" charset="-122"/>
                <a:ea typeface="Microsoft YaHei" panose="020B0503020204020204" pitchFamily="34" charset="-122"/>
              </a:rPr>
              <a:t>存在歧义</a:t>
            </a:r>
            <a:r>
              <a:rPr lang="zh-CN" altLang="en-US" sz="2000" dirty="0">
                <a:latin typeface="Microsoft YaHei" panose="020B0503020204020204" pitchFamily="34" charset="-122"/>
                <a:ea typeface="Microsoft YaHei" panose="020B0503020204020204" pitchFamily="34" charset="-122"/>
              </a:rPr>
              <a:t>和</a:t>
            </a:r>
            <a:r>
              <a:rPr lang="zh-CN" altLang="en-US" sz="2000" dirty="0">
                <a:solidFill>
                  <a:srgbClr val="0432FF"/>
                </a:solidFill>
                <a:latin typeface="Microsoft YaHei" panose="020B0503020204020204" pitchFamily="34" charset="-122"/>
                <a:ea typeface="Microsoft YaHei" panose="020B0503020204020204" pitchFamily="34" charset="-122"/>
              </a:rPr>
              <a:t>多义现象</a:t>
            </a:r>
            <a:endParaRPr lang="en-US" altLang="zh-CN" sz="2400" dirty="0">
              <a:solidFill>
                <a:srgbClr val="0432FF"/>
              </a:solidFill>
              <a:latin typeface="Microsoft YaHei" panose="020B0503020204020204" pitchFamily="34" charset="-122"/>
              <a:ea typeface="Microsoft YaHei" panose="020B0503020204020204" pitchFamily="34" charset="-122"/>
            </a:endParaRPr>
          </a:p>
          <a:p>
            <a:pPr algn="just">
              <a:lnSpc>
                <a:spcPct val="125000"/>
              </a:lnSpc>
            </a:pPr>
            <a:endParaRPr lang="en-US" altLang="zh-CN" sz="2400" dirty="0">
              <a:effectLst/>
              <a:latin typeface="Microsoft YaHei" panose="020B0503020204020204" pitchFamily="34" charset="-122"/>
              <a:ea typeface="Microsoft YaHei" panose="020B0503020204020204" pitchFamily="34" charset="-122"/>
            </a:endParaRPr>
          </a:p>
          <a:p>
            <a:pPr algn="just">
              <a:lnSpc>
                <a:spcPct val="125000"/>
              </a:lnSpc>
            </a:pPr>
            <a:r>
              <a:rPr lang="zh-CN" altLang="en-US" sz="2400" dirty="0">
                <a:effectLst/>
                <a:latin typeface="Microsoft YaHei" panose="020B0503020204020204" pitchFamily="34" charset="-122"/>
                <a:ea typeface="Microsoft YaHei" panose="020B0503020204020204" pitchFamily="34" charset="-122"/>
              </a:rPr>
              <a:t>形式上一样的字符串，可以理解为不同的词串、词组串，并有不同的意义</a:t>
            </a:r>
            <a:endParaRPr lang="en-US" altLang="zh-CN" sz="2400" dirty="0">
              <a:effectLst/>
              <a:latin typeface="Microsoft YaHei" panose="020B0503020204020204" pitchFamily="34" charset="-122"/>
              <a:ea typeface="Microsoft YaHei" panose="020B0503020204020204" pitchFamily="34" charset="-122"/>
            </a:endParaRPr>
          </a:p>
          <a:p>
            <a:pPr algn="just">
              <a:lnSpc>
                <a:spcPct val="125000"/>
              </a:lnSpc>
            </a:pPr>
            <a:r>
              <a:rPr lang="en-US" altLang="zh-CN" sz="2400" dirty="0">
                <a:latin typeface="Microsoft YaHei" panose="020B0503020204020204" pitchFamily="34" charset="-122"/>
                <a:ea typeface="Microsoft YaHei" panose="020B0503020204020204" pitchFamily="34" charset="-122"/>
              </a:rPr>
              <a:t>Joseph F. </a:t>
            </a:r>
            <a:r>
              <a:rPr lang="en-US" altLang="zh-CN" sz="2400" dirty="0" err="1">
                <a:latin typeface="Microsoft YaHei" panose="020B0503020204020204" pitchFamily="34" charset="-122"/>
                <a:ea typeface="Microsoft YaHei" panose="020B0503020204020204" pitchFamily="34" charset="-122"/>
              </a:rPr>
              <a:t>Kess</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和 </a:t>
            </a:r>
            <a:r>
              <a:rPr lang="en-US" altLang="zh-CN" sz="2400" dirty="0">
                <a:latin typeface="Microsoft YaHei" panose="020B0503020204020204" pitchFamily="34" charset="-122"/>
                <a:ea typeface="Microsoft YaHei" panose="020B0503020204020204" pitchFamily="34" charset="-122"/>
              </a:rPr>
              <a:t>Ronald A. Hoppe </a:t>
            </a:r>
            <a:r>
              <a:rPr lang="zh-CN" altLang="en-US" sz="2400" dirty="0">
                <a:latin typeface="Microsoft YaHei" panose="020B0503020204020204" pitchFamily="34" charset="-122"/>
                <a:ea typeface="Microsoft YaHei" panose="020B0503020204020204" pitchFamily="34" charset="-122"/>
              </a:rPr>
              <a:t>甚至还提出了“</a:t>
            </a:r>
            <a:r>
              <a:rPr lang="zh-CN" altLang="en-US" sz="2400" b="1" dirty="0">
                <a:solidFill>
                  <a:srgbClr val="C00000"/>
                </a:solidFill>
                <a:latin typeface="Microsoft YaHei" panose="020B0503020204020204" pitchFamily="34" charset="-122"/>
                <a:ea typeface="Microsoft YaHei" panose="020B0503020204020204" pitchFamily="34" charset="-122"/>
              </a:rPr>
              <a:t>语言无处不歧义</a:t>
            </a:r>
            <a:r>
              <a:rPr lang="zh-CN" altLang="en-US" sz="2400" b="1"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 理论</a:t>
            </a:r>
          </a:p>
        </p:txBody>
      </p:sp>
      <p:sp>
        <p:nvSpPr>
          <p:cNvPr id="3" name="平行四边形 6">
            <a:extLst>
              <a:ext uri="{FF2B5EF4-FFF2-40B4-BE49-F238E27FC236}">
                <a16:creationId xmlns:a16="http://schemas.microsoft.com/office/drawing/2014/main" id="{3A3EE810-92E5-9692-80EE-8B9C9236BCDC}"/>
              </a:ext>
            </a:extLst>
          </p:cNvPr>
          <p:cNvSpPr>
            <a:spLocks noChangeArrowheads="1"/>
          </p:cNvSpPr>
          <p:nvPr/>
        </p:nvSpPr>
        <p:spPr bwMode="auto">
          <a:xfrm>
            <a:off x="996952" y="363538"/>
            <a:ext cx="963680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19F683D-8528-02B5-68AE-603A68CF64E2}"/>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55084BB0-7CA7-80BB-862C-EF44D0D4C4C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72FAE4CC-52CA-4606-72C4-1E406025667B}"/>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345ECD8-2668-0AF3-9AA7-026B2CCF057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3C7ADEE5-552E-1067-7351-4FF58E945FC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9EF46DCB-2151-E4B9-1804-808B9A977A1E}"/>
              </a:ext>
            </a:extLst>
          </p:cNvPr>
          <p:cNvSpPr>
            <a:spLocks noChangeArrowheads="1"/>
          </p:cNvSpPr>
          <p:nvPr/>
        </p:nvSpPr>
        <p:spPr bwMode="auto">
          <a:xfrm>
            <a:off x="1248742" y="408136"/>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自然语言处理的主要难点</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9226295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443125"/>
            <a:ext cx="11195049" cy="2442400"/>
          </a:xfrm>
          <a:prstGeom prst="rect">
            <a:avLst/>
          </a:prstGeom>
          <a:noFill/>
        </p:spPr>
        <p:txBody>
          <a:bodyPr wrap="square">
            <a:spAutoFit/>
          </a:bodyPr>
          <a:lstStyle/>
          <a:p>
            <a:pPr algn="just">
              <a:lnSpc>
                <a:spcPct val="125000"/>
              </a:lnSpc>
            </a:pPr>
            <a:r>
              <a:rPr lang="zh-CN" altLang="en-US" sz="2400" b="1" dirty="0">
                <a:solidFill>
                  <a:srgbClr val="C00000"/>
                </a:solidFill>
                <a:effectLst/>
                <a:latin typeface="Microsoft YaHei" panose="020B0503020204020204" pitchFamily="34" charset="-122"/>
                <a:ea typeface="Microsoft YaHei" panose="020B0503020204020204" pitchFamily="34" charset="-122"/>
              </a:rPr>
              <a:t>语音歧义</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Phonetic Ambiguity</a:t>
            </a:r>
            <a:r>
              <a:rPr lang="zh-CN" altLang="en-US" sz="2400" dirty="0">
                <a:effectLst/>
                <a:latin typeface="Microsoft YaHei" panose="020B0503020204020204" pitchFamily="34" charset="-122"/>
                <a:ea typeface="Microsoft YaHei" panose="020B0503020204020204" pitchFamily="34" charset="-122"/>
              </a:rPr>
              <a:t>）主要体现在口语中，是由于语言中同音异义词（</a:t>
            </a:r>
            <a:r>
              <a:rPr lang="en-US" altLang="zh-CN" sz="2400" dirty="0">
                <a:effectLst/>
                <a:latin typeface="Microsoft YaHei" panose="020B0503020204020204" pitchFamily="34" charset="-122"/>
                <a:ea typeface="Microsoft YaHei" panose="020B0503020204020204" pitchFamily="34" charset="-122"/>
              </a:rPr>
              <a:t>Homophone </a:t>
            </a:r>
            <a:r>
              <a:rPr lang="zh-CN" altLang="en-US" sz="2400" dirty="0">
                <a:effectLst/>
                <a:latin typeface="Microsoft YaHei" panose="020B0503020204020204" pitchFamily="34" charset="-122"/>
                <a:ea typeface="Microsoft YaHei" panose="020B0503020204020204" pitchFamily="34" charset="-122"/>
              </a:rPr>
              <a:t>）、爆破音不完全、重音位置不明确等原因造成的。</a:t>
            </a:r>
            <a:endParaRPr lang="en-US" altLang="zh-CN" sz="2400" dirty="0">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汉语中只有</a:t>
            </a:r>
            <a:r>
              <a:rPr lang="en-US" altLang="zh-CN" sz="2000" dirty="0">
                <a:latin typeface="Microsoft YaHei" panose="020B0503020204020204" pitchFamily="34" charset="-122"/>
                <a:ea typeface="Microsoft YaHei" panose="020B0503020204020204" pitchFamily="34" charset="-122"/>
              </a:rPr>
              <a:t>413 </a:t>
            </a:r>
            <a:r>
              <a:rPr lang="zh-CN" altLang="en-US" sz="2000" dirty="0">
                <a:latin typeface="Microsoft YaHei" panose="020B0503020204020204" pitchFamily="34" charset="-122"/>
                <a:ea typeface="Microsoft YaHei" panose="020B0503020204020204" pitchFamily="34" charset="-122"/>
              </a:rPr>
              <a:t>个不同的音（节），如果结合声调的变化组合，也仅有 </a:t>
            </a:r>
            <a:r>
              <a:rPr lang="en-US" altLang="zh-CN" sz="2000" dirty="0">
                <a:latin typeface="Microsoft YaHei" panose="020B0503020204020204" pitchFamily="34" charset="-122"/>
                <a:ea typeface="Microsoft YaHei" panose="020B0503020204020204" pitchFamily="34" charset="-122"/>
              </a:rPr>
              <a:t>1277 </a:t>
            </a:r>
            <a:r>
              <a:rPr lang="zh-CN" altLang="en-US" sz="2000" dirty="0">
                <a:latin typeface="Microsoft YaHei" panose="020B0503020204020204" pitchFamily="34" charset="-122"/>
                <a:ea typeface="Microsoft YaHei" panose="020B0503020204020204" pitchFamily="34" charset="-122"/>
              </a:rPr>
              <a:t>个音（节），但是汉字则多达数万个</a:t>
            </a:r>
            <a:endParaRPr lang="en-US" altLang="zh-CN" sz="2000" dirty="0">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英语中连读、爆破音、重音位置等造成的语音异义也非常常见</a:t>
            </a:r>
            <a:endParaRPr lang="en-US" altLang="zh-CN" sz="2000"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3A3EE810-92E5-9692-80EE-8B9C9236BCDC}"/>
              </a:ext>
            </a:extLst>
          </p:cNvPr>
          <p:cNvSpPr>
            <a:spLocks noChangeArrowheads="1"/>
          </p:cNvSpPr>
          <p:nvPr/>
        </p:nvSpPr>
        <p:spPr bwMode="auto">
          <a:xfrm>
            <a:off x="996952" y="363538"/>
            <a:ext cx="963680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19F683D-8528-02B5-68AE-603A68CF64E2}"/>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55084BB0-7CA7-80BB-862C-EF44D0D4C4C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72FAE4CC-52CA-4606-72C4-1E406025667B}"/>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345ECD8-2668-0AF3-9AA7-026B2CCF057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3C7ADEE5-552E-1067-7351-4FF58E945FC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9EF46DCB-2151-E4B9-1804-808B9A977A1E}"/>
              </a:ext>
            </a:extLst>
          </p:cNvPr>
          <p:cNvSpPr>
            <a:spLocks noChangeArrowheads="1"/>
          </p:cNvSpPr>
          <p:nvPr/>
        </p:nvSpPr>
        <p:spPr bwMode="auto">
          <a:xfrm>
            <a:off x="1248742" y="408136"/>
            <a:ext cx="5176417"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自然语言处理的主要难点</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语音歧义</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0FAA38C6-FE8F-75D8-6986-328CAFA098AD}"/>
              </a:ext>
            </a:extLst>
          </p:cNvPr>
          <p:cNvSpPr txBox="1"/>
          <p:nvPr/>
        </p:nvSpPr>
        <p:spPr>
          <a:xfrm>
            <a:off x="788949" y="4211062"/>
            <a:ext cx="8431251" cy="2221762"/>
          </a:xfrm>
          <a:prstGeom prst="rect">
            <a:avLst/>
          </a:prstGeom>
          <a:noFill/>
        </p:spPr>
        <p:txBody>
          <a:bodyPr wrap="square">
            <a:spAutoFit/>
          </a:bodyPr>
          <a:lstStyle/>
          <a:p>
            <a:pPr>
              <a:lnSpc>
                <a:spcPct val="150000"/>
              </a:lnSpc>
            </a:pPr>
            <a:r>
              <a:rPr lang="zh-CN" altLang="en-US" sz="2400" b="1" dirty="0">
                <a:solidFill>
                  <a:srgbClr val="0070C0"/>
                </a:solidFill>
                <a:latin typeface="SimSun" panose="02010600030101010101" pitchFamily="2" charset="-122"/>
                <a:ea typeface="SimSun" panose="02010600030101010101" pitchFamily="2" charset="-122"/>
              </a:rPr>
              <a:t>例如：  </a:t>
            </a:r>
            <a:r>
              <a:rPr lang="zh-CN" altLang="en-US" sz="2400" dirty="0">
                <a:latin typeface="SimSun" panose="02010600030101010101" pitchFamily="2" charset="-122"/>
                <a:ea typeface="SimSun" panose="02010600030101010101" pitchFamily="2" charset="-122"/>
              </a:rPr>
              <a:t>请问您贵姓？  免贵姓 </a:t>
            </a:r>
            <a:r>
              <a:rPr lang="en-US" sz="2400" dirty="0" err="1">
                <a:latin typeface="SimSun" panose="02010600030101010101" pitchFamily="2" charset="-122"/>
                <a:ea typeface="SimSun" panose="02010600030101010101" pitchFamily="2" charset="-122"/>
              </a:rPr>
              <a:t>zhang</a:t>
            </a:r>
            <a:r>
              <a:rPr lang="en-US" sz="2400" dirty="0">
                <a:latin typeface="SimSun" panose="02010600030101010101" pitchFamily="2" charset="-122"/>
                <a:ea typeface="SimSun" panose="02010600030101010101" pitchFamily="2" charset="-122"/>
              </a:rPr>
              <a:t> </a:t>
            </a:r>
          </a:p>
          <a:p>
            <a:pPr>
              <a:lnSpc>
                <a:spcPct val="150000"/>
              </a:lnSpc>
            </a:pPr>
            <a:r>
              <a:rPr lang="en-US" sz="2400" dirty="0">
                <a:latin typeface="SimSun" panose="02010600030101010101" pitchFamily="2" charset="-122"/>
                <a:ea typeface="SimSun" panose="02010600030101010101" pitchFamily="2" charset="-122"/>
              </a:rPr>
              <a:t>	</a:t>
            </a:r>
            <a:r>
              <a:rPr lang="zh-CN" altLang="en-US" sz="2400" dirty="0">
                <a:latin typeface="SimSun" panose="02010600030101010101" pitchFamily="2" charset="-122"/>
                <a:ea typeface="SimSun" panose="02010600030101010101" pitchFamily="2" charset="-122"/>
              </a:rPr>
              <a:t>   </a:t>
            </a:r>
            <a:r>
              <a:rPr lang="en-US" sz="2400" dirty="0" err="1">
                <a:latin typeface="SimSun" panose="02010600030101010101" pitchFamily="2" charset="-122"/>
                <a:ea typeface="SimSun" panose="02010600030101010101" pitchFamily="2" charset="-122"/>
              </a:rPr>
              <a:t>chéng</a:t>
            </a:r>
            <a:r>
              <a:rPr lang="en-US" sz="2400" dirty="0">
                <a:latin typeface="SimSun" panose="02010600030101010101" pitchFamily="2" charset="-122"/>
                <a:ea typeface="SimSun" panose="02010600030101010101" pitchFamily="2" charset="-122"/>
              </a:rPr>
              <a:t> </a:t>
            </a:r>
            <a:r>
              <a:rPr lang="en-US" sz="2400" dirty="0" err="1">
                <a:latin typeface="SimSun" panose="02010600030101010101" pitchFamily="2" charset="-122"/>
                <a:ea typeface="SimSun" panose="02010600030101010101" pitchFamily="2" charset="-122"/>
              </a:rPr>
              <a:t>shì</a:t>
            </a:r>
            <a:r>
              <a:rPr lang="en-US" sz="2400" dirty="0">
                <a:latin typeface="SimSun" panose="02010600030101010101" pitchFamily="2" charset="-122"/>
                <a:ea typeface="SimSun" panose="02010600030101010101" pitchFamily="2" charset="-122"/>
              </a:rPr>
              <a:t>：</a:t>
            </a:r>
            <a:r>
              <a:rPr lang="zh-CN" altLang="en-US" sz="2400" dirty="0">
                <a:solidFill>
                  <a:srgbClr val="7030A0"/>
                </a:solidFill>
                <a:latin typeface="SimSun" panose="02010600030101010101" pitchFamily="2" charset="-122"/>
                <a:ea typeface="SimSun" panose="02010600030101010101" pitchFamily="2" charset="-122"/>
              </a:rPr>
              <a:t>城市、程式、成事、城事</a:t>
            </a:r>
            <a:endParaRPr lang="en-US" altLang="zh-CN" sz="2400" dirty="0">
              <a:solidFill>
                <a:srgbClr val="7030A0"/>
              </a:solidFill>
              <a:latin typeface="SimSun" panose="02010600030101010101" pitchFamily="2" charset="-122"/>
              <a:ea typeface="SimSun" panose="02010600030101010101" pitchFamily="2" charset="-122"/>
            </a:endParaRPr>
          </a:p>
          <a:p>
            <a:pPr lvl="3">
              <a:lnSpc>
                <a:spcPct val="150000"/>
              </a:lnSpc>
            </a:pPr>
            <a:r>
              <a:rPr lang="en-US" sz="2400" dirty="0">
                <a:latin typeface="SimSun" panose="02010600030101010101" pitchFamily="2" charset="-122"/>
                <a:ea typeface="SimSun" panose="02010600030101010101" pitchFamily="2" charset="-122"/>
              </a:rPr>
              <a:t>Please hand me the flower. </a:t>
            </a:r>
            <a:r>
              <a:rPr lang="zh-CN" altLang="en-US" sz="2400" dirty="0">
                <a:solidFill>
                  <a:srgbClr val="7030A0"/>
                </a:solidFill>
                <a:latin typeface="SimSun" panose="02010600030101010101" pitchFamily="2" charset="-122"/>
                <a:ea typeface="SimSun" panose="02010600030101010101" pitchFamily="2" charset="-122"/>
              </a:rPr>
              <a:t>请把花递给我。</a:t>
            </a:r>
          </a:p>
          <a:p>
            <a:pPr lvl="3">
              <a:lnSpc>
                <a:spcPct val="150000"/>
              </a:lnSpc>
            </a:pPr>
            <a:r>
              <a:rPr lang="en-US" sz="2400" dirty="0">
                <a:latin typeface="SimSun" panose="02010600030101010101" pitchFamily="2" charset="-122"/>
                <a:ea typeface="SimSun" panose="02010600030101010101" pitchFamily="2" charset="-122"/>
              </a:rPr>
              <a:t>Please hand me the flour. </a:t>
            </a:r>
            <a:r>
              <a:rPr lang="zh-CN" altLang="en-US" sz="2400" dirty="0">
                <a:solidFill>
                  <a:srgbClr val="7030A0"/>
                </a:solidFill>
                <a:latin typeface="SimSun" panose="02010600030101010101" pitchFamily="2" charset="-122"/>
                <a:ea typeface="SimSun" panose="02010600030101010101" pitchFamily="2" charset="-122"/>
              </a:rPr>
              <a:t>请把面粉递给我。</a:t>
            </a:r>
            <a:endParaRPr lang="en-CN" sz="2400" dirty="0">
              <a:solidFill>
                <a:srgbClr val="7030A0"/>
              </a:solidFill>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3364549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82587" y="1443125"/>
            <a:ext cx="11569927" cy="1596014"/>
          </a:xfrm>
          <a:prstGeom prst="rect">
            <a:avLst/>
          </a:prstGeom>
          <a:noFill/>
        </p:spPr>
        <p:txBody>
          <a:bodyPr wrap="square">
            <a:spAutoFit/>
          </a:bodyPr>
          <a:lstStyle/>
          <a:p>
            <a:pPr algn="just">
              <a:lnSpc>
                <a:spcPct val="125000"/>
              </a:lnSpc>
            </a:pPr>
            <a:r>
              <a:rPr lang="zh-CN" altLang="en-US" sz="2400" b="1" dirty="0">
                <a:solidFill>
                  <a:srgbClr val="C00000"/>
                </a:solidFill>
                <a:effectLst/>
                <a:latin typeface="Microsoft YaHei" panose="020B0503020204020204" pitchFamily="34" charset="-122"/>
                <a:ea typeface="Microsoft YaHei" panose="020B0503020204020204" pitchFamily="34" charset="-122"/>
              </a:rPr>
              <a:t>词语切分歧义</a:t>
            </a:r>
            <a:r>
              <a:rPr lang="zh-CN" altLang="en-US" sz="2400" b="1"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Word Segmentation Ambiguity</a:t>
            </a:r>
            <a:r>
              <a:rPr lang="zh-CN" altLang="en-US" sz="2400" dirty="0">
                <a:effectLst/>
                <a:latin typeface="Microsoft YaHei" panose="020B0503020204020204" pitchFamily="34" charset="-122"/>
                <a:ea typeface="Microsoft YaHei" panose="020B0503020204020204" pitchFamily="34" charset="-122"/>
              </a:rPr>
              <a:t>）是由字符组成词语时的歧义现象。</a:t>
            </a:r>
            <a:endParaRPr lang="en-US" altLang="zh-CN" sz="2400" dirty="0">
              <a:effectLst/>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英语等印欧语系的语言来说，绝大部分单词之间都由空格或标点分割</a:t>
            </a:r>
            <a:endParaRPr lang="en-US" altLang="zh-CN" sz="2000" dirty="0">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汉语、日语等语言来说，单词之间通常没有分隔符。</a:t>
            </a:r>
            <a:endParaRPr lang="en-US" altLang="zh-CN" sz="2000"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3A3EE810-92E5-9692-80EE-8B9C9236BCDC}"/>
              </a:ext>
            </a:extLst>
          </p:cNvPr>
          <p:cNvSpPr>
            <a:spLocks noChangeArrowheads="1"/>
          </p:cNvSpPr>
          <p:nvPr/>
        </p:nvSpPr>
        <p:spPr bwMode="auto">
          <a:xfrm>
            <a:off x="996951" y="363538"/>
            <a:ext cx="9578295"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19F683D-8528-02B5-68AE-603A68CF64E2}"/>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55084BB0-7CA7-80BB-862C-EF44D0D4C4C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72FAE4CC-52CA-4606-72C4-1E406025667B}"/>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345ECD8-2668-0AF3-9AA7-026B2CCF057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3C7ADEE5-552E-1067-7351-4FF58E945FC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9EF46DCB-2151-E4B9-1804-808B9A977A1E}"/>
              </a:ext>
            </a:extLst>
          </p:cNvPr>
          <p:cNvSpPr>
            <a:spLocks noChangeArrowheads="1"/>
          </p:cNvSpPr>
          <p:nvPr/>
        </p:nvSpPr>
        <p:spPr bwMode="auto">
          <a:xfrm>
            <a:off x="1248742" y="408136"/>
            <a:ext cx="574869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自然语言处理的主要难点</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词语切分歧义</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
        <p:nvSpPr>
          <p:cNvPr id="11" name="TextBox 10">
            <a:extLst>
              <a:ext uri="{FF2B5EF4-FFF2-40B4-BE49-F238E27FC236}">
                <a16:creationId xmlns:a16="http://schemas.microsoft.com/office/drawing/2014/main" id="{0FAA38C6-FE8F-75D8-6986-328CAFA098AD}"/>
              </a:ext>
            </a:extLst>
          </p:cNvPr>
          <p:cNvSpPr txBox="1"/>
          <p:nvPr/>
        </p:nvSpPr>
        <p:spPr>
          <a:xfrm>
            <a:off x="778063" y="3674728"/>
            <a:ext cx="8431251" cy="1667764"/>
          </a:xfrm>
          <a:prstGeom prst="rect">
            <a:avLst/>
          </a:prstGeom>
          <a:noFill/>
        </p:spPr>
        <p:txBody>
          <a:bodyPr wrap="square">
            <a:spAutoFit/>
          </a:bodyPr>
          <a:lstStyle/>
          <a:p>
            <a:pPr>
              <a:lnSpc>
                <a:spcPct val="150000"/>
              </a:lnSpc>
            </a:pPr>
            <a:r>
              <a:rPr lang="zh-CN" altLang="en-US" sz="2400" b="1" dirty="0">
                <a:solidFill>
                  <a:srgbClr val="0070C0"/>
                </a:solidFill>
                <a:latin typeface="SimSun" panose="02010600030101010101" pitchFamily="2" charset="-122"/>
                <a:ea typeface="SimSun" panose="02010600030101010101" pitchFamily="2" charset="-122"/>
              </a:rPr>
              <a:t>例如：  </a:t>
            </a:r>
            <a:r>
              <a:rPr lang="zh-CN" altLang="en-US" sz="2400" i="1" u="sng" dirty="0">
                <a:solidFill>
                  <a:srgbClr val="C00000"/>
                </a:solidFill>
                <a:latin typeface="SimSun" panose="02010600030101010101" pitchFamily="2" charset="-122"/>
                <a:ea typeface="SimSun" panose="02010600030101010101" pitchFamily="2" charset="-122"/>
              </a:rPr>
              <a:t>语言学</a:t>
            </a:r>
            <a:r>
              <a:rPr lang="zh-CN" altLang="en-US" sz="2400" dirty="0">
                <a:latin typeface="SimSun" panose="02010600030101010101" pitchFamily="2" charset="-122"/>
                <a:ea typeface="SimSun" panose="02010600030101010101" pitchFamily="2" charset="-122"/>
              </a:rPr>
              <a:t>是一门基础学科。</a:t>
            </a:r>
          </a:p>
          <a:p>
            <a:pPr>
              <a:lnSpc>
                <a:spcPct val="150000"/>
              </a:lnSpc>
            </a:pPr>
            <a:r>
              <a:rPr lang="en-US" altLang="zh-CN" sz="2400" dirty="0">
                <a:latin typeface="SimSun" panose="02010600030101010101" pitchFamily="2" charset="-122"/>
                <a:ea typeface="SimSun" panose="02010600030101010101" pitchFamily="2" charset="-122"/>
              </a:rPr>
              <a:t>	</a:t>
            </a:r>
            <a:r>
              <a:rPr lang="zh-CN" altLang="en-US" sz="2400" dirty="0">
                <a:latin typeface="SimSun" panose="02010600030101010101" pitchFamily="2" charset="-122"/>
                <a:ea typeface="SimSun" panose="02010600030101010101" pitchFamily="2" charset="-122"/>
              </a:rPr>
              <a:t>  这门</a:t>
            </a:r>
            <a:r>
              <a:rPr lang="zh-CN" altLang="en-US" sz="2400" i="1" u="sng" dirty="0">
                <a:solidFill>
                  <a:srgbClr val="C00000"/>
                </a:solidFill>
                <a:latin typeface="SimSun" panose="02010600030101010101" pitchFamily="2" charset="-122"/>
                <a:ea typeface="SimSun" panose="02010600030101010101" pitchFamily="2" charset="-122"/>
              </a:rPr>
              <a:t>语言学</a:t>
            </a:r>
            <a:r>
              <a:rPr lang="zh-CN" altLang="en-US" sz="2400" dirty="0">
                <a:latin typeface="SimSun" panose="02010600030101010101" pitchFamily="2" charset="-122"/>
                <a:ea typeface="SimSun" panose="02010600030101010101" pitchFamily="2" charset="-122"/>
              </a:rPr>
              <a:t>起来很困难。</a:t>
            </a:r>
            <a:endParaRPr lang="en-US" altLang="zh-CN" sz="2400" dirty="0">
              <a:latin typeface="SimSun" panose="02010600030101010101" pitchFamily="2" charset="-122"/>
              <a:ea typeface="SimSun" panose="02010600030101010101" pitchFamily="2" charset="-122"/>
            </a:endParaRPr>
          </a:p>
          <a:p>
            <a:pPr>
              <a:lnSpc>
                <a:spcPct val="150000"/>
              </a:lnSpc>
            </a:pPr>
            <a:r>
              <a:rPr lang="en-US" sz="2400" dirty="0">
                <a:latin typeface="SimSun" panose="02010600030101010101" pitchFamily="2" charset="-122"/>
                <a:ea typeface="SimSun" panose="02010600030101010101" pitchFamily="2" charset="-122"/>
              </a:rPr>
              <a:t>	</a:t>
            </a:r>
            <a:r>
              <a:rPr lang="zh-CN" altLang="en-US" sz="2400" dirty="0">
                <a:latin typeface="SimSun" panose="02010600030101010101" pitchFamily="2" charset="-122"/>
                <a:ea typeface="SimSun" panose="02010600030101010101" pitchFamily="2" charset="-122"/>
              </a:rPr>
              <a:t>  武汉市</a:t>
            </a:r>
            <a:r>
              <a:rPr lang="zh-CN" altLang="en-US" sz="2400" dirty="0">
                <a:solidFill>
                  <a:srgbClr val="00B050"/>
                </a:solidFill>
                <a:latin typeface="SimSun" panose="02010600030101010101" pitchFamily="2" charset="-122"/>
                <a:ea typeface="SimSun" panose="02010600030101010101" pitchFamily="2" charset="-122"/>
              </a:rPr>
              <a:t>长江大桥</a:t>
            </a:r>
            <a:endParaRPr lang="en-CN" sz="2400" dirty="0">
              <a:solidFill>
                <a:srgbClr val="00B050"/>
              </a:solidFill>
              <a:latin typeface="SimSun" panose="02010600030101010101" pitchFamily="2" charset="-122"/>
              <a:ea typeface="SimSun" panose="02010600030101010101" pitchFamily="2" charset="-122"/>
            </a:endParaRPr>
          </a:p>
        </p:txBody>
      </p:sp>
      <p:pic>
        <p:nvPicPr>
          <p:cNvPr id="1026" name="Picture 2">
            <a:extLst>
              <a:ext uri="{FF2B5EF4-FFF2-40B4-BE49-F238E27FC236}">
                <a16:creationId xmlns:a16="http://schemas.microsoft.com/office/drawing/2014/main" id="{BCB861D9-05F0-48DE-C609-D547FD683B6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03572" y="3674728"/>
            <a:ext cx="3771674" cy="22225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22275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579128" y="1517290"/>
            <a:ext cx="10702995" cy="4265848"/>
          </a:xfrm>
          <a:prstGeom prst="rect">
            <a:avLst/>
          </a:prstGeom>
          <a:noFill/>
        </p:spPr>
        <p:txBody>
          <a:bodyPr wrap="square">
            <a:spAutoFit/>
          </a:bodyPr>
          <a:lstStyle/>
          <a:p>
            <a:pPr algn="just">
              <a:lnSpc>
                <a:spcPct val="125000"/>
              </a:lnSpc>
            </a:pPr>
            <a:r>
              <a:rPr lang="zh-CN" altLang="en-US" sz="2400" b="1" dirty="0">
                <a:solidFill>
                  <a:srgbClr val="C00000"/>
                </a:solidFill>
                <a:effectLst/>
                <a:latin typeface="Microsoft YaHei" panose="020B0503020204020204" pitchFamily="34" charset="-122"/>
                <a:ea typeface="Microsoft YaHei" panose="020B0503020204020204" pitchFamily="34" charset="-122"/>
              </a:rPr>
              <a:t>词义歧义</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Word Sense Ambiguity</a:t>
            </a:r>
            <a:r>
              <a:rPr lang="zh-CN" altLang="en-US" sz="2400" dirty="0">
                <a:effectLst/>
                <a:latin typeface="Microsoft YaHei" panose="020B0503020204020204" pitchFamily="34" charset="-122"/>
                <a:ea typeface="Microsoft YaHei" panose="020B0503020204020204" pitchFamily="34" charset="-122"/>
              </a:rPr>
              <a:t>）是指词语具有相同形式但是不同意义。</a:t>
            </a:r>
            <a:endParaRPr lang="en-US" altLang="zh-CN" sz="2400" dirty="0">
              <a:effectLst/>
              <a:latin typeface="Microsoft YaHei" panose="020B0503020204020204" pitchFamily="34" charset="-122"/>
              <a:ea typeface="Microsoft YaHei" panose="020B0503020204020204" pitchFamily="34" charset="-122"/>
            </a:endParaRPr>
          </a:p>
          <a:p>
            <a:pPr algn="just">
              <a:lnSpc>
                <a:spcPct val="125000"/>
              </a:lnSpc>
              <a:spcBef>
                <a:spcPts val="1800"/>
              </a:spcBef>
            </a:pPr>
            <a:r>
              <a:rPr lang="zh-CN" altLang="en-US" sz="2000" b="0" i="0" dirty="0">
                <a:solidFill>
                  <a:srgbClr val="0070C0"/>
                </a:solidFill>
                <a:effectLst/>
                <a:latin typeface="Times New Roman" panose="02020603050405020304" pitchFamily="18" charset="0"/>
              </a:rPr>
              <a:t>例如：</a:t>
            </a:r>
            <a:r>
              <a:rPr lang="zh-CN" altLang="en-US" sz="2000" b="0" i="0" dirty="0">
                <a:effectLst/>
                <a:latin typeface="Times New Roman" panose="02020603050405020304" pitchFamily="18" charset="0"/>
              </a:rPr>
              <a:t> “打”字在</a:t>
            </a:r>
            <a:r>
              <a:rPr lang="en-US" altLang="zh-CN" sz="2000" b="0" i="0" dirty="0">
                <a:effectLst/>
                <a:latin typeface="Times New Roman" panose="02020603050405020304" pitchFamily="18" charset="0"/>
              </a:rPr>
              <a:t>《</a:t>
            </a:r>
            <a:r>
              <a:rPr lang="zh-CN" altLang="en-US" sz="2000" b="0" i="0" dirty="0">
                <a:effectLst/>
                <a:latin typeface="Times New Roman" panose="02020603050405020304" pitchFamily="18" charset="0"/>
              </a:rPr>
              <a:t>现代汉语词典（第七版）</a:t>
            </a:r>
            <a:r>
              <a:rPr lang="en-US" altLang="zh-CN" sz="2000" b="0" i="0" dirty="0">
                <a:effectLst/>
                <a:latin typeface="Times New Roman" panose="02020603050405020304" pitchFamily="18" charset="0"/>
              </a:rPr>
              <a:t>》</a:t>
            </a:r>
            <a:r>
              <a:rPr lang="zh-CN" altLang="en-US" sz="2000" b="0" i="0" dirty="0">
                <a:effectLst/>
                <a:latin typeface="Times New Roman" panose="02020603050405020304" pitchFamily="18" charset="0"/>
              </a:rPr>
              <a:t>中，有两个读音“</a:t>
            </a:r>
            <a:r>
              <a:rPr lang="en-US" altLang="zh-CN" sz="2000" b="0" i="0" dirty="0" err="1">
                <a:solidFill>
                  <a:srgbClr val="7030A0"/>
                </a:solidFill>
                <a:effectLst/>
                <a:latin typeface="Times New Roman" panose="02020603050405020304" pitchFamily="18" charset="0"/>
              </a:rPr>
              <a:t>dá</a:t>
            </a:r>
            <a:r>
              <a:rPr lang="en-US" altLang="zh-CN" sz="2000" b="0" i="0" dirty="0">
                <a:effectLst/>
                <a:latin typeface="Times New Roman" panose="02020603050405020304" pitchFamily="18" charset="0"/>
              </a:rPr>
              <a:t>”</a:t>
            </a:r>
            <a:r>
              <a:rPr lang="zh-CN" altLang="en-US" sz="2000" b="0" i="0" dirty="0">
                <a:effectLst/>
                <a:latin typeface="Times New Roman" panose="02020603050405020304" pitchFamily="18" charset="0"/>
              </a:rPr>
              <a:t>和“</a:t>
            </a:r>
            <a:r>
              <a:rPr lang="en-US" altLang="zh-CN" sz="2000" b="0" i="0" dirty="0" err="1">
                <a:solidFill>
                  <a:srgbClr val="7030A0"/>
                </a:solidFill>
                <a:effectLst/>
                <a:latin typeface="Times New Roman" panose="02020603050405020304" pitchFamily="18" charset="0"/>
              </a:rPr>
              <a:t>dǎ</a:t>
            </a:r>
            <a:r>
              <a:rPr lang="en-US" altLang="zh-CN" sz="2000" b="0" i="0" dirty="0">
                <a:effectLst/>
                <a:latin typeface="Times New Roman" panose="02020603050405020304" pitchFamily="18" charset="0"/>
              </a:rPr>
              <a:t>”</a:t>
            </a:r>
            <a:r>
              <a:rPr lang="zh-CN" altLang="en-US" sz="2000" b="0" i="0" dirty="0">
                <a:effectLst/>
                <a:latin typeface="Times New Roman" panose="02020603050405020304" pitchFamily="18" charset="0"/>
              </a:rPr>
              <a:t>，分别作为量词、动词和介词，在作为动词时“打”字有 </a:t>
            </a:r>
            <a:r>
              <a:rPr lang="en-US" altLang="zh-CN" sz="2000" b="0" i="0" dirty="0">
                <a:effectLst/>
                <a:latin typeface="Times New Roman" panose="02020603050405020304" pitchFamily="18" charset="0"/>
              </a:rPr>
              <a:t>24 </a:t>
            </a:r>
            <a:r>
              <a:rPr lang="zh-CN" altLang="en-US" sz="2000" b="0" i="0" dirty="0">
                <a:effectLst/>
                <a:latin typeface="Times New Roman" panose="02020603050405020304" pitchFamily="18" charset="0"/>
              </a:rPr>
              <a:t>个意项</a:t>
            </a:r>
            <a:endParaRPr lang="en-US" altLang="zh-CN" sz="2000" b="0" i="0" dirty="0">
              <a:effectLst/>
              <a:latin typeface="Times New Roman" panose="02020603050405020304" pitchFamily="18" charset="0"/>
            </a:endParaRPr>
          </a:p>
          <a:p>
            <a:pPr lvl="1">
              <a:lnSpc>
                <a:spcPct val="150000"/>
              </a:lnSpc>
            </a:pPr>
            <a:r>
              <a:rPr lang="zh-CN" altLang="en-US" sz="2000" b="0" i="0" dirty="0">
                <a:solidFill>
                  <a:srgbClr val="7030A0"/>
                </a:solidFill>
                <a:effectLst/>
                <a:latin typeface="Times New Roman" panose="02020603050405020304" pitchFamily="18" charset="0"/>
              </a:rPr>
              <a:t>“打 </a:t>
            </a:r>
            <a:r>
              <a:rPr lang="en-US" sz="2000" b="0" i="0" dirty="0" err="1">
                <a:solidFill>
                  <a:srgbClr val="7030A0"/>
                </a:solidFill>
                <a:effectLst/>
                <a:latin typeface="Times New Roman" panose="02020603050405020304" pitchFamily="18" charset="0"/>
              </a:rPr>
              <a:t>dǎ</a:t>
            </a:r>
            <a:r>
              <a:rPr lang="zh-CN" altLang="en-US" sz="2000" b="0" i="0" dirty="0">
                <a:solidFill>
                  <a:srgbClr val="7030A0"/>
                </a:solidFill>
                <a:effectLst/>
                <a:latin typeface="Times New Roman" panose="02020603050405020304" pitchFamily="18" charset="0"/>
              </a:rPr>
              <a:t>”</a:t>
            </a:r>
            <a:r>
              <a:rPr lang="en-US" sz="2000" b="0" i="0" dirty="0">
                <a:solidFill>
                  <a:srgbClr val="7030A0"/>
                </a:solidFill>
                <a:effectLst/>
                <a:latin typeface="Times New Roman" panose="02020603050405020304" pitchFamily="18" charset="0"/>
              </a:rPr>
              <a:t> </a:t>
            </a:r>
            <a:r>
              <a:rPr lang="zh-CN" altLang="en-US" sz="2000" b="0" i="0" dirty="0">
                <a:solidFill>
                  <a:srgbClr val="7030A0"/>
                </a:solidFill>
                <a:effectLst/>
                <a:latin typeface="Times New Roman" panose="02020603050405020304" pitchFamily="18" charset="0"/>
              </a:rPr>
              <a:t> </a:t>
            </a:r>
            <a:r>
              <a:rPr lang="zh-CN" altLang="en-US" sz="2000" b="0" i="0" dirty="0">
                <a:effectLst/>
                <a:latin typeface="Times New Roman" panose="02020603050405020304" pitchFamily="18" charset="0"/>
              </a:rPr>
              <a:t>动词：</a:t>
            </a:r>
            <a:endParaRPr lang="en-US" altLang="zh-CN" sz="2000" b="0" i="0" dirty="0">
              <a:effectLst/>
              <a:latin typeface="Times New Roman" panose="02020603050405020304" pitchFamily="18" charset="0"/>
            </a:endParaRPr>
          </a:p>
          <a:p>
            <a:pPr lvl="2">
              <a:lnSpc>
                <a:spcPct val="150000"/>
              </a:lnSpc>
            </a:pPr>
            <a:r>
              <a:rPr lang="en-US" altLang="zh-CN" sz="2000" b="0" i="0" dirty="0">
                <a:effectLst/>
                <a:latin typeface="Times New Roman" panose="02020603050405020304" pitchFamily="18" charset="0"/>
              </a:rPr>
              <a:t>(1) </a:t>
            </a:r>
            <a:r>
              <a:rPr lang="zh-CN" altLang="en-US" sz="2000" b="0" i="0" dirty="0">
                <a:effectLst/>
                <a:latin typeface="Times New Roman" panose="02020603050405020304" pitchFamily="18" charset="0"/>
              </a:rPr>
              <a:t>用手或器具撞击物体：</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门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鼓</a:t>
            </a:r>
            <a:br>
              <a:rPr lang="zh-CN" altLang="en-US" sz="2000" dirty="0">
                <a:solidFill>
                  <a:srgbClr val="00B050"/>
                </a:solidFill>
              </a:rPr>
            </a:br>
            <a:r>
              <a:rPr lang="en-US" altLang="zh-CN" sz="2000" b="0" i="0" dirty="0">
                <a:effectLst/>
                <a:latin typeface="Times New Roman" panose="02020603050405020304" pitchFamily="18" charset="0"/>
              </a:rPr>
              <a:t>(2) </a:t>
            </a:r>
            <a:r>
              <a:rPr lang="zh-CN" altLang="en-US" sz="2000" b="0" i="0" dirty="0">
                <a:effectLst/>
                <a:latin typeface="Times New Roman" panose="02020603050405020304" pitchFamily="18" charset="0"/>
              </a:rPr>
              <a:t>器皿、蛋类等因撞击而破碎：</a:t>
            </a:r>
            <a:r>
              <a:rPr lang="zh-CN" altLang="en-US" sz="2000" b="0" i="0" dirty="0">
                <a:solidFill>
                  <a:srgbClr val="00B050"/>
                </a:solidFill>
                <a:effectLst/>
                <a:latin typeface="Times New Roman" panose="02020603050405020304" pitchFamily="18" charset="0"/>
              </a:rPr>
              <a:t>碗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了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鸡飞蛋 </a:t>
            </a:r>
            <a:r>
              <a:rPr lang="en-US" altLang="zh-CN" sz="2000" b="0" i="0" dirty="0">
                <a:solidFill>
                  <a:srgbClr val="00B050"/>
                </a:solidFill>
                <a:effectLst/>
                <a:latin typeface="Times New Roman" panose="02020603050405020304" pitchFamily="18" charset="0"/>
              </a:rPr>
              <a:t>~</a:t>
            </a:r>
            <a:br>
              <a:rPr lang="zh-CN" altLang="en-US" sz="2000" dirty="0">
                <a:solidFill>
                  <a:srgbClr val="00B050"/>
                </a:solidFill>
              </a:rPr>
            </a:br>
            <a:r>
              <a:rPr lang="en-US" altLang="zh-CN" sz="2000" b="0" i="0" dirty="0">
                <a:effectLst/>
                <a:latin typeface="Times New Roman" panose="02020603050405020304" pitchFamily="18" charset="0"/>
              </a:rPr>
              <a:t>(3) </a:t>
            </a:r>
            <a:r>
              <a:rPr lang="zh-CN" altLang="en-US" sz="2000" b="0" i="0" dirty="0">
                <a:effectLst/>
                <a:latin typeface="Times New Roman" panose="02020603050405020304" pitchFamily="18" charset="0"/>
              </a:rPr>
              <a:t>殴打；攻打：</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架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援</a:t>
            </a:r>
            <a:br>
              <a:rPr lang="zh-CN" altLang="en-US" sz="2000" dirty="0">
                <a:solidFill>
                  <a:srgbClr val="00B050"/>
                </a:solidFill>
              </a:rPr>
            </a:br>
            <a:r>
              <a:rPr lang="en-US" altLang="zh-CN" sz="2000" b="0" i="0" dirty="0">
                <a:effectLst/>
                <a:latin typeface="Times New Roman" panose="02020603050405020304" pitchFamily="18" charset="0"/>
              </a:rPr>
              <a:t>(4) </a:t>
            </a:r>
            <a:r>
              <a:rPr lang="zh-CN" altLang="en-US" sz="2000" b="0" i="0" dirty="0">
                <a:effectLst/>
                <a:latin typeface="Times New Roman" panose="02020603050405020304" pitchFamily="18" charset="0"/>
              </a:rPr>
              <a:t>发生与人交涉的行为：</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官司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交道</a:t>
            </a:r>
            <a:br>
              <a:rPr lang="zh-CN" altLang="en-US" sz="2000" dirty="0"/>
            </a:br>
            <a:r>
              <a:rPr lang="en-US" altLang="zh-CN" sz="2000" b="0" i="0" dirty="0">
                <a:effectLst/>
                <a:latin typeface="Times New Roman" panose="02020603050405020304" pitchFamily="18" charset="0"/>
              </a:rPr>
              <a:t>(5) </a:t>
            </a:r>
            <a:r>
              <a:rPr lang="zh-CN" altLang="en-US" sz="2000" b="0" i="0" dirty="0">
                <a:effectLst/>
                <a:latin typeface="Times New Roman" panose="02020603050405020304" pitchFamily="18" charset="0"/>
              </a:rPr>
              <a:t>汲取；盛取：</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米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酱油</a:t>
            </a:r>
            <a:endParaRPr lang="en-US" altLang="zh-CN" sz="2000" dirty="0">
              <a:solidFill>
                <a:srgbClr val="00B050"/>
              </a:solidFill>
              <a:latin typeface="Times New Roman" panose="02020603050405020304" pitchFamily="18" charset="0"/>
              <a:ea typeface="Microsoft YaHei" panose="020B0503020204020204" pitchFamily="34" charset="-122"/>
            </a:endParaRPr>
          </a:p>
        </p:txBody>
      </p:sp>
      <p:sp>
        <p:nvSpPr>
          <p:cNvPr id="3" name="平行四边形 6">
            <a:extLst>
              <a:ext uri="{FF2B5EF4-FFF2-40B4-BE49-F238E27FC236}">
                <a16:creationId xmlns:a16="http://schemas.microsoft.com/office/drawing/2014/main" id="{3A3EE810-92E5-9692-80EE-8B9C9236BCDC}"/>
              </a:ext>
            </a:extLst>
          </p:cNvPr>
          <p:cNvSpPr>
            <a:spLocks noChangeArrowheads="1"/>
          </p:cNvSpPr>
          <p:nvPr/>
        </p:nvSpPr>
        <p:spPr bwMode="auto">
          <a:xfrm>
            <a:off x="996952" y="363538"/>
            <a:ext cx="965735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19F683D-8528-02B5-68AE-603A68CF64E2}"/>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55084BB0-7CA7-80BB-862C-EF44D0D4C4C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72FAE4CC-52CA-4606-72C4-1E406025667B}"/>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345ECD8-2668-0AF3-9AA7-026B2CCF057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3C7ADEE5-552E-1067-7351-4FF58E945FC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9EF46DCB-2151-E4B9-1804-808B9A977A1E}"/>
              </a:ext>
            </a:extLst>
          </p:cNvPr>
          <p:cNvSpPr>
            <a:spLocks noChangeArrowheads="1"/>
          </p:cNvSpPr>
          <p:nvPr/>
        </p:nvSpPr>
        <p:spPr bwMode="auto">
          <a:xfrm>
            <a:off x="1248742" y="408136"/>
            <a:ext cx="512993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自然语言处理的主要难点</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词义歧义</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331502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26</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579128" y="1529318"/>
            <a:ext cx="10702995" cy="4212115"/>
          </a:xfrm>
          <a:prstGeom prst="rect">
            <a:avLst/>
          </a:prstGeom>
          <a:noFill/>
        </p:spPr>
        <p:txBody>
          <a:bodyPr wrap="square">
            <a:spAutoFit/>
          </a:bodyPr>
          <a:lstStyle/>
          <a:p>
            <a:pPr algn="just">
              <a:lnSpc>
                <a:spcPct val="125000"/>
              </a:lnSpc>
            </a:pPr>
            <a:r>
              <a:rPr lang="zh-CN" altLang="en-US" sz="2400" b="1" dirty="0">
                <a:solidFill>
                  <a:srgbClr val="C00000"/>
                </a:solidFill>
                <a:effectLst/>
                <a:latin typeface="Microsoft YaHei" panose="020B0503020204020204" pitchFamily="34" charset="-122"/>
                <a:ea typeface="Microsoft YaHei" panose="020B0503020204020204" pitchFamily="34" charset="-122"/>
              </a:rPr>
              <a:t>结构歧义</a:t>
            </a:r>
            <a:r>
              <a:rPr lang="zh-CN" altLang="en-US" sz="2400" b="1" dirty="0">
                <a:effectLst/>
                <a:latin typeface="Microsoft YaHei" panose="020B0503020204020204" pitchFamily="34" charset="-122"/>
                <a:ea typeface="Microsoft YaHei" panose="020B0503020204020204" pitchFamily="34" charset="-122"/>
              </a:rPr>
              <a:t>（</a:t>
            </a:r>
            <a:r>
              <a:rPr lang="en-US" altLang="zh-CN" sz="2400" b="1" dirty="0">
                <a:effectLst/>
                <a:latin typeface="Microsoft YaHei" panose="020B0503020204020204" pitchFamily="34" charset="-122"/>
                <a:ea typeface="Microsoft YaHei" panose="020B0503020204020204" pitchFamily="34" charset="-122"/>
              </a:rPr>
              <a:t>Structural Ambiguity</a:t>
            </a:r>
            <a:r>
              <a:rPr lang="zh-CN" altLang="en-US" sz="2400" b="1" dirty="0">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是由词组成词组或者句子时，由于其组成的词或词组间可能存在不同的语法或语义关系而出现的（潜在）歧义现象。</a:t>
            </a:r>
            <a:endParaRPr lang="en-US" altLang="zh-CN" sz="2000" dirty="0">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en-US" altLang="zh-CN" sz="2000" dirty="0">
                <a:latin typeface="Microsoft YaHei" panose="020B0503020204020204" pitchFamily="34" charset="-122"/>
                <a:ea typeface="Microsoft YaHei" panose="020B0503020204020204" pitchFamily="34" charset="-122"/>
              </a:rPr>
              <a:t>“VP+ </a:t>
            </a:r>
            <a:r>
              <a:rPr lang="zh-CN" altLang="en-US" sz="2000" dirty="0">
                <a:latin typeface="Microsoft YaHei" panose="020B0503020204020204" pitchFamily="34" charset="-122"/>
                <a:ea typeface="Microsoft YaHei" panose="020B0503020204020204" pitchFamily="34" charset="-122"/>
              </a:rPr>
              <a:t>的 </a:t>
            </a:r>
            <a:r>
              <a:rPr lang="en-US" altLang="zh-CN" sz="2000" dirty="0">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是 </a:t>
            </a:r>
            <a:r>
              <a:rPr lang="en-US" altLang="zh-CN" sz="2000" dirty="0">
                <a:latin typeface="Microsoft YaHei" panose="020B0503020204020204" pitchFamily="34" charset="-122"/>
                <a:ea typeface="Microsoft YaHei" panose="020B0503020204020204" pitchFamily="34" charset="-122"/>
              </a:rPr>
              <a:t>+NP” </a:t>
            </a:r>
            <a:r>
              <a:rPr lang="zh-CN" altLang="en-US" sz="2000" dirty="0">
                <a:latin typeface="Microsoft YaHei" panose="020B0503020204020204" pitchFamily="34" charset="-122"/>
                <a:ea typeface="Microsoft YaHei" panose="020B0503020204020204" pitchFamily="34" charset="-122"/>
              </a:rPr>
              <a:t>型歧义结构没有分隔符</a:t>
            </a:r>
            <a:endParaRPr lang="en-US" altLang="zh-CN" sz="2000" dirty="0">
              <a:latin typeface="Microsoft YaHei" panose="020B0503020204020204" pitchFamily="34" charset="-122"/>
              <a:ea typeface="Microsoft YaHei" panose="020B0503020204020204" pitchFamily="34" charset="-122"/>
            </a:endParaRPr>
          </a:p>
          <a:p>
            <a:pPr lvl="1" algn="just">
              <a:lnSpc>
                <a:spcPct val="125000"/>
              </a:lnSpc>
              <a:spcBef>
                <a:spcPts val="1200"/>
              </a:spcBef>
            </a:pPr>
            <a:r>
              <a:rPr lang="zh-CN" altLang="en-US" sz="2000" b="0" i="0" dirty="0">
                <a:effectLst/>
                <a:latin typeface="Times New Roman" panose="02020603050405020304" pitchFamily="18" charset="0"/>
              </a:rPr>
              <a:t>   </a:t>
            </a:r>
            <a:r>
              <a:rPr lang="zh-CN" altLang="en-US" sz="2000" b="0" i="0" dirty="0">
                <a:solidFill>
                  <a:srgbClr val="0070C0"/>
                </a:solidFill>
                <a:effectLst/>
                <a:latin typeface="Times New Roman" panose="02020603050405020304" pitchFamily="18" charset="0"/>
              </a:rPr>
              <a:t>例如：</a:t>
            </a:r>
            <a:r>
              <a:rPr lang="zh-CN" altLang="en-US" sz="2000" b="0" i="0" dirty="0">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反对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的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是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少数人</a:t>
            </a:r>
            <a:endParaRPr lang="en-US" altLang="zh-CN" sz="2000" dirty="0">
              <a:solidFill>
                <a:srgbClr val="00B050"/>
              </a:solidFill>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en-US" sz="2000" dirty="0">
                <a:latin typeface="Microsoft YaHei" panose="020B0503020204020204" pitchFamily="34" charset="-122"/>
                <a:ea typeface="Microsoft YaHei" panose="020B0503020204020204" pitchFamily="34" charset="-122"/>
              </a:rPr>
              <a:t>“VP+N1+ </a:t>
            </a:r>
            <a:r>
              <a:rPr lang="zh-CN" altLang="en-US" sz="2000" dirty="0">
                <a:latin typeface="Microsoft YaHei" panose="020B0503020204020204" pitchFamily="34" charset="-122"/>
                <a:ea typeface="Microsoft YaHei" panose="020B0503020204020204" pitchFamily="34" charset="-122"/>
              </a:rPr>
              <a:t>的 </a:t>
            </a:r>
            <a:r>
              <a:rPr lang="en-US" altLang="zh-CN" sz="2000" dirty="0">
                <a:latin typeface="Microsoft YaHei" panose="020B0503020204020204" pitchFamily="34" charset="-122"/>
                <a:ea typeface="Microsoft YaHei" panose="020B0503020204020204" pitchFamily="34" charset="-122"/>
              </a:rPr>
              <a:t>+</a:t>
            </a:r>
            <a:r>
              <a:rPr lang="en-US" sz="2000" dirty="0">
                <a:latin typeface="Microsoft YaHei" panose="020B0503020204020204" pitchFamily="34" charset="-122"/>
                <a:ea typeface="Microsoft YaHei" panose="020B0503020204020204" pitchFamily="34" charset="-122"/>
              </a:rPr>
              <a:t>N2” </a:t>
            </a:r>
            <a:r>
              <a:rPr lang="zh-CN" altLang="en-US" sz="2000" dirty="0">
                <a:latin typeface="Microsoft YaHei" panose="020B0503020204020204" pitchFamily="34" charset="-122"/>
                <a:ea typeface="Microsoft YaHei" panose="020B0503020204020204" pitchFamily="34" charset="-122"/>
              </a:rPr>
              <a:t>型歧义结构</a:t>
            </a:r>
            <a:endParaRPr lang="en-US" altLang="zh-CN" sz="2000" dirty="0">
              <a:latin typeface="Microsoft YaHei" panose="020B0503020204020204" pitchFamily="34" charset="-122"/>
              <a:ea typeface="Microsoft YaHei" panose="020B0503020204020204" pitchFamily="34" charset="-122"/>
            </a:endParaRPr>
          </a:p>
          <a:p>
            <a:pPr lvl="1" algn="just">
              <a:lnSpc>
                <a:spcPct val="125000"/>
              </a:lnSpc>
              <a:spcBef>
                <a:spcPts val="1200"/>
              </a:spcBef>
            </a:pPr>
            <a:r>
              <a:rPr lang="zh-CN" altLang="en-US" sz="2000" b="0" i="0" dirty="0">
                <a:solidFill>
                  <a:srgbClr val="0070C0"/>
                </a:solidFill>
                <a:effectLst/>
                <a:latin typeface="Times New Roman" panose="02020603050405020304" pitchFamily="18" charset="0"/>
              </a:rPr>
              <a:t>   例如： </a:t>
            </a:r>
            <a:r>
              <a:rPr lang="zh-CN" altLang="en-US" sz="2000" b="0" i="0" dirty="0">
                <a:solidFill>
                  <a:srgbClr val="00B050"/>
                </a:solidFill>
                <a:effectLst/>
                <a:latin typeface="Times New Roman" panose="02020603050405020304" pitchFamily="18" charset="0"/>
              </a:rPr>
              <a:t>咬死了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猎人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的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狗</a:t>
            </a:r>
            <a:endParaRPr lang="en-US" altLang="zh-CN" sz="2000" dirty="0">
              <a:solidFill>
                <a:srgbClr val="00B050"/>
              </a:solidFill>
              <a:latin typeface="Microsoft YaHei" panose="020B0503020204020204" pitchFamily="34" charset="-122"/>
              <a:ea typeface="Microsoft YaHei" panose="020B0503020204020204" pitchFamily="34" charset="-122"/>
            </a:endParaRPr>
          </a:p>
          <a:p>
            <a:pPr marL="457200" indent="-457200" algn="just">
              <a:lnSpc>
                <a:spcPct val="125000"/>
              </a:lnSpc>
              <a:spcBef>
                <a:spcPts val="1200"/>
              </a:spcBef>
              <a:buFont typeface="Arial" panose="020B0604020202020204" pitchFamily="34" charset="0"/>
              <a:buChar char="•"/>
            </a:pPr>
            <a:r>
              <a:rPr lang="en-US" sz="2000" dirty="0">
                <a:latin typeface="Microsoft YaHei" panose="020B0503020204020204" pitchFamily="34" charset="-122"/>
                <a:ea typeface="Microsoft YaHei" panose="020B0503020204020204" pitchFamily="34" charset="-122"/>
              </a:rPr>
              <a:t>“ N1+ </a:t>
            </a:r>
            <a:r>
              <a:rPr lang="zh-CN" altLang="en-US" sz="2000" dirty="0">
                <a:latin typeface="Microsoft YaHei" panose="020B0503020204020204" pitchFamily="34" charset="-122"/>
                <a:ea typeface="Microsoft YaHei" panose="020B0503020204020204" pitchFamily="34" charset="-122"/>
              </a:rPr>
              <a:t>和 </a:t>
            </a:r>
            <a:r>
              <a:rPr lang="en-US" altLang="zh-CN" sz="2000" dirty="0">
                <a:latin typeface="Microsoft YaHei" panose="020B0503020204020204" pitchFamily="34" charset="-122"/>
                <a:ea typeface="Microsoft YaHei" panose="020B0503020204020204" pitchFamily="34" charset="-122"/>
              </a:rPr>
              <a:t>+</a:t>
            </a:r>
            <a:r>
              <a:rPr lang="en-US" sz="2000" dirty="0">
                <a:latin typeface="Microsoft YaHei" panose="020B0503020204020204" pitchFamily="34" charset="-122"/>
                <a:ea typeface="Microsoft YaHei" panose="020B0503020204020204" pitchFamily="34" charset="-122"/>
              </a:rPr>
              <a:t>N2+ </a:t>
            </a:r>
            <a:r>
              <a:rPr lang="zh-CN" altLang="en-US" sz="2000" dirty="0">
                <a:latin typeface="Microsoft YaHei" panose="020B0503020204020204" pitchFamily="34" charset="-122"/>
                <a:ea typeface="Microsoft YaHei" panose="020B0503020204020204" pitchFamily="34" charset="-122"/>
              </a:rPr>
              <a:t>的 </a:t>
            </a:r>
            <a:r>
              <a:rPr lang="en-US" altLang="zh-CN" sz="2000" dirty="0">
                <a:latin typeface="Microsoft YaHei" panose="020B0503020204020204" pitchFamily="34" charset="-122"/>
                <a:ea typeface="Microsoft YaHei" panose="020B0503020204020204" pitchFamily="34" charset="-122"/>
              </a:rPr>
              <a:t>+</a:t>
            </a:r>
            <a:r>
              <a:rPr lang="en-US" sz="2000" dirty="0">
                <a:latin typeface="Microsoft YaHei" panose="020B0503020204020204" pitchFamily="34" charset="-122"/>
                <a:ea typeface="Microsoft YaHei" panose="020B0503020204020204" pitchFamily="34" charset="-122"/>
              </a:rPr>
              <a:t>N3” </a:t>
            </a:r>
            <a:r>
              <a:rPr lang="zh-CN" altLang="en-US" sz="2000" dirty="0">
                <a:latin typeface="Microsoft YaHei" panose="020B0503020204020204" pitchFamily="34" charset="-122"/>
                <a:ea typeface="Microsoft YaHei" panose="020B0503020204020204" pitchFamily="34" charset="-122"/>
              </a:rPr>
              <a:t>型歧义结构</a:t>
            </a:r>
            <a:endParaRPr lang="en-US" altLang="zh-CN" sz="2000" dirty="0">
              <a:latin typeface="Microsoft YaHei" panose="020B0503020204020204" pitchFamily="34" charset="-122"/>
              <a:ea typeface="Microsoft YaHei" panose="020B0503020204020204" pitchFamily="34" charset="-122"/>
            </a:endParaRPr>
          </a:p>
          <a:p>
            <a:pPr lvl="1" algn="just">
              <a:lnSpc>
                <a:spcPct val="125000"/>
              </a:lnSpc>
              <a:spcBef>
                <a:spcPts val="1200"/>
              </a:spcBef>
            </a:pPr>
            <a:r>
              <a:rPr lang="zh-CN" altLang="en-US" sz="2000" b="0" i="0" dirty="0">
                <a:solidFill>
                  <a:srgbClr val="0070C0"/>
                </a:solidFill>
                <a:effectLst/>
                <a:latin typeface="Times New Roman" panose="02020603050405020304" pitchFamily="18" charset="0"/>
              </a:rPr>
              <a:t>   例如：</a:t>
            </a:r>
            <a:r>
              <a:rPr lang="zh-CN" altLang="en-US" sz="2000" b="0" i="0" dirty="0">
                <a:solidFill>
                  <a:srgbClr val="00B050"/>
                </a:solidFill>
                <a:effectLst/>
                <a:latin typeface="Times New Roman" panose="02020603050405020304" pitchFamily="18" charset="0"/>
              </a:rPr>
              <a:t>桌子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和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椅子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的 </a:t>
            </a:r>
            <a:r>
              <a:rPr lang="en-US" altLang="zh-CN" sz="2000" b="0" i="0" dirty="0">
                <a:solidFill>
                  <a:srgbClr val="00B050"/>
                </a:solidFill>
                <a:effectLst/>
                <a:latin typeface="Times New Roman" panose="02020603050405020304" pitchFamily="18" charset="0"/>
              </a:rPr>
              <a:t>| </a:t>
            </a:r>
            <a:r>
              <a:rPr lang="zh-CN" altLang="en-US" sz="2000" b="0" i="0" dirty="0">
                <a:solidFill>
                  <a:srgbClr val="00B050"/>
                </a:solidFill>
                <a:effectLst/>
                <a:latin typeface="Times New Roman" panose="02020603050405020304" pitchFamily="18" charset="0"/>
              </a:rPr>
              <a:t>腿</a:t>
            </a:r>
            <a:endParaRPr lang="en-US" altLang="zh-CN" sz="2000" dirty="0">
              <a:solidFill>
                <a:srgbClr val="00B050"/>
              </a:solidFill>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3A3EE810-92E5-9692-80EE-8B9C9236BCDC}"/>
              </a:ext>
            </a:extLst>
          </p:cNvPr>
          <p:cNvSpPr>
            <a:spLocks noChangeArrowheads="1"/>
          </p:cNvSpPr>
          <p:nvPr/>
        </p:nvSpPr>
        <p:spPr bwMode="auto">
          <a:xfrm>
            <a:off x="996952" y="363538"/>
            <a:ext cx="964707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19F683D-8528-02B5-68AE-603A68CF64E2}"/>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55084BB0-7CA7-80BB-862C-EF44D0D4C4C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72FAE4CC-52CA-4606-72C4-1E406025667B}"/>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345ECD8-2668-0AF3-9AA7-026B2CCF057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3C7ADEE5-552E-1067-7351-4FF58E945FC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9EF46DCB-2151-E4B9-1804-808B9A977A1E}"/>
              </a:ext>
            </a:extLst>
          </p:cNvPr>
          <p:cNvSpPr>
            <a:spLocks noChangeArrowheads="1"/>
          </p:cNvSpPr>
          <p:nvPr/>
        </p:nvSpPr>
        <p:spPr bwMode="auto">
          <a:xfrm>
            <a:off x="1248742" y="408136"/>
            <a:ext cx="51331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自然语言处理的主要难点</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结构歧义</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9930526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27</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970416" y="1615403"/>
            <a:ext cx="10251167" cy="4447371"/>
          </a:xfrm>
          <a:prstGeom prst="rect">
            <a:avLst/>
          </a:prstGeom>
          <a:noFill/>
        </p:spPr>
        <p:txBody>
          <a:bodyPr wrap="square">
            <a:spAutoFit/>
          </a:bodyPr>
          <a:lstStyle/>
          <a:p>
            <a:pPr algn="just">
              <a:lnSpc>
                <a:spcPct val="125000"/>
              </a:lnSpc>
            </a:pPr>
            <a:r>
              <a:rPr lang="zh-CN" altLang="en-US" sz="2400" b="1" dirty="0">
                <a:solidFill>
                  <a:srgbClr val="C00000"/>
                </a:solidFill>
                <a:effectLst/>
                <a:latin typeface="Microsoft YaHei" panose="020B0503020204020204" pitchFamily="34" charset="-122"/>
                <a:ea typeface="Microsoft YaHei" panose="020B0503020204020204" pitchFamily="34" charset="-122"/>
              </a:rPr>
              <a:t>指代歧义</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Demonstrative Ambiguity</a:t>
            </a:r>
            <a:r>
              <a:rPr lang="zh-CN" altLang="en-US" sz="2400" dirty="0">
                <a:effectLst/>
                <a:latin typeface="Microsoft YaHei" panose="020B0503020204020204" pitchFamily="34" charset="-122"/>
                <a:ea typeface="Microsoft YaHei" panose="020B0503020204020204" pitchFamily="34" charset="-122"/>
              </a:rPr>
              <a:t>）是指代词（如我，你，他等）和代词词组（如“那件事”，“这一点”等）所指的事件可能存在歧义</a:t>
            </a:r>
            <a:endParaRPr lang="en-US" altLang="zh-CN" sz="2400" dirty="0">
              <a:effectLst/>
              <a:latin typeface="Microsoft YaHei" panose="020B0503020204020204" pitchFamily="34" charset="-122"/>
              <a:ea typeface="Microsoft YaHei" panose="020B0503020204020204" pitchFamily="34" charset="-122"/>
            </a:endParaRPr>
          </a:p>
          <a:p>
            <a:pPr>
              <a:lnSpc>
                <a:spcPct val="125000"/>
              </a:lnSpc>
              <a:spcBef>
                <a:spcPts val="1800"/>
              </a:spcBef>
            </a:pPr>
            <a:r>
              <a:rPr lang="zh-CN" altLang="en-US" sz="2000" dirty="0">
                <a:solidFill>
                  <a:srgbClr val="0070C0"/>
                </a:solidFill>
                <a:latin typeface="Times New Roman" panose="02020603050405020304" pitchFamily="18" charset="0"/>
              </a:rPr>
              <a:t>     例如： </a:t>
            </a:r>
            <a:r>
              <a:rPr lang="zh-CN" altLang="en-US" sz="2000" dirty="0">
                <a:solidFill>
                  <a:srgbClr val="00B050"/>
                </a:solidFill>
                <a:latin typeface="Times New Roman" panose="02020603050405020304" pitchFamily="18" charset="0"/>
              </a:rPr>
              <a:t>猴子吃了香蕉，因为</a:t>
            </a:r>
            <a:r>
              <a:rPr lang="zh-CN" altLang="en-US" sz="2000" dirty="0">
                <a:solidFill>
                  <a:srgbClr val="C00000"/>
                </a:solidFill>
                <a:latin typeface="Times New Roman" panose="02020603050405020304" pitchFamily="18" charset="0"/>
              </a:rPr>
              <a:t>它</a:t>
            </a:r>
            <a:r>
              <a:rPr lang="zh-CN" altLang="en-US" sz="2000" dirty="0">
                <a:solidFill>
                  <a:srgbClr val="00B050"/>
                </a:solidFill>
                <a:latin typeface="Times New Roman" panose="02020603050405020304" pitchFamily="18" charset="0"/>
              </a:rPr>
              <a:t> 饿了。</a:t>
            </a:r>
            <a:br>
              <a:rPr lang="zh-CN" altLang="en-US" sz="2000" dirty="0">
                <a:solidFill>
                  <a:srgbClr val="00B050"/>
                </a:solidFill>
              </a:rPr>
            </a:br>
            <a:r>
              <a:rPr lang="zh-CN" altLang="en-US" sz="2000" dirty="0">
                <a:solidFill>
                  <a:srgbClr val="00B050"/>
                </a:solidFill>
              </a:rPr>
              <a:t>                    </a:t>
            </a:r>
            <a:r>
              <a:rPr lang="zh-CN" altLang="en-US" sz="2000" b="0" i="0" dirty="0">
                <a:solidFill>
                  <a:srgbClr val="00B050"/>
                </a:solidFill>
                <a:effectLst/>
                <a:latin typeface="Times New Roman" panose="02020603050405020304" pitchFamily="18" charset="0"/>
              </a:rPr>
              <a:t>猴子吃了香蕉，因为</a:t>
            </a:r>
            <a:r>
              <a:rPr lang="zh-CN" altLang="en-US" sz="2000" b="0" i="0" dirty="0">
                <a:solidFill>
                  <a:srgbClr val="C00000"/>
                </a:solidFill>
                <a:effectLst/>
                <a:latin typeface="Times New Roman" panose="02020603050405020304" pitchFamily="18" charset="0"/>
              </a:rPr>
              <a:t>它</a:t>
            </a:r>
            <a:r>
              <a:rPr lang="zh-CN" altLang="en-US" sz="2000" b="0" i="0" dirty="0">
                <a:solidFill>
                  <a:srgbClr val="00B050"/>
                </a:solidFill>
                <a:effectLst/>
                <a:latin typeface="Times New Roman" panose="02020603050405020304" pitchFamily="18" charset="0"/>
              </a:rPr>
              <a:t> 熟透了。 </a:t>
            </a:r>
            <a:endParaRPr lang="en-US" altLang="zh-CN" sz="2000" b="0" i="0" dirty="0">
              <a:solidFill>
                <a:srgbClr val="00B050"/>
              </a:solidFill>
              <a:effectLst/>
              <a:latin typeface="Times New Roman" panose="02020603050405020304" pitchFamily="18" charset="0"/>
            </a:endParaRPr>
          </a:p>
          <a:p>
            <a:pPr>
              <a:lnSpc>
                <a:spcPct val="125000"/>
              </a:lnSpc>
              <a:spcBef>
                <a:spcPts val="1800"/>
              </a:spcBef>
            </a:pPr>
            <a:endParaRPr lang="en-US" altLang="zh-CN" sz="2000" b="0" i="0" dirty="0">
              <a:effectLst/>
              <a:latin typeface="Times New Roman" panose="02020603050405020304" pitchFamily="18" charset="0"/>
            </a:endParaRPr>
          </a:p>
          <a:p>
            <a:pPr algn="just">
              <a:lnSpc>
                <a:spcPct val="125000"/>
              </a:lnSpc>
            </a:pPr>
            <a:r>
              <a:rPr lang="zh-CN" altLang="en-US" sz="2400" b="1" dirty="0">
                <a:solidFill>
                  <a:srgbClr val="C00000"/>
                </a:solidFill>
                <a:latin typeface="Microsoft YaHei" panose="020B0503020204020204" pitchFamily="34" charset="-122"/>
                <a:ea typeface="Microsoft YaHei" panose="020B0503020204020204" pitchFamily="34" charset="-122"/>
              </a:rPr>
              <a:t>省略歧义</a:t>
            </a:r>
            <a:r>
              <a:rPr lang="zh-CN" altLang="en-US" sz="2400" dirty="0">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Ellipsis Ambiguity</a:t>
            </a:r>
            <a:r>
              <a:rPr lang="zh-CN" altLang="en-US" sz="2400" dirty="0">
                <a:latin typeface="Microsoft YaHei" panose="020B0503020204020204" pitchFamily="34" charset="-122"/>
                <a:ea typeface="Microsoft YaHei" panose="020B0503020204020204" pitchFamily="34" charset="-122"/>
              </a:rPr>
              <a:t>）是指自然语言中由于省略所产生的歧义</a:t>
            </a:r>
            <a:endParaRPr lang="en-US" altLang="zh-CN" sz="2400" dirty="0">
              <a:latin typeface="Microsoft YaHei" panose="020B0503020204020204" pitchFamily="34" charset="-122"/>
              <a:ea typeface="Microsoft YaHei" panose="020B0503020204020204" pitchFamily="34" charset="-122"/>
            </a:endParaRPr>
          </a:p>
          <a:p>
            <a:pPr algn="l">
              <a:spcBef>
                <a:spcPts val="2400"/>
              </a:spcBef>
            </a:pPr>
            <a:r>
              <a:rPr lang="zh-CN" altLang="en-US" sz="2000" dirty="0">
                <a:solidFill>
                  <a:srgbClr val="0070C0"/>
                </a:solidFill>
                <a:latin typeface="Times New Roman" panose="02020603050405020304" pitchFamily="18" charset="0"/>
              </a:rPr>
              <a:t>      例如：</a:t>
            </a:r>
            <a:r>
              <a:rPr lang="zh-CN" altLang="en-US" sz="2000" dirty="0">
                <a:solidFill>
                  <a:srgbClr val="00B050"/>
                </a:solidFill>
                <a:latin typeface="Times New Roman" panose="02020603050405020304" pitchFamily="18" charset="0"/>
              </a:rPr>
              <a:t>县政府同意乡政府报告。</a:t>
            </a:r>
          </a:p>
          <a:p>
            <a:pPr algn="l"/>
            <a:br>
              <a:rPr lang="zh-CN" altLang="en-US" sz="2400" b="0" i="0" dirty="0">
                <a:solidFill>
                  <a:srgbClr val="5D6879"/>
                </a:solidFill>
                <a:effectLst/>
                <a:latin typeface="Lato" panose="020F0502020204030203" pitchFamily="34" charset="0"/>
              </a:rPr>
            </a:br>
            <a:endParaRPr lang="en-US" altLang="zh-CN" sz="2400" dirty="0">
              <a:latin typeface="Microsoft YaHei" panose="020B0503020204020204" pitchFamily="34" charset="-122"/>
              <a:ea typeface="Microsoft YaHei" panose="020B0503020204020204" pitchFamily="34" charset="-122"/>
            </a:endParaRPr>
          </a:p>
        </p:txBody>
      </p:sp>
      <p:sp>
        <p:nvSpPr>
          <p:cNvPr id="3" name="平行四边形 6">
            <a:extLst>
              <a:ext uri="{FF2B5EF4-FFF2-40B4-BE49-F238E27FC236}">
                <a16:creationId xmlns:a16="http://schemas.microsoft.com/office/drawing/2014/main" id="{3A3EE810-92E5-9692-80EE-8B9C9236BCDC}"/>
              </a:ext>
            </a:extLst>
          </p:cNvPr>
          <p:cNvSpPr>
            <a:spLocks noChangeArrowheads="1"/>
          </p:cNvSpPr>
          <p:nvPr/>
        </p:nvSpPr>
        <p:spPr bwMode="auto">
          <a:xfrm>
            <a:off x="996952" y="363538"/>
            <a:ext cx="963680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19F683D-8528-02B5-68AE-603A68CF64E2}"/>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55084BB0-7CA7-80BB-862C-EF44D0D4C4C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72FAE4CC-52CA-4606-72C4-1E406025667B}"/>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345ECD8-2668-0AF3-9AA7-026B2CCF057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3C7ADEE5-552E-1067-7351-4FF58E945FC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9EF46DCB-2151-E4B9-1804-808B9A977A1E}"/>
              </a:ext>
            </a:extLst>
          </p:cNvPr>
          <p:cNvSpPr>
            <a:spLocks noChangeArrowheads="1"/>
          </p:cNvSpPr>
          <p:nvPr/>
        </p:nvSpPr>
        <p:spPr bwMode="auto">
          <a:xfrm>
            <a:off x="1248742" y="408136"/>
            <a:ext cx="612699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自然语言处理的主要难点</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指代和省略歧义</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41243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28</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854965" y="1125329"/>
            <a:ext cx="10230617" cy="5324535"/>
          </a:xfrm>
          <a:prstGeom prst="rect">
            <a:avLst/>
          </a:prstGeom>
          <a:noFill/>
        </p:spPr>
        <p:txBody>
          <a:bodyPr wrap="square">
            <a:spAutoFit/>
          </a:bodyPr>
          <a:lstStyle/>
          <a:p>
            <a:pPr algn="just">
              <a:lnSpc>
                <a:spcPct val="125000"/>
              </a:lnSpc>
            </a:pPr>
            <a:r>
              <a:rPr lang="zh-CN" altLang="en-US" sz="2400" b="1" dirty="0">
                <a:solidFill>
                  <a:srgbClr val="C00000"/>
                </a:solidFill>
                <a:effectLst/>
                <a:latin typeface="Microsoft YaHei" panose="020B0503020204020204" pitchFamily="34" charset="-122"/>
                <a:ea typeface="Microsoft YaHei" panose="020B0503020204020204" pitchFamily="34" charset="-122"/>
              </a:rPr>
              <a:t>语用歧义</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Pragmatic Ambiguity</a:t>
            </a:r>
            <a:r>
              <a:rPr lang="zh-CN" altLang="en-US" sz="2400" dirty="0">
                <a:effectLst/>
                <a:latin typeface="Microsoft YaHei" panose="020B0503020204020204" pitchFamily="34" charset="-122"/>
                <a:ea typeface="Microsoft YaHei" panose="020B0503020204020204" pitchFamily="34" charset="-122"/>
              </a:rPr>
              <a:t>）是指由于上下文、说话人属性、场景等语用方面的原因造成的歧义。一句话在不同的场合、由不同的人说、不同的语境，都可能产生不同的理解</a:t>
            </a:r>
            <a:r>
              <a:rPr lang="zh-CN" altLang="en-US" sz="2000" dirty="0">
                <a:solidFill>
                  <a:srgbClr val="0070C0"/>
                </a:solidFill>
                <a:latin typeface="Times New Roman" panose="02020603050405020304" pitchFamily="18" charset="0"/>
              </a:rPr>
              <a:t>     </a:t>
            </a:r>
            <a:endParaRPr lang="en-US" altLang="zh-CN" sz="2000" dirty="0">
              <a:solidFill>
                <a:srgbClr val="0070C0"/>
              </a:solidFill>
              <a:latin typeface="Times New Roman" panose="02020603050405020304" pitchFamily="18" charset="0"/>
            </a:endParaRPr>
          </a:p>
          <a:p>
            <a:pPr algn="just">
              <a:lnSpc>
                <a:spcPct val="125000"/>
              </a:lnSpc>
            </a:pPr>
            <a:endParaRPr lang="en-US" altLang="zh-CN" sz="2000" dirty="0">
              <a:solidFill>
                <a:srgbClr val="0070C0"/>
              </a:solidFill>
              <a:latin typeface="Times New Roman" panose="02020603050405020304" pitchFamily="18" charset="0"/>
            </a:endParaRPr>
          </a:p>
          <a:p>
            <a:pPr>
              <a:lnSpc>
                <a:spcPct val="125000"/>
              </a:lnSpc>
            </a:pPr>
            <a:r>
              <a:rPr lang="zh-CN" altLang="en-US" sz="2000" dirty="0">
                <a:solidFill>
                  <a:srgbClr val="0070C0"/>
                </a:solidFill>
                <a:latin typeface="Times New Roman" panose="02020603050405020304" pitchFamily="18" charset="0"/>
              </a:rPr>
              <a:t>例如： </a:t>
            </a:r>
            <a:r>
              <a:rPr lang="zh-CN" altLang="en-US" sz="2000" dirty="0">
                <a:solidFill>
                  <a:srgbClr val="00B050"/>
                </a:solidFill>
                <a:latin typeface="Times New Roman" panose="02020603050405020304" pitchFamily="18" charset="0"/>
              </a:rPr>
              <a:t>女子致电男友：地铁站见。如果你到了我还没到，</a:t>
            </a:r>
            <a:r>
              <a:rPr lang="zh-CN" altLang="en-US" sz="2000" i="1" u="sng" dirty="0">
                <a:solidFill>
                  <a:srgbClr val="00B050"/>
                </a:solidFill>
                <a:latin typeface="Times New Roman" panose="02020603050405020304" pitchFamily="18" charset="0"/>
              </a:rPr>
              <a:t>你就等着吧</a:t>
            </a:r>
            <a:r>
              <a:rPr lang="zh-CN" altLang="en-US" sz="2000" dirty="0">
                <a:solidFill>
                  <a:srgbClr val="00B050"/>
                </a:solidFill>
                <a:latin typeface="Times New Roman" panose="02020603050405020304" pitchFamily="18" charset="0"/>
              </a:rPr>
              <a:t>。如果我到了你还没到，</a:t>
            </a:r>
            <a:r>
              <a:rPr lang="zh-CN" altLang="en-US" sz="2000" i="1" u="sng" dirty="0">
                <a:solidFill>
                  <a:srgbClr val="00B050"/>
                </a:solidFill>
                <a:latin typeface="Times New Roman" panose="02020603050405020304" pitchFamily="18" charset="0"/>
              </a:rPr>
              <a:t>你就等着吧</a:t>
            </a:r>
            <a:r>
              <a:rPr lang="zh-CN" altLang="en-US" sz="2000" dirty="0">
                <a:solidFill>
                  <a:srgbClr val="00B050"/>
                </a:solidFill>
                <a:latin typeface="Times New Roman" panose="02020603050405020304" pitchFamily="18" charset="0"/>
              </a:rPr>
              <a:t>！！</a:t>
            </a:r>
            <a:endParaRPr lang="en-US" altLang="zh-CN" sz="2000" dirty="0">
              <a:solidFill>
                <a:srgbClr val="00B050"/>
              </a:solidFill>
              <a:latin typeface="Times New Roman" panose="02020603050405020304" pitchFamily="18" charset="0"/>
            </a:endParaRPr>
          </a:p>
          <a:p>
            <a:pPr>
              <a:lnSpc>
                <a:spcPct val="125000"/>
              </a:lnSpc>
            </a:pPr>
            <a:endParaRPr lang="en-US" altLang="zh-CN" sz="2000" dirty="0">
              <a:latin typeface="Times New Roman" panose="02020603050405020304" pitchFamily="18" charset="0"/>
            </a:endParaRPr>
          </a:p>
          <a:p>
            <a:pPr algn="just">
              <a:lnSpc>
                <a:spcPct val="125000"/>
              </a:lnSpc>
            </a:pPr>
            <a:r>
              <a:rPr lang="zh-CN" altLang="en-US" sz="2400" dirty="0">
                <a:latin typeface="Microsoft YaHei" panose="020B0503020204020204" pitchFamily="34" charset="-122"/>
                <a:ea typeface="Microsoft YaHei" panose="020B0503020204020204" pitchFamily="34" charset="-122"/>
              </a:rPr>
              <a:t>自然语言并不是一成不变的，而是在</a:t>
            </a:r>
            <a:r>
              <a:rPr lang="zh-CN" altLang="en-US" sz="2400" dirty="0">
                <a:solidFill>
                  <a:srgbClr val="0432FF"/>
                </a:solidFill>
                <a:latin typeface="Microsoft YaHei" panose="020B0503020204020204" pitchFamily="34" charset="-122"/>
                <a:ea typeface="Microsoft YaHei" panose="020B0503020204020204" pitchFamily="34" charset="-122"/>
              </a:rPr>
              <a:t>动态发展中</a:t>
            </a:r>
            <a:r>
              <a:rPr lang="zh-CN" altLang="en-US" sz="2400" dirty="0">
                <a:latin typeface="Microsoft YaHei" panose="020B0503020204020204" pitchFamily="34" charset="-122"/>
                <a:ea typeface="Microsoft YaHei" panose="020B0503020204020204" pitchFamily="34" charset="-122"/>
              </a:rPr>
              <a:t>，</a:t>
            </a:r>
            <a:r>
              <a:rPr lang="zh-CN" altLang="en-US" sz="2400" dirty="0">
                <a:solidFill>
                  <a:srgbClr val="C00000"/>
                </a:solidFill>
                <a:latin typeface="Microsoft YaHei" panose="020B0503020204020204" pitchFamily="34" charset="-122"/>
                <a:ea typeface="Microsoft YaHei" panose="020B0503020204020204" pitchFamily="34" charset="-122"/>
              </a:rPr>
              <a:t>存在大量未知语言现象</a:t>
            </a:r>
            <a:r>
              <a:rPr lang="zh-CN" altLang="en-US" sz="2400" dirty="0">
                <a:latin typeface="Microsoft YaHei" panose="020B0503020204020204" pitchFamily="34" charset="-122"/>
                <a:ea typeface="Microsoft YaHei" panose="020B0503020204020204" pitchFamily="34" charset="-122"/>
              </a:rPr>
              <a:t>。新词汇、新含义、新用法、新句型等层出不穷</a:t>
            </a:r>
            <a:endParaRPr lang="en-US" altLang="zh-CN" sz="2400" dirty="0">
              <a:latin typeface="Microsoft YaHei" panose="020B0503020204020204" pitchFamily="34" charset="-122"/>
              <a:ea typeface="Microsoft YaHei" panose="020B0503020204020204" pitchFamily="34" charset="-122"/>
            </a:endParaRPr>
          </a:p>
          <a:p>
            <a:pPr>
              <a:spcBef>
                <a:spcPts val="2400"/>
              </a:spcBef>
            </a:pPr>
            <a:r>
              <a:rPr lang="zh-CN" altLang="en-US" sz="2000" dirty="0">
                <a:solidFill>
                  <a:srgbClr val="0070C0"/>
                </a:solidFill>
                <a:latin typeface="Times New Roman" panose="02020603050405020304" pitchFamily="18" charset="0"/>
              </a:rPr>
              <a:t>例如：  </a:t>
            </a:r>
            <a:r>
              <a:rPr lang="zh-CN" altLang="en-US" sz="2000" dirty="0">
                <a:latin typeface="Times New Roman" panose="02020603050405020304" pitchFamily="18" charset="0"/>
              </a:rPr>
              <a:t>新词汇：</a:t>
            </a:r>
            <a:r>
              <a:rPr lang="zh-CN" altLang="en-US" sz="2000" dirty="0">
                <a:solidFill>
                  <a:srgbClr val="00B050"/>
                </a:solidFill>
                <a:latin typeface="Times New Roman" panose="02020603050405020304" pitchFamily="18" charset="0"/>
              </a:rPr>
              <a:t>双碳、双减、绝绝子、社恐、元宇宙</a:t>
            </a:r>
          </a:p>
          <a:p>
            <a:pPr>
              <a:spcBef>
                <a:spcPts val="6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新含义：</a:t>
            </a:r>
            <a:r>
              <a:rPr lang="zh-CN" altLang="en-US" sz="2000" dirty="0">
                <a:solidFill>
                  <a:srgbClr val="00B050"/>
                </a:solidFill>
                <a:latin typeface="Times New Roman" panose="02020603050405020304" pitchFamily="18" charset="0"/>
              </a:rPr>
              <a:t>躺平、打工人、凡尔赛、青蛙、潜水、盖楼</a:t>
            </a:r>
          </a:p>
          <a:p>
            <a:pPr>
              <a:spcBef>
                <a:spcPts val="600"/>
              </a:spcBef>
            </a:pPr>
            <a:r>
              <a:rPr lang="en-US" altLang="zh-CN" sz="2000" dirty="0">
                <a:latin typeface="Times New Roman" panose="02020603050405020304" pitchFamily="18" charset="0"/>
              </a:rPr>
              <a:t>	</a:t>
            </a:r>
            <a:r>
              <a:rPr lang="zh-CN" altLang="en-US" sz="2000" dirty="0">
                <a:latin typeface="Times New Roman" panose="02020603050405020304" pitchFamily="18" charset="0"/>
              </a:rPr>
              <a:t>新用法：</a:t>
            </a:r>
            <a:r>
              <a:rPr lang="zh-CN" altLang="en-US" sz="2000" dirty="0">
                <a:solidFill>
                  <a:srgbClr val="00B050"/>
                </a:solidFill>
                <a:latin typeface="Times New Roman" panose="02020603050405020304" pitchFamily="18" charset="0"/>
              </a:rPr>
              <a:t>走召弓虽、</a:t>
            </a:r>
            <a:r>
              <a:rPr lang="en-US" altLang="zh-CN" sz="2000" dirty="0">
                <a:solidFill>
                  <a:srgbClr val="00B050"/>
                </a:solidFill>
                <a:latin typeface="Times New Roman" panose="02020603050405020304" pitchFamily="18" charset="0"/>
              </a:rPr>
              <a:t>YYDS</a:t>
            </a:r>
            <a:r>
              <a:rPr lang="zh-CN" altLang="en-US" sz="2000" dirty="0">
                <a:solidFill>
                  <a:srgbClr val="00B050"/>
                </a:solidFill>
                <a:latin typeface="Times New Roman" panose="02020603050405020304" pitchFamily="18" charset="0"/>
              </a:rPr>
              <a:t>、回忆杀、求 扩列、</a:t>
            </a:r>
            <a:r>
              <a:rPr lang="en-US" altLang="zh-CN" sz="2000" dirty="0" err="1">
                <a:solidFill>
                  <a:srgbClr val="00B050"/>
                </a:solidFill>
                <a:latin typeface="Times New Roman" panose="02020603050405020304" pitchFamily="18" charset="0"/>
              </a:rPr>
              <a:t>orz</a:t>
            </a:r>
            <a:endParaRPr lang="en-US" altLang="zh-CN" sz="2000" dirty="0">
              <a:solidFill>
                <a:srgbClr val="00B050"/>
              </a:solidFill>
              <a:latin typeface="Times New Roman" panose="02020603050405020304" pitchFamily="18" charset="0"/>
            </a:endParaRPr>
          </a:p>
        </p:txBody>
      </p:sp>
      <p:sp>
        <p:nvSpPr>
          <p:cNvPr id="3" name="平行四边形 6">
            <a:extLst>
              <a:ext uri="{FF2B5EF4-FFF2-40B4-BE49-F238E27FC236}">
                <a16:creationId xmlns:a16="http://schemas.microsoft.com/office/drawing/2014/main" id="{3A3EE810-92E5-9692-80EE-8B9C9236BCDC}"/>
              </a:ext>
            </a:extLst>
          </p:cNvPr>
          <p:cNvSpPr>
            <a:spLocks noChangeArrowheads="1"/>
          </p:cNvSpPr>
          <p:nvPr/>
        </p:nvSpPr>
        <p:spPr bwMode="auto">
          <a:xfrm>
            <a:off x="996951" y="363538"/>
            <a:ext cx="9616253"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719F683D-8528-02B5-68AE-603A68CF64E2}"/>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55084BB0-7CA7-80BB-862C-EF44D0D4C4CB}"/>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1.1.3</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72FAE4CC-52CA-4606-72C4-1E406025667B}"/>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F345ECD8-2668-0AF3-9AA7-026B2CCF057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3C7ADEE5-552E-1067-7351-4FF58E945FC6}"/>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9EF46DCB-2151-E4B9-1804-808B9A977A1E}"/>
              </a:ext>
            </a:extLst>
          </p:cNvPr>
          <p:cNvSpPr>
            <a:spLocks noChangeArrowheads="1"/>
          </p:cNvSpPr>
          <p:nvPr/>
        </p:nvSpPr>
        <p:spPr bwMode="auto">
          <a:xfrm>
            <a:off x="1248742" y="408136"/>
            <a:ext cx="5133136"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自然语言处理的主要难点</a:t>
            </a:r>
            <a:r>
              <a:rPr lang="en-US" altLang="zh-CN" sz="2400" b="1" dirty="0">
                <a:solidFill>
                  <a:schemeClr val="bg1"/>
                </a:solidFill>
                <a:latin typeface="微软雅黑" panose="020B0503020204020204" pitchFamily="34" charset="-122"/>
                <a:ea typeface="微软雅黑" panose="020B0503020204020204" pitchFamily="34" charset="-122"/>
              </a:rPr>
              <a:t>—</a:t>
            </a:r>
            <a:r>
              <a:rPr lang="zh-CN" altLang="en-US" sz="2400" b="1" dirty="0">
                <a:solidFill>
                  <a:schemeClr val="bg1"/>
                </a:solidFill>
                <a:latin typeface="微软雅黑" panose="020B0503020204020204" pitchFamily="34" charset="-122"/>
                <a:ea typeface="微软雅黑" panose="020B0503020204020204" pitchFamily="34" charset="-122"/>
              </a:rPr>
              <a:t>语用歧义</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20711494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29CE31-3B64-BEAD-9346-2636A061D964}"/>
            </a:ext>
          </a:extLst>
        </p:cNvPr>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A1D85C9-FC57-FE3B-2604-BB6A18517CCC}"/>
              </a:ext>
            </a:extLst>
          </p:cNvPr>
          <p:cNvSpPr>
            <a:spLocks noGrp="1"/>
          </p:cNvSpPr>
          <p:nvPr>
            <p:ph type="sldNum" sz="quarter" idx="12"/>
          </p:nvPr>
        </p:nvSpPr>
        <p:spPr/>
        <p:txBody>
          <a:bodyPr/>
          <a:lstStyle/>
          <a:p>
            <a:fld id="{465717F2-DE62-A445-9F03-50055757659A}" type="slidenum">
              <a:rPr lang="zh-CN" altLang="en-US" smtClean="0"/>
              <a:pPr/>
              <a:t>29</a:t>
            </a:fld>
            <a:endParaRPr lang="zh-CN" altLang="en-US"/>
          </a:p>
        </p:txBody>
      </p:sp>
      <p:sp>
        <p:nvSpPr>
          <p:cNvPr id="13" name="TextBox 12">
            <a:extLst>
              <a:ext uri="{FF2B5EF4-FFF2-40B4-BE49-F238E27FC236}">
                <a16:creationId xmlns:a16="http://schemas.microsoft.com/office/drawing/2014/main" id="{26317B7B-CDD2-FFBC-35D3-F7DBC0E90AE5}"/>
              </a:ext>
            </a:extLst>
          </p:cNvPr>
          <p:cNvSpPr txBox="1"/>
          <p:nvPr/>
        </p:nvSpPr>
        <p:spPr>
          <a:xfrm>
            <a:off x="946726" y="1382927"/>
            <a:ext cx="9224456" cy="3384068"/>
          </a:xfrm>
          <a:prstGeom prst="rect">
            <a:avLst/>
          </a:prstGeom>
          <a:noFill/>
        </p:spPr>
        <p:txBody>
          <a:bodyPr wrap="square">
            <a:spAutoFit/>
          </a:bodyPr>
          <a:lstStyle/>
          <a:p>
            <a:pPr algn="just">
              <a:lnSpc>
                <a:spcPct val="200000"/>
              </a:lnSpc>
            </a:pPr>
            <a:r>
              <a:rPr lang="zh-CN" altLang="en-US" b="1" dirty="0">
                <a:hlinkClick r:id="rId3"/>
              </a:rPr>
              <a:t>（</a:t>
            </a:r>
            <a:r>
              <a:rPr lang="en-US" altLang="zh-CN" b="1" dirty="0">
                <a:hlinkClick r:id="rId3"/>
              </a:rPr>
              <a:t>1</a:t>
            </a:r>
            <a:r>
              <a:rPr lang="zh-CN" altLang="en-US" b="1" dirty="0">
                <a:hlinkClick r:id="rId3"/>
              </a:rPr>
              <a:t>）跨语言转换与生成 </a:t>
            </a:r>
            <a:r>
              <a:rPr lang="en-US" altLang="zh-CN" b="1" dirty="0">
                <a:hlinkClick r:id="rId3"/>
              </a:rPr>
              <a:t>(</a:t>
            </a:r>
            <a:r>
              <a:rPr lang="en-US" b="1" dirty="0">
                <a:hlinkClick r:id="rId3"/>
              </a:rPr>
              <a:t>Cross-Language Translation &amp; Generation)</a:t>
            </a:r>
            <a:endParaRPr lang="en-US" b="1" dirty="0"/>
          </a:p>
          <a:p>
            <a:pPr algn="just">
              <a:lnSpc>
                <a:spcPct val="200000"/>
              </a:lnSpc>
            </a:pPr>
            <a:r>
              <a:rPr lang="zh-CN" altLang="en-US" b="1" dirty="0">
                <a:hlinkClick r:id="rId4"/>
              </a:rPr>
              <a:t>（</a:t>
            </a:r>
            <a:r>
              <a:rPr lang="en-US" altLang="zh-CN" b="1" dirty="0">
                <a:hlinkClick r:id="rId4"/>
              </a:rPr>
              <a:t>2</a:t>
            </a:r>
            <a:r>
              <a:rPr lang="zh-CN" altLang="en-US" b="1" dirty="0">
                <a:hlinkClick r:id="rId4"/>
              </a:rPr>
              <a:t>）内容理解与分类 </a:t>
            </a:r>
            <a:r>
              <a:rPr lang="en-US" altLang="zh-CN" b="1" dirty="0">
                <a:hlinkClick r:id="rId4"/>
              </a:rPr>
              <a:t>(</a:t>
            </a:r>
            <a:r>
              <a:rPr lang="en-US" b="1" dirty="0">
                <a:hlinkClick r:id="rId4"/>
              </a:rPr>
              <a:t>Content Understanding &amp; Classification)</a:t>
            </a:r>
            <a:endParaRPr lang="en-US" b="1" dirty="0"/>
          </a:p>
          <a:p>
            <a:pPr algn="just">
              <a:lnSpc>
                <a:spcPct val="200000"/>
              </a:lnSpc>
            </a:pPr>
            <a:r>
              <a:rPr lang="zh-CN" altLang="en-US" b="1" dirty="0">
                <a:hlinkClick r:id="rId5"/>
              </a:rPr>
              <a:t>（</a:t>
            </a:r>
            <a:r>
              <a:rPr lang="en-US" altLang="zh-CN" b="1" dirty="0">
                <a:hlinkClick r:id="rId5"/>
              </a:rPr>
              <a:t>3</a:t>
            </a:r>
            <a:r>
              <a:rPr lang="zh-CN" altLang="en-US" b="1" dirty="0">
                <a:hlinkClick r:id="rId5"/>
              </a:rPr>
              <a:t>）信息提取与知识抽取 </a:t>
            </a:r>
            <a:r>
              <a:rPr lang="en-US" altLang="zh-CN" b="1" dirty="0">
                <a:hlinkClick r:id="rId5"/>
              </a:rPr>
              <a:t>(</a:t>
            </a:r>
            <a:r>
              <a:rPr lang="en-US" b="1" dirty="0">
                <a:hlinkClick r:id="rId5"/>
              </a:rPr>
              <a:t>Information Extraction &amp; Knowledge Discovery)</a:t>
            </a:r>
            <a:endParaRPr lang="en-US" b="1" dirty="0"/>
          </a:p>
          <a:p>
            <a:pPr algn="just">
              <a:lnSpc>
                <a:spcPct val="200000"/>
              </a:lnSpc>
            </a:pPr>
            <a:r>
              <a:rPr lang="zh-CN" altLang="en-US" b="1" dirty="0">
                <a:hlinkClick r:id="rId6"/>
              </a:rPr>
              <a:t>（</a:t>
            </a:r>
            <a:r>
              <a:rPr lang="en-US" altLang="zh-CN" b="1" dirty="0">
                <a:hlinkClick r:id="rId6"/>
              </a:rPr>
              <a:t>4</a:t>
            </a:r>
            <a:r>
              <a:rPr lang="zh-CN" altLang="en-US" b="1" dirty="0">
                <a:hlinkClick r:id="rId6"/>
              </a:rPr>
              <a:t>）智能问答与信息检索 </a:t>
            </a:r>
            <a:r>
              <a:rPr lang="en-US" altLang="zh-CN" b="1" dirty="0">
                <a:hlinkClick r:id="rId6"/>
              </a:rPr>
              <a:t>(</a:t>
            </a:r>
            <a:r>
              <a:rPr lang="en-US" b="1" dirty="0">
                <a:hlinkClick r:id="rId6"/>
              </a:rPr>
              <a:t>Intelligent Question Answering &amp; Information Retrieval)</a:t>
            </a:r>
            <a:endParaRPr lang="en-US" b="1" dirty="0"/>
          </a:p>
          <a:p>
            <a:pPr algn="just">
              <a:lnSpc>
                <a:spcPct val="200000"/>
              </a:lnSpc>
            </a:pPr>
            <a:r>
              <a:rPr lang="zh-CN" altLang="en-US" b="1" dirty="0">
                <a:hlinkClick r:id="rId7"/>
              </a:rPr>
              <a:t>（</a:t>
            </a:r>
            <a:r>
              <a:rPr lang="en-US" altLang="zh-CN" b="1" dirty="0">
                <a:hlinkClick r:id="rId7"/>
              </a:rPr>
              <a:t>5</a:t>
            </a:r>
            <a:r>
              <a:rPr lang="zh-CN" altLang="en-US" b="1" dirty="0">
                <a:hlinkClick r:id="rId7"/>
              </a:rPr>
              <a:t>）对话系统与对话式</a:t>
            </a:r>
            <a:r>
              <a:rPr lang="en-US" b="1" dirty="0">
                <a:hlinkClick r:id="rId7"/>
              </a:rPr>
              <a:t>AI (Dialogue Systems &amp; Conversational AI)</a:t>
            </a:r>
            <a:endParaRPr lang="en-US" b="1" dirty="0"/>
          </a:p>
          <a:p>
            <a:pPr algn="just">
              <a:lnSpc>
                <a:spcPct val="200000"/>
              </a:lnSpc>
            </a:pPr>
            <a:endParaRPr lang="en-US" altLang="zh-CN" sz="2000" dirty="0">
              <a:solidFill>
                <a:srgbClr val="00B050"/>
              </a:solidFill>
              <a:latin typeface="Times New Roman" panose="02020603050405020304" pitchFamily="18" charset="0"/>
            </a:endParaRPr>
          </a:p>
        </p:txBody>
      </p:sp>
      <p:sp>
        <p:nvSpPr>
          <p:cNvPr id="3" name="平行四边形 6">
            <a:extLst>
              <a:ext uri="{FF2B5EF4-FFF2-40B4-BE49-F238E27FC236}">
                <a16:creationId xmlns:a16="http://schemas.microsoft.com/office/drawing/2014/main" id="{7648D1D1-0168-657E-D5DA-3D8BBD119D0E}"/>
              </a:ext>
            </a:extLst>
          </p:cNvPr>
          <p:cNvSpPr>
            <a:spLocks noChangeArrowheads="1"/>
          </p:cNvSpPr>
          <p:nvPr/>
        </p:nvSpPr>
        <p:spPr bwMode="auto">
          <a:xfrm>
            <a:off x="996951" y="363538"/>
            <a:ext cx="9616253"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4" name="平行四边形 7">
            <a:extLst>
              <a:ext uri="{FF2B5EF4-FFF2-40B4-BE49-F238E27FC236}">
                <a16:creationId xmlns:a16="http://schemas.microsoft.com/office/drawing/2014/main" id="{24FC05C1-F051-C1C1-D86F-FE4C5071D55E}"/>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5" name="文本框 5">
            <a:extLst>
              <a:ext uri="{FF2B5EF4-FFF2-40B4-BE49-F238E27FC236}">
                <a16:creationId xmlns:a16="http://schemas.microsoft.com/office/drawing/2014/main" id="{F3E12100-9C82-A6AA-A36E-E49594F7FF40}"/>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1.1.4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grpSp>
        <p:nvGrpSpPr>
          <p:cNvPr id="6" name="组合 11">
            <a:extLst>
              <a:ext uri="{FF2B5EF4-FFF2-40B4-BE49-F238E27FC236}">
                <a16:creationId xmlns:a16="http://schemas.microsoft.com/office/drawing/2014/main" id="{AFA68378-120A-8D05-623F-1110D0C8EECA}"/>
              </a:ext>
            </a:extLst>
          </p:cNvPr>
          <p:cNvGrpSpPr>
            <a:grpSpLocks/>
          </p:cNvGrpSpPr>
          <p:nvPr/>
        </p:nvGrpSpPr>
        <p:grpSpPr bwMode="auto">
          <a:xfrm>
            <a:off x="11480800" y="479425"/>
            <a:ext cx="333375" cy="333375"/>
            <a:chOff x="0" y="0"/>
            <a:chExt cx="449943" cy="449943"/>
          </a:xfrm>
        </p:grpSpPr>
        <p:sp>
          <p:nvSpPr>
            <p:cNvPr id="7" name="椭圆 9">
              <a:extLst>
                <a:ext uri="{FF2B5EF4-FFF2-40B4-BE49-F238E27FC236}">
                  <a16:creationId xmlns:a16="http://schemas.microsoft.com/office/drawing/2014/main" id="{C695B9A8-B70A-24C2-81AE-1AE8078A11E5}"/>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8" name="等腰三角形 10">
              <a:extLst>
                <a:ext uri="{FF2B5EF4-FFF2-40B4-BE49-F238E27FC236}">
                  <a16:creationId xmlns:a16="http://schemas.microsoft.com/office/drawing/2014/main" id="{F2E0D4E4-C43E-E48D-A4C4-4A7C04AFCF59}"/>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9" name="矩形 8">
            <a:extLst>
              <a:ext uri="{FF2B5EF4-FFF2-40B4-BE49-F238E27FC236}">
                <a16:creationId xmlns:a16="http://schemas.microsoft.com/office/drawing/2014/main" id="{8B588E26-0E15-7D46-93A0-87CD2460911A}"/>
              </a:ext>
            </a:extLst>
          </p:cNvPr>
          <p:cNvSpPr>
            <a:spLocks noChangeArrowheads="1"/>
          </p:cNvSpPr>
          <p:nvPr/>
        </p:nvSpPr>
        <p:spPr bwMode="auto">
          <a:xfrm>
            <a:off x="1248742" y="408136"/>
            <a:ext cx="357020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自然语言处理的应用场景</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85392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dirty="0"/>
              <a:t>1</a:t>
            </a:r>
            <a:r>
              <a:rPr lang="en-US" altLang="zh-CN" dirty="0"/>
              <a:t>1</a:t>
            </a:r>
            <a:r>
              <a:rPr lang="en-US" dirty="0"/>
              <a:t>.</a:t>
            </a:r>
            <a:r>
              <a:rPr lang="en-US" altLang="zh-CN" dirty="0"/>
              <a:t>2</a:t>
            </a:r>
            <a:r>
              <a:rPr lang="en-US" dirty="0"/>
              <a:t> </a:t>
            </a:r>
            <a:r>
              <a:rPr lang="zh-CN" altLang="en-US" dirty="0"/>
              <a:t>自然语言处理方法</a:t>
            </a:r>
            <a:endParaRPr lang="en-US" dirty="0"/>
          </a:p>
        </p:txBody>
      </p:sp>
      <p:sp>
        <p:nvSpPr>
          <p:cNvPr id="4" name="文本占位符 3"/>
          <p:cNvSpPr>
            <a:spLocks noGrp="1"/>
          </p:cNvSpPr>
          <p:nvPr>
            <p:ph type="body" idx="1"/>
          </p:nvPr>
        </p:nvSpPr>
        <p:spPr>
          <a:xfrm>
            <a:off x="7752523" y="3593036"/>
            <a:ext cx="2199860" cy="1835915"/>
          </a:xfrm>
        </p:spPr>
        <p:txBody>
          <a:bodyPr>
            <a:normAutofit/>
          </a:bodyPr>
          <a:lstStyle/>
          <a:p>
            <a:pPr marL="285750" indent="-285750">
              <a:lnSpc>
                <a:spcPct val="150000"/>
              </a:lnSpc>
              <a:buFont typeface="Arial" panose="020B0604020202020204" pitchFamily="34" charset="0"/>
              <a:buChar char="•"/>
            </a:pPr>
            <a:r>
              <a:rPr lang="zh-CN" altLang="en-US" sz="2400" dirty="0"/>
              <a:t>词法分析</a:t>
            </a:r>
            <a:endParaRPr lang="en-US" altLang="zh-CN" sz="2400" dirty="0"/>
          </a:p>
          <a:p>
            <a:pPr marL="285750" indent="-285750">
              <a:lnSpc>
                <a:spcPct val="150000"/>
              </a:lnSpc>
              <a:buFont typeface="Arial" panose="020B0604020202020204" pitchFamily="34" charset="0"/>
              <a:buChar char="•"/>
            </a:pPr>
            <a:r>
              <a:rPr lang="zh-CN" altLang="en-US" sz="2400" dirty="0"/>
              <a:t>句法分析</a:t>
            </a:r>
            <a:endParaRPr lang="en-US" altLang="zh-CN" sz="2400" dirty="0"/>
          </a:p>
          <a:p>
            <a:pPr marL="285750" indent="-285750">
              <a:lnSpc>
                <a:spcPct val="150000"/>
              </a:lnSpc>
              <a:buFont typeface="Arial" panose="020B0604020202020204" pitchFamily="34" charset="0"/>
              <a:buChar char="•"/>
            </a:pPr>
            <a:r>
              <a:rPr lang="zh-CN" altLang="en-US" sz="2400" dirty="0"/>
              <a:t>语义分析</a:t>
            </a:r>
          </a:p>
        </p:txBody>
      </p:sp>
    </p:spTree>
    <p:extLst>
      <p:ext uri="{BB962C8B-B14F-4D97-AF65-F5344CB8AC3E}">
        <p14:creationId xmlns:p14="http://schemas.microsoft.com/office/powerpoint/2010/main" val="1994131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9644545"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什么是词？</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441963" y="1193744"/>
            <a:ext cx="10971212" cy="581698"/>
          </a:xfrm>
          <a:prstGeom prst="rect">
            <a:avLst/>
          </a:prstGeom>
          <a:noFill/>
        </p:spPr>
        <p:txBody>
          <a:bodyPr wrap="square">
            <a:spAutoFit/>
          </a:bodyPr>
          <a:lstStyle/>
          <a:p>
            <a:pPr algn="just">
              <a:lnSpc>
                <a:spcPct val="125000"/>
              </a:lnSpc>
            </a:pPr>
            <a:r>
              <a:rPr lang="zh-CN" altLang="en-US" sz="2800" b="1" dirty="0">
                <a:solidFill>
                  <a:srgbClr val="0432FF"/>
                </a:solidFill>
                <a:latin typeface="Microsoft YaHei" panose="020B0503020204020204" pitchFamily="34" charset="-122"/>
                <a:ea typeface="Microsoft YaHei" panose="020B0503020204020204" pitchFamily="34" charset="-122"/>
              </a:rPr>
              <a:t>词</a:t>
            </a:r>
            <a:r>
              <a:rPr lang="zh-CN" altLang="en-US" sz="2400" b="1" dirty="0">
                <a:solidFill>
                  <a:srgbClr val="0432FF"/>
                </a:solidFill>
                <a:effectLst/>
                <a:latin typeface="Microsoft YaHei" panose="020B0503020204020204" pitchFamily="34" charset="-122"/>
                <a:ea typeface="Microsoft YaHei" panose="020B0503020204020204" pitchFamily="34" charset="-122"/>
              </a:rPr>
              <a:t>（</a:t>
            </a:r>
            <a:r>
              <a:rPr lang="en-US" sz="2400" b="1" dirty="0">
                <a:solidFill>
                  <a:srgbClr val="0432FF"/>
                </a:solidFill>
                <a:effectLst/>
                <a:latin typeface="Microsoft YaHei" panose="020B0503020204020204" pitchFamily="34" charset="-122"/>
                <a:ea typeface="Microsoft YaHei" panose="020B0503020204020204" pitchFamily="34" charset="-122"/>
              </a:rPr>
              <a:t>word）</a:t>
            </a:r>
            <a:r>
              <a:rPr lang="zh-CN" altLang="en-US" sz="2400" dirty="0">
                <a:effectLst/>
                <a:latin typeface="Microsoft YaHei" panose="020B0503020204020204" pitchFamily="34" charset="-122"/>
                <a:ea typeface="Microsoft YaHei" panose="020B0503020204020204" pitchFamily="34" charset="-122"/>
              </a:rPr>
              <a:t>是</a:t>
            </a:r>
            <a:r>
              <a:rPr lang="zh-CN" altLang="en-US" sz="2400" b="1" dirty="0">
                <a:solidFill>
                  <a:srgbClr val="C00000"/>
                </a:solidFill>
                <a:effectLst/>
                <a:latin typeface="Microsoft YaHei" panose="020B0503020204020204" pitchFamily="34" charset="-122"/>
                <a:ea typeface="Microsoft YaHei" panose="020B0503020204020204" pitchFamily="34" charset="-122"/>
              </a:rPr>
              <a:t>形式</a:t>
            </a:r>
            <a:r>
              <a:rPr lang="zh-CN" altLang="en-US" sz="2400" dirty="0">
                <a:effectLst/>
                <a:latin typeface="Microsoft YaHei" panose="020B0503020204020204" pitchFamily="34" charset="-122"/>
                <a:ea typeface="Microsoft YaHei" panose="020B0503020204020204" pitchFamily="34" charset="-122"/>
              </a:rPr>
              <a:t>和</a:t>
            </a:r>
            <a:r>
              <a:rPr lang="zh-CN" altLang="en-US" sz="2400" b="1" dirty="0">
                <a:solidFill>
                  <a:srgbClr val="C00000"/>
                </a:solidFill>
                <a:effectLst/>
                <a:latin typeface="Microsoft YaHei" panose="020B0503020204020204" pitchFamily="34" charset="-122"/>
                <a:ea typeface="Microsoft YaHei" panose="020B0503020204020204" pitchFamily="34" charset="-122"/>
              </a:rPr>
              <a:t>意义</a:t>
            </a:r>
            <a:r>
              <a:rPr lang="zh-CN" altLang="en-US" sz="2400" dirty="0">
                <a:effectLst/>
                <a:latin typeface="Microsoft YaHei" panose="020B0503020204020204" pitchFamily="34" charset="-122"/>
                <a:ea typeface="Microsoft YaHei" panose="020B0503020204020204" pitchFamily="34" charset="-122"/>
              </a:rPr>
              <a:t>相结合的单位，也是语言中</a:t>
            </a:r>
            <a:r>
              <a:rPr lang="zh-CN" altLang="en-US" sz="2400" b="1" dirty="0">
                <a:solidFill>
                  <a:srgbClr val="C00000"/>
                </a:solidFill>
                <a:effectLst/>
                <a:latin typeface="Microsoft YaHei" panose="020B0503020204020204" pitchFamily="34" charset="-122"/>
                <a:ea typeface="Microsoft YaHei" panose="020B0503020204020204" pitchFamily="34" charset="-122"/>
              </a:rPr>
              <a:t>能够独立运用</a:t>
            </a:r>
            <a:r>
              <a:rPr lang="zh-CN" altLang="en-US" sz="2400" dirty="0">
                <a:effectLst/>
                <a:latin typeface="Microsoft YaHei" panose="020B0503020204020204" pitchFamily="34" charset="-122"/>
                <a:ea typeface="Microsoft YaHei" panose="020B0503020204020204" pitchFamily="34" charset="-122"/>
              </a:rPr>
              <a:t>的最小单位。</a:t>
            </a:r>
            <a:endParaRPr lang="en-US" altLang="zh-CN" sz="2400" dirty="0">
              <a:effectLst/>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EDB747CA-FB47-AB40-D696-EE1AFE11828C}"/>
              </a:ext>
            </a:extLst>
          </p:cNvPr>
          <p:cNvSpPr txBox="1"/>
          <p:nvPr/>
        </p:nvSpPr>
        <p:spPr>
          <a:xfrm>
            <a:off x="1258781" y="3003320"/>
            <a:ext cx="9001498" cy="581057"/>
          </a:xfrm>
          <a:prstGeom prst="rect">
            <a:avLst/>
          </a:prstGeom>
          <a:noFill/>
        </p:spPr>
        <p:txBody>
          <a:bodyPr wrap="square">
            <a:spAutoFit/>
          </a:bodyPr>
          <a:lstStyle/>
          <a:p>
            <a:pPr algn="just">
              <a:lnSpc>
                <a:spcPct val="150000"/>
              </a:lnSpc>
            </a:pPr>
            <a:r>
              <a:rPr lang="zh-CN" altLang="en-US" sz="2400" b="1" dirty="0">
                <a:latin typeface="Microsoft YaHei" panose="020B0503020204020204" pitchFamily="34" charset="-122"/>
                <a:ea typeface="Microsoft YaHei" panose="020B0503020204020204" pitchFamily="34" charset="-122"/>
              </a:rPr>
              <a:t>例如：</a:t>
            </a:r>
            <a:r>
              <a:rPr lang="zh-CN" altLang="en-US" sz="2400" dirty="0">
                <a:latin typeface="Microsoft YaHei" panose="020B0503020204020204" pitchFamily="34" charset="-122"/>
                <a:ea typeface="Microsoft YaHei" panose="020B0503020204020204" pitchFamily="34" charset="-122"/>
              </a:rPr>
              <a:t>英文单词</a:t>
            </a:r>
            <a:r>
              <a:rPr lang="en-US" altLang="zh-CN" sz="2400" dirty="0">
                <a:latin typeface="Microsoft YaHei" panose="020B0503020204020204" pitchFamily="34" charset="-122"/>
                <a:ea typeface="Microsoft YaHei" panose="020B0503020204020204" pitchFamily="34" charset="-122"/>
              </a:rPr>
              <a:t>``cat''</a:t>
            </a:r>
            <a:r>
              <a:rPr lang="zh-CN" altLang="en-US" sz="2400" dirty="0">
                <a:latin typeface="Microsoft YaHei" panose="020B0503020204020204" pitchFamily="34" charset="-122"/>
                <a:ea typeface="Microsoft YaHei" panose="020B0503020204020204" pitchFamily="34" charset="-122"/>
              </a:rPr>
              <a:t>具有的语义是</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猫</a:t>
            </a:r>
            <a:r>
              <a:rPr lang="en-US" altLang="zh-CN" sz="2400" dirty="0">
                <a:latin typeface="Microsoft YaHei" panose="020B0503020204020204" pitchFamily="34" charset="-122"/>
                <a:ea typeface="Microsoft YaHei" panose="020B0503020204020204" pitchFamily="34" charset="-122"/>
              </a:rPr>
              <a:t>''</a:t>
            </a:r>
            <a:r>
              <a:rPr lang="zh-CN" altLang="en-US" sz="2400" dirty="0">
                <a:latin typeface="Microsoft YaHei" panose="020B0503020204020204" pitchFamily="34" charset="-122"/>
                <a:ea typeface="Microsoft YaHei" panose="020B0503020204020204" pitchFamily="34" charset="-122"/>
              </a:rPr>
              <a:t>，读音为</a:t>
            </a:r>
            <a:r>
              <a:rPr lang="en-US" altLang="zh-CN" sz="2400" dirty="0">
                <a:latin typeface="Microsoft YaHei" panose="020B0503020204020204" pitchFamily="34" charset="-122"/>
                <a:ea typeface="Microsoft YaHei" panose="020B0503020204020204" pitchFamily="34" charset="-122"/>
              </a:rPr>
              <a:t>``/</a:t>
            </a:r>
            <a:r>
              <a:rPr lang="en-US" altLang="zh-CN" sz="2400" dirty="0" err="1">
                <a:latin typeface="Microsoft YaHei" panose="020B0503020204020204" pitchFamily="34" charset="-122"/>
                <a:ea typeface="Microsoft YaHei" panose="020B0503020204020204" pitchFamily="34" charset="-122"/>
              </a:rPr>
              <a:t>kæt</a:t>
            </a:r>
            <a:r>
              <a:rPr lang="en-US" altLang="zh-CN" sz="2400" dirty="0">
                <a:latin typeface="Microsoft YaHei" panose="020B0503020204020204" pitchFamily="34" charset="-122"/>
                <a:ea typeface="Microsoft YaHei" panose="020B0503020204020204" pitchFamily="34" charset="-122"/>
              </a:rPr>
              <a:t>/''</a:t>
            </a:r>
          </a:p>
        </p:txBody>
      </p:sp>
      <p:sp>
        <p:nvSpPr>
          <p:cNvPr id="5" name="TextBox 4">
            <a:extLst>
              <a:ext uri="{FF2B5EF4-FFF2-40B4-BE49-F238E27FC236}">
                <a16:creationId xmlns:a16="http://schemas.microsoft.com/office/drawing/2014/main" id="{1DAAFE0A-633B-7DC9-98FB-E0FDB9DDE580}"/>
              </a:ext>
            </a:extLst>
          </p:cNvPr>
          <p:cNvSpPr txBox="1"/>
          <p:nvPr/>
        </p:nvSpPr>
        <p:spPr>
          <a:xfrm>
            <a:off x="441962" y="1827063"/>
            <a:ext cx="6097978" cy="581057"/>
          </a:xfrm>
          <a:prstGeom prst="rect">
            <a:avLst/>
          </a:prstGeom>
          <a:noFill/>
        </p:spPr>
        <p:txBody>
          <a:bodyPr wrap="square">
            <a:spAutoFit/>
          </a:bodyPr>
          <a:lstStyle/>
          <a:p>
            <a:pPr algn="just">
              <a:lnSpc>
                <a:spcPct val="150000"/>
              </a:lnSpc>
            </a:pPr>
            <a:r>
              <a:rPr lang="en-CN" sz="2400" dirty="0">
                <a:latin typeface="Microsoft YaHei" panose="020B0503020204020204" pitchFamily="34" charset="-122"/>
                <a:ea typeface="Microsoft YaHei" panose="020B0503020204020204" pitchFamily="34" charset="-122"/>
              </a:rPr>
              <a:t>掌握一个词汇意味着知道其读音和语义</a:t>
            </a:r>
          </a:p>
        </p:txBody>
      </p:sp>
      <p:sp>
        <p:nvSpPr>
          <p:cNvPr id="7" name="TextBox 6">
            <a:extLst>
              <a:ext uri="{FF2B5EF4-FFF2-40B4-BE49-F238E27FC236}">
                <a16:creationId xmlns:a16="http://schemas.microsoft.com/office/drawing/2014/main" id="{023B641F-4E19-47CA-0129-7201A05B443F}"/>
              </a:ext>
            </a:extLst>
          </p:cNvPr>
          <p:cNvSpPr txBox="1"/>
          <p:nvPr/>
        </p:nvSpPr>
        <p:spPr>
          <a:xfrm>
            <a:off x="555871" y="4179577"/>
            <a:ext cx="10857303" cy="461665"/>
          </a:xfrm>
          <a:prstGeom prst="rect">
            <a:avLst/>
          </a:prstGeom>
          <a:noFill/>
        </p:spPr>
        <p:txBody>
          <a:bodyPr wrap="square">
            <a:spAutoFit/>
          </a:bodyPr>
          <a:lstStyle/>
          <a:p>
            <a:r>
              <a:rPr lang="en-CN" sz="2400" dirty="0">
                <a:latin typeface="Microsoft YaHei" panose="020B0503020204020204" pitchFamily="34" charset="-122"/>
                <a:ea typeface="Microsoft YaHei" panose="020B0503020204020204" pitchFamily="34" charset="-122"/>
              </a:rPr>
              <a:t>自然语言处理算法中词通常也是基本单元</a:t>
            </a:r>
          </a:p>
        </p:txBody>
      </p:sp>
      <p:sp>
        <p:nvSpPr>
          <p:cNvPr id="9" name="TextBox 8">
            <a:extLst>
              <a:ext uri="{FF2B5EF4-FFF2-40B4-BE49-F238E27FC236}">
                <a16:creationId xmlns:a16="http://schemas.microsoft.com/office/drawing/2014/main" id="{5D7718C6-B336-0103-5AFA-3CE17C228493}"/>
              </a:ext>
            </a:extLst>
          </p:cNvPr>
          <p:cNvSpPr txBox="1"/>
          <p:nvPr/>
        </p:nvSpPr>
        <p:spPr>
          <a:xfrm>
            <a:off x="555871" y="4788183"/>
            <a:ext cx="11081140" cy="1135054"/>
          </a:xfrm>
          <a:prstGeom prst="rect">
            <a:avLst/>
          </a:prstGeom>
          <a:noFill/>
        </p:spPr>
        <p:txBody>
          <a:bodyPr wrap="square">
            <a:spAutoFit/>
          </a:bodyPr>
          <a:lstStyle/>
          <a:p>
            <a:pPr>
              <a:lnSpc>
                <a:spcPct val="150000"/>
              </a:lnSpc>
            </a:pPr>
            <a:r>
              <a:rPr lang="zh-CN" altLang="en-US" sz="2400" dirty="0">
                <a:solidFill>
                  <a:srgbClr val="0432FF"/>
                </a:solidFill>
                <a:latin typeface="Microsoft YaHei" panose="020B0503020204020204" pitchFamily="34" charset="-122"/>
                <a:ea typeface="Microsoft YaHei" panose="020B0503020204020204" pitchFamily="34" charset="-122"/>
              </a:rPr>
              <a:t>词的处理也是自然语言处理中重要的底层任务</a:t>
            </a:r>
            <a:r>
              <a:rPr lang="zh-CN" altLang="en-US" sz="2400" dirty="0">
                <a:latin typeface="Microsoft YaHei" panose="020B0503020204020204" pitchFamily="34" charset="-122"/>
                <a:ea typeface="Microsoft YaHei" panose="020B0503020204020204" pitchFamily="34" charset="-122"/>
              </a:rPr>
              <a:t>，是句法分析、文本分类、语言模型等任务的基础。</a:t>
            </a:r>
            <a:endParaRPr lang="en-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54761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1119504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03132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语言中的词汇</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1276121" y="1144623"/>
            <a:ext cx="8352080" cy="3211841"/>
          </a:xfrm>
          <a:prstGeom prst="rect">
            <a:avLst/>
          </a:prstGeom>
          <a:noFill/>
        </p:spPr>
        <p:txBody>
          <a:bodyPr wrap="square">
            <a:spAutoFit/>
          </a:bodyPr>
          <a:lstStyle/>
          <a:p>
            <a:pPr>
              <a:lnSpc>
                <a:spcPct val="125000"/>
              </a:lnSpc>
              <a:spcBef>
                <a:spcPts val="1200"/>
              </a:spcBef>
            </a:pPr>
            <a:r>
              <a:rPr lang="zh-CN" altLang="en-US" sz="2800" dirty="0">
                <a:solidFill>
                  <a:srgbClr val="0432FF"/>
                </a:solidFill>
                <a:latin typeface="Microsoft YaHei" panose="020B0503020204020204" pitchFamily="34" charset="-122"/>
                <a:ea typeface="Microsoft YaHei" panose="020B0503020204020204" pitchFamily="34" charset="-122"/>
              </a:rPr>
              <a:t>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sz="2400" dirty="0">
                <a:solidFill>
                  <a:srgbClr val="0432FF"/>
                </a:solidFill>
                <a:effectLst/>
                <a:latin typeface="Microsoft YaHei" panose="020B0503020204020204" pitchFamily="34" charset="-122"/>
                <a:ea typeface="Microsoft YaHei" panose="020B0503020204020204" pitchFamily="34" charset="-122"/>
              </a:rPr>
              <a:t>word）</a:t>
            </a:r>
            <a:r>
              <a:rPr lang="zh-CN" altLang="en-US" sz="2400" dirty="0">
                <a:effectLst/>
                <a:latin typeface="Microsoft YaHei" panose="020B0503020204020204" pitchFamily="34" charset="-122"/>
                <a:ea typeface="Microsoft YaHei" panose="020B0503020204020204" pitchFamily="34" charset="-122"/>
              </a:rPr>
              <a:t>通常是由语素（</a:t>
            </a:r>
            <a:r>
              <a:rPr lang="en-US" altLang="zh-CN" sz="2400" dirty="0">
                <a:effectLst/>
                <a:latin typeface="Microsoft YaHei" panose="020B0503020204020204" pitchFamily="34" charset="-122"/>
                <a:ea typeface="Microsoft YaHei" panose="020B0503020204020204" pitchFamily="34" charset="-122"/>
              </a:rPr>
              <a:t>Morpheme</a:t>
            </a:r>
            <a:r>
              <a:rPr lang="zh-CN" altLang="en-US" sz="2400" dirty="0">
                <a:effectLst/>
                <a:latin typeface="Microsoft YaHei" panose="020B0503020204020204" pitchFamily="34" charset="-122"/>
                <a:ea typeface="Microsoft YaHei" panose="020B0503020204020204" pitchFamily="34" charset="-122"/>
              </a:rPr>
              <a:t>）构成</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a:lnSpc>
                <a:spcPct val="125000"/>
              </a:lnSpc>
              <a:spcBef>
                <a:spcPts val="1200"/>
              </a:spcBef>
            </a:pPr>
            <a:r>
              <a:rPr lang="zh-CN" altLang="en-US" sz="2400" b="1" dirty="0">
                <a:latin typeface="Microsoft YaHei" panose="020B0503020204020204" pitchFamily="34" charset="-122"/>
                <a:ea typeface="Microsoft YaHei" panose="020B0503020204020204" pitchFamily="34" charset="-122"/>
              </a:rPr>
              <a:t>语素</a:t>
            </a:r>
            <a:r>
              <a:rPr lang="zh-CN" altLang="en-US" sz="2400" dirty="0">
                <a:latin typeface="Microsoft YaHei" panose="020B0503020204020204" pitchFamily="34" charset="-122"/>
                <a:ea typeface="Microsoft YaHei" panose="020B0503020204020204" pitchFamily="34" charset="-122"/>
              </a:rPr>
              <a:t>又称词素，是语言中意义的最小单元。</a:t>
            </a:r>
            <a:endParaRPr lang="en-US" altLang="zh-CN" sz="2400" dirty="0">
              <a:latin typeface="Microsoft YaHei" panose="020B0503020204020204" pitchFamily="34" charset="-122"/>
              <a:ea typeface="Microsoft YaHei" panose="020B0503020204020204" pitchFamily="34" charset="-122"/>
            </a:endParaRPr>
          </a:p>
          <a:p>
            <a:pPr marL="800100" lvl="1" indent="-342900">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语素与词不同，语素不能够独立运用而词可以。</a:t>
            </a:r>
            <a:endParaRPr lang="en-US" altLang="zh-CN" sz="2000" dirty="0">
              <a:latin typeface="Microsoft YaHei" panose="020B0503020204020204" pitchFamily="34" charset="-122"/>
              <a:ea typeface="Microsoft YaHei" panose="020B0503020204020204" pitchFamily="34" charset="-122"/>
            </a:endParaRPr>
          </a:p>
          <a:p>
            <a:pPr marL="800100" lvl="1" indent="-342900">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只包含一个语素的词语称为</a:t>
            </a:r>
            <a:r>
              <a:rPr lang="zh-CN" altLang="en-US" sz="2000" b="1" dirty="0">
                <a:solidFill>
                  <a:srgbClr val="0432FF"/>
                </a:solidFill>
                <a:latin typeface="Microsoft YaHei" panose="020B0503020204020204" pitchFamily="34" charset="-122"/>
                <a:ea typeface="Microsoft YaHei" panose="020B0503020204020204" pitchFamily="34" charset="-122"/>
              </a:rPr>
              <a:t>简单词</a:t>
            </a:r>
            <a:r>
              <a:rPr lang="zh-CN" altLang="en-US" sz="2000" dirty="0">
                <a:solidFill>
                  <a:srgbClr val="0432FF"/>
                </a:solidFill>
                <a:latin typeface="Microsoft YaHei" panose="020B0503020204020204" pitchFamily="34" charset="-122"/>
                <a:ea typeface="Microsoft YaHei" panose="020B0503020204020204" pitchFamily="34" charset="-122"/>
              </a:rPr>
              <a:t>（</a:t>
            </a:r>
            <a:r>
              <a:rPr lang="en-US" sz="2000" dirty="0">
                <a:solidFill>
                  <a:srgbClr val="0432FF"/>
                </a:solidFill>
                <a:latin typeface="Microsoft YaHei" panose="020B0503020204020204" pitchFamily="34" charset="-122"/>
                <a:ea typeface="Microsoft YaHei" panose="020B0503020204020204" pitchFamily="34" charset="-122"/>
              </a:rPr>
              <a:t>Simple word）</a:t>
            </a:r>
          </a:p>
          <a:p>
            <a:pPr marL="800100" lvl="1" indent="-342900">
              <a:lnSpc>
                <a:spcPct val="125000"/>
              </a:lnSpc>
              <a:spcBef>
                <a:spcPts val="1200"/>
              </a:spcBef>
              <a:buFont typeface="Arial" panose="020B0604020202020204" pitchFamily="34" charset="0"/>
              <a:buChar char="•"/>
            </a:pPr>
            <a:r>
              <a:rPr lang="zh-CN" altLang="en-US" sz="2000" dirty="0">
                <a:latin typeface="Microsoft YaHei" panose="020B0503020204020204" pitchFamily="34" charset="-122"/>
                <a:ea typeface="Microsoft YaHei" panose="020B0503020204020204" pitchFamily="34" charset="-122"/>
              </a:rPr>
              <a:t>包含多个语素的词称为</a:t>
            </a:r>
            <a:r>
              <a:rPr lang="zh-CN" altLang="en-US" sz="2000" b="1" dirty="0">
                <a:solidFill>
                  <a:srgbClr val="0432FF"/>
                </a:solidFill>
                <a:latin typeface="Microsoft YaHei" panose="020B0503020204020204" pitchFamily="34" charset="-122"/>
                <a:ea typeface="Microsoft YaHei" panose="020B0503020204020204" pitchFamily="34" charset="-122"/>
              </a:rPr>
              <a:t>复杂词</a:t>
            </a:r>
            <a:r>
              <a:rPr lang="zh-CN" altLang="en-US" sz="2000" dirty="0">
                <a:solidFill>
                  <a:srgbClr val="0432FF"/>
                </a:solidFill>
                <a:latin typeface="Microsoft YaHei" panose="020B0503020204020204" pitchFamily="34" charset="-122"/>
                <a:ea typeface="Microsoft YaHei" panose="020B0503020204020204" pitchFamily="34" charset="-122"/>
              </a:rPr>
              <a:t>（</a:t>
            </a:r>
            <a:r>
              <a:rPr lang="en-US" sz="2000" dirty="0">
                <a:solidFill>
                  <a:srgbClr val="0432FF"/>
                </a:solidFill>
                <a:latin typeface="Microsoft YaHei" panose="020B0503020204020204" pitchFamily="34" charset="-122"/>
                <a:ea typeface="Microsoft YaHei" panose="020B0503020204020204" pitchFamily="34" charset="-122"/>
              </a:rPr>
              <a:t>Complex word）</a:t>
            </a:r>
            <a:br>
              <a:rPr lang="en-US" sz="2000" dirty="0">
                <a:solidFill>
                  <a:srgbClr val="0432FF"/>
                </a:solidFill>
                <a:latin typeface="Microsoft YaHei" panose="020B0503020204020204" pitchFamily="34" charset="-122"/>
                <a:ea typeface="Microsoft YaHei" panose="020B0503020204020204" pitchFamily="34" charset="-122"/>
              </a:rPr>
            </a:br>
            <a:endParaRPr lang="en-US" altLang="zh-CN" sz="2000" dirty="0">
              <a:solidFill>
                <a:srgbClr val="0432FF"/>
              </a:solidFill>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E7BB1AB2-24CD-1B77-94AD-78DB667B9144}"/>
              </a:ext>
            </a:extLst>
          </p:cNvPr>
          <p:cNvSpPr txBox="1"/>
          <p:nvPr/>
        </p:nvSpPr>
        <p:spPr>
          <a:xfrm>
            <a:off x="2061180" y="4072155"/>
            <a:ext cx="7163789" cy="400110"/>
          </a:xfrm>
          <a:prstGeom prst="rect">
            <a:avLst/>
          </a:prstGeom>
          <a:noFill/>
        </p:spPr>
        <p:txBody>
          <a:bodyPr wrap="square">
            <a:spAutoFit/>
          </a:bodyPr>
          <a:lstStyle/>
          <a:p>
            <a:r>
              <a:rPr lang="zh-CN" altLang="en-US" sz="2000" b="1" dirty="0">
                <a:latin typeface="Microsoft YaHei" panose="020B0503020204020204" pitchFamily="34" charset="-122"/>
                <a:ea typeface="Microsoft YaHei" panose="020B0503020204020204" pitchFamily="34" charset="-122"/>
              </a:rPr>
              <a:t>例如：</a:t>
            </a:r>
            <a:r>
              <a:rPr lang="zh-CN" altLang="en-US" sz="2000" dirty="0">
                <a:solidFill>
                  <a:srgbClr val="00B050"/>
                </a:solidFill>
                <a:latin typeface="Microsoft YaHei" panose="020B0503020204020204" pitchFamily="34" charset="-122"/>
                <a:ea typeface="Microsoft YaHei" panose="020B0503020204020204" pitchFamily="34" charset="-122"/>
              </a:rPr>
              <a:t>“电灯”</a:t>
            </a:r>
            <a:r>
              <a:rPr lang="zh-CN" altLang="en-US" sz="2000" dirty="0">
                <a:latin typeface="Microsoft YaHei" panose="020B0503020204020204" pitchFamily="34" charset="-122"/>
                <a:ea typeface="Microsoft YaHei" panose="020B0503020204020204" pitchFamily="34" charset="-122"/>
              </a:rPr>
              <a:t>，包含 </a:t>
            </a:r>
            <a:r>
              <a:rPr lang="zh-CN" altLang="en-US" sz="2000" dirty="0">
                <a:solidFill>
                  <a:srgbClr val="00B050"/>
                </a:solidFill>
                <a:latin typeface="Microsoft YaHei" panose="020B0503020204020204" pitchFamily="34" charset="-122"/>
                <a:ea typeface="Microsoft YaHei" panose="020B0503020204020204" pitchFamily="34" charset="-122"/>
              </a:rPr>
              <a:t>“电”</a:t>
            </a:r>
            <a:r>
              <a:rPr lang="zh-CN" altLang="en-US" sz="2000" dirty="0">
                <a:latin typeface="Microsoft YaHei" panose="020B0503020204020204" pitchFamily="34" charset="-122"/>
                <a:ea typeface="Microsoft YaHei" panose="020B0503020204020204" pitchFamily="34" charset="-122"/>
              </a:rPr>
              <a:t> 和 </a:t>
            </a:r>
            <a:r>
              <a:rPr lang="zh-CN" altLang="en-US" sz="2000" dirty="0">
                <a:solidFill>
                  <a:srgbClr val="00B050"/>
                </a:solidFill>
                <a:latin typeface="Microsoft YaHei" panose="020B0503020204020204" pitchFamily="34" charset="-122"/>
                <a:ea typeface="Microsoft YaHei" panose="020B0503020204020204" pitchFamily="34" charset="-122"/>
              </a:rPr>
              <a:t>“灯” </a:t>
            </a:r>
            <a:r>
              <a:rPr lang="zh-CN" altLang="en-US" sz="2000" dirty="0">
                <a:latin typeface="Microsoft YaHei" panose="020B0503020204020204" pitchFamily="34" charset="-122"/>
                <a:ea typeface="Microsoft YaHei" panose="020B0503020204020204" pitchFamily="34" charset="-122"/>
              </a:rPr>
              <a:t>两个语素</a:t>
            </a:r>
            <a:endParaRPr lang="en-CN" sz="2000" dirty="0">
              <a:latin typeface="Microsoft YaHei" panose="020B0503020204020204" pitchFamily="34" charset="-122"/>
              <a:ea typeface="Microsoft YaHei" panose="020B0503020204020204" pitchFamily="34" charset="-122"/>
            </a:endParaRPr>
          </a:p>
        </p:txBody>
      </p:sp>
      <p:sp>
        <p:nvSpPr>
          <p:cNvPr id="10" name="TextBox 9">
            <a:extLst>
              <a:ext uri="{FF2B5EF4-FFF2-40B4-BE49-F238E27FC236}">
                <a16:creationId xmlns:a16="http://schemas.microsoft.com/office/drawing/2014/main" id="{AAB57BE3-8AF1-AB35-4EC6-5C05B287153B}"/>
              </a:ext>
            </a:extLst>
          </p:cNvPr>
          <p:cNvSpPr txBox="1"/>
          <p:nvPr/>
        </p:nvSpPr>
        <p:spPr>
          <a:xfrm>
            <a:off x="1276120" y="4607057"/>
            <a:ext cx="9380763" cy="1519070"/>
          </a:xfrm>
          <a:prstGeom prst="rect">
            <a:avLst/>
          </a:prstGeom>
          <a:noFill/>
        </p:spPr>
        <p:txBody>
          <a:bodyPr wrap="square">
            <a:spAutoFit/>
          </a:bodyPr>
          <a:lstStyle/>
          <a:p>
            <a:pPr marL="800100" lvl="1" indent="-342900">
              <a:lnSpc>
                <a:spcPct val="125000"/>
              </a:lnSpc>
              <a:spcBef>
                <a:spcPts val="1200"/>
              </a:spcBef>
              <a:buFont typeface="Arial" panose="020B0604020202020204" pitchFamily="34" charset="0"/>
              <a:buChar char="•"/>
            </a:pPr>
            <a:r>
              <a:rPr lang="en-CN" sz="2000" dirty="0">
                <a:latin typeface="Microsoft YaHei" panose="020B0503020204020204" pitchFamily="34" charset="-122"/>
                <a:ea typeface="Microsoft YaHei" panose="020B0503020204020204" pitchFamily="34" charset="-122"/>
              </a:rPr>
              <a:t>根据词在语言中的用途的不同，词还可以被划分为实义词和功能词</a:t>
            </a:r>
          </a:p>
          <a:p>
            <a:pPr marL="1257300" lvl="2" indent="-342900">
              <a:lnSpc>
                <a:spcPct val="125000"/>
              </a:lnSpc>
              <a:spcBef>
                <a:spcPts val="1200"/>
              </a:spcBef>
              <a:buFont typeface="Arial" panose="020B0604020202020204" pitchFamily="34" charset="0"/>
              <a:buChar char="•"/>
            </a:pPr>
            <a:r>
              <a:rPr lang="zh-CN" altLang="en-US" sz="2000" b="1" dirty="0">
                <a:latin typeface="Microsoft YaHei" panose="020B0503020204020204" pitchFamily="34" charset="-122"/>
                <a:ea typeface="Microsoft YaHei" panose="020B0503020204020204" pitchFamily="34" charset="-122"/>
              </a:rPr>
              <a:t>实义词</a:t>
            </a:r>
            <a:r>
              <a:rPr lang="zh-CN" altLang="en-US" sz="2000" dirty="0">
                <a:latin typeface="Microsoft YaHei" panose="020B0503020204020204" pitchFamily="34" charset="-122"/>
                <a:ea typeface="Microsoft YaHei" panose="020B0503020204020204" pitchFamily="34" charset="-122"/>
              </a:rPr>
              <a:t>包含事物、行为、属性和观念等概念。</a:t>
            </a:r>
            <a:endParaRPr lang="en-US" altLang="zh-CN" sz="2000" dirty="0">
              <a:latin typeface="Microsoft YaHei" panose="020B0503020204020204" pitchFamily="34" charset="-122"/>
              <a:ea typeface="Microsoft YaHei" panose="020B0503020204020204" pitchFamily="34" charset="-122"/>
            </a:endParaRPr>
          </a:p>
          <a:p>
            <a:pPr marL="1257300" lvl="2" indent="-342900">
              <a:lnSpc>
                <a:spcPct val="125000"/>
              </a:lnSpc>
              <a:spcBef>
                <a:spcPts val="1200"/>
              </a:spcBef>
              <a:buFont typeface="Arial" panose="020B0604020202020204" pitchFamily="34" charset="0"/>
              <a:buChar char="•"/>
            </a:pPr>
            <a:r>
              <a:rPr lang="zh-CN" altLang="en-US" sz="2000" b="1" dirty="0">
                <a:latin typeface="Microsoft YaHei" panose="020B0503020204020204" pitchFamily="34" charset="-122"/>
                <a:ea typeface="Microsoft YaHei" panose="020B0503020204020204" pitchFamily="34" charset="-122"/>
              </a:rPr>
              <a:t>功能词</a:t>
            </a:r>
            <a:r>
              <a:rPr lang="zh-CN" altLang="en-US" sz="2000" dirty="0">
                <a:latin typeface="Microsoft YaHei" panose="020B0503020204020204" pitchFamily="34" charset="-122"/>
                <a:ea typeface="Microsoft YaHei" panose="020B0503020204020204" pitchFamily="34" charset="-122"/>
              </a:rPr>
              <a:t>则是指没有清楚词汇意义或与之有关的明显概念的词。</a:t>
            </a:r>
            <a:endParaRPr lang="en-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4582960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56503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词的形态学</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739775" y="1064209"/>
            <a:ext cx="10712450" cy="5474704"/>
          </a:xfrm>
          <a:prstGeom prst="rect">
            <a:avLst/>
          </a:prstGeom>
          <a:noFill/>
        </p:spPr>
        <p:txBody>
          <a:bodyPr wrap="square">
            <a:spAutoFit/>
          </a:bodyPr>
          <a:lstStyle/>
          <a:p>
            <a:pPr algn="just">
              <a:lnSpc>
                <a:spcPct val="150000"/>
              </a:lnSpc>
              <a:spcBef>
                <a:spcPts val="1200"/>
              </a:spcBef>
            </a:pPr>
            <a:r>
              <a:rPr lang="zh-CN" altLang="en-US" sz="2400" dirty="0">
                <a:latin typeface="Microsoft YaHei" panose="020B0503020204020204" pitchFamily="34" charset="-122"/>
                <a:ea typeface="Microsoft YaHei" panose="020B0503020204020204" pitchFamily="34" charset="-122"/>
              </a:rPr>
              <a:t>虽然</a:t>
            </a:r>
            <a:r>
              <a:rPr lang="zh-CN" altLang="en-US" sz="2400" dirty="0">
                <a:solidFill>
                  <a:srgbClr val="0432FF"/>
                </a:solidFill>
                <a:latin typeface="Microsoft YaHei" panose="020B0503020204020204" pitchFamily="34" charset="-122"/>
                <a:ea typeface="Microsoft YaHei" panose="020B0503020204020204" pitchFamily="34" charset="-122"/>
              </a:rPr>
              <a:t>单词的形式和意义之间的关系本质上是任意的</a:t>
            </a:r>
            <a:r>
              <a:rPr lang="zh-CN" altLang="en-US" sz="2400" dirty="0">
                <a:latin typeface="Microsoft YaHei" panose="020B0503020204020204" pitchFamily="34" charset="-122"/>
                <a:ea typeface="Microsoft YaHei" panose="020B0503020204020204" pitchFamily="34" charset="-122"/>
              </a:rPr>
              <a:t>，但是由于社会的</a:t>
            </a:r>
            <a:r>
              <a:rPr lang="zh-CN" altLang="en-US" sz="2400" b="1" dirty="0">
                <a:latin typeface="Microsoft YaHei" panose="020B0503020204020204" pitchFamily="34" charset="-122"/>
                <a:ea typeface="Microsoft YaHei" panose="020B0503020204020204" pitchFamily="34" charset="-122"/>
              </a:rPr>
              <a:t>约定俗成</a:t>
            </a:r>
            <a:r>
              <a:rPr lang="zh-CN" altLang="en-US" sz="2400" dirty="0">
                <a:latin typeface="Microsoft YaHei" panose="020B0503020204020204" pitchFamily="34" charset="-122"/>
                <a:ea typeface="Microsoft YaHei" panose="020B0503020204020204" pitchFamily="34" charset="-122"/>
              </a:rPr>
              <a:t>，词的形式具有服从于</a:t>
            </a:r>
            <a:r>
              <a:rPr lang="zh-CN" altLang="en-US" sz="2400" b="1" dirty="0">
                <a:solidFill>
                  <a:srgbClr val="C00000"/>
                </a:solidFill>
                <a:latin typeface="Microsoft YaHei" panose="020B0503020204020204" pitchFamily="34" charset="-122"/>
                <a:ea typeface="Microsoft YaHei" panose="020B0503020204020204" pitchFamily="34" charset="-122"/>
              </a:rPr>
              <a:t>某种规则的内在结构</a:t>
            </a:r>
            <a:r>
              <a:rPr lang="zh-CN" altLang="en-US" sz="2400" dirty="0">
                <a:latin typeface="Microsoft YaHei" panose="020B0503020204020204" pitchFamily="34" charset="-122"/>
                <a:ea typeface="Microsoft YaHei" panose="020B0503020204020204" pitchFamily="34" charset="-122"/>
              </a:rPr>
              <a:t>。研究单词的内部结构和其构成方式的学科称为</a:t>
            </a:r>
            <a:r>
              <a:rPr lang="zh-CN" altLang="en-US" sz="2400" b="1" dirty="0">
                <a:solidFill>
                  <a:srgbClr val="C00000"/>
                </a:solidFill>
                <a:latin typeface="Microsoft YaHei" panose="020B0503020204020204" pitchFamily="34" charset="-122"/>
                <a:ea typeface="Microsoft YaHei" panose="020B0503020204020204" pitchFamily="34" charset="-122"/>
              </a:rPr>
              <a:t>形态学（</a:t>
            </a:r>
            <a:r>
              <a:rPr lang="en-US" altLang="zh-CN" sz="2400" b="1" dirty="0">
                <a:solidFill>
                  <a:srgbClr val="C00000"/>
                </a:solidFill>
                <a:latin typeface="Microsoft YaHei" panose="020B0503020204020204" pitchFamily="34" charset="-122"/>
                <a:ea typeface="Microsoft YaHei" panose="020B0503020204020204" pitchFamily="34" charset="-122"/>
              </a:rPr>
              <a:t>Morphology</a:t>
            </a:r>
            <a:r>
              <a:rPr lang="zh-CN" altLang="en-US" sz="2400" b="1" dirty="0">
                <a:solidFill>
                  <a:srgbClr val="C00000"/>
                </a:solidFill>
                <a:latin typeface="Microsoft YaHei" panose="020B0503020204020204" pitchFamily="34" charset="-122"/>
                <a:ea typeface="Microsoft YaHei" panose="020B0503020204020204" pitchFamily="34" charset="-122"/>
              </a:rPr>
              <a:t>）</a:t>
            </a:r>
            <a:r>
              <a:rPr lang="en-US" altLang="zh-CN" sz="2400" dirty="0">
                <a:latin typeface="Microsoft YaHei" panose="020B0503020204020204" pitchFamily="34" charset="-122"/>
                <a:ea typeface="Microsoft YaHei" panose="020B0503020204020204" pitchFamily="34" charset="-122"/>
              </a:rPr>
              <a:t>, </a:t>
            </a:r>
            <a:r>
              <a:rPr lang="zh-CN" altLang="en-US" sz="2400" dirty="0">
                <a:latin typeface="Microsoft YaHei" panose="020B0503020204020204" pitchFamily="34" charset="-122"/>
                <a:ea typeface="Microsoft YaHei" panose="020B0503020204020204" pitchFamily="34" charset="-122"/>
              </a:rPr>
              <a:t>又称</a:t>
            </a:r>
            <a:r>
              <a:rPr lang="zh-CN" altLang="en-US" sz="2400" dirty="0">
                <a:solidFill>
                  <a:srgbClr val="C00000"/>
                </a:solidFill>
                <a:latin typeface="Microsoft YaHei" panose="020B0503020204020204" pitchFamily="34" charset="-122"/>
                <a:ea typeface="Microsoft YaHei" panose="020B0503020204020204" pitchFamily="34" charset="-122"/>
              </a:rPr>
              <a:t>构词学</a:t>
            </a:r>
            <a:r>
              <a:rPr lang="zh-CN" altLang="en-US" sz="2400" dirty="0">
                <a:latin typeface="Microsoft YaHei" panose="020B0503020204020204" pitchFamily="34" charset="-122"/>
                <a:ea typeface="Microsoft YaHei" panose="020B0503020204020204" pitchFamily="34" charset="-122"/>
              </a:rPr>
              <a:t>。</a:t>
            </a:r>
            <a:endParaRPr lang="en-US" altLang="zh-CN" sz="2400" dirty="0">
              <a:latin typeface="Microsoft YaHei" panose="020B0503020204020204" pitchFamily="34" charset="-122"/>
              <a:ea typeface="Microsoft YaHei" panose="020B0503020204020204" pitchFamily="34" charset="-122"/>
            </a:endParaRPr>
          </a:p>
          <a:p>
            <a:pPr marL="457200" indent="-457200">
              <a:lnSpc>
                <a:spcPct val="150000"/>
              </a:lnSpc>
              <a:spcBef>
                <a:spcPts val="1200"/>
              </a:spcBef>
              <a:buFont typeface="Arial" panose="020B0604020202020204" pitchFamily="34" charset="0"/>
              <a:buChar char="•"/>
            </a:pPr>
            <a:r>
              <a:rPr lang="zh-CN" altLang="en-US" sz="2400" dirty="0">
                <a:latin typeface="Microsoft YaHei" panose="020B0503020204020204" pitchFamily="34" charset="-122"/>
                <a:ea typeface="Microsoft YaHei" panose="020B0503020204020204" pitchFamily="34" charset="-122"/>
              </a:rPr>
              <a:t>词是由一个或多个语素构成，语素主要分成两类</a:t>
            </a:r>
            <a:r>
              <a:rPr lang="en-US" altLang="zh-CN" sz="2400" dirty="0">
                <a:latin typeface="Microsoft YaHei" panose="020B0503020204020204" pitchFamily="34" charset="-122"/>
                <a:ea typeface="Microsoft YaHei" panose="020B0503020204020204" pitchFamily="34" charset="-122"/>
              </a:rPr>
              <a:t>: </a:t>
            </a:r>
            <a:r>
              <a:rPr lang="zh-CN" altLang="en-US" sz="2400" dirty="0">
                <a:solidFill>
                  <a:srgbClr val="0432FF"/>
                </a:solidFill>
                <a:latin typeface="Microsoft YaHei" panose="020B0503020204020204" pitchFamily="34" charset="-122"/>
                <a:ea typeface="Microsoft YaHei" panose="020B0503020204020204" pitchFamily="34" charset="-122"/>
              </a:rPr>
              <a:t>词根（</a:t>
            </a:r>
            <a:r>
              <a:rPr lang="en-US" sz="2400" dirty="0">
                <a:solidFill>
                  <a:srgbClr val="0432FF"/>
                </a:solidFill>
                <a:latin typeface="Microsoft YaHei" panose="020B0503020204020204" pitchFamily="34" charset="-122"/>
                <a:ea typeface="Microsoft YaHei" panose="020B0503020204020204" pitchFamily="34" charset="-122"/>
              </a:rPr>
              <a:t>Lemma）</a:t>
            </a:r>
            <a:r>
              <a:rPr lang="zh-CN" altLang="en-US" sz="2400" dirty="0">
                <a:latin typeface="Microsoft YaHei" panose="020B0503020204020204" pitchFamily="34" charset="-122"/>
                <a:ea typeface="Microsoft YaHei" panose="020B0503020204020204" pitchFamily="34" charset="-122"/>
              </a:rPr>
              <a:t>和</a:t>
            </a:r>
            <a:r>
              <a:rPr lang="zh-CN" altLang="en-US" sz="2400" dirty="0">
                <a:solidFill>
                  <a:srgbClr val="0432FF"/>
                </a:solidFill>
                <a:latin typeface="Microsoft YaHei" panose="020B0503020204020204" pitchFamily="34" charset="-122"/>
                <a:ea typeface="Microsoft YaHei" panose="020B0503020204020204" pitchFamily="34" charset="-122"/>
              </a:rPr>
              <a:t>词缀（</a:t>
            </a:r>
            <a:r>
              <a:rPr lang="en-US" sz="2400" dirty="0">
                <a:solidFill>
                  <a:srgbClr val="0432FF"/>
                </a:solidFill>
                <a:latin typeface="Microsoft YaHei" panose="020B0503020204020204" pitchFamily="34" charset="-122"/>
                <a:ea typeface="Microsoft YaHei" panose="020B0503020204020204" pitchFamily="34" charset="-122"/>
              </a:rPr>
              <a:t>Affix）</a:t>
            </a:r>
            <a:r>
              <a:rPr lang="en-US" sz="2400" dirty="0">
                <a:latin typeface="Microsoft YaHei" panose="020B0503020204020204" pitchFamily="34" charset="-122"/>
                <a:ea typeface="Microsoft YaHei" panose="020B0503020204020204" pitchFamily="34" charset="-122"/>
              </a:rPr>
              <a:t>。</a:t>
            </a:r>
          </a:p>
          <a:p>
            <a:pPr marL="914400" lvl="1" indent="-457200">
              <a:lnSpc>
                <a:spcPct val="150000"/>
              </a:lnSpc>
              <a:spcBef>
                <a:spcPts val="1200"/>
              </a:spcBef>
              <a:buFont typeface="Arial" panose="020B0604020202020204" pitchFamily="34" charset="0"/>
              <a:buChar char="•"/>
            </a:pPr>
            <a:r>
              <a:rPr lang="zh-CN" altLang="en-US" sz="2400" b="1" dirty="0">
                <a:latin typeface="Microsoft YaHei" panose="020B0503020204020204" pitchFamily="34" charset="-122"/>
                <a:ea typeface="Microsoft YaHei" panose="020B0503020204020204" pitchFamily="34" charset="-122"/>
              </a:rPr>
              <a:t>词根</a:t>
            </a:r>
            <a:r>
              <a:rPr lang="zh-CN" altLang="en-US" sz="2400" dirty="0">
                <a:latin typeface="Microsoft YaHei" panose="020B0503020204020204" pitchFamily="34" charset="-122"/>
                <a:ea typeface="Microsoft YaHei" panose="020B0503020204020204" pitchFamily="34" charset="-122"/>
              </a:rPr>
              <a:t>也称为原形或字典形，是指能在字典中查的到的语素，通常是一个词最主要的语素。</a:t>
            </a:r>
            <a:endParaRPr lang="en-US" altLang="zh-CN" sz="2400" dirty="0">
              <a:latin typeface="Microsoft YaHei" panose="020B0503020204020204" pitchFamily="34" charset="-122"/>
              <a:ea typeface="Microsoft YaHei" panose="020B0503020204020204" pitchFamily="34" charset="-122"/>
            </a:endParaRPr>
          </a:p>
          <a:p>
            <a:pPr marL="914400" lvl="1" indent="-457200">
              <a:lnSpc>
                <a:spcPct val="150000"/>
              </a:lnSpc>
              <a:spcBef>
                <a:spcPts val="1200"/>
              </a:spcBef>
              <a:buFont typeface="Arial" panose="020B0604020202020204" pitchFamily="34" charset="0"/>
              <a:buChar char="•"/>
            </a:pPr>
            <a:r>
              <a:rPr lang="zh-CN" altLang="en-US" sz="2400" b="1" dirty="0">
                <a:latin typeface="Microsoft YaHei" panose="020B0503020204020204" pitchFamily="34" charset="-122"/>
                <a:ea typeface="Microsoft YaHei" panose="020B0503020204020204" pitchFamily="34" charset="-122"/>
              </a:rPr>
              <a:t>词缀</a:t>
            </a:r>
            <a:r>
              <a:rPr lang="zh-CN" altLang="en-US" sz="2400" dirty="0">
                <a:latin typeface="Microsoft YaHei" panose="020B0503020204020204" pitchFamily="34" charset="-122"/>
                <a:ea typeface="Microsoft YaHei" panose="020B0503020204020204" pitchFamily="34" charset="-122"/>
              </a:rPr>
              <a:t>是其他附着在原形上的语素，帮助在原形基础上衍生出新词，包含前缀、中缀、后缀等。</a:t>
            </a:r>
            <a:endParaRPr lang="en-US" altLang="zh-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2124743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9551779"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词的形态学</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359645" y="1131355"/>
            <a:ext cx="11472709" cy="2491067"/>
          </a:xfrm>
          <a:prstGeom prst="rect">
            <a:avLst/>
          </a:prstGeom>
          <a:noFill/>
        </p:spPr>
        <p:txBody>
          <a:bodyPr wrap="square">
            <a:spAutoFit/>
          </a:bodyPr>
          <a:lstStyle/>
          <a:p>
            <a:pPr>
              <a:lnSpc>
                <a:spcPct val="125000"/>
              </a:lnSpc>
              <a:spcBef>
                <a:spcPts val="1200"/>
              </a:spcBef>
            </a:pPr>
            <a:r>
              <a:rPr lang="zh-CN" altLang="en-US" sz="2800" dirty="0">
                <a:solidFill>
                  <a:srgbClr val="0070C0"/>
                </a:solidFill>
                <a:latin typeface="Microsoft YaHei" panose="020B0503020204020204" pitchFamily="34" charset="-122"/>
                <a:ea typeface="Microsoft YaHei" panose="020B0503020204020204" pitchFamily="34" charset="-122"/>
              </a:rPr>
              <a:t>例如：</a:t>
            </a:r>
            <a:endParaRPr lang="en-US" altLang="zh-CN" sz="2800" dirty="0">
              <a:solidFill>
                <a:srgbClr val="0070C0"/>
              </a:solidFill>
              <a:latin typeface="Microsoft YaHei" panose="020B0503020204020204" pitchFamily="34" charset="-122"/>
              <a:ea typeface="Microsoft YaHei" panose="020B0503020204020204" pitchFamily="34" charset="-122"/>
            </a:endParaRPr>
          </a:p>
          <a:p>
            <a:pPr>
              <a:lnSpc>
                <a:spcPct val="125000"/>
              </a:lnSpc>
              <a:spcBef>
                <a:spcPts val="1200"/>
              </a:spcBef>
            </a:pPr>
            <a:r>
              <a:rPr lang="en-US" altLang="zh-CN" sz="2800" dirty="0">
                <a:latin typeface="Microsoft YaHei" panose="020B0503020204020204" pitchFamily="34" charset="-122"/>
                <a:ea typeface="Microsoft YaHei" panose="020B0503020204020204" pitchFamily="34" charset="-122"/>
              </a:rPr>
              <a:t>	</a:t>
            </a:r>
            <a:r>
              <a:rPr lang="zh-CN" altLang="en-US" sz="2400" dirty="0">
                <a:solidFill>
                  <a:srgbClr val="0432FF"/>
                </a:solidFill>
                <a:latin typeface="KaiTi_GB2312" panose="02010609030101010101" pitchFamily="49" charset="-122"/>
                <a:ea typeface="KaiTi_GB2312" panose="02010609030101010101" pitchFamily="49" charset="-122"/>
              </a:rPr>
              <a:t>英语</a:t>
            </a:r>
            <a:r>
              <a:rPr lang="zh-CN" altLang="en-US" sz="2400" dirty="0">
                <a:latin typeface="KaiTi_GB2312" panose="02010609030101010101" pitchFamily="49" charset="-122"/>
                <a:ea typeface="KaiTi_GB2312" panose="02010609030101010101" pitchFamily="49" charset="-122"/>
              </a:rPr>
              <a:t>单词 </a:t>
            </a:r>
            <a:r>
              <a:rPr lang="en-US" sz="2400" dirty="0">
                <a:latin typeface="KaiTi_GB2312" panose="02010609030101010101" pitchFamily="49" charset="-122"/>
                <a:ea typeface="KaiTi_GB2312" panose="02010609030101010101" pitchFamily="49" charset="-122"/>
              </a:rPr>
              <a:t>unhappy </a:t>
            </a:r>
            <a:r>
              <a:rPr lang="zh-CN" altLang="en-US" sz="2400" dirty="0">
                <a:latin typeface="KaiTi_GB2312" panose="02010609030101010101" pitchFamily="49" charset="-122"/>
                <a:ea typeface="KaiTi_GB2312" panose="02010609030101010101" pitchFamily="49" charset="-122"/>
              </a:rPr>
              <a:t>中，</a:t>
            </a:r>
            <a:r>
              <a:rPr lang="en-US" sz="2400" dirty="0">
                <a:latin typeface="KaiTi_GB2312" panose="02010609030101010101" pitchFamily="49" charset="-122"/>
                <a:ea typeface="KaiTi_GB2312" panose="02010609030101010101" pitchFamily="49" charset="-122"/>
              </a:rPr>
              <a:t>happy </a:t>
            </a:r>
            <a:r>
              <a:rPr lang="zh-CN" altLang="en-US" sz="2400" dirty="0">
                <a:latin typeface="KaiTi_GB2312" panose="02010609030101010101" pitchFamily="49" charset="-122"/>
                <a:ea typeface="KaiTi_GB2312" panose="02010609030101010101" pitchFamily="49" charset="-122"/>
              </a:rPr>
              <a:t>为原形，</a:t>
            </a:r>
            <a:r>
              <a:rPr lang="en-US" altLang="zh-CN" sz="2400" dirty="0">
                <a:latin typeface="KaiTi_GB2312" panose="02010609030101010101" pitchFamily="49" charset="-122"/>
                <a:ea typeface="KaiTi_GB2312" panose="02010609030101010101" pitchFamily="49" charset="-122"/>
              </a:rPr>
              <a:t>-</a:t>
            </a:r>
            <a:r>
              <a:rPr lang="en-US" sz="2400" dirty="0">
                <a:latin typeface="KaiTi_GB2312" panose="02010609030101010101" pitchFamily="49" charset="-122"/>
                <a:ea typeface="KaiTi_GB2312" panose="02010609030101010101" pitchFamily="49" charset="-122"/>
              </a:rPr>
              <a:t>un </a:t>
            </a:r>
            <a:r>
              <a:rPr lang="zh-CN" altLang="en-US" sz="2400" dirty="0">
                <a:latin typeface="KaiTi_GB2312" panose="02010609030101010101" pitchFamily="49" charset="-122"/>
                <a:ea typeface="KaiTi_GB2312" panose="02010609030101010101" pitchFamily="49" charset="-122"/>
              </a:rPr>
              <a:t>为前缀</a:t>
            </a:r>
            <a:endParaRPr lang="en-US" altLang="zh-CN" sz="2400" dirty="0">
              <a:latin typeface="KaiTi_GB2312" panose="02010609030101010101" pitchFamily="49" charset="-122"/>
              <a:ea typeface="KaiTi_GB2312" panose="02010609030101010101" pitchFamily="49" charset="-122"/>
            </a:endParaRPr>
          </a:p>
          <a:p>
            <a:pPr>
              <a:lnSpc>
                <a:spcPct val="125000"/>
              </a:lnSpc>
              <a:spcBef>
                <a:spcPts val="1200"/>
              </a:spcBef>
            </a:pPr>
            <a:r>
              <a:rPr lang="en-US" altLang="zh-CN" sz="2400" dirty="0">
                <a:latin typeface="KaiTi_GB2312" panose="02010609030101010101" pitchFamily="49" charset="-122"/>
                <a:ea typeface="KaiTi_GB2312" panose="02010609030101010101" pitchFamily="49" charset="-122"/>
              </a:rPr>
              <a:t>	</a:t>
            </a:r>
            <a:r>
              <a:rPr lang="zh-CN" altLang="en-US" sz="2400" dirty="0">
                <a:solidFill>
                  <a:srgbClr val="0432FF"/>
                </a:solidFill>
                <a:latin typeface="KaiTi_GB2312" panose="02010609030101010101" pitchFamily="49" charset="-122"/>
                <a:ea typeface="KaiTi_GB2312" panose="02010609030101010101" pitchFamily="49" charset="-122"/>
              </a:rPr>
              <a:t>邦托克语</a:t>
            </a:r>
            <a:r>
              <a:rPr lang="zh-CN" altLang="en-US" sz="2400" dirty="0">
                <a:latin typeface="KaiTi_GB2312" panose="02010609030101010101" pitchFamily="49" charset="-122"/>
                <a:ea typeface="KaiTi_GB2312" panose="02010609030101010101" pitchFamily="49" charset="-122"/>
              </a:rPr>
              <a:t>单词 </a:t>
            </a:r>
            <a:r>
              <a:rPr lang="en-US" sz="2400" dirty="0" err="1">
                <a:latin typeface="KaiTi_GB2312" panose="02010609030101010101" pitchFamily="49" charset="-122"/>
                <a:ea typeface="KaiTi_GB2312" panose="02010609030101010101" pitchFamily="49" charset="-122"/>
              </a:rPr>
              <a:t>fumikas</a:t>
            </a:r>
            <a:r>
              <a:rPr lang="en-US" sz="2400" dirty="0">
                <a:latin typeface="KaiTi_GB2312" panose="02010609030101010101" pitchFamily="49" charset="-122"/>
                <a:ea typeface="KaiTi_GB2312" panose="02010609030101010101" pitchFamily="49" charset="-122"/>
              </a:rPr>
              <a:t>（</a:t>
            </a:r>
            <a:r>
              <a:rPr lang="zh-CN" altLang="en-US" sz="2400" dirty="0">
                <a:latin typeface="KaiTi_GB2312" panose="02010609030101010101" pitchFamily="49" charset="-122"/>
                <a:ea typeface="KaiTi_GB2312" panose="02010609030101010101" pitchFamily="49" charset="-122"/>
              </a:rPr>
              <a:t>是强壮的）中，</a:t>
            </a:r>
            <a:r>
              <a:rPr lang="en-US" sz="2400" dirty="0">
                <a:latin typeface="KaiTi_GB2312" panose="02010609030101010101" pitchFamily="49" charset="-122"/>
                <a:ea typeface="KaiTi_GB2312" panose="02010609030101010101" pitchFamily="49" charset="-122"/>
              </a:rPr>
              <a:t>fikas（</a:t>
            </a:r>
            <a:r>
              <a:rPr lang="zh-CN" altLang="en-US" sz="2400" dirty="0">
                <a:latin typeface="KaiTi_GB2312" panose="02010609030101010101" pitchFamily="49" charset="-122"/>
                <a:ea typeface="KaiTi_GB2312" panose="02010609030101010101" pitchFamily="49" charset="-122"/>
              </a:rPr>
              <a:t>强壮）为原形，</a:t>
            </a:r>
            <a:r>
              <a:rPr lang="en-US" altLang="zh-CN" sz="2400" dirty="0">
                <a:latin typeface="KaiTi_GB2312" panose="02010609030101010101" pitchFamily="49" charset="-122"/>
                <a:ea typeface="KaiTi_GB2312" panose="02010609030101010101" pitchFamily="49" charset="-122"/>
              </a:rPr>
              <a:t>-</a:t>
            </a:r>
            <a:r>
              <a:rPr lang="en-US" sz="2400" dirty="0">
                <a:latin typeface="KaiTi_GB2312" panose="02010609030101010101" pitchFamily="49" charset="-122"/>
                <a:ea typeface="KaiTi_GB2312" panose="02010609030101010101" pitchFamily="49" charset="-122"/>
              </a:rPr>
              <a:t>um-</a:t>
            </a:r>
            <a:r>
              <a:rPr lang="zh-CN" altLang="en-US" sz="2400" dirty="0">
                <a:latin typeface="KaiTi_GB2312" panose="02010609030101010101" pitchFamily="49" charset="-122"/>
                <a:ea typeface="KaiTi_GB2312" panose="02010609030101010101" pitchFamily="49" charset="-122"/>
              </a:rPr>
              <a:t>为中缀</a:t>
            </a:r>
            <a:endParaRPr lang="en-US" altLang="zh-CN" sz="2400" dirty="0">
              <a:latin typeface="KaiTi_GB2312" panose="02010609030101010101" pitchFamily="49" charset="-122"/>
              <a:ea typeface="KaiTi_GB2312" panose="02010609030101010101" pitchFamily="49" charset="-122"/>
            </a:endParaRPr>
          </a:p>
          <a:p>
            <a:pPr>
              <a:lnSpc>
                <a:spcPct val="125000"/>
              </a:lnSpc>
              <a:spcBef>
                <a:spcPts val="1200"/>
              </a:spcBef>
            </a:pPr>
            <a:r>
              <a:rPr lang="en-US" altLang="zh-CN" sz="2400" dirty="0">
                <a:latin typeface="KaiTi_GB2312" panose="02010609030101010101" pitchFamily="49" charset="-122"/>
                <a:ea typeface="KaiTi_GB2312" panose="02010609030101010101" pitchFamily="49" charset="-122"/>
              </a:rPr>
              <a:t>	</a:t>
            </a:r>
            <a:r>
              <a:rPr lang="zh-CN" altLang="en-US" sz="2400" dirty="0">
                <a:solidFill>
                  <a:srgbClr val="0432FF"/>
                </a:solidFill>
                <a:latin typeface="KaiTi_GB2312" panose="02010609030101010101" pitchFamily="49" charset="-122"/>
                <a:ea typeface="KaiTi_GB2312" panose="02010609030101010101" pitchFamily="49" charset="-122"/>
              </a:rPr>
              <a:t>俄语</a:t>
            </a:r>
            <a:r>
              <a:rPr lang="zh-CN" altLang="en-US" sz="2400" dirty="0">
                <a:latin typeface="KaiTi_GB2312" panose="02010609030101010101" pitchFamily="49" charset="-122"/>
                <a:ea typeface="KaiTi_GB2312" panose="02010609030101010101" pitchFamily="49" charset="-122"/>
              </a:rPr>
              <a:t>单词 </a:t>
            </a:r>
            <a:r>
              <a:rPr lang="en-US" altLang="zh-CN" sz="2400" dirty="0" err="1">
                <a:latin typeface="KaiTi_GB2312" panose="02010609030101010101" pitchFamily="49" charset="-122"/>
                <a:ea typeface="KaiTi_GB2312" panose="02010609030101010101" pitchFamily="49" charset="-122"/>
              </a:rPr>
              <a:t>barabanshchik</a:t>
            </a:r>
            <a:r>
              <a:rPr lang="zh-CN" altLang="en-US" sz="2400" dirty="0">
                <a:latin typeface="KaiTi_GB2312" panose="02010609030101010101" pitchFamily="49" charset="-122"/>
                <a:ea typeface="KaiTi_GB2312" panose="02010609030101010101" pitchFamily="49" charset="-122"/>
              </a:rPr>
              <a:t>（鼓手）中，</a:t>
            </a:r>
            <a:r>
              <a:rPr lang="en-US" altLang="zh-CN" sz="2400" dirty="0" err="1">
                <a:latin typeface="KaiTi_GB2312" panose="02010609030101010101" pitchFamily="49" charset="-122"/>
                <a:ea typeface="KaiTi_GB2312" panose="02010609030101010101" pitchFamily="49" charset="-122"/>
              </a:rPr>
              <a:t>baraban</a:t>
            </a:r>
            <a:r>
              <a:rPr lang="zh-CN" altLang="en-US" sz="2400" dirty="0">
                <a:latin typeface="KaiTi_GB2312" panose="02010609030101010101" pitchFamily="49" charset="-122"/>
                <a:ea typeface="KaiTi_GB2312" panose="02010609030101010101" pitchFamily="49" charset="-122"/>
              </a:rPr>
              <a:t>（鼓）为原形，</a:t>
            </a:r>
            <a:r>
              <a:rPr lang="en-US" altLang="zh-CN" sz="2400" dirty="0">
                <a:latin typeface="KaiTi_GB2312" panose="02010609030101010101" pitchFamily="49" charset="-122"/>
                <a:ea typeface="KaiTi_GB2312" panose="02010609030101010101" pitchFamily="49" charset="-122"/>
              </a:rPr>
              <a:t>-</a:t>
            </a:r>
            <a:r>
              <a:rPr lang="en-US" altLang="zh-CN" sz="2400" dirty="0" err="1">
                <a:latin typeface="KaiTi_GB2312" panose="02010609030101010101" pitchFamily="49" charset="-122"/>
                <a:ea typeface="KaiTi_GB2312" panose="02010609030101010101" pitchFamily="49" charset="-122"/>
              </a:rPr>
              <a:t>shchik</a:t>
            </a:r>
            <a:r>
              <a:rPr lang="zh-CN" altLang="en-US" sz="2400" dirty="0">
                <a:latin typeface="KaiTi_GB2312" panose="02010609030101010101" pitchFamily="49" charset="-122"/>
                <a:ea typeface="KaiTi_GB2312" panose="02010609030101010101" pitchFamily="49" charset="-122"/>
              </a:rPr>
              <a:t>为后缀 </a:t>
            </a:r>
          </a:p>
        </p:txBody>
      </p:sp>
      <p:sp>
        <p:nvSpPr>
          <p:cNvPr id="4" name="TextBox 3">
            <a:extLst>
              <a:ext uri="{FF2B5EF4-FFF2-40B4-BE49-F238E27FC236}">
                <a16:creationId xmlns:a16="http://schemas.microsoft.com/office/drawing/2014/main" id="{84F3958B-6FBC-C45A-C23C-1394D8EBF2D9}"/>
              </a:ext>
            </a:extLst>
          </p:cNvPr>
          <p:cNvSpPr txBox="1"/>
          <p:nvPr/>
        </p:nvSpPr>
        <p:spPr>
          <a:xfrm>
            <a:off x="1151905" y="4189536"/>
            <a:ext cx="9728129" cy="2050690"/>
          </a:xfrm>
          <a:prstGeom prst="rect">
            <a:avLst/>
          </a:prstGeom>
          <a:noFill/>
        </p:spPr>
        <p:txBody>
          <a:bodyPr wrap="square">
            <a:spAutoFit/>
          </a:bodyPr>
          <a:lstStyle/>
          <a:p>
            <a:pPr>
              <a:lnSpc>
                <a:spcPct val="125000"/>
              </a:lnSpc>
              <a:spcBef>
                <a:spcPts val="1200"/>
              </a:spcBef>
            </a:pPr>
            <a:r>
              <a:rPr lang="zh-CN" altLang="en-US" sz="2400" dirty="0">
                <a:latin typeface="Microsoft YaHei" panose="020B0503020204020204" pitchFamily="34" charset="-122"/>
                <a:ea typeface="Microsoft YaHei" panose="020B0503020204020204" pitchFamily="34" charset="-122"/>
              </a:rPr>
              <a:t>有些语言的单词通常只包含一个或者两个语素，但是有一些语言的单词则包含多达十个以上的语素。</a:t>
            </a:r>
            <a:endParaRPr lang="en-US" altLang="zh-CN" sz="2400" dirty="0">
              <a:latin typeface="Microsoft YaHei" panose="020B0503020204020204" pitchFamily="34" charset="-122"/>
              <a:ea typeface="Microsoft YaHei" panose="020B0503020204020204" pitchFamily="34" charset="-122"/>
            </a:endParaRPr>
          </a:p>
          <a:p>
            <a:pPr>
              <a:lnSpc>
                <a:spcPct val="125000"/>
              </a:lnSpc>
              <a:spcBef>
                <a:spcPts val="1200"/>
              </a:spcBef>
            </a:pPr>
            <a:r>
              <a:rPr lang="zh-CN" altLang="en-US" sz="2400" dirty="0">
                <a:solidFill>
                  <a:srgbClr val="0432FF"/>
                </a:solidFill>
                <a:latin typeface="Microsoft YaHei" panose="020B0503020204020204" pitchFamily="34" charset="-122"/>
                <a:ea typeface="Microsoft YaHei" panose="020B0503020204020204" pitchFamily="34" charset="-122"/>
              </a:rPr>
              <a:t>汉语中每个单词的语素都很少</a:t>
            </a:r>
            <a:r>
              <a:rPr lang="zh-CN" altLang="en-US" sz="2400" dirty="0">
                <a:latin typeface="Microsoft YaHei" panose="020B0503020204020204" pitchFamily="34" charset="-122"/>
                <a:ea typeface="Microsoft YaHei" panose="020B0503020204020204" pitchFamily="34" charset="-122"/>
              </a:rPr>
              <a:t>，也</a:t>
            </a:r>
            <a:r>
              <a:rPr lang="zh-CN" altLang="en-US" sz="2400" dirty="0">
                <a:solidFill>
                  <a:srgbClr val="C00000"/>
                </a:solidFill>
                <a:latin typeface="Microsoft YaHei" panose="020B0503020204020204" pitchFamily="34" charset="-122"/>
                <a:ea typeface="Microsoft YaHei" panose="020B0503020204020204" pitchFamily="34" charset="-122"/>
              </a:rPr>
              <a:t>不会</a:t>
            </a:r>
            <a:r>
              <a:rPr lang="zh-CN" altLang="en-US" sz="2400" dirty="0">
                <a:latin typeface="Microsoft YaHei" panose="020B0503020204020204" pitchFamily="34" charset="-122"/>
                <a:ea typeface="Microsoft YaHei" panose="020B0503020204020204" pitchFamily="34" charset="-122"/>
              </a:rPr>
              <a:t>根据</a:t>
            </a:r>
            <a:r>
              <a:rPr lang="zh-CN" altLang="en-US" sz="2400" dirty="0">
                <a:solidFill>
                  <a:srgbClr val="0432FF"/>
                </a:solidFill>
                <a:latin typeface="Microsoft YaHei" panose="020B0503020204020204" pitchFamily="34" charset="-122"/>
                <a:ea typeface="Microsoft YaHei" panose="020B0503020204020204" pitchFamily="34" charset="-122"/>
              </a:rPr>
              <a:t>性、数、格、人称</a:t>
            </a:r>
            <a:r>
              <a:rPr lang="zh-CN" altLang="en-US" sz="2400" dirty="0">
                <a:latin typeface="Microsoft YaHei" panose="020B0503020204020204" pitchFamily="34" charset="-122"/>
                <a:ea typeface="Microsoft YaHei" panose="020B0503020204020204" pitchFamily="34" charset="-122"/>
              </a:rPr>
              <a:t>等发生</a:t>
            </a:r>
            <a:r>
              <a:rPr lang="zh-CN" altLang="en-US" sz="2400" dirty="0">
                <a:solidFill>
                  <a:srgbClr val="C00000"/>
                </a:solidFill>
                <a:latin typeface="Microsoft YaHei" panose="020B0503020204020204" pitchFamily="34" charset="-122"/>
                <a:ea typeface="Microsoft YaHei" panose="020B0503020204020204" pitchFamily="34" charset="-122"/>
              </a:rPr>
              <a:t>形态变化</a:t>
            </a:r>
            <a:r>
              <a:rPr lang="zh-CN" altLang="en-US" sz="2400" dirty="0">
                <a:latin typeface="Microsoft YaHei" panose="020B0503020204020204" pitchFamily="34" charset="-122"/>
                <a:ea typeface="Microsoft YaHei" panose="020B0503020204020204" pitchFamily="34" charset="-122"/>
              </a:rPr>
              <a:t>。</a:t>
            </a:r>
            <a:endParaRPr lang="en-CN" sz="24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680238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0478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954655"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英语中常见词形变换</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35</a:t>
            </a:fld>
            <a:endParaRPr lang="zh-CN" altLang="en-US"/>
          </a:p>
        </p:txBody>
      </p:sp>
      <p:pic>
        <p:nvPicPr>
          <p:cNvPr id="5" name="Picture 4">
            <a:extLst>
              <a:ext uri="{FF2B5EF4-FFF2-40B4-BE49-F238E27FC236}">
                <a16:creationId xmlns:a16="http://schemas.microsoft.com/office/drawing/2014/main" id="{AB92F864-9099-C31D-1853-35DB3B1DFC53}"/>
              </a:ext>
            </a:extLst>
          </p:cNvPr>
          <p:cNvPicPr>
            <a:picLocks noChangeAspect="1"/>
          </p:cNvPicPr>
          <p:nvPr/>
        </p:nvPicPr>
        <p:blipFill>
          <a:blip r:embed="rId3"/>
          <a:stretch>
            <a:fillRect/>
          </a:stretch>
        </p:blipFill>
        <p:spPr>
          <a:xfrm>
            <a:off x="2209800" y="1440722"/>
            <a:ext cx="7772400" cy="438930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831832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1804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36</a:t>
            </a:fld>
            <a:endParaRPr lang="zh-CN" altLang="en-US"/>
          </a:p>
        </p:txBody>
      </p:sp>
      <p:sp>
        <p:nvSpPr>
          <p:cNvPr id="3" name="TextBox 2">
            <a:extLst>
              <a:ext uri="{FF2B5EF4-FFF2-40B4-BE49-F238E27FC236}">
                <a16:creationId xmlns:a16="http://schemas.microsoft.com/office/drawing/2014/main" id="{91E73E10-4DE3-8687-FB14-BA9B5FA9CDD5}"/>
              </a:ext>
            </a:extLst>
          </p:cNvPr>
          <p:cNvSpPr txBox="1"/>
          <p:nvPr/>
        </p:nvSpPr>
        <p:spPr>
          <a:xfrm>
            <a:off x="498475" y="1267598"/>
            <a:ext cx="10586519" cy="1886094"/>
          </a:xfrm>
          <a:prstGeom prst="rect">
            <a:avLst/>
          </a:prstGeom>
          <a:noFill/>
        </p:spPr>
        <p:txBody>
          <a:bodyPr wrap="square">
            <a:spAutoFit/>
          </a:bodyPr>
          <a:lstStyle/>
          <a:p>
            <a:pPr algn="just">
              <a:lnSpc>
                <a:spcPct val="125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词性（</a:t>
            </a:r>
            <a:r>
              <a:rPr lang="en-US" altLang="zh-CN" sz="2400" b="1" dirty="0">
                <a:solidFill>
                  <a:srgbClr val="0432FF"/>
                </a:solidFill>
                <a:effectLst/>
                <a:latin typeface="Microsoft YaHei" panose="020B0503020204020204" pitchFamily="34" charset="-122"/>
                <a:ea typeface="Microsoft YaHei" panose="020B0503020204020204" pitchFamily="34" charset="-122"/>
              </a:rPr>
              <a:t>Part of Speech</a:t>
            </a:r>
            <a:r>
              <a:rPr lang="zh-CN" altLang="en-US" sz="2400" b="1" dirty="0">
                <a:solidFill>
                  <a:srgbClr val="0432FF"/>
                </a:solidFill>
                <a:effectLst/>
                <a:latin typeface="Microsoft YaHei" panose="020B0503020204020204" pitchFamily="34" charset="-122"/>
                <a:ea typeface="Microsoft YaHei" panose="020B0503020204020204" pitchFamily="34" charset="-122"/>
              </a:rPr>
              <a:t>，</a:t>
            </a:r>
            <a:r>
              <a:rPr lang="en-US" altLang="zh-CN" sz="2400" b="1" dirty="0">
                <a:solidFill>
                  <a:srgbClr val="0432FF"/>
                </a:solidFill>
                <a:effectLst/>
                <a:latin typeface="Microsoft YaHei" panose="020B0503020204020204" pitchFamily="34" charset="-122"/>
                <a:ea typeface="Microsoft YaHei" panose="020B0503020204020204" pitchFamily="34" charset="-122"/>
              </a:rPr>
              <a:t>POS</a:t>
            </a:r>
            <a:r>
              <a:rPr lang="zh-CN" altLang="en-US" sz="2400" b="1" dirty="0">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也称词类，是根据词在句子中扮演的语法角色以及与周围词的关系对词的分类。</a:t>
            </a:r>
            <a:endParaRPr lang="en-US" altLang="zh-CN" sz="2400" dirty="0">
              <a:effectLst/>
              <a:latin typeface="Microsoft YaHei" panose="020B0503020204020204" pitchFamily="34" charset="-122"/>
              <a:ea typeface="Microsoft YaHei" panose="020B0503020204020204" pitchFamily="34" charset="-122"/>
            </a:endParaRPr>
          </a:p>
          <a:p>
            <a:pPr lvl="1" algn="just">
              <a:lnSpc>
                <a:spcPct val="125000"/>
              </a:lnSpc>
              <a:spcBef>
                <a:spcPts val="1200"/>
              </a:spcBef>
            </a:pPr>
            <a:r>
              <a:rPr lang="zh-CN" altLang="en-US" sz="2000" b="0" i="0" dirty="0">
                <a:effectLst/>
                <a:latin typeface="Times New Roman" panose="02020603050405020304" pitchFamily="18" charset="0"/>
              </a:rPr>
              <a:t>例如：</a:t>
            </a:r>
            <a:r>
              <a:rPr lang="zh-CN" altLang="en-US" sz="2000" b="0" i="0" dirty="0">
                <a:effectLst/>
                <a:latin typeface="KaiTi_GB2312" panose="02010609030101010101" pitchFamily="49" charset="-122"/>
                <a:ea typeface="KaiTi_GB2312" panose="02010609030101010101" pitchFamily="49" charset="-122"/>
              </a:rPr>
              <a:t>表示事物的名字（“钢琴”），地点（“上海”）通常被归为</a:t>
            </a:r>
            <a:r>
              <a:rPr lang="zh-CN" altLang="en-US" sz="2000" b="1" i="0" dirty="0">
                <a:effectLst/>
                <a:latin typeface="KaiTi_GB2312" panose="02010609030101010101" pitchFamily="49" charset="-122"/>
                <a:ea typeface="KaiTi_GB2312" panose="02010609030101010101" pitchFamily="49" charset="-122"/>
              </a:rPr>
              <a:t>名词</a:t>
            </a:r>
            <a:endParaRPr lang="en-US" altLang="zh-CN" sz="2000" b="1" i="0" dirty="0">
              <a:effectLst/>
              <a:latin typeface="KaiTi_GB2312" panose="02010609030101010101" pitchFamily="49" charset="-122"/>
              <a:ea typeface="KaiTi_GB2312" panose="02010609030101010101" pitchFamily="49" charset="-122"/>
            </a:endParaRPr>
          </a:p>
          <a:p>
            <a:pPr lvl="1" algn="just">
              <a:lnSpc>
                <a:spcPct val="125000"/>
              </a:lnSpc>
            </a:pPr>
            <a:r>
              <a:rPr lang="zh-CN" altLang="en-US" sz="2000" b="0" i="0" dirty="0">
                <a:effectLst/>
                <a:latin typeface="KaiTi_GB2312" panose="02010609030101010101" pitchFamily="49" charset="-122"/>
                <a:ea typeface="KaiTi_GB2312" panose="02010609030101010101" pitchFamily="49" charset="-122"/>
              </a:rPr>
              <a:t>      而表示动作（“踢”），状态（“存在”）的词被归为</a:t>
            </a:r>
            <a:r>
              <a:rPr lang="zh-CN" altLang="en-US" sz="2000" b="1" i="0" dirty="0">
                <a:effectLst/>
                <a:latin typeface="KaiTi_GB2312" panose="02010609030101010101" pitchFamily="49" charset="-122"/>
                <a:ea typeface="KaiTi_GB2312" panose="02010609030101010101" pitchFamily="49" charset="-122"/>
              </a:rPr>
              <a:t>动词</a:t>
            </a:r>
            <a:endParaRPr lang="en-US" altLang="zh-CN" sz="2000" dirty="0">
              <a:effectLst/>
              <a:latin typeface="KaiTi_GB2312" panose="02010609030101010101" pitchFamily="49" charset="-122"/>
              <a:ea typeface="KaiTi_GB2312" panose="02010609030101010101" pitchFamily="49" charset="-122"/>
            </a:endParaRPr>
          </a:p>
        </p:txBody>
      </p:sp>
      <p:sp>
        <p:nvSpPr>
          <p:cNvPr id="7" name="TextBox 6">
            <a:extLst>
              <a:ext uri="{FF2B5EF4-FFF2-40B4-BE49-F238E27FC236}">
                <a16:creationId xmlns:a16="http://schemas.microsoft.com/office/drawing/2014/main" id="{171C808F-0634-A54F-6EAF-840C94A0933C}"/>
              </a:ext>
            </a:extLst>
          </p:cNvPr>
          <p:cNvSpPr txBox="1"/>
          <p:nvPr/>
        </p:nvSpPr>
        <p:spPr>
          <a:xfrm>
            <a:off x="498476" y="3725931"/>
            <a:ext cx="10863208" cy="2474845"/>
          </a:xfrm>
          <a:prstGeom prst="rect">
            <a:avLst/>
          </a:prstGeom>
          <a:noFill/>
        </p:spPr>
        <p:txBody>
          <a:bodyPr wrap="square">
            <a:spAutoFit/>
          </a:bodyPr>
          <a:lstStyle/>
          <a:p>
            <a:pPr>
              <a:lnSpc>
                <a:spcPct val="125000"/>
              </a:lnSpc>
            </a:pPr>
            <a:r>
              <a:rPr lang="zh-CN" altLang="en-US" sz="2400" dirty="0">
                <a:latin typeface="Microsoft YaHei" panose="020B0503020204020204" pitchFamily="34" charset="-122"/>
                <a:ea typeface="Microsoft YaHei" panose="020B0503020204020204" pitchFamily="34" charset="-122"/>
              </a:rPr>
              <a:t>词可以分为</a:t>
            </a:r>
            <a:r>
              <a:rPr lang="zh-CN" altLang="en-US" sz="2400" dirty="0">
                <a:solidFill>
                  <a:srgbClr val="0432FF"/>
                </a:solidFill>
                <a:latin typeface="Microsoft YaHei" panose="020B0503020204020204" pitchFamily="34" charset="-122"/>
                <a:ea typeface="Microsoft YaHei" panose="020B0503020204020204" pitchFamily="34" charset="-122"/>
              </a:rPr>
              <a:t>实义词</a:t>
            </a:r>
            <a:r>
              <a:rPr lang="zh-CN" altLang="en-US" sz="2400" dirty="0">
                <a:latin typeface="Microsoft YaHei" panose="020B0503020204020204" pitchFamily="34" charset="-122"/>
                <a:ea typeface="Microsoft YaHei" panose="020B0503020204020204" pitchFamily="34" charset="-122"/>
              </a:rPr>
              <a:t>（</a:t>
            </a:r>
            <a:r>
              <a:rPr lang="en-US" sz="2400" dirty="0">
                <a:latin typeface="Microsoft YaHei" panose="020B0503020204020204" pitchFamily="34" charset="-122"/>
                <a:ea typeface="Microsoft YaHei" panose="020B0503020204020204" pitchFamily="34" charset="-122"/>
              </a:rPr>
              <a:t>Content Words）</a:t>
            </a:r>
            <a:r>
              <a:rPr lang="zh-CN" altLang="en-US" sz="2400" dirty="0">
                <a:latin typeface="Microsoft YaHei" panose="020B0503020204020204" pitchFamily="34" charset="-122"/>
                <a:ea typeface="Microsoft YaHei" panose="020B0503020204020204" pitchFamily="34" charset="-122"/>
              </a:rPr>
              <a:t>和</a:t>
            </a:r>
            <a:r>
              <a:rPr lang="zh-CN" altLang="en-US" sz="2400" dirty="0">
                <a:solidFill>
                  <a:srgbClr val="0432FF"/>
                </a:solidFill>
                <a:latin typeface="Microsoft YaHei" panose="020B0503020204020204" pitchFamily="34" charset="-122"/>
                <a:ea typeface="Microsoft YaHei" panose="020B0503020204020204" pitchFamily="34" charset="-122"/>
              </a:rPr>
              <a:t>功能词</a:t>
            </a:r>
            <a:r>
              <a:rPr lang="zh-CN" altLang="en-US" sz="2400" dirty="0">
                <a:latin typeface="Microsoft YaHei" panose="020B0503020204020204" pitchFamily="34" charset="-122"/>
                <a:ea typeface="Microsoft YaHei" panose="020B0503020204020204" pitchFamily="34" charset="-122"/>
              </a:rPr>
              <a:t>（</a:t>
            </a:r>
            <a:r>
              <a:rPr lang="en-US" sz="2400" dirty="0">
                <a:latin typeface="Microsoft YaHei" panose="020B0503020204020204" pitchFamily="34" charset="-122"/>
                <a:ea typeface="Microsoft YaHei" panose="020B0503020204020204" pitchFamily="34" charset="-122"/>
              </a:rPr>
              <a:t>Function Words）</a:t>
            </a:r>
          </a:p>
          <a:p>
            <a:pPr marL="914400" lvl="1" indent="-457200">
              <a:lnSpc>
                <a:spcPct val="150000"/>
              </a:lnSpc>
              <a:spcBef>
                <a:spcPts val="1200"/>
              </a:spcBef>
              <a:buFont typeface="Arial" panose="020B0604020202020204" pitchFamily="34" charset="0"/>
              <a:buChar char="•"/>
            </a:pPr>
            <a:r>
              <a:rPr lang="zh-CN" altLang="en-US" b="1" dirty="0">
                <a:latin typeface="Microsoft YaHei" panose="020B0503020204020204" pitchFamily="34" charset="-122"/>
                <a:ea typeface="Microsoft YaHei" panose="020B0503020204020204" pitchFamily="34" charset="-122"/>
              </a:rPr>
              <a:t>实义词表达具体的意义</a:t>
            </a:r>
            <a:r>
              <a:rPr lang="zh-CN" altLang="en-US" dirty="0">
                <a:latin typeface="Microsoft YaHei" panose="020B0503020204020204" pitchFamily="34" charset="-122"/>
                <a:ea typeface="Microsoft YaHei" panose="020B0503020204020204" pitchFamily="34" charset="-122"/>
              </a:rPr>
              <a:t>。由于实义词可以不断地增加，因此这类词又被称作开类词 </a:t>
            </a:r>
            <a:r>
              <a:rPr lang="en-US" altLang="zh-CN" dirty="0">
                <a:latin typeface="Microsoft YaHei" panose="020B0503020204020204" pitchFamily="34" charset="-122"/>
                <a:ea typeface="Microsoft YaHei" panose="020B0503020204020204" pitchFamily="34" charset="-122"/>
              </a:rPr>
              <a:t>(</a:t>
            </a:r>
            <a:r>
              <a:rPr lang="en-US" dirty="0">
                <a:latin typeface="Microsoft YaHei" panose="020B0503020204020204" pitchFamily="34" charset="-122"/>
                <a:ea typeface="Microsoft YaHei" panose="020B0503020204020204" pitchFamily="34" charset="-122"/>
              </a:rPr>
              <a:t>Open class words)。</a:t>
            </a:r>
            <a:r>
              <a:rPr lang="zh-CN" altLang="en-US" dirty="0">
                <a:latin typeface="Microsoft YaHei" panose="020B0503020204020204" pitchFamily="34" charset="-122"/>
                <a:ea typeface="Microsoft YaHei" panose="020B0503020204020204" pitchFamily="34" charset="-122"/>
              </a:rPr>
              <a:t>实义词主要包含名词、动词、形容词等。</a:t>
            </a:r>
            <a:endParaRPr lang="en-US" altLang="zh-CN" dirty="0">
              <a:latin typeface="Microsoft YaHei" panose="020B0503020204020204" pitchFamily="34" charset="-122"/>
              <a:ea typeface="Microsoft YaHei" panose="020B0503020204020204" pitchFamily="34" charset="-122"/>
            </a:endParaRPr>
          </a:p>
          <a:p>
            <a:pPr marL="914400" lvl="1" indent="-457200">
              <a:lnSpc>
                <a:spcPct val="150000"/>
              </a:lnSpc>
              <a:spcBef>
                <a:spcPts val="1200"/>
              </a:spcBef>
              <a:buFont typeface="Arial" panose="020B0604020202020204" pitchFamily="34" charset="0"/>
              <a:buChar char="•"/>
            </a:pPr>
            <a:r>
              <a:rPr lang="zh-CN" altLang="en-US" b="1" dirty="0">
                <a:latin typeface="Microsoft YaHei" panose="020B0503020204020204" pitchFamily="34" charset="-122"/>
                <a:ea typeface="Microsoft YaHei" panose="020B0503020204020204" pitchFamily="34" charset="-122"/>
              </a:rPr>
              <a:t>功能词则主要是为了满足语法功能需求</a:t>
            </a:r>
            <a:r>
              <a:rPr lang="zh-CN" altLang="en-US" dirty="0">
                <a:latin typeface="Microsoft YaHei" panose="020B0503020204020204" pitchFamily="34" charset="-122"/>
                <a:ea typeface="Microsoft YaHei" panose="020B0503020204020204" pitchFamily="34" charset="-122"/>
              </a:rPr>
              <a:t>。由于功能词相对比较稳定，一个语言中通常很少增加新的功能词，因此功能词又被称作闭类词 </a:t>
            </a:r>
            <a:r>
              <a:rPr lang="en-US" altLang="zh-CN" dirty="0">
                <a:latin typeface="Microsoft YaHei" panose="020B0503020204020204" pitchFamily="34" charset="-122"/>
                <a:ea typeface="Microsoft YaHei" panose="020B0503020204020204" pitchFamily="34" charset="-122"/>
              </a:rPr>
              <a:t>(</a:t>
            </a:r>
            <a:r>
              <a:rPr lang="en-US" dirty="0">
                <a:latin typeface="Microsoft YaHei" panose="020B0503020204020204" pitchFamily="34" charset="-122"/>
                <a:ea typeface="Microsoft YaHei" panose="020B0503020204020204" pitchFamily="34" charset="-122"/>
              </a:rPr>
              <a:t>Close Class Words)</a:t>
            </a:r>
            <a:endParaRPr lang="en-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7240152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0478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37</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806658" y="1441234"/>
            <a:ext cx="9940856" cy="511807"/>
          </a:xfrm>
          <a:prstGeom prst="rect">
            <a:avLst/>
          </a:prstGeom>
          <a:noFill/>
        </p:spPr>
        <p:txBody>
          <a:bodyPr wrap="square">
            <a:spAutoFit/>
          </a:bodyPr>
          <a:lstStyle/>
          <a:p>
            <a:pPr algn="just">
              <a:lnSpc>
                <a:spcPct val="125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名词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altLang="zh-CN" sz="2400" dirty="0">
                <a:solidFill>
                  <a:srgbClr val="0432FF"/>
                </a:solidFill>
                <a:effectLst/>
                <a:latin typeface="Microsoft YaHei" panose="020B0503020204020204" pitchFamily="34" charset="-122"/>
                <a:ea typeface="Microsoft YaHei" panose="020B0503020204020204" pitchFamily="34" charset="-122"/>
              </a:rPr>
              <a:t>Noun</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是表示</a:t>
            </a:r>
            <a:r>
              <a:rPr lang="zh-CN" altLang="en-US" sz="2400" dirty="0">
                <a:solidFill>
                  <a:srgbClr val="0432FF"/>
                </a:solidFill>
                <a:effectLst/>
                <a:latin typeface="Microsoft YaHei" panose="020B0503020204020204" pitchFamily="34" charset="-122"/>
                <a:ea typeface="Microsoft YaHei" panose="020B0503020204020204" pitchFamily="34" charset="-122"/>
              </a:rPr>
              <a:t>人、物、地点</a:t>
            </a:r>
            <a:r>
              <a:rPr lang="zh-CN" altLang="en-US" sz="2400" dirty="0">
                <a:effectLst/>
                <a:latin typeface="Microsoft YaHei" panose="020B0503020204020204" pitchFamily="34" charset="-122"/>
                <a:ea typeface="Microsoft YaHei" panose="020B0503020204020204" pitchFamily="34" charset="-122"/>
              </a:rPr>
              <a:t>以及抽象概念的一类词。</a:t>
            </a:r>
            <a:endParaRPr lang="en-US" altLang="zh-CN" sz="24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806657" y="2108031"/>
            <a:ext cx="8304811" cy="3422091"/>
          </a:xfrm>
          <a:prstGeom prst="rect">
            <a:avLst/>
          </a:prstGeom>
          <a:noFill/>
        </p:spPr>
        <p:txBody>
          <a:bodyPr wrap="square">
            <a:spAutoFit/>
          </a:bodyPr>
          <a:lstStyle/>
          <a:p>
            <a:pPr>
              <a:lnSpc>
                <a:spcPct val="150000"/>
              </a:lnSpc>
            </a:pPr>
            <a:r>
              <a:rPr lang="zh-CN" altLang="en-US" sz="2400" b="1" i="0" dirty="0">
                <a:effectLst/>
                <a:latin typeface="Microsoft YaHei" panose="020B0503020204020204" pitchFamily="34" charset="-122"/>
                <a:ea typeface="Microsoft YaHei" panose="020B0503020204020204" pitchFamily="34" charset="-122"/>
              </a:rPr>
              <a:t>例如</a:t>
            </a:r>
            <a:r>
              <a:rPr lang="zh-CN" altLang="en-US" sz="2400" b="0" i="0" dirty="0">
                <a:effectLst/>
                <a:latin typeface="Microsoft YaHei" panose="020B0503020204020204" pitchFamily="34" charset="-122"/>
                <a:ea typeface="Microsoft YaHei" panose="020B0503020204020204" pitchFamily="34" charset="-122"/>
              </a:rPr>
              <a:t>：</a:t>
            </a:r>
            <a:endParaRPr lang="en-US" altLang="zh-CN" sz="2400" b="0" i="0" dirty="0">
              <a:effectLst/>
              <a:latin typeface="Microsoft YaHei" panose="020B0503020204020204" pitchFamily="34" charset="-122"/>
              <a:ea typeface="Microsoft YaHei" panose="020B0503020204020204" pitchFamily="34" charset="-122"/>
            </a:endParaRPr>
          </a:p>
          <a:p>
            <a:pPr lvl="2">
              <a:lnSpc>
                <a:spcPct val="150000"/>
              </a:lnSpc>
            </a:pPr>
            <a:r>
              <a:rPr lang="en-US" altLang="zh-CN" sz="2400" b="0" i="0" dirty="0">
                <a:effectLst/>
                <a:latin typeface="KaiTi_GB2312" panose="02010609030101010101" pitchFamily="49" charset="-122"/>
                <a:ea typeface="KaiTi_GB2312" panose="02010609030101010101" pitchFamily="49" charset="-122"/>
              </a:rPr>
              <a:t>1</a:t>
            </a:r>
            <a:r>
              <a:rPr lang="zh-CN" altLang="en-US" sz="2400" b="0" i="0" dirty="0">
                <a:effectLst/>
                <a:latin typeface="KaiTi_GB2312" panose="02010609030101010101" pitchFamily="49" charset="-122"/>
                <a:ea typeface="KaiTi_GB2312" panose="02010609030101010101" pitchFamily="49" charset="-122"/>
              </a:rPr>
              <a:t>）</a:t>
            </a:r>
            <a:r>
              <a:rPr lang="zh-CN" altLang="en-US" sz="2400" b="0" i="0" dirty="0">
                <a:solidFill>
                  <a:srgbClr val="00B050"/>
                </a:solidFill>
                <a:effectLst/>
                <a:latin typeface="KaiTi_GB2312" panose="02010609030101010101" pitchFamily="49" charset="-122"/>
                <a:ea typeface="KaiTi_GB2312" panose="02010609030101010101" pitchFamily="49" charset="-122"/>
              </a:rPr>
              <a:t>专有名词</a:t>
            </a:r>
            <a:r>
              <a:rPr lang="zh-CN" altLang="en-US" sz="2400" b="0" i="0" dirty="0">
                <a:effectLst/>
                <a:latin typeface="KaiTi_GB2312" panose="02010609030101010101" pitchFamily="49" charset="-122"/>
                <a:ea typeface="KaiTi_GB2312" panose="02010609030101010101" pitchFamily="49" charset="-122"/>
              </a:rPr>
              <a:t>：</a:t>
            </a:r>
            <a:r>
              <a:rPr lang="en-US" sz="2400" b="0" i="0" dirty="0">
                <a:effectLst/>
                <a:latin typeface="KaiTi_GB2312" panose="02010609030101010101" pitchFamily="49" charset="-122"/>
                <a:ea typeface="KaiTi_GB2312" panose="02010609030101010101" pitchFamily="49" charset="-122"/>
              </a:rPr>
              <a:t>Shanghai（</a:t>
            </a:r>
            <a:r>
              <a:rPr lang="zh-CN" altLang="en-US" sz="2400" b="0" i="0" dirty="0">
                <a:effectLst/>
                <a:latin typeface="KaiTi_GB2312" panose="02010609030101010101" pitchFamily="49" charset="-122"/>
                <a:ea typeface="KaiTi_GB2312" panose="02010609030101010101" pitchFamily="49" charset="-122"/>
              </a:rPr>
              <a:t>上海）</a:t>
            </a:r>
            <a:r>
              <a:rPr lang="en-US" sz="2400" b="0" i="0" dirty="0">
                <a:effectLst/>
                <a:latin typeface="KaiTi_GB2312" panose="02010609030101010101" pitchFamily="49" charset="-122"/>
                <a:ea typeface="KaiTi_GB2312" panose="02010609030101010101" pitchFamily="49" charset="-122"/>
              </a:rPr>
              <a:t>New York（</a:t>
            </a:r>
            <a:r>
              <a:rPr lang="zh-CN" altLang="en-US" sz="2400" b="0" i="0" dirty="0">
                <a:effectLst/>
                <a:latin typeface="KaiTi_GB2312" panose="02010609030101010101" pitchFamily="49" charset="-122"/>
                <a:ea typeface="KaiTi_GB2312" panose="02010609030101010101" pitchFamily="49" charset="-122"/>
              </a:rPr>
              <a:t>纽约）</a:t>
            </a:r>
            <a:br>
              <a:rPr lang="zh-CN" altLang="en-US" sz="2400" dirty="0">
                <a:latin typeface="KaiTi_GB2312" panose="02010609030101010101" pitchFamily="49" charset="-122"/>
                <a:ea typeface="KaiTi_GB2312" panose="02010609030101010101" pitchFamily="49" charset="-122"/>
              </a:rPr>
            </a:br>
            <a:r>
              <a:rPr lang="en-US" altLang="zh-CN" sz="2400" b="0" i="0" dirty="0">
                <a:effectLst/>
                <a:latin typeface="KaiTi_GB2312" panose="02010609030101010101" pitchFamily="49" charset="-122"/>
                <a:ea typeface="KaiTi_GB2312" panose="02010609030101010101" pitchFamily="49" charset="-122"/>
              </a:rPr>
              <a:t>2</a:t>
            </a:r>
            <a:r>
              <a:rPr lang="zh-CN" altLang="en-US" sz="2400" b="0" i="0" dirty="0">
                <a:effectLst/>
                <a:latin typeface="KaiTi_GB2312" panose="02010609030101010101" pitchFamily="49" charset="-122"/>
                <a:ea typeface="KaiTi_GB2312" panose="02010609030101010101" pitchFamily="49" charset="-122"/>
              </a:rPr>
              <a:t>）</a:t>
            </a:r>
            <a:r>
              <a:rPr lang="zh-CN" altLang="en-US" sz="2400" b="0" i="0" dirty="0">
                <a:solidFill>
                  <a:srgbClr val="00B050"/>
                </a:solidFill>
                <a:effectLst/>
                <a:latin typeface="KaiTi_GB2312" panose="02010609030101010101" pitchFamily="49" charset="-122"/>
                <a:ea typeface="KaiTi_GB2312" panose="02010609030101010101" pitchFamily="49" charset="-122"/>
              </a:rPr>
              <a:t>类名词</a:t>
            </a:r>
            <a:r>
              <a:rPr lang="zh-CN" altLang="en-US" sz="2400" b="0" i="0" dirty="0">
                <a:effectLst/>
                <a:latin typeface="KaiTi_GB2312" panose="02010609030101010101" pitchFamily="49" charset="-122"/>
                <a:ea typeface="KaiTi_GB2312" panose="02010609030101010101" pitchFamily="49" charset="-122"/>
              </a:rPr>
              <a:t>：</a:t>
            </a:r>
            <a:r>
              <a:rPr lang="en-US" sz="2400" b="0" i="0" dirty="0">
                <a:effectLst/>
                <a:latin typeface="KaiTi_GB2312" panose="02010609030101010101" pitchFamily="49" charset="-122"/>
                <a:ea typeface="KaiTi_GB2312" panose="02010609030101010101" pitchFamily="49" charset="-122"/>
              </a:rPr>
              <a:t>city（</a:t>
            </a:r>
            <a:r>
              <a:rPr lang="zh-CN" altLang="en-US" sz="2400" b="0" i="0" dirty="0">
                <a:effectLst/>
                <a:latin typeface="KaiTi_GB2312" panose="02010609030101010101" pitchFamily="49" charset="-122"/>
                <a:ea typeface="KaiTi_GB2312" panose="02010609030101010101" pitchFamily="49" charset="-122"/>
              </a:rPr>
              <a:t>城市）</a:t>
            </a:r>
            <a:r>
              <a:rPr lang="en-US" sz="2400" b="0" i="0" dirty="0">
                <a:effectLst/>
                <a:latin typeface="KaiTi_GB2312" panose="02010609030101010101" pitchFamily="49" charset="-122"/>
                <a:ea typeface="KaiTi_GB2312" panose="02010609030101010101" pitchFamily="49" charset="-122"/>
              </a:rPr>
              <a:t>bird（</a:t>
            </a:r>
            <a:r>
              <a:rPr lang="zh-CN" altLang="en-US" sz="2400" b="0" i="0" dirty="0">
                <a:effectLst/>
                <a:latin typeface="KaiTi_GB2312" panose="02010609030101010101" pitchFamily="49" charset="-122"/>
                <a:ea typeface="KaiTi_GB2312" panose="02010609030101010101" pitchFamily="49" charset="-122"/>
              </a:rPr>
              <a:t>鸟）</a:t>
            </a:r>
            <a:br>
              <a:rPr lang="zh-CN" altLang="en-US" sz="2400" dirty="0">
                <a:latin typeface="KaiTi_GB2312" panose="02010609030101010101" pitchFamily="49" charset="-122"/>
                <a:ea typeface="KaiTi_GB2312" panose="02010609030101010101" pitchFamily="49" charset="-122"/>
              </a:rPr>
            </a:br>
            <a:r>
              <a:rPr lang="en-US" altLang="zh-CN" sz="2400" b="0" i="0" dirty="0">
                <a:effectLst/>
                <a:latin typeface="KaiTi_GB2312" panose="02010609030101010101" pitchFamily="49" charset="-122"/>
                <a:ea typeface="KaiTi_GB2312" panose="02010609030101010101" pitchFamily="49" charset="-122"/>
              </a:rPr>
              <a:t>3</a:t>
            </a:r>
            <a:r>
              <a:rPr lang="zh-CN" altLang="en-US" sz="2400" b="0" i="0" dirty="0">
                <a:effectLst/>
                <a:latin typeface="KaiTi_GB2312" panose="02010609030101010101" pitchFamily="49" charset="-122"/>
                <a:ea typeface="KaiTi_GB2312" panose="02010609030101010101" pitchFamily="49" charset="-122"/>
              </a:rPr>
              <a:t>）</a:t>
            </a:r>
            <a:r>
              <a:rPr lang="zh-CN" altLang="en-US" sz="2400" b="0" i="0" dirty="0">
                <a:solidFill>
                  <a:srgbClr val="00B050"/>
                </a:solidFill>
                <a:effectLst/>
                <a:latin typeface="KaiTi_GB2312" panose="02010609030101010101" pitchFamily="49" charset="-122"/>
                <a:ea typeface="KaiTi_GB2312" panose="02010609030101010101" pitchFamily="49" charset="-122"/>
              </a:rPr>
              <a:t>集体名词</a:t>
            </a:r>
            <a:r>
              <a:rPr lang="zh-CN" altLang="en-US" sz="2400" b="0" i="0" dirty="0">
                <a:effectLst/>
                <a:latin typeface="KaiTi_GB2312" panose="02010609030101010101" pitchFamily="49" charset="-122"/>
                <a:ea typeface="KaiTi_GB2312" panose="02010609030101010101" pitchFamily="49" charset="-122"/>
              </a:rPr>
              <a:t>：</a:t>
            </a:r>
            <a:r>
              <a:rPr lang="en-US" sz="2400" b="0" i="0" dirty="0">
                <a:effectLst/>
                <a:latin typeface="KaiTi_GB2312" panose="02010609030101010101" pitchFamily="49" charset="-122"/>
                <a:ea typeface="KaiTi_GB2312" panose="02010609030101010101" pitchFamily="49" charset="-122"/>
              </a:rPr>
              <a:t>family（</a:t>
            </a:r>
            <a:r>
              <a:rPr lang="zh-CN" altLang="en-US" sz="2400" b="0" i="0" dirty="0">
                <a:effectLst/>
                <a:latin typeface="KaiTi_GB2312" panose="02010609030101010101" pitchFamily="49" charset="-122"/>
                <a:ea typeface="KaiTi_GB2312" panose="02010609030101010101" pitchFamily="49" charset="-122"/>
              </a:rPr>
              <a:t>家庭）</a:t>
            </a:r>
            <a:r>
              <a:rPr lang="en-US" sz="2400" b="0" i="0" dirty="0">
                <a:effectLst/>
                <a:latin typeface="KaiTi_GB2312" panose="02010609030101010101" pitchFamily="49" charset="-122"/>
                <a:ea typeface="KaiTi_GB2312" panose="02010609030101010101" pitchFamily="49" charset="-122"/>
              </a:rPr>
              <a:t>army（</a:t>
            </a:r>
            <a:r>
              <a:rPr lang="zh-CN" altLang="en-US" sz="2400" b="0" i="0" dirty="0">
                <a:effectLst/>
                <a:latin typeface="KaiTi_GB2312" panose="02010609030101010101" pitchFamily="49" charset="-122"/>
                <a:ea typeface="KaiTi_GB2312" panose="02010609030101010101" pitchFamily="49" charset="-122"/>
              </a:rPr>
              <a:t>军队）</a:t>
            </a:r>
            <a:br>
              <a:rPr lang="zh-CN" altLang="en-US" sz="2400" dirty="0">
                <a:latin typeface="KaiTi_GB2312" panose="02010609030101010101" pitchFamily="49" charset="-122"/>
                <a:ea typeface="KaiTi_GB2312" panose="02010609030101010101" pitchFamily="49" charset="-122"/>
              </a:rPr>
            </a:br>
            <a:r>
              <a:rPr lang="en-US" altLang="zh-CN" sz="2400" b="0" i="0" dirty="0">
                <a:effectLst/>
                <a:latin typeface="KaiTi_GB2312" panose="02010609030101010101" pitchFamily="49" charset="-122"/>
                <a:ea typeface="KaiTi_GB2312" panose="02010609030101010101" pitchFamily="49" charset="-122"/>
              </a:rPr>
              <a:t>4</a:t>
            </a:r>
            <a:r>
              <a:rPr lang="zh-CN" altLang="en-US" sz="2400" b="0" i="0" dirty="0">
                <a:effectLst/>
                <a:latin typeface="KaiTi_GB2312" panose="02010609030101010101" pitchFamily="49" charset="-122"/>
                <a:ea typeface="KaiTi_GB2312" panose="02010609030101010101" pitchFamily="49" charset="-122"/>
              </a:rPr>
              <a:t>）</a:t>
            </a:r>
            <a:r>
              <a:rPr lang="zh-CN" altLang="en-US" sz="2400" b="0" i="0" dirty="0">
                <a:solidFill>
                  <a:srgbClr val="00B050"/>
                </a:solidFill>
                <a:effectLst/>
                <a:latin typeface="KaiTi_GB2312" panose="02010609030101010101" pitchFamily="49" charset="-122"/>
                <a:ea typeface="KaiTi_GB2312" panose="02010609030101010101" pitchFamily="49" charset="-122"/>
              </a:rPr>
              <a:t>物质名词</a:t>
            </a:r>
            <a:r>
              <a:rPr lang="zh-CN" altLang="en-US" sz="2400" b="0" i="0" dirty="0">
                <a:effectLst/>
                <a:latin typeface="KaiTi_GB2312" panose="02010609030101010101" pitchFamily="49" charset="-122"/>
                <a:ea typeface="KaiTi_GB2312" panose="02010609030101010101" pitchFamily="49" charset="-122"/>
              </a:rPr>
              <a:t>：</a:t>
            </a:r>
            <a:r>
              <a:rPr lang="en-US" sz="2400" b="0" i="0" dirty="0">
                <a:effectLst/>
                <a:latin typeface="KaiTi_GB2312" panose="02010609030101010101" pitchFamily="49" charset="-122"/>
                <a:ea typeface="KaiTi_GB2312" panose="02010609030101010101" pitchFamily="49" charset="-122"/>
              </a:rPr>
              <a:t>water（</a:t>
            </a:r>
            <a:r>
              <a:rPr lang="zh-CN" altLang="en-US" sz="2400" b="0" i="0" dirty="0">
                <a:effectLst/>
                <a:latin typeface="KaiTi_GB2312" panose="02010609030101010101" pitchFamily="49" charset="-122"/>
                <a:ea typeface="KaiTi_GB2312" panose="02010609030101010101" pitchFamily="49" charset="-122"/>
              </a:rPr>
              <a:t>水）</a:t>
            </a:r>
            <a:r>
              <a:rPr lang="en-US" sz="2400" b="0" i="0" dirty="0">
                <a:effectLst/>
                <a:latin typeface="KaiTi_GB2312" panose="02010609030101010101" pitchFamily="49" charset="-122"/>
                <a:ea typeface="KaiTi_GB2312" panose="02010609030101010101" pitchFamily="49" charset="-122"/>
              </a:rPr>
              <a:t>light（</a:t>
            </a:r>
            <a:r>
              <a:rPr lang="zh-CN" altLang="en-US" sz="2400" b="0" i="0" dirty="0">
                <a:effectLst/>
                <a:latin typeface="KaiTi_GB2312" panose="02010609030101010101" pitchFamily="49" charset="-122"/>
                <a:ea typeface="KaiTi_GB2312" panose="02010609030101010101" pitchFamily="49" charset="-122"/>
              </a:rPr>
              <a:t>光）</a:t>
            </a:r>
            <a:br>
              <a:rPr lang="zh-CN" altLang="en-US" sz="2400" dirty="0">
                <a:latin typeface="KaiTi_GB2312" panose="02010609030101010101" pitchFamily="49" charset="-122"/>
                <a:ea typeface="KaiTi_GB2312" panose="02010609030101010101" pitchFamily="49" charset="-122"/>
              </a:rPr>
            </a:br>
            <a:r>
              <a:rPr lang="en-US" altLang="zh-CN" sz="2400" b="0" i="0" dirty="0">
                <a:effectLst/>
                <a:latin typeface="KaiTi_GB2312" panose="02010609030101010101" pitchFamily="49" charset="-122"/>
                <a:ea typeface="KaiTi_GB2312" panose="02010609030101010101" pitchFamily="49" charset="-122"/>
              </a:rPr>
              <a:t>5</a:t>
            </a:r>
            <a:r>
              <a:rPr lang="zh-CN" altLang="en-US" sz="2400" b="0" i="0" dirty="0">
                <a:effectLst/>
                <a:latin typeface="KaiTi_GB2312" panose="02010609030101010101" pitchFamily="49" charset="-122"/>
                <a:ea typeface="KaiTi_GB2312" panose="02010609030101010101" pitchFamily="49" charset="-122"/>
              </a:rPr>
              <a:t>）</a:t>
            </a:r>
            <a:r>
              <a:rPr lang="zh-CN" altLang="en-US" sz="2400" b="0" i="0" dirty="0">
                <a:solidFill>
                  <a:srgbClr val="00B050"/>
                </a:solidFill>
                <a:effectLst/>
                <a:latin typeface="KaiTi_GB2312" panose="02010609030101010101" pitchFamily="49" charset="-122"/>
                <a:ea typeface="KaiTi_GB2312" panose="02010609030101010101" pitchFamily="49" charset="-122"/>
              </a:rPr>
              <a:t>抽象名词</a:t>
            </a:r>
            <a:r>
              <a:rPr lang="zh-CN" altLang="en-US" sz="2400" b="0" i="0" dirty="0">
                <a:effectLst/>
                <a:latin typeface="KaiTi_GB2312" panose="02010609030101010101" pitchFamily="49" charset="-122"/>
                <a:ea typeface="KaiTi_GB2312" panose="02010609030101010101" pitchFamily="49" charset="-122"/>
              </a:rPr>
              <a:t>：</a:t>
            </a:r>
            <a:r>
              <a:rPr lang="en-US" sz="2400" b="0" i="0" dirty="0">
                <a:effectLst/>
                <a:latin typeface="KaiTi_GB2312" panose="02010609030101010101" pitchFamily="49" charset="-122"/>
                <a:ea typeface="KaiTi_GB2312" panose="02010609030101010101" pitchFamily="49" charset="-122"/>
              </a:rPr>
              <a:t>music（</a:t>
            </a:r>
            <a:r>
              <a:rPr lang="zh-CN" altLang="en-US" sz="2400" b="0" i="0" dirty="0">
                <a:effectLst/>
                <a:latin typeface="KaiTi_GB2312" panose="02010609030101010101" pitchFamily="49" charset="-122"/>
                <a:ea typeface="KaiTi_GB2312" panose="02010609030101010101" pitchFamily="49" charset="-122"/>
              </a:rPr>
              <a:t>音乐）</a:t>
            </a:r>
            <a:r>
              <a:rPr lang="en-US" sz="2400" b="0" i="0" dirty="0">
                <a:effectLst/>
                <a:latin typeface="KaiTi_GB2312" panose="02010609030101010101" pitchFamily="49" charset="-122"/>
                <a:ea typeface="KaiTi_GB2312" panose="02010609030101010101" pitchFamily="49" charset="-122"/>
              </a:rPr>
              <a:t>honesty（</a:t>
            </a:r>
            <a:r>
              <a:rPr lang="zh-CN" altLang="en-US" sz="2400" b="0" i="0" dirty="0">
                <a:effectLst/>
                <a:latin typeface="KaiTi_GB2312" panose="02010609030101010101" pitchFamily="49" charset="-122"/>
                <a:ea typeface="KaiTi_GB2312" panose="02010609030101010101" pitchFamily="49" charset="-122"/>
              </a:rPr>
              <a:t>诚实）</a:t>
            </a:r>
            <a:endParaRPr lang="en-CN" sz="2400" dirty="0">
              <a:latin typeface="KaiTi_GB2312" panose="02010609030101010101" pitchFamily="49" charset="-122"/>
              <a:ea typeface="KaiTi_GB2312" panose="02010609030101010101" pitchFamily="49" charset="-122"/>
            </a:endParaRPr>
          </a:p>
        </p:txBody>
      </p:sp>
    </p:spTree>
    <p:extLst>
      <p:ext uri="{BB962C8B-B14F-4D97-AF65-F5344CB8AC3E}">
        <p14:creationId xmlns:p14="http://schemas.microsoft.com/office/powerpoint/2010/main" val="30864838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1804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38</a:t>
            </a:fld>
            <a:endParaRPr lang="zh-CN" altLang="en-US" dirty="0"/>
          </a:p>
        </p:txBody>
      </p:sp>
      <p:sp>
        <p:nvSpPr>
          <p:cNvPr id="4" name="TextBox 3">
            <a:extLst>
              <a:ext uri="{FF2B5EF4-FFF2-40B4-BE49-F238E27FC236}">
                <a16:creationId xmlns:a16="http://schemas.microsoft.com/office/drawing/2014/main" id="{60C71DE8-6C95-AC96-587D-EC37D6C8F388}"/>
              </a:ext>
            </a:extLst>
          </p:cNvPr>
          <p:cNvSpPr txBox="1"/>
          <p:nvPr/>
        </p:nvSpPr>
        <p:spPr>
          <a:xfrm>
            <a:off x="382587" y="1273657"/>
            <a:ext cx="11195049" cy="511807"/>
          </a:xfrm>
          <a:prstGeom prst="rect">
            <a:avLst/>
          </a:prstGeom>
          <a:noFill/>
        </p:spPr>
        <p:txBody>
          <a:bodyPr wrap="square">
            <a:spAutoFit/>
          </a:bodyPr>
          <a:lstStyle/>
          <a:p>
            <a:pPr algn="just">
              <a:lnSpc>
                <a:spcPct val="125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动词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altLang="zh-CN" sz="2400" dirty="0">
                <a:solidFill>
                  <a:srgbClr val="0432FF"/>
                </a:solidFill>
                <a:effectLst/>
                <a:latin typeface="Microsoft YaHei" panose="020B0503020204020204" pitchFamily="34" charset="-122"/>
                <a:ea typeface="Microsoft YaHei" panose="020B0503020204020204" pitchFamily="34" charset="-122"/>
              </a:rPr>
              <a:t>Verb</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是表示动作或状态的一类词，是英语中最复杂的一类词。</a:t>
            </a:r>
            <a:endParaRPr lang="en-US" altLang="zh-CN" sz="24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382587" y="1853697"/>
            <a:ext cx="11431588" cy="4437753"/>
          </a:xfrm>
          <a:prstGeom prst="rect">
            <a:avLst/>
          </a:prstGeom>
          <a:noFill/>
        </p:spPr>
        <p:txBody>
          <a:bodyPr wrap="square">
            <a:spAutoFit/>
          </a:bodyPr>
          <a:lstStyle/>
          <a:p>
            <a:pPr>
              <a:lnSpc>
                <a:spcPct val="150000"/>
              </a:lnSpc>
            </a:pPr>
            <a:r>
              <a:rPr lang="zh-CN" altLang="en-US" sz="2400" b="1" i="0" dirty="0">
                <a:effectLst/>
                <a:latin typeface="Microsoft YaHei" panose="020B0503020204020204" pitchFamily="34" charset="-122"/>
                <a:ea typeface="Microsoft YaHei" panose="020B0503020204020204" pitchFamily="34" charset="-122"/>
              </a:rPr>
              <a:t>例如</a:t>
            </a:r>
            <a:r>
              <a:rPr lang="zh-CN" altLang="en-US" sz="2400" b="0" i="0" dirty="0">
                <a:effectLst/>
                <a:latin typeface="Microsoft YaHei" panose="020B0503020204020204" pitchFamily="34" charset="-122"/>
                <a:ea typeface="Microsoft YaHei" panose="020B0503020204020204" pitchFamily="34" charset="-122"/>
              </a:rPr>
              <a:t>：</a:t>
            </a:r>
            <a:endParaRPr lang="en-US" altLang="zh-CN" sz="2400" b="0" i="0" dirty="0">
              <a:effectLst/>
              <a:latin typeface="Microsoft YaHei" panose="020B0503020204020204" pitchFamily="34" charset="-122"/>
              <a:ea typeface="Microsoft YaHei" panose="020B0503020204020204" pitchFamily="34" charset="-122"/>
            </a:endParaRPr>
          </a:p>
          <a:p>
            <a:pPr lvl="2">
              <a:lnSpc>
                <a:spcPct val="150000"/>
              </a:lnSpc>
            </a:pPr>
            <a:r>
              <a:rPr lang="en-US" altLang="zh-CN" sz="2400" b="0" i="0" dirty="0">
                <a:effectLst/>
                <a:latin typeface="KaiTi_GB2312" panose="02010609030101010101" pitchFamily="49" charset="-122"/>
                <a:ea typeface="KaiTi_GB2312" panose="02010609030101010101" pitchFamily="49" charset="-122"/>
              </a:rPr>
              <a:t>1) Boys fly kites. </a:t>
            </a:r>
            <a:r>
              <a:rPr lang="zh-CN" altLang="en-US" sz="2400" b="0" i="0" dirty="0">
                <a:effectLst/>
                <a:latin typeface="KaiTi_GB2312" panose="02010609030101010101" pitchFamily="49" charset="-122"/>
                <a:ea typeface="KaiTi_GB2312" panose="02010609030101010101" pitchFamily="49" charset="-122"/>
              </a:rPr>
              <a:t>（男孩们放风筝）</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2</a:t>
            </a:r>
            <a:r>
              <a:rPr lang="zh-CN" altLang="en-US" sz="2400" b="0" i="0" dirty="0">
                <a:effectLst/>
                <a:latin typeface="KaiTi_GB2312" panose="02010609030101010101" pitchFamily="49" charset="-122"/>
                <a:ea typeface="KaiTi_GB2312" panose="02010609030101010101" pitchFamily="49" charset="-122"/>
              </a:rPr>
              <a:t>）不及物动词：</a:t>
            </a:r>
            <a:r>
              <a:rPr lang="en-US" altLang="zh-CN" sz="2400" b="0" i="0" dirty="0">
                <a:effectLst/>
                <a:latin typeface="KaiTi_GB2312" panose="02010609030101010101" pitchFamily="49" charset="-122"/>
                <a:ea typeface="KaiTi_GB2312" panose="02010609030101010101" pitchFamily="49" charset="-122"/>
              </a:rPr>
              <a:t>Birds fly. </a:t>
            </a:r>
            <a:r>
              <a:rPr lang="zh-CN" altLang="en-US" sz="2400" b="0" i="0" dirty="0">
                <a:effectLst/>
                <a:latin typeface="KaiTi_GB2312" panose="02010609030101010101" pitchFamily="49" charset="-122"/>
                <a:ea typeface="KaiTi_GB2312" panose="02010609030101010101" pitchFamily="49" charset="-122"/>
              </a:rPr>
              <a:t>（鸟会飞）</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3</a:t>
            </a:r>
            <a:r>
              <a:rPr lang="zh-CN" altLang="en-US" sz="2400" b="0" i="0" dirty="0">
                <a:effectLst/>
                <a:latin typeface="KaiTi_GB2312" panose="02010609030101010101" pitchFamily="49" charset="-122"/>
                <a:ea typeface="KaiTi_GB2312" panose="02010609030101010101" pitchFamily="49" charset="-122"/>
              </a:rPr>
              <a:t>）连系动词：</a:t>
            </a:r>
            <a:r>
              <a:rPr lang="en-US" altLang="zh-CN" sz="2400" b="0" i="0" dirty="0">
                <a:effectLst/>
                <a:latin typeface="KaiTi_GB2312" panose="02010609030101010101" pitchFamily="49" charset="-122"/>
                <a:ea typeface="KaiTi_GB2312" panose="02010609030101010101" pitchFamily="49" charset="-122"/>
              </a:rPr>
              <a:t>The rose smells sweet. </a:t>
            </a:r>
            <a:r>
              <a:rPr lang="zh-CN" altLang="en-US" sz="2400" b="0" i="0" dirty="0">
                <a:effectLst/>
                <a:latin typeface="KaiTi_GB2312" panose="02010609030101010101" pitchFamily="49" charset="-122"/>
                <a:ea typeface="KaiTi_GB2312" panose="02010609030101010101" pitchFamily="49" charset="-122"/>
              </a:rPr>
              <a:t>（玫瑰花香）</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4</a:t>
            </a:r>
            <a:r>
              <a:rPr lang="zh-CN" altLang="en-US" sz="2400" b="0" i="0" dirty="0">
                <a:effectLst/>
                <a:latin typeface="KaiTi_GB2312" panose="02010609030101010101" pitchFamily="49" charset="-122"/>
                <a:ea typeface="KaiTi_GB2312" panose="02010609030101010101" pitchFamily="49" charset="-122"/>
              </a:rPr>
              <a:t>）助动词：</a:t>
            </a:r>
            <a:r>
              <a:rPr lang="en-US" altLang="zh-CN" sz="2400" b="0" i="0" dirty="0">
                <a:effectLst/>
                <a:latin typeface="KaiTi_GB2312" panose="02010609030101010101" pitchFamily="49" charset="-122"/>
                <a:ea typeface="KaiTi_GB2312" panose="02010609030101010101" pitchFamily="49" charset="-122"/>
              </a:rPr>
              <a:t>I may have meet him before.</a:t>
            </a:r>
            <a:r>
              <a:rPr lang="zh-CN" altLang="en-US" sz="2400" b="0" i="0" dirty="0">
                <a:effectLst/>
                <a:latin typeface="KaiTi_GB2312" panose="02010609030101010101" pitchFamily="49" charset="-122"/>
                <a:ea typeface="KaiTi_GB2312" panose="02010609030101010101" pitchFamily="49" charset="-122"/>
              </a:rPr>
              <a:t>（我以前应该见过他）</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5</a:t>
            </a:r>
            <a:r>
              <a:rPr lang="zh-CN" altLang="en-US" sz="2400" b="0" i="0" dirty="0">
                <a:effectLst/>
                <a:latin typeface="KaiTi_GB2312" panose="02010609030101010101" pitchFamily="49" charset="-122"/>
                <a:ea typeface="KaiTi_GB2312" panose="02010609030101010101" pitchFamily="49" charset="-122"/>
              </a:rPr>
              <a:t>）限定动词：</a:t>
            </a:r>
            <a:r>
              <a:rPr lang="en-US" altLang="zh-CN" sz="2400" b="0" i="0" dirty="0">
                <a:effectLst/>
                <a:latin typeface="KaiTi_GB2312" panose="02010609030101010101" pitchFamily="49" charset="-122"/>
                <a:ea typeface="KaiTi_GB2312" panose="02010609030101010101" pitchFamily="49" charset="-122"/>
              </a:rPr>
              <a:t>John reads papers every day. </a:t>
            </a:r>
            <a:r>
              <a:rPr lang="zh-CN" altLang="en-US" sz="2400" b="0" i="0" dirty="0">
                <a:effectLst/>
                <a:latin typeface="KaiTi_GB2312" panose="02010609030101010101" pitchFamily="49" charset="-122"/>
                <a:ea typeface="KaiTi_GB2312" panose="02010609030101010101" pitchFamily="49" charset="-122"/>
              </a:rPr>
              <a:t>（约翰每天都读论文）</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6</a:t>
            </a:r>
            <a:r>
              <a:rPr lang="zh-CN" altLang="en-US" sz="2400" b="0" i="0" dirty="0">
                <a:effectLst/>
                <a:latin typeface="KaiTi_GB2312" panose="02010609030101010101" pitchFamily="49" charset="-122"/>
                <a:ea typeface="KaiTi_GB2312" panose="02010609030101010101" pitchFamily="49" charset="-122"/>
              </a:rPr>
              <a:t>）不限定动词：</a:t>
            </a:r>
            <a:r>
              <a:rPr lang="en-US" altLang="zh-CN" sz="2400" b="0" i="0" dirty="0">
                <a:effectLst/>
                <a:latin typeface="KaiTi_GB2312" panose="02010609030101010101" pitchFamily="49" charset="-122"/>
                <a:ea typeface="KaiTi_GB2312" panose="02010609030101010101" pitchFamily="49" charset="-122"/>
              </a:rPr>
              <a:t>I hope to see you this morning.</a:t>
            </a:r>
            <a:r>
              <a:rPr lang="zh-CN" altLang="en-US" sz="2400" b="0" i="0" dirty="0">
                <a:effectLst/>
                <a:latin typeface="KaiTi_GB2312" panose="02010609030101010101" pitchFamily="49" charset="-122"/>
                <a:ea typeface="KaiTi_GB2312" panose="02010609030101010101" pitchFamily="49" charset="-122"/>
              </a:rPr>
              <a:t>（我希望早上见到你）</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7</a:t>
            </a:r>
            <a:r>
              <a:rPr lang="zh-CN" altLang="en-US" sz="2400" b="0" i="0" dirty="0">
                <a:effectLst/>
                <a:latin typeface="KaiTi_GB2312" panose="02010609030101010101" pitchFamily="49" charset="-122"/>
                <a:ea typeface="KaiTi_GB2312" panose="02010609030101010101" pitchFamily="49" charset="-122"/>
              </a:rPr>
              <a:t>）短语动词：</a:t>
            </a:r>
            <a:r>
              <a:rPr lang="en-US" altLang="zh-CN" sz="2400" b="0" i="0" dirty="0">
                <a:effectLst/>
                <a:latin typeface="KaiTi_GB2312" panose="02010609030101010101" pitchFamily="49" charset="-122"/>
                <a:ea typeface="KaiTi_GB2312" panose="02010609030101010101" pitchFamily="49" charset="-122"/>
              </a:rPr>
              <a:t>Tom called up George. (</a:t>
            </a:r>
            <a:r>
              <a:rPr lang="zh-CN" altLang="en-US" sz="2400" b="0" i="0" dirty="0">
                <a:effectLst/>
                <a:latin typeface="KaiTi_GB2312" panose="02010609030101010101" pitchFamily="49" charset="-122"/>
                <a:ea typeface="KaiTi_GB2312" panose="02010609030101010101" pitchFamily="49" charset="-122"/>
              </a:rPr>
              <a:t>汤姆给乔治打了电话</a:t>
            </a:r>
            <a:r>
              <a:rPr lang="en-US" altLang="zh-CN" sz="2400" b="0" i="0" dirty="0">
                <a:effectLst/>
                <a:latin typeface="KaiTi_GB2312" panose="02010609030101010101" pitchFamily="49" charset="-122"/>
                <a:ea typeface="KaiTi_GB2312" panose="02010609030101010101" pitchFamily="49" charset="-122"/>
              </a:rPr>
              <a:t>)</a:t>
            </a:r>
            <a:endParaRPr lang="en-CN" sz="2400" dirty="0">
              <a:latin typeface="KaiTi_GB2312" panose="02010609030101010101" pitchFamily="49" charset="-122"/>
              <a:ea typeface="KaiTi_GB2312" panose="02010609030101010101" pitchFamily="49" charset="-122"/>
            </a:endParaRPr>
          </a:p>
        </p:txBody>
      </p:sp>
    </p:spTree>
    <p:extLst>
      <p:ext uri="{BB962C8B-B14F-4D97-AF65-F5344CB8AC3E}">
        <p14:creationId xmlns:p14="http://schemas.microsoft.com/office/powerpoint/2010/main" val="23350288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9657797"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39</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382587" y="1189443"/>
            <a:ext cx="11195049" cy="581698"/>
          </a:xfrm>
          <a:prstGeom prst="rect">
            <a:avLst/>
          </a:prstGeom>
          <a:noFill/>
        </p:spPr>
        <p:txBody>
          <a:bodyPr wrap="square">
            <a:spAutoFit/>
          </a:bodyPr>
          <a:lstStyle/>
          <a:p>
            <a:pPr algn="just">
              <a:lnSpc>
                <a:spcPct val="125000"/>
              </a:lnSpc>
            </a:pPr>
            <a:r>
              <a:rPr lang="zh-CN" altLang="en-US" sz="2800" b="1" dirty="0">
                <a:solidFill>
                  <a:srgbClr val="0432FF"/>
                </a:solidFill>
                <a:effectLst/>
                <a:latin typeface="Microsoft YaHei" panose="020B0503020204020204" pitchFamily="34" charset="-122"/>
                <a:ea typeface="Microsoft YaHei" panose="020B0503020204020204" pitchFamily="34" charset="-122"/>
              </a:rPr>
              <a:t>形容词</a:t>
            </a:r>
            <a:r>
              <a:rPr lang="zh-CN" altLang="en-US" sz="2800" dirty="0">
                <a:solidFill>
                  <a:srgbClr val="0432FF"/>
                </a:solidFill>
                <a:effectLst/>
                <a:latin typeface="Microsoft YaHei" panose="020B0503020204020204" pitchFamily="34" charset="-122"/>
                <a:ea typeface="Microsoft YaHei" panose="020B0503020204020204" pitchFamily="34" charset="-122"/>
              </a:rPr>
              <a:t>（</a:t>
            </a:r>
            <a:r>
              <a:rPr lang="en-US" altLang="zh-CN" sz="2800" dirty="0">
                <a:solidFill>
                  <a:srgbClr val="0432FF"/>
                </a:solidFill>
                <a:effectLst/>
                <a:latin typeface="Microsoft YaHei" panose="020B0503020204020204" pitchFamily="34" charset="-122"/>
                <a:ea typeface="Microsoft YaHei" panose="020B0503020204020204" pitchFamily="34" charset="-122"/>
              </a:rPr>
              <a:t>Adjective</a:t>
            </a:r>
            <a:r>
              <a:rPr lang="zh-CN" altLang="en-US" sz="2800" dirty="0">
                <a:solidFill>
                  <a:srgbClr val="0432FF"/>
                </a:solidFill>
                <a:effectLst/>
                <a:latin typeface="Microsoft YaHei" panose="020B0503020204020204" pitchFamily="34" charset="-122"/>
                <a:ea typeface="Microsoft YaHei" panose="020B0503020204020204" pitchFamily="34" charset="-122"/>
              </a:rPr>
              <a:t>）</a:t>
            </a:r>
            <a:r>
              <a:rPr lang="zh-CN" altLang="en-US" sz="2800" dirty="0">
                <a:effectLst/>
                <a:latin typeface="Microsoft YaHei" panose="020B0503020204020204" pitchFamily="34" charset="-122"/>
                <a:ea typeface="Microsoft YaHei" panose="020B0503020204020204" pitchFamily="34" charset="-122"/>
              </a:rPr>
              <a:t>是用来描写或修饰名词的一类词。</a:t>
            </a:r>
            <a:endParaRPr lang="en-US" altLang="zh-CN" sz="28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382587" y="1853697"/>
            <a:ext cx="11431588" cy="4160754"/>
          </a:xfrm>
          <a:prstGeom prst="rect">
            <a:avLst/>
          </a:prstGeom>
          <a:noFill/>
        </p:spPr>
        <p:txBody>
          <a:bodyPr wrap="square">
            <a:spAutoFit/>
          </a:bodyPr>
          <a:lstStyle/>
          <a:p>
            <a:pPr>
              <a:lnSpc>
                <a:spcPct val="150000"/>
              </a:lnSpc>
            </a:pPr>
            <a:r>
              <a:rPr lang="zh-CN" altLang="en-US" sz="2400" b="1" i="0" dirty="0">
                <a:effectLst/>
                <a:latin typeface="Microsoft YaHei" panose="020B0503020204020204" pitchFamily="34" charset="-122"/>
                <a:ea typeface="Microsoft YaHei" panose="020B0503020204020204" pitchFamily="34" charset="-122"/>
              </a:rPr>
              <a:t>例如</a:t>
            </a:r>
            <a:r>
              <a:rPr lang="zh-CN" altLang="en-US" sz="2400" b="0" i="0" dirty="0">
                <a:effectLst/>
                <a:latin typeface="Microsoft YaHei" panose="020B0503020204020204" pitchFamily="34" charset="-122"/>
                <a:ea typeface="Microsoft YaHei" panose="020B0503020204020204" pitchFamily="34" charset="-122"/>
              </a:rPr>
              <a:t>：</a:t>
            </a:r>
            <a:endParaRPr lang="en-US" altLang="zh-CN" sz="2400" b="0" i="0" dirty="0">
              <a:effectLst/>
              <a:latin typeface="Microsoft YaHei" panose="020B0503020204020204" pitchFamily="34" charset="-122"/>
              <a:ea typeface="Microsoft YaHei" panose="020B0503020204020204" pitchFamily="34" charset="-122"/>
            </a:endParaRPr>
          </a:p>
          <a:p>
            <a:pPr lvl="2">
              <a:lnSpc>
                <a:spcPct val="150000"/>
              </a:lnSpc>
            </a:pPr>
            <a:r>
              <a:rPr lang="en-US" altLang="zh-CN" sz="2400" b="0" i="0" dirty="0">
                <a:effectLst/>
                <a:latin typeface="KaiTi_GB2312" panose="02010609030101010101" pitchFamily="49" charset="-122"/>
                <a:ea typeface="KaiTi_GB2312" panose="02010609030101010101" pitchFamily="49" charset="-122"/>
              </a:rPr>
              <a:t>1</a:t>
            </a:r>
            <a:r>
              <a:rPr lang="zh-CN" altLang="en-US" sz="2400" b="0" i="0" dirty="0">
                <a:effectLst/>
                <a:latin typeface="KaiTi_GB2312" panose="02010609030101010101" pitchFamily="49" charset="-122"/>
                <a:ea typeface="KaiTi_GB2312" panose="02010609030101010101" pitchFamily="49" charset="-122"/>
              </a:rPr>
              <a:t>）简单形容词：</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	a) </a:t>
            </a:r>
            <a:r>
              <a:rPr lang="zh-CN" altLang="en-US" sz="2000" b="0" i="0" dirty="0">
                <a:effectLst/>
                <a:latin typeface="KaiTi_GB2312" panose="02010609030101010101" pitchFamily="49" charset="-122"/>
                <a:ea typeface="KaiTi_GB2312" panose="02010609030101010101" pitchFamily="49" charset="-122"/>
              </a:rPr>
              <a:t>由一个单词构成 </a:t>
            </a:r>
            <a:r>
              <a:rPr lang="en-US" altLang="zh-CN" sz="2000" b="0" i="0" dirty="0">
                <a:effectLst/>
                <a:latin typeface="KaiTi_GB2312" panose="02010609030101010101" pitchFamily="49" charset="-122"/>
                <a:ea typeface="KaiTi_GB2312" panose="02010609030101010101" pitchFamily="49" charset="-122"/>
              </a:rPr>
              <a:t>good</a:t>
            </a:r>
            <a:r>
              <a:rPr lang="zh-CN" altLang="en-US" sz="2000" b="0" i="0" dirty="0">
                <a:effectLst/>
                <a:latin typeface="KaiTi_GB2312" panose="02010609030101010101" pitchFamily="49" charset="-122"/>
                <a:ea typeface="KaiTi_GB2312" panose="02010609030101010101" pitchFamily="49" charset="-122"/>
              </a:rPr>
              <a:t>（好的）</a:t>
            </a:r>
            <a:r>
              <a:rPr lang="en-US" altLang="zh-CN" sz="2000" b="0" i="0" dirty="0">
                <a:effectLst/>
                <a:latin typeface="KaiTi_GB2312" panose="02010609030101010101" pitchFamily="49" charset="-122"/>
                <a:ea typeface="KaiTi_GB2312" panose="02010609030101010101" pitchFamily="49" charset="-122"/>
              </a:rPr>
              <a:t>long</a:t>
            </a:r>
            <a:r>
              <a:rPr lang="zh-CN" altLang="en-US" sz="2000" b="0" i="0" dirty="0">
                <a:effectLst/>
                <a:latin typeface="KaiTi_GB2312" panose="02010609030101010101" pitchFamily="49" charset="-122"/>
                <a:ea typeface="KaiTi_GB2312" panose="02010609030101010101" pitchFamily="49" charset="-122"/>
              </a:rPr>
              <a:t>（长的）</a:t>
            </a:r>
            <a:endParaRPr lang="en-US" altLang="zh-CN" sz="2000" b="0" i="0" dirty="0">
              <a:effectLst/>
              <a:latin typeface="KaiTi_GB2312" panose="02010609030101010101" pitchFamily="49" charset="-122"/>
              <a:ea typeface="KaiTi_GB2312" panose="02010609030101010101" pitchFamily="49" charset="-122"/>
            </a:endParaRPr>
          </a:p>
          <a:p>
            <a:pPr lvl="2">
              <a:lnSpc>
                <a:spcPct val="150000"/>
              </a:lnSpc>
            </a:pPr>
            <a:r>
              <a:rPr lang="en-US" sz="2000" b="0" i="0" dirty="0">
                <a:effectLst/>
                <a:latin typeface="Times New Roman" panose="02020603050405020304" pitchFamily="18" charset="0"/>
              </a:rPr>
              <a:t>	</a:t>
            </a:r>
            <a:r>
              <a:rPr lang="en-US" sz="2000" dirty="0">
                <a:latin typeface="KaiTi_GB2312" panose="02010609030101010101" pitchFamily="49" charset="-122"/>
                <a:ea typeface="KaiTi_GB2312" panose="02010609030101010101" pitchFamily="49" charset="-122"/>
              </a:rPr>
              <a:t>b) </a:t>
            </a:r>
            <a:r>
              <a:rPr lang="zh-CN" altLang="en-US" sz="2000" dirty="0">
                <a:latin typeface="KaiTi_GB2312" panose="02010609030101010101" pitchFamily="49" charset="-122"/>
                <a:ea typeface="KaiTi_GB2312" panose="02010609030101010101" pitchFamily="49" charset="-122"/>
              </a:rPr>
              <a:t>由现在分词构成 </a:t>
            </a:r>
            <a:r>
              <a:rPr lang="en-US" sz="2000" dirty="0">
                <a:latin typeface="KaiTi_GB2312" panose="02010609030101010101" pitchFamily="49" charset="-122"/>
                <a:ea typeface="KaiTi_GB2312" panose="02010609030101010101" pitchFamily="49" charset="-122"/>
              </a:rPr>
              <a:t>interesting（</a:t>
            </a:r>
            <a:r>
              <a:rPr lang="zh-CN" altLang="en-US" sz="2000" dirty="0">
                <a:latin typeface="KaiTi_GB2312" panose="02010609030101010101" pitchFamily="49" charset="-122"/>
                <a:ea typeface="KaiTi_GB2312" panose="02010609030101010101" pitchFamily="49" charset="-122"/>
              </a:rPr>
              <a:t>令人感兴趣的）</a:t>
            </a:r>
            <a:br>
              <a:rPr lang="zh-CN" altLang="en-US" sz="2000" dirty="0">
                <a:latin typeface="KaiTi_GB2312" panose="02010609030101010101" pitchFamily="49" charset="-122"/>
                <a:ea typeface="KaiTi_GB2312" panose="02010609030101010101" pitchFamily="49" charset="-122"/>
              </a:rPr>
            </a:br>
            <a:r>
              <a:rPr lang="en-US" altLang="zh-CN" sz="2000" dirty="0">
                <a:latin typeface="KaiTi_GB2312" panose="02010609030101010101" pitchFamily="49" charset="-122"/>
                <a:ea typeface="KaiTi_GB2312" panose="02010609030101010101" pitchFamily="49" charset="-122"/>
              </a:rPr>
              <a:t>	</a:t>
            </a:r>
            <a:r>
              <a:rPr lang="en-US" sz="2000" dirty="0">
                <a:latin typeface="KaiTi_GB2312" panose="02010609030101010101" pitchFamily="49" charset="-122"/>
                <a:ea typeface="KaiTi_GB2312" panose="02010609030101010101" pitchFamily="49" charset="-122"/>
              </a:rPr>
              <a:t>c) </a:t>
            </a:r>
            <a:r>
              <a:rPr lang="zh-CN" altLang="en-US" sz="2000" dirty="0">
                <a:latin typeface="KaiTi_GB2312" panose="02010609030101010101" pitchFamily="49" charset="-122"/>
                <a:ea typeface="KaiTi_GB2312" panose="02010609030101010101" pitchFamily="49" charset="-122"/>
              </a:rPr>
              <a:t>由过去分词构成 </a:t>
            </a:r>
            <a:r>
              <a:rPr lang="en-US" sz="2000" dirty="0">
                <a:latin typeface="KaiTi_GB2312" panose="02010609030101010101" pitchFamily="49" charset="-122"/>
                <a:ea typeface="KaiTi_GB2312" panose="02010609030101010101" pitchFamily="49" charset="-122"/>
              </a:rPr>
              <a:t>learned（</a:t>
            </a:r>
            <a:r>
              <a:rPr lang="zh-CN" altLang="en-US" sz="2000" dirty="0">
                <a:latin typeface="KaiTi_GB2312" panose="02010609030101010101" pitchFamily="49" charset="-122"/>
                <a:ea typeface="KaiTi_GB2312" panose="02010609030101010101" pitchFamily="49" charset="-122"/>
              </a:rPr>
              <a:t>博学的）</a:t>
            </a:r>
            <a:br>
              <a:rPr lang="zh-CN" altLang="en-US" sz="2400" dirty="0">
                <a:latin typeface="KaiTi_GB2312" panose="02010609030101010101" pitchFamily="49" charset="-122"/>
                <a:ea typeface="KaiTi_GB2312" panose="02010609030101010101" pitchFamily="49" charset="-122"/>
              </a:rPr>
            </a:br>
            <a:r>
              <a:rPr lang="en-US" altLang="zh-CN" sz="2400" dirty="0">
                <a:latin typeface="KaiTi_GB2312" panose="02010609030101010101" pitchFamily="49" charset="-122"/>
                <a:ea typeface="KaiTi_GB2312" panose="02010609030101010101" pitchFamily="49" charset="-122"/>
              </a:rPr>
              <a:t>2</a:t>
            </a:r>
            <a:r>
              <a:rPr lang="zh-CN" altLang="en-US" sz="2400" dirty="0">
                <a:latin typeface="KaiTi_GB2312" panose="02010609030101010101" pitchFamily="49" charset="-122"/>
                <a:ea typeface="KaiTi_GB2312" panose="02010609030101010101" pitchFamily="49" charset="-122"/>
              </a:rPr>
              <a:t>）复合形容词：</a:t>
            </a:r>
            <a:r>
              <a:rPr lang="en-US" sz="2400" dirty="0">
                <a:latin typeface="KaiTi_GB2312" panose="02010609030101010101" pitchFamily="49" charset="-122"/>
                <a:ea typeface="KaiTi_GB2312" panose="02010609030101010101" pitchFamily="49" charset="-122"/>
              </a:rPr>
              <a:t>duty-free（</a:t>
            </a:r>
            <a:r>
              <a:rPr lang="zh-CN" altLang="en-US" sz="2400" dirty="0">
                <a:latin typeface="KaiTi_GB2312" panose="02010609030101010101" pitchFamily="49" charset="-122"/>
                <a:ea typeface="KaiTi_GB2312" panose="02010609030101010101" pitchFamily="49" charset="-122"/>
              </a:rPr>
              <a:t>免税的）</a:t>
            </a:r>
            <a:r>
              <a:rPr lang="en-US" sz="2400" dirty="0">
                <a:latin typeface="KaiTi_GB2312" panose="02010609030101010101" pitchFamily="49" charset="-122"/>
                <a:ea typeface="KaiTi_GB2312" panose="02010609030101010101" pitchFamily="49" charset="-122"/>
              </a:rPr>
              <a:t>hand-made（</a:t>
            </a:r>
            <a:r>
              <a:rPr lang="zh-CN" altLang="en-US" sz="2400" dirty="0">
                <a:latin typeface="KaiTi_GB2312" panose="02010609030101010101" pitchFamily="49" charset="-122"/>
                <a:ea typeface="KaiTi_GB2312" panose="02010609030101010101" pitchFamily="49" charset="-122"/>
              </a:rPr>
              <a:t>手工制作的）</a:t>
            </a:r>
            <a:br>
              <a:rPr lang="zh-CN" altLang="en-US" sz="2400" dirty="0">
                <a:latin typeface="KaiTi_GB2312" panose="02010609030101010101" pitchFamily="49" charset="-122"/>
                <a:ea typeface="KaiTi_GB2312" panose="02010609030101010101" pitchFamily="49" charset="-122"/>
              </a:rPr>
            </a:br>
            <a:r>
              <a:rPr lang="en-US" altLang="zh-CN" sz="2400" dirty="0">
                <a:latin typeface="KaiTi_GB2312" panose="02010609030101010101" pitchFamily="49" charset="-122"/>
                <a:ea typeface="KaiTi_GB2312" panose="02010609030101010101" pitchFamily="49" charset="-122"/>
              </a:rPr>
              <a:t>3</a:t>
            </a:r>
            <a:r>
              <a:rPr lang="zh-CN" altLang="en-US" sz="2400" dirty="0">
                <a:latin typeface="KaiTi_GB2312" panose="02010609030101010101" pitchFamily="49" charset="-122"/>
                <a:ea typeface="KaiTi_GB2312" panose="02010609030101010101" pitchFamily="49" charset="-122"/>
              </a:rPr>
              <a:t>）限制性形容词：</a:t>
            </a:r>
            <a:r>
              <a:rPr lang="en-US" sz="2400" dirty="0">
                <a:latin typeface="KaiTi_GB2312" panose="02010609030101010101" pitchFamily="49" charset="-122"/>
                <a:ea typeface="KaiTi_GB2312" panose="02010609030101010101" pitchFamily="49" charset="-122"/>
              </a:rPr>
              <a:t>an Italian dish （</a:t>
            </a:r>
            <a:r>
              <a:rPr lang="zh-CN" altLang="en-US" sz="2400" dirty="0">
                <a:latin typeface="KaiTi_GB2312" panose="02010609030101010101" pitchFamily="49" charset="-122"/>
                <a:ea typeface="KaiTi_GB2312" panose="02010609030101010101" pitchFamily="49" charset="-122"/>
              </a:rPr>
              <a:t>一道意大利菜）</a:t>
            </a:r>
            <a:br>
              <a:rPr lang="zh-CN" altLang="en-US" sz="2400" dirty="0">
                <a:latin typeface="KaiTi_GB2312" panose="02010609030101010101" pitchFamily="49" charset="-122"/>
                <a:ea typeface="KaiTi_GB2312" panose="02010609030101010101" pitchFamily="49" charset="-122"/>
              </a:rPr>
            </a:br>
            <a:r>
              <a:rPr lang="en-US" altLang="zh-CN" sz="2400" dirty="0">
                <a:latin typeface="KaiTi_GB2312" panose="02010609030101010101" pitchFamily="49" charset="-122"/>
                <a:ea typeface="KaiTi_GB2312" panose="02010609030101010101" pitchFamily="49" charset="-122"/>
              </a:rPr>
              <a:t>4</a:t>
            </a:r>
            <a:r>
              <a:rPr lang="zh-CN" altLang="en-US" sz="2400" dirty="0">
                <a:latin typeface="KaiTi_GB2312" panose="02010609030101010101" pitchFamily="49" charset="-122"/>
                <a:ea typeface="KaiTi_GB2312" panose="02010609030101010101" pitchFamily="49" charset="-122"/>
              </a:rPr>
              <a:t>）描述性形容词：</a:t>
            </a:r>
            <a:r>
              <a:rPr lang="en-US" sz="2400" dirty="0">
                <a:latin typeface="KaiTi_GB2312" panose="02010609030101010101" pitchFamily="49" charset="-122"/>
                <a:ea typeface="KaiTi_GB2312" panose="02010609030101010101" pitchFamily="49" charset="-122"/>
              </a:rPr>
              <a:t>a delicious Italian dish （</a:t>
            </a:r>
            <a:r>
              <a:rPr lang="zh-CN" altLang="en-US" sz="2400" dirty="0">
                <a:latin typeface="KaiTi_GB2312" panose="02010609030101010101" pitchFamily="49" charset="-122"/>
                <a:ea typeface="KaiTi_GB2312" panose="02010609030101010101" pitchFamily="49" charset="-122"/>
              </a:rPr>
              <a:t>一道美味的意大利菜）</a:t>
            </a:r>
          </a:p>
        </p:txBody>
      </p:sp>
    </p:spTree>
    <p:extLst>
      <p:ext uri="{BB962C8B-B14F-4D97-AF65-F5344CB8AC3E}">
        <p14:creationId xmlns:p14="http://schemas.microsoft.com/office/powerpoint/2010/main" val="10698268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59153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40</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382587" y="1273657"/>
            <a:ext cx="11195049" cy="511807"/>
          </a:xfrm>
          <a:prstGeom prst="rect">
            <a:avLst/>
          </a:prstGeom>
          <a:noFill/>
        </p:spPr>
        <p:txBody>
          <a:bodyPr wrap="square">
            <a:spAutoFit/>
          </a:bodyPr>
          <a:lstStyle/>
          <a:p>
            <a:pPr algn="just">
              <a:lnSpc>
                <a:spcPct val="125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副词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altLang="zh-CN" sz="2400" dirty="0">
                <a:solidFill>
                  <a:srgbClr val="0432FF"/>
                </a:solidFill>
                <a:effectLst/>
                <a:latin typeface="Microsoft YaHei" panose="020B0503020204020204" pitchFamily="34" charset="-122"/>
                <a:ea typeface="Microsoft YaHei" panose="020B0503020204020204" pitchFamily="34" charset="-122"/>
              </a:rPr>
              <a:t>Adverb</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是用来修饰动词、形容词、其他副词以及全句的词。</a:t>
            </a:r>
            <a:endParaRPr lang="en-US" altLang="zh-CN" sz="24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382587" y="1853697"/>
            <a:ext cx="11431588" cy="4437753"/>
          </a:xfrm>
          <a:prstGeom prst="rect">
            <a:avLst/>
          </a:prstGeom>
          <a:noFill/>
        </p:spPr>
        <p:txBody>
          <a:bodyPr wrap="square">
            <a:spAutoFit/>
          </a:bodyPr>
          <a:lstStyle/>
          <a:p>
            <a:pPr>
              <a:lnSpc>
                <a:spcPct val="150000"/>
              </a:lnSpc>
            </a:pPr>
            <a:r>
              <a:rPr lang="zh-CN" altLang="en-US" sz="2400" b="1" i="0" dirty="0">
                <a:effectLst/>
                <a:latin typeface="Microsoft YaHei" panose="020B0503020204020204" pitchFamily="34" charset="-122"/>
                <a:ea typeface="Microsoft YaHei" panose="020B0503020204020204" pitchFamily="34" charset="-122"/>
              </a:rPr>
              <a:t>例如</a:t>
            </a:r>
            <a:r>
              <a:rPr lang="zh-CN" altLang="en-US" sz="2400" b="0" i="0" dirty="0">
                <a:effectLst/>
                <a:latin typeface="Microsoft YaHei" panose="020B0503020204020204" pitchFamily="34" charset="-122"/>
                <a:ea typeface="Microsoft YaHei" panose="020B0503020204020204" pitchFamily="34" charset="-122"/>
              </a:rPr>
              <a:t>：</a:t>
            </a:r>
            <a:endParaRPr lang="en-US" altLang="zh-CN" sz="2400" b="0" i="0" dirty="0">
              <a:effectLst/>
              <a:latin typeface="Microsoft YaHei" panose="020B0503020204020204" pitchFamily="34" charset="-122"/>
              <a:ea typeface="Microsoft YaHei" panose="020B0503020204020204" pitchFamily="34" charset="-122"/>
            </a:endParaRPr>
          </a:p>
          <a:p>
            <a:pPr lvl="2">
              <a:lnSpc>
                <a:spcPct val="150000"/>
              </a:lnSpc>
            </a:pPr>
            <a:r>
              <a:rPr lang="en-US" altLang="zh-CN" sz="2400" b="0" i="0" dirty="0">
                <a:effectLst/>
                <a:latin typeface="KaiTi_GB2312" panose="02010609030101010101" pitchFamily="49" charset="-122"/>
                <a:ea typeface="KaiTi_GB2312" panose="02010609030101010101" pitchFamily="49" charset="-122"/>
              </a:rPr>
              <a:t>1</a:t>
            </a:r>
            <a:r>
              <a:rPr lang="zh-CN" altLang="en-US" sz="2400" b="0" i="0" dirty="0">
                <a:effectLst/>
                <a:latin typeface="KaiTi_GB2312" panose="02010609030101010101" pitchFamily="49" charset="-122"/>
                <a:ea typeface="KaiTi_GB2312" panose="02010609030101010101" pitchFamily="49" charset="-122"/>
              </a:rPr>
              <a:t>）简单副词：</a:t>
            </a:r>
            <a:r>
              <a:rPr lang="en-US" altLang="zh-CN" sz="2400" b="0" i="0" dirty="0">
                <a:effectLst/>
                <a:latin typeface="KaiTi_GB2312" panose="02010609030101010101" pitchFamily="49" charset="-122"/>
                <a:ea typeface="KaiTi_GB2312" panose="02010609030101010101" pitchFamily="49" charset="-122"/>
              </a:rPr>
              <a:t>just</a:t>
            </a:r>
            <a:r>
              <a:rPr lang="zh-CN" altLang="en-US" sz="2400" b="0" i="0" dirty="0">
                <a:effectLst/>
                <a:latin typeface="KaiTi_GB2312" panose="02010609030101010101" pitchFamily="49" charset="-122"/>
                <a:ea typeface="KaiTi_GB2312" panose="02010609030101010101" pitchFamily="49" charset="-122"/>
              </a:rPr>
              <a:t>（刚刚）</a:t>
            </a:r>
            <a:r>
              <a:rPr lang="en-US" altLang="zh-CN" sz="2400" b="0" i="0" dirty="0">
                <a:effectLst/>
                <a:latin typeface="KaiTi_GB2312" panose="02010609030101010101" pitchFamily="49" charset="-122"/>
                <a:ea typeface="KaiTi_GB2312" panose="02010609030101010101" pitchFamily="49" charset="-122"/>
              </a:rPr>
              <a:t>only</a:t>
            </a:r>
            <a:r>
              <a:rPr lang="zh-CN" altLang="en-US" sz="2400" b="0" i="0" dirty="0">
                <a:effectLst/>
                <a:latin typeface="KaiTi_GB2312" panose="02010609030101010101" pitchFamily="49" charset="-122"/>
                <a:ea typeface="KaiTi_GB2312" panose="02010609030101010101" pitchFamily="49" charset="-122"/>
              </a:rPr>
              <a:t>（仅仅）</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2</a:t>
            </a:r>
            <a:r>
              <a:rPr lang="zh-CN" altLang="en-US" sz="2400" b="0" i="0" dirty="0">
                <a:effectLst/>
                <a:latin typeface="KaiTi_GB2312" panose="02010609030101010101" pitchFamily="49" charset="-122"/>
                <a:ea typeface="KaiTi_GB2312" panose="02010609030101010101" pitchFamily="49" charset="-122"/>
              </a:rPr>
              <a:t>）复合副词：</a:t>
            </a:r>
            <a:r>
              <a:rPr lang="en-US" altLang="zh-CN" sz="2400" b="0" i="0" dirty="0">
                <a:effectLst/>
                <a:latin typeface="KaiTi_GB2312" panose="02010609030101010101" pitchFamily="49" charset="-122"/>
                <a:ea typeface="KaiTi_GB2312" panose="02010609030101010101" pitchFamily="49" charset="-122"/>
              </a:rPr>
              <a:t>somehow</a:t>
            </a:r>
            <a:r>
              <a:rPr lang="zh-CN" altLang="en-US" sz="2400" b="0" i="0" dirty="0">
                <a:effectLst/>
                <a:latin typeface="KaiTi_GB2312" panose="02010609030101010101" pitchFamily="49" charset="-122"/>
                <a:ea typeface="KaiTi_GB2312" panose="02010609030101010101" pitchFamily="49" charset="-122"/>
              </a:rPr>
              <a:t>（不知怎地）</a:t>
            </a:r>
            <a:r>
              <a:rPr lang="en-US" altLang="zh-CN" sz="2400" b="0" i="0" dirty="0">
                <a:effectLst/>
                <a:latin typeface="KaiTi_GB2312" panose="02010609030101010101" pitchFamily="49" charset="-122"/>
                <a:ea typeface="KaiTi_GB2312" panose="02010609030101010101" pitchFamily="49" charset="-122"/>
              </a:rPr>
              <a:t>somewhere</a:t>
            </a:r>
            <a:r>
              <a:rPr lang="zh-CN" altLang="en-US" sz="2400" b="0" i="0" dirty="0">
                <a:effectLst/>
                <a:latin typeface="KaiTi_GB2312" panose="02010609030101010101" pitchFamily="49" charset="-122"/>
                <a:ea typeface="KaiTi_GB2312" panose="02010609030101010101" pitchFamily="49" charset="-122"/>
              </a:rPr>
              <a:t>（在某处）</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3</a:t>
            </a:r>
            <a:r>
              <a:rPr lang="zh-CN" altLang="en-US" sz="2400" b="0" i="0" dirty="0">
                <a:effectLst/>
                <a:latin typeface="KaiTi_GB2312" panose="02010609030101010101" pitchFamily="49" charset="-122"/>
                <a:ea typeface="KaiTi_GB2312" panose="02010609030101010101" pitchFamily="49" charset="-122"/>
              </a:rPr>
              <a:t>）派生副词：</a:t>
            </a:r>
            <a:r>
              <a:rPr lang="en-US" altLang="zh-CN" sz="2400" b="0" i="0" dirty="0">
                <a:effectLst/>
                <a:latin typeface="KaiTi_GB2312" panose="02010609030101010101" pitchFamily="49" charset="-122"/>
                <a:ea typeface="KaiTi_GB2312" panose="02010609030101010101" pitchFamily="49" charset="-122"/>
              </a:rPr>
              <a:t>interesting → interestingly </a:t>
            </a:r>
            <a:r>
              <a:rPr lang="zh-CN" altLang="en-US" sz="2400" b="0" i="0" dirty="0">
                <a:effectLst/>
                <a:latin typeface="KaiTi_GB2312" panose="02010609030101010101" pitchFamily="49" charset="-122"/>
                <a:ea typeface="KaiTi_GB2312" panose="02010609030101010101" pitchFamily="49" charset="-122"/>
              </a:rPr>
              <a:t>（有趣地）</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4</a:t>
            </a:r>
            <a:r>
              <a:rPr lang="zh-CN" altLang="en-US" sz="2400" b="0" i="0" dirty="0">
                <a:effectLst/>
                <a:latin typeface="KaiTi_GB2312" panose="02010609030101010101" pitchFamily="49" charset="-122"/>
                <a:ea typeface="KaiTi_GB2312" panose="02010609030101010101" pitchFamily="49" charset="-122"/>
              </a:rPr>
              <a:t>）方式副词：</a:t>
            </a:r>
            <a:r>
              <a:rPr lang="en-US" altLang="zh-CN" sz="2400" b="0" i="0" dirty="0">
                <a:effectLst/>
                <a:latin typeface="KaiTi_GB2312" panose="02010609030101010101" pitchFamily="49" charset="-122"/>
                <a:ea typeface="KaiTi_GB2312" panose="02010609030101010101" pitchFamily="49" charset="-122"/>
              </a:rPr>
              <a:t>quickly</a:t>
            </a:r>
            <a:r>
              <a:rPr lang="zh-CN" altLang="en-US" sz="2400" b="0" i="0" dirty="0">
                <a:effectLst/>
                <a:latin typeface="KaiTi_GB2312" panose="02010609030101010101" pitchFamily="49" charset="-122"/>
                <a:ea typeface="KaiTi_GB2312" panose="02010609030101010101" pitchFamily="49" charset="-122"/>
              </a:rPr>
              <a:t>（迅速）</a:t>
            </a:r>
            <a:r>
              <a:rPr lang="en-US" altLang="zh-CN" sz="2400" b="0" i="0" dirty="0">
                <a:effectLst/>
                <a:latin typeface="KaiTi_GB2312" panose="02010609030101010101" pitchFamily="49" charset="-122"/>
                <a:ea typeface="KaiTi_GB2312" panose="02010609030101010101" pitchFamily="49" charset="-122"/>
              </a:rPr>
              <a:t>awkwardly</a:t>
            </a:r>
            <a:r>
              <a:rPr lang="zh-CN" altLang="en-US" sz="2400" b="0" i="0" dirty="0">
                <a:effectLst/>
                <a:latin typeface="KaiTi_GB2312" panose="02010609030101010101" pitchFamily="49" charset="-122"/>
                <a:ea typeface="KaiTi_GB2312" panose="02010609030101010101" pitchFamily="49" charset="-122"/>
              </a:rPr>
              <a:t>（笨拙地）</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5</a:t>
            </a:r>
            <a:r>
              <a:rPr lang="zh-CN" altLang="en-US" sz="2400" b="0" i="0" dirty="0">
                <a:effectLst/>
                <a:latin typeface="KaiTi_GB2312" panose="02010609030101010101" pitchFamily="49" charset="-122"/>
                <a:ea typeface="KaiTi_GB2312" panose="02010609030101010101" pitchFamily="49" charset="-122"/>
              </a:rPr>
              <a:t>）方向副词：</a:t>
            </a:r>
            <a:r>
              <a:rPr lang="en-US" altLang="zh-CN" sz="2400" b="0" i="0" dirty="0">
                <a:effectLst/>
                <a:latin typeface="KaiTi_GB2312" panose="02010609030101010101" pitchFamily="49" charset="-122"/>
                <a:ea typeface="KaiTi_GB2312" panose="02010609030101010101" pitchFamily="49" charset="-122"/>
              </a:rPr>
              <a:t>outside</a:t>
            </a:r>
            <a:r>
              <a:rPr lang="zh-CN" altLang="en-US" sz="2400" b="0" i="0" dirty="0">
                <a:effectLst/>
                <a:latin typeface="KaiTi_GB2312" panose="02010609030101010101" pitchFamily="49" charset="-122"/>
                <a:ea typeface="KaiTi_GB2312" panose="02010609030101010101" pitchFamily="49" charset="-122"/>
              </a:rPr>
              <a:t>（外面）</a:t>
            </a:r>
            <a:r>
              <a:rPr lang="en-US" altLang="zh-CN" sz="2400" b="0" i="0" dirty="0">
                <a:effectLst/>
                <a:latin typeface="KaiTi_GB2312" panose="02010609030101010101" pitchFamily="49" charset="-122"/>
                <a:ea typeface="KaiTi_GB2312" panose="02010609030101010101" pitchFamily="49" charset="-122"/>
              </a:rPr>
              <a:t>inside</a:t>
            </a:r>
            <a:r>
              <a:rPr lang="zh-CN" altLang="en-US" sz="2400" b="0" i="0" dirty="0">
                <a:effectLst/>
                <a:latin typeface="KaiTi_GB2312" panose="02010609030101010101" pitchFamily="49" charset="-122"/>
                <a:ea typeface="KaiTi_GB2312" panose="02010609030101010101" pitchFamily="49" charset="-122"/>
              </a:rPr>
              <a:t>（里面）</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6</a:t>
            </a:r>
            <a:r>
              <a:rPr lang="zh-CN" altLang="en-US" sz="2400" b="0" i="0" dirty="0">
                <a:effectLst/>
                <a:latin typeface="KaiTi_GB2312" panose="02010609030101010101" pitchFamily="49" charset="-122"/>
                <a:ea typeface="KaiTi_GB2312" panose="02010609030101010101" pitchFamily="49" charset="-122"/>
              </a:rPr>
              <a:t>）时间副词：</a:t>
            </a:r>
            <a:r>
              <a:rPr lang="en-US" altLang="zh-CN" sz="2400" b="0" i="0" dirty="0">
                <a:effectLst/>
                <a:latin typeface="KaiTi_GB2312" panose="02010609030101010101" pitchFamily="49" charset="-122"/>
                <a:ea typeface="KaiTi_GB2312" panose="02010609030101010101" pitchFamily="49" charset="-122"/>
              </a:rPr>
              <a:t>recently</a:t>
            </a:r>
            <a:r>
              <a:rPr lang="zh-CN" altLang="en-US" sz="2400" b="0" i="0" dirty="0">
                <a:effectLst/>
                <a:latin typeface="KaiTi_GB2312" panose="02010609030101010101" pitchFamily="49" charset="-122"/>
                <a:ea typeface="KaiTi_GB2312" panose="02010609030101010101" pitchFamily="49" charset="-122"/>
              </a:rPr>
              <a:t>（最近）</a:t>
            </a:r>
            <a:r>
              <a:rPr lang="en-US" altLang="zh-CN" sz="2400" b="0" i="0" dirty="0">
                <a:effectLst/>
                <a:latin typeface="KaiTi_GB2312" panose="02010609030101010101" pitchFamily="49" charset="-122"/>
                <a:ea typeface="KaiTi_GB2312" panose="02010609030101010101" pitchFamily="49" charset="-122"/>
              </a:rPr>
              <a:t>always</a:t>
            </a:r>
            <a:r>
              <a:rPr lang="zh-CN" altLang="en-US" sz="2400" b="0" i="0" dirty="0">
                <a:effectLst/>
                <a:latin typeface="KaiTi_GB2312" panose="02010609030101010101" pitchFamily="49" charset="-122"/>
                <a:ea typeface="KaiTi_GB2312" panose="02010609030101010101" pitchFamily="49" charset="-122"/>
              </a:rPr>
              <a:t>（总是）</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7</a:t>
            </a:r>
            <a:r>
              <a:rPr lang="zh-CN" altLang="en-US" sz="2400" b="0" i="0" dirty="0">
                <a:effectLst/>
                <a:latin typeface="KaiTi_GB2312" panose="02010609030101010101" pitchFamily="49" charset="-122"/>
                <a:ea typeface="KaiTi_GB2312" panose="02010609030101010101" pitchFamily="49" charset="-122"/>
              </a:rPr>
              <a:t>）强调副词：</a:t>
            </a:r>
            <a:r>
              <a:rPr lang="en-US" altLang="zh-CN" sz="2400" b="0" i="0" dirty="0">
                <a:effectLst/>
                <a:latin typeface="KaiTi_GB2312" panose="02010609030101010101" pitchFamily="49" charset="-122"/>
                <a:ea typeface="KaiTi_GB2312" panose="02010609030101010101" pitchFamily="49" charset="-122"/>
              </a:rPr>
              <a:t>very</a:t>
            </a:r>
            <a:r>
              <a:rPr lang="zh-CN" altLang="en-US" sz="2400" b="0" i="0" dirty="0">
                <a:effectLst/>
                <a:latin typeface="KaiTi_GB2312" panose="02010609030101010101" pitchFamily="49" charset="-122"/>
                <a:ea typeface="KaiTi_GB2312" panose="02010609030101010101" pitchFamily="49" charset="-122"/>
              </a:rPr>
              <a:t>（很）</a:t>
            </a:r>
            <a:r>
              <a:rPr lang="en-US" altLang="zh-CN" sz="2400" b="0" i="0" dirty="0">
                <a:effectLst/>
                <a:latin typeface="KaiTi_GB2312" panose="02010609030101010101" pitchFamily="49" charset="-122"/>
                <a:ea typeface="KaiTi_GB2312" panose="02010609030101010101" pitchFamily="49" charset="-122"/>
              </a:rPr>
              <a:t>fairly</a:t>
            </a:r>
            <a:r>
              <a:rPr lang="zh-CN" altLang="en-US" sz="2400" b="0" i="0" dirty="0">
                <a:effectLst/>
                <a:latin typeface="KaiTi_GB2312" panose="02010609030101010101" pitchFamily="49" charset="-122"/>
                <a:ea typeface="KaiTi_GB2312" panose="02010609030101010101" pitchFamily="49" charset="-122"/>
              </a:rPr>
              <a:t>（相当）</a:t>
            </a:r>
            <a:endParaRPr lang="zh-CN" altLang="en-US" sz="2400" dirty="0">
              <a:latin typeface="KaiTi_GB2312" panose="02010609030101010101" pitchFamily="49" charset="-122"/>
              <a:ea typeface="KaiTi_GB2312" panose="02010609030101010101" pitchFamily="49" charset="-122"/>
            </a:endParaRPr>
          </a:p>
        </p:txBody>
      </p:sp>
    </p:spTree>
    <p:extLst>
      <p:ext uri="{BB962C8B-B14F-4D97-AF65-F5344CB8AC3E}">
        <p14:creationId xmlns:p14="http://schemas.microsoft.com/office/powerpoint/2010/main" val="42173228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56503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41</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382587" y="1189443"/>
            <a:ext cx="11195049" cy="581698"/>
          </a:xfrm>
          <a:prstGeom prst="rect">
            <a:avLst/>
          </a:prstGeom>
          <a:noFill/>
        </p:spPr>
        <p:txBody>
          <a:bodyPr wrap="square">
            <a:spAutoFit/>
          </a:bodyPr>
          <a:lstStyle/>
          <a:p>
            <a:pPr algn="just">
              <a:lnSpc>
                <a:spcPct val="125000"/>
              </a:lnSpc>
            </a:pPr>
            <a:r>
              <a:rPr lang="zh-CN" altLang="en-US" sz="2800" b="1" dirty="0">
                <a:solidFill>
                  <a:srgbClr val="0432FF"/>
                </a:solidFill>
                <a:effectLst/>
                <a:latin typeface="Microsoft YaHei" panose="020B0503020204020204" pitchFamily="34" charset="-122"/>
                <a:ea typeface="Microsoft YaHei" panose="020B0503020204020204" pitchFamily="34" charset="-122"/>
              </a:rPr>
              <a:t>数词</a:t>
            </a:r>
            <a:r>
              <a:rPr lang="zh-CN" altLang="en-US" sz="2800" dirty="0">
                <a:solidFill>
                  <a:srgbClr val="0432FF"/>
                </a:solidFill>
                <a:effectLst/>
                <a:latin typeface="Microsoft YaHei" panose="020B0503020204020204" pitchFamily="34" charset="-122"/>
                <a:ea typeface="Microsoft YaHei" panose="020B0503020204020204" pitchFamily="34" charset="-122"/>
              </a:rPr>
              <a:t>（</a:t>
            </a:r>
            <a:r>
              <a:rPr lang="en-US" altLang="zh-CN" sz="2800" dirty="0">
                <a:solidFill>
                  <a:srgbClr val="0432FF"/>
                </a:solidFill>
                <a:effectLst/>
                <a:latin typeface="Microsoft YaHei" panose="020B0503020204020204" pitchFamily="34" charset="-122"/>
                <a:ea typeface="Microsoft YaHei" panose="020B0503020204020204" pitchFamily="34" charset="-122"/>
              </a:rPr>
              <a:t>Numeral</a:t>
            </a:r>
            <a:r>
              <a:rPr lang="zh-CN" altLang="en-US" sz="2800" dirty="0">
                <a:solidFill>
                  <a:srgbClr val="0432FF"/>
                </a:solidFill>
                <a:effectLst/>
                <a:latin typeface="Microsoft YaHei" panose="020B0503020204020204" pitchFamily="34" charset="-122"/>
                <a:ea typeface="Microsoft YaHei" panose="020B0503020204020204" pitchFamily="34" charset="-122"/>
              </a:rPr>
              <a:t>）</a:t>
            </a:r>
            <a:r>
              <a:rPr lang="zh-CN" altLang="en-US" sz="2800" dirty="0">
                <a:effectLst/>
                <a:latin typeface="Microsoft YaHei" panose="020B0503020204020204" pitchFamily="34" charset="-122"/>
                <a:ea typeface="Microsoft YaHei" panose="020B0503020204020204" pitchFamily="34" charset="-122"/>
              </a:rPr>
              <a:t>是表示数目多少或者先后顺序的一类词。</a:t>
            </a:r>
            <a:endParaRPr lang="en-US" altLang="zh-CN" sz="28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382587" y="1853697"/>
            <a:ext cx="11431588" cy="1667764"/>
          </a:xfrm>
          <a:prstGeom prst="rect">
            <a:avLst/>
          </a:prstGeom>
          <a:noFill/>
        </p:spPr>
        <p:txBody>
          <a:bodyPr wrap="square">
            <a:spAutoFit/>
          </a:bodyPr>
          <a:lstStyle/>
          <a:p>
            <a:pPr>
              <a:lnSpc>
                <a:spcPct val="150000"/>
              </a:lnSpc>
            </a:pPr>
            <a:r>
              <a:rPr lang="zh-CN" altLang="en-US" sz="2400" b="1" i="0" dirty="0">
                <a:effectLst/>
                <a:latin typeface="Microsoft YaHei" panose="020B0503020204020204" pitchFamily="34" charset="-122"/>
                <a:ea typeface="Microsoft YaHei" panose="020B0503020204020204" pitchFamily="34" charset="-122"/>
              </a:rPr>
              <a:t>例如</a:t>
            </a:r>
            <a:r>
              <a:rPr lang="zh-CN" altLang="en-US" sz="2400" b="0" i="0" dirty="0">
                <a:effectLst/>
                <a:latin typeface="Microsoft YaHei" panose="020B0503020204020204" pitchFamily="34" charset="-122"/>
                <a:ea typeface="Microsoft YaHei" panose="020B0503020204020204" pitchFamily="34" charset="-122"/>
              </a:rPr>
              <a:t>：</a:t>
            </a:r>
            <a:endParaRPr lang="en-US" altLang="zh-CN" sz="2400" b="0" i="0" dirty="0">
              <a:effectLst/>
              <a:latin typeface="Microsoft YaHei" panose="020B0503020204020204" pitchFamily="34" charset="-122"/>
              <a:ea typeface="Microsoft YaHei" panose="020B0503020204020204" pitchFamily="34" charset="-122"/>
            </a:endParaRPr>
          </a:p>
          <a:p>
            <a:pPr lvl="2">
              <a:lnSpc>
                <a:spcPct val="150000"/>
              </a:lnSpc>
            </a:pPr>
            <a:r>
              <a:rPr lang="en-US" altLang="zh-CN" sz="2400" b="0" i="0" dirty="0">
                <a:effectLst/>
                <a:latin typeface="KaiTi_GB2312" panose="02010609030101010101" pitchFamily="49" charset="-122"/>
                <a:ea typeface="KaiTi_GB2312" panose="02010609030101010101" pitchFamily="49" charset="-122"/>
              </a:rPr>
              <a:t>1</a:t>
            </a:r>
            <a:r>
              <a:rPr lang="zh-CN" altLang="en-US" sz="2400" b="0" i="0" dirty="0">
                <a:effectLst/>
                <a:latin typeface="KaiTi_GB2312" panose="02010609030101010101" pitchFamily="49" charset="-122"/>
                <a:ea typeface="KaiTi_GB2312" panose="02010609030101010101" pitchFamily="49" charset="-122"/>
              </a:rPr>
              <a:t>）基数词：</a:t>
            </a:r>
            <a:r>
              <a:rPr lang="en-US" altLang="zh-CN" sz="2400" b="0" i="0" dirty="0">
                <a:effectLst/>
                <a:latin typeface="KaiTi_GB2312" panose="02010609030101010101" pitchFamily="49" charset="-122"/>
                <a:ea typeface="KaiTi_GB2312" panose="02010609030101010101" pitchFamily="49" charset="-122"/>
              </a:rPr>
              <a:t>one</a:t>
            </a:r>
            <a:r>
              <a:rPr lang="zh-CN" altLang="en-US" sz="2400" b="0" i="0" dirty="0">
                <a:effectLst/>
                <a:latin typeface="KaiTi_GB2312" panose="02010609030101010101" pitchFamily="49" charset="-122"/>
                <a:ea typeface="KaiTi_GB2312" panose="02010609030101010101" pitchFamily="49" charset="-122"/>
              </a:rPr>
              <a:t>（</a:t>
            </a:r>
            <a:r>
              <a:rPr lang="en-US" altLang="zh-CN" sz="2400" b="0" i="0" dirty="0">
                <a:effectLst/>
                <a:latin typeface="KaiTi_GB2312" panose="02010609030101010101" pitchFamily="49" charset="-122"/>
                <a:ea typeface="KaiTi_GB2312" panose="02010609030101010101" pitchFamily="49" charset="-122"/>
              </a:rPr>
              <a:t>1</a:t>
            </a:r>
            <a:r>
              <a:rPr lang="zh-CN" altLang="en-US" sz="2400" b="0" i="0" dirty="0">
                <a:effectLst/>
                <a:latin typeface="KaiTi_GB2312" panose="02010609030101010101" pitchFamily="49" charset="-122"/>
                <a:ea typeface="KaiTi_GB2312" panose="02010609030101010101" pitchFamily="49" charset="-122"/>
              </a:rPr>
              <a:t>）</a:t>
            </a:r>
            <a:r>
              <a:rPr lang="en-US" altLang="zh-CN" sz="2400" b="0" i="0" dirty="0">
                <a:effectLst/>
                <a:latin typeface="KaiTi_GB2312" panose="02010609030101010101" pitchFamily="49" charset="-122"/>
                <a:ea typeface="KaiTi_GB2312" panose="02010609030101010101" pitchFamily="49" charset="-122"/>
              </a:rPr>
              <a:t>nineteen</a:t>
            </a:r>
            <a:r>
              <a:rPr lang="zh-CN" altLang="en-US" sz="2400" b="0" i="0" dirty="0">
                <a:effectLst/>
                <a:latin typeface="KaiTi_GB2312" panose="02010609030101010101" pitchFamily="49" charset="-122"/>
                <a:ea typeface="KaiTi_GB2312" panose="02010609030101010101" pitchFamily="49" charset="-122"/>
              </a:rPr>
              <a:t>（</a:t>
            </a:r>
            <a:r>
              <a:rPr lang="en-US" altLang="zh-CN" sz="2400" b="0" i="0" dirty="0">
                <a:effectLst/>
                <a:latin typeface="KaiTi_GB2312" panose="02010609030101010101" pitchFamily="49" charset="-122"/>
                <a:ea typeface="KaiTi_GB2312" panose="02010609030101010101" pitchFamily="49" charset="-122"/>
              </a:rPr>
              <a:t>19</a:t>
            </a:r>
            <a:r>
              <a:rPr lang="zh-CN" altLang="en-US" sz="2400" b="0" i="0" dirty="0">
                <a:effectLst/>
                <a:latin typeface="KaiTi_GB2312" panose="02010609030101010101" pitchFamily="49" charset="-122"/>
                <a:ea typeface="KaiTi_GB2312" panose="02010609030101010101" pitchFamily="49" charset="-122"/>
              </a:rPr>
              <a:t>）</a:t>
            </a:r>
          </a:p>
          <a:p>
            <a:pPr lvl="2">
              <a:lnSpc>
                <a:spcPct val="150000"/>
              </a:lnSpc>
            </a:pPr>
            <a:r>
              <a:rPr lang="en-US" altLang="zh-CN" sz="2400" b="0" i="0" dirty="0">
                <a:effectLst/>
                <a:latin typeface="KaiTi_GB2312" panose="02010609030101010101" pitchFamily="49" charset="-122"/>
                <a:ea typeface="KaiTi_GB2312" panose="02010609030101010101" pitchFamily="49" charset="-122"/>
              </a:rPr>
              <a:t>2</a:t>
            </a:r>
            <a:r>
              <a:rPr lang="zh-CN" altLang="en-US" sz="2400" b="0" i="0" dirty="0">
                <a:effectLst/>
                <a:latin typeface="KaiTi_GB2312" panose="02010609030101010101" pitchFamily="49" charset="-122"/>
                <a:ea typeface="KaiTi_GB2312" panose="02010609030101010101" pitchFamily="49" charset="-122"/>
              </a:rPr>
              <a:t>）序数词：</a:t>
            </a:r>
            <a:r>
              <a:rPr lang="en-US" altLang="zh-CN" sz="2400" b="0" i="0" dirty="0">
                <a:effectLst/>
                <a:latin typeface="KaiTi_GB2312" panose="02010609030101010101" pitchFamily="49" charset="-122"/>
                <a:ea typeface="KaiTi_GB2312" panose="02010609030101010101" pitchFamily="49" charset="-122"/>
              </a:rPr>
              <a:t>first</a:t>
            </a:r>
            <a:r>
              <a:rPr lang="zh-CN" altLang="en-US" sz="2400" b="0" i="0" dirty="0">
                <a:effectLst/>
                <a:latin typeface="KaiTi_GB2312" panose="02010609030101010101" pitchFamily="49" charset="-122"/>
                <a:ea typeface="KaiTi_GB2312" panose="02010609030101010101" pitchFamily="49" charset="-122"/>
              </a:rPr>
              <a:t>（第一）</a:t>
            </a:r>
            <a:r>
              <a:rPr lang="en-US" altLang="zh-CN" sz="2400" b="0" i="0" dirty="0">
                <a:effectLst/>
                <a:latin typeface="KaiTi_GB2312" panose="02010609030101010101" pitchFamily="49" charset="-122"/>
                <a:ea typeface="KaiTi_GB2312" panose="02010609030101010101" pitchFamily="49" charset="-122"/>
              </a:rPr>
              <a:t>fiftieth</a:t>
            </a:r>
            <a:r>
              <a:rPr lang="zh-CN" altLang="en-US" sz="2400" b="0" i="0" dirty="0">
                <a:effectLst/>
                <a:latin typeface="KaiTi_GB2312" panose="02010609030101010101" pitchFamily="49" charset="-122"/>
                <a:ea typeface="KaiTi_GB2312" panose="02010609030101010101" pitchFamily="49" charset="-122"/>
              </a:rPr>
              <a:t>（第五十）</a:t>
            </a:r>
            <a:endParaRPr lang="zh-CN" altLang="en-US" sz="2400" dirty="0">
              <a:latin typeface="KaiTi_GB2312" panose="02010609030101010101" pitchFamily="49" charset="-122"/>
              <a:ea typeface="KaiTi_GB2312" panose="02010609030101010101" pitchFamily="49" charset="-122"/>
            </a:endParaRPr>
          </a:p>
        </p:txBody>
      </p:sp>
    </p:spTree>
    <p:extLst>
      <p:ext uri="{BB962C8B-B14F-4D97-AF65-F5344CB8AC3E}">
        <p14:creationId xmlns:p14="http://schemas.microsoft.com/office/powerpoint/2010/main" val="16685702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3129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42</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382587" y="1249481"/>
            <a:ext cx="11195049" cy="511807"/>
          </a:xfrm>
          <a:prstGeom prst="rect">
            <a:avLst/>
          </a:prstGeom>
          <a:noFill/>
        </p:spPr>
        <p:txBody>
          <a:bodyPr wrap="square">
            <a:spAutoFit/>
          </a:bodyPr>
          <a:lstStyle/>
          <a:p>
            <a:pPr algn="just">
              <a:lnSpc>
                <a:spcPct val="125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代词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altLang="zh-CN" sz="2400" dirty="0">
                <a:solidFill>
                  <a:srgbClr val="0432FF"/>
                </a:solidFill>
                <a:effectLst/>
                <a:latin typeface="Microsoft YaHei" panose="020B0503020204020204" pitchFamily="34" charset="-122"/>
                <a:ea typeface="Microsoft YaHei" panose="020B0503020204020204" pitchFamily="34" charset="-122"/>
              </a:rPr>
              <a:t>Pronoun</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是代替名词以及起名词作用的短语、子句和句子的一类词。</a:t>
            </a:r>
            <a:endParaRPr lang="en-US" altLang="zh-CN" sz="24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579128" y="1795295"/>
            <a:ext cx="11431588" cy="4616648"/>
          </a:xfrm>
          <a:prstGeom prst="rect">
            <a:avLst/>
          </a:prstGeom>
          <a:noFill/>
        </p:spPr>
        <p:txBody>
          <a:bodyPr wrap="square">
            <a:spAutoFit/>
          </a:bodyPr>
          <a:lstStyle/>
          <a:p>
            <a:pPr>
              <a:lnSpc>
                <a:spcPct val="150000"/>
              </a:lnSpc>
            </a:pPr>
            <a:r>
              <a:rPr lang="zh-CN" altLang="en-US" sz="2400" b="1" i="0" dirty="0">
                <a:effectLst/>
                <a:latin typeface="Microsoft YaHei" panose="020B0503020204020204" pitchFamily="34" charset="-122"/>
                <a:ea typeface="Microsoft YaHei" panose="020B0503020204020204" pitchFamily="34" charset="-122"/>
              </a:rPr>
              <a:t>例如</a:t>
            </a:r>
            <a:r>
              <a:rPr lang="zh-CN" altLang="en-US" sz="2400" b="0" i="0" dirty="0">
                <a:effectLst/>
                <a:latin typeface="Microsoft YaHei" panose="020B0503020204020204" pitchFamily="34" charset="-122"/>
                <a:ea typeface="Microsoft YaHei" panose="020B0503020204020204" pitchFamily="34" charset="-122"/>
              </a:rPr>
              <a:t>：</a:t>
            </a:r>
            <a:endParaRPr lang="en-US" altLang="zh-CN" sz="2400" b="0" i="0" dirty="0">
              <a:effectLst/>
              <a:latin typeface="Microsoft YaHei" panose="020B0503020204020204" pitchFamily="34" charset="-122"/>
              <a:ea typeface="Microsoft YaHei" panose="020B0503020204020204" pitchFamily="34" charset="-122"/>
            </a:endParaRPr>
          </a:p>
          <a:p>
            <a:pPr lvl="2"/>
            <a:r>
              <a:rPr lang="en-US" altLang="zh-CN" b="0" i="0" dirty="0">
                <a:effectLst/>
                <a:latin typeface="KaiTi_GB2312" panose="02010609030101010101" pitchFamily="49" charset="-122"/>
                <a:ea typeface="KaiTi_GB2312" panose="02010609030101010101" pitchFamily="49" charset="-122"/>
              </a:rPr>
              <a:t>1</a:t>
            </a:r>
            <a:r>
              <a:rPr lang="zh-CN" altLang="en-US" b="0" i="0" dirty="0">
                <a:effectLst/>
                <a:latin typeface="KaiTi_GB2312" panose="02010609030101010101" pitchFamily="49" charset="-122"/>
                <a:ea typeface="KaiTi_GB2312" panose="02010609030101010101" pitchFamily="49" charset="-122"/>
              </a:rPr>
              <a:t>）人称代词：</a:t>
            </a:r>
          </a:p>
          <a:p>
            <a:pPr lvl="3"/>
            <a:r>
              <a:rPr lang="en-US" altLang="zh-CN" b="0" i="0" dirty="0">
                <a:effectLst/>
                <a:latin typeface="KaiTi_GB2312" panose="02010609030101010101" pitchFamily="49" charset="-122"/>
                <a:ea typeface="KaiTi_GB2312" panose="02010609030101010101" pitchFamily="49" charset="-122"/>
              </a:rPr>
              <a:t>a) </a:t>
            </a:r>
            <a:r>
              <a:rPr lang="zh-CN" altLang="en-US" b="0" i="0" dirty="0">
                <a:effectLst/>
                <a:latin typeface="KaiTi_GB2312" panose="02010609030101010101" pitchFamily="49" charset="-122"/>
                <a:ea typeface="KaiTi_GB2312" panose="02010609030101010101" pitchFamily="49" charset="-122"/>
              </a:rPr>
              <a:t>主格：</a:t>
            </a:r>
            <a:r>
              <a:rPr lang="en-US" altLang="zh-CN" b="0" i="0" dirty="0">
                <a:effectLst/>
                <a:latin typeface="KaiTi_GB2312" panose="02010609030101010101" pitchFamily="49" charset="-122"/>
                <a:ea typeface="KaiTi_GB2312" panose="02010609030101010101" pitchFamily="49" charset="-122"/>
              </a:rPr>
              <a:t>I, you, he, she, it, we, they</a:t>
            </a:r>
          </a:p>
          <a:p>
            <a:pPr lvl="3"/>
            <a:r>
              <a:rPr lang="en-US" altLang="zh-CN" b="0" i="0" dirty="0">
                <a:effectLst/>
                <a:latin typeface="KaiTi_GB2312" panose="02010609030101010101" pitchFamily="49" charset="-122"/>
                <a:ea typeface="KaiTi_GB2312" panose="02010609030101010101" pitchFamily="49" charset="-122"/>
              </a:rPr>
              <a:t>b) </a:t>
            </a:r>
            <a:r>
              <a:rPr lang="zh-CN" altLang="en-US" b="0" i="0" dirty="0">
                <a:effectLst/>
                <a:latin typeface="KaiTi_GB2312" panose="02010609030101010101" pitchFamily="49" charset="-122"/>
                <a:ea typeface="KaiTi_GB2312" panose="02010609030101010101" pitchFamily="49" charset="-122"/>
              </a:rPr>
              <a:t>宾格：</a:t>
            </a:r>
            <a:r>
              <a:rPr lang="en-US" altLang="zh-CN" b="0" i="0" dirty="0">
                <a:effectLst/>
                <a:latin typeface="KaiTi_GB2312" panose="02010609030101010101" pitchFamily="49" charset="-122"/>
                <a:ea typeface="KaiTi_GB2312" panose="02010609030101010101" pitchFamily="49" charset="-122"/>
              </a:rPr>
              <a:t>me, you, him, her, it, us, them</a:t>
            </a:r>
          </a:p>
          <a:p>
            <a:pPr lvl="2"/>
            <a:r>
              <a:rPr lang="en-US" altLang="zh-CN" b="0" i="0" dirty="0">
                <a:effectLst/>
                <a:latin typeface="KaiTi_GB2312" panose="02010609030101010101" pitchFamily="49" charset="-122"/>
                <a:ea typeface="KaiTi_GB2312" panose="02010609030101010101" pitchFamily="49" charset="-122"/>
              </a:rPr>
              <a:t>2</a:t>
            </a:r>
            <a:r>
              <a:rPr lang="zh-CN" altLang="en-US" b="0" i="0" dirty="0">
                <a:effectLst/>
                <a:latin typeface="KaiTi_GB2312" panose="02010609030101010101" pitchFamily="49" charset="-122"/>
                <a:ea typeface="KaiTi_GB2312" panose="02010609030101010101" pitchFamily="49" charset="-122"/>
              </a:rPr>
              <a:t>）物主代词：</a:t>
            </a:r>
          </a:p>
          <a:p>
            <a:pPr lvl="3"/>
            <a:r>
              <a:rPr lang="en-US" altLang="zh-CN" b="0" i="0" dirty="0">
                <a:effectLst/>
                <a:latin typeface="KaiTi_GB2312" panose="02010609030101010101" pitchFamily="49" charset="-122"/>
                <a:ea typeface="KaiTi_GB2312" panose="02010609030101010101" pitchFamily="49" charset="-122"/>
              </a:rPr>
              <a:t>a) </a:t>
            </a:r>
            <a:r>
              <a:rPr lang="zh-CN" altLang="en-US" b="0" i="0" dirty="0">
                <a:effectLst/>
                <a:latin typeface="KaiTi_GB2312" panose="02010609030101010101" pitchFamily="49" charset="-122"/>
                <a:ea typeface="KaiTi_GB2312" panose="02010609030101010101" pitchFamily="49" charset="-122"/>
              </a:rPr>
              <a:t>形容词性物主代词：</a:t>
            </a:r>
            <a:r>
              <a:rPr lang="en-US" altLang="zh-CN" b="0" i="0" dirty="0">
                <a:effectLst/>
                <a:latin typeface="KaiTi_GB2312" panose="02010609030101010101" pitchFamily="49" charset="-122"/>
                <a:ea typeface="KaiTi_GB2312" panose="02010609030101010101" pitchFamily="49" charset="-122"/>
              </a:rPr>
              <a:t>my, your, his, her, its, our, their</a:t>
            </a:r>
          </a:p>
          <a:p>
            <a:pPr lvl="3"/>
            <a:r>
              <a:rPr lang="en-US" altLang="zh-CN" b="0" i="0" dirty="0">
                <a:effectLst/>
                <a:latin typeface="KaiTi_GB2312" panose="02010609030101010101" pitchFamily="49" charset="-122"/>
                <a:ea typeface="KaiTi_GB2312" panose="02010609030101010101" pitchFamily="49" charset="-122"/>
              </a:rPr>
              <a:t>b) </a:t>
            </a:r>
            <a:r>
              <a:rPr lang="zh-CN" altLang="en-US" b="0" i="0" dirty="0">
                <a:effectLst/>
                <a:latin typeface="KaiTi_GB2312" panose="02010609030101010101" pitchFamily="49" charset="-122"/>
                <a:ea typeface="KaiTi_GB2312" panose="02010609030101010101" pitchFamily="49" charset="-122"/>
              </a:rPr>
              <a:t>名词性物主代词：</a:t>
            </a:r>
            <a:r>
              <a:rPr lang="en-US" altLang="zh-CN" b="0" i="0" dirty="0">
                <a:effectLst/>
                <a:latin typeface="KaiTi_GB2312" panose="02010609030101010101" pitchFamily="49" charset="-122"/>
                <a:ea typeface="KaiTi_GB2312" panose="02010609030101010101" pitchFamily="49" charset="-122"/>
              </a:rPr>
              <a:t>mine, yours, his, hers, its, ours, theirs</a:t>
            </a:r>
          </a:p>
          <a:p>
            <a:pPr lvl="3"/>
            <a:r>
              <a:rPr lang="en-US" altLang="zh-CN" b="0" i="0" dirty="0">
                <a:effectLst/>
                <a:latin typeface="KaiTi_GB2312" panose="02010609030101010101" pitchFamily="49" charset="-122"/>
                <a:ea typeface="KaiTi_GB2312" panose="02010609030101010101" pitchFamily="49" charset="-122"/>
              </a:rPr>
              <a:t>3</a:t>
            </a:r>
            <a:r>
              <a:rPr lang="zh-CN" altLang="en-US" b="0" i="0" dirty="0">
                <a:effectLst/>
                <a:latin typeface="KaiTi_GB2312" panose="02010609030101010101" pitchFamily="49" charset="-122"/>
                <a:ea typeface="KaiTi_GB2312" panose="02010609030101010101" pitchFamily="49" charset="-122"/>
              </a:rPr>
              <a:t>）自身代词：</a:t>
            </a:r>
            <a:r>
              <a:rPr lang="en-US" altLang="zh-CN" b="0" i="0" dirty="0">
                <a:effectLst/>
                <a:latin typeface="KaiTi_GB2312" panose="02010609030101010101" pitchFamily="49" charset="-122"/>
                <a:ea typeface="KaiTi_GB2312" panose="02010609030101010101" pitchFamily="49" charset="-122"/>
              </a:rPr>
              <a:t>myself, yourself, himself, herself, itself,</a:t>
            </a:r>
            <a:r>
              <a:rPr lang="zh-CN" altLang="en-US" b="0" i="0" dirty="0">
                <a:effectLst/>
                <a:latin typeface="KaiTi_GB2312" panose="02010609030101010101" pitchFamily="49" charset="-122"/>
                <a:ea typeface="KaiTi_GB2312" panose="02010609030101010101" pitchFamily="49" charset="-122"/>
              </a:rPr>
              <a:t> </a:t>
            </a:r>
            <a:r>
              <a:rPr lang="en-US" altLang="zh-CN" b="0" i="0" dirty="0">
                <a:effectLst/>
                <a:latin typeface="KaiTi_GB2312" panose="02010609030101010101" pitchFamily="49" charset="-122"/>
                <a:ea typeface="KaiTi_GB2312" panose="02010609030101010101" pitchFamily="49" charset="-122"/>
              </a:rPr>
              <a:t>ourselves, yourselves, 			themselves, oneself</a:t>
            </a:r>
          </a:p>
          <a:p>
            <a:pPr lvl="2"/>
            <a:r>
              <a:rPr lang="en-US" altLang="zh-CN" b="0" i="0" dirty="0">
                <a:effectLst/>
                <a:latin typeface="KaiTi_GB2312" panose="02010609030101010101" pitchFamily="49" charset="-122"/>
                <a:ea typeface="KaiTi_GB2312" panose="02010609030101010101" pitchFamily="49" charset="-122"/>
              </a:rPr>
              <a:t>4</a:t>
            </a:r>
            <a:r>
              <a:rPr lang="zh-CN" altLang="en-US" b="0" i="0" dirty="0">
                <a:effectLst/>
                <a:latin typeface="KaiTi_GB2312" panose="02010609030101010101" pitchFamily="49" charset="-122"/>
                <a:ea typeface="KaiTi_GB2312" panose="02010609030101010101" pitchFamily="49" charset="-122"/>
              </a:rPr>
              <a:t>）相互代词：</a:t>
            </a:r>
            <a:r>
              <a:rPr lang="en-US" altLang="zh-CN" b="0" i="0" dirty="0">
                <a:effectLst/>
                <a:latin typeface="KaiTi_GB2312" panose="02010609030101010101" pitchFamily="49" charset="-122"/>
                <a:ea typeface="KaiTi_GB2312" panose="02010609030101010101" pitchFamily="49" charset="-122"/>
              </a:rPr>
              <a:t>each other, one another</a:t>
            </a:r>
          </a:p>
          <a:p>
            <a:pPr lvl="2"/>
            <a:r>
              <a:rPr lang="en-US" altLang="zh-CN" b="0" i="0" dirty="0">
                <a:effectLst/>
                <a:latin typeface="KaiTi_GB2312" panose="02010609030101010101" pitchFamily="49" charset="-122"/>
                <a:ea typeface="KaiTi_GB2312" panose="02010609030101010101" pitchFamily="49" charset="-122"/>
              </a:rPr>
              <a:t>5</a:t>
            </a:r>
            <a:r>
              <a:rPr lang="zh-CN" altLang="en-US" b="0" i="0" dirty="0">
                <a:effectLst/>
                <a:latin typeface="KaiTi_GB2312" panose="02010609030101010101" pitchFamily="49" charset="-122"/>
                <a:ea typeface="KaiTi_GB2312" panose="02010609030101010101" pitchFamily="49" charset="-122"/>
              </a:rPr>
              <a:t>）指示代词：</a:t>
            </a:r>
            <a:r>
              <a:rPr lang="en-US" altLang="zh-CN" b="0" i="0" dirty="0">
                <a:effectLst/>
                <a:latin typeface="KaiTi_GB2312" panose="02010609030101010101" pitchFamily="49" charset="-122"/>
                <a:ea typeface="KaiTi_GB2312" panose="02010609030101010101" pitchFamily="49" charset="-122"/>
              </a:rPr>
              <a:t>this, that, these, those</a:t>
            </a:r>
          </a:p>
          <a:p>
            <a:pPr lvl="2"/>
            <a:r>
              <a:rPr lang="en-US" altLang="zh-CN" dirty="0">
                <a:latin typeface="KaiTi_GB2312" panose="02010609030101010101" pitchFamily="49" charset="-122"/>
                <a:ea typeface="KaiTi_GB2312" panose="02010609030101010101" pitchFamily="49" charset="-122"/>
              </a:rPr>
              <a:t>6</a:t>
            </a:r>
            <a:r>
              <a:rPr lang="zh-CN" altLang="en-US" dirty="0">
                <a:latin typeface="KaiTi_GB2312" panose="02010609030101010101" pitchFamily="49" charset="-122"/>
                <a:ea typeface="KaiTi_GB2312" panose="02010609030101010101" pitchFamily="49" charset="-122"/>
              </a:rPr>
              <a:t>）疑问代词：</a:t>
            </a:r>
            <a:r>
              <a:rPr lang="en-US" dirty="0">
                <a:latin typeface="KaiTi_GB2312" panose="02010609030101010101" pitchFamily="49" charset="-122"/>
                <a:ea typeface="KaiTi_GB2312" panose="02010609030101010101" pitchFamily="49" charset="-122"/>
              </a:rPr>
              <a:t>who, whom, whose, which, what</a:t>
            </a:r>
            <a:br>
              <a:rPr lang="en-US" dirty="0">
                <a:latin typeface="KaiTi_GB2312" panose="02010609030101010101" pitchFamily="49" charset="-122"/>
                <a:ea typeface="KaiTi_GB2312" panose="02010609030101010101" pitchFamily="49" charset="-122"/>
              </a:rPr>
            </a:br>
            <a:r>
              <a:rPr lang="en-US" dirty="0">
                <a:latin typeface="KaiTi_GB2312" panose="02010609030101010101" pitchFamily="49" charset="-122"/>
                <a:ea typeface="KaiTi_GB2312" panose="02010609030101010101" pitchFamily="49" charset="-122"/>
              </a:rPr>
              <a:t>7）</a:t>
            </a:r>
            <a:r>
              <a:rPr lang="zh-CN" altLang="en-US" dirty="0">
                <a:latin typeface="KaiTi_GB2312" panose="02010609030101010101" pitchFamily="49" charset="-122"/>
                <a:ea typeface="KaiTi_GB2312" panose="02010609030101010101" pitchFamily="49" charset="-122"/>
              </a:rPr>
              <a:t>关系代词：</a:t>
            </a:r>
            <a:r>
              <a:rPr lang="en-US" dirty="0">
                <a:latin typeface="KaiTi_GB2312" panose="02010609030101010101" pitchFamily="49" charset="-122"/>
                <a:ea typeface="KaiTi_GB2312" panose="02010609030101010101" pitchFamily="49" charset="-122"/>
              </a:rPr>
              <a:t>who, whom, whose, which, that, as</a:t>
            </a:r>
            <a:br>
              <a:rPr lang="en-US" dirty="0">
                <a:latin typeface="KaiTi_GB2312" panose="02010609030101010101" pitchFamily="49" charset="-122"/>
                <a:ea typeface="KaiTi_GB2312" panose="02010609030101010101" pitchFamily="49" charset="-122"/>
              </a:rPr>
            </a:br>
            <a:r>
              <a:rPr lang="en-US" dirty="0">
                <a:latin typeface="KaiTi_GB2312" panose="02010609030101010101" pitchFamily="49" charset="-122"/>
                <a:ea typeface="KaiTi_GB2312" panose="02010609030101010101" pitchFamily="49" charset="-122"/>
              </a:rPr>
              <a:t>8）</a:t>
            </a:r>
            <a:r>
              <a:rPr lang="zh-CN" altLang="en-US" dirty="0">
                <a:latin typeface="KaiTi_GB2312" panose="02010609030101010101" pitchFamily="49" charset="-122"/>
                <a:ea typeface="KaiTi_GB2312" panose="02010609030101010101" pitchFamily="49" charset="-122"/>
              </a:rPr>
              <a:t>不定代词：</a:t>
            </a:r>
            <a:r>
              <a:rPr lang="en-US" dirty="0">
                <a:latin typeface="KaiTi_GB2312" panose="02010609030101010101" pitchFamily="49" charset="-122"/>
                <a:ea typeface="KaiTi_GB2312" panose="02010609030101010101" pitchFamily="49" charset="-122"/>
              </a:rPr>
              <a:t>some, something, somebody, someone, any, </a:t>
            </a:r>
            <a:r>
              <a:rPr lang="en-US" dirty="0" err="1">
                <a:latin typeface="KaiTi_GB2312" panose="02010609030101010101" pitchFamily="49" charset="-122"/>
                <a:ea typeface="KaiTi_GB2312" panose="02010609030101010101" pitchFamily="49" charset="-122"/>
              </a:rPr>
              <a:t>anything,anybody</a:t>
            </a:r>
            <a:r>
              <a:rPr lang="en-US" dirty="0">
                <a:latin typeface="KaiTi_GB2312" panose="02010609030101010101" pitchFamily="49" charset="-122"/>
                <a:ea typeface="KaiTi_GB2312" panose="02010609030101010101" pitchFamily="49" charset="-122"/>
              </a:rPr>
              <a:t>, anyone, no, </a:t>
            </a:r>
            <a:r>
              <a:rPr lang="zh-CN" altLang="en-US" dirty="0">
                <a:latin typeface="KaiTi_GB2312" panose="02010609030101010101" pitchFamily="49" charset="-122"/>
                <a:ea typeface="KaiTi_GB2312" panose="02010609030101010101" pitchFamily="49" charset="-122"/>
              </a:rPr>
              <a:t>        </a:t>
            </a:r>
            <a:endParaRPr lang="en-US" altLang="zh-CN" dirty="0">
              <a:latin typeface="KaiTi_GB2312" panose="02010609030101010101" pitchFamily="49" charset="-122"/>
              <a:ea typeface="KaiTi_GB2312" panose="02010609030101010101" pitchFamily="49" charset="-122"/>
            </a:endParaRPr>
          </a:p>
          <a:p>
            <a:pPr lvl="2"/>
            <a:r>
              <a:rPr lang="en-US" dirty="0">
                <a:latin typeface="KaiTi_GB2312" panose="02010609030101010101" pitchFamily="49" charset="-122"/>
                <a:ea typeface="KaiTi_GB2312" panose="02010609030101010101" pitchFamily="49" charset="-122"/>
              </a:rPr>
              <a:t>nothing, nobody, no one</a:t>
            </a:r>
            <a:endParaRPr lang="en-US" altLang="zh-CN" dirty="0">
              <a:latin typeface="KaiTi_GB2312" panose="02010609030101010101" pitchFamily="49" charset="-122"/>
              <a:ea typeface="KaiTi_GB2312" panose="02010609030101010101" pitchFamily="49" charset="-122"/>
            </a:endParaRPr>
          </a:p>
        </p:txBody>
      </p:sp>
    </p:spTree>
    <p:extLst>
      <p:ext uri="{BB962C8B-B14F-4D97-AF65-F5344CB8AC3E}">
        <p14:creationId xmlns:p14="http://schemas.microsoft.com/office/powerpoint/2010/main" val="25825027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1804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43</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716086" y="1504753"/>
            <a:ext cx="10369496" cy="2797048"/>
          </a:xfrm>
          <a:prstGeom prst="rect">
            <a:avLst/>
          </a:prstGeom>
          <a:noFill/>
        </p:spPr>
        <p:txBody>
          <a:bodyPr wrap="square">
            <a:spAutoFit/>
          </a:bodyPr>
          <a:lstStyle/>
          <a:p>
            <a:pPr algn="just">
              <a:lnSpc>
                <a:spcPct val="150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冠词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altLang="zh-CN" sz="2400" dirty="0">
                <a:solidFill>
                  <a:srgbClr val="0432FF"/>
                </a:solidFill>
                <a:effectLst/>
                <a:latin typeface="Microsoft YaHei" panose="020B0503020204020204" pitchFamily="34" charset="-122"/>
                <a:ea typeface="Microsoft YaHei" panose="020B0503020204020204" pitchFamily="34" charset="-122"/>
              </a:rPr>
              <a:t>Article</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是置于名词之前，说明名词所指的人或事物的一种功能词。</a:t>
            </a:r>
            <a:endParaRPr lang="en-US" altLang="zh-CN" sz="2400" dirty="0">
              <a:effectLst/>
              <a:latin typeface="Microsoft YaHei" panose="020B0503020204020204" pitchFamily="34" charset="-122"/>
              <a:ea typeface="Microsoft YaHei" panose="020B0503020204020204" pitchFamily="34" charset="-122"/>
            </a:endParaRPr>
          </a:p>
          <a:p>
            <a:pPr algn="just">
              <a:lnSpc>
                <a:spcPct val="150000"/>
              </a:lnSpc>
            </a:pPr>
            <a:endParaRPr lang="en-US" altLang="zh-CN" sz="2400" dirty="0">
              <a:effectLst/>
              <a:latin typeface="Microsoft YaHei" panose="020B0503020204020204" pitchFamily="34" charset="-122"/>
              <a:ea typeface="Microsoft YaHei" panose="020B0503020204020204" pitchFamily="34" charset="-122"/>
            </a:endParaRPr>
          </a:p>
          <a:p>
            <a:pPr algn="just">
              <a:lnSpc>
                <a:spcPct val="150000"/>
              </a:lnSpc>
            </a:pPr>
            <a:r>
              <a:rPr lang="zh-CN" altLang="en-US" sz="2400" dirty="0">
                <a:effectLst/>
                <a:latin typeface="Microsoft YaHei" panose="020B0503020204020204" pitchFamily="34" charset="-122"/>
                <a:ea typeface="Microsoft YaHei" panose="020B0503020204020204" pitchFamily="34" charset="-122"/>
              </a:rPr>
              <a:t>冠词不能够离开名词而独立存在。英语中冠词有三种冠词：</a:t>
            </a:r>
            <a:r>
              <a:rPr lang="zh-CN" altLang="en-US" sz="2400" b="1" dirty="0">
                <a:solidFill>
                  <a:srgbClr val="7030A0"/>
                </a:solidFill>
                <a:effectLst/>
                <a:latin typeface="Microsoft YaHei" panose="020B0503020204020204" pitchFamily="34" charset="-122"/>
                <a:ea typeface="Microsoft YaHei" panose="020B0503020204020204" pitchFamily="34" charset="-122"/>
              </a:rPr>
              <a:t>定冠词</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Definite article</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the”</a:t>
            </a:r>
            <a:r>
              <a:rPr lang="zh-CN" altLang="en-US" sz="2400" dirty="0">
                <a:effectLst/>
                <a:latin typeface="Microsoft YaHei" panose="020B0503020204020204" pitchFamily="34" charset="-122"/>
                <a:ea typeface="Microsoft YaHei" panose="020B0503020204020204" pitchFamily="34" charset="-122"/>
              </a:rPr>
              <a:t>、</a:t>
            </a:r>
            <a:r>
              <a:rPr lang="zh-CN" altLang="en-US" sz="2400" b="1" dirty="0">
                <a:solidFill>
                  <a:srgbClr val="7030A0"/>
                </a:solidFill>
                <a:effectLst/>
                <a:latin typeface="Microsoft YaHei" panose="020B0503020204020204" pitchFamily="34" charset="-122"/>
                <a:ea typeface="Microsoft YaHei" panose="020B0503020204020204" pitchFamily="34" charset="-122"/>
              </a:rPr>
              <a:t>不定冠词</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Indefinite article</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a/an”</a:t>
            </a:r>
            <a:r>
              <a:rPr lang="zh-CN" altLang="en-US" sz="2400" dirty="0">
                <a:effectLst/>
                <a:latin typeface="Microsoft YaHei" panose="020B0503020204020204" pitchFamily="34" charset="-122"/>
                <a:ea typeface="Microsoft YaHei" panose="020B0503020204020204" pitchFamily="34" charset="-122"/>
              </a:rPr>
              <a:t>和</a:t>
            </a:r>
            <a:r>
              <a:rPr lang="zh-CN" altLang="en-US" sz="2400" b="1" dirty="0">
                <a:solidFill>
                  <a:srgbClr val="7030A0"/>
                </a:solidFill>
                <a:effectLst/>
                <a:latin typeface="Microsoft YaHei" panose="020B0503020204020204" pitchFamily="34" charset="-122"/>
                <a:ea typeface="Microsoft YaHei" panose="020B0503020204020204" pitchFamily="34" charset="-122"/>
              </a:rPr>
              <a:t>零冠词</a:t>
            </a:r>
            <a:r>
              <a:rPr lang="zh-CN" altLang="en-US" sz="2400" dirty="0">
                <a:effectLst/>
                <a:latin typeface="Microsoft YaHei" panose="020B0503020204020204" pitchFamily="34" charset="-122"/>
                <a:ea typeface="Microsoft YaHei" panose="020B0503020204020204" pitchFamily="34" charset="-122"/>
              </a:rPr>
              <a:t>（</a:t>
            </a:r>
            <a:r>
              <a:rPr lang="en-US" altLang="zh-CN" sz="2400" dirty="0">
                <a:effectLst/>
                <a:latin typeface="Microsoft YaHei" panose="020B0503020204020204" pitchFamily="34" charset="-122"/>
                <a:ea typeface="Microsoft YaHei" panose="020B0503020204020204" pitchFamily="34" charset="-122"/>
              </a:rPr>
              <a:t>Zero article</a:t>
            </a:r>
            <a:r>
              <a:rPr lang="zh-CN" altLang="en-US" sz="2400" dirty="0">
                <a:effectLst/>
                <a:latin typeface="Microsoft YaHei" panose="020B0503020204020204" pitchFamily="34" charset="-122"/>
                <a:ea typeface="Microsoft YaHei" panose="020B0503020204020204" pitchFamily="34" charset="-122"/>
              </a:rPr>
              <a:t>）。</a:t>
            </a:r>
            <a:endParaRPr lang="en-US" altLang="zh-CN" sz="2400" dirty="0">
              <a:effectLst/>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3374245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0478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44</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595312" y="1141519"/>
            <a:ext cx="10755082" cy="1689052"/>
          </a:xfrm>
          <a:prstGeom prst="rect">
            <a:avLst/>
          </a:prstGeom>
          <a:noFill/>
        </p:spPr>
        <p:txBody>
          <a:bodyPr wrap="square">
            <a:spAutoFit/>
          </a:bodyPr>
          <a:lstStyle/>
          <a:p>
            <a:pPr algn="just">
              <a:lnSpc>
                <a:spcPct val="150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介词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altLang="zh-CN" sz="2400" dirty="0">
                <a:solidFill>
                  <a:srgbClr val="0432FF"/>
                </a:solidFill>
                <a:effectLst/>
                <a:latin typeface="Microsoft YaHei" panose="020B0503020204020204" pitchFamily="34" charset="-122"/>
                <a:ea typeface="Microsoft YaHei" panose="020B0503020204020204" pitchFamily="34" charset="-122"/>
              </a:rPr>
              <a:t>Preposition</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又称前置词，是用于表示名词或相当于名词的词语与句中其它词语的关系的一类词。介词在句子中不单独作为任何句子成分。介词后面的名词或者相当于名词的词语叫做介词宾语，与介词共同组合成介词短语。</a:t>
            </a:r>
            <a:endParaRPr lang="en-US" altLang="zh-CN" sz="24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595311" y="3339044"/>
            <a:ext cx="10982325" cy="2790187"/>
          </a:xfrm>
          <a:prstGeom prst="rect">
            <a:avLst/>
          </a:prstGeom>
          <a:noFill/>
        </p:spPr>
        <p:txBody>
          <a:bodyPr wrap="square">
            <a:spAutoFit/>
          </a:bodyPr>
          <a:lstStyle/>
          <a:p>
            <a:pPr>
              <a:lnSpc>
                <a:spcPct val="150000"/>
              </a:lnSpc>
            </a:pPr>
            <a:r>
              <a:rPr lang="zh-CN" altLang="en-US" sz="2000" b="1" i="0" dirty="0">
                <a:effectLst/>
                <a:latin typeface="Microsoft YaHei" panose="020B0503020204020204" pitchFamily="34" charset="-122"/>
                <a:ea typeface="Microsoft YaHei" panose="020B0503020204020204" pitchFamily="34" charset="-122"/>
              </a:rPr>
              <a:t>例如</a:t>
            </a:r>
            <a:r>
              <a:rPr lang="zh-CN" altLang="en-US" sz="2000" b="0" i="0" dirty="0">
                <a:effectLst/>
                <a:latin typeface="Microsoft YaHei" panose="020B0503020204020204" pitchFamily="34" charset="-122"/>
                <a:ea typeface="Microsoft YaHei" panose="020B0503020204020204" pitchFamily="34" charset="-122"/>
              </a:rPr>
              <a:t>：</a:t>
            </a:r>
            <a:endParaRPr lang="en-US" altLang="zh-CN" sz="2000" b="0" i="0" dirty="0">
              <a:effectLst/>
              <a:latin typeface="Microsoft YaHei" panose="020B0503020204020204" pitchFamily="34" charset="-122"/>
              <a:ea typeface="Microsoft YaHei" panose="020B0503020204020204" pitchFamily="34" charset="-122"/>
            </a:endParaRPr>
          </a:p>
          <a:p>
            <a:pPr lvl="2">
              <a:lnSpc>
                <a:spcPct val="150000"/>
              </a:lnSpc>
            </a:pPr>
            <a:r>
              <a:rPr lang="en-US" altLang="zh-CN" sz="2000" b="0" i="0" dirty="0">
                <a:effectLst/>
                <a:latin typeface="KaiTi_GB2312" panose="02010609030101010101" pitchFamily="49" charset="-122"/>
                <a:ea typeface="KaiTi_GB2312" panose="02010609030101010101" pitchFamily="49" charset="-122"/>
              </a:rPr>
              <a:t>1</a:t>
            </a:r>
            <a:r>
              <a:rPr lang="zh-CN" altLang="en-US" sz="2000" b="0" i="0" dirty="0">
                <a:effectLst/>
                <a:latin typeface="KaiTi_GB2312" panose="02010609030101010101" pitchFamily="49" charset="-122"/>
                <a:ea typeface="KaiTi_GB2312" panose="02010609030101010101" pitchFamily="49" charset="-122"/>
              </a:rPr>
              <a:t>）简单介词：</a:t>
            </a:r>
            <a:r>
              <a:rPr lang="en-US" altLang="zh-CN" sz="2000" b="0" i="0" dirty="0">
                <a:effectLst/>
                <a:latin typeface="KaiTi_GB2312" panose="02010609030101010101" pitchFamily="49" charset="-122"/>
                <a:ea typeface="KaiTi_GB2312" panose="02010609030101010101" pitchFamily="49" charset="-122"/>
              </a:rPr>
              <a:t>at, in, of, since</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2</a:t>
            </a:r>
            <a:r>
              <a:rPr lang="zh-CN" altLang="en-US" sz="2000" b="0" i="0" dirty="0">
                <a:effectLst/>
                <a:latin typeface="KaiTi_GB2312" panose="02010609030101010101" pitchFamily="49" charset="-122"/>
                <a:ea typeface="KaiTi_GB2312" panose="02010609030101010101" pitchFamily="49" charset="-122"/>
              </a:rPr>
              <a:t>）复合介词：</a:t>
            </a:r>
            <a:r>
              <a:rPr lang="en-US" altLang="zh-CN" sz="2000" b="0" i="0" dirty="0">
                <a:effectLst/>
                <a:latin typeface="KaiTi_GB2312" panose="02010609030101010101" pitchFamily="49" charset="-122"/>
                <a:ea typeface="KaiTi_GB2312" panose="02010609030101010101" pitchFamily="49" charset="-122"/>
              </a:rPr>
              <a:t>as for, as to, out of</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3</a:t>
            </a:r>
            <a:r>
              <a:rPr lang="zh-CN" altLang="en-US" sz="2000" b="0" i="0" dirty="0">
                <a:effectLst/>
                <a:latin typeface="KaiTi_GB2312" panose="02010609030101010101" pitchFamily="49" charset="-122"/>
                <a:ea typeface="KaiTi_GB2312" panose="02010609030101010101" pitchFamily="49" charset="-122"/>
              </a:rPr>
              <a:t>）二重介词：</a:t>
            </a:r>
            <a:r>
              <a:rPr lang="en-US" altLang="zh-CN" sz="2000" b="0" i="0" dirty="0">
                <a:effectLst/>
                <a:latin typeface="KaiTi_GB2312" panose="02010609030101010101" pitchFamily="49" charset="-122"/>
                <a:ea typeface="KaiTi_GB2312" panose="02010609030101010101" pitchFamily="49" charset="-122"/>
              </a:rPr>
              <a:t>from under, from behind</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4</a:t>
            </a:r>
            <a:r>
              <a:rPr lang="zh-CN" altLang="en-US" sz="2000" b="0" i="0" dirty="0">
                <a:effectLst/>
                <a:latin typeface="KaiTi_GB2312" panose="02010609030101010101" pitchFamily="49" charset="-122"/>
                <a:ea typeface="KaiTi_GB2312" panose="02010609030101010101" pitchFamily="49" charset="-122"/>
              </a:rPr>
              <a:t>）短语介词：</a:t>
            </a:r>
            <a:r>
              <a:rPr lang="en-US" altLang="zh-CN" sz="2000" b="0" i="0" dirty="0">
                <a:effectLst/>
                <a:latin typeface="KaiTi_GB2312" panose="02010609030101010101" pitchFamily="49" charset="-122"/>
                <a:ea typeface="KaiTi_GB2312" panose="02010609030101010101" pitchFamily="49" charset="-122"/>
              </a:rPr>
              <a:t>according to, because of</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5</a:t>
            </a:r>
            <a:r>
              <a:rPr lang="zh-CN" altLang="en-US" sz="2000" b="0" i="0" dirty="0">
                <a:effectLst/>
                <a:latin typeface="KaiTi_GB2312" panose="02010609030101010101" pitchFamily="49" charset="-122"/>
                <a:ea typeface="KaiTi_GB2312" panose="02010609030101010101" pitchFamily="49" charset="-122"/>
              </a:rPr>
              <a:t>）分词介词：</a:t>
            </a:r>
            <a:r>
              <a:rPr lang="en-US" altLang="zh-CN" sz="2000" b="0" i="0" dirty="0">
                <a:effectLst/>
                <a:latin typeface="KaiTi_GB2312" panose="02010609030101010101" pitchFamily="49" charset="-122"/>
                <a:ea typeface="KaiTi_GB2312" panose="02010609030101010101" pitchFamily="49" charset="-122"/>
              </a:rPr>
              <a:t>including, regarding</a:t>
            </a:r>
            <a:endParaRPr lang="zh-CN" altLang="en-US" sz="2000" dirty="0">
              <a:latin typeface="KaiTi_GB2312" panose="02010609030101010101" pitchFamily="49" charset="-122"/>
              <a:ea typeface="KaiTi_GB2312" panose="02010609030101010101" pitchFamily="49" charset="-122"/>
            </a:endParaRPr>
          </a:p>
        </p:txBody>
      </p:sp>
    </p:spTree>
    <p:extLst>
      <p:ext uri="{BB962C8B-B14F-4D97-AF65-F5344CB8AC3E}">
        <p14:creationId xmlns:p14="http://schemas.microsoft.com/office/powerpoint/2010/main" val="39047347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0478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45</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887084" y="1121380"/>
            <a:ext cx="10022654" cy="1135054"/>
          </a:xfrm>
          <a:prstGeom prst="rect">
            <a:avLst/>
          </a:prstGeom>
          <a:noFill/>
        </p:spPr>
        <p:txBody>
          <a:bodyPr wrap="square">
            <a:spAutoFit/>
          </a:bodyPr>
          <a:lstStyle/>
          <a:p>
            <a:pPr algn="just">
              <a:lnSpc>
                <a:spcPct val="150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连词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altLang="zh-CN" sz="2400" dirty="0">
                <a:solidFill>
                  <a:srgbClr val="0432FF"/>
                </a:solidFill>
                <a:effectLst/>
                <a:latin typeface="Microsoft YaHei" panose="020B0503020204020204" pitchFamily="34" charset="-122"/>
                <a:ea typeface="Microsoft YaHei" panose="020B0503020204020204" pitchFamily="34" charset="-122"/>
              </a:rPr>
              <a:t>Conjunction</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是连接单词、短语、从句或句子的一类词。在句子中也不单独作为句子成分。</a:t>
            </a:r>
            <a:endParaRPr lang="en-US" altLang="zh-CN" sz="24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1569849" y="2533696"/>
            <a:ext cx="8458994" cy="3251852"/>
          </a:xfrm>
          <a:prstGeom prst="rect">
            <a:avLst/>
          </a:prstGeom>
          <a:noFill/>
        </p:spPr>
        <p:txBody>
          <a:bodyPr wrap="square">
            <a:spAutoFit/>
          </a:bodyPr>
          <a:lstStyle/>
          <a:p>
            <a:pPr>
              <a:lnSpc>
                <a:spcPct val="150000"/>
              </a:lnSpc>
            </a:pPr>
            <a:r>
              <a:rPr lang="zh-CN" altLang="en-US" sz="2000" b="1" i="0" dirty="0">
                <a:effectLst/>
                <a:latin typeface="Microsoft YaHei" panose="020B0503020204020204" pitchFamily="34" charset="-122"/>
                <a:ea typeface="Microsoft YaHei" panose="020B0503020204020204" pitchFamily="34" charset="-122"/>
              </a:rPr>
              <a:t>例如</a:t>
            </a:r>
            <a:r>
              <a:rPr lang="zh-CN" altLang="en-US" sz="2000" b="0" i="0" dirty="0">
                <a:effectLst/>
                <a:latin typeface="Microsoft YaHei" panose="020B0503020204020204" pitchFamily="34" charset="-122"/>
                <a:ea typeface="Microsoft YaHei" panose="020B0503020204020204" pitchFamily="34" charset="-122"/>
              </a:rPr>
              <a:t>：</a:t>
            </a:r>
            <a:endParaRPr lang="en-US" altLang="zh-CN" sz="2000" b="0" i="0" dirty="0">
              <a:effectLst/>
              <a:latin typeface="Microsoft YaHei" panose="020B0503020204020204" pitchFamily="34" charset="-122"/>
              <a:ea typeface="Microsoft YaHei" panose="020B0503020204020204" pitchFamily="34" charset="-122"/>
            </a:endParaRPr>
          </a:p>
          <a:p>
            <a:pPr lvl="2">
              <a:lnSpc>
                <a:spcPct val="150000"/>
              </a:lnSpc>
            </a:pPr>
            <a:r>
              <a:rPr lang="en-US" altLang="zh-CN" sz="2000" b="0" i="0" dirty="0">
                <a:effectLst/>
                <a:latin typeface="KaiTi_GB2312" panose="02010609030101010101" pitchFamily="49" charset="-122"/>
                <a:ea typeface="KaiTi_GB2312" panose="02010609030101010101" pitchFamily="49" charset="-122"/>
              </a:rPr>
              <a:t>1</a:t>
            </a:r>
            <a:r>
              <a:rPr lang="zh-CN" altLang="en-US" sz="2000" b="0" i="0" dirty="0">
                <a:effectLst/>
                <a:latin typeface="KaiTi_GB2312" panose="02010609030101010101" pitchFamily="49" charset="-122"/>
                <a:ea typeface="KaiTi_GB2312" panose="02010609030101010101" pitchFamily="49" charset="-122"/>
              </a:rPr>
              <a:t>）简单连词：</a:t>
            </a:r>
            <a:r>
              <a:rPr lang="en-US" altLang="zh-CN" sz="2000" b="0" i="0" dirty="0">
                <a:effectLst/>
                <a:latin typeface="KaiTi_GB2312" panose="02010609030101010101" pitchFamily="49" charset="-122"/>
                <a:ea typeface="KaiTi_GB2312" panose="02010609030101010101" pitchFamily="49" charset="-122"/>
              </a:rPr>
              <a:t>and, or, but, if</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2</a:t>
            </a:r>
            <a:r>
              <a:rPr lang="zh-CN" altLang="en-US" sz="2000" b="0" i="0" dirty="0">
                <a:effectLst/>
                <a:latin typeface="KaiTi_GB2312" panose="02010609030101010101" pitchFamily="49" charset="-122"/>
                <a:ea typeface="KaiTi_GB2312" panose="02010609030101010101" pitchFamily="49" charset="-122"/>
              </a:rPr>
              <a:t>）关联连词：</a:t>
            </a:r>
            <a:r>
              <a:rPr lang="en-US" altLang="zh-CN" sz="2000" b="0" i="0" dirty="0">
                <a:effectLst/>
                <a:latin typeface="KaiTi_GB2312" panose="02010609030101010101" pitchFamily="49" charset="-122"/>
                <a:ea typeface="KaiTi_GB2312" panose="02010609030101010101" pitchFamily="49" charset="-122"/>
              </a:rPr>
              <a:t>both ... and, not only ... but also</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3</a:t>
            </a:r>
            <a:r>
              <a:rPr lang="zh-CN" altLang="en-US" sz="2000" b="0" i="0" dirty="0">
                <a:effectLst/>
                <a:latin typeface="KaiTi_GB2312" panose="02010609030101010101" pitchFamily="49" charset="-122"/>
                <a:ea typeface="KaiTi_GB2312" panose="02010609030101010101" pitchFamily="49" charset="-122"/>
              </a:rPr>
              <a:t>）分词连词：</a:t>
            </a:r>
            <a:r>
              <a:rPr lang="en-US" altLang="zh-CN" sz="2000" b="0" i="0" dirty="0">
                <a:effectLst/>
                <a:latin typeface="KaiTi_GB2312" panose="02010609030101010101" pitchFamily="49" charset="-122"/>
                <a:ea typeface="KaiTi_GB2312" panose="02010609030101010101" pitchFamily="49" charset="-122"/>
              </a:rPr>
              <a:t>supposing, considering</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4</a:t>
            </a:r>
            <a:r>
              <a:rPr lang="zh-CN" altLang="en-US" sz="2000" b="0" i="0" dirty="0">
                <a:effectLst/>
                <a:latin typeface="KaiTi_GB2312" panose="02010609030101010101" pitchFamily="49" charset="-122"/>
                <a:ea typeface="KaiTi_GB2312" panose="02010609030101010101" pitchFamily="49" charset="-122"/>
              </a:rPr>
              <a:t>）短语连词：</a:t>
            </a:r>
            <a:r>
              <a:rPr lang="en-US" altLang="zh-CN" sz="2000" b="0" i="0" dirty="0">
                <a:effectLst/>
                <a:latin typeface="KaiTi_GB2312" panose="02010609030101010101" pitchFamily="49" charset="-122"/>
                <a:ea typeface="KaiTi_GB2312" panose="02010609030101010101" pitchFamily="49" charset="-122"/>
              </a:rPr>
              <a:t>as if, as long as, in order that</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5</a:t>
            </a:r>
            <a:r>
              <a:rPr lang="zh-CN" altLang="en-US" sz="2000" b="0" i="0" dirty="0">
                <a:effectLst/>
                <a:latin typeface="KaiTi_GB2312" panose="02010609030101010101" pitchFamily="49" charset="-122"/>
                <a:ea typeface="KaiTi_GB2312" panose="02010609030101010101" pitchFamily="49" charset="-122"/>
              </a:rPr>
              <a:t>）并列连词：</a:t>
            </a:r>
            <a:r>
              <a:rPr lang="en-US" altLang="zh-CN" sz="2000" b="0" i="0" dirty="0">
                <a:effectLst/>
                <a:latin typeface="KaiTi_GB2312" panose="02010609030101010101" pitchFamily="49" charset="-122"/>
                <a:ea typeface="KaiTi_GB2312" panose="02010609030101010101" pitchFamily="49" charset="-122"/>
              </a:rPr>
              <a:t>and, or, but, for</a:t>
            </a:r>
          </a:p>
          <a:p>
            <a:pPr lvl="2">
              <a:lnSpc>
                <a:spcPct val="150000"/>
              </a:lnSpc>
            </a:pPr>
            <a:r>
              <a:rPr lang="en-US" altLang="zh-CN" sz="2000" b="0" i="0" dirty="0">
                <a:effectLst/>
                <a:latin typeface="KaiTi_GB2312" panose="02010609030101010101" pitchFamily="49" charset="-122"/>
                <a:ea typeface="KaiTi_GB2312" panose="02010609030101010101" pitchFamily="49" charset="-122"/>
              </a:rPr>
              <a:t>6</a:t>
            </a:r>
            <a:r>
              <a:rPr lang="zh-CN" altLang="en-US" sz="2000" b="0" i="0" dirty="0">
                <a:effectLst/>
                <a:latin typeface="KaiTi_GB2312" panose="02010609030101010101" pitchFamily="49" charset="-122"/>
                <a:ea typeface="KaiTi_GB2312" panose="02010609030101010101" pitchFamily="49" charset="-122"/>
              </a:rPr>
              <a:t>）从属连词：</a:t>
            </a:r>
            <a:r>
              <a:rPr lang="en-US" altLang="zh-CN" sz="2000" b="0" i="0" dirty="0">
                <a:effectLst/>
                <a:latin typeface="KaiTi_GB2312" panose="02010609030101010101" pitchFamily="49" charset="-122"/>
                <a:ea typeface="KaiTi_GB2312" panose="02010609030101010101" pitchFamily="49" charset="-122"/>
              </a:rPr>
              <a:t>that, whether, when, </a:t>
            </a:r>
            <a:r>
              <a:rPr lang="en-US" altLang="zh-CN" sz="2000" b="0" i="0" dirty="0" err="1">
                <a:effectLst/>
                <a:latin typeface="KaiTi_GB2312" panose="02010609030101010101" pitchFamily="49" charset="-122"/>
                <a:ea typeface="KaiTi_GB2312" panose="02010609030101010101" pitchFamily="49" charset="-122"/>
              </a:rPr>
              <a:t>becaus</a:t>
            </a:r>
            <a:endParaRPr lang="zh-CN" altLang="en-US" sz="2000" dirty="0">
              <a:latin typeface="KaiTi_GB2312" panose="02010609030101010101" pitchFamily="49" charset="-122"/>
              <a:ea typeface="KaiTi_GB2312" panose="02010609030101010101" pitchFamily="49" charset="-122"/>
            </a:endParaRPr>
          </a:p>
        </p:txBody>
      </p:sp>
    </p:spTree>
    <p:extLst>
      <p:ext uri="{BB962C8B-B14F-4D97-AF65-F5344CB8AC3E}">
        <p14:creationId xmlns:p14="http://schemas.microsoft.com/office/powerpoint/2010/main" val="3297049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41925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46</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996952" y="1342616"/>
            <a:ext cx="9732926" cy="1689052"/>
          </a:xfrm>
          <a:prstGeom prst="rect">
            <a:avLst/>
          </a:prstGeom>
          <a:noFill/>
        </p:spPr>
        <p:txBody>
          <a:bodyPr wrap="square">
            <a:spAutoFit/>
          </a:bodyPr>
          <a:lstStyle/>
          <a:p>
            <a:pPr algn="just">
              <a:lnSpc>
                <a:spcPct val="150000"/>
              </a:lnSpc>
            </a:pPr>
            <a:r>
              <a:rPr lang="zh-CN" altLang="en-US" sz="2400" b="1" dirty="0">
                <a:solidFill>
                  <a:srgbClr val="0432FF"/>
                </a:solidFill>
                <a:effectLst/>
                <a:latin typeface="Microsoft YaHei" panose="020B0503020204020204" pitchFamily="34" charset="-122"/>
                <a:ea typeface="Microsoft YaHei" panose="020B0503020204020204" pitchFamily="34" charset="-122"/>
              </a:rPr>
              <a:t>感叹词</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en-US" altLang="zh-CN" sz="2400" dirty="0">
                <a:solidFill>
                  <a:srgbClr val="0432FF"/>
                </a:solidFill>
                <a:effectLst/>
                <a:latin typeface="Microsoft YaHei" panose="020B0503020204020204" pitchFamily="34" charset="-122"/>
                <a:ea typeface="Microsoft YaHei" panose="020B0503020204020204" pitchFamily="34" charset="-122"/>
              </a:rPr>
              <a:t>Interjection</a:t>
            </a:r>
            <a:r>
              <a:rPr lang="zh-CN" altLang="en-US" sz="2400" dirty="0">
                <a:solidFill>
                  <a:srgbClr val="0432FF"/>
                </a:solidFill>
                <a:effectLst/>
                <a:latin typeface="Microsoft YaHei" panose="020B0503020204020204" pitchFamily="34" charset="-122"/>
                <a:ea typeface="Microsoft YaHei" panose="020B0503020204020204" pitchFamily="34" charset="-122"/>
              </a:rPr>
              <a:t>）</a:t>
            </a:r>
            <a:r>
              <a:rPr lang="zh-CN" altLang="en-US" sz="2400" dirty="0">
                <a:effectLst/>
                <a:latin typeface="Microsoft YaHei" panose="020B0503020204020204" pitchFamily="34" charset="-122"/>
                <a:ea typeface="Microsoft YaHei" panose="020B0503020204020204" pitchFamily="34" charset="-122"/>
              </a:rPr>
              <a:t>是用来表示喜怒哀乐等情绪或情感的一类词。感叹词也没有实际意义，也不能在句子中构成任何句子成分，但是与全句有关联。</a:t>
            </a:r>
            <a:endParaRPr lang="en-US" altLang="zh-CN" sz="24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B1ADF65-3FFE-A574-E698-8F95B51EFBEB}"/>
              </a:ext>
            </a:extLst>
          </p:cNvPr>
          <p:cNvSpPr txBox="1"/>
          <p:nvPr/>
        </p:nvSpPr>
        <p:spPr>
          <a:xfrm>
            <a:off x="1459407" y="3610183"/>
            <a:ext cx="9938572" cy="1405193"/>
          </a:xfrm>
          <a:prstGeom prst="rect">
            <a:avLst/>
          </a:prstGeom>
          <a:noFill/>
        </p:spPr>
        <p:txBody>
          <a:bodyPr wrap="square">
            <a:spAutoFit/>
          </a:bodyPr>
          <a:lstStyle/>
          <a:p>
            <a:pPr>
              <a:lnSpc>
                <a:spcPct val="150000"/>
              </a:lnSpc>
            </a:pPr>
            <a:r>
              <a:rPr lang="zh-CN" altLang="en-US" sz="2000" b="1" i="0" dirty="0">
                <a:effectLst/>
                <a:latin typeface="Microsoft YaHei" panose="020B0503020204020204" pitchFamily="34" charset="-122"/>
                <a:ea typeface="Microsoft YaHei" panose="020B0503020204020204" pitchFamily="34" charset="-122"/>
              </a:rPr>
              <a:t>例如</a:t>
            </a:r>
            <a:r>
              <a:rPr lang="zh-CN" altLang="en-US" sz="2000" b="0" i="0" dirty="0">
                <a:effectLst/>
                <a:latin typeface="Microsoft YaHei" panose="020B0503020204020204" pitchFamily="34" charset="-122"/>
                <a:ea typeface="Microsoft YaHei" panose="020B0503020204020204" pitchFamily="34" charset="-122"/>
              </a:rPr>
              <a:t>：</a:t>
            </a:r>
            <a:endParaRPr lang="en-US" altLang="zh-CN" sz="2000" b="0" i="0" dirty="0">
              <a:effectLst/>
              <a:latin typeface="Microsoft YaHei" panose="020B0503020204020204" pitchFamily="34" charset="-122"/>
              <a:ea typeface="Microsoft YaHei" panose="020B0503020204020204" pitchFamily="34" charset="-122"/>
            </a:endParaRPr>
          </a:p>
          <a:p>
            <a:pPr lvl="2">
              <a:lnSpc>
                <a:spcPct val="150000"/>
              </a:lnSpc>
            </a:pPr>
            <a:r>
              <a:rPr lang="en-US" altLang="zh-CN" sz="2000" b="0" i="0" dirty="0">
                <a:effectLst/>
                <a:latin typeface="KaiTi_GB2312" panose="02010609030101010101" pitchFamily="49" charset="-122"/>
                <a:ea typeface="KaiTi_GB2312" panose="02010609030101010101" pitchFamily="49" charset="-122"/>
              </a:rPr>
              <a:t>‘Oh‘, it’s you. </a:t>
            </a:r>
            <a:r>
              <a:rPr lang="zh-CN" altLang="en-US" sz="2000" b="0" i="0" dirty="0">
                <a:effectLst/>
                <a:latin typeface="KaiTi_GB2312" panose="02010609030101010101" pitchFamily="49" charset="-122"/>
                <a:ea typeface="KaiTi_GB2312" panose="02010609030101010101" pitchFamily="49" charset="-122"/>
              </a:rPr>
              <a:t>啊，是你</a:t>
            </a:r>
          </a:p>
          <a:p>
            <a:pPr lvl="2">
              <a:lnSpc>
                <a:spcPct val="150000"/>
              </a:lnSpc>
            </a:pPr>
            <a:r>
              <a:rPr lang="zh-CN" altLang="en-US" sz="2000" b="0" i="0" dirty="0">
                <a:effectLst/>
                <a:latin typeface="KaiTi_GB2312" panose="02010609030101010101" pitchFamily="49" charset="-122"/>
                <a:ea typeface="KaiTi_GB2312" panose="02010609030101010101" pitchFamily="49" charset="-122"/>
              </a:rPr>
              <a:t>‘</a:t>
            </a:r>
            <a:r>
              <a:rPr lang="en-US" altLang="zh-CN" sz="2000" b="0" i="0" dirty="0">
                <a:effectLst/>
                <a:latin typeface="KaiTi_GB2312" panose="02010609030101010101" pitchFamily="49" charset="-122"/>
                <a:ea typeface="KaiTi_GB2312" panose="02010609030101010101" pitchFamily="49" charset="-122"/>
              </a:rPr>
              <a:t>Ah‘</a:t>
            </a:r>
            <a:r>
              <a:rPr lang="zh-CN" altLang="en-US" sz="2000" b="0" i="0" dirty="0">
                <a:effectLst/>
                <a:latin typeface="KaiTi_GB2312" panose="02010609030101010101" pitchFamily="49" charset="-122"/>
                <a:ea typeface="KaiTi_GB2312" panose="02010609030101010101" pitchFamily="49" charset="-122"/>
              </a:rPr>
              <a:t>，</a:t>
            </a:r>
            <a:r>
              <a:rPr lang="en-US" altLang="zh-CN" sz="2000" b="0" i="0" dirty="0">
                <a:effectLst/>
                <a:latin typeface="KaiTi_GB2312" panose="02010609030101010101" pitchFamily="49" charset="-122"/>
                <a:ea typeface="KaiTi_GB2312" panose="02010609030101010101" pitchFamily="49" charset="-122"/>
              </a:rPr>
              <a:t>how pitiful</a:t>
            </a:r>
            <a:r>
              <a:rPr lang="zh-CN" altLang="en-US" sz="2000" b="0" i="0" dirty="0">
                <a:effectLst/>
                <a:latin typeface="KaiTi_GB2312" panose="02010609030101010101" pitchFamily="49" charset="-122"/>
                <a:ea typeface="KaiTi_GB2312" panose="02010609030101010101" pitchFamily="49" charset="-122"/>
              </a:rPr>
              <a:t>！呀，多可惜</a:t>
            </a:r>
            <a:endParaRPr lang="zh-CN" altLang="en-US" sz="2000" dirty="0">
              <a:latin typeface="KaiTi_GB2312" panose="02010609030101010101" pitchFamily="49" charset="-122"/>
              <a:ea typeface="KaiTi_GB2312" panose="02010609030101010101" pitchFamily="49" charset="-122"/>
            </a:endParaRPr>
          </a:p>
        </p:txBody>
      </p:sp>
    </p:spTree>
    <p:extLst>
      <p:ext uri="{BB962C8B-B14F-4D97-AF65-F5344CB8AC3E}">
        <p14:creationId xmlns:p14="http://schemas.microsoft.com/office/powerpoint/2010/main" val="37642876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9538527"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2.1.2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词的词性</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47</a:t>
            </a:fld>
            <a:endParaRPr lang="zh-CN" altLang="en-US"/>
          </a:p>
        </p:txBody>
      </p:sp>
      <p:sp>
        <p:nvSpPr>
          <p:cNvPr id="4" name="TextBox 3">
            <a:extLst>
              <a:ext uri="{FF2B5EF4-FFF2-40B4-BE49-F238E27FC236}">
                <a16:creationId xmlns:a16="http://schemas.microsoft.com/office/drawing/2014/main" id="{60C71DE8-6C95-AC96-587D-EC37D6C8F388}"/>
              </a:ext>
            </a:extLst>
          </p:cNvPr>
          <p:cNvSpPr txBox="1"/>
          <p:nvPr/>
        </p:nvSpPr>
        <p:spPr>
          <a:xfrm>
            <a:off x="1151906" y="1389140"/>
            <a:ext cx="10306434" cy="3700437"/>
          </a:xfrm>
          <a:prstGeom prst="rect">
            <a:avLst/>
          </a:prstGeom>
          <a:noFill/>
        </p:spPr>
        <p:txBody>
          <a:bodyPr wrap="square">
            <a:spAutoFit/>
          </a:bodyPr>
          <a:lstStyle/>
          <a:p>
            <a:pPr algn="just">
              <a:lnSpc>
                <a:spcPct val="150000"/>
              </a:lnSpc>
              <a:spcBef>
                <a:spcPts val="1200"/>
              </a:spcBef>
            </a:pPr>
            <a:r>
              <a:rPr lang="zh-CN" altLang="en-US" sz="2400" dirty="0">
                <a:effectLst/>
                <a:latin typeface="Microsoft YaHei" panose="020B0503020204020204" pitchFamily="34" charset="-122"/>
                <a:ea typeface="Microsoft YaHei" panose="020B0503020204020204" pitchFamily="34" charset="-122"/>
              </a:rPr>
              <a:t>在语言学研究中，对于词性划分的标准、依据甚至目的等都存在大量分歧。到目前为止，还</a:t>
            </a:r>
            <a:r>
              <a:rPr lang="zh-CN" altLang="en-US" sz="2400" b="1" dirty="0">
                <a:solidFill>
                  <a:srgbClr val="C00000"/>
                </a:solidFill>
                <a:effectLst/>
                <a:latin typeface="Microsoft YaHei" panose="020B0503020204020204" pitchFamily="34" charset="-122"/>
                <a:ea typeface="Microsoft YaHei" panose="020B0503020204020204" pitchFamily="34" charset="-122"/>
              </a:rPr>
              <a:t>没有一个被广泛认可的统一划分标准</a:t>
            </a:r>
            <a:r>
              <a:rPr lang="zh-CN" altLang="en-US" sz="2400" dirty="0">
                <a:effectLst/>
                <a:latin typeface="Microsoft YaHei" panose="020B0503020204020204" pitchFamily="34" charset="-122"/>
                <a:ea typeface="Microsoft YaHei" panose="020B0503020204020204" pitchFamily="34" charset="-122"/>
              </a:rPr>
              <a:t>。</a:t>
            </a:r>
            <a:endParaRPr lang="en-US" altLang="zh-CN" sz="2400" dirty="0">
              <a:effectLst/>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400" dirty="0">
                <a:effectLst/>
                <a:latin typeface="Microsoft YaHei" panose="020B0503020204020204" pitchFamily="34" charset="-122"/>
                <a:ea typeface="Microsoft YaHei" panose="020B0503020204020204" pitchFamily="34" charset="-122"/>
              </a:rPr>
              <a:t>在不同的语料集中所采用的</a:t>
            </a:r>
            <a:r>
              <a:rPr lang="zh-CN" altLang="en-US" sz="2400" b="1" dirty="0">
                <a:solidFill>
                  <a:srgbClr val="0432FF"/>
                </a:solidFill>
                <a:effectLst/>
                <a:latin typeface="Microsoft YaHei" panose="020B0503020204020204" pitchFamily="34" charset="-122"/>
                <a:ea typeface="Microsoft YaHei" panose="020B0503020204020204" pitchFamily="34" charset="-122"/>
              </a:rPr>
              <a:t>划分粒度</a:t>
            </a:r>
            <a:r>
              <a:rPr lang="zh-CN" altLang="en-US" sz="2400" b="1" dirty="0">
                <a:effectLst/>
                <a:latin typeface="Microsoft YaHei" panose="020B0503020204020204" pitchFamily="34" charset="-122"/>
                <a:ea typeface="Microsoft YaHei" panose="020B0503020204020204" pitchFamily="34" charset="-122"/>
              </a:rPr>
              <a:t>和</a:t>
            </a:r>
            <a:r>
              <a:rPr lang="zh-CN" altLang="en-US" sz="2400" b="1" dirty="0">
                <a:solidFill>
                  <a:srgbClr val="0432FF"/>
                </a:solidFill>
                <a:effectLst/>
                <a:latin typeface="Microsoft YaHei" panose="020B0503020204020204" pitchFamily="34" charset="-122"/>
                <a:ea typeface="Microsoft YaHei" panose="020B0503020204020204" pitchFamily="34" charset="-122"/>
              </a:rPr>
              <a:t>标记符号</a:t>
            </a:r>
            <a:r>
              <a:rPr lang="zh-CN" altLang="en-US" sz="2400" b="1" dirty="0">
                <a:effectLst/>
                <a:latin typeface="Microsoft YaHei" panose="020B0503020204020204" pitchFamily="34" charset="-122"/>
                <a:ea typeface="Microsoft YaHei" panose="020B0503020204020204" pitchFamily="34" charset="-122"/>
              </a:rPr>
              <a:t>也都不尽相同</a:t>
            </a:r>
            <a:r>
              <a:rPr lang="zh-CN" altLang="en-US" sz="2400" dirty="0">
                <a:effectLst/>
                <a:latin typeface="Microsoft YaHei" panose="020B0503020204020204" pitchFamily="34" charset="-122"/>
                <a:ea typeface="Microsoft YaHei" panose="020B0503020204020204" pitchFamily="34" charset="-122"/>
              </a:rPr>
              <a:t>。</a:t>
            </a:r>
            <a:endParaRPr lang="en-US" altLang="zh-CN" sz="2400" dirty="0">
              <a:effectLst/>
              <a:latin typeface="Microsoft YaHei" panose="020B0503020204020204" pitchFamily="34" charset="-122"/>
              <a:ea typeface="Microsoft YaHei" panose="020B0503020204020204" pitchFamily="34" charset="-122"/>
            </a:endParaRPr>
          </a:p>
          <a:p>
            <a:pPr marL="457200" indent="-457200" algn="just">
              <a:lnSpc>
                <a:spcPct val="150000"/>
              </a:lnSpc>
              <a:spcBef>
                <a:spcPts val="1200"/>
              </a:spcBef>
              <a:buFont typeface="Arial" panose="020B0604020202020204" pitchFamily="34" charset="0"/>
              <a:buChar char="•"/>
            </a:pPr>
            <a:r>
              <a:rPr lang="zh-CN" altLang="en-US" sz="2000" dirty="0">
                <a:effectLst/>
                <a:latin typeface="Microsoft YaHei" panose="020B0503020204020204" pitchFamily="34" charset="-122"/>
                <a:ea typeface="Microsoft YaHei" panose="020B0503020204020204" pitchFamily="34" charset="-122"/>
              </a:rPr>
              <a:t>英语宾州树库（</a:t>
            </a:r>
            <a:r>
              <a:rPr lang="en-US" altLang="zh-CN" sz="2000" dirty="0">
                <a:effectLst/>
                <a:latin typeface="Microsoft YaHei" panose="020B0503020204020204" pitchFamily="34" charset="-122"/>
                <a:ea typeface="Microsoft YaHei" panose="020B0503020204020204" pitchFamily="34" charset="-122"/>
              </a:rPr>
              <a:t>Penn </a:t>
            </a:r>
            <a:r>
              <a:rPr lang="en-US" altLang="zh-CN" sz="2000" dirty="0" err="1">
                <a:effectLst/>
                <a:latin typeface="Microsoft YaHei" panose="020B0503020204020204" pitchFamily="34" charset="-122"/>
                <a:ea typeface="Microsoft YaHei" panose="020B0503020204020204" pitchFamily="34" charset="-122"/>
              </a:rPr>
              <a:t>TreeBank</a:t>
            </a:r>
            <a:r>
              <a:rPr lang="zh-CN" altLang="en-US" sz="2000" dirty="0">
                <a:effectLst/>
                <a:latin typeface="Microsoft YaHei" panose="020B0503020204020204" pitchFamily="34" charset="-122"/>
                <a:ea typeface="Microsoft YaHei" panose="020B0503020204020204" pitchFamily="34" charset="-122"/>
              </a:rPr>
              <a:t>）使用了 </a:t>
            </a:r>
            <a:r>
              <a:rPr lang="en-US" altLang="zh-CN" sz="2000" dirty="0">
                <a:effectLst/>
                <a:latin typeface="Microsoft YaHei" panose="020B0503020204020204" pitchFamily="34" charset="-122"/>
                <a:ea typeface="Microsoft YaHei" panose="020B0503020204020204" pitchFamily="34" charset="-122"/>
              </a:rPr>
              <a:t>48 </a:t>
            </a:r>
            <a:r>
              <a:rPr lang="zh-CN" altLang="en-US" sz="2000" dirty="0">
                <a:effectLst/>
                <a:latin typeface="Microsoft YaHei" panose="020B0503020204020204" pitchFamily="34" charset="-122"/>
                <a:ea typeface="Microsoft YaHei" panose="020B0503020204020204" pitchFamily="34" charset="-122"/>
              </a:rPr>
              <a:t>种不同的词性</a:t>
            </a:r>
            <a:endParaRPr lang="en-US" altLang="zh-CN" sz="2000" dirty="0">
              <a:effectLst/>
              <a:latin typeface="Microsoft YaHei" panose="020B0503020204020204" pitchFamily="34" charset="-122"/>
              <a:ea typeface="Microsoft YaHei" panose="020B0503020204020204" pitchFamily="34" charset="-122"/>
            </a:endParaRPr>
          </a:p>
          <a:p>
            <a:pPr marL="457200" indent="-457200" algn="just">
              <a:lnSpc>
                <a:spcPct val="150000"/>
              </a:lnSpc>
              <a:spcBef>
                <a:spcPts val="1200"/>
              </a:spcBef>
              <a:buFont typeface="Arial" panose="020B0604020202020204" pitchFamily="34" charset="0"/>
              <a:buChar char="•"/>
            </a:pPr>
            <a:r>
              <a:rPr lang="zh-CN" altLang="en-US" sz="2000" dirty="0">
                <a:effectLst/>
                <a:latin typeface="Microsoft YaHei" panose="020B0503020204020204" pitchFamily="34" charset="-122"/>
                <a:ea typeface="Microsoft YaHei" panose="020B0503020204020204" pitchFamily="34" charset="-122"/>
              </a:rPr>
              <a:t>汉语宾州树库（</a:t>
            </a:r>
            <a:r>
              <a:rPr lang="en-US" altLang="zh-CN" sz="2000" dirty="0">
                <a:effectLst/>
                <a:latin typeface="Microsoft YaHei" panose="020B0503020204020204" pitchFamily="34" charset="-122"/>
                <a:ea typeface="Microsoft YaHei" panose="020B0503020204020204" pitchFamily="34" charset="-122"/>
              </a:rPr>
              <a:t>Chinese Penn Treebank</a:t>
            </a:r>
            <a:r>
              <a:rPr lang="zh-CN" altLang="en-US" sz="2000" dirty="0">
                <a:effectLst/>
                <a:latin typeface="Microsoft YaHei" panose="020B0503020204020204" pitchFamily="34" charset="-122"/>
                <a:ea typeface="Microsoft YaHei" panose="020B0503020204020204" pitchFamily="34" charset="-122"/>
              </a:rPr>
              <a:t>）中汉语词性被划分为 </a:t>
            </a:r>
            <a:r>
              <a:rPr lang="en-US" altLang="zh-CN" sz="2000" dirty="0">
                <a:effectLst/>
                <a:latin typeface="Microsoft YaHei" panose="020B0503020204020204" pitchFamily="34" charset="-122"/>
                <a:ea typeface="Microsoft YaHei" panose="020B0503020204020204" pitchFamily="34" charset="-122"/>
              </a:rPr>
              <a:t>33 </a:t>
            </a:r>
            <a:r>
              <a:rPr lang="zh-CN" altLang="en-US" sz="2000" dirty="0">
                <a:effectLst/>
                <a:latin typeface="Microsoft YaHei" panose="020B0503020204020204" pitchFamily="34" charset="-122"/>
                <a:ea typeface="Microsoft YaHei" panose="020B0503020204020204" pitchFamily="34" charset="-122"/>
              </a:rPr>
              <a:t>类</a:t>
            </a:r>
            <a:endParaRPr lang="en-US" altLang="zh-CN" sz="2000" dirty="0">
              <a:effectLst/>
              <a:latin typeface="Microsoft YaHei" panose="020B0503020204020204" pitchFamily="34" charset="-122"/>
              <a:ea typeface="Microsoft YaHei" panose="020B0503020204020204" pitchFamily="34" charset="-122"/>
            </a:endParaRPr>
          </a:p>
          <a:p>
            <a:pPr marL="457200" indent="-457200" algn="just">
              <a:lnSpc>
                <a:spcPct val="150000"/>
              </a:lnSpc>
              <a:spcBef>
                <a:spcPts val="1200"/>
              </a:spcBef>
              <a:buFont typeface="Arial" panose="020B0604020202020204" pitchFamily="34" charset="0"/>
              <a:buChar char="•"/>
            </a:pPr>
            <a:r>
              <a:rPr lang="zh-CN" altLang="en-US" sz="2000" dirty="0">
                <a:effectLst/>
                <a:latin typeface="Microsoft YaHei" panose="020B0503020204020204" pitchFamily="34" charset="-122"/>
                <a:ea typeface="Microsoft YaHei" panose="020B0503020204020204" pitchFamily="34" charset="-122"/>
              </a:rPr>
              <a:t>布朗语料库（</a:t>
            </a:r>
            <a:r>
              <a:rPr lang="en-US" altLang="zh-CN" sz="2000" dirty="0">
                <a:effectLst/>
                <a:latin typeface="Microsoft YaHei" panose="020B0503020204020204" pitchFamily="34" charset="-122"/>
                <a:ea typeface="Microsoft YaHei" panose="020B0503020204020204" pitchFamily="34" charset="-122"/>
              </a:rPr>
              <a:t>Brown Corpus</a:t>
            </a:r>
            <a:r>
              <a:rPr lang="zh-CN" altLang="en-US" sz="2000" dirty="0">
                <a:effectLst/>
                <a:latin typeface="Microsoft YaHei" panose="020B0503020204020204" pitchFamily="34" charset="-122"/>
                <a:ea typeface="Microsoft YaHei" panose="020B0503020204020204" pitchFamily="34" charset="-122"/>
              </a:rPr>
              <a:t>）中则使用了具有 </a:t>
            </a:r>
            <a:r>
              <a:rPr lang="en-US" altLang="zh-CN" sz="2000" dirty="0">
                <a:effectLst/>
                <a:latin typeface="Microsoft YaHei" panose="020B0503020204020204" pitchFamily="34" charset="-122"/>
                <a:ea typeface="Microsoft YaHei" panose="020B0503020204020204" pitchFamily="34" charset="-122"/>
              </a:rPr>
              <a:t>87 </a:t>
            </a:r>
            <a:r>
              <a:rPr lang="zh-CN" altLang="en-US" sz="2000" dirty="0">
                <a:effectLst/>
                <a:latin typeface="Microsoft YaHei" panose="020B0503020204020204" pitchFamily="34" charset="-122"/>
                <a:ea typeface="Microsoft YaHei" panose="020B0503020204020204" pitchFamily="34" charset="-122"/>
              </a:rPr>
              <a:t>个词性</a:t>
            </a:r>
          </a:p>
        </p:txBody>
      </p:sp>
    </p:spTree>
    <p:extLst>
      <p:ext uri="{BB962C8B-B14F-4D97-AF65-F5344CB8AC3E}">
        <p14:creationId xmlns:p14="http://schemas.microsoft.com/office/powerpoint/2010/main" val="2177875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a:t>
            </a:r>
            <a:r>
              <a:rPr lang="en-US" altLang="zh-CN" dirty="0"/>
              <a:t>1</a:t>
            </a:r>
            <a:r>
              <a:rPr lang="en-US" dirty="0"/>
              <a:t>.</a:t>
            </a:r>
            <a:r>
              <a:rPr lang="en-US" altLang="zh-CN" dirty="0"/>
              <a:t>2</a:t>
            </a:r>
            <a:r>
              <a:rPr lang="en-US" dirty="0"/>
              <a:t> </a:t>
            </a:r>
            <a:r>
              <a:rPr lang="zh-CN" altLang="en-US" dirty="0"/>
              <a:t>自然语言处理方法</a:t>
            </a:r>
            <a:endParaRPr lang="en-US" dirty="0"/>
          </a:p>
        </p:txBody>
      </p:sp>
      <p:sp>
        <p:nvSpPr>
          <p:cNvPr id="9" name="文本框 8"/>
          <p:cNvSpPr txBox="1"/>
          <p:nvPr/>
        </p:nvSpPr>
        <p:spPr>
          <a:xfrm>
            <a:off x="1069147" y="1481615"/>
            <a:ext cx="9980682" cy="1641475"/>
          </a:xfrm>
          <a:prstGeom prst="rect">
            <a:avLst/>
          </a:prstGeom>
          <a:noFill/>
        </p:spPr>
        <p:txBody>
          <a:bodyPr wrap="square" rtlCol="0">
            <a:spAutoFit/>
          </a:bodyPr>
          <a:lstStyle/>
          <a:p>
            <a:r>
              <a:rPr lang="zh-CN" altLang="zh-CN" sz="2400" dirty="0">
                <a:solidFill>
                  <a:srgbClr val="0432FF"/>
                </a:solidFill>
                <a:latin typeface="宋体" panose="02010600030101010101" pitchFamily="2" charset="-122"/>
                <a:ea typeface="宋体" panose="02010600030101010101" pitchFamily="2" charset="-122"/>
              </a:rPr>
              <a:t>（</a:t>
            </a:r>
            <a:r>
              <a:rPr lang="en-US" altLang="zh-CN" sz="2400" dirty="0">
                <a:solidFill>
                  <a:srgbClr val="0432FF"/>
                </a:solidFill>
                <a:latin typeface="宋体" panose="02010600030101010101" pitchFamily="2" charset="-122"/>
                <a:ea typeface="宋体" panose="02010600030101010101" pitchFamily="2" charset="-122"/>
              </a:rPr>
              <a:t>1</a:t>
            </a:r>
            <a:r>
              <a:rPr lang="zh-CN" altLang="zh-CN" sz="2400" dirty="0">
                <a:solidFill>
                  <a:srgbClr val="0432FF"/>
                </a:solidFill>
                <a:latin typeface="宋体" panose="02010600030101010101" pitchFamily="2" charset="-122"/>
                <a:ea typeface="宋体" panose="02010600030101010101" pitchFamily="2" charset="-122"/>
              </a:rPr>
              <a:t>）</a:t>
            </a:r>
            <a:r>
              <a:rPr lang="zh-CN" altLang="en-US" sz="2400" dirty="0">
                <a:solidFill>
                  <a:srgbClr val="0432FF"/>
                </a:solidFill>
                <a:latin typeface="宋体" panose="02010600030101010101" pitchFamily="2" charset="-122"/>
                <a:ea typeface="宋体" panose="02010600030101010101" pitchFamily="2" charset="-122"/>
              </a:rPr>
              <a:t>词法分析</a:t>
            </a:r>
            <a:endParaRPr lang="en-US" altLang="zh-CN" sz="2400" dirty="0">
              <a:solidFill>
                <a:srgbClr val="0432FF"/>
              </a:solidFill>
              <a:latin typeface="宋体" panose="02010600030101010101" pitchFamily="2" charset="-122"/>
              <a:ea typeface="宋体" panose="02010600030101010101" pitchFamily="2" charset="-122"/>
            </a:endParaRPr>
          </a:p>
          <a:p>
            <a:pPr marL="342900" indent="-342900">
              <a:spcBef>
                <a:spcPts val="1000"/>
              </a:spcBef>
              <a:buFont typeface="Arial" panose="020B0604020202020204" pitchFamily="34" charset="0"/>
              <a:buChar char="•"/>
            </a:pPr>
            <a:r>
              <a:rPr lang="zh-CN" altLang="zh-CN" sz="2000" dirty="0">
                <a:solidFill>
                  <a:srgbClr val="7030A0"/>
                </a:solidFill>
                <a:latin typeface="宋体" panose="02010600030101010101" pitchFamily="2" charset="-122"/>
                <a:ea typeface="宋体" panose="02010600030101010101" pitchFamily="2" charset="-122"/>
              </a:rPr>
              <a:t>词语切分（</a:t>
            </a:r>
            <a:r>
              <a:rPr lang="en-US" altLang="zh-CN" sz="2000" dirty="0">
                <a:solidFill>
                  <a:srgbClr val="7030A0"/>
                </a:solidFill>
                <a:latin typeface="宋体" panose="02010600030101010101" pitchFamily="2" charset="-122"/>
                <a:ea typeface="宋体" panose="02010600030101010101" pitchFamily="2" charset="-122"/>
              </a:rPr>
              <a:t>word tokenization</a:t>
            </a:r>
            <a:r>
              <a:rPr lang="zh-CN" altLang="zh-CN" sz="2000" dirty="0">
                <a:solidFill>
                  <a:srgbClr val="7030A0"/>
                </a:solidFill>
                <a:latin typeface="宋体" panose="02010600030101010101" pitchFamily="2" charset="-122"/>
                <a:ea typeface="宋体" panose="02010600030101010101" pitchFamily="2" charset="-122"/>
              </a:rPr>
              <a:t>）</a:t>
            </a:r>
            <a:endParaRPr lang="en-US" altLang="zh-CN" sz="2000" dirty="0">
              <a:solidFill>
                <a:srgbClr val="7030A0"/>
              </a:solidFill>
              <a:latin typeface="宋体" panose="02010600030101010101" pitchFamily="2" charset="-122"/>
              <a:ea typeface="宋体" panose="02010600030101010101" pitchFamily="2" charset="-122"/>
            </a:endParaRPr>
          </a:p>
          <a:p>
            <a:pPr>
              <a:spcBef>
                <a:spcPts val="1000"/>
              </a:spcBef>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句子是单词的集合，对句子进行词语切分，本质上就是将一个句子分割成一个单词列表，该单词列表又可以重新还原为原句子。</a:t>
            </a:r>
          </a:p>
        </p:txBody>
      </p:sp>
      <p:sp>
        <p:nvSpPr>
          <p:cNvPr id="7" name="文本框 6"/>
          <p:cNvSpPr txBox="1"/>
          <p:nvPr/>
        </p:nvSpPr>
        <p:spPr>
          <a:xfrm>
            <a:off x="2016666" y="4914701"/>
            <a:ext cx="3756661" cy="1708160"/>
          </a:xfrm>
          <a:prstGeom prst="rect">
            <a:avLst/>
          </a:prstGeom>
          <a:noFill/>
        </p:spPr>
        <p:txBody>
          <a:bodyPr wrap="square" rtlCol="0">
            <a:spAutoFit/>
          </a:bodyPr>
          <a:lstStyle/>
          <a:p>
            <a:pPr>
              <a:spcBef>
                <a:spcPts val="1000"/>
              </a:spcBef>
            </a:pPr>
            <a:r>
              <a:rPr lang="zh-CN" altLang="en-US" sz="2000" dirty="0"/>
              <a:t>中文分词的难点：</a:t>
            </a:r>
            <a:endParaRPr lang="en-US" altLang="zh-CN" sz="2000" dirty="0"/>
          </a:p>
          <a:p>
            <a:pPr marL="285750" indent="-285750">
              <a:spcBef>
                <a:spcPts val="1000"/>
              </a:spcBef>
              <a:buFont typeface="Arial" panose="020B0604020202020204" pitchFamily="34" charset="0"/>
              <a:buChar char="•"/>
            </a:pPr>
            <a:r>
              <a:rPr lang="zh-CN" altLang="en-US" sz="2000" dirty="0"/>
              <a:t>分词标准</a:t>
            </a:r>
            <a:endParaRPr lang="en-US" altLang="zh-CN" sz="2000" dirty="0"/>
          </a:p>
          <a:p>
            <a:pPr marL="285750" indent="-285750">
              <a:spcBef>
                <a:spcPts val="1000"/>
              </a:spcBef>
              <a:buFont typeface="Arial" panose="020B0604020202020204" pitchFamily="34" charset="0"/>
              <a:buChar char="•"/>
            </a:pPr>
            <a:r>
              <a:rPr lang="zh-CN" altLang="en-US" sz="2000" dirty="0"/>
              <a:t>歧义问题</a:t>
            </a:r>
            <a:endParaRPr lang="en-US" altLang="zh-CN" sz="2000" dirty="0"/>
          </a:p>
          <a:p>
            <a:pPr marL="285750" indent="-285750">
              <a:spcBef>
                <a:spcPts val="1000"/>
              </a:spcBef>
              <a:buFont typeface="Arial" panose="020B0604020202020204" pitchFamily="34" charset="0"/>
              <a:buChar char="•"/>
            </a:pPr>
            <a:r>
              <a:rPr lang="zh-CN" altLang="en-US" sz="2000" dirty="0"/>
              <a:t>新词识别</a:t>
            </a:r>
            <a:endParaRPr lang="en-US" altLang="zh-CN" sz="2000" dirty="0"/>
          </a:p>
        </p:txBody>
      </p:sp>
      <p:sp>
        <p:nvSpPr>
          <p:cNvPr id="10" name="文本框 9"/>
          <p:cNvSpPr txBox="1"/>
          <p:nvPr/>
        </p:nvSpPr>
        <p:spPr>
          <a:xfrm>
            <a:off x="6461001" y="4981567"/>
            <a:ext cx="3756661" cy="1210588"/>
          </a:xfrm>
          <a:prstGeom prst="rect">
            <a:avLst/>
          </a:prstGeom>
          <a:noFill/>
        </p:spPr>
        <p:txBody>
          <a:bodyPr wrap="square" rtlCol="0">
            <a:spAutoFit/>
          </a:bodyPr>
          <a:lstStyle/>
          <a:p>
            <a:pPr>
              <a:spcBef>
                <a:spcPts val="1000"/>
              </a:spcBef>
            </a:pPr>
            <a:r>
              <a:rPr lang="zh-CN" altLang="en-US" sz="2000" dirty="0"/>
              <a:t>常用分词方法：</a:t>
            </a:r>
            <a:endParaRPr lang="en-US" altLang="zh-CN" sz="2000" dirty="0"/>
          </a:p>
          <a:p>
            <a:pPr marL="285750" indent="-285750">
              <a:spcBef>
                <a:spcPts val="1000"/>
              </a:spcBef>
              <a:buFont typeface="Arial" panose="020B0604020202020204" pitchFamily="34" charset="0"/>
              <a:buChar char="•"/>
            </a:pPr>
            <a:r>
              <a:rPr lang="ja-JP" altLang="zh-CN" dirty="0"/>
              <a:t>基于</a:t>
            </a:r>
            <a:r>
              <a:rPr lang="zh-CN" altLang="zh-CN" dirty="0"/>
              <a:t>字典</a:t>
            </a:r>
            <a:r>
              <a:rPr lang="ja-JP" altLang="zh-CN" dirty="0"/>
              <a:t>匹配的分词方法</a:t>
            </a:r>
            <a:endParaRPr lang="en-US" altLang="ja-JP" dirty="0"/>
          </a:p>
          <a:p>
            <a:pPr marL="285750" indent="-285750">
              <a:spcBef>
                <a:spcPts val="1000"/>
              </a:spcBef>
              <a:buFont typeface="Arial" panose="020B0604020202020204" pitchFamily="34" charset="0"/>
              <a:buChar char="•"/>
            </a:pPr>
            <a:r>
              <a:rPr lang="zh-CN" altLang="zh-CN" dirty="0"/>
              <a:t>基于统计的分词方法</a:t>
            </a:r>
            <a:endParaRPr lang="en-US" altLang="zh-CN" sz="2000" dirty="0"/>
          </a:p>
        </p:txBody>
      </p:sp>
      <p:pic>
        <p:nvPicPr>
          <p:cNvPr id="3" name="Picture 2">
            <a:extLst>
              <a:ext uri="{FF2B5EF4-FFF2-40B4-BE49-F238E27FC236}">
                <a16:creationId xmlns:a16="http://schemas.microsoft.com/office/drawing/2014/main" id="{A64437A3-7EC2-8072-4BA0-30083101A851}"/>
              </a:ext>
            </a:extLst>
          </p:cNvPr>
          <p:cNvPicPr>
            <a:picLocks noChangeAspect="1"/>
          </p:cNvPicPr>
          <p:nvPr/>
        </p:nvPicPr>
        <p:blipFill>
          <a:blip r:embed="rId3"/>
          <a:stretch>
            <a:fillRect/>
          </a:stretch>
        </p:blipFill>
        <p:spPr>
          <a:xfrm>
            <a:off x="2725683" y="3109163"/>
            <a:ext cx="6299200" cy="17526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9603813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9" name="文本框 8"/>
          <p:cNvSpPr txBox="1"/>
          <p:nvPr/>
        </p:nvSpPr>
        <p:spPr>
          <a:xfrm>
            <a:off x="1061192" y="1387766"/>
            <a:ext cx="3879298" cy="4289123"/>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a:solidFill>
                  <a:srgbClr val="7030A0"/>
                </a:solidFill>
                <a:latin typeface="宋体" panose="02010600030101010101" pitchFamily="2" charset="-122"/>
                <a:ea typeface="宋体" panose="02010600030101010101" pitchFamily="2" charset="-122"/>
              </a:rPr>
              <a:t>词性标注</a:t>
            </a:r>
            <a:endParaRPr lang="en-US" altLang="zh-CN" sz="2000" dirty="0">
              <a:solidFill>
                <a:srgbClr val="7030A0"/>
              </a:solidFill>
              <a:latin typeface="宋体" panose="02010600030101010101" pitchFamily="2" charset="-122"/>
              <a:ea typeface="宋体" panose="02010600030101010101" pitchFamily="2" charset="-122"/>
            </a:endParaRPr>
          </a:p>
          <a:p>
            <a:pPr algn="just">
              <a:lnSpc>
                <a:spcPct val="150000"/>
              </a:lnSpc>
            </a:pPr>
            <a:r>
              <a:rPr lang="en-US" altLang="zh-CN" sz="2000" dirty="0">
                <a:solidFill>
                  <a:srgbClr val="C00000"/>
                </a:solidFill>
                <a:latin typeface="宋体" panose="02010600030101010101" pitchFamily="2" charset="-122"/>
                <a:ea typeface="宋体" panose="02010600030101010101" pitchFamily="2" charset="-122"/>
              </a:rPr>
              <a:t>    </a:t>
            </a:r>
            <a:r>
              <a:rPr lang="zh-CN" altLang="zh-CN" dirty="0">
                <a:solidFill>
                  <a:srgbClr val="C00000"/>
                </a:solidFill>
              </a:rPr>
              <a:t>词性（</a:t>
            </a:r>
            <a:r>
              <a:rPr lang="en-US" altLang="zh-CN" dirty="0">
                <a:solidFill>
                  <a:srgbClr val="C00000"/>
                </a:solidFill>
              </a:rPr>
              <a:t>part of speech, POS</a:t>
            </a:r>
            <a:r>
              <a:rPr lang="zh-CN" altLang="zh-CN" dirty="0">
                <a:solidFill>
                  <a:srgbClr val="C00000"/>
                </a:solidFill>
              </a:rPr>
              <a:t>）</a:t>
            </a:r>
            <a:r>
              <a:rPr lang="zh-CN" altLang="zh-CN" dirty="0"/>
              <a:t>是基于语法语境和词语作用的具体词汇分类，是词语的基本语法属性；</a:t>
            </a:r>
            <a:r>
              <a:rPr lang="zh-CN" altLang="zh-CN" dirty="0">
                <a:solidFill>
                  <a:srgbClr val="C00000"/>
                </a:solidFill>
              </a:rPr>
              <a:t>词性标注（</a:t>
            </a:r>
            <a:r>
              <a:rPr lang="en-US" altLang="zh-CN" dirty="0">
                <a:solidFill>
                  <a:srgbClr val="C00000"/>
                </a:solidFill>
              </a:rPr>
              <a:t>part-of-speech tagging</a:t>
            </a:r>
            <a:r>
              <a:rPr lang="zh-CN" altLang="zh-CN" dirty="0">
                <a:solidFill>
                  <a:srgbClr val="C00000"/>
                </a:solidFill>
              </a:rPr>
              <a:t>）</a:t>
            </a:r>
            <a:r>
              <a:rPr lang="zh-CN" altLang="zh-CN" dirty="0"/>
              <a:t>，又称为词类标注或简称为标注，是指为分词结果中的每个单词标注一个正确的词性的过程，即确定每个词是名词、动词、形容词或者其他词性的过程。</a:t>
            </a:r>
            <a:endParaRPr lang="zh-CN" altLang="zh-CN" sz="2000" dirty="0"/>
          </a:p>
        </p:txBody>
      </p:sp>
      <p:pic>
        <p:nvPicPr>
          <p:cNvPr id="3" name="Picture 2">
            <a:extLst>
              <a:ext uri="{FF2B5EF4-FFF2-40B4-BE49-F238E27FC236}">
                <a16:creationId xmlns:a16="http://schemas.microsoft.com/office/drawing/2014/main" id="{24B6F9C5-89F9-C18D-2220-763E53081DF9}"/>
              </a:ext>
            </a:extLst>
          </p:cNvPr>
          <p:cNvPicPr>
            <a:picLocks noChangeAspect="1"/>
          </p:cNvPicPr>
          <p:nvPr/>
        </p:nvPicPr>
        <p:blipFill>
          <a:blip r:embed="rId3"/>
          <a:stretch>
            <a:fillRect/>
          </a:stretch>
        </p:blipFill>
        <p:spPr>
          <a:xfrm>
            <a:off x="5123407" y="1534046"/>
            <a:ext cx="6121400" cy="4445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548377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3129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092111"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什么是句法？</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50</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818880" y="1363030"/>
            <a:ext cx="9941727" cy="961225"/>
          </a:xfrm>
          <a:prstGeom prst="rect">
            <a:avLst/>
          </a:prstGeom>
          <a:noFill/>
        </p:spPr>
        <p:txBody>
          <a:bodyPr wrap="square">
            <a:spAutoFit/>
          </a:bodyPr>
          <a:lstStyle/>
          <a:p>
            <a:pPr algn="just">
              <a:lnSpc>
                <a:spcPct val="150000"/>
              </a:lnSpc>
            </a:pPr>
            <a:r>
              <a:rPr lang="zh-CN" altLang="en-US" sz="2000" b="1" dirty="0">
                <a:solidFill>
                  <a:srgbClr val="0432FF"/>
                </a:solidFill>
                <a:latin typeface="Microsoft YaHei" panose="020B0503020204020204" pitchFamily="34" charset="-122"/>
                <a:ea typeface="Microsoft YaHei" panose="020B0503020204020204" pitchFamily="34" charset="-122"/>
              </a:rPr>
              <a:t>句法（</a:t>
            </a:r>
            <a:r>
              <a:rPr lang="en-US" altLang="zh-CN" sz="2000" b="1" dirty="0">
                <a:solidFill>
                  <a:srgbClr val="0432FF"/>
                </a:solidFill>
                <a:latin typeface="Microsoft YaHei" panose="020B0503020204020204" pitchFamily="34" charset="-122"/>
                <a:ea typeface="Microsoft YaHei" panose="020B0503020204020204" pitchFamily="34" charset="-122"/>
              </a:rPr>
              <a:t>Syntax</a:t>
            </a:r>
            <a:r>
              <a:rPr lang="zh-CN" altLang="en-US" sz="2000" b="1" dirty="0">
                <a:solidFill>
                  <a:srgbClr val="0432FF"/>
                </a:solidFill>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就是研究自然语言中不同成分组成句子的方式以及支配句子结构并决定句子是否成立的规则。</a:t>
            </a:r>
            <a:endParaRPr lang="en-US" altLang="zh-CN" sz="2000"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9F56D6C1-AA01-70BE-AAD2-1B131FE3D4C0}"/>
              </a:ext>
            </a:extLst>
          </p:cNvPr>
          <p:cNvSpPr txBox="1"/>
          <p:nvPr/>
        </p:nvSpPr>
        <p:spPr>
          <a:xfrm>
            <a:off x="1444898" y="2730504"/>
            <a:ext cx="9183346" cy="3269549"/>
          </a:xfrm>
          <a:prstGeom prst="rect">
            <a:avLst/>
          </a:prstGeom>
          <a:noFill/>
        </p:spPr>
        <p:txBody>
          <a:bodyPr wrap="square">
            <a:spAutoFit/>
          </a:bodyPr>
          <a:lstStyle/>
          <a:p>
            <a:pPr>
              <a:lnSpc>
                <a:spcPct val="150000"/>
              </a:lnSpc>
              <a:spcBef>
                <a:spcPts val="1200"/>
              </a:spcBef>
            </a:pPr>
            <a:r>
              <a:rPr lang="zh-CN" altLang="en-US" sz="2000" b="0" i="0" dirty="0">
                <a:effectLst/>
                <a:latin typeface="Microsoft YaHei" panose="020B0503020204020204" pitchFamily="34" charset="-122"/>
                <a:ea typeface="Microsoft YaHei" panose="020B0503020204020204" pitchFamily="34" charset="-122"/>
              </a:rPr>
              <a:t>任何人类语言都具备构造</a:t>
            </a:r>
            <a:r>
              <a:rPr lang="zh-CN" altLang="en-US" sz="2000" b="1" i="0" dirty="0">
                <a:solidFill>
                  <a:srgbClr val="C00000"/>
                </a:solidFill>
                <a:effectLst/>
                <a:latin typeface="Microsoft YaHei" panose="020B0503020204020204" pitchFamily="34" charset="-122"/>
                <a:ea typeface="Microsoft YaHei" panose="020B0503020204020204" pitchFamily="34" charset="-122"/>
              </a:rPr>
              <a:t>无限数量</a:t>
            </a:r>
            <a:r>
              <a:rPr lang="zh-CN" altLang="en-US" sz="2000" b="0" i="0" dirty="0">
                <a:solidFill>
                  <a:srgbClr val="C00000"/>
                </a:solidFill>
                <a:effectLst/>
                <a:latin typeface="Microsoft YaHei" panose="020B0503020204020204" pitchFamily="34" charset="-122"/>
                <a:ea typeface="Microsoft YaHei" panose="020B0503020204020204" pitchFamily="34" charset="-122"/>
              </a:rPr>
              <a:t>句子</a:t>
            </a:r>
            <a:r>
              <a:rPr lang="zh-CN" altLang="en-US" sz="2000" b="0" i="0" dirty="0">
                <a:effectLst/>
                <a:latin typeface="Microsoft YaHei" panose="020B0503020204020204" pitchFamily="34" charset="-122"/>
                <a:ea typeface="Microsoft YaHei" panose="020B0503020204020204" pitchFamily="34" charset="-122"/>
              </a:rPr>
              <a:t>的能力</a:t>
            </a:r>
            <a:endParaRPr lang="en-US" altLang="zh-CN" sz="2000" b="0" i="0" dirty="0">
              <a:effectLst/>
              <a:latin typeface="Microsoft YaHei" panose="020B0503020204020204" pitchFamily="34" charset="-122"/>
              <a:ea typeface="Microsoft YaHei" panose="020B0503020204020204" pitchFamily="34" charset="-122"/>
            </a:endParaRPr>
          </a:p>
          <a:p>
            <a:pPr marL="800100" lvl="1" indent="-342900">
              <a:lnSpc>
                <a:spcPct val="150000"/>
              </a:lnSpc>
              <a:spcBef>
                <a:spcPts val="1200"/>
              </a:spcBef>
              <a:buFont typeface="Arial" panose="020B0604020202020204" pitchFamily="34" charset="0"/>
              <a:buChar char="•"/>
            </a:pPr>
            <a:r>
              <a:rPr lang="zh-CN" altLang="en-US" sz="2000" b="0" i="0" dirty="0">
                <a:effectLst/>
                <a:latin typeface="Microsoft YaHei" panose="020B0503020204020204" pitchFamily="34" charset="-122"/>
                <a:ea typeface="Microsoft YaHei" panose="020B0503020204020204" pitchFamily="34" charset="-122"/>
              </a:rPr>
              <a:t>可以通过增加形容词、副词、关系小句、介词短语等方法把任意的句子进一步地创造。</a:t>
            </a:r>
            <a:endParaRPr lang="en-US" altLang="zh-CN" sz="2000" b="0" i="0" dirty="0">
              <a:effectLst/>
              <a:latin typeface="Microsoft YaHei" panose="020B0503020204020204" pitchFamily="34" charset="-122"/>
              <a:ea typeface="Microsoft YaHei" panose="020B0503020204020204" pitchFamily="34" charset="-122"/>
            </a:endParaRPr>
          </a:p>
          <a:p>
            <a:pPr>
              <a:lnSpc>
                <a:spcPct val="150000"/>
              </a:lnSpc>
              <a:spcBef>
                <a:spcPts val="1200"/>
              </a:spcBef>
            </a:pPr>
            <a:r>
              <a:rPr lang="zh-CN" altLang="en-US" sz="2000" b="0" i="0" dirty="0">
                <a:solidFill>
                  <a:srgbClr val="C00000"/>
                </a:solidFill>
                <a:effectLst/>
                <a:latin typeface="Microsoft YaHei" panose="020B0503020204020204" pitchFamily="34" charset="-122"/>
                <a:ea typeface="Microsoft YaHei" panose="020B0503020204020204" pitchFamily="34" charset="-122"/>
              </a:rPr>
              <a:t>无法</a:t>
            </a:r>
            <a:r>
              <a:rPr lang="zh-CN" altLang="en-US" sz="2000" b="0" i="0" dirty="0">
                <a:solidFill>
                  <a:srgbClr val="0432FF"/>
                </a:solidFill>
                <a:effectLst/>
                <a:latin typeface="Microsoft YaHei" panose="020B0503020204020204" pitchFamily="34" charset="-122"/>
                <a:ea typeface="Microsoft YaHei" panose="020B0503020204020204" pitchFamily="34" charset="-122"/>
              </a:rPr>
              <a:t>将一种语言</a:t>
            </a:r>
            <a:r>
              <a:rPr lang="zh-CN" altLang="en-US" sz="2000" b="1" i="0" dirty="0">
                <a:solidFill>
                  <a:srgbClr val="0432FF"/>
                </a:solidFill>
                <a:effectLst/>
                <a:latin typeface="Microsoft YaHei" panose="020B0503020204020204" pitchFamily="34" charset="-122"/>
                <a:ea typeface="Microsoft YaHei" panose="020B0503020204020204" pitchFamily="34" charset="-122"/>
              </a:rPr>
              <a:t>按照词典</a:t>
            </a:r>
            <a:r>
              <a:rPr lang="zh-CN" altLang="en-US" sz="2000" b="0" i="0" dirty="0">
                <a:solidFill>
                  <a:srgbClr val="0432FF"/>
                </a:solidFill>
                <a:effectLst/>
                <a:latin typeface="Microsoft YaHei" panose="020B0503020204020204" pitchFamily="34" charset="-122"/>
                <a:ea typeface="Microsoft YaHei" panose="020B0503020204020204" pitchFamily="34" charset="-122"/>
              </a:rPr>
              <a:t>的方式把所有句子存储起来</a:t>
            </a:r>
            <a:endParaRPr lang="en-US" altLang="zh-CN" sz="2000" b="0" i="0" dirty="0">
              <a:solidFill>
                <a:srgbClr val="0432FF"/>
              </a:solidFill>
              <a:effectLst/>
              <a:latin typeface="Microsoft YaHei" panose="020B0503020204020204" pitchFamily="34" charset="-122"/>
              <a:ea typeface="Microsoft YaHei" panose="020B0503020204020204" pitchFamily="34" charset="-122"/>
            </a:endParaRPr>
          </a:p>
          <a:p>
            <a:pPr>
              <a:lnSpc>
                <a:spcPct val="150000"/>
              </a:lnSpc>
              <a:spcBef>
                <a:spcPts val="1200"/>
              </a:spcBef>
            </a:pPr>
            <a:r>
              <a:rPr lang="zh-CN" altLang="en-US" sz="2000" b="0" i="0" dirty="0">
                <a:effectLst/>
                <a:latin typeface="Microsoft YaHei" panose="020B0503020204020204" pitchFamily="34" charset="-122"/>
                <a:ea typeface="Microsoft YaHei" panose="020B0503020204020204" pitchFamily="34" charset="-122"/>
              </a:rPr>
              <a:t>通过语言学研究发现，句子</a:t>
            </a:r>
            <a:r>
              <a:rPr lang="zh-CN" altLang="en-US" sz="2000" b="1" i="0" dirty="0">
                <a:effectLst/>
                <a:latin typeface="Microsoft YaHei" panose="020B0503020204020204" pitchFamily="34" charset="-122"/>
                <a:ea typeface="Microsoft YaHei" panose="020B0503020204020204" pitchFamily="34" charset="-122"/>
              </a:rPr>
              <a:t>并非词语的随意组合</a:t>
            </a:r>
            <a:r>
              <a:rPr lang="zh-CN" altLang="en-US" sz="2000" b="0" i="0" dirty="0">
                <a:effectLst/>
                <a:latin typeface="Microsoft YaHei" panose="020B0503020204020204" pitchFamily="34" charset="-122"/>
                <a:ea typeface="Microsoft YaHei" panose="020B0503020204020204" pitchFamily="34" charset="-122"/>
              </a:rPr>
              <a:t>，而是由按照一定规则结合起来的离散单位组成</a:t>
            </a:r>
            <a:endParaRPr lang="en-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41472438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49877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句法概述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51</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1253393" y="1481716"/>
            <a:ext cx="9242329" cy="4500656"/>
          </a:xfrm>
          <a:prstGeom prst="rect">
            <a:avLst/>
          </a:prstGeom>
          <a:noFill/>
        </p:spPr>
        <p:txBody>
          <a:bodyPr wrap="square">
            <a:spAutoFit/>
          </a:bodyPr>
          <a:lstStyle/>
          <a:p>
            <a:pPr>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句法是现代语言学研究中的重要课题，有大量的</a:t>
            </a:r>
            <a:r>
              <a:rPr lang="zh-CN" altLang="en-US" sz="2000" dirty="0">
                <a:solidFill>
                  <a:srgbClr val="0432FF"/>
                </a:solidFill>
                <a:latin typeface="Microsoft YaHei" panose="020B0503020204020204" pitchFamily="34" charset="-122"/>
                <a:ea typeface="Microsoft YaHei" panose="020B0503020204020204" pitchFamily="34" charset="-122"/>
              </a:rPr>
              <a:t>句法理论</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Syntactic Theory</a:t>
            </a:r>
            <a:r>
              <a:rPr lang="zh-CN" altLang="en-US" sz="2000" dirty="0">
                <a:latin typeface="Microsoft YaHei" panose="020B0503020204020204" pitchFamily="34" charset="-122"/>
                <a:ea typeface="Microsoft YaHei" panose="020B0503020204020204" pitchFamily="34" charset="-122"/>
              </a:rPr>
              <a:t>）相关研究。</a:t>
            </a:r>
            <a:endParaRPr lang="en-US" altLang="zh-CN" sz="2000" dirty="0">
              <a:latin typeface="Microsoft YaHei" panose="020B0503020204020204" pitchFamily="34" charset="-122"/>
              <a:ea typeface="Microsoft YaHei" panose="020B0503020204020204" pitchFamily="34" charset="-122"/>
            </a:endParaRPr>
          </a:p>
          <a:p>
            <a:pPr marL="342900" indent="-342900">
              <a:lnSpc>
                <a:spcPct val="150000"/>
              </a:lnSpc>
              <a:spcBef>
                <a:spcPts val="1200"/>
              </a:spcBef>
              <a:buFont typeface="Arial" panose="020B0604020202020204" pitchFamily="34" charset="0"/>
              <a:buChar char="•"/>
            </a:pPr>
            <a:r>
              <a:rPr lang="zh-CN" altLang="en-US" sz="2000" b="1" dirty="0">
                <a:solidFill>
                  <a:srgbClr val="C00000"/>
                </a:solidFill>
                <a:latin typeface="Microsoft YaHei" panose="020B0503020204020204" pitchFamily="34" charset="-122"/>
                <a:ea typeface="Microsoft YaHei" panose="020B0503020204020204" pitchFamily="34" charset="-122"/>
              </a:rPr>
              <a:t>语法（</a:t>
            </a:r>
            <a:r>
              <a:rPr lang="en-US" altLang="zh-CN" sz="2000" b="1" dirty="0">
                <a:solidFill>
                  <a:srgbClr val="C00000"/>
                </a:solidFill>
                <a:latin typeface="Microsoft YaHei" panose="020B0503020204020204" pitchFamily="34" charset="-122"/>
                <a:ea typeface="Microsoft YaHei" panose="020B0503020204020204" pitchFamily="34" charset="-122"/>
              </a:rPr>
              <a:t>Grammar</a:t>
            </a:r>
            <a:r>
              <a:rPr lang="zh-CN" altLang="en-US" sz="2000" b="1" dirty="0">
                <a:solidFill>
                  <a:srgbClr val="C00000"/>
                </a:solidFill>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就是指自然语言中句子、短语以及词等语法单位的语法结构与语法意义的规律。根据语法就可以</a:t>
            </a:r>
            <a:r>
              <a:rPr lang="zh-CN" altLang="en-US" sz="2000" b="1" dirty="0">
                <a:solidFill>
                  <a:srgbClr val="0432FF"/>
                </a:solidFill>
                <a:latin typeface="Microsoft YaHei" panose="020B0503020204020204" pitchFamily="34" charset="-122"/>
                <a:ea typeface="Microsoft YaHei" panose="020B0503020204020204" pitchFamily="34" charset="-122"/>
              </a:rPr>
              <a:t>判断不同成分组成句子的方式</a:t>
            </a:r>
            <a:r>
              <a:rPr lang="zh-CN" altLang="en-US" sz="2000" dirty="0">
                <a:latin typeface="Microsoft YaHei" panose="020B0503020204020204" pitchFamily="34" charset="-122"/>
                <a:ea typeface="Microsoft YaHei" panose="020B0503020204020204" pitchFamily="34" charset="-122"/>
              </a:rPr>
              <a:t>以及</a:t>
            </a:r>
            <a:r>
              <a:rPr lang="zh-CN" altLang="en-US" sz="2000" b="1" dirty="0">
                <a:solidFill>
                  <a:srgbClr val="0432FF"/>
                </a:solidFill>
                <a:latin typeface="Microsoft YaHei" panose="020B0503020204020204" pitchFamily="34" charset="-122"/>
                <a:ea typeface="Microsoft YaHei" panose="020B0503020204020204" pitchFamily="34" charset="-122"/>
              </a:rPr>
              <a:t>决定句子是否成立</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狭义的语法学研究</a:t>
            </a:r>
            <a:r>
              <a:rPr lang="zh-CN" altLang="en-US" sz="2000" b="1" dirty="0">
                <a:latin typeface="Microsoft YaHei" panose="020B0503020204020204" pitchFamily="34" charset="-122"/>
                <a:ea typeface="Microsoft YaHei" panose="020B0503020204020204" pitchFamily="34" charset="-122"/>
              </a:rPr>
              <a:t>基本等同于</a:t>
            </a:r>
            <a:r>
              <a:rPr lang="zh-CN" altLang="en-US" sz="2000" dirty="0">
                <a:latin typeface="Microsoft YaHei" panose="020B0503020204020204" pitchFamily="34" charset="-122"/>
                <a:ea typeface="Microsoft YaHei" panose="020B0503020204020204" pitchFamily="34" charset="-122"/>
              </a:rPr>
              <a:t>句法学。语言学家自</a:t>
            </a:r>
            <a:r>
              <a:rPr lang="en-US" altLang="zh-CN" sz="2000" dirty="0">
                <a:latin typeface="Microsoft YaHei" panose="020B0503020204020204" pitchFamily="34" charset="-122"/>
                <a:ea typeface="Microsoft YaHei" panose="020B0503020204020204" pitchFamily="34" charset="-122"/>
              </a:rPr>
              <a:t>19</a:t>
            </a:r>
            <a:r>
              <a:rPr lang="zh-CN" altLang="en-US" sz="2000" dirty="0">
                <a:latin typeface="Microsoft YaHei" panose="020B0503020204020204" pitchFamily="34" charset="-122"/>
                <a:ea typeface="Microsoft YaHei" panose="020B0503020204020204" pitchFamily="34" charset="-122"/>
              </a:rPr>
              <a:t>世纪</a:t>
            </a:r>
            <a:r>
              <a:rPr lang="en-US" altLang="zh-CN" sz="2000" dirty="0">
                <a:latin typeface="Microsoft YaHei" panose="020B0503020204020204" pitchFamily="34" charset="-122"/>
                <a:ea typeface="Microsoft YaHei" panose="020B0503020204020204" pitchFamily="34" charset="-122"/>
              </a:rPr>
              <a:t>50</a:t>
            </a:r>
            <a:r>
              <a:rPr lang="zh-CN" altLang="en-US" sz="2000" dirty="0">
                <a:latin typeface="Microsoft YaHei" panose="020B0503020204020204" pitchFamily="34" charset="-122"/>
                <a:ea typeface="Microsoft YaHei" panose="020B0503020204020204" pitchFamily="34" charset="-122"/>
              </a:rPr>
              <a:t>年代以来，构建了大量表达明确并且形式化的语法理论，对自然语言句法分析提供了理论支撑。语法理论在构建时，一个重要的问题是该理论是</a:t>
            </a:r>
            <a:r>
              <a:rPr lang="zh-CN" altLang="en-US" sz="2000" b="1" dirty="0">
                <a:latin typeface="Microsoft YaHei" panose="020B0503020204020204" pitchFamily="34" charset="-122"/>
                <a:ea typeface="Microsoft YaHei" panose="020B0503020204020204" pitchFamily="34" charset="-122"/>
              </a:rPr>
              <a:t>基于成分关系</a:t>
            </a:r>
            <a:r>
              <a:rPr lang="zh-CN" altLang="en-US" sz="2000" dirty="0">
                <a:latin typeface="Microsoft YaHei" panose="020B0503020204020204" pitchFamily="34" charset="-122"/>
                <a:ea typeface="Microsoft YaHei" panose="020B0503020204020204" pitchFamily="34" charset="-122"/>
              </a:rPr>
              <a:t>还是</a:t>
            </a:r>
            <a:r>
              <a:rPr lang="zh-CN" altLang="en-US" sz="2000" b="1" dirty="0">
                <a:latin typeface="Microsoft YaHei" panose="020B0503020204020204" pitchFamily="34" charset="-122"/>
                <a:ea typeface="Microsoft YaHei" panose="020B0503020204020204" pitchFamily="34" charset="-122"/>
              </a:rPr>
              <a:t>基于依存关系</a:t>
            </a:r>
            <a:r>
              <a:rPr lang="zh-CN" altLang="en-US" sz="2000" dirty="0">
                <a:latin typeface="Microsoft YaHei" panose="020B0503020204020204" pitchFamily="34" charset="-122"/>
                <a:ea typeface="Microsoft YaHei" panose="020B0503020204020204" pitchFamily="34" charset="-122"/>
              </a:rPr>
              <a:t>。</a:t>
            </a:r>
            <a:br>
              <a:rPr lang="en-US" sz="2000" dirty="0">
                <a:latin typeface="Microsoft YaHei" panose="020B0503020204020204" pitchFamily="34" charset="-122"/>
                <a:ea typeface="Microsoft YaHei" panose="020B0503020204020204" pitchFamily="34" charset="-122"/>
              </a:rPr>
            </a:br>
            <a:endParaRPr lang="en-US" altLang="zh-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2976940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3129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成分语法理论概述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52</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996952" y="1729659"/>
            <a:ext cx="9915836" cy="1576778"/>
          </a:xfrm>
          <a:prstGeom prst="rect">
            <a:avLst/>
          </a:prstGeom>
          <a:noFill/>
        </p:spPr>
        <p:txBody>
          <a:bodyPr wrap="square">
            <a:spAutoFit/>
          </a:bodyPr>
          <a:lstStyle/>
          <a:p>
            <a:pPr algn="just">
              <a:lnSpc>
                <a:spcPct val="150000"/>
              </a:lnSpc>
              <a:spcBef>
                <a:spcPts val="1200"/>
              </a:spcBef>
            </a:pPr>
            <a:r>
              <a:rPr lang="en-US" altLang="zh-CN" sz="2000" dirty="0">
                <a:latin typeface="Microsoft YaHei" panose="020B0503020204020204" pitchFamily="34" charset="-122"/>
                <a:ea typeface="Microsoft YaHei" panose="020B0503020204020204" pitchFamily="34" charset="-122"/>
              </a:rPr>
              <a:t>Noam Chomsky</a:t>
            </a:r>
            <a:r>
              <a:rPr lang="zh-CN" altLang="en-US" sz="2000" dirty="0">
                <a:latin typeface="Microsoft YaHei" panose="020B0503020204020204" pitchFamily="34" charset="-122"/>
                <a:ea typeface="Microsoft YaHei" panose="020B0503020204020204" pitchFamily="34" charset="-122"/>
              </a:rPr>
              <a:t>于</a:t>
            </a:r>
            <a:r>
              <a:rPr lang="en-US" altLang="zh-CN" sz="2000" dirty="0">
                <a:latin typeface="Microsoft YaHei" panose="020B0503020204020204" pitchFamily="34" charset="-122"/>
                <a:ea typeface="Microsoft YaHei" panose="020B0503020204020204" pitchFamily="34" charset="-122"/>
              </a:rPr>
              <a:t>1957</a:t>
            </a:r>
            <a:r>
              <a:rPr lang="zh-CN" altLang="en-US" sz="2000" dirty="0">
                <a:latin typeface="Microsoft YaHei" panose="020B0503020204020204" pitchFamily="34" charset="-122"/>
                <a:ea typeface="Microsoft YaHei" panose="020B0503020204020204" pitchFamily="34" charset="-122"/>
              </a:rPr>
              <a:t>年发表的</a:t>
            </a:r>
            <a:r>
              <a:rPr lang="en-US" altLang="zh-CN" sz="2000" dirty="0">
                <a:latin typeface="Microsoft YaHei" panose="020B0503020204020204" pitchFamily="34" charset="-122"/>
                <a:ea typeface="Microsoft YaHei" panose="020B0503020204020204" pitchFamily="34" charset="-122"/>
              </a:rPr>
              <a:t>《Syntactic Structures》</a:t>
            </a:r>
            <a:r>
              <a:rPr lang="zh-CN" altLang="en-US" sz="2000" dirty="0">
                <a:latin typeface="Microsoft YaHei" panose="020B0503020204020204" pitchFamily="34" charset="-122"/>
                <a:ea typeface="Microsoft YaHei" panose="020B0503020204020204" pitchFamily="34" charset="-122"/>
              </a:rPr>
              <a:t>奠定了成分语法的基础</a:t>
            </a:r>
            <a:endParaRPr lang="en-US" altLang="zh-CN" sz="2000"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000" b="1" dirty="0">
                <a:solidFill>
                  <a:srgbClr val="0432FF"/>
                </a:solidFill>
                <a:latin typeface="Microsoft YaHei" panose="020B0503020204020204" pitchFamily="34" charset="-122"/>
                <a:ea typeface="Microsoft YaHei" panose="020B0503020204020204" pitchFamily="34" charset="-122"/>
              </a:rPr>
              <a:t>成分（</a:t>
            </a:r>
            <a:r>
              <a:rPr lang="en-US" altLang="zh-CN" sz="2000" b="1" dirty="0">
                <a:solidFill>
                  <a:srgbClr val="0432FF"/>
                </a:solidFill>
                <a:latin typeface="Microsoft YaHei" panose="020B0503020204020204" pitchFamily="34" charset="-122"/>
                <a:ea typeface="Microsoft YaHei" panose="020B0503020204020204" pitchFamily="34" charset="-122"/>
              </a:rPr>
              <a:t>Constituent</a:t>
            </a:r>
            <a:r>
              <a:rPr lang="zh-CN" altLang="en-US" sz="2000" b="1" dirty="0">
                <a:solidFill>
                  <a:srgbClr val="0432FF"/>
                </a:solidFill>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又称短语结构，是指一个句子内部的结构成分。成分可以独立存在，或者可以用代词替代，又或者可以在句子中的不同位置移动。</a:t>
            </a:r>
            <a:endParaRPr lang="en-US" altLang="zh-CN" dirty="0">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E6775D30-F747-75ED-AF29-5B6A2BB6B19A}"/>
              </a:ext>
            </a:extLst>
          </p:cNvPr>
          <p:cNvSpPr txBox="1"/>
          <p:nvPr/>
        </p:nvSpPr>
        <p:spPr>
          <a:xfrm>
            <a:off x="1720420" y="3907667"/>
            <a:ext cx="8184356" cy="1304140"/>
          </a:xfrm>
          <a:prstGeom prst="rect">
            <a:avLst/>
          </a:prstGeom>
          <a:noFill/>
        </p:spPr>
        <p:txBody>
          <a:bodyPr wrap="square">
            <a:spAutoFit/>
          </a:bodyPr>
          <a:lstStyle/>
          <a:p>
            <a:pPr>
              <a:lnSpc>
                <a:spcPct val="150000"/>
              </a:lnSpc>
            </a:pPr>
            <a:r>
              <a:rPr lang="zh-CN" altLang="en-US" sz="2800" dirty="0">
                <a:solidFill>
                  <a:srgbClr val="0070C0"/>
                </a:solidFill>
                <a:effectLst/>
                <a:latin typeface="SimSun" panose="02010600030101010101" pitchFamily="2" charset="-122"/>
                <a:ea typeface="SimSun" panose="02010600030101010101" pitchFamily="2" charset="-122"/>
              </a:rPr>
              <a:t>例如：</a:t>
            </a:r>
            <a:r>
              <a:rPr lang="zh-CN" altLang="en-US" sz="2800" dirty="0">
                <a:effectLst/>
                <a:latin typeface="SimSun" panose="02010600030101010101" pitchFamily="2" charset="-122"/>
                <a:ea typeface="SimSun" panose="02010600030101010101" pitchFamily="2" charset="-122"/>
              </a:rPr>
              <a:t>他正在写一本小说。</a:t>
            </a:r>
            <a:br>
              <a:rPr lang="zh-CN" altLang="en-US" sz="2800" dirty="0">
                <a:latin typeface="SimSun" panose="02010600030101010101" pitchFamily="2" charset="-122"/>
                <a:ea typeface="SimSun" panose="02010600030101010101" pitchFamily="2" charset="-122"/>
              </a:rPr>
            </a:br>
            <a:r>
              <a:rPr lang="zh-CN" altLang="en-US" sz="2800" dirty="0">
                <a:latin typeface="SimSun" panose="02010600030101010101" pitchFamily="2" charset="-122"/>
                <a:ea typeface="SimSun" panose="02010600030101010101" pitchFamily="2" charset="-122"/>
              </a:rPr>
              <a:t>            </a:t>
            </a:r>
            <a:r>
              <a:rPr lang="zh-CN" altLang="en-US" sz="2800" dirty="0">
                <a:solidFill>
                  <a:srgbClr val="00B050"/>
                </a:solidFill>
                <a:latin typeface="SimSun" panose="02010600030101010101" pitchFamily="2" charset="-122"/>
                <a:ea typeface="SimSun" panose="02010600030101010101" pitchFamily="2" charset="-122"/>
              </a:rPr>
              <a:t>“一本小说”</a:t>
            </a:r>
            <a:r>
              <a:rPr lang="zh-CN" altLang="en-US" sz="2800" dirty="0">
                <a:latin typeface="SimSun" panose="02010600030101010101" pitchFamily="2" charset="-122"/>
                <a:ea typeface="SimSun" panose="02010600030101010101" pitchFamily="2" charset="-122"/>
              </a:rPr>
              <a:t>是一个成分</a:t>
            </a:r>
            <a:endParaRPr lang="en-CN" sz="2800" dirty="0">
              <a:latin typeface="SimSun" panose="02010600030101010101" pitchFamily="2" charset="-122"/>
              <a:ea typeface="SimSun" panose="02010600030101010101" pitchFamily="2" charset="-122"/>
            </a:endParaRPr>
          </a:p>
        </p:txBody>
      </p:sp>
    </p:spTree>
    <p:extLst>
      <p:ext uri="{BB962C8B-B14F-4D97-AF65-F5344CB8AC3E}">
        <p14:creationId xmlns:p14="http://schemas.microsoft.com/office/powerpoint/2010/main" val="27302806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0478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成分语法理论概述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53</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1151906" y="1640337"/>
            <a:ext cx="10296993" cy="3577326"/>
          </a:xfrm>
          <a:prstGeom prst="rect">
            <a:avLst/>
          </a:prstGeom>
          <a:noFill/>
        </p:spPr>
        <p:txBody>
          <a:bodyPr wrap="square">
            <a:spAutoFit/>
          </a:bodyPr>
          <a:lstStyle/>
          <a:p>
            <a:pPr algn="just">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根据不同成分之间是否可以进行相互替代而</a:t>
            </a:r>
            <a:r>
              <a:rPr lang="zh-CN" altLang="en-US" sz="2000" b="1" dirty="0">
                <a:solidFill>
                  <a:srgbClr val="0432FF"/>
                </a:solidFill>
                <a:latin typeface="Microsoft YaHei" panose="020B0503020204020204" pitchFamily="34" charset="-122"/>
                <a:ea typeface="Microsoft YaHei" panose="020B0503020204020204" pitchFamily="34" charset="-122"/>
              </a:rPr>
              <a:t>不会影响句子语法正确性</a:t>
            </a:r>
            <a:r>
              <a:rPr lang="zh-CN" altLang="en-US" sz="2000" dirty="0">
                <a:latin typeface="Microsoft YaHei" panose="020B0503020204020204" pitchFamily="34" charset="-122"/>
                <a:ea typeface="Microsoft YaHei" panose="020B0503020204020204" pitchFamily="34" charset="-122"/>
              </a:rPr>
              <a:t>，可以进一步地将成分进行分类，</a:t>
            </a:r>
            <a:r>
              <a:rPr lang="zh-CN" altLang="en-US" sz="2000" b="1" dirty="0">
                <a:solidFill>
                  <a:srgbClr val="0432FF"/>
                </a:solidFill>
                <a:latin typeface="Microsoft YaHei" panose="020B0503020204020204" pitchFamily="34" charset="-122"/>
                <a:ea typeface="Microsoft YaHei" panose="020B0503020204020204" pitchFamily="34" charset="-122"/>
              </a:rPr>
              <a:t>某一类短语就属于一个句法范畴</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Syntactic Category</a:t>
            </a:r>
            <a:r>
              <a:rPr lang="zh-CN" altLang="en-US" sz="2000" dirty="0">
                <a:latin typeface="Microsoft YaHei" panose="020B0503020204020204" pitchFamily="34" charset="-122"/>
                <a:ea typeface="Microsoft YaHei" panose="020B0503020204020204" pitchFamily="34" charset="-122"/>
              </a:rPr>
              <a:t>）。 </a:t>
            </a:r>
            <a:endParaRPr lang="en-US" altLang="zh-CN" sz="2000" dirty="0">
              <a:latin typeface="Microsoft YaHei" panose="020B0503020204020204" pitchFamily="34" charset="-122"/>
              <a:ea typeface="Microsoft YaHei" panose="020B0503020204020204" pitchFamily="34" charset="-122"/>
            </a:endParaRPr>
          </a:p>
          <a:p>
            <a:pPr>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比如“一本小说”、“一所大学”等都属于一个句法范畴：名词短语（</a:t>
            </a:r>
            <a:r>
              <a:rPr lang="en-US" altLang="zh-CN" sz="2000" dirty="0">
                <a:latin typeface="Microsoft YaHei" panose="020B0503020204020204" pitchFamily="34" charset="-122"/>
                <a:ea typeface="Microsoft YaHei" panose="020B0503020204020204" pitchFamily="34" charset="-122"/>
              </a:rPr>
              <a:t>None Phrase</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NP</a:t>
            </a:r>
            <a:r>
              <a:rPr lang="zh-CN" altLang="en-US" sz="2000" dirty="0">
                <a:latin typeface="Microsoft YaHei" panose="020B0503020204020204" pitchFamily="34" charset="-122"/>
                <a:ea typeface="Microsoft YaHei" panose="020B0503020204020204" pitchFamily="34" charset="-122"/>
              </a:rPr>
              <a:t>）。 </a:t>
            </a:r>
            <a:endParaRPr lang="en-US" altLang="zh-CN" sz="2000" dirty="0">
              <a:latin typeface="Microsoft YaHei" panose="020B0503020204020204" pitchFamily="34" charset="-122"/>
              <a:ea typeface="Microsoft YaHei" panose="020B0503020204020204" pitchFamily="34" charset="-122"/>
            </a:endParaRPr>
          </a:p>
          <a:p>
            <a:pPr>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句法范畴不仅仅包含</a:t>
            </a:r>
            <a:r>
              <a:rPr lang="zh-CN" altLang="en-US" sz="2000" dirty="0">
                <a:solidFill>
                  <a:srgbClr val="7030A0"/>
                </a:solidFill>
                <a:latin typeface="Microsoft YaHei" panose="020B0503020204020204" pitchFamily="34" charset="-122"/>
                <a:ea typeface="Microsoft YaHei" panose="020B0503020204020204" pitchFamily="34" charset="-122"/>
              </a:rPr>
              <a:t>名词短语（</a:t>
            </a:r>
            <a:r>
              <a:rPr lang="en-US" altLang="zh-CN" sz="2000" dirty="0">
                <a:solidFill>
                  <a:srgbClr val="7030A0"/>
                </a:solidFill>
                <a:latin typeface="Microsoft YaHei" panose="020B0503020204020204" pitchFamily="34" charset="-122"/>
                <a:ea typeface="Microsoft YaHei" panose="020B0503020204020204" pitchFamily="34" charset="-122"/>
              </a:rPr>
              <a:t>NP</a:t>
            </a:r>
            <a:r>
              <a:rPr lang="zh-CN" altLang="en-US" sz="2000" dirty="0">
                <a:solidFill>
                  <a:srgbClr val="7030A0"/>
                </a:solidFill>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a:t>
            </a:r>
            <a:r>
              <a:rPr lang="zh-CN" altLang="en-US" sz="2000" dirty="0">
                <a:solidFill>
                  <a:srgbClr val="7030A0"/>
                </a:solidFill>
                <a:latin typeface="Microsoft YaHei" panose="020B0503020204020204" pitchFamily="34" charset="-122"/>
                <a:ea typeface="Microsoft YaHei" panose="020B0503020204020204" pitchFamily="34" charset="-122"/>
              </a:rPr>
              <a:t>动词短语</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VP</a:t>
            </a:r>
            <a:r>
              <a:rPr lang="zh-CN" altLang="en-US" sz="2000" dirty="0">
                <a:latin typeface="Microsoft YaHei" panose="020B0503020204020204" pitchFamily="34" charset="-122"/>
                <a:ea typeface="Microsoft YaHei" panose="020B0503020204020204" pitchFamily="34" charset="-122"/>
              </a:rPr>
              <a:t>）</a:t>
            </a:r>
            <a:r>
              <a:rPr lang="zh-CN" altLang="en-US" sz="2000" dirty="0">
                <a:solidFill>
                  <a:srgbClr val="7030A0"/>
                </a:solidFill>
                <a:latin typeface="Microsoft YaHei" panose="020B0503020204020204" pitchFamily="34" charset="-122"/>
                <a:ea typeface="Microsoft YaHei" panose="020B0503020204020204" pitchFamily="34" charset="-122"/>
              </a:rPr>
              <a:t>、介词短语</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PP</a:t>
            </a:r>
            <a:r>
              <a:rPr lang="zh-CN" altLang="en-US" sz="2000" dirty="0">
                <a:latin typeface="Microsoft YaHei" panose="020B0503020204020204" pitchFamily="34" charset="-122"/>
                <a:ea typeface="Microsoft YaHei" panose="020B0503020204020204" pitchFamily="34" charset="-122"/>
              </a:rPr>
              <a:t>）等短语范畴，也包含</a:t>
            </a:r>
            <a:r>
              <a:rPr lang="zh-CN" altLang="en-US" sz="2000" dirty="0">
                <a:solidFill>
                  <a:srgbClr val="7030A0"/>
                </a:solidFill>
                <a:latin typeface="Microsoft YaHei" panose="020B0503020204020204" pitchFamily="34" charset="-122"/>
                <a:ea typeface="Microsoft YaHei" panose="020B0503020204020204" pitchFamily="34" charset="-122"/>
              </a:rPr>
              <a:t>名词</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N</a:t>
            </a:r>
            <a:r>
              <a:rPr lang="zh-CN" altLang="en-US" sz="2000" dirty="0">
                <a:latin typeface="Microsoft YaHei" panose="020B0503020204020204" pitchFamily="34" charset="-122"/>
                <a:ea typeface="Microsoft YaHei" panose="020B0503020204020204" pitchFamily="34" charset="-122"/>
              </a:rPr>
              <a:t>）、</a:t>
            </a:r>
            <a:r>
              <a:rPr lang="zh-CN" altLang="en-US" sz="2000" dirty="0">
                <a:solidFill>
                  <a:srgbClr val="7030A0"/>
                </a:solidFill>
                <a:latin typeface="Microsoft YaHei" panose="020B0503020204020204" pitchFamily="34" charset="-122"/>
                <a:ea typeface="Microsoft YaHei" panose="020B0503020204020204" pitchFamily="34" charset="-122"/>
              </a:rPr>
              <a:t>动词</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V</a:t>
            </a:r>
            <a:r>
              <a:rPr lang="zh-CN" altLang="en-US" sz="2000" dirty="0">
                <a:latin typeface="Microsoft YaHei" panose="020B0503020204020204" pitchFamily="34" charset="-122"/>
                <a:ea typeface="Microsoft YaHei" panose="020B0503020204020204" pitchFamily="34" charset="-122"/>
              </a:rPr>
              <a:t>）、</a:t>
            </a:r>
            <a:r>
              <a:rPr lang="zh-CN" altLang="en-US" sz="2000" dirty="0">
                <a:solidFill>
                  <a:srgbClr val="7030A0"/>
                </a:solidFill>
                <a:latin typeface="Microsoft YaHei" panose="020B0503020204020204" pitchFamily="34" charset="-122"/>
                <a:ea typeface="Microsoft YaHei" panose="020B0503020204020204" pitchFamily="34" charset="-122"/>
              </a:rPr>
              <a:t>形容词</a:t>
            </a:r>
            <a:r>
              <a:rPr lang="zh-CN" altLang="en-US" sz="2000" dirty="0">
                <a:latin typeface="Microsoft YaHei" panose="020B0503020204020204" pitchFamily="34" charset="-122"/>
                <a:ea typeface="Microsoft YaHei" panose="020B0503020204020204" pitchFamily="34" charset="-122"/>
              </a:rPr>
              <a:t>（</a:t>
            </a:r>
            <a:r>
              <a:rPr lang="en-US" altLang="zh-CN" sz="2000" dirty="0">
                <a:latin typeface="Microsoft YaHei" panose="020B0503020204020204" pitchFamily="34" charset="-122"/>
                <a:ea typeface="Microsoft YaHei" panose="020B0503020204020204" pitchFamily="34" charset="-122"/>
              </a:rPr>
              <a:t>Adj</a:t>
            </a:r>
            <a:r>
              <a:rPr lang="zh-CN" altLang="en-US" sz="2000" dirty="0">
                <a:latin typeface="Microsoft YaHei" panose="020B0503020204020204" pitchFamily="34" charset="-122"/>
                <a:ea typeface="Microsoft YaHei" panose="020B0503020204020204" pitchFamily="34" charset="-122"/>
              </a:rPr>
              <a:t>）等词汇范畴。除此之外还包含</a:t>
            </a:r>
            <a:r>
              <a:rPr lang="zh-CN" altLang="en-US" sz="2000" dirty="0">
                <a:solidFill>
                  <a:srgbClr val="7030A0"/>
                </a:solidFill>
                <a:latin typeface="Microsoft YaHei" panose="020B0503020204020204" pitchFamily="34" charset="-122"/>
                <a:ea typeface="Microsoft YaHei" panose="020B0503020204020204" pitchFamily="34" charset="-122"/>
              </a:rPr>
              <a:t>功能范畴</a:t>
            </a:r>
            <a:r>
              <a:rPr lang="zh-CN" altLang="en-US" sz="2000" dirty="0">
                <a:latin typeface="Microsoft YaHei" panose="020B0503020204020204" pitchFamily="34" charset="-122"/>
                <a:ea typeface="Microsoft YaHei" panose="020B0503020204020204" pitchFamily="34" charset="-122"/>
              </a:rPr>
              <a:t>（包括冠词、助动词等）。</a:t>
            </a:r>
            <a:endParaRPr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7359794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591536"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成分语法理论概述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1130391" y="1641747"/>
            <a:ext cx="9931217" cy="3731214"/>
          </a:xfrm>
          <a:prstGeom prst="rect">
            <a:avLst/>
          </a:prstGeom>
          <a:noFill/>
        </p:spPr>
        <p:txBody>
          <a:bodyPr wrap="square">
            <a:spAutoFit/>
          </a:bodyPr>
          <a:lstStyle/>
          <a:p>
            <a:pPr algn="just">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句法范畴之间不是完全对等的，而是</a:t>
            </a:r>
            <a:r>
              <a:rPr lang="zh-CN" altLang="en-US" sz="2000" b="1" dirty="0">
                <a:solidFill>
                  <a:srgbClr val="0432FF"/>
                </a:solidFill>
                <a:latin typeface="Microsoft YaHei" panose="020B0503020204020204" pitchFamily="34" charset="-122"/>
                <a:ea typeface="Microsoft YaHei" panose="020B0503020204020204" pitchFamily="34" charset="-122"/>
              </a:rPr>
              <a:t>具有层级关系</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lvl="1" algn="just">
              <a:lnSpc>
                <a:spcPct val="150000"/>
              </a:lnSpc>
              <a:spcBef>
                <a:spcPts val="1200"/>
              </a:spcBef>
            </a:pPr>
            <a:r>
              <a:rPr lang="zh-CN" altLang="en-US" sz="2000" dirty="0">
                <a:solidFill>
                  <a:srgbClr val="0070C0"/>
                </a:solidFill>
                <a:latin typeface="Microsoft YaHei" panose="020B0503020204020204" pitchFamily="34" charset="-122"/>
                <a:ea typeface="Microsoft YaHei" panose="020B0503020204020204" pitchFamily="34" charset="-122"/>
              </a:rPr>
              <a:t>例如：</a:t>
            </a:r>
            <a:r>
              <a:rPr lang="zh-CN" altLang="en-US" sz="2000" dirty="0">
                <a:latin typeface="Microsoft YaHei" panose="020B0503020204020204" pitchFamily="34" charset="-122"/>
                <a:ea typeface="Microsoft YaHei" panose="020B0503020204020204" pitchFamily="34" charset="-122"/>
              </a:rPr>
              <a:t>一个句子可以由一个名词短语和一个动词短语组成，一个名词短语可以由一个限定词和一个名词组成，一个动词短语又可以由一个动词和一个名词短语组成。</a:t>
            </a:r>
            <a:endParaRPr lang="en-US" altLang="zh-CN" sz="2000"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000" b="1" dirty="0">
                <a:solidFill>
                  <a:srgbClr val="0432FF"/>
                </a:solidFill>
                <a:latin typeface="Microsoft YaHei" panose="020B0503020204020204" pitchFamily="34" charset="-122"/>
                <a:ea typeface="Microsoft YaHei" panose="020B0503020204020204" pitchFamily="34" charset="-122"/>
              </a:rPr>
              <a:t>短语结构规则（</a:t>
            </a:r>
            <a:r>
              <a:rPr lang="en-US" altLang="zh-CN" sz="2000" b="1" dirty="0">
                <a:solidFill>
                  <a:srgbClr val="0432FF"/>
                </a:solidFill>
                <a:latin typeface="Microsoft YaHei" panose="020B0503020204020204" pitchFamily="34" charset="-122"/>
                <a:ea typeface="Microsoft YaHei" panose="020B0503020204020204" pitchFamily="34" charset="-122"/>
              </a:rPr>
              <a:t>Phrase Structure Rules</a:t>
            </a:r>
            <a:r>
              <a:rPr lang="zh-CN" altLang="en-US" sz="2000" b="1" dirty="0">
                <a:solidFill>
                  <a:srgbClr val="0432FF"/>
                </a:solidFill>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又称改写规则或重写规则，对句法范畴间的关系进行形式化描述。</a:t>
            </a:r>
            <a:endParaRPr lang="en-US" altLang="zh-CN" sz="2000"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通常可以用</a:t>
            </a:r>
            <a:r>
              <a:rPr lang="en-US" altLang="zh-CN" sz="2000" b="1" dirty="0">
                <a:solidFill>
                  <a:srgbClr val="7030A0"/>
                </a:solidFill>
                <a:latin typeface="Microsoft YaHei" panose="020B0503020204020204" pitchFamily="34" charset="-122"/>
                <a:ea typeface="Microsoft YaHei" panose="020B0503020204020204" pitchFamily="34" charset="-122"/>
              </a:rPr>
              <a:t>X</a:t>
            </a:r>
            <a:r>
              <a:rPr lang="en-US" altLang="zh-CN" sz="2000" b="1" dirty="0">
                <a:solidFill>
                  <a:srgbClr val="7030A0"/>
                </a:solidFill>
                <a:latin typeface="Microsoft YaHei" panose="020B0503020204020204" pitchFamily="34" charset="-122"/>
                <a:ea typeface="Microsoft YaHei" panose="020B0503020204020204" pitchFamily="34" charset="-122"/>
                <a:sym typeface="Wingdings" pitchFamily="2" charset="2"/>
              </a:rPr>
              <a:t>  </a:t>
            </a:r>
            <a:r>
              <a:rPr lang="en-US" altLang="zh-CN" sz="2000" b="1" dirty="0">
                <a:solidFill>
                  <a:srgbClr val="7030A0"/>
                </a:solidFill>
                <a:latin typeface="Microsoft YaHei" panose="020B0503020204020204" pitchFamily="34" charset="-122"/>
                <a:ea typeface="Microsoft YaHei" panose="020B0503020204020204" pitchFamily="34" charset="-122"/>
              </a:rPr>
              <a:t>Y Z W </a:t>
            </a:r>
            <a:r>
              <a:rPr lang="en-US" altLang="zh-CN" sz="2000" b="1" baseline="30000" dirty="0">
                <a:solidFill>
                  <a:srgbClr val="7030A0"/>
                </a:solidFill>
                <a:latin typeface="Microsoft YaHei" panose="020B0503020204020204" pitchFamily="34" charset="-122"/>
                <a:ea typeface="Microsoft YaHei" panose="020B0503020204020204" pitchFamily="34" charset="-122"/>
              </a:rPr>
              <a:t>…</a:t>
            </a:r>
            <a:r>
              <a:rPr lang="zh-CN" altLang="en-US" sz="2000" b="1" baseline="30000" dirty="0">
                <a:solidFill>
                  <a:srgbClr val="7030A0"/>
                </a:solidFill>
                <a:latin typeface="Microsoft YaHei" panose="020B0503020204020204" pitchFamily="34" charset="-122"/>
                <a:ea typeface="Microsoft YaHei" panose="020B0503020204020204" pitchFamily="34" charset="-122"/>
              </a:rPr>
              <a:t> </a:t>
            </a:r>
            <a:r>
              <a:rPr lang="zh-CN" altLang="en-US" sz="2000" dirty="0">
                <a:latin typeface="Microsoft YaHei" panose="020B0503020204020204" pitchFamily="34" charset="-122"/>
                <a:ea typeface="Microsoft YaHei" panose="020B0503020204020204" pitchFamily="34" charset="-122"/>
              </a:rPr>
              <a:t>表示，其中</a:t>
            </a:r>
            <a:r>
              <a:rPr lang="en-US" altLang="zh-CN" sz="2000" dirty="0">
                <a:latin typeface="Microsoft YaHei" panose="020B0503020204020204" pitchFamily="34" charset="-122"/>
                <a:ea typeface="Microsoft YaHei" panose="020B0503020204020204" pitchFamily="34" charset="-122"/>
              </a:rPr>
              <a:t>X</a:t>
            </a:r>
            <a:r>
              <a:rPr lang="zh-CN" altLang="en-US" sz="2000" dirty="0">
                <a:latin typeface="Microsoft YaHei" panose="020B0503020204020204" pitchFamily="34" charset="-122"/>
                <a:ea typeface="Microsoft YaHei" panose="020B0503020204020204" pitchFamily="34" charset="-122"/>
              </a:rPr>
              <a:t>表示短语名称，</a:t>
            </a:r>
            <a:r>
              <a:rPr lang="en-US" altLang="zh-CN" sz="2000" dirty="0">
                <a:latin typeface="Microsoft YaHei" panose="020B0503020204020204" pitchFamily="34" charset="-122"/>
                <a:ea typeface="Microsoft YaHei" panose="020B0503020204020204" pitchFamily="34" charset="-122"/>
                <a:sym typeface="Wingdings" pitchFamily="2" charset="2"/>
              </a:rPr>
              <a:t></a:t>
            </a:r>
            <a:r>
              <a:rPr lang="zh-CN" altLang="en-US" sz="2000" dirty="0">
                <a:latin typeface="Microsoft YaHei" panose="020B0503020204020204" pitchFamily="34" charset="-122"/>
                <a:ea typeface="Microsoft YaHei" panose="020B0503020204020204" pitchFamily="34" charset="-122"/>
              </a:rPr>
              <a:t>表示改写为，</a:t>
            </a:r>
            <a:r>
              <a:rPr lang="en-US" altLang="zh-CN" sz="2000" dirty="0">
                <a:latin typeface="Microsoft YaHei" panose="020B0503020204020204" pitchFamily="34" charset="-122"/>
                <a:ea typeface="Microsoft YaHei" panose="020B0503020204020204" pitchFamily="34" charset="-122"/>
              </a:rPr>
              <a:t>Y Z W</a:t>
            </a:r>
            <a:r>
              <a:rPr lang="en-US" altLang="zh-CN" sz="2000" b="1" baseline="30000" dirty="0">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定义了短语</a:t>
            </a:r>
            <a:r>
              <a:rPr lang="en-US" altLang="zh-CN" sz="2000" dirty="0">
                <a:latin typeface="Microsoft YaHei" panose="020B0503020204020204" pitchFamily="34" charset="-122"/>
                <a:ea typeface="Microsoft YaHei" panose="020B0503020204020204" pitchFamily="34" charset="-122"/>
              </a:rPr>
              <a:t>X</a:t>
            </a:r>
            <a:r>
              <a:rPr lang="zh-CN" altLang="en-US" sz="2000" dirty="0">
                <a:latin typeface="Microsoft YaHei" panose="020B0503020204020204" pitchFamily="34" charset="-122"/>
                <a:ea typeface="Microsoft YaHei" panose="020B0503020204020204" pitchFamily="34" charset="-122"/>
              </a:rPr>
              <a:t>的结构，如果</a:t>
            </a:r>
            <a:r>
              <a:rPr lang="en-US" altLang="zh-CN" sz="2000" dirty="0">
                <a:latin typeface="Microsoft YaHei" panose="020B0503020204020204" pitchFamily="34" charset="-122"/>
                <a:ea typeface="Microsoft YaHei" panose="020B0503020204020204" pitchFamily="34" charset="-122"/>
              </a:rPr>
              <a:t>Y Z W</a:t>
            </a:r>
            <a:r>
              <a:rPr lang="zh-CN" altLang="en-US" sz="2000" dirty="0">
                <a:latin typeface="Microsoft YaHei" panose="020B0503020204020204" pitchFamily="34" charset="-122"/>
                <a:ea typeface="Microsoft YaHei" panose="020B0503020204020204" pitchFamily="34" charset="-122"/>
              </a:rPr>
              <a:t>是短语，则还需要构造出它们的规则。</a:t>
            </a:r>
            <a:endParaRPr lang="en-US" altLang="zh-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28795761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1" y="363538"/>
            <a:ext cx="9644545"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成分语法理论概述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796967" y="1280493"/>
            <a:ext cx="4702685" cy="2353786"/>
          </a:xfrm>
          <a:prstGeom prst="rect">
            <a:avLst/>
          </a:prstGeom>
          <a:noFill/>
        </p:spPr>
        <p:txBody>
          <a:bodyPr wrap="square">
            <a:spAutoFit/>
          </a:bodyPr>
          <a:lstStyle/>
          <a:p>
            <a:pPr>
              <a:lnSpc>
                <a:spcPct val="125000"/>
              </a:lnSpc>
              <a:spcBef>
                <a:spcPts val="1200"/>
              </a:spcBef>
            </a:pPr>
            <a:r>
              <a:rPr lang="zh-CN" altLang="en-US" sz="2800" dirty="0">
                <a:solidFill>
                  <a:srgbClr val="0070C0"/>
                </a:solidFill>
                <a:latin typeface="Microsoft YaHei" panose="020B0503020204020204" pitchFamily="34" charset="-122"/>
                <a:ea typeface="Microsoft YaHei" panose="020B0503020204020204" pitchFamily="34" charset="-122"/>
              </a:rPr>
              <a:t>例如：</a:t>
            </a:r>
            <a:endParaRPr lang="en-US" altLang="zh-CN" sz="2800" dirty="0">
              <a:solidFill>
                <a:srgbClr val="0070C0"/>
              </a:solidFill>
              <a:latin typeface="Microsoft YaHei" panose="020B0503020204020204" pitchFamily="34" charset="-122"/>
              <a:ea typeface="Microsoft YaHei" panose="020B0503020204020204" pitchFamily="34" charset="-122"/>
            </a:endParaRPr>
          </a:p>
          <a:p>
            <a:pPr>
              <a:lnSpc>
                <a:spcPct val="125000"/>
              </a:lnSpc>
              <a:spcBef>
                <a:spcPts val="1200"/>
              </a:spcBef>
            </a:pPr>
            <a:r>
              <a:rPr lang="en-US" sz="2800" b="0" i="0" dirty="0">
                <a:effectLst/>
                <a:latin typeface="Times New Roman" panose="02020603050405020304" pitchFamily="18" charset="0"/>
              </a:rPr>
              <a:t>	( 1 ) S −&gt; NP VP</a:t>
            </a:r>
            <a:br>
              <a:rPr lang="en-US" sz="2800" dirty="0"/>
            </a:br>
            <a:r>
              <a:rPr lang="en-US" sz="2800" dirty="0"/>
              <a:t>	</a:t>
            </a:r>
            <a:r>
              <a:rPr lang="en-US" sz="2800" b="0" i="0" dirty="0">
                <a:effectLst/>
                <a:latin typeface="Times New Roman" panose="02020603050405020304" pitchFamily="18" charset="0"/>
              </a:rPr>
              <a:t>( 2 ) NP −&gt; Det N</a:t>
            </a:r>
            <a:br>
              <a:rPr lang="en-US" sz="2800" dirty="0"/>
            </a:br>
            <a:r>
              <a:rPr lang="en-US" sz="2800" dirty="0"/>
              <a:t>	</a:t>
            </a:r>
            <a:r>
              <a:rPr lang="en-US" sz="2800" b="0" i="0" dirty="0">
                <a:effectLst/>
                <a:latin typeface="Times New Roman" panose="02020603050405020304" pitchFamily="18" charset="0"/>
              </a:rPr>
              <a:t>( 3 ) VP −&gt; V NP</a:t>
            </a:r>
            <a:endParaRPr lang="zh-CN" altLang="en-US" sz="2400" b="0" i="0" dirty="0">
              <a:solidFill>
                <a:srgbClr val="5D6879"/>
              </a:solidFill>
              <a:effectLst/>
              <a:latin typeface="KaiTi_GB2312" panose="02010609030101010101" pitchFamily="49" charset="-122"/>
              <a:ea typeface="KaiTi_GB2312" panose="02010609030101010101" pitchFamily="49" charset="-122"/>
            </a:endParaRPr>
          </a:p>
        </p:txBody>
      </p:sp>
      <p:sp>
        <p:nvSpPr>
          <p:cNvPr id="4" name="TextBox 3">
            <a:extLst>
              <a:ext uri="{FF2B5EF4-FFF2-40B4-BE49-F238E27FC236}">
                <a16:creationId xmlns:a16="http://schemas.microsoft.com/office/drawing/2014/main" id="{84F3958B-6FBC-C45A-C23C-1394D8EBF2D9}"/>
              </a:ext>
            </a:extLst>
          </p:cNvPr>
          <p:cNvSpPr txBox="1"/>
          <p:nvPr/>
        </p:nvSpPr>
        <p:spPr>
          <a:xfrm>
            <a:off x="1355276" y="4400614"/>
            <a:ext cx="9953856" cy="961225"/>
          </a:xfrm>
          <a:prstGeom prst="rect">
            <a:avLst/>
          </a:prstGeom>
          <a:noFill/>
        </p:spPr>
        <p:txBody>
          <a:bodyPr wrap="square">
            <a:spAutoFit/>
          </a:bodyPr>
          <a:lstStyle/>
          <a:p>
            <a:pPr>
              <a:lnSpc>
                <a:spcPct val="150000"/>
              </a:lnSpc>
              <a:spcBef>
                <a:spcPts val="1200"/>
              </a:spcBef>
            </a:pPr>
            <a:r>
              <a:rPr lang="zh-CN" altLang="en-US" sz="2000" b="1" dirty="0">
                <a:solidFill>
                  <a:srgbClr val="0432FF"/>
                </a:solidFill>
                <a:latin typeface="Microsoft YaHei" panose="020B0503020204020204" pitchFamily="34" charset="-122"/>
                <a:ea typeface="Microsoft YaHei" panose="020B0503020204020204" pitchFamily="34" charset="-122"/>
              </a:rPr>
              <a:t>成分语法</a:t>
            </a:r>
            <a:r>
              <a:rPr lang="zh-CN" altLang="en-US" sz="2000" dirty="0">
                <a:latin typeface="Microsoft YaHei" panose="020B0503020204020204" pitchFamily="34" charset="-122"/>
                <a:ea typeface="Microsoft YaHei" panose="020B0503020204020204" pitchFamily="34" charset="-122"/>
              </a:rPr>
              <a:t>就是由句法范畴以及短语结构规则定义的语法。由于短语结构规则具有递归性，可以使短语和句子无限循环组合。这也说明了语言的创造性和无限性。</a:t>
            </a:r>
            <a:endParaRPr lang="en-CN" sz="2000" dirty="0">
              <a:latin typeface="Microsoft YaHei" panose="020B0503020204020204" pitchFamily="34" charset="-122"/>
              <a:ea typeface="Microsoft YaHei" panose="020B0503020204020204" pitchFamily="34" charset="-122"/>
            </a:endParaRPr>
          </a:p>
        </p:txBody>
      </p:sp>
      <p:pic>
        <p:nvPicPr>
          <p:cNvPr id="3" name="Picture 2">
            <a:extLst>
              <a:ext uri="{FF2B5EF4-FFF2-40B4-BE49-F238E27FC236}">
                <a16:creationId xmlns:a16="http://schemas.microsoft.com/office/drawing/2014/main" id="{3241B7B7-7704-379E-A632-F0BD7606F7C7}"/>
              </a:ext>
            </a:extLst>
          </p:cNvPr>
          <p:cNvPicPr>
            <a:picLocks noChangeAspect="1"/>
          </p:cNvPicPr>
          <p:nvPr/>
        </p:nvPicPr>
        <p:blipFill>
          <a:blip r:embed="rId3"/>
          <a:stretch>
            <a:fillRect/>
          </a:stretch>
        </p:blipFill>
        <p:spPr>
          <a:xfrm>
            <a:off x="6208781" y="1058067"/>
            <a:ext cx="4876801" cy="307586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933158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3129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成分语法理论概述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56</a:t>
            </a:fld>
            <a:endParaRPr lang="zh-CN" altLang="en-US"/>
          </a:p>
        </p:txBody>
      </p:sp>
      <p:sp>
        <p:nvSpPr>
          <p:cNvPr id="4" name="TextBox 3">
            <a:extLst>
              <a:ext uri="{FF2B5EF4-FFF2-40B4-BE49-F238E27FC236}">
                <a16:creationId xmlns:a16="http://schemas.microsoft.com/office/drawing/2014/main" id="{84F3958B-6FBC-C45A-C23C-1394D8EBF2D9}"/>
              </a:ext>
            </a:extLst>
          </p:cNvPr>
          <p:cNvSpPr txBox="1"/>
          <p:nvPr/>
        </p:nvSpPr>
        <p:spPr>
          <a:xfrm>
            <a:off x="843365" y="1102638"/>
            <a:ext cx="9519835" cy="1135054"/>
          </a:xfrm>
          <a:prstGeom prst="rect">
            <a:avLst/>
          </a:prstGeom>
          <a:noFill/>
        </p:spPr>
        <p:txBody>
          <a:bodyPr wrap="square">
            <a:spAutoFit/>
          </a:bodyPr>
          <a:lstStyle/>
          <a:p>
            <a:pPr>
              <a:lnSpc>
                <a:spcPct val="150000"/>
              </a:lnSpc>
              <a:spcBef>
                <a:spcPts val="1200"/>
              </a:spcBef>
            </a:pPr>
            <a:r>
              <a:rPr lang="zh-CN" altLang="en-US" sz="2400" b="0" i="0" dirty="0">
                <a:effectLst/>
                <a:latin typeface="Microsoft YaHei" panose="020B0503020204020204" pitchFamily="34" charset="-122"/>
                <a:ea typeface="Microsoft YaHei" panose="020B0503020204020204" pitchFamily="34" charset="-122"/>
              </a:rPr>
              <a:t>由于成分语法局限于表层结构分析，</a:t>
            </a:r>
            <a:r>
              <a:rPr lang="zh-CN" altLang="en-US" sz="2400" b="1" i="0" dirty="0">
                <a:solidFill>
                  <a:srgbClr val="0432FF"/>
                </a:solidFill>
                <a:effectLst/>
                <a:latin typeface="Microsoft YaHei" panose="020B0503020204020204" pitchFamily="34" charset="-122"/>
                <a:ea typeface="Microsoft YaHei" panose="020B0503020204020204" pitchFamily="34" charset="-122"/>
              </a:rPr>
              <a:t>不能彻底解决句法和语义问题</a:t>
            </a:r>
            <a:r>
              <a:rPr lang="zh-CN" altLang="en-US" sz="2400" b="0" i="0" dirty="0">
                <a:effectLst/>
                <a:latin typeface="Microsoft YaHei" panose="020B0503020204020204" pitchFamily="34" charset="-122"/>
                <a:ea typeface="Microsoft YaHei" panose="020B0503020204020204" pitchFamily="34" charset="-122"/>
              </a:rPr>
              <a:t>，因此存在</a:t>
            </a:r>
            <a:r>
              <a:rPr lang="zh-CN" altLang="en-US" sz="2400" b="0" i="0" dirty="0">
                <a:solidFill>
                  <a:srgbClr val="C00000"/>
                </a:solidFill>
                <a:effectLst/>
                <a:latin typeface="Microsoft YaHei" panose="020B0503020204020204" pitchFamily="34" charset="-122"/>
                <a:ea typeface="Microsoft YaHei" panose="020B0503020204020204" pitchFamily="34" charset="-122"/>
              </a:rPr>
              <a:t>非连续成分</a:t>
            </a:r>
            <a:r>
              <a:rPr lang="zh-CN" altLang="en-US" sz="2400" b="0" i="0" dirty="0">
                <a:effectLst/>
                <a:latin typeface="Microsoft YaHei" panose="020B0503020204020204" pitchFamily="34" charset="-122"/>
                <a:ea typeface="Microsoft YaHei" panose="020B0503020204020204" pitchFamily="34" charset="-122"/>
              </a:rPr>
              <a:t>、</a:t>
            </a:r>
            <a:r>
              <a:rPr lang="zh-CN" altLang="en-US" sz="2400" b="0" i="0" dirty="0">
                <a:solidFill>
                  <a:srgbClr val="C00000"/>
                </a:solidFill>
                <a:effectLst/>
                <a:latin typeface="Microsoft YaHei" panose="020B0503020204020204" pitchFamily="34" charset="-122"/>
                <a:ea typeface="Microsoft YaHei" panose="020B0503020204020204" pitchFamily="34" charset="-122"/>
              </a:rPr>
              <a:t>结构歧义</a:t>
            </a:r>
            <a:r>
              <a:rPr lang="zh-CN" altLang="en-US" sz="2400" b="0" i="0" dirty="0">
                <a:effectLst/>
                <a:latin typeface="Microsoft YaHei" panose="020B0503020204020204" pitchFamily="34" charset="-122"/>
                <a:ea typeface="Microsoft YaHei" panose="020B0503020204020204" pitchFamily="34" charset="-122"/>
              </a:rPr>
              <a:t>等问题。</a:t>
            </a:r>
            <a:endParaRPr lang="en-CN" sz="24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A0C48E95-0F1D-FA1E-07BB-746034993542}"/>
              </a:ext>
            </a:extLst>
          </p:cNvPr>
          <p:cNvPicPr>
            <a:picLocks noChangeAspect="1"/>
          </p:cNvPicPr>
          <p:nvPr/>
        </p:nvPicPr>
        <p:blipFill>
          <a:blip r:embed="rId3"/>
          <a:stretch>
            <a:fillRect/>
          </a:stretch>
        </p:blipFill>
        <p:spPr>
          <a:xfrm>
            <a:off x="412440" y="3074256"/>
            <a:ext cx="5295903" cy="3039801"/>
          </a:xfrm>
          <a:prstGeom prst="rect">
            <a:avLst/>
          </a:prstGeom>
          <a:effectLst>
            <a:outerShdw blurRad="63500" sx="102000" sy="102000" algn="ctr" rotWithShape="0">
              <a:prstClr val="black">
                <a:alpha val="40000"/>
              </a:prstClr>
            </a:outerShdw>
          </a:effectLst>
        </p:spPr>
      </p:pic>
      <p:pic>
        <p:nvPicPr>
          <p:cNvPr id="6" name="Picture 5">
            <a:extLst>
              <a:ext uri="{FF2B5EF4-FFF2-40B4-BE49-F238E27FC236}">
                <a16:creationId xmlns:a16="http://schemas.microsoft.com/office/drawing/2014/main" id="{801D2F5E-F11C-5401-EEEA-F8FE4B4EAD17}"/>
              </a:ext>
            </a:extLst>
          </p:cNvPr>
          <p:cNvPicPr>
            <a:picLocks noChangeAspect="1"/>
          </p:cNvPicPr>
          <p:nvPr/>
        </p:nvPicPr>
        <p:blipFill>
          <a:blip r:embed="rId4"/>
          <a:stretch>
            <a:fillRect/>
          </a:stretch>
        </p:blipFill>
        <p:spPr>
          <a:xfrm>
            <a:off x="6096000" y="2669982"/>
            <a:ext cx="5113338" cy="345179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9998184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1804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依存语法理论概述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57</a:t>
            </a:fld>
            <a:endParaRPr lang="zh-CN" altLang="en-US" dirty="0"/>
          </a:p>
        </p:txBody>
      </p:sp>
      <p:sp>
        <p:nvSpPr>
          <p:cNvPr id="4" name="TextBox 3">
            <a:extLst>
              <a:ext uri="{FF2B5EF4-FFF2-40B4-BE49-F238E27FC236}">
                <a16:creationId xmlns:a16="http://schemas.microsoft.com/office/drawing/2014/main" id="{84F3958B-6FBC-C45A-C23C-1394D8EBF2D9}"/>
              </a:ext>
            </a:extLst>
          </p:cNvPr>
          <p:cNvSpPr txBox="1"/>
          <p:nvPr/>
        </p:nvSpPr>
        <p:spPr>
          <a:xfrm>
            <a:off x="1372794" y="1563393"/>
            <a:ext cx="9446412" cy="3731214"/>
          </a:xfrm>
          <a:prstGeom prst="rect">
            <a:avLst/>
          </a:prstGeom>
          <a:noFill/>
        </p:spPr>
        <p:txBody>
          <a:bodyPr wrap="square">
            <a:spAutoFit/>
          </a:bodyPr>
          <a:lstStyle/>
          <a:p>
            <a:pPr>
              <a:lnSpc>
                <a:spcPct val="150000"/>
              </a:lnSpc>
              <a:spcBef>
                <a:spcPts val="1200"/>
              </a:spcBef>
            </a:pPr>
            <a:r>
              <a:rPr lang="en-US" sz="2000" b="0" i="0" dirty="0">
                <a:effectLst/>
                <a:latin typeface="Microsoft YaHei" panose="020B0503020204020204" pitchFamily="34" charset="-122"/>
                <a:ea typeface="Microsoft YaHei" panose="020B0503020204020204" pitchFamily="34" charset="-122"/>
              </a:rPr>
              <a:t>Lucien </a:t>
            </a:r>
            <a:r>
              <a:rPr lang="en-US" sz="2000" b="0" i="0" dirty="0" err="1">
                <a:effectLst/>
                <a:latin typeface="Microsoft YaHei" panose="020B0503020204020204" pitchFamily="34" charset="-122"/>
                <a:ea typeface="Microsoft YaHei" panose="020B0503020204020204" pitchFamily="34" charset="-122"/>
              </a:rPr>
              <a:t>Tesnière</a:t>
            </a:r>
            <a:r>
              <a:rPr lang="en-US" sz="2000" b="0" i="0" dirty="0">
                <a:effectLst/>
                <a:latin typeface="Microsoft YaHei" panose="020B0503020204020204" pitchFamily="34" charset="-122"/>
                <a:ea typeface="Microsoft YaHei" panose="020B0503020204020204" pitchFamily="34" charset="-122"/>
              </a:rPr>
              <a:t> </a:t>
            </a:r>
            <a:r>
              <a:rPr lang="zh-CN" altLang="en-US" sz="2000" b="0" i="0" dirty="0">
                <a:effectLst/>
                <a:latin typeface="Microsoft YaHei" panose="020B0503020204020204" pitchFamily="34" charset="-122"/>
                <a:ea typeface="Microsoft YaHei" panose="020B0503020204020204" pitchFamily="34" charset="-122"/>
              </a:rPr>
              <a:t> </a:t>
            </a:r>
            <a:r>
              <a:rPr lang="en-US" altLang="zh-CN" sz="2000" b="0" i="0" dirty="0">
                <a:effectLst/>
                <a:latin typeface="Microsoft YaHei" panose="020B0503020204020204" pitchFamily="34" charset="-122"/>
                <a:ea typeface="Microsoft YaHei" panose="020B0503020204020204" pitchFamily="34" charset="-122"/>
              </a:rPr>
              <a:t>1959 </a:t>
            </a:r>
            <a:r>
              <a:rPr lang="zh-CN" altLang="en-US" sz="2000" b="0" i="0" dirty="0">
                <a:effectLst/>
                <a:latin typeface="Microsoft YaHei" panose="020B0503020204020204" pitchFamily="34" charset="-122"/>
                <a:ea typeface="Microsoft YaHei" panose="020B0503020204020204" pitchFamily="34" charset="-122"/>
              </a:rPr>
              <a:t>年发表的</a:t>
            </a:r>
            <a:r>
              <a:rPr lang="en-US" altLang="zh-CN" sz="2000" b="0" i="0" dirty="0">
                <a:effectLst/>
                <a:latin typeface="Microsoft YaHei" panose="020B0503020204020204" pitchFamily="34" charset="-122"/>
                <a:ea typeface="Microsoft YaHei" panose="020B0503020204020204" pitchFamily="34" charset="-122"/>
              </a:rPr>
              <a:t>《</a:t>
            </a:r>
            <a:r>
              <a:rPr lang="en-US" sz="2000" i="0" dirty="0" err="1">
                <a:effectLst/>
                <a:latin typeface="Microsoft YaHei" panose="020B0503020204020204" pitchFamily="34" charset="-122"/>
                <a:ea typeface="Microsoft YaHei" panose="020B0503020204020204" pitchFamily="34" charset="-122"/>
              </a:rPr>
              <a:t>Eléments</a:t>
            </a:r>
            <a:r>
              <a:rPr lang="en-US" sz="2000" i="0" dirty="0">
                <a:effectLst/>
                <a:latin typeface="Microsoft YaHei" panose="020B0503020204020204" pitchFamily="34" charset="-122"/>
                <a:ea typeface="Microsoft YaHei" panose="020B0503020204020204" pitchFamily="34" charset="-122"/>
              </a:rPr>
              <a:t> de </a:t>
            </a:r>
            <a:r>
              <a:rPr lang="en-US" sz="2000" i="0" dirty="0" err="1">
                <a:effectLst/>
                <a:latin typeface="Microsoft YaHei" panose="020B0503020204020204" pitchFamily="34" charset="-122"/>
                <a:ea typeface="Microsoft YaHei" panose="020B0503020204020204" pitchFamily="34" charset="-122"/>
              </a:rPr>
              <a:t>syntaxe</a:t>
            </a:r>
            <a:r>
              <a:rPr lang="en-US" sz="2000" i="0" dirty="0">
                <a:effectLst/>
                <a:latin typeface="Microsoft YaHei" panose="020B0503020204020204" pitchFamily="34" charset="-122"/>
                <a:ea typeface="Microsoft YaHei" panose="020B0503020204020204" pitchFamily="34" charset="-122"/>
              </a:rPr>
              <a:t> </a:t>
            </a:r>
            <a:r>
              <a:rPr lang="en-US" sz="2000" i="0" dirty="0" err="1">
                <a:effectLst/>
                <a:latin typeface="Microsoft YaHei" panose="020B0503020204020204" pitchFamily="34" charset="-122"/>
                <a:ea typeface="Microsoft YaHei" panose="020B0503020204020204" pitchFamily="34" charset="-122"/>
              </a:rPr>
              <a:t>structurale</a:t>
            </a:r>
            <a:r>
              <a:rPr lang="en-US" sz="2000" b="0" i="0" dirty="0">
                <a:effectLst/>
                <a:latin typeface="Microsoft YaHei" panose="020B0503020204020204" pitchFamily="34" charset="-122"/>
                <a:ea typeface="Microsoft YaHei" panose="020B0503020204020204" pitchFamily="34" charset="-122"/>
              </a:rPr>
              <a:t>》</a:t>
            </a:r>
            <a:r>
              <a:rPr lang="zh-CN" altLang="en-US" sz="2000" b="0" i="0" dirty="0">
                <a:effectLst/>
                <a:latin typeface="Microsoft YaHei" panose="020B0503020204020204" pitchFamily="34" charset="-122"/>
                <a:ea typeface="Microsoft YaHei" panose="020B0503020204020204" pitchFamily="34" charset="-122"/>
              </a:rPr>
              <a:t>奠定了</a:t>
            </a:r>
            <a:r>
              <a:rPr lang="zh-CN" altLang="en-US" sz="2000" b="0" i="0" dirty="0">
                <a:solidFill>
                  <a:srgbClr val="C00000"/>
                </a:solidFill>
                <a:effectLst/>
                <a:latin typeface="Microsoft YaHei" panose="020B0503020204020204" pitchFamily="34" charset="-122"/>
                <a:ea typeface="Microsoft YaHei" panose="020B0503020204020204" pitchFamily="34" charset="-122"/>
              </a:rPr>
              <a:t>句法依存关系</a:t>
            </a:r>
            <a:r>
              <a:rPr lang="zh-CN" altLang="en-US" sz="2000" b="0" i="0" dirty="0">
                <a:effectLst/>
                <a:latin typeface="Microsoft YaHei" panose="020B0503020204020204" pitchFamily="34" charset="-122"/>
                <a:ea typeface="Microsoft YaHei" panose="020B0503020204020204" pitchFamily="34" charset="-122"/>
              </a:rPr>
              <a:t>研究的基础</a:t>
            </a:r>
            <a:endParaRPr lang="en-US" altLang="zh-CN" sz="2000" b="0" i="0" dirty="0">
              <a:effectLst/>
              <a:latin typeface="Microsoft YaHei" panose="020B0503020204020204" pitchFamily="34" charset="-122"/>
              <a:ea typeface="Microsoft YaHei" panose="020B0503020204020204" pitchFamily="34" charset="-122"/>
            </a:endParaRPr>
          </a:p>
          <a:p>
            <a:pPr>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在基于依存关系的语法中，句子中的每个成分对应句法结构中的</a:t>
            </a:r>
            <a:r>
              <a:rPr lang="zh-CN" altLang="en-US" sz="2000" b="1" dirty="0">
                <a:latin typeface="Microsoft YaHei" panose="020B0503020204020204" pitchFamily="34" charset="-122"/>
                <a:ea typeface="Microsoft YaHei" panose="020B0503020204020204" pitchFamily="34" charset="-122"/>
              </a:rPr>
              <a:t>唯一一个节点</a:t>
            </a:r>
            <a:r>
              <a:rPr lang="zh-CN" altLang="en-US" sz="2000" dirty="0">
                <a:latin typeface="Microsoft YaHei" panose="020B0503020204020204" pitchFamily="34" charset="-122"/>
                <a:ea typeface="Microsoft YaHei" panose="020B0503020204020204" pitchFamily="34" charset="-122"/>
              </a:rPr>
              <a:t>。两个成分之间的</a:t>
            </a:r>
            <a:r>
              <a:rPr lang="zh-CN" altLang="en-US" sz="2000" b="1" dirty="0">
                <a:solidFill>
                  <a:srgbClr val="0432FF"/>
                </a:solidFill>
                <a:latin typeface="Microsoft YaHei" panose="020B0503020204020204" pitchFamily="34" charset="-122"/>
                <a:ea typeface="Microsoft YaHei" panose="020B0503020204020204" pitchFamily="34" charset="-122"/>
              </a:rPr>
              <a:t>依存关系是二元的非对称关系</a:t>
            </a:r>
            <a:r>
              <a:rPr lang="zh-CN" altLang="en-US" sz="2000" dirty="0">
                <a:solidFill>
                  <a:srgbClr val="0432FF"/>
                </a:solidFill>
                <a:latin typeface="Microsoft YaHei" panose="020B0503020204020204" pitchFamily="34" charset="-122"/>
                <a:ea typeface="Microsoft YaHei" panose="020B0503020204020204" pitchFamily="34" charset="-122"/>
              </a:rPr>
              <a:t>，</a:t>
            </a:r>
            <a:r>
              <a:rPr lang="zh-CN" altLang="en-US" sz="2000" b="1" dirty="0">
                <a:solidFill>
                  <a:srgbClr val="0432FF"/>
                </a:solidFill>
                <a:latin typeface="Microsoft YaHei" panose="020B0503020204020204" pitchFamily="34" charset="-122"/>
                <a:ea typeface="Microsoft YaHei" panose="020B0503020204020204" pitchFamily="34" charset="-122"/>
              </a:rPr>
              <a:t>具有方向性</a:t>
            </a:r>
            <a:r>
              <a:rPr lang="zh-CN" altLang="en-US" sz="2000" dirty="0">
                <a:latin typeface="Microsoft YaHei" panose="020B0503020204020204" pitchFamily="34" charset="-122"/>
                <a:ea typeface="Microsoft YaHei" panose="020B0503020204020204" pitchFamily="34" charset="-122"/>
              </a:rPr>
              <a:t>，一个成分是中心语，另一个成分依附于中心语存在，</a:t>
            </a:r>
            <a:r>
              <a:rPr lang="zh-CN" altLang="en-US" sz="2000" b="1" dirty="0">
                <a:latin typeface="Microsoft YaHei" panose="020B0503020204020204" pitchFamily="34" charset="-122"/>
                <a:ea typeface="Microsoft YaHei" panose="020B0503020204020204" pitchFamily="34" charset="-122"/>
              </a:rPr>
              <a:t>关系从中心语成分指向依存成分</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800100" lvl="1" indent="-342900">
              <a:lnSpc>
                <a:spcPct val="150000"/>
              </a:lnSpc>
              <a:spcBef>
                <a:spcPts val="1200"/>
              </a:spcBef>
              <a:buFont typeface="Arial" panose="020B0604020202020204" pitchFamily="34" charset="0"/>
              <a:buChar char="•"/>
            </a:pPr>
            <a:r>
              <a:rPr lang="zh-CN" altLang="en-US" b="1" dirty="0">
                <a:solidFill>
                  <a:srgbClr val="0432FF"/>
                </a:solidFill>
                <a:latin typeface="Microsoft YaHei" panose="020B0503020204020204" pitchFamily="34" charset="-122"/>
                <a:ea typeface="Microsoft YaHei" panose="020B0503020204020204" pitchFamily="34" charset="-122"/>
              </a:rPr>
              <a:t>中心成分</a:t>
            </a:r>
            <a:r>
              <a:rPr lang="zh-CN" altLang="en-US" dirty="0">
                <a:latin typeface="Microsoft YaHei" panose="020B0503020204020204" pitchFamily="34" charset="-122"/>
                <a:ea typeface="Microsoft YaHei" panose="020B0503020204020204" pitchFamily="34" charset="-122"/>
              </a:rPr>
              <a:t>称为中心词或支配者（</a:t>
            </a:r>
            <a:r>
              <a:rPr lang="en-US" dirty="0" err="1">
                <a:latin typeface="Microsoft YaHei" panose="020B0503020204020204" pitchFamily="34" charset="-122"/>
                <a:ea typeface="Microsoft YaHei" panose="020B0503020204020204" pitchFamily="34" charset="-122"/>
              </a:rPr>
              <a:t>Governor，Regent，Head</a:t>
            </a:r>
            <a:r>
              <a:rPr lang="en-US" dirty="0">
                <a:latin typeface="Microsoft YaHei" panose="020B0503020204020204" pitchFamily="34" charset="-122"/>
                <a:ea typeface="Microsoft YaHei" panose="020B0503020204020204" pitchFamily="34" charset="-122"/>
              </a:rPr>
              <a:t>）</a:t>
            </a:r>
          </a:p>
          <a:p>
            <a:pPr marL="800100" lvl="1" indent="-342900">
              <a:lnSpc>
                <a:spcPct val="150000"/>
              </a:lnSpc>
              <a:spcBef>
                <a:spcPts val="1200"/>
              </a:spcBef>
              <a:buFont typeface="Arial" panose="020B0604020202020204" pitchFamily="34" charset="0"/>
              <a:buChar char="•"/>
            </a:pPr>
            <a:r>
              <a:rPr lang="zh-CN" altLang="en-US" b="1" dirty="0">
                <a:solidFill>
                  <a:srgbClr val="0432FF"/>
                </a:solidFill>
                <a:latin typeface="Microsoft YaHei" panose="020B0503020204020204" pitchFamily="34" charset="-122"/>
                <a:ea typeface="Microsoft YaHei" panose="020B0503020204020204" pitchFamily="34" charset="-122"/>
              </a:rPr>
              <a:t>依存成分</a:t>
            </a:r>
            <a:r>
              <a:rPr lang="zh-CN" altLang="en-US" dirty="0">
                <a:latin typeface="Microsoft YaHei" panose="020B0503020204020204" pitchFamily="34" charset="-122"/>
                <a:ea typeface="Microsoft YaHei" panose="020B0503020204020204" pitchFamily="34" charset="-122"/>
              </a:rPr>
              <a:t>也称为修饰词或从属者（</a:t>
            </a:r>
            <a:r>
              <a:rPr lang="en-US" dirty="0" err="1">
                <a:latin typeface="Microsoft YaHei" panose="020B0503020204020204" pitchFamily="34" charset="-122"/>
                <a:ea typeface="Microsoft YaHei" panose="020B0503020204020204" pitchFamily="34" charset="-122"/>
              </a:rPr>
              <a:t>Modifier，Subordinate，Dependency</a:t>
            </a:r>
            <a:r>
              <a:rPr lang="en-US" dirty="0">
                <a:latin typeface="Microsoft YaHei" panose="020B0503020204020204" pitchFamily="34" charset="-122"/>
                <a:ea typeface="Microsoft YaHei" panose="020B0503020204020204" pitchFamily="34" charset="-122"/>
              </a:rPr>
              <a:t>）</a:t>
            </a:r>
            <a:endParaRPr lang="en-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710812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1804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依存语法理论概述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58</a:t>
            </a:fld>
            <a:endParaRPr lang="zh-CN" altLang="en-US"/>
          </a:p>
        </p:txBody>
      </p:sp>
      <p:pic>
        <p:nvPicPr>
          <p:cNvPr id="5" name="Picture 4">
            <a:extLst>
              <a:ext uri="{FF2B5EF4-FFF2-40B4-BE49-F238E27FC236}">
                <a16:creationId xmlns:a16="http://schemas.microsoft.com/office/drawing/2014/main" id="{409CDB33-2497-1D0B-0364-E210137BD09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04627" y="1110876"/>
            <a:ext cx="7772400" cy="2017264"/>
          </a:xfrm>
          <a:prstGeom prst="rect">
            <a:avLst/>
          </a:prstGeom>
          <a:effectLst>
            <a:outerShdw blurRad="63500" sx="102000" sy="102000" algn="ctr" rotWithShape="0">
              <a:prstClr val="black">
                <a:alpha val="40000"/>
              </a:prstClr>
            </a:outerShdw>
          </a:effectLst>
        </p:spPr>
      </p:pic>
      <p:sp>
        <p:nvSpPr>
          <p:cNvPr id="7" name="TextBox 6">
            <a:extLst>
              <a:ext uri="{FF2B5EF4-FFF2-40B4-BE49-F238E27FC236}">
                <a16:creationId xmlns:a16="http://schemas.microsoft.com/office/drawing/2014/main" id="{D9E981C2-0A74-E2A0-E34D-5FC2ED399C59}"/>
              </a:ext>
            </a:extLst>
          </p:cNvPr>
          <p:cNvSpPr txBox="1"/>
          <p:nvPr/>
        </p:nvSpPr>
        <p:spPr>
          <a:xfrm>
            <a:off x="1325969" y="3427035"/>
            <a:ext cx="9962141" cy="961225"/>
          </a:xfrm>
          <a:prstGeom prst="rect">
            <a:avLst/>
          </a:prstGeom>
          <a:noFill/>
        </p:spPr>
        <p:txBody>
          <a:bodyPr wrap="square">
            <a:spAutoFit/>
          </a:bodyPr>
          <a:lstStyle/>
          <a:p>
            <a:pPr>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两个单词之间是否存在</a:t>
            </a:r>
            <a:r>
              <a:rPr lang="zh-CN" altLang="en-US" sz="2000" dirty="0">
                <a:solidFill>
                  <a:srgbClr val="0432FF"/>
                </a:solidFill>
                <a:latin typeface="Microsoft YaHei" panose="020B0503020204020204" pitchFamily="34" charset="-122"/>
                <a:ea typeface="Microsoft YaHei" panose="020B0503020204020204" pitchFamily="34" charset="-122"/>
              </a:rPr>
              <a:t>依存关系</a:t>
            </a:r>
            <a:r>
              <a:rPr lang="zh-CN" altLang="en-US" sz="2000" dirty="0">
                <a:latin typeface="Microsoft YaHei" panose="020B0503020204020204" pitchFamily="34" charset="-122"/>
                <a:ea typeface="Microsoft YaHei" panose="020B0503020204020204" pitchFamily="34" charset="-122"/>
              </a:rPr>
              <a:t>？单词之间谁处于</a:t>
            </a:r>
            <a:r>
              <a:rPr lang="zh-CN" altLang="en-US" sz="2000" dirty="0">
                <a:solidFill>
                  <a:srgbClr val="0432FF"/>
                </a:solidFill>
                <a:latin typeface="Microsoft YaHei" panose="020B0503020204020204" pitchFamily="34" charset="-122"/>
                <a:ea typeface="Microsoft YaHei" panose="020B0503020204020204" pitchFamily="34" charset="-122"/>
              </a:rPr>
              <a:t>支配地位</a:t>
            </a:r>
            <a:r>
              <a:rPr lang="zh-CN" altLang="en-US" sz="2000" dirty="0">
                <a:latin typeface="Microsoft YaHei" panose="020B0503020204020204" pitchFamily="34" charset="-122"/>
                <a:ea typeface="Microsoft YaHei" panose="020B0503020204020204" pitchFamily="34" charset="-122"/>
              </a:rPr>
              <a:t>？谁处于</a:t>
            </a:r>
            <a:r>
              <a:rPr lang="zh-CN" altLang="en-US" sz="2000" dirty="0">
                <a:solidFill>
                  <a:srgbClr val="0432FF"/>
                </a:solidFill>
                <a:latin typeface="Microsoft YaHei" panose="020B0503020204020204" pitchFamily="34" charset="-122"/>
                <a:ea typeface="Microsoft YaHei" panose="020B0503020204020204" pitchFamily="34" charset="-122"/>
              </a:rPr>
              <a:t>从属地位</a:t>
            </a:r>
            <a:r>
              <a:rPr lang="zh-CN" altLang="en-US" sz="2000" dirty="0">
                <a:latin typeface="Microsoft YaHei" panose="020B0503020204020204" pitchFamily="34" charset="-122"/>
                <a:ea typeface="Microsoft YaHei" panose="020B0503020204020204" pitchFamily="34" charset="-122"/>
              </a:rPr>
              <a:t>？建立这些词与词之间关系的依据是什么？</a:t>
            </a:r>
            <a:endParaRPr lang="en-CN" sz="2000" dirty="0">
              <a:latin typeface="Microsoft YaHei" panose="020B0503020204020204" pitchFamily="34" charset="-122"/>
              <a:ea typeface="Microsoft YaHei" panose="020B0503020204020204" pitchFamily="34" charset="-122"/>
            </a:endParaRPr>
          </a:p>
        </p:txBody>
      </p:sp>
      <p:sp>
        <p:nvSpPr>
          <p:cNvPr id="9" name="TextBox 8">
            <a:extLst>
              <a:ext uri="{FF2B5EF4-FFF2-40B4-BE49-F238E27FC236}">
                <a16:creationId xmlns:a16="http://schemas.microsoft.com/office/drawing/2014/main" id="{310D43FD-654A-BE23-C031-E75D4CF5DE56}"/>
              </a:ext>
            </a:extLst>
          </p:cNvPr>
          <p:cNvSpPr txBox="1"/>
          <p:nvPr/>
        </p:nvSpPr>
        <p:spPr>
          <a:xfrm>
            <a:off x="1386524" y="4611738"/>
            <a:ext cx="9292604" cy="1705403"/>
          </a:xfrm>
          <a:prstGeom prst="rect">
            <a:avLst/>
          </a:prstGeom>
          <a:noFill/>
        </p:spPr>
        <p:txBody>
          <a:bodyPr wrap="square">
            <a:spAutoFit/>
          </a:bodyPr>
          <a:lstStyle/>
          <a:p>
            <a:pPr>
              <a:lnSpc>
                <a:spcPct val="150000"/>
              </a:lnSpc>
              <a:spcBef>
                <a:spcPts val="1200"/>
              </a:spcBef>
            </a:pPr>
            <a:r>
              <a:rPr lang="zh-CN" altLang="en-US" dirty="0">
                <a:latin typeface="Microsoft YaHei" panose="020B0503020204020204" pitchFamily="34" charset="-122"/>
                <a:ea typeface="Microsoft YaHei" panose="020B0503020204020204" pitchFamily="34" charset="-122"/>
              </a:rPr>
              <a:t>配价（</a:t>
            </a:r>
            <a:r>
              <a:rPr lang="en-US" dirty="0">
                <a:latin typeface="Microsoft YaHei" panose="020B0503020204020204" pitchFamily="34" charset="-122"/>
                <a:ea typeface="Microsoft YaHei" panose="020B0503020204020204" pitchFamily="34" charset="-122"/>
              </a:rPr>
              <a:t>Valency）</a:t>
            </a:r>
            <a:r>
              <a:rPr lang="zh-CN" altLang="en-US" dirty="0">
                <a:latin typeface="Microsoft YaHei" panose="020B0503020204020204" pitchFamily="34" charset="-122"/>
                <a:ea typeface="Microsoft YaHei" panose="020B0503020204020204" pitchFamily="34" charset="-122"/>
              </a:rPr>
              <a:t>理论是其中最为经典的论著之一，</a:t>
            </a:r>
            <a:r>
              <a:rPr lang="zh-CN" altLang="en-US" b="1" dirty="0">
                <a:latin typeface="Microsoft YaHei" panose="020B0503020204020204" pitchFamily="34" charset="-122"/>
                <a:ea typeface="Microsoft YaHei" panose="020B0503020204020204" pitchFamily="34" charset="-122"/>
              </a:rPr>
              <a:t>价</a:t>
            </a:r>
            <a:r>
              <a:rPr lang="zh-CN" altLang="en-US" dirty="0">
                <a:latin typeface="Microsoft YaHei" panose="020B0503020204020204" pitchFamily="34" charset="-122"/>
                <a:ea typeface="Microsoft YaHei" panose="020B0503020204020204" pitchFamily="34" charset="-122"/>
              </a:rPr>
              <a:t>是词语的一个属性，表示某个词语与其他词语结合的能力。</a:t>
            </a:r>
            <a:r>
              <a:rPr lang="zh-CN" altLang="en-US" b="1" dirty="0">
                <a:solidFill>
                  <a:srgbClr val="0432FF"/>
                </a:solidFill>
                <a:latin typeface="Microsoft YaHei" panose="020B0503020204020204" pitchFamily="34" charset="-122"/>
                <a:ea typeface="Microsoft YaHei" panose="020B0503020204020204" pitchFamily="34" charset="-122"/>
              </a:rPr>
              <a:t>配价模式 </a:t>
            </a:r>
            <a:r>
              <a:rPr lang="en-US" altLang="zh-CN" b="1" dirty="0">
                <a:solidFill>
                  <a:srgbClr val="0432FF"/>
                </a:solidFill>
                <a:latin typeface="Microsoft YaHei" panose="020B0503020204020204" pitchFamily="34" charset="-122"/>
                <a:ea typeface="Microsoft YaHei" panose="020B0503020204020204" pitchFamily="34" charset="-122"/>
              </a:rPr>
              <a:t>(</a:t>
            </a:r>
            <a:r>
              <a:rPr lang="en-US" b="1" dirty="0">
                <a:solidFill>
                  <a:srgbClr val="0432FF"/>
                </a:solidFill>
                <a:latin typeface="Microsoft YaHei" panose="020B0503020204020204" pitchFamily="34" charset="-122"/>
                <a:ea typeface="Microsoft YaHei" panose="020B0503020204020204" pitchFamily="34" charset="-122"/>
              </a:rPr>
              <a:t>Valency</a:t>
            </a:r>
            <a:r>
              <a:rPr lang="zh-CN" altLang="en-US" b="1" dirty="0">
                <a:solidFill>
                  <a:srgbClr val="0432FF"/>
                </a:solidFill>
                <a:latin typeface="Microsoft YaHei" panose="020B0503020204020204" pitchFamily="34" charset="-122"/>
                <a:ea typeface="Microsoft YaHei" panose="020B0503020204020204" pitchFamily="34" charset="-122"/>
              </a:rPr>
              <a:t> </a:t>
            </a:r>
            <a:r>
              <a:rPr lang="en-US" b="1" dirty="0">
                <a:solidFill>
                  <a:srgbClr val="0432FF"/>
                </a:solidFill>
                <a:latin typeface="Microsoft YaHei" panose="020B0503020204020204" pitchFamily="34" charset="-122"/>
                <a:ea typeface="Microsoft YaHei" panose="020B0503020204020204" pitchFamily="34" charset="-122"/>
              </a:rPr>
              <a:t>pattern) </a:t>
            </a:r>
            <a:r>
              <a:rPr lang="zh-CN" altLang="en-US" dirty="0">
                <a:latin typeface="Microsoft YaHei" panose="020B0503020204020204" pitchFamily="34" charset="-122"/>
                <a:ea typeface="Microsoft YaHei" panose="020B0503020204020204" pitchFamily="34" charset="-122"/>
              </a:rPr>
              <a:t>则是描述了某一个具有特定意义的词的出现语境，以及当一个词出现在一个特定的模式下时，还有哪些词语会出现在这个模式下及其语义角色。</a:t>
            </a:r>
            <a:endParaRPr lang="en-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3576549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0478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依存语法理论概述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59</a:t>
            </a:fld>
            <a:endParaRPr lang="zh-CN" altLang="en-US"/>
          </a:p>
        </p:txBody>
      </p:sp>
      <p:sp>
        <p:nvSpPr>
          <p:cNvPr id="7" name="TextBox 6">
            <a:extLst>
              <a:ext uri="{FF2B5EF4-FFF2-40B4-BE49-F238E27FC236}">
                <a16:creationId xmlns:a16="http://schemas.microsoft.com/office/drawing/2014/main" id="{D9E981C2-0A74-E2A0-E34D-5FC2ED399C59}"/>
              </a:ext>
            </a:extLst>
          </p:cNvPr>
          <p:cNvSpPr txBox="1"/>
          <p:nvPr/>
        </p:nvSpPr>
        <p:spPr>
          <a:xfrm>
            <a:off x="987799" y="1103949"/>
            <a:ext cx="10216401" cy="2038443"/>
          </a:xfrm>
          <a:prstGeom prst="rect">
            <a:avLst/>
          </a:prstGeom>
          <a:noFill/>
        </p:spPr>
        <p:txBody>
          <a:bodyPr wrap="square">
            <a:spAutoFit/>
          </a:bodyPr>
          <a:lstStyle/>
          <a:p>
            <a:pPr>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词语间的依存关系还可以根据语法关系定义为不同的类型，</a:t>
            </a:r>
            <a:r>
              <a:rPr lang="en-US" altLang="zh-CN" sz="2000" dirty="0">
                <a:latin typeface="Microsoft YaHei" panose="020B0503020204020204" pitchFamily="34" charset="-122"/>
                <a:ea typeface="Microsoft YaHei" panose="020B0503020204020204" pitchFamily="34" charset="-122"/>
              </a:rPr>
              <a:t>Carroll</a:t>
            </a:r>
            <a:r>
              <a:rPr lang="zh-CN" altLang="en-US" sz="2000" dirty="0">
                <a:latin typeface="Microsoft YaHei" panose="020B0503020204020204" pitchFamily="34" charset="-122"/>
                <a:ea typeface="Microsoft YaHei" panose="020B0503020204020204" pitchFamily="34" charset="-122"/>
              </a:rPr>
              <a:t>等人将依存关系细分为了</a:t>
            </a:r>
            <a:r>
              <a:rPr lang="en-US" altLang="zh-CN" sz="2000" b="1" dirty="0">
                <a:solidFill>
                  <a:srgbClr val="C00000"/>
                </a:solidFill>
                <a:latin typeface="Microsoft YaHei" panose="020B0503020204020204" pitchFamily="34" charset="-122"/>
                <a:ea typeface="Microsoft YaHei" panose="020B0503020204020204" pitchFamily="34" charset="-122"/>
              </a:rPr>
              <a:t>20</a:t>
            </a:r>
            <a:r>
              <a:rPr lang="zh-CN" altLang="en-US" sz="2000" b="1" dirty="0">
                <a:solidFill>
                  <a:srgbClr val="C00000"/>
                </a:solidFill>
                <a:latin typeface="Microsoft YaHei" panose="020B0503020204020204" pitchFamily="34" charset="-122"/>
                <a:ea typeface="Microsoft YaHei" panose="020B0503020204020204" pitchFamily="34" charset="-122"/>
              </a:rPr>
              <a:t>种</a:t>
            </a:r>
            <a:r>
              <a:rPr lang="zh-CN" altLang="en-US" sz="2000" dirty="0">
                <a:latin typeface="Microsoft YaHei" panose="020B0503020204020204" pitchFamily="34" charset="-122"/>
                <a:ea typeface="Microsoft YaHei" panose="020B0503020204020204" pitchFamily="34" charset="-122"/>
              </a:rPr>
              <a:t>，</a:t>
            </a:r>
            <a:r>
              <a:rPr lang="zh-CN" altLang="en-US" sz="2000" b="1" dirty="0">
                <a:latin typeface="Microsoft YaHei" panose="020B0503020204020204" pitchFamily="34" charset="-122"/>
                <a:ea typeface="Microsoft YaHei" panose="020B0503020204020204" pitchFamily="34" charset="-122"/>
              </a:rPr>
              <a:t>并给出了关系之间的层级结构</a:t>
            </a:r>
            <a:r>
              <a:rPr lang="zh-CN" altLang="en-US" sz="2000" dirty="0">
                <a:latin typeface="Microsoft YaHei" panose="020B0503020204020204" pitchFamily="34" charset="-122"/>
                <a:ea typeface="Microsoft YaHei" panose="020B0503020204020204" pitchFamily="34" charset="-122"/>
              </a:rPr>
              <a:t>。</a:t>
            </a:r>
            <a:endParaRPr lang="en-US" altLang="zh-CN" sz="2000" dirty="0">
              <a:latin typeface="Microsoft YaHei" panose="020B0503020204020204" pitchFamily="34" charset="-122"/>
              <a:ea typeface="Microsoft YaHei" panose="020B0503020204020204" pitchFamily="34" charset="-122"/>
            </a:endParaRPr>
          </a:p>
          <a:p>
            <a:pPr marL="342900" indent="-342900">
              <a:lnSpc>
                <a:spcPct val="150000"/>
              </a:lnSpc>
              <a:spcBef>
                <a:spcPts val="1200"/>
              </a:spcBef>
              <a:buFont typeface="Arial" panose="020B0604020202020204" pitchFamily="34" charset="0"/>
              <a:buChar char="•"/>
            </a:pPr>
            <a:r>
              <a:rPr lang="en-US" altLang="zh-CN" sz="2000" dirty="0" err="1">
                <a:latin typeface="Microsoft YaHei" panose="020B0503020204020204" pitchFamily="34" charset="-122"/>
                <a:ea typeface="Microsoft YaHei" panose="020B0503020204020204" pitchFamily="34" charset="-122"/>
              </a:rPr>
              <a:t>Marneffe</a:t>
            </a:r>
            <a:r>
              <a:rPr lang="zh-CN" altLang="en-US" sz="2000" dirty="0">
                <a:latin typeface="Microsoft YaHei" panose="020B0503020204020204" pitchFamily="34" charset="-122"/>
                <a:ea typeface="Microsoft YaHei" panose="020B0503020204020204" pitchFamily="34" charset="-122"/>
              </a:rPr>
              <a:t>等人在上述工作的基础上对依存关系进行了进一步的细化，定义了</a:t>
            </a:r>
            <a:r>
              <a:rPr lang="en-US" altLang="zh-CN" sz="2000" b="1" dirty="0">
                <a:solidFill>
                  <a:srgbClr val="C00000"/>
                </a:solidFill>
                <a:latin typeface="Microsoft YaHei" panose="020B0503020204020204" pitchFamily="34" charset="-122"/>
                <a:ea typeface="Microsoft YaHei" panose="020B0503020204020204" pitchFamily="34" charset="-122"/>
              </a:rPr>
              <a:t>48</a:t>
            </a:r>
            <a:r>
              <a:rPr lang="zh-CN" altLang="en-US" sz="2000" b="1" dirty="0">
                <a:solidFill>
                  <a:srgbClr val="C00000"/>
                </a:solidFill>
                <a:latin typeface="Microsoft YaHei" panose="020B0503020204020204" pitchFamily="34" charset="-122"/>
                <a:ea typeface="Microsoft YaHei" panose="020B0503020204020204" pitchFamily="34" charset="-122"/>
              </a:rPr>
              <a:t>种</a:t>
            </a:r>
            <a:r>
              <a:rPr lang="zh-CN" altLang="en-US" sz="2000" dirty="0">
                <a:latin typeface="Microsoft YaHei" panose="020B0503020204020204" pitchFamily="34" charset="-122"/>
                <a:ea typeface="Microsoft YaHei" panose="020B0503020204020204" pitchFamily="34" charset="-122"/>
              </a:rPr>
              <a:t>依存关系，主要分为论元依存关系和修饰语依存关系两大类。</a:t>
            </a:r>
            <a:endParaRPr lang="en-CN" sz="2000" dirty="0">
              <a:latin typeface="Microsoft YaHei" panose="020B0503020204020204" pitchFamily="34" charset="-122"/>
              <a:ea typeface="Microsoft YaHei" panose="020B0503020204020204" pitchFamily="34" charset="-122"/>
            </a:endParaRPr>
          </a:p>
        </p:txBody>
      </p:sp>
      <p:pic>
        <p:nvPicPr>
          <p:cNvPr id="4" name="Picture 3">
            <a:extLst>
              <a:ext uri="{FF2B5EF4-FFF2-40B4-BE49-F238E27FC236}">
                <a16:creationId xmlns:a16="http://schemas.microsoft.com/office/drawing/2014/main" id="{8AE82A7A-6D34-2736-DA98-12CA2AC979C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03550" y="3429000"/>
            <a:ext cx="6184900" cy="27305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9254768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1804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3.1.2</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264687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依存语法理论概述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60</a:t>
            </a:fld>
            <a:endParaRPr lang="zh-CN" altLang="en-US"/>
          </a:p>
        </p:txBody>
      </p:sp>
      <p:sp>
        <p:nvSpPr>
          <p:cNvPr id="7" name="TextBox 6">
            <a:extLst>
              <a:ext uri="{FF2B5EF4-FFF2-40B4-BE49-F238E27FC236}">
                <a16:creationId xmlns:a16="http://schemas.microsoft.com/office/drawing/2014/main" id="{D9E981C2-0A74-E2A0-E34D-5FC2ED399C59}"/>
              </a:ext>
            </a:extLst>
          </p:cNvPr>
          <p:cNvSpPr txBox="1"/>
          <p:nvPr/>
        </p:nvSpPr>
        <p:spPr>
          <a:xfrm>
            <a:off x="996952" y="996919"/>
            <a:ext cx="9618040" cy="826573"/>
          </a:xfrm>
          <a:prstGeom prst="rect">
            <a:avLst/>
          </a:prstGeom>
          <a:noFill/>
        </p:spPr>
        <p:txBody>
          <a:bodyPr wrap="square">
            <a:spAutoFit/>
          </a:bodyPr>
          <a:lstStyle/>
          <a:p>
            <a:pPr>
              <a:lnSpc>
                <a:spcPct val="125000"/>
              </a:lnSpc>
              <a:spcBef>
                <a:spcPts val="1200"/>
              </a:spcBef>
            </a:pPr>
            <a:r>
              <a:rPr lang="zh-CN" altLang="en-US" sz="2000" dirty="0">
                <a:latin typeface="Microsoft YaHei" panose="020B0503020204020204" pitchFamily="34" charset="-122"/>
                <a:ea typeface="Microsoft YaHei" panose="020B0503020204020204" pitchFamily="34" charset="-122"/>
              </a:rPr>
              <a:t>依存语法中根据依存成分与中心语或姐妹成分在语序上的关系，可以分为</a:t>
            </a:r>
            <a:r>
              <a:rPr lang="zh-CN" altLang="en-US" sz="2000" b="1" dirty="0">
                <a:solidFill>
                  <a:srgbClr val="0432FF"/>
                </a:solidFill>
                <a:latin typeface="Microsoft YaHei" panose="020B0503020204020204" pitchFamily="34" charset="-122"/>
                <a:ea typeface="Microsoft YaHei" panose="020B0503020204020204" pitchFamily="34" charset="-122"/>
              </a:rPr>
              <a:t>符合投射性原则</a:t>
            </a:r>
            <a:r>
              <a:rPr lang="zh-CN" altLang="en-US" sz="2000" dirty="0">
                <a:latin typeface="Microsoft YaHei" panose="020B0503020204020204" pitchFamily="34" charset="-122"/>
                <a:ea typeface="Microsoft YaHei" panose="020B0503020204020204" pitchFamily="34" charset="-122"/>
              </a:rPr>
              <a:t>和</a:t>
            </a:r>
            <a:r>
              <a:rPr lang="zh-CN" altLang="en-US" sz="2000" b="1" dirty="0">
                <a:solidFill>
                  <a:srgbClr val="0432FF"/>
                </a:solidFill>
                <a:latin typeface="Microsoft YaHei" panose="020B0503020204020204" pitchFamily="34" charset="-122"/>
                <a:ea typeface="Microsoft YaHei" panose="020B0503020204020204" pitchFamily="34" charset="-122"/>
              </a:rPr>
              <a:t>违反投射性原则</a:t>
            </a:r>
            <a:r>
              <a:rPr lang="zh-CN" altLang="en-US" sz="2000" dirty="0">
                <a:latin typeface="Microsoft YaHei" panose="020B0503020204020204" pitchFamily="34" charset="-122"/>
                <a:ea typeface="Microsoft YaHei" panose="020B0503020204020204" pitchFamily="34" charset="-122"/>
              </a:rPr>
              <a:t>两类。</a:t>
            </a:r>
            <a:endParaRPr lang="en-CN" sz="20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36B58B57-75D8-739C-AB14-6AA21FAEC2F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15316" y="1981969"/>
            <a:ext cx="6161368" cy="455694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65269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7" name="文本框 6"/>
          <p:cNvSpPr txBox="1"/>
          <p:nvPr/>
        </p:nvSpPr>
        <p:spPr>
          <a:xfrm>
            <a:off x="1104900" y="1352615"/>
            <a:ext cx="9980682" cy="2549096"/>
          </a:xfrm>
          <a:prstGeom prst="rect">
            <a:avLst/>
          </a:prstGeom>
          <a:noFill/>
        </p:spPr>
        <p:txBody>
          <a:bodyPr wrap="square" rtlCol="0">
            <a:spAutoFit/>
          </a:bodyPr>
          <a:lstStyle/>
          <a:p>
            <a:pPr>
              <a:lnSpc>
                <a:spcPct val="150000"/>
              </a:lnSpc>
            </a:pPr>
            <a:r>
              <a:rPr lang="zh-CN" altLang="zh-CN" sz="2400" dirty="0">
                <a:solidFill>
                  <a:srgbClr val="0432FF"/>
                </a:solidFill>
                <a:latin typeface="宋体" panose="02010600030101010101" pitchFamily="2" charset="-122"/>
                <a:ea typeface="宋体" panose="02010600030101010101" pitchFamily="2" charset="-122"/>
              </a:rPr>
              <a:t>（</a:t>
            </a:r>
            <a:r>
              <a:rPr lang="en-US" altLang="zh-CN" sz="2400" dirty="0">
                <a:solidFill>
                  <a:srgbClr val="0432FF"/>
                </a:solidFill>
                <a:latin typeface="宋体" panose="02010600030101010101" pitchFamily="2" charset="-122"/>
                <a:ea typeface="宋体" panose="02010600030101010101" pitchFamily="2" charset="-122"/>
              </a:rPr>
              <a:t>2</a:t>
            </a:r>
            <a:r>
              <a:rPr lang="zh-CN" altLang="zh-CN" sz="2400" dirty="0">
                <a:solidFill>
                  <a:srgbClr val="0432FF"/>
                </a:solidFill>
                <a:latin typeface="宋体" panose="02010600030101010101" pitchFamily="2" charset="-122"/>
                <a:ea typeface="宋体" panose="02010600030101010101" pitchFamily="2" charset="-122"/>
              </a:rPr>
              <a:t>）</a:t>
            </a:r>
            <a:r>
              <a:rPr lang="zh-CN" altLang="en-US" sz="2400" dirty="0">
                <a:solidFill>
                  <a:srgbClr val="0432FF"/>
                </a:solidFill>
                <a:latin typeface="宋体" panose="02010600030101010101" pitchFamily="2" charset="-122"/>
                <a:ea typeface="宋体" panose="02010600030101010101" pitchFamily="2" charset="-122"/>
              </a:rPr>
              <a:t>句法分析</a:t>
            </a:r>
            <a:endParaRPr lang="en-US" altLang="zh-CN" sz="2400" dirty="0">
              <a:solidFill>
                <a:srgbClr val="0432FF"/>
              </a:solidFill>
              <a:latin typeface="宋体" panose="02010600030101010101" pitchFamily="2" charset="-122"/>
              <a:ea typeface="宋体" panose="02010600030101010101" pitchFamily="2" charset="-122"/>
            </a:endParaRPr>
          </a:p>
          <a:p>
            <a:pPr>
              <a:lnSpc>
                <a:spcPct val="150000"/>
              </a:lnSpc>
              <a:spcBef>
                <a:spcPts val="1000"/>
              </a:spcBef>
            </a:pPr>
            <a:r>
              <a:rPr lang="en-US" altLang="ja-JP" sz="2000" dirty="0">
                <a:latin typeface="宋体" panose="02010600030101010101" pitchFamily="2" charset="-122"/>
                <a:ea typeface="宋体" panose="02010600030101010101" pitchFamily="2" charset="-122"/>
              </a:rPr>
              <a:t>    </a:t>
            </a:r>
            <a:r>
              <a:rPr lang="ja-JP" altLang="zh-CN" sz="2000" dirty="0">
                <a:latin typeface="宋体" panose="02010600030101010101" pitchFamily="2" charset="-122"/>
                <a:ea typeface="宋体" panose="02010600030101010101" pitchFamily="2" charset="-122"/>
              </a:rPr>
              <a:t>句法分析</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syntactic parsing</a:t>
            </a:r>
            <a:r>
              <a:rPr lang="zh-CN"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是自然语言处理中的关键技术之一</a:t>
            </a:r>
            <a:r>
              <a:rPr lang="zh-CN"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其基本任务是</a:t>
            </a:r>
            <a:r>
              <a:rPr lang="ja-JP" altLang="zh-CN" sz="2000" dirty="0">
                <a:solidFill>
                  <a:srgbClr val="C00000"/>
                </a:solidFill>
                <a:latin typeface="宋体" panose="02010600030101010101" pitchFamily="2" charset="-122"/>
                <a:ea typeface="宋体" panose="02010600030101010101" pitchFamily="2" charset="-122"/>
              </a:rPr>
              <a:t>确定句子的句法结构</a:t>
            </a:r>
            <a:r>
              <a:rPr lang="zh-CN" altLang="zh-CN" sz="2000" dirty="0">
                <a:solidFill>
                  <a:srgbClr val="C00000"/>
                </a:solidFill>
                <a:latin typeface="宋体" panose="02010600030101010101" pitchFamily="2" charset="-122"/>
                <a:ea typeface="宋体" panose="02010600030101010101" pitchFamily="2" charset="-122"/>
              </a:rPr>
              <a:t>（</a:t>
            </a:r>
            <a:r>
              <a:rPr lang="en-US" altLang="zh-CN" sz="2000" dirty="0">
                <a:solidFill>
                  <a:srgbClr val="C00000"/>
                </a:solidFill>
                <a:latin typeface="宋体" panose="02010600030101010101" pitchFamily="2" charset="-122"/>
                <a:ea typeface="宋体" panose="02010600030101010101" pitchFamily="2" charset="-122"/>
              </a:rPr>
              <a:t>syntactic structure</a:t>
            </a:r>
            <a:r>
              <a:rPr lang="zh-CN" altLang="zh-CN" sz="2000" dirty="0">
                <a:solidFill>
                  <a:srgbClr val="C00000"/>
                </a:solidFill>
                <a:latin typeface="宋体" panose="02010600030101010101" pitchFamily="2" charset="-122"/>
                <a:ea typeface="宋体" panose="02010600030101010101" pitchFamily="2" charset="-122"/>
              </a:rPr>
              <a:t>）</a:t>
            </a:r>
            <a:r>
              <a:rPr lang="ja-JP" altLang="zh-CN" sz="2000" dirty="0">
                <a:solidFill>
                  <a:srgbClr val="C00000"/>
                </a:solidFill>
                <a:latin typeface="宋体" panose="02010600030101010101" pitchFamily="2" charset="-122"/>
                <a:ea typeface="宋体" panose="02010600030101010101" pitchFamily="2" charset="-122"/>
              </a:rPr>
              <a:t>或句子中词汇之间的依存关系</a:t>
            </a:r>
            <a:r>
              <a:rPr lang="zh-CN" altLang="zh-CN" sz="2000" dirty="0">
                <a:latin typeface="宋体" panose="02010600030101010101" pitchFamily="2" charset="-122"/>
                <a:ea typeface="宋体" panose="02010600030101010101" pitchFamily="2" charset="-122"/>
              </a:rPr>
              <a:t>。因此，</a:t>
            </a:r>
            <a:r>
              <a:rPr lang="ja-JP" altLang="zh-CN" sz="2000" dirty="0">
                <a:latin typeface="宋体" panose="02010600030101010101" pitchFamily="2" charset="-122"/>
                <a:ea typeface="宋体" panose="02010600030101010101" pitchFamily="2" charset="-122"/>
              </a:rPr>
              <a:t>句法分析通常被分为句法结构分析</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syntactic structure parsing</a:t>
            </a:r>
            <a:r>
              <a:rPr lang="zh-CN"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和依存关系分析</a:t>
            </a:r>
            <a:r>
              <a:rPr lang="zh-CN" altLang="zh-CN"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dependency parsing</a:t>
            </a:r>
            <a:r>
              <a:rPr lang="zh-CN"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两种。</a:t>
            </a:r>
            <a:endParaRPr lang="zh-CN" altLang="zh-CN" sz="2000" dirty="0">
              <a:latin typeface="宋体" panose="02010600030101010101" pitchFamily="2" charset="-122"/>
              <a:ea typeface="宋体" panose="02010600030101010101" pitchFamily="2" charset="-122"/>
            </a:endParaRPr>
          </a:p>
        </p:txBody>
      </p:sp>
      <p:pic>
        <p:nvPicPr>
          <p:cNvPr id="8" name="图片 7"/>
          <p:cNvPicPr/>
          <p:nvPr/>
        </p:nvPicPr>
        <p:blipFill rotWithShape="1">
          <a:blip r:embed="rId3">
            <a:extLst>
              <a:ext uri="{28A0092B-C50C-407E-A947-70E740481C1C}">
                <a14:useLocalDpi xmlns:a14="http://schemas.microsoft.com/office/drawing/2010/main" val="0"/>
              </a:ext>
            </a:extLst>
          </a:blip>
          <a:srcRect l="3190" t="6496" r="3597" b="6041"/>
          <a:stretch/>
        </p:blipFill>
        <p:spPr bwMode="auto">
          <a:xfrm>
            <a:off x="3994669" y="3901711"/>
            <a:ext cx="4201143" cy="2068595"/>
          </a:xfrm>
          <a:prstGeom prst="rect">
            <a:avLst/>
          </a:prstGeom>
          <a:ln>
            <a:noFill/>
          </a:ln>
          <a:effectLst>
            <a:outerShdw blurRad="63500" sx="102000" sy="102000" algn="ctr" rotWithShape="0">
              <a:prstClr val="black">
                <a:alpha val="40000"/>
              </a:prstClr>
            </a:outerShdw>
          </a:effectLst>
          <a:extLst>
            <a:ext uri="{53640926-AAD7-44D8-BBD7-CCE9431645EC}">
              <a14:shadowObscured xmlns:a14="http://schemas.microsoft.com/office/drawing/2010/main"/>
            </a:ext>
          </a:extLst>
        </p:spPr>
      </p:pic>
    </p:spTree>
    <p:extLst>
      <p:ext uri="{BB962C8B-B14F-4D97-AF65-F5344CB8AC3E}">
        <p14:creationId xmlns:p14="http://schemas.microsoft.com/office/powerpoint/2010/main" val="36101508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3" name="矩形 2"/>
          <p:cNvSpPr/>
          <p:nvPr/>
        </p:nvSpPr>
        <p:spPr>
          <a:xfrm>
            <a:off x="1387964" y="5972145"/>
            <a:ext cx="9414553" cy="400110"/>
          </a:xfrm>
          <a:prstGeom prst="rect">
            <a:avLst/>
          </a:prstGeom>
        </p:spPr>
        <p:txBody>
          <a:bodyPr wrap="square">
            <a:spAutoFit/>
          </a:bodyPr>
          <a:lstStyle/>
          <a:p>
            <a:r>
              <a:rPr lang="zh-CN" altLang="zh-CN" sz="2000"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句法结构分析方法可以分为</a:t>
            </a:r>
            <a:r>
              <a:rPr lang="zh-CN"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基于规则的分析方法</a:t>
            </a:r>
            <a:r>
              <a:rPr lang="zh-CN" altLang="zh-CN" sz="2000"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zh-CN" altLang="zh-CN" sz="2000" b="1" kern="0" dirty="0">
                <a:solidFill>
                  <a:srgbClr val="C00000"/>
                </a:solidFill>
                <a:latin typeface="Times New Roman" panose="02020603050405020304" pitchFamily="18" charset="0"/>
                <a:ea typeface="宋体" panose="02010600030101010101" pitchFamily="2" charset="-122"/>
                <a:cs typeface="Times New Roman" panose="02020603050405020304" pitchFamily="18" charset="0"/>
              </a:rPr>
              <a:t>基于统计的分析方法</a:t>
            </a:r>
            <a:r>
              <a:rPr lang="zh-CN" altLang="zh-CN" sz="2000"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两大类。</a:t>
            </a:r>
            <a:endParaRPr lang="zh-CN" altLang="en-US" sz="2000" dirty="0"/>
          </a:p>
        </p:txBody>
      </p:sp>
      <p:sp>
        <p:nvSpPr>
          <p:cNvPr id="6" name="文本框 5"/>
          <p:cNvSpPr txBox="1"/>
          <p:nvPr/>
        </p:nvSpPr>
        <p:spPr>
          <a:xfrm>
            <a:off x="1104899" y="1500176"/>
            <a:ext cx="9980682" cy="1866858"/>
          </a:xfrm>
          <a:prstGeom prst="rect">
            <a:avLst/>
          </a:prstGeom>
          <a:noFill/>
        </p:spPr>
        <p:txBody>
          <a:bodyPr wrap="square" rtlCol="0">
            <a:spAutoFit/>
          </a:bodyPr>
          <a:lstStyle/>
          <a:p>
            <a:pPr marL="342900" indent="-342900">
              <a:lnSpc>
                <a:spcPct val="150000"/>
              </a:lnSpc>
              <a:buFont typeface="Arial" panose="020B0604020202020204" pitchFamily="34" charset="0"/>
              <a:buChar char="•"/>
            </a:pPr>
            <a:r>
              <a:rPr lang="zh-CN" altLang="en-US" sz="2000" dirty="0">
                <a:solidFill>
                  <a:srgbClr val="7030A0"/>
                </a:solidFill>
                <a:latin typeface="宋体" panose="02010600030101010101" pitchFamily="2" charset="-122"/>
                <a:ea typeface="宋体" panose="02010600030101010101" pitchFamily="2" charset="-122"/>
              </a:rPr>
              <a:t>句法结构分析</a:t>
            </a:r>
            <a:endParaRPr lang="en-US" altLang="zh-CN" sz="2000" dirty="0">
              <a:solidFill>
                <a:srgbClr val="7030A0"/>
              </a:solidFill>
              <a:latin typeface="宋体" panose="02010600030101010101" pitchFamily="2" charset="-122"/>
              <a:ea typeface="宋体" panose="02010600030101010101" pitchFamily="2" charset="-122"/>
            </a:endParaRPr>
          </a:p>
          <a:p>
            <a:pPr>
              <a:lnSpc>
                <a:spcPct val="150000"/>
              </a:lnSpc>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句法结构分析对输入的句子进行结构分析，识别句子中各成分的语法结构，并分析各成分之间的关系。句法结构可以用一个树状的数据结构来表示，通常被称为句法分析树（</a:t>
            </a:r>
            <a:r>
              <a:rPr lang="en-US" altLang="zh-CN" sz="2000" dirty="0">
                <a:latin typeface="宋体" panose="02010600030101010101" pitchFamily="2" charset="-122"/>
                <a:ea typeface="宋体" panose="02010600030101010101" pitchFamily="2" charset="-122"/>
              </a:rPr>
              <a:t>syntactic parsing tree)</a:t>
            </a:r>
            <a:r>
              <a:rPr lang="zh-CN" altLang="zh-CN" sz="2000" dirty="0">
                <a:latin typeface="宋体" panose="02010600030101010101" pitchFamily="2" charset="-122"/>
                <a:ea typeface="宋体" panose="02010600030101010101" pitchFamily="2" charset="-122"/>
              </a:rPr>
              <a:t>。</a:t>
            </a:r>
          </a:p>
        </p:txBody>
      </p:sp>
      <p:pic>
        <p:nvPicPr>
          <p:cNvPr id="9" name="图片 8"/>
          <p:cNvPicPr/>
          <p:nvPr/>
        </p:nvPicPr>
        <p:blipFill>
          <a:blip r:embed="rId3">
            <a:extLst>
              <a:ext uri="{28A0092B-C50C-407E-A947-70E740481C1C}">
                <a14:useLocalDpi xmlns:a14="http://schemas.microsoft.com/office/drawing/2010/main" val="0"/>
              </a:ext>
            </a:extLst>
          </a:blip>
          <a:stretch>
            <a:fillRect/>
          </a:stretch>
        </p:blipFill>
        <p:spPr>
          <a:xfrm>
            <a:off x="3682791" y="3468935"/>
            <a:ext cx="4824897" cy="231652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2552176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7" name="文本框 6"/>
          <p:cNvSpPr txBox="1"/>
          <p:nvPr/>
        </p:nvSpPr>
        <p:spPr>
          <a:xfrm>
            <a:off x="1069147" y="1607906"/>
            <a:ext cx="9980682" cy="1938992"/>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solidFill>
                  <a:srgbClr val="7030A0"/>
                </a:solidFill>
                <a:latin typeface="宋体" panose="02010600030101010101" pitchFamily="2" charset="-122"/>
                <a:ea typeface="宋体" panose="02010600030101010101" pitchFamily="2" charset="-122"/>
              </a:rPr>
              <a:t>依存句法分析</a:t>
            </a:r>
            <a:endParaRPr lang="en-US" altLang="zh-CN" sz="2000" dirty="0">
              <a:solidFill>
                <a:srgbClr val="7030A0"/>
              </a:solidFill>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依存语法（</a:t>
            </a:r>
            <a:r>
              <a:rPr lang="en-US" altLang="zh-CN" sz="2000" dirty="0">
                <a:latin typeface="宋体" panose="02010600030101010101" pitchFamily="2" charset="-122"/>
                <a:ea typeface="宋体" panose="02010600030101010101" pitchFamily="2" charset="-122"/>
              </a:rPr>
              <a:t>Dependency Parsing, DP</a:t>
            </a:r>
            <a:r>
              <a:rPr lang="zh-CN" altLang="zh-CN" sz="2000" dirty="0">
                <a:latin typeface="宋体" panose="02010600030101010101" pitchFamily="2" charset="-122"/>
                <a:ea typeface="宋体" panose="02010600030101010101" pitchFamily="2" charset="-122"/>
              </a:rPr>
              <a:t>）通过分析语言单位内成分之间的依存关系来揭示其句法结构。直观来讲，依存句法分析就是识别句子中的“主谓宾定状补”这些语法成分，并分析各成分之间的关系。在依存语法理论中，“依存”就是指词与词之间支配与被支配的关系，这种关系不是对等的，而是有方向的。处于支配地位的成分称为支配者，而处于被支配地位的成分称为从属者。</a:t>
            </a:r>
          </a:p>
        </p:txBody>
      </p:sp>
      <p:sp>
        <p:nvSpPr>
          <p:cNvPr id="3" name="矩形 2"/>
          <p:cNvSpPr/>
          <p:nvPr/>
        </p:nvSpPr>
        <p:spPr>
          <a:xfrm>
            <a:off x="796675" y="5910500"/>
            <a:ext cx="9982200" cy="400110"/>
          </a:xfrm>
          <a:prstGeom prst="rect">
            <a:avLst/>
          </a:prstGeom>
        </p:spPr>
        <p:txBody>
          <a:bodyPr wrap="square">
            <a:spAutoFit/>
          </a:bodyPr>
          <a:lstStyle/>
          <a:p>
            <a:r>
              <a:rPr lang="zh-CN" altLang="en-US" sz="2000" dirty="0"/>
              <a:t>    </a:t>
            </a:r>
            <a:r>
              <a:rPr lang="zh-CN" altLang="en-US" dirty="0"/>
              <a:t>依存句法分析方法包括</a:t>
            </a:r>
            <a:r>
              <a:rPr lang="zh-CN" altLang="zh-CN" dirty="0">
                <a:solidFill>
                  <a:srgbClr val="7030A0"/>
                </a:solidFill>
              </a:rPr>
              <a:t>生成式依存分析方法</a:t>
            </a:r>
            <a:r>
              <a:rPr lang="zh-CN" altLang="zh-CN" dirty="0"/>
              <a:t>、</a:t>
            </a:r>
            <a:r>
              <a:rPr lang="zh-CN" altLang="zh-CN" dirty="0">
                <a:solidFill>
                  <a:srgbClr val="7030A0"/>
                </a:solidFill>
              </a:rPr>
              <a:t>判别式依存分析方法</a:t>
            </a:r>
            <a:r>
              <a:rPr lang="zh-CN" altLang="zh-CN" dirty="0"/>
              <a:t>和</a:t>
            </a:r>
            <a:r>
              <a:rPr lang="zh-CN" altLang="zh-CN" dirty="0">
                <a:solidFill>
                  <a:srgbClr val="7030A0"/>
                </a:solidFill>
              </a:rPr>
              <a:t>确定性依存分析方法</a:t>
            </a:r>
            <a:r>
              <a:rPr lang="zh-CN" altLang="zh-CN" dirty="0"/>
              <a:t>等。</a:t>
            </a:r>
          </a:p>
        </p:txBody>
      </p:sp>
      <p:pic>
        <p:nvPicPr>
          <p:cNvPr id="10" name="图片 9"/>
          <p:cNvPicPr/>
          <p:nvPr/>
        </p:nvPicPr>
        <p:blipFill>
          <a:blip r:embed="rId3"/>
          <a:stretch>
            <a:fillRect/>
          </a:stretch>
        </p:blipFill>
        <p:spPr>
          <a:xfrm>
            <a:off x="2555892" y="3598409"/>
            <a:ext cx="7007191" cy="206124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259470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0478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4</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415772"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语义分析</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64</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928993" y="1162065"/>
            <a:ext cx="10334014" cy="961225"/>
          </a:xfrm>
          <a:prstGeom prst="rect">
            <a:avLst/>
          </a:prstGeom>
          <a:noFill/>
        </p:spPr>
        <p:txBody>
          <a:bodyPr wrap="square">
            <a:spAutoFit/>
          </a:bodyPr>
          <a:lstStyle/>
          <a:p>
            <a:pPr algn="just">
              <a:lnSpc>
                <a:spcPct val="150000"/>
              </a:lnSpc>
            </a:pPr>
            <a:r>
              <a:rPr lang="zh-CN" altLang="en-US" sz="2000" dirty="0">
                <a:latin typeface="Microsoft YaHei" panose="020B0503020204020204" pitchFamily="34" charset="-122"/>
                <a:ea typeface="Microsoft YaHei" panose="020B0503020204020204" pitchFamily="34" charset="-122"/>
              </a:rPr>
              <a:t>掌握一种语言意味着懂得如何产生并理解数量无限的该种语言句子的意义。研究语言意义的科学被称为</a:t>
            </a:r>
            <a:r>
              <a:rPr lang="zh-CN" altLang="en-US" sz="2000" b="1" dirty="0">
                <a:solidFill>
                  <a:srgbClr val="0432FF"/>
                </a:solidFill>
                <a:latin typeface="Microsoft YaHei" panose="020B0503020204020204" pitchFamily="34" charset="-122"/>
                <a:ea typeface="Microsoft YaHei" panose="020B0503020204020204" pitchFamily="34" charset="-122"/>
              </a:rPr>
              <a:t>语义学（</a:t>
            </a:r>
            <a:r>
              <a:rPr lang="en-US" altLang="zh-CN" sz="2000" b="1" dirty="0">
                <a:solidFill>
                  <a:srgbClr val="0432FF"/>
                </a:solidFill>
                <a:latin typeface="Microsoft YaHei" panose="020B0503020204020204" pitchFamily="34" charset="-122"/>
                <a:ea typeface="Microsoft YaHei" panose="020B0503020204020204" pitchFamily="34" charset="-122"/>
              </a:rPr>
              <a:t>Semantics</a:t>
            </a:r>
            <a:r>
              <a:rPr lang="zh-CN" altLang="en-US" sz="2000" b="1" dirty="0">
                <a:solidFill>
                  <a:srgbClr val="0432FF"/>
                </a:solidFill>
                <a:latin typeface="Microsoft YaHei" panose="020B0503020204020204" pitchFamily="34" charset="-122"/>
                <a:ea typeface="Microsoft YaHei" panose="020B0503020204020204" pitchFamily="34" charset="-122"/>
              </a:rPr>
              <a:t>）</a:t>
            </a:r>
            <a:r>
              <a:rPr lang="zh-CN" altLang="en-US" sz="2000" dirty="0">
                <a:latin typeface="Microsoft YaHei" panose="020B0503020204020204" pitchFamily="34" charset="-122"/>
                <a:ea typeface="Microsoft YaHei" panose="020B0503020204020204" pitchFamily="34" charset="-122"/>
              </a:rPr>
              <a:t>。</a:t>
            </a:r>
            <a:endParaRPr lang="en-US" altLang="zh-CN" dirty="0">
              <a:effectLst/>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9F56D6C1-AA01-70BE-AAD2-1B131FE3D4C0}"/>
              </a:ext>
            </a:extLst>
          </p:cNvPr>
          <p:cNvSpPr txBox="1"/>
          <p:nvPr/>
        </p:nvSpPr>
        <p:spPr>
          <a:xfrm>
            <a:off x="928992" y="2551870"/>
            <a:ext cx="10329943" cy="2038443"/>
          </a:xfrm>
          <a:prstGeom prst="rect">
            <a:avLst/>
          </a:prstGeom>
          <a:noFill/>
        </p:spPr>
        <p:txBody>
          <a:bodyPr wrap="square">
            <a:spAutoFit/>
          </a:bodyPr>
          <a:lstStyle/>
          <a:p>
            <a:pPr algn="just">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语义问题也被大多数语言学家认为是语言的核心问题，同时也受到了包括</a:t>
            </a:r>
            <a:r>
              <a:rPr lang="zh-CN" altLang="en-US" sz="2000" dirty="0">
                <a:solidFill>
                  <a:srgbClr val="0432FF"/>
                </a:solidFill>
                <a:latin typeface="Microsoft YaHei" panose="020B0503020204020204" pitchFamily="34" charset="-122"/>
                <a:ea typeface="Microsoft YaHei" panose="020B0503020204020204" pitchFamily="34" charset="-122"/>
              </a:rPr>
              <a:t>哲学、逻辑学、心理学</a:t>
            </a:r>
            <a:r>
              <a:rPr lang="zh-CN" altLang="en-US" sz="2000" dirty="0">
                <a:latin typeface="Microsoft YaHei" panose="020B0503020204020204" pitchFamily="34" charset="-122"/>
                <a:ea typeface="Microsoft YaHei" panose="020B0503020204020204" pitchFamily="34" charset="-122"/>
              </a:rPr>
              <a:t>以及计算机等众多学科的广泛关注。 自然语言处理目标就是要使计算机具有理解和运用自然语言的能力。</a:t>
            </a:r>
            <a:endParaRPr lang="en-US" altLang="zh-CN" sz="2000"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因此，</a:t>
            </a:r>
            <a:r>
              <a:rPr lang="zh-CN" altLang="en-US" sz="2000" dirty="0">
                <a:solidFill>
                  <a:srgbClr val="C00000"/>
                </a:solidFill>
                <a:latin typeface="Microsoft YaHei" panose="020B0503020204020204" pitchFamily="34" charset="-122"/>
                <a:ea typeface="Microsoft YaHei" panose="020B0503020204020204" pitchFamily="34" charset="-122"/>
              </a:rPr>
              <a:t>语义也是自然语言处理的关键问题和难点问题。</a:t>
            </a:r>
            <a:endParaRPr lang="en-CN" sz="2000" dirty="0">
              <a:solidFill>
                <a:srgbClr val="C00000"/>
              </a:solidFill>
              <a:latin typeface="Microsoft YaHei" panose="020B0503020204020204" pitchFamily="34" charset="-122"/>
              <a:ea typeface="Microsoft YaHei" panose="020B0503020204020204" pitchFamily="34" charset="-122"/>
            </a:endParaRPr>
          </a:p>
        </p:txBody>
      </p:sp>
      <p:sp>
        <p:nvSpPr>
          <p:cNvPr id="4" name="TextBox 3">
            <a:extLst>
              <a:ext uri="{FF2B5EF4-FFF2-40B4-BE49-F238E27FC236}">
                <a16:creationId xmlns:a16="http://schemas.microsoft.com/office/drawing/2014/main" id="{ACEA40CC-8153-0F5B-83AA-1CC5C6A51F97}"/>
              </a:ext>
            </a:extLst>
          </p:cNvPr>
          <p:cNvSpPr txBox="1"/>
          <p:nvPr/>
        </p:nvSpPr>
        <p:spPr>
          <a:xfrm>
            <a:off x="928993" y="5102897"/>
            <a:ext cx="9672748" cy="961225"/>
          </a:xfrm>
          <a:prstGeom prst="rect">
            <a:avLst/>
          </a:prstGeom>
          <a:noFill/>
        </p:spPr>
        <p:txBody>
          <a:bodyPr wrap="square">
            <a:spAutoFit/>
          </a:bodyPr>
          <a:lstStyle/>
          <a:p>
            <a:pPr algn="just">
              <a:lnSpc>
                <a:spcPct val="150000"/>
              </a:lnSpc>
            </a:pPr>
            <a:r>
              <a:rPr lang="en-CN" sz="2000" dirty="0">
                <a:latin typeface="Microsoft YaHei" panose="020B0503020204020204" pitchFamily="34" charset="-122"/>
                <a:ea typeface="Microsoft YaHei" panose="020B0503020204020204" pitchFamily="34" charset="-122"/>
              </a:rPr>
              <a:t>语义研究需要</a:t>
            </a:r>
            <a:r>
              <a:rPr lang="en-CN" sz="2000" dirty="0">
                <a:solidFill>
                  <a:srgbClr val="0432FF"/>
                </a:solidFill>
                <a:latin typeface="Microsoft YaHei" panose="020B0503020204020204" pitchFamily="34" charset="-122"/>
                <a:ea typeface="Microsoft YaHei" panose="020B0503020204020204" pitchFamily="34" charset="-122"/>
              </a:rPr>
              <a:t>以语义的形式化结构表示为基础</a:t>
            </a:r>
            <a:r>
              <a:rPr lang="en-CN" sz="2000" dirty="0">
                <a:latin typeface="Microsoft YaHei" panose="020B0503020204020204" pitchFamily="34" charset="-122"/>
                <a:ea typeface="Microsoft YaHei" panose="020B0503020204020204" pitchFamily="34" charset="-122"/>
              </a:rPr>
              <a:t>。这种形式化结构表示称之为</a:t>
            </a:r>
            <a:r>
              <a:rPr lang="en-CN" sz="2000" b="1" dirty="0">
                <a:solidFill>
                  <a:srgbClr val="0432FF"/>
                </a:solidFill>
                <a:latin typeface="Microsoft YaHei" panose="020B0503020204020204" pitchFamily="34" charset="-122"/>
                <a:ea typeface="Microsoft YaHei" panose="020B0503020204020204" pitchFamily="34" charset="-122"/>
              </a:rPr>
              <a:t>语义表示</a:t>
            </a:r>
            <a:r>
              <a:rPr lang="en-CN" sz="2000" b="1" dirty="0">
                <a:latin typeface="Microsoft YaHei" panose="020B0503020204020204" pitchFamily="34" charset="-122"/>
                <a:ea typeface="Microsoft YaHei" panose="020B0503020204020204" pitchFamily="34" charset="-122"/>
              </a:rPr>
              <a:t>（Semantic Representation）</a:t>
            </a:r>
          </a:p>
        </p:txBody>
      </p:sp>
    </p:spTree>
    <p:extLst>
      <p:ext uri="{BB962C8B-B14F-4D97-AF65-F5344CB8AC3E}">
        <p14:creationId xmlns:p14="http://schemas.microsoft.com/office/powerpoint/2010/main" val="297006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04788"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4.1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语义学概述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65</a:t>
            </a:fld>
            <a:endParaRPr lang="zh-CN" altLang="en-US"/>
          </a:p>
        </p:txBody>
      </p:sp>
      <p:sp>
        <p:nvSpPr>
          <p:cNvPr id="13" name="TextBox 12">
            <a:extLst>
              <a:ext uri="{FF2B5EF4-FFF2-40B4-BE49-F238E27FC236}">
                <a16:creationId xmlns:a16="http://schemas.microsoft.com/office/drawing/2014/main" id="{9E8A8D74-FDA3-5A42-A25A-E1DF34B857E1}"/>
              </a:ext>
            </a:extLst>
          </p:cNvPr>
          <p:cNvSpPr txBox="1"/>
          <p:nvPr/>
        </p:nvSpPr>
        <p:spPr>
          <a:xfrm>
            <a:off x="915741" y="1275214"/>
            <a:ext cx="10360518" cy="2519344"/>
          </a:xfrm>
          <a:prstGeom prst="rect">
            <a:avLst/>
          </a:prstGeom>
          <a:noFill/>
        </p:spPr>
        <p:txBody>
          <a:bodyPr wrap="square">
            <a:spAutoFit/>
          </a:bodyPr>
          <a:lstStyle/>
          <a:p>
            <a:pPr algn="just">
              <a:lnSpc>
                <a:spcPct val="125000"/>
              </a:lnSpc>
              <a:spcBef>
                <a:spcPts val="1200"/>
              </a:spcBef>
            </a:pPr>
            <a:r>
              <a:rPr lang="zh-CN" altLang="en-US" sz="2000" dirty="0">
                <a:solidFill>
                  <a:srgbClr val="0432FF"/>
                </a:solidFill>
                <a:latin typeface="Microsoft YaHei" panose="020B0503020204020204" pitchFamily="34" charset="-122"/>
                <a:ea typeface="Microsoft YaHei" panose="020B0503020204020204" pitchFamily="34" charset="-122"/>
              </a:rPr>
              <a:t>什么是</a:t>
            </a:r>
            <a:r>
              <a:rPr lang="zh-CN" altLang="en-US" sz="2000" b="1" dirty="0">
                <a:solidFill>
                  <a:srgbClr val="0432FF"/>
                </a:solidFill>
                <a:latin typeface="Microsoft YaHei" panose="020B0503020204020204" pitchFamily="34" charset="-122"/>
                <a:ea typeface="Microsoft YaHei" panose="020B0503020204020204" pitchFamily="34" charset="-122"/>
              </a:rPr>
              <a:t>意义</a:t>
            </a:r>
            <a:r>
              <a:rPr lang="zh-CN" altLang="en-US" sz="2000" dirty="0">
                <a:latin typeface="Microsoft YaHei" panose="020B0503020204020204" pitchFamily="34" charset="-122"/>
                <a:ea typeface="Microsoft YaHei" panose="020B0503020204020204" pitchFamily="34" charset="-122"/>
              </a:rPr>
              <a:t>是一个困扰了哲学家和语言学家数千年的问题。</a:t>
            </a:r>
            <a:endParaRPr lang="en-US" altLang="zh-CN" sz="2000" dirty="0">
              <a:latin typeface="Microsoft YaHei" panose="020B0503020204020204" pitchFamily="34" charset="-122"/>
              <a:ea typeface="Microsoft YaHei" panose="020B0503020204020204" pitchFamily="34" charset="-122"/>
            </a:endParaRPr>
          </a:p>
          <a:p>
            <a:pPr marL="914400" lvl="1" indent="-457200" algn="just">
              <a:lnSpc>
                <a:spcPct val="125000"/>
              </a:lnSpc>
              <a:spcBef>
                <a:spcPts val="1200"/>
              </a:spcBef>
              <a:buFont typeface="Arial" panose="020B0604020202020204" pitchFamily="34" charset="0"/>
              <a:buChar char="•"/>
            </a:pPr>
            <a:r>
              <a:rPr lang="zh-CN" altLang="en-US" dirty="0">
                <a:latin typeface="Microsoft YaHei" panose="020B0503020204020204" pitchFamily="34" charset="-122"/>
                <a:ea typeface="Microsoft YaHei" panose="020B0503020204020204" pitchFamily="34" charset="-122"/>
              </a:rPr>
              <a:t>我们可以非常容易地理解中文，并且用汉字组成对其他人来说也是有意义的句子。</a:t>
            </a:r>
            <a:endParaRPr lang="en-US" altLang="zh-CN" dirty="0">
              <a:latin typeface="Microsoft YaHei" panose="020B0503020204020204" pitchFamily="34" charset="-122"/>
              <a:ea typeface="Microsoft YaHei" panose="020B0503020204020204" pitchFamily="34" charset="-122"/>
            </a:endParaRPr>
          </a:p>
          <a:p>
            <a:pPr marL="914400" lvl="1" indent="-457200" algn="just">
              <a:lnSpc>
                <a:spcPct val="125000"/>
              </a:lnSpc>
              <a:spcBef>
                <a:spcPts val="1200"/>
              </a:spcBef>
              <a:buFont typeface="Arial" panose="020B0604020202020204" pitchFamily="34" charset="0"/>
              <a:buChar char="•"/>
            </a:pPr>
            <a:r>
              <a:rPr lang="zh-CN" altLang="en-US" dirty="0">
                <a:latin typeface="Microsoft YaHei" panose="020B0503020204020204" pitchFamily="34" charset="-122"/>
                <a:ea typeface="Microsoft YaHei" panose="020B0503020204020204" pitchFamily="34" charset="-122"/>
              </a:rPr>
              <a:t>我们也可以知道某个词语、句子是否有意义，还可以通过一个句子衍推出另外一个句子。</a:t>
            </a:r>
            <a:endParaRPr lang="en-US" altLang="zh-CN"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000" dirty="0">
                <a:latin typeface="Microsoft YaHei" panose="020B0503020204020204" pitchFamily="34" charset="-122"/>
                <a:ea typeface="Microsoft YaHei" panose="020B0503020204020204" pitchFamily="34" charset="-122"/>
              </a:rPr>
              <a:t>意义从何而来？语言的意义的本质又是什么？</a:t>
            </a:r>
            <a:endParaRPr lang="en-US" altLang="zh-CN" sz="2000" dirty="0">
              <a:latin typeface="Microsoft YaHei" panose="020B0503020204020204" pitchFamily="34" charset="-122"/>
              <a:ea typeface="Microsoft YaHei" panose="020B0503020204020204" pitchFamily="34" charset="-122"/>
            </a:endParaRPr>
          </a:p>
          <a:p>
            <a:pPr algn="just">
              <a:lnSpc>
                <a:spcPct val="125000"/>
              </a:lnSpc>
              <a:spcBef>
                <a:spcPts val="1200"/>
              </a:spcBef>
            </a:pPr>
            <a:r>
              <a:rPr lang="zh-CN" altLang="en-US" sz="2000" dirty="0">
                <a:solidFill>
                  <a:srgbClr val="C00000"/>
                </a:solidFill>
                <a:latin typeface="Microsoft YaHei" panose="020B0503020204020204" pitchFamily="34" charset="-122"/>
                <a:ea typeface="Microsoft YaHei" panose="020B0503020204020204" pitchFamily="34" charset="-122"/>
              </a:rPr>
              <a:t>学术界对这些问题众说纷纭没有定论</a:t>
            </a:r>
            <a:endParaRPr lang="en-US" altLang="zh-CN" dirty="0">
              <a:solidFill>
                <a:srgbClr val="C00000"/>
              </a:solidFill>
              <a:effectLst/>
              <a:latin typeface="Microsoft YaHei" panose="020B0503020204020204" pitchFamily="34" charset="-122"/>
              <a:ea typeface="Microsoft YaHei" panose="020B0503020204020204" pitchFamily="34" charset="-122"/>
            </a:endParaRPr>
          </a:p>
        </p:txBody>
      </p:sp>
      <p:sp>
        <p:nvSpPr>
          <p:cNvPr id="8" name="TextBox 7">
            <a:extLst>
              <a:ext uri="{FF2B5EF4-FFF2-40B4-BE49-F238E27FC236}">
                <a16:creationId xmlns:a16="http://schemas.microsoft.com/office/drawing/2014/main" id="{02C759B1-1E57-02B5-FF2F-AF2851026478}"/>
              </a:ext>
            </a:extLst>
          </p:cNvPr>
          <p:cNvSpPr txBox="1"/>
          <p:nvPr/>
        </p:nvSpPr>
        <p:spPr>
          <a:xfrm>
            <a:off x="915741" y="4172449"/>
            <a:ext cx="9989691" cy="1422890"/>
          </a:xfrm>
          <a:prstGeom prst="rect">
            <a:avLst/>
          </a:prstGeom>
          <a:noFill/>
        </p:spPr>
        <p:txBody>
          <a:bodyPr wrap="square">
            <a:spAutoFit/>
          </a:bodyPr>
          <a:lstStyle/>
          <a:p>
            <a:pPr algn="just">
              <a:lnSpc>
                <a:spcPct val="150000"/>
              </a:lnSpc>
              <a:spcBef>
                <a:spcPts val="1200"/>
              </a:spcBef>
            </a:pPr>
            <a:r>
              <a:rPr lang="en-CN" sz="2000" dirty="0">
                <a:latin typeface="Microsoft YaHei" panose="020B0503020204020204" pitchFamily="34" charset="-122"/>
                <a:ea typeface="Microsoft YaHei" panose="020B0503020204020204" pitchFamily="34" charset="-122"/>
              </a:rPr>
              <a:t>中国古代以</a:t>
            </a:r>
            <a:r>
              <a:rPr lang="zh-CN" altLang="en-US" sz="2000" dirty="0">
                <a:latin typeface="Microsoft YaHei" panose="020B0503020204020204" pitchFamily="34" charset="-122"/>
                <a:ea typeface="Microsoft YaHei" panose="020B0503020204020204" pitchFamily="34" charset="-122"/>
              </a:rPr>
              <a:t>“</a:t>
            </a:r>
            <a:r>
              <a:rPr lang="en-CN" sz="2000" dirty="0">
                <a:latin typeface="Microsoft YaHei" panose="020B0503020204020204" pitchFamily="34" charset="-122"/>
                <a:ea typeface="Microsoft YaHei" panose="020B0503020204020204" pitchFamily="34" charset="-122"/>
              </a:rPr>
              <a:t>字</a:t>
            </a:r>
            <a:r>
              <a:rPr lang="zh-CN" altLang="en-US" sz="2000" dirty="0">
                <a:latin typeface="Microsoft YaHei" panose="020B0503020204020204" pitchFamily="34" charset="-122"/>
                <a:ea typeface="Microsoft YaHei" panose="020B0503020204020204" pitchFamily="34" charset="-122"/>
              </a:rPr>
              <a:t>”</a:t>
            </a:r>
            <a:r>
              <a:rPr lang="en-CN" sz="2000" dirty="0">
                <a:latin typeface="Microsoft YaHei" panose="020B0503020204020204" pitchFamily="34" charset="-122"/>
                <a:ea typeface="Microsoft YaHei" panose="020B0503020204020204" pitchFamily="34" charset="-122"/>
              </a:rPr>
              <a:t>为核心的训诂语义研究达到了很高的水准，公元前2世纪就有了专门解释</a:t>
            </a:r>
            <a:r>
              <a:rPr lang="en-CN" sz="2000" b="1" dirty="0">
                <a:latin typeface="Microsoft YaHei" panose="020B0503020204020204" pitchFamily="34" charset="-122"/>
                <a:ea typeface="Microsoft YaHei" panose="020B0503020204020204" pitchFamily="34" charset="-122"/>
              </a:rPr>
              <a:t>词义的专著《尔雅》</a:t>
            </a:r>
            <a:r>
              <a:rPr lang="en-CN" sz="2000" dirty="0">
                <a:latin typeface="Microsoft YaHei" panose="020B0503020204020204" pitchFamily="34" charset="-122"/>
                <a:ea typeface="Microsoft YaHei" panose="020B0503020204020204" pitchFamily="34" charset="-122"/>
              </a:rPr>
              <a:t>。先秦时期，荀子和墨子就开始对</a:t>
            </a:r>
            <a:r>
              <a:rPr lang="zh-CN" altLang="en-US" sz="2000" dirty="0">
                <a:latin typeface="Microsoft YaHei" panose="020B0503020204020204" pitchFamily="34" charset="-122"/>
                <a:ea typeface="Microsoft YaHei" panose="020B0503020204020204" pitchFamily="34" charset="-122"/>
              </a:rPr>
              <a:t>“</a:t>
            </a:r>
            <a:r>
              <a:rPr lang="en-CN" sz="2000" dirty="0">
                <a:latin typeface="Microsoft YaHei" panose="020B0503020204020204" pitchFamily="34" charset="-122"/>
                <a:ea typeface="Microsoft YaHei" panose="020B0503020204020204" pitchFamily="34" charset="-122"/>
              </a:rPr>
              <a:t>名</a:t>
            </a:r>
            <a:r>
              <a:rPr lang="zh-CN" altLang="en-US" sz="2000" dirty="0">
                <a:latin typeface="Microsoft YaHei" panose="020B0503020204020204" pitchFamily="34" charset="-122"/>
                <a:ea typeface="Microsoft YaHei" panose="020B0503020204020204" pitchFamily="34" charset="-122"/>
              </a:rPr>
              <a:t>”</a:t>
            </a:r>
            <a:r>
              <a:rPr lang="en-CN" sz="2000" dirty="0">
                <a:latin typeface="Microsoft YaHei" panose="020B0503020204020204" pitchFamily="34" charset="-122"/>
                <a:ea typeface="Microsoft YaHei" panose="020B0503020204020204" pitchFamily="34" charset="-122"/>
              </a:rPr>
              <a:t>与</a:t>
            </a:r>
            <a:r>
              <a:rPr lang="zh-CN" altLang="en-US" sz="2000" dirty="0">
                <a:latin typeface="Microsoft YaHei" panose="020B0503020204020204" pitchFamily="34" charset="-122"/>
                <a:ea typeface="Microsoft YaHei" panose="020B0503020204020204" pitchFamily="34" charset="-122"/>
              </a:rPr>
              <a:t>“</a:t>
            </a:r>
            <a:r>
              <a:rPr lang="en-CN" sz="2000" dirty="0">
                <a:latin typeface="Microsoft YaHei" panose="020B0503020204020204" pitchFamily="34" charset="-122"/>
                <a:ea typeface="Microsoft YaHei" panose="020B0503020204020204" pitchFamily="34" charset="-122"/>
              </a:rPr>
              <a:t>实</a:t>
            </a:r>
            <a:r>
              <a:rPr lang="zh-CN" altLang="en-US" sz="2000" dirty="0">
                <a:latin typeface="Microsoft YaHei" panose="020B0503020204020204" pitchFamily="34" charset="-122"/>
                <a:ea typeface="Microsoft YaHei" panose="020B0503020204020204" pitchFamily="34" charset="-122"/>
              </a:rPr>
              <a:t>”</a:t>
            </a:r>
            <a:r>
              <a:rPr lang="en-CN" sz="2000" dirty="0">
                <a:latin typeface="Microsoft YaHei" panose="020B0503020204020204" pitchFamily="34" charset="-122"/>
                <a:ea typeface="Microsoft YaHei" panose="020B0503020204020204" pitchFamily="34" charset="-122"/>
              </a:rPr>
              <a:t>的关系进行讨论。古希腊哲学家苏格拉底、亚里士多德等也都在其哲学著作中探讨过语言的意义。</a:t>
            </a:r>
          </a:p>
        </p:txBody>
      </p:sp>
    </p:spTree>
    <p:extLst>
      <p:ext uri="{BB962C8B-B14F-4D97-AF65-F5344CB8AC3E}">
        <p14:creationId xmlns:p14="http://schemas.microsoft.com/office/powerpoint/2010/main" val="7179168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631292"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4.1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语义学概述</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66</a:t>
            </a:fld>
            <a:endParaRPr lang="zh-CN" altLang="en-US"/>
          </a:p>
        </p:txBody>
      </p:sp>
      <p:sp>
        <p:nvSpPr>
          <p:cNvPr id="4" name="TextBox 3">
            <a:extLst>
              <a:ext uri="{FF2B5EF4-FFF2-40B4-BE49-F238E27FC236}">
                <a16:creationId xmlns:a16="http://schemas.microsoft.com/office/drawing/2014/main" id="{3CC769B1-BA15-8820-344E-EA7200E383C6}"/>
              </a:ext>
            </a:extLst>
          </p:cNvPr>
          <p:cNvSpPr txBox="1"/>
          <p:nvPr/>
        </p:nvSpPr>
        <p:spPr>
          <a:xfrm>
            <a:off x="957192" y="1370717"/>
            <a:ext cx="10620444" cy="874407"/>
          </a:xfrm>
          <a:prstGeom prst="rect">
            <a:avLst/>
          </a:prstGeom>
          <a:noFill/>
        </p:spPr>
        <p:txBody>
          <a:bodyPr wrap="square">
            <a:spAutoFit/>
          </a:bodyPr>
          <a:lstStyle/>
          <a:p>
            <a:pPr algn="just">
              <a:lnSpc>
                <a:spcPct val="150000"/>
              </a:lnSpc>
              <a:spcBef>
                <a:spcPts val="1200"/>
              </a:spcBef>
            </a:pPr>
            <a:r>
              <a:rPr lang="zh-CN" altLang="en-US" dirty="0">
                <a:latin typeface="Microsoft YaHei" panose="020B0503020204020204" pitchFamily="34" charset="-122"/>
                <a:ea typeface="Microsoft YaHei" panose="020B0503020204020204" pitchFamily="34" charset="-122"/>
              </a:rPr>
              <a:t>语义学的研究目标就是</a:t>
            </a:r>
            <a:r>
              <a:rPr lang="zh-CN" altLang="en-US" dirty="0">
                <a:solidFill>
                  <a:srgbClr val="C00000"/>
                </a:solidFill>
                <a:latin typeface="Microsoft YaHei" panose="020B0503020204020204" pitchFamily="34" charset="-122"/>
                <a:ea typeface="Microsoft YaHei" panose="020B0503020204020204" pitchFamily="34" charset="-122"/>
              </a:rPr>
              <a:t>发现和阐述关于意义的知识</a:t>
            </a: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1883 </a:t>
            </a:r>
            <a:r>
              <a:rPr lang="zh-CN" altLang="en-US" dirty="0">
                <a:latin typeface="Microsoft YaHei" panose="020B0503020204020204" pitchFamily="34" charset="-122"/>
                <a:ea typeface="Microsoft YaHei" panose="020B0503020204020204" pitchFamily="34" charset="-122"/>
              </a:rPr>
              <a:t>年由法国语言学家</a:t>
            </a:r>
            <a:r>
              <a:rPr lang="en-US" dirty="0">
                <a:latin typeface="Microsoft YaHei" panose="020B0503020204020204" pitchFamily="34" charset="-122"/>
                <a:ea typeface="Microsoft YaHei" panose="020B0503020204020204" pitchFamily="34" charset="-122"/>
              </a:rPr>
              <a:t>Michel </a:t>
            </a:r>
            <a:r>
              <a:rPr lang="en-US" dirty="0" err="1">
                <a:latin typeface="Microsoft YaHei" panose="020B0503020204020204" pitchFamily="34" charset="-122"/>
                <a:ea typeface="Microsoft YaHei" panose="020B0503020204020204" pitchFamily="34" charset="-122"/>
              </a:rPr>
              <a:t>Bréal</a:t>
            </a:r>
            <a:r>
              <a:rPr lang="en-US" dirty="0">
                <a:latin typeface="Microsoft YaHei" panose="020B0503020204020204" pitchFamily="34" charset="-122"/>
                <a:ea typeface="Microsoft YaHei" panose="020B0503020204020204" pitchFamily="34" charset="-122"/>
              </a:rPr>
              <a:t> </a:t>
            </a:r>
            <a:r>
              <a:rPr lang="zh-CN" altLang="en-US" dirty="0">
                <a:latin typeface="Microsoft YaHei" panose="020B0503020204020204" pitchFamily="34" charset="-122"/>
                <a:ea typeface="Microsoft YaHei" panose="020B0503020204020204" pitchFamily="34" charset="-122"/>
              </a:rPr>
              <a:t>发表的论文中首次提出了语义学的概念</a:t>
            </a:r>
            <a:endParaRPr lang="en-CN" dirty="0">
              <a:latin typeface="Microsoft YaHei" panose="020B0503020204020204" pitchFamily="34" charset="-122"/>
              <a:ea typeface="Microsoft YaHei" panose="020B0503020204020204" pitchFamily="34" charset="-122"/>
            </a:endParaRPr>
          </a:p>
        </p:txBody>
      </p:sp>
      <p:sp>
        <p:nvSpPr>
          <p:cNvPr id="6" name="TextBox 5">
            <a:extLst>
              <a:ext uri="{FF2B5EF4-FFF2-40B4-BE49-F238E27FC236}">
                <a16:creationId xmlns:a16="http://schemas.microsoft.com/office/drawing/2014/main" id="{7287B314-01BB-DD53-7687-B08BDD0661A8}"/>
              </a:ext>
            </a:extLst>
          </p:cNvPr>
          <p:cNvSpPr txBox="1"/>
          <p:nvPr/>
        </p:nvSpPr>
        <p:spPr>
          <a:xfrm>
            <a:off x="957192" y="2423148"/>
            <a:ext cx="10293904" cy="2998065"/>
          </a:xfrm>
          <a:prstGeom prst="rect">
            <a:avLst/>
          </a:prstGeom>
          <a:noFill/>
        </p:spPr>
        <p:txBody>
          <a:bodyPr wrap="square">
            <a:spAutoFit/>
          </a:bodyPr>
          <a:lstStyle/>
          <a:p>
            <a:pPr algn="just">
              <a:lnSpc>
                <a:spcPct val="150000"/>
              </a:lnSpc>
              <a:spcBef>
                <a:spcPts val="1200"/>
              </a:spcBef>
            </a:pPr>
            <a:r>
              <a:rPr lang="zh-CN" altLang="en-US" dirty="0">
                <a:latin typeface="Microsoft YaHei" panose="020B0503020204020204" pitchFamily="34" charset="-122"/>
                <a:ea typeface="Microsoft YaHei" panose="020B0503020204020204" pitchFamily="34" charset="-122"/>
              </a:rPr>
              <a:t>从语言表达层面划分，语义学的研究大致可以分为三个层面：</a:t>
            </a:r>
            <a:endParaRPr lang="en-US" altLang="zh-CN"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b="1" dirty="0">
                <a:latin typeface="Microsoft YaHei" panose="020B0503020204020204" pitchFamily="34" charset="-122"/>
                <a:ea typeface="Microsoft YaHei" panose="020B0503020204020204" pitchFamily="34" charset="-122"/>
              </a:rPr>
              <a:t>（</a:t>
            </a:r>
            <a:r>
              <a:rPr lang="en-US" altLang="zh-CN" b="1" dirty="0">
                <a:latin typeface="Microsoft YaHei" panose="020B0503020204020204" pitchFamily="34" charset="-122"/>
                <a:ea typeface="Microsoft YaHei" panose="020B0503020204020204" pitchFamily="34" charset="-122"/>
              </a:rPr>
              <a:t>1</a:t>
            </a:r>
            <a:r>
              <a:rPr lang="zh-CN" altLang="en-US" b="1" dirty="0">
                <a:latin typeface="Microsoft YaHei" panose="020B0503020204020204" pitchFamily="34" charset="-122"/>
                <a:ea typeface="Microsoft YaHei" panose="020B0503020204020204" pitchFamily="34" charset="-122"/>
              </a:rPr>
              <a:t>）</a:t>
            </a:r>
            <a:r>
              <a:rPr lang="zh-CN" altLang="en-US" b="1" dirty="0">
                <a:solidFill>
                  <a:srgbClr val="0432FF"/>
                </a:solidFill>
                <a:latin typeface="Microsoft YaHei" panose="020B0503020204020204" pitchFamily="34" charset="-122"/>
                <a:ea typeface="Microsoft YaHei" panose="020B0503020204020204" pitchFamily="34" charset="-122"/>
              </a:rPr>
              <a:t>词汇语义学</a:t>
            </a:r>
            <a:r>
              <a:rPr lang="zh-CN" altLang="en-US" b="1" dirty="0">
                <a:latin typeface="Microsoft YaHei" panose="020B0503020204020204" pitchFamily="34" charset="-122"/>
                <a:ea typeface="Microsoft YaHei" panose="020B0503020204020204" pitchFamily="34" charset="-122"/>
              </a:rPr>
              <a:t>（</a:t>
            </a:r>
            <a:r>
              <a:rPr lang="en-US" b="1" dirty="0">
                <a:latin typeface="Microsoft YaHei" panose="020B0503020204020204" pitchFamily="34" charset="-122"/>
                <a:ea typeface="Microsoft YaHei" panose="020B0503020204020204" pitchFamily="34" charset="-122"/>
              </a:rPr>
              <a:t>Lexical Semantics）</a:t>
            </a:r>
            <a:r>
              <a:rPr lang="zh-CN" altLang="en-US" dirty="0">
                <a:latin typeface="Microsoft YaHei" panose="020B0503020204020204" pitchFamily="34" charset="-122"/>
                <a:ea typeface="Microsoft YaHei" panose="020B0503020204020204" pitchFamily="34" charset="-122"/>
              </a:rPr>
              <a:t>主要包括词义问题、词汇间关系、词汇场、成语的语义等；</a:t>
            </a:r>
            <a:endParaRPr lang="en-US" altLang="zh-CN"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b="1" dirty="0">
                <a:latin typeface="Microsoft YaHei" panose="020B0503020204020204" pitchFamily="34" charset="-122"/>
                <a:ea typeface="Microsoft YaHei" panose="020B0503020204020204" pitchFamily="34" charset="-122"/>
              </a:rPr>
              <a:t>（</a:t>
            </a:r>
            <a:r>
              <a:rPr lang="en-US" altLang="zh-CN" b="1" dirty="0">
                <a:latin typeface="Microsoft YaHei" panose="020B0503020204020204" pitchFamily="34" charset="-122"/>
                <a:ea typeface="Microsoft YaHei" panose="020B0503020204020204" pitchFamily="34" charset="-122"/>
              </a:rPr>
              <a:t>2</a:t>
            </a:r>
            <a:r>
              <a:rPr lang="zh-CN" altLang="en-US" b="1" dirty="0">
                <a:latin typeface="Microsoft YaHei" panose="020B0503020204020204" pitchFamily="34" charset="-122"/>
                <a:ea typeface="Microsoft YaHei" panose="020B0503020204020204" pitchFamily="34" charset="-122"/>
              </a:rPr>
              <a:t>）</a:t>
            </a:r>
            <a:r>
              <a:rPr lang="zh-CN" altLang="en-US" b="1" dirty="0">
                <a:solidFill>
                  <a:srgbClr val="0432FF"/>
                </a:solidFill>
                <a:latin typeface="Microsoft YaHei" panose="020B0503020204020204" pitchFamily="34" charset="-122"/>
                <a:ea typeface="Microsoft YaHei" panose="020B0503020204020204" pitchFamily="34" charset="-122"/>
              </a:rPr>
              <a:t>句子语义学</a:t>
            </a:r>
            <a:r>
              <a:rPr lang="zh-CN" altLang="en-US" b="1" dirty="0">
                <a:latin typeface="Microsoft YaHei" panose="020B0503020204020204" pitchFamily="34" charset="-122"/>
                <a:ea typeface="Microsoft YaHei" panose="020B0503020204020204" pitchFamily="34" charset="-122"/>
              </a:rPr>
              <a:t>（</a:t>
            </a:r>
            <a:r>
              <a:rPr lang="en-US" b="1" dirty="0">
                <a:latin typeface="Microsoft YaHei" panose="020B0503020204020204" pitchFamily="34" charset="-122"/>
                <a:ea typeface="Microsoft YaHei" panose="020B0503020204020204" pitchFamily="34" charset="-122"/>
              </a:rPr>
              <a:t>Sentential Semantics）</a:t>
            </a:r>
            <a:r>
              <a:rPr lang="zh-CN" altLang="en-US" dirty="0">
                <a:latin typeface="Microsoft YaHei" panose="020B0503020204020204" pitchFamily="34" charset="-122"/>
                <a:ea typeface="Microsoft YaHei" panose="020B0503020204020204" pitchFamily="34" charset="-122"/>
              </a:rPr>
              <a:t>主要以真值条件语义理论、配价理论、生成理论等为基础研究句义关系以及语序等问题；</a:t>
            </a:r>
            <a:endParaRPr lang="en-US" altLang="zh-CN"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b="1" dirty="0">
                <a:latin typeface="Microsoft YaHei" panose="020B0503020204020204" pitchFamily="34" charset="-122"/>
                <a:ea typeface="Microsoft YaHei" panose="020B0503020204020204" pitchFamily="34" charset="-122"/>
              </a:rPr>
              <a:t>（</a:t>
            </a:r>
            <a:r>
              <a:rPr lang="en-US" altLang="zh-CN" b="1" dirty="0">
                <a:latin typeface="Microsoft YaHei" panose="020B0503020204020204" pitchFamily="34" charset="-122"/>
                <a:ea typeface="Microsoft YaHei" panose="020B0503020204020204" pitchFamily="34" charset="-122"/>
              </a:rPr>
              <a:t>3</a:t>
            </a:r>
            <a:r>
              <a:rPr lang="zh-CN" altLang="en-US" b="1" dirty="0">
                <a:latin typeface="Microsoft YaHei" panose="020B0503020204020204" pitchFamily="34" charset="-122"/>
                <a:ea typeface="Microsoft YaHei" panose="020B0503020204020204" pitchFamily="34" charset="-122"/>
              </a:rPr>
              <a:t>）</a:t>
            </a:r>
            <a:r>
              <a:rPr lang="zh-CN" altLang="en-US" b="1" dirty="0">
                <a:solidFill>
                  <a:srgbClr val="0432FF"/>
                </a:solidFill>
                <a:latin typeface="Microsoft YaHei" panose="020B0503020204020204" pitchFamily="34" charset="-122"/>
                <a:ea typeface="Microsoft YaHei" panose="020B0503020204020204" pitchFamily="34" charset="-122"/>
              </a:rPr>
              <a:t>话语语义学</a:t>
            </a:r>
            <a:r>
              <a:rPr lang="zh-CN" altLang="en-US" b="1" dirty="0">
                <a:latin typeface="Microsoft YaHei" panose="020B0503020204020204" pitchFamily="34" charset="-122"/>
                <a:ea typeface="Microsoft YaHei" panose="020B0503020204020204" pitchFamily="34" charset="-122"/>
              </a:rPr>
              <a:t>（</a:t>
            </a:r>
            <a:r>
              <a:rPr lang="en-US" b="1" dirty="0">
                <a:latin typeface="Microsoft YaHei" panose="020B0503020204020204" pitchFamily="34" charset="-122"/>
                <a:ea typeface="Microsoft YaHei" panose="020B0503020204020204" pitchFamily="34" charset="-122"/>
              </a:rPr>
              <a:t>Discourse Semantics）</a:t>
            </a:r>
            <a:r>
              <a:rPr lang="zh-CN" altLang="en-US" dirty="0">
                <a:latin typeface="Microsoft YaHei" panose="020B0503020204020204" pitchFamily="34" charset="-122"/>
                <a:ea typeface="Microsoft YaHei" panose="020B0503020204020204" pitchFamily="34" charset="-122"/>
              </a:rPr>
              <a:t>主要研究句子以上层次结构的意义，包括话语衔接、话语连贯、语用过程解释等。</a:t>
            </a:r>
            <a:endParaRPr lang="en-CN"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6882037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平行四边形 6">
            <a:extLst>
              <a:ext uri="{FF2B5EF4-FFF2-40B4-BE49-F238E27FC236}">
                <a16:creationId xmlns:a16="http://schemas.microsoft.com/office/drawing/2014/main" id="{E28C2311-8D2C-F54D-B35E-E5E9C2C8DC49}"/>
              </a:ext>
            </a:extLst>
          </p:cNvPr>
          <p:cNvSpPr>
            <a:spLocks noChangeArrowheads="1"/>
          </p:cNvSpPr>
          <p:nvPr/>
        </p:nvSpPr>
        <p:spPr bwMode="auto">
          <a:xfrm>
            <a:off x="996952" y="363538"/>
            <a:ext cx="9432510" cy="550862"/>
          </a:xfrm>
          <a:prstGeom prst="parallelogram">
            <a:avLst>
              <a:gd name="adj" fmla="val 41491"/>
            </a:avLst>
          </a:prstGeom>
          <a:solidFill>
            <a:srgbClr val="40404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5" name="平行四边形 7">
            <a:extLst>
              <a:ext uri="{FF2B5EF4-FFF2-40B4-BE49-F238E27FC236}">
                <a16:creationId xmlns:a16="http://schemas.microsoft.com/office/drawing/2014/main" id="{688D35D0-0B45-1943-B345-4F04E332083F}"/>
              </a:ext>
            </a:extLst>
          </p:cNvPr>
          <p:cNvSpPr>
            <a:spLocks noChangeArrowheads="1"/>
          </p:cNvSpPr>
          <p:nvPr/>
        </p:nvSpPr>
        <p:spPr bwMode="auto">
          <a:xfrm>
            <a:off x="6350" y="363538"/>
            <a:ext cx="1145556" cy="550862"/>
          </a:xfrm>
          <a:prstGeom prst="parallelogram">
            <a:avLst>
              <a:gd name="adj" fmla="val 41517"/>
            </a:avLst>
          </a:prstGeom>
          <a:solidFill>
            <a:srgbClr val="0070C0"/>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36" name="文本框 5">
            <a:extLst>
              <a:ext uri="{FF2B5EF4-FFF2-40B4-BE49-F238E27FC236}">
                <a16:creationId xmlns:a16="http://schemas.microsoft.com/office/drawing/2014/main" id="{A8F70AF4-0A96-CB42-BEA8-875E484BDCBC}"/>
              </a:ext>
            </a:extLst>
          </p:cNvPr>
          <p:cNvSpPr txBox="1">
            <a:spLocks noChangeArrowheads="1"/>
          </p:cNvSpPr>
          <p:nvPr/>
        </p:nvSpPr>
        <p:spPr bwMode="auto">
          <a:xfrm>
            <a:off x="163596" y="446057"/>
            <a:ext cx="835540"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r>
              <a:rPr lang="en-US" altLang="zh-CN" sz="2000" b="1" dirty="0">
                <a:solidFill>
                  <a:srgbClr val="FFFFFF"/>
                </a:solidFill>
                <a:latin typeface="微软雅黑" panose="020B0503020204020204" pitchFamily="34" charset="-122"/>
                <a:ea typeface="微软雅黑" panose="020B0503020204020204" pitchFamily="34" charset="-122"/>
              </a:rPr>
              <a:t>4.1.1</a:t>
            </a:r>
            <a:endParaRPr lang="zh-CN" altLang="en-US" sz="2000" b="1" dirty="0">
              <a:solidFill>
                <a:srgbClr val="FFFFFF"/>
              </a:solidFill>
              <a:latin typeface="微软雅黑" panose="020B0503020204020204" pitchFamily="34" charset="-122"/>
              <a:ea typeface="微软雅黑" panose="020B0503020204020204" pitchFamily="34" charset="-122"/>
            </a:endParaRPr>
          </a:p>
        </p:txBody>
      </p:sp>
      <p:sp>
        <p:nvSpPr>
          <p:cNvPr id="18437" name="矩形 8">
            <a:extLst>
              <a:ext uri="{FF2B5EF4-FFF2-40B4-BE49-F238E27FC236}">
                <a16:creationId xmlns:a16="http://schemas.microsoft.com/office/drawing/2014/main" id="{08664048-C4DF-AE43-AB29-FBF12A934D10}"/>
              </a:ext>
            </a:extLst>
          </p:cNvPr>
          <p:cNvSpPr>
            <a:spLocks noChangeArrowheads="1"/>
          </p:cNvSpPr>
          <p:nvPr/>
        </p:nvSpPr>
        <p:spPr bwMode="auto">
          <a:xfrm>
            <a:off x="1199406" y="406400"/>
            <a:ext cx="1723549"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buFont typeface="Arial" panose="020B0604020202020204" pitchFamily="34" charset="0"/>
              <a:buNone/>
            </a:pPr>
            <a:r>
              <a:rPr lang="zh-CN" altLang="en-US" sz="2400" b="1" dirty="0">
                <a:solidFill>
                  <a:schemeClr val="bg1"/>
                </a:solidFill>
                <a:latin typeface="微软雅黑" panose="020B0503020204020204" pitchFamily="34" charset="-122"/>
                <a:ea typeface="微软雅黑" panose="020B0503020204020204" pitchFamily="34" charset="-122"/>
              </a:rPr>
              <a:t>词汇语义学</a:t>
            </a:r>
            <a:endParaRPr lang="zh-CN" altLang="en-CN" sz="2400" b="1" dirty="0">
              <a:solidFill>
                <a:schemeClr val="bg1"/>
              </a:solidFill>
              <a:latin typeface="微软雅黑" panose="020B0503020204020204" pitchFamily="34" charset="-122"/>
              <a:ea typeface="微软雅黑" panose="020B0503020204020204" pitchFamily="34" charset="-122"/>
            </a:endParaRPr>
          </a:p>
        </p:txBody>
      </p:sp>
      <p:grpSp>
        <p:nvGrpSpPr>
          <p:cNvPr id="18438" name="组合 11">
            <a:extLst>
              <a:ext uri="{FF2B5EF4-FFF2-40B4-BE49-F238E27FC236}">
                <a16:creationId xmlns:a16="http://schemas.microsoft.com/office/drawing/2014/main" id="{C5DF95A9-3BDA-694C-B63D-73116E129D54}"/>
              </a:ext>
            </a:extLst>
          </p:cNvPr>
          <p:cNvGrpSpPr>
            <a:grpSpLocks/>
          </p:cNvGrpSpPr>
          <p:nvPr/>
        </p:nvGrpSpPr>
        <p:grpSpPr bwMode="auto">
          <a:xfrm>
            <a:off x="11480800" y="479425"/>
            <a:ext cx="333375" cy="333375"/>
            <a:chOff x="0" y="0"/>
            <a:chExt cx="449943" cy="449943"/>
          </a:xfrm>
        </p:grpSpPr>
        <p:sp>
          <p:nvSpPr>
            <p:cNvPr id="18463" name="椭圆 9">
              <a:extLst>
                <a:ext uri="{FF2B5EF4-FFF2-40B4-BE49-F238E27FC236}">
                  <a16:creationId xmlns:a16="http://schemas.microsoft.com/office/drawing/2014/main" id="{F8819C9C-A714-3446-A4B0-CA9C0CCD4BCD}"/>
                </a:ext>
              </a:extLst>
            </p:cNvPr>
            <p:cNvSpPr>
              <a:spLocks noChangeArrowheads="1"/>
            </p:cNvSpPr>
            <p:nvPr/>
          </p:nvSpPr>
          <p:spPr bwMode="auto">
            <a:xfrm>
              <a:off x="0" y="0"/>
              <a:ext cx="449943" cy="449943"/>
            </a:xfrm>
            <a:prstGeom prst="ellipse">
              <a:avLst/>
            </a:prstGeom>
            <a:noFill/>
            <a:ln w="28575">
              <a:solidFill>
                <a:schemeClr val="bg1"/>
              </a:solidFill>
              <a:round/>
              <a:headEnd/>
              <a:tailEnd/>
            </a:ln>
            <a:extLst>
              <a:ext uri="{909E8E84-426E-40DD-AFC4-6F175D3DCCD1}">
                <a14:hiddenFill xmlns:a14="http://schemas.microsoft.com/office/drawing/2010/main">
                  <a:solidFill>
                    <a:srgbClr val="FFFFFF"/>
                  </a:solidFill>
                </a14:hiddenFill>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sp>
          <p:nvSpPr>
            <p:cNvPr id="18464" name="等腰三角形 10">
              <a:extLst>
                <a:ext uri="{FF2B5EF4-FFF2-40B4-BE49-F238E27FC236}">
                  <a16:creationId xmlns:a16="http://schemas.microsoft.com/office/drawing/2014/main" id="{56792B4F-8F5C-FE4F-80EA-90FA25FA18C3}"/>
                </a:ext>
              </a:extLst>
            </p:cNvPr>
            <p:cNvSpPr>
              <a:spLocks noChangeArrowheads="1"/>
            </p:cNvSpPr>
            <p:nvPr/>
          </p:nvSpPr>
          <p:spPr bwMode="auto">
            <a:xfrm rot="5400000">
              <a:off x="110342" y="110343"/>
              <a:ext cx="287106" cy="246397"/>
            </a:xfrm>
            <a:prstGeom prst="triangle">
              <a:avLst>
                <a:gd name="adj" fmla="val 50000"/>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txBody>
            <a:bodyPr anchor="ctr"/>
            <a:lstStyle>
              <a:lvl1pPr eaLnBrk="0" hangingPunct="0">
                <a:defRPr>
                  <a:solidFill>
                    <a:schemeClr val="tx1"/>
                  </a:solidFill>
                  <a:latin typeface="Calibri" panose="020F0502020204030204" pitchFamily="34" charset="0"/>
                  <a:ea typeface="宋体" panose="02010600030101010101" pitchFamily="2" charset="-122"/>
                </a:defRPr>
              </a:lvl1pPr>
              <a:lvl2pPr marL="742950" indent="-285750" eaLnBrk="0" hangingPunct="0">
                <a:defRPr>
                  <a:solidFill>
                    <a:schemeClr val="tx1"/>
                  </a:solidFill>
                  <a:latin typeface="Calibri" panose="020F0502020204030204" pitchFamily="34" charset="0"/>
                  <a:ea typeface="宋体" panose="02010600030101010101" pitchFamily="2" charset="-122"/>
                </a:defRPr>
              </a:lvl2pPr>
              <a:lvl3pPr marL="1143000" indent="-228600" eaLnBrk="0" hangingPunct="0">
                <a:defRPr>
                  <a:solidFill>
                    <a:schemeClr val="tx1"/>
                  </a:solidFill>
                  <a:latin typeface="Calibri" panose="020F0502020204030204" pitchFamily="34" charset="0"/>
                  <a:ea typeface="宋体" panose="02010600030101010101" pitchFamily="2" charset="-122"/>
                </a:defRPr>
              </a:lvl3pPr>
              <a:lvl4pPr marL="1600200" indent="-228600" eaLnBrk="0" hangingPunct="0">
                <a:defRPr>
                  <a:solidFill>
                    <a:schemeClr val="tx1"/>
                  </a:solidFill>
                  <a:latin typeface="Calibri" panose="020F0502020204030204" pitchFamily="34" charset="0"/>
                  <a:ea typeface="宋体" panose="02010600030101010101" pitchFamily="2" charset="-122"/>
                </a:defRPr>
              </a:lvl4pPr>
              <a:lvl5pPr marL="2057400" indent="-228600" eaLnBrk="0" hangingPunct="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algn="ctr" eaLnBrk="1" hangingPunct="1">
                <a:buFont typeface="Arial" panose="020B0604020202020204" pitchFamily="34" charset="0"/>
                <a:buNone/>
              </a:pPr>
              <a:endParaRPr lang="zh-CN" altLang="en-US">
                <a:solidFill>
                  <a:srgbClr val="FFFFFF"/>
                </a:solidFill>
              </a:endParaRPr>
            </a:p>
          </p:txBody>
        </p:sp>
      </p:grpSp>
      <p:sp>
        <p:nvSpPr>
          <p:cNvPr id="2" name="Slide Number Placeholder 1">
            <a:extLst>
              <a:ext uri="{FF2B5EF4-FFF2-40B4-BE49-F238E27FC236}">
                <a16:creationId xmlns:a16="http://schemas.microsoft.com/office/drawing/2014/main" id="{73FC4F25-29A0-034E-9DC1-5AD8757A856D}"/>
              </a:ext>
            </a:extLst>
          </p:cNvPr>
          <p:cNvSpPr>
            <a:spLocks noGrp="1"/>
          </p:cNvSpPr>
          <p:nvPr>
            <p:ph type="sldNum" sz="quarter" idx="12"/>
          </p:nvPr>
        </p:nvSpPr>
        <p:spPr/>
        <p:txBody>
          <a:bodyPr/>
          <a:lstStyle/>
          <a:p>
            <a:fld id="{465717F2-DE62-A445-9F03-50055757659A}" type="slidenum">
              <a:rPr lang="zh-CN" altLang="en-US" smtClean="0"/>
              <a:pPr/>
              <a:t>67</a:t>
            </a:fld>
            <a:endParaRPr lang="zh-CN" altLang="en-US"/>
          </a:p>
        </p:txBody>
      </p:sp>
      <p:sp>
        <p:nvSpPr>
          <p:cNvPr id="4" name="TextBox 3">
            <a:extLst>
              <a:ext uri="{FF2B5EF4-FFF2-40B4-BE49-F238E27FC236}">
                <a16:creationId xmlns:a16="http://schemas.microsoft.com/office/drawing/2014/main" id="{3CC769B1-BA15-8820-344E-EA7200E383C6}"/>
              </a:ext>
            </a:extLst>
          </p:cNvPr>
          <p:cNvSpPr txBox="1"/>
          <p:nvPr/>
        </p:nvSpPr>
        <p:spPr>
          <a:xfrm>
            <a:off x="1151906" y="1675537"/>
            <a:ext cx="9770477" cy="2346220"/>
          </a:xfrm>
          <a:prstGeom prst="rect">
            <a:avLst/>
          </a:prstGeom>
          <a:noFill/>
        </p:spPr>
        <p:txBody>
          <a:bodyPr wrap="square">
            <a:spAutoFit/>
          </a:bodyPr>
          <a:lstStyle/>
          <a:p>
            <a:pPr algn="just">
              <a:lnSpc>
                <a:spcPct val="150000"/>
              </a:lnSpc>
              <a:spcBef>
                <a:spcPts val="1200"/>
              </a:spcBef>
            </a:pPr>
            <a:r>
              <a:rPr lang="zh-CN" altLang="en-US" sz="2000" dirty="0">
                <a:solidFill>
                  <a:srgbClr val="0432FF"/>
                </a:solidFill>
                <a:latin typeface="Microsoft YaHei" panose="020B0503020204020204" pitchFamily="34" charset="-122"/>
                <a:ea typeface="Microsoft YaHei" panose="020B0503020204020204" pitchFamily="34" charset="-122"/>
              </a:rPr>
              <a:t>词是语言中能够独立运用的最小的单位</a:t>
            </a:r>
            <a:r>
              <a:rPr lang="zh-CN" altLang="en-US" sz="2000" dirty="0">
                <a:latin typeface="Microsoft YaHei" panose="020B0503020204020204" pitchFamily="34" charset="-122"/>
                <a:ea typeface="Microsoft YaHei" panose="020B0503020204020204" pitchFamily="34" charset="-122"/>
              </a:rPr>
              <a:t>，也是</a:t>
            </a:r>
            <a:r>
              <a:rPr lang="zh-CN" altLang="en-US" sz="2000" b="1" dirty="0">
                <a:latin typeface="Microsoft YaHei" panose="020B0503020204020204" pitchFamily="34" charset="-122"/>
                <a:ea typeface="Microsoft YaHei" panose="020B0503020204020204" pitchFamily="34" charset="-122"/>
              </a:rPr>
              <a:t>音、形、义</a:t>
            </a:r>
            <a:r>
              <a:rPr lang="zh-CN" altLang="en-US" sz="2000" dirty="0">
                <a:latin typeface="Microsoft YaHei" panose="020B0503020204020204" pitchFamily="34" charset="-122"/>
                <a:ea typeface="Microsoft YaHei" panose="020B0503020204020204" pitchFamily="34" charset="-122"/>
              </a:rPr>
              <a:t>的结合体。</a:t>
            </a:r>
            <a:endParaRPr lang="en-US" altLang="zh-CN" sz="2000"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词语通过搭配组合，可以构建出短语、句子、篇章等复杂的语言结构。</a:t>
            </a:r>
            <a:endParaRPr lang="en-US" altLang="zh-CN" sz="2000" dirty="0">
              <a:latin typeface="Microsoft YaHei" panose="020B0503020204020204" pitchFamily="34" charset="-122"/>
              <a:ea typeface="Microsoft YaHei" panose="020B0503020204020204" pitchFamily="34" charset="-122"/>
            </a:endParaRPr>
          </a:p>
          <a:p>
            <a:pPr algn="just">
              <a:lnSpc>
                <a:spcPct val="150000"/>
              </a:lnSpc>
              <a:spcBef>
                <a:spcPts val="1200"/>
              </a:spcBef>
            </a:pPr>
            <a:r>
              <a:rPr lang="zh-CN" altLang="en-US" sz="2000" dirty="0">
                <a:latin typeface="Microsoft YaHei" panose="020B0503020204020204" pitchFamily="34" charset="-122"/>
                <a:ea typeface="Microsoft YaHei" panose="020B0503020204020204" pitchFamily="34" charset="-122"/>
              </a:rPr>
              <a:t>语义学自创建之初，就将词汇语义作为重要的研究目标。</a:t>
            </a:r>
            <a:r>
              <a:rPr lang="en-US" altLang="zh-CN" sz="2000" b="1" dirty="0">
                <a:latin typeface="Microsoft YaHei" panose="020B0503020204020204" pitchFamily="34" charset="-122"/>
                <a:ea typeface="Microsoft YaHei" panose="020B0503020204020204" pitchFamily="34" charset="-122"/>
              </a:rPr>
              <a:t> </a:t>
            </a:r>
          </a:p>
          <a:p>
            <a:pPr algn="just">
              <a:lnSpc>
                <a:spcPct val="150000"/>
              </a:lnSpc>
              <a:spcBef>
                <a:spcPts val="1200"/>
              </a:spcBef>
            </a:pPr>
            <a:r>
              <a:rPr lang="zh-CN" altLang="en-US" sz="2000" b="1" dirty="0">
                <a:solidFill>
                  <a:srgbClr val="C00000"/>
                </a:solidFill>
                <a:latin typeface="Microsoft YaHei" panose="020B0503020204020204" pitchFamily="34" charset="-122"/>
                <a:ea typeface="Microsoft YaHei" panose="020B0503020204020204" pitchFamily="34" charset="-122"/>
              </a:rPr>
              <a:t>词汇语义学</a:t>
            </a:r>
            <a:r>
              <a:rPr lang="zh-CN" altLang="en-US" sz="2000" dirty="0">
                <a:latin typeface="Microsoft YaHei" panose="020B0503020204020204" pitchFamily="34" charset="-122"/>
                <a:ea typeface="Microsoft YaHei" panose="020B0503020204020204" pitchFamily="34" charset="-122"/>
              </a:rPr>
              <a:t>主要研究</a:t>
            </a:r>
            <a:r>
              <a:rPr lang="zh-CN" altLang="en-US" sz="2000" dirty="0">
                <a:solidFill>
                  <a:srgbClr val="0432FF"/>
                </a:solidFill>
                <a:latin typeface="Microsoft YaHei" panose="020B0503020204020204" pitchFamily="34" charset="-122"/>
                <a:ea typeface="Microsoft YaHei" panose="020B0503020204020204" pitchFamily="34" charset="-122"/>
              </a:rPr>
              <a:t>单个词语的意义</a:t>
            </a:r>
            <a:r>
              <a:rPr lang="zh-CN" altLang="en-US" sz="2000" dirty="0">
                <a:latin typeface="Microsoft YaHei" panose="020B0503020204020204" pitchFamily="34" charset="-122"/>
                <a:ea typeface="Microsoft YaHei" panose="020B0503020204020204" pitchFamily="34" charset="-122"/>
              </a:rPr>
              <a:t>以及</a:t>
            </a:r>
            <a:r>
              <a:rPr lang="zh-CN" altLang="en-US" sz="2000" dirty="0">
                <a:solidFill>
                  <a:srgbClr val="0432FF"/>
                </a:solidFill>
                <a:latin typeface="Microsoft YaHei" panose="020B0503020204020204" pitchFamily="34" charset="-122"/>
                <a:ea typeface="Microsoft YaHei" panose="020B0503020204020204" pitchFamily="34" charset="-122"/>
              </a:rPr>
              <a:t>词汇之间的相互关系</a:t>
            </a:r>
            <a:r>
              <a:rPr lang="zh-CN" altLang="en-US" sz="2000" dirty="0">
                <a:latin typeface="Microsoft YaHei" panose="020B0503020204020204" pitchFamily="34" charset="-122"/>
                <a:ea typeface="Microsoft YaHei" panose="020B0503020204020204" pitchFamily="34" charset="-122"/>
              </a:rPr>
              <a:t>。</a:t>
            </a:r>
            <a:endParaRPr lang="en-CN" sz="2000"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39818827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7" name="文本框 6"/>
          <p:cNvSpPr txBox="1"/>
          <p:nvPr/>
        </p:nvSpPr>
        <p:spPr>
          <a:xfrm>
            <a:off x="1045097" y="1301854"/>
            <a:ext cx="10028781" cy="2098010"/>
          </a:xfrm>
          <a:prstGeom prst="rect">
            <a:avLst/>
          </a:prstGeom>
          <a:noFill/>
        </p:spPr>
        <p:txBody>
          <a:bodyPr wrap="square" rtlCol="0">
            <a:spAutoFit/>
          </a:bodyPr>
          <a:lstStyle/>
          <a:p>
            <a:r>
              <a:rPr lang="zh-CN" altLang="en-US" sz="2400" dirty="0">
                <a:solidFill>
                  <a:srgbClr val="0432FF"/>
                </a:solidFill>
                <a:latin typeface="宋体" panose="02010600030101010101" pitchFamily="2" charset="-122"/>
                <a:ea typeface="宋体" panose="02010600030101010101" pitchFamily="2" charset="-122"/>
              </a:rPr>
              <a:t>（</a:t>
            </a:r>
            <a:r>
              <a:rPr lang="en-US" altLang="zh-CN" sz="2400" dirty="0">
                <a:solidFill>
                  <a:srgbClr val="0432FF"/>
                </a:solidFill>
                <a:latin typeface="宋体" panose="02010600030101010101" pitchFamily="2" charset="-122"/>
                <a:ea typeface="宋体" panose="02010600030101010101" pitchFamily="2" charset="-122"/>
              </a:rPr>
              <a:t>3</a:t>
            </a:r>
            <a:r>
              <a:rPr lang="zh-CN" altLang="en-US" sz="2400" dirty="0">
                <a:solidFill>
                  <a:srgbClr val="0432FF"/>
                </a:solidFill>
                <a:latin typeface="宋体" panose="02010600030101010101" pitchFamily="2" charset="-122"/>
                <a:ea typeface="宋体" panose="02010600030101010101" pitchFamily="2" charset="-122"/>
              </a:rPr>
              <a:t>）语义分析</a:t>
            </a:r>
            <a:endParaRPr lang="en-US" altLang="zh-CN" sz="2400" dirty="0">
              <a:solidFill>
                <a:srgbClr val="0432FF"/>
              </a:solidFill>
              <a:latin typeface="宋体" panose="02010600030101010101" pitchFamily="2" charset="-122"/>
              <a:ea typeface="宋体" panose="02010600030101010101" pitchFamily="2" charset="-122"/>
            </a:endParaRPr>
          </a:p>
          <a:p>
            <a:pPr marL="342900" indent="-342900">
              <a:spcBef>
                <a:spcPts val="1000"/>
              </a:spcBef>
              <a:buFont typeface="Arial" panose="020B0604020202020204" pitchFamily="34" charset="0"/>
              <a:buChar char="•"/>
            </a:pPr>
            <a:r>
              <a:rPr lang="zh-CN" altLang="en-US" sz="2000" dirty="0">
                <a:solidFill>
                  <a:srgbClr val="7030A0"/>
                </a:solidFill>
                <a:latin typeface="宋体" panose="02010600030101010101" pitchFamily="2" charset="-122"/>
                <a:ea typeface="宋体" panose="02010600030101010101" pitchFamily="2" charset="-122"/>
              </a:rPr>
              <a:t>词义消歧</a:t>
            </a:r>
            <a:endParaRPr lang="en-US" altLang="zh-CN" sz="2000" dirty="0">
              <a:solidFill>
                <a:srgbClr val="7030A0"/>
              </a:solidFill>
              <a:latin typeface="宋体" panose="02010600030101010101" pitchFamily="2" charset="-122"/>
              <a:ea typeface="宋体" panose="02010600030101010101" pitchFamily="2" charset="-122"/>
            </a:endParaRPr>
          </a:p>
          <a:p>
            <a:r>
              <a:rPr lang="en-US" altLang="zh-CN" sz="2000" dirty="0">
                <a:latin typeface="宋体" panose="02010600030101010101" pitchFamily="2" charset="-122"/>
                <a:ea typeface="宋体" panose="02010600030101010101" pitchFamily="2" charset="-122"/>
              </a:rPr>
              <a:t>    </a:t>
            </a:r>
            <a:r>
              <a:rPr lang="zh-CN" altLang="en-US" dirty="0">
                <a:latin typeface="宋体" panose="02010600030101010101" pitchFamily="2" charset="-122"/>
                <a:ea typeface="宋体" panose="02010600030101010101" pitchFamily="2" charset="-122"/>
              </a:rPr>
              <a:t>词义消歧指的是确定待分析词语在文本中的含义的过程。</a:t>
            </a:r>
            <a:r>
              <a:rPr lang="zh-CN" altLang="zh-CN" dirty="0"/>
              <a:t>词义消歧在文本理解的任务中极为重要，是</a:t>
            </a:r>
            <a:r>
              <a:rPr lang="zh-CN" altLang="zh-CN" dirty="0">
                <a:solidFill>
                  <a:srgbClr val="0432FF"/>
                </a:solidFill>
              </a:rPr>
              <a:t>句子和篇章语义理解的基础</a:t>
            </a:r>
            <a:r>
              <a:rPr lang="zh-CN" altLang="zh-CN" dirty="0"/>
              <a:t>。</a:t>
            </a:r>
            <a:endParaRPr lang="en-US" altLang="zh-CN" dirty="0"/>
          </a:p>
          <a:p>
            <a:r>
              <a:rPr lang="en-US" altLang="zh-CN" dirty="0"/>
              <a:t>    </a:t>
            </a:r>
            <a:r>
              <a:rPr lang="zh-CN" altLang="zh-CN" dirty="0"/>
              <a:t>基于Lesk算法的词义消歧工具pywsd为例，展示词义消歧具体过程：</a:t>
            </a:r>
          </a:p>
          <a:p>
            <a:endParaRPr lang="zh-CN" altLang="zh-CN" dirty="0"/>
          </a:p>
        </p:txBody>
      </p:sp>
      <p:sp>
        <p:nvSpPr>
          <p:cNvPr id="8" name="矩形 7"/>
          <p:cNvSpPr/>
          <p:nvPr/>
        </p:nvSpPr>
        <p:spPr>
          <a:xfrm>
            <a:off x="1104900" y="5618100"/>
            <a:ext cx="9982200" cy="923330"/>
          </a:xfrm>
          <a:prstGeom prst="rect">
            <a:avLst/>
          </a:prstGeom>
        </p:spPr>
        <p:txBody>
          <a:bodyPr wrap="square">
            <a:spAutoFit/>
          </a:bodyPr>
          <a:lstStyle/>
          <a:p>
            <a:r>
              <a:rPr lang="en-US" altLang="zh-CN"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zh-CN"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实际操作中，词义消歧问题会更为复杂，为此也产生了多种方法来实现词义消歧。</a:t>
            </a:r>
            <a:endParaRPr lang="en-US" altLang="zh-CN"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a:p>
            <a:r>
              <a:rPr lang="zh-CN" altLang="zh-CN"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目前，词义消歧常用的方法可以分为</a:t>
            </a:r>
            <a:r>
              <a:rPr lang="zh-CN" altLang="zh-CN" kern="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基于词典的词义消歧</a:t>
            </a:r>
            <a:r>
              <a:rPr lang="zh-CN" altLang="zh-CN"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a:t>
            </a:r>
            <a:r>
              <a:rPr lang="zh-CN" altLang="zh-CN" kern="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有监督的词义消歧</a:t>
            </a:r>
            <a:r>
              <a:rPr lang="zh-CN" altLang="zh-CN"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和</a:t>
            </a:r>
            <a:r>
              <a:rPr lang="zh-CN" altLang="zh-CN" kern="0" dirty="0">
                <a:solidFill>
                  <a:srgbClr val="7030A0"/>
                </a:solidFill>
                <a:latin typeface="Times New Roman" panose="02020603050405020304" pitchFamily="18" charset="0"/>
                <a:ea typeface="宋体" panose="02010600030101010101" pitchFamily="2" charset="-122"/>
                <a:cs typeface="Times New Roman" panose="02020603050405020304" pitchFamily="18" charset="0"/>
              </a:rPr>
              <a:t>无监督的词义消歧</a:t>
            </a:r>
            <a:r>
              <a:rPr lang="zh-CN" altLang="zh-CN"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等三种类型。</a:t>
            </a:r>
            <a:endParaRPr lang="zh-CN" altLang="en-US" sz="2000" dirty="0"/>
          </a:p>
        </p:txBody>
      </p:sp>
      <p:pic>
        <p:nvPicPr>
          <p:cNvPr id="3" name="Picture 2">
            <a:extLst>
              <a:ext uri="{FF2B5EF4-FFF2-40B4-BE49-F238E27FC236}">
                <a16:creationId xmlns:a16="http://schemas.microsoft.com/office/drawing/2014/main" id="{B35329A7-3E47-1F47-C6F7-14FC24EBCE8F}"/>
              </a:ext>
            </a:extLst>
          </p:cNvPr>
          <p:cNvPicPr>
            <a:picLocks noChangeAspect="1"/>
          </p:cNvPicPr>
          <p:nvPr/>
        </p:nvPicPr>
        <p:blipFill>
          <a:blip r:embed="rId3"/>
          <a:stretch>
            <a:fillRect/>
          </a:stretch>
        </p:blipFill>
        <p:spPr>
          <a:xfrm>
            <a:off x="2173287" y="3141938"/>
            <a:ext cx="7772400" cy="219271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960255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7" name="文本框 6"/>
          <p:cNvSpPr txBox="1"/>
          <p:nvPr/>
        </p:nvSpPr>
        <p:spPr>
          <a:xfrm>
            <a:off x="1104900" y="1508925"/>
            <a:ext cx="9980682" cy="2103140"/>
          </a:xfrm>
          <a:prstGeom prst="rect">
            <a:avLst/>
          </a:prstGeom>
          <a:noFill/>
        </p:spPr>
        <p:txBody>
          <a:bodyPr wrap="square" rtlCol="0">
            <a:spAutoFit/>
          </a:bodyPr>
          <a:lstStyle/>
          <a:p>
            <a:pPr marL="342900" indent="-342900">
              <a:buFont typeface="Arial" panose="020B0604020202020204" pitchFamily="34" charset="0"/>
              <a:buChar char="•"/>
            </a:pPr>
            <a:r>
              <a:rPr lang="zh-CN" altLang="en-US" sz="2000" dirty="0">
                <a:solidFill>
                  <a:srgbClr val="7030A0"/>
                </a:solidFill>
                <a:latin typeface="宋体" panose="02010600030101010101" pitchFamily="2" charset="-122"/>
                <a:ea typeface="宋体" panose="02010600030101010101" pitchFamily="2" charset="-122"/>
              </a:rPr>
              <a:t>语义角色标注</a:t>
            </a:r>
            <a:endParaRPr lang="en-US" altLang="zh-CN" sz="2000" dirty="0">
              <a:solidFill>
                <a:srgbClr val="7030A0"/>
              </a:solidFill>
              <a:latin typeface="宋体" panose="02010600030101010101" pitchFamily="2" charset="-122"/>
              <a:ea typeface="宋体" panose="02010600030101010101" pitchFamily="2" charset="-122"/>
            </a:endParaRPr>
          </a:p>
          <a:p>
            <a:pPr algn="just">
              <a:spcBef>
                <a:spcPts val="1000"/>
              </a:spcBef>
            </a:pPr>
            <a:r>
              <a:rPr lang="en-US" altLang="zh-CN" sz="2000" dirty="0">
                <a:latin typeface="宋体" panose="02010600030101010101" pitchFamily="2" charset="-122"/>
                <a:ea typeface="宋体" panose="02010600030101010101" pitchFamily="2" charset="-122"/>
              </a:rPr>
              <a:t>    </a:t>
            </a:r>
            <a:r>
              <a:rPr lang="zh-CN" altLang="zh-CN" dirty="0">
                <a:latin typeface="宋体" panose="02010600030101010101" pitchFamily="2" charset="-122"/>
                <a:ea typeface="宋体" panose="02010600030101010101" pitchFamily="2" charset="-122"/>
              </a:rPr>
              <a:t>语义角色标注的任务就是</a:t>
            </a:r>
            <a:r>
              <a:rPr lang="zh-CN" altLang="zh-CN" dirty="0">
                <a:solidFill>
                  <a:srgbClr val="0432FF"/>
                </a:solidFill>
                <a:latin typeface="宋体" panose="02010600030101010101" pitchFamily="2" charset="-122"/>
                <a:ea typeface="宋体" panose="02010600030101010101" pitchFamily="2" charset="-122"/>
              </a:rPr>
              <a:t>以句子的谓词为中心,研究句子中各成分与谓词之间的关系</a:t>
            </a:r>
            <a:r>
              <a:rPr lang="zh-CN" altLang="zh-CN" dirty="0">
                <a:latin typeface="宋体" panose="02010600030101010101" pitchFamily="2" charset="-122"/>
                <a:ea typeface="宋体" panose="02010600030101010101" pitchFamily="2" charset="-122"/>
              </a:rPr>
              <a:t>，并且用语义角色来描述它们之间的关系</a:t>
            </a:r>
            <a:r>
              <a:rPr lang="zh-CN" altLang="en-US" dirty="0">
                <a:latin typeface="宋体" panose="02010600030101010101" pitchFamily="2" charset="-122"/>
                <a:ea typeface="宋体" panose="02010600030101010101" pitchFamily="2" charset="-122"/>
              </a:rPr>
              <a:t>，即</a:t>
            </a:r>
            <a:r>
              <a:rPr lang="zh-CN" altLang="zh-CN" dirty="0">
                <a:latin typeface="宋体" panose="02010600030101010101" pitchFamily="2" charset="-122"/>
                <a:ea typeface="宋体" panose="02010600030101010101" pitchFamily="2" charset="-122"/>
              </a:rPr>
              <a:t>分析句子的谓词论元结构。</a:t>
            </a:r>
            <a:r>
              <a:rPr lang="zh-CN" altLang="en-US" dirty="0">
                <a:latin typeface="宋体" panose="02010600030101010101" pitchFamily="2" charset="-122"/>
                <a:ea typeface="宋体" panose="02010600030101010101" pitchFamily="2" charset="-122"/>
              </a:rPr>
              <a:t>论元是指跟谓词搭配的名词。每个动词都有自己的论元结构</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规定哪些论元是必需的</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哪些是任选的</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还规定论元在句子的语法功能</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如主语、宾语等</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以及论元与动词的语义关系</a:t>
            </a:r>
            <a:r>
              <a:rPr lang="en-US" altLang="zh-CN" dirty="0">
                <a:latin typeface="宋体" panose="02010600030101010101" pitchFamily="2" charset="-122"/>
                <a:ea typeface="宋体" panose="02010600030101010101" pitchFamily="2" charset="-122"/>
              </a:rPr>
              <a:t>(</a:t>
            </a:r>
            <a:r>
              <a:rPr lang="zh-CN" altLang="en-US" dirty="0">
                <a:latin typeface="宋体" panose="02010600030101010101" pitchFamily="2" charset="-122"/>
                <a:ea typeface="宋体" panose="02010600030101010101" pitchFamily="2" charset="-122"/>
              </a:rPr>
              <a:t>如施事、受事等</a:t>
            </a:r>
            <a:r>
              <a:rPr lang="en-US" altLang="zh-CN" dirty="0">
                <a:latin typeface="宋体" panose="02010600030101010101" pitchFamily="2" charset="-122"/>
                <a:ea typeface="宋体" panose="02010600030101010101" pitchFamily="2" charset="-122"/>
              </a:rPr>
              <a:t>)</a:t>
            </a:r>
          </a:p>
          <a:p>
            <a:pPr>
              <a:spcBef>
                <a:spcPts val="1000"/>
              </a:spcBef>
            </a:pPr>
            <a:r>
              <a:rPr lang="en-US" altLang="zh-CN" sz="2000" dirty="0"/>
              <a:t>    </a:t>
            </a:r>
            <a:r>
              <a:rPr lang="zh-CN" altLang="zh-CN" dirty="0"/>
              <a:t>语义角色标注是</a:t>
            </a:r>
            <a:r>
              <a:rPr lang="zh-CN" altLang="zh-CN" dirty="0">
                <a:solidFill>
                  <a:srgbClr val="0432FF"/>
                </a:solidFill>
              </a:rPr>
              <a:t>在句法分析的基础上进行的</a:t>
            </a:r>
            <a:r>
              <a:rPr lang="zh-CN" altLang="en-US" dirty="0"/>
              <a:t>，其一般过程如下：</a:t>
            </a:r>
            <a:endParaRPr lang="zh-CN" altLang="zh-CN" sz="2000" dirty="0">
              <a:latin typeface="宋体" panose="02010600030101010101" pitchFamily="2" charset="-122"/>
              <a:ea typeface="宋体" panose="02010600030101010101" pitchFamily="2" charset="-122"/>
            </a:endParaRPr>
          </a:p>
        </p:txBody>
      </p:sp>
      <p:pic>
        <p:nvPicPr>
          <p:cNvPr id="6" name="图片 5"/>
          <p:cNvPicPr/>
          <p:nvPr/>
        </p:nvPicPr>
        <p:blipFill rotWithShape="1">
          <a:blip r:embed="rId3">
            <a:extLst>
              <a:ext uri="{28A0092B-C50C-407E-A947-70E740481C1C}">
                <a14:useLocalDpi xmlns:a14="http://schemas.microsoft.com/office/drawing/2010/main" val="0"/>
              </a:ext>
            </a:extLst>
          </a:blip>
          <a:srcRect l="1838" t="16610" r="1821" b="16889"/>
          <a:stretch/>
        </p:blipFill>
        <p:spPr bwMode="auto">
          <a:xfrm>
            <a:off x="2579955" y="3905408"/>
            <a:ext cx="6959065" cy="730866"/>
          </a:xfrm>
          <a:prstGeom prst="rect">
            <a:avLst/>
          </a:prstGeom>
          <a:ln>
            <a:noFill/>
          </a:ln>
          <a:extLst>
            <a:ext uri="{53640926-AAD7-44D8-BBD7-CCE9431645EC}">
              <a14:shadowObscured xmlns:a14="http://schemas.microsoft.com/office/drawing/2010/main"/>
            </a:ext>
          </a:extLst>
        </p:spPr>
      </p:pic>
      <p:sp>
        <p:nvSpPr>
          <p:cNvPr id="5" name="矩形 4"/>
          <p:cNvSpPr/>
          <p:nvPr/>
        </p:nvSpPr>
        <p:spPr>
          <a:xfrm>
            <a:off x="1422533" y="4837284"/>
            <a:ext cx="9982199" cy="1631216"/>
          </a:xfrm>
          <a:prstGeom prst="rect">
            <a:avLst/>
          </a:prstGeom>
        </p:spPr>
        <p:txBody>
          <a:bodyPr wrap="square">
            <a:spAutoFit/>
          </a:bodyPr>
          <a:lstStyle/>
          <a:p>
            <a:r>
              <a:rPr lang="zh-CN" altLang="en-US" sz="2000" kern="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rPr>
              <a:t>       </a:t>
            </a:r>
            <a:r>
              <a:rPr lang="zh-CN" altLang="en-US" sz="2000" kern="0" dirty="0">
                <a:latin typeface="Times New Roman" panose="02020603050405020304" pitchFamily="18" charset="0"/>
                <a:ea typeface="宋体" panose="02010600030101010101" pitchFamily="2" charset="-122"/>
                <a:cs typeface="Times New Roman" panose="02020603050405020304" pitchFamily="18" charset="0"/>
              </a:rPr>
              <a:t>常用的语义角色标注方法有：</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 typeface="Wingdings" panose="05000000000000000000" pitchFamily="2" charset="2"/>
              <a:buChar char="ü"/>
            </a:pPr>
            <a:r>
              <a:rPr lang="zh-CN" altLang="zh-CN" sz="2000" kern="0" dirty="0">
                <a:latin typeface="Times New Roman" panose="02020603050405020304" pitchFamily="18" charset="0"/>
                <a:ea typeface="宋体" panose="02010600030101010101" pitchFamily="2" charset="-122"/>
                <a:cs typeface="Times New Roman" panose="02020603050405020304" pitchFamily="18" charset="0"/>
              </a:rPr>
              <a:t>基于特征向量的语义角色标注方法</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 typeface="Wingdings" panose="05000000000000000000" pitchFamily="2" charset="2"/>
              <a:buChar char="ü"/>
            </a:pPr>
            <a:r>
              <a:rPr lang="zh-CN" altLang="zh-CN" sz="2000" kern="0" dirty="0">
                <a:latin typeface="Times New Roman" panose="02020603050405020304" pitchFamily="18" charset="0"/>
                <a:ea typeface="宋体" panose="02010600030101010101" pitchFamily="2" charset="-122"/>
                <a:cs typeface="Times New Roman" panose="02020603050405020304" pitchFamily="18" charset="0"/>
              </a:rPr>
              <a:t>基于最大熵分类器的语义角色标注方法</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 typeface="Wingdings" panose="05000000000000000000" pitchFamily="2" charset="2"/>
              <a:buChar char="ü"/>
            </a:pPr>
            <a:r>
              <a:rPr lang="zh-CN" altLang="zh-CN" sz="2000" kern="0" dirty="0">
                <a:latin typeface="Times New Roman" panose="02020603050405020304" pitchFamily="18" charset="0"/>
                <a:ea typeface="宋体" panose="02010600030101010101" pitchFamily="2" charset="-122"/>
                <a:cs typeface="Times New Roman" panose="02020603050405020304" pitchFamily="18" charset="0"/>
              </a:rPr>
              <a:t>基于核函数的语义角色标注方法</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a:p>
            <a:pPr marL="342900" indent="-342900">
              <a:buFont typeface="Wingdings" panose="05000000000000000000" pitchFamily="2" charset="2"/>
              <a:buChar char="ü"/>
            </a:pPr>
            <a:r>
              <a:rPr lang="zh-CN" altLang="zh-CN" sz="2000" kern="0" dirty="0">
                <a:latin typeface="Times New Roman" panose="02020603050405020304" pitchFamily="18" charset="0"/>
                <a:ea typeface="宋体" panose="02010600030101010101" pitchFamily="2" charset="-122"/>
                <a:cs typeface="Times New Roman" panose="02020603050405020304" pitchFamily="18" charset="0"/>
              </a:rPr>
              <a:t>基于条件随机场的语义角色标注方法</a:t>
            </a:r>
            <a:endParaRPr lang="en-US" altLang="zh-CN" sz="2000" kern="0" dirty="0">
              <a:latin typeface="Times New Roman" panose="02020603050405020304" pitchFamily="18" charset="0"/>
              <a:ea typeface="宋体" panose="02010600030101010101" pitchFamily="2" charset="-122"/>
              <a:cs typeface="Times New Roman" panose="02020603050405020304" pitchFamily="18" charset="0"/>
            </a:endParaRPr>
          </a:p>
        </p:txBody>
      </p:sp>
      <p:sp>
        <p:nvSpPr>
          <p:cNvPr id="3" name="矩形 2"/>
          <p:cNvSpPr/>
          <p:nvPr/>
        </p:nvSpPr>
        <p:spPr>
          <a:xfrm>
            <a:off x="5530054" y="4782152"/>
            <a:ext cx="4314001" cy="400110"/>
          </a:xfrm>
          <a:prstGeom prst="rect">
            <a:avLst/>
          </a:prstGeom>
        </p:spPr>
        <p:txBody>
          <a:bodyPr wrap="none">
            <a:spAutoFit/>
          </a:bodyPr>
          <a:lstStyle/>
          <a:p>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方法的区别主要是</a:t>
            </a:r>
            <a:r>
              <a:rPr lang="zh-CN" altLang="zh-CN" sz="2000" b="1" kern="0" dirty="0">
                <a:latin typeface="Times New Roman" panose="02020603050405020304" pitchFamily="18" charset="0"/>
                <a:ea typeface="宋体" panose="02010600030101010101" pitchFamily="2" charset="-122"/>
                <a:cs typeface="Times New Roman" panose="02020603050405020304" pitchFamily="18" charset="0"/>
              </a:rPr>
              <a:t>论元剪除过程</a:t>
            </a:r>
            <a:r>
              <a:rPr lang="zh-CN" altLang="en-US" sz="2000" b="1" kern="0" dirty="0">
                <a:latin typeface="Times New Roman" panose="02020603050405020304" pitchFamily="18" charset="0"/>
                <a:ea typeface="宋体" panose="02010600030101010101" pitchFamily="2" charset="-122"/>
                <a:cs typeface="Times New Roman" panose="02020603050405020304" pitchFamily="18" charset="0"/>
              </a:rPr>
              <a:t>不同</a:t>
            </a:r>
            <a:endParaRPr lang="zh-CN" altLang="en-US" dirty="0"/>
          </a:p>
        </p:txBody>
      </p:sp>
    </p:spTree>
    <p:extLst>
      <p:ext uri="{BB962C8B-B14F-4D97-AF65-F5344CB8AC3E}">
        <p14:creationId xmlns:p14="http://schemas.microsoft.com/office/powerpoint/2010/main" val="19553919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7" name="文本框 6"/>
          <p:cNvSpPr txBox="1"/>
          <p:nvPr/>
        </p:nvSpPr>
        <p:spPr>
          <a:xfrm>
            <a:off x="1106418" y="1600200"/>
            <a:ext cx="9980682" cy="1143903"/>
          </a:xfrm>
          <a:prstGeom prst="rect">
            <a:avLst/>
          </a:prstGeom>
          <a:noFill/>
        </p:spPr>
        <p:txBody>
          <a:bodyPr wrap="square" rtlCol="0">
            <a:spAutoFit/>
          </a:bodyPr>
          <a:lstStyle/>
          <a:p>
            <a:pPr>
              <a:spcBef>
                <a:spcPts val="1000"/>
              </a:spcBef>
            </a:pPr>
            <a:r>
              <a:rPr lang="zh-CN" altLang="en-US" sz="2000" dirty="0">
                <a:solidFill>
                  <a:srgbClr val="0432FF"/>
                </a:solidFill>
              </a:rPr>
              <a:t>（</a:t>
            </a:r>
            <a:r>
              <a:rPr lang="en-US" altLang="zh-CN" sz="2000" dirty="0">
                <a:solidFill>
                  <a:srgbClr val="0432FF"/>
                </a:solidFill>
              </a:rPr>
              <a:t>4</a:t>
            </a:r>
            <a:r>
              <a:rPr lang="zh-CN" altLang="en-US" sz="2000" dirty="0">
                <a:solidFill>
                  <a:srgbClr val="0432FF"/>
                </a:solidFill>
              </a:rPr>
              <a:t>）自然语言分析实例</a:t>
            </a:r>
            <a:endParaRPr lang="en-US" altLang="zh-CN" sz="2000" dirty="0">
              <a:solidFill>
                <a:srgbClr val="0432FF"/>
              </a:solidFill>
            </a:endParaRPr>
          </a:p>
          <a:p>
            <a:pPr algn="just">
              <a:spcBef>
                <a:spcPts val="1000"/>
              </a:spcBef>
            </a:pPr>
            <a:r>
              <a:rPr lang="en-US" altLang="zh-CN" sz="2000" dirty="0"/>
              <a:t>    </a:t>
            </a:r>
            <a:r>
              <a:rPr lang="zh-CN" altLang="en-US" dirty="0"/>
              <a:t>以</a:t>
            </a:r>
            <a:r>
              <a:rPr lang="zh-CN" altLang="zh-CN" dirty="0"/>
              <a:t>“</a:t>
            </a:r>
            <a:r>
              <a:rPr lang="en-US" altLang="zh-CN" dirty="0"/>
              <a:t>NLP</a:t>
            </a:r>
            <a:r>
              <a:rPr lang="zh-CN" altLang="en-US" dirty="0"/>
              <a:t>是人工智能领域中的一个重要方向</a:t>
            </a:r>
            <a:r>
              <a:rPr lang="zh-CN" altLang="zh-CN" dirty="0"/>
              <a:t>。”</a:t>
            </a:r>
            <a:r>
              <a:rPr lang="zh-CN" altLang="en-US" dirty="0"/>
              <a:t>为例句，</a:t>
            </a:r>
            <a:r>
              <a:rPr lang="zh-CN" altLang="zh-CN" dirty="0"/>
              <a:t>以自然语言处理工具</a:t>
            </a:r>
            <a:r>
              <a:rPr lang="en-US" altLang="zh-CN" dirty="0"/>
              <a:t>LTP</a:t>
            </a:r>
            <a:r>
              <a:rPr lang="zh-CN" altLang="zh-CN" dirty="0"/>
              <a:t>在线演示平台为</a:t>
            </a:r>
            <a:r>
              <a:rPr lang="zh-CN" altLang="en-US" dirty="0"/>
              <a:t>工具</a:t>
            </a:r>
            <a:r>
              <a:rPr lang="zh-CN" altLang="zh-CN" dirty="0"/>
              <a:t>，展示几种常用的自然语言分析结果。</a:t>
            </a:r>
            <a:endParaRPr lang="en-US" altLang="zh-CN" sz="2000" dirty="0">
              <a:latin typeface="宋体" panose="02010600030101010101" pitchFamily="2" charset="-122"/>
              <a:ea typeface="宋体" panose="02010600030101010101" pitchFamily="2" charset="-122"/>
            </a:endParaRPr>
          </a:p>
        </p:txBody>
      </p:sp>
      <p:sp>
        <p:nvSpPr>
          <p:cNvPr id="3" name="文本框 2"/>
          <p:cNvSpPr txBox="1"/>
          <p:nvPr/>
        </p:nvSpPr>
        <p:spPr>
          <a:xfrm>
            <a:off x="1068388" y="2801809"/>
            <a:ext cx="9982200"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solidFill>
                  <a:srgbClr val="7030A0"/>
                </a:solidFill>
                <a:latin typeface="宋体" panose="02010600030101010101" pitchFamily="2" charset="-122"/>
                <a:ea typeface="宋体" panose="02010600030101010101" pitchFamily="2" charset="-122"/>
              </a:rPr>
              <a:t>分词及词性标注</a:t>
            </a:r>
          </a:p>
        </p:txBody>
      </p:sp>
      <p:sp>
        <p:nvSpPr>
          <p:cNvPr id="5" name="文本框 4"/>
          <p:cNvSpPr txBox="1"/>
          <p:nvPr/>
        </p:nvSpPr>
        <p:spPr>
          <a:xfrm>
            <a:off x="1201153" y="4476623"/>
            <a:ext cx="9980682" cy="707886"/>
          </a:xfrm>
          <a:prstGeom prst="rect">
            <a:avLst/>
          </a:prstGeom>
          <a:noFill/>
        </p:spPr>
        <p:txBody>
          <a:bodyPr wrap="square" rtlCol="0">
            <a:spAutoFit/>
          </a:bodyPr>
          <a:lstStyle/>
          <a:p>
            <a:r>
              <a:rPr lang="zh-CN" altLang="en-US" sz="2000" dirty="0"/>
              <a:t>    例句被切分为了</a:t>
            </a:r>
            <a:r>
              <a:rPr lang="en-US" altLang="zh-CN" sz="2000" dirty="0"/>
              <a:t>10</a:t>
            </a:r>
            <a:r>
              <a:rPr lang="zh-CN" altLang="en-US" sz="2000" dirty="0"/>
              <a:t>个词（包含标点符号），并且每个词后面跟有一个标注，该标注表明词语的词性</a:t>
            </a:r>
            <a:r>
              <a:rPr lang="zh-CN" altLang="en-US" dirty="0"/>
              <a:t>。</a:t>
            </a:r>
          </a:p>
        </p:txBody>
      </p:sp>
      <p:pic>
        <p:nvPicPr>
          <p:cNvPr id="6" name="图片 5"/>
          <p:cNvPicPr>
            <a:picLocks noChangeAspect="1"/>
          </p:cNvPicPr>
          <p:nvPr/>
        </p:nvPicPr>
        <p:blipFill>
          <a:blip r:embed="rId3"/>
          <a:stretch>
            <a:fillRect/>
          </a:stretch>
        </p:blipFill>
        <p:spPr>
          <a:xfrm>
            <a:off x="1701800" y="3346253"/>
            <a:ext cx="8715375" cy="87923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0015015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3" name="文本框 2"/>
          <p:cNvSpPr txBox="1"/>
          <p:nvPr/>
        </p:nvSpPr>
        <p:spPr>
          <a:xfrm>
            <a:off x="1068388" y="1567753"/>
            <a:ext cx="9982200"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solidFill>
                  <a:srgbClr val="7030A0"/>
                </a:solidFill>
                <a:latin typeface="宋体" panose="02010600030101010101" pitchFamily="2" charset="-122"/>
                <a:ea typeface="宋体" panose="02010600030101010101" pitchFamily="2" charset="-122"/>
              </a:rPr>
              <a:t>语义角色标注</a:t>
            </a:r>
          </a:p>
        </p:txBody>
      </p:sp>
      <p:sp>
        <p:nvSpPr>
          <p:cNvPr id="4" name="矩形 3"/>
          <p:cNvSpPr/>
          <p:nvPr/>
        </p:nvSpPr>
        <p:spPr>
          <a:xfrm>
            <a:off x="1563526" y="3948726"/>
            <a:ext cx="9354192" cy="1882823"/>
          </a:xfrm>
          <a:prstGeom prst="rect">
            <a:avLst/>
          </a:prstGeom>
        </p:spPr>
        <p:txBody>
          <a:bodyPr wrap="square">
            <a:spAutoFit/>
          </a:bodyPr>
          <a:lstStyle/>
          <a:p>
            <a:pPr indent="266700" algn="just">
              <a:lnSpc>
                <a:spcPct val="150000"/>
              </a:lnSpc>
              <a:spcAft>
                <a:spcPts val="0"/>
              </a:spcAft>
            </a:pPr>
            <a:r>
              <a:rPr lang="en-US" altLang="zh-CN" sz="2000" dirty="0"/>
              <a:t>LTP</a:t>
            </a:r>
            <a:r>
              <a:rPr lang="zh-CN" altLang="zh-CN" sz="2000" dirty="0"/>
              <a:t>语义角色标注中核心的语义角色为</a:t>
            </a:r>
            <a:r>
              <a:rPr lang="en-US" altLang="zh-CN" sz="2000" dirty="0">
                <a:solidFill>
                  <a:srgbClr val="7030A0"/>
                </a:solidFill>
              </a:rPr>
              <a:t>A0-A5</a:t>
            </a:r>
            <a:r>
              <a:rPr lang="zh-CN" altLang="zh-CN" sz="2000" dirty="0">
                <a:solidFill>
                  <a:srgbClr val="7030A0"/>
                </a:solidFill>
              </a:rPr>
              <a:t>六种</a:t>
            </a:r>
            <a:r>
              <a:rPr lang="zh-CN" altLang="zh-CN" sz="2000" dirty="0"/>
              <a:t>，</a:t>
            </a:r>
            <a:endParaRPr lang="en-US" altLang="zh-CN" sz="2000" dirty="0"/>
          </a:p>
          <a:p>
            <a:pPr marL="800100" lvl="1" indent="-342900" algn="just">
              <a:lnSpc>
                <a:spcPct val="150000"/>
              </a:lnSpc>
              <a:buFont typeface="Arial" panose="020B0604020202020204" pitchFamily="34" charset="0"/>
              <a:buChar char="•"/>
            </a:pPr>
            <a:r>
              <a:rPr lang="en-US" altLang="zh-CN" sz="2000" dirty="0">
                <a:solidFill>
                  <a:srgbClr val="0432FF"/>
                </a:solidFill>
              </a:rPr>
              <a:t>A0</a:t>
            </a:r>
            <a:r>
              <a:rPr lang="zh-CN" altLang="zh-CN" sz="2000" dirty="0"/>
              <a:t>通常表示</a:t>
            </a:r>
            <a:r>
              <a:rPr lang="zh-CN" altLang="zh-CN" sz="2000" dirty="0">
                <a:solidFill>
                  <a:srgbClr val="0432FF"/>
                </a:solidFill>
              </a:rPr>
              <a:t>动作的发动者</a:t>
            </a:r>
            <a:r>
              <a:rPr lang="zh-CN" altLang="zh-CN" sz="2000" dirty="0"/>
              <a:t>，</a:t>
            </a:r>
            <a:endParaRPr lang="en-US" altLang="zh-CN" sz="2000" dirty="0"/>
          </a:p>
          <a:p>
            <a:pPr marL="800100" lvl="1" indent="-342900" algn="just">
              <a:lnSpc>
                <a:spcPct val="150000"/>
              </a:lnSpc>
              <a:buFont typeface="Arial" panose="020B0604020202020204" pitchFamily="34" charset="0"/>
              <a:buChar char="•"/>
            </a:pPr>
            <a:r>
              <a:rPr lang="en-US" altLang="zh-CN" sz="2000" dirty="0">
                <a:solidFill>
                  <a:srgbClr val="0432FF"/>
                </a:solidFill>
              </a:rPr>
              <a:t>A1</a:t>
            </a:r>
            <a:r>
              <a:rPr lang="zh-CN" altLang="zh-CN" sz="2000" dirty="0"/>
              <a:t>通常表示动作的承受者，</a:t>
            </a:r>
            <a:endParaRPr lang="en-US" altLang="zh-CN" sz="2000" dirty="0"/>
          </a:p>
          <a:p>
            <a:pPr marL="800100" lvl="1" indent="-342900" algn="just">
              <a:lnSpc>
                <a:spcPct val="150000"/>
              </a:lnSpc>
              <a:buFont typeface="Arial" panose="020B0604020202020204" pitchFamily="34" charset="0"/>
              <a:buChar char="•"/>
            </a:pPr>
            <a:r>
              <a:rPr lang="en-US" altLang="zh-CN" sz="2000" dirty="0">
                <a:solidFill>
                  <a:srgbClr val="0432FF"/>
                </a:solidFill>
              </a:rPr>
              <a:t>A2-A5</a:t>
            </a:r>
            <a:r>
              <a:rPr lang="zh-CN" altLang="zh-CN" sz="2000" dirty="0"/>
              <a:t>根据谓语动词不同会有</a:t>
            </a:r>
            <a:r>
              <a:rPr lang="zh-CN" altLang="zh-CN" sz="2000" dirty="0">
                <a:solidFill>
                  <a:srgbClr val="0432FF"/>
                </a:solidFill>
              </a:rPr>
              <a:t>不同的语义含义</a:t>
            </a:r>
            <a:r>
              <a:rPr lang="zh-CN" altLang="zh-CN" sz="2000" dirty="0"/>
              <a:t>。</a:t>
            </a:r>
            <a:endParaRPr lang="zh-CN" altLang="zh-CN" sz="2000" dirty="0">
              <a:solidFill>
                <a:srgbClr val="000000"/>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p:cNvPicPr>
            <a:picLocks noChangeAspect="1"/>
          </p:cNvPicPr>
          <p:nvPr/>
        </p:nvPicPr>
        <p:blipFill>
          <a:blip r:embed="rId3"/>
          <a:stretch>
            <a:fillRect/>
          </a:stretch>
        </p:blipFill>
        <p:spPr>
          <a:xfrm>
            <a:off x="1457509" y="2230782"/>
            <a:ext cx="9120655" cy="159067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0052038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11.2 </a:t>
            </a:r>
            <a:r>
              <a:rPr lang="zh-CN" altLang="en-US" dirty="0"/>
              <a:t>自然语言处理方法</a:t>
            </a:r>
            <a:endParaRPr lang="en-US" dirty="0"/>
          </a:p>
        </p:txBody>
      </p:sp>
      <p:sp>
        <p:nvSpPr>
          <p:cNvPr id="3" name="文本框 2"/>
          <p:cNvSpPr txBox="1"/>
          <p:nvPr/>
        </p:nvSpPr>
        <p:spPr>
          <a:xfrm>
            <a:off x="1068388" y="1600200"/>
            <a:ext cx="9982200" cy="400110"/>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solidFill>
                  <a:srgbClr val="7030A0"/>
                </a:solidFill>
                <a:latin typeface="宋体" panose="02010600030101010101" pitchFamily="2" charset="-122"/>
                <a:ea typeface="宋体" panose="02010600030101010101" pitchFamily="2" charset="-122"/>
              </a:rPr>
              <a:t>依存句法分析</a:t>
            </a:r>
          </a:p>
        </p:txBody>
      </p:sp>
      <p:pic>
        <p:nvPicPr>
          <p:cNvPr id="5" name="图片 4"/>
          <p:cNvPicPr>
            <a:picLocks noChangeAspect="1"/>
          </p:cNvPicPr>
          <p:nvPr/>
        </p:nvPicPr>
        <p:blipFill>
          <a:blip r:embed="rId3"/>
          <a:stretch>
            <a:fillRect/>
          </a:stretch>
        </p:blipFill>
        <p:spPr>
          <a:xfrm>
            <a:off x="1399416" y="2440305"/>
            <a:ext cx="9391650" cy="234315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4306398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727348-06BB-2949-6283-0206EE17FAE0}"/>
              </a:ext>
            </a:extLst>
          </p:cNvPr>
          <p:cNvSpPr>
            <a:spLocks noGrp="1"/>
          </p:cNvSpPr>
          <p:nvPr>
            <p:ph type="title"/>
          </p:nvPr>
        </p:nvSpPr>
        <p:spPr/>
        <p:txBody>
          <a:bodyPr/>
          <a:lstStyle/>
          <a:p>
            <a:r>
              <a:rPr lang="zh-CN" altLang="en-US" b="1" dirty="0"/>
              <a:t>一、大模型对</a:t>
            </a:r>
            <a:r>
              <a:rPr lang="en-US" b="1" dirty="0"/>
              <a:t>NLP</a:t>
            </a:r>
            <a:r>
              <a:rPr lang="zh-CN" altLang="en-US" b="1" dirty="0"/>
              <a:t>任务的整体性影响</a:t>
            </a:r>
            <a:endParaRPr kumimoji="1" lang="zh-CN" altLang="en-US" dirty="0"/>
          </a:p>
        </p:txBody>
      </p:sp>
      <p:sp>
        <p:nvSpPr>
          <p:cNvPr id="4" name="TextBox 3">
            <a:extLst>
              <a:ext uri="{FF2B5EF4-FFF2-40B4-BE49-F238E27FC236}">
                <a16:creationId xmlns:a16="http://schemas.microsoft.com/office/drawing/2014/main" id="{24E1D5FC-8EC9-3929-FDEA-8E63962AC50B}"/>
              </a:ext>
            </a:extLst>
          </p:cNvPr>
          <p:cNvSpPr txBox="1"/>
          <p:nvPr/>
        </p:nvSpPr>
        <p:spPr>
          <a:xfrm>
            <a:off x="705507" y="1312883"/>
            <a:ext cx="10183210" cy="4612288"/>
          </a:xfrm>
          <a:prstGeom prst="rect">
            <a:avLst/>
          </a:prstGeom>
          <a:noFill/>
        </p:spPr>
        <p:txBody>
          <a:bodyPr wrap="square">
            <a:spAutoFit/>
          </a:bodyPr>
          <a:lstStyle/>
          <a:p>
            <a:pPr>
              <a:lnSpc>
                <a:spcPct val="150000"/>
              </a:lnSpc>
              <a:buNone/>
            </a:pPr>
            <a:r>
              <a:rPr lang="en-CN" b="1" dirty="0"/>
              <a:t>✅ </a:t>
            </a:r>
            <a:r>
              <a:rPr lang="zh-CN" altLang="en-US" b="1" dirty="0">
                <a:solidFill>
                  <a:srgbClr val="C00000"/>
                </a:solidFill>
              </a:rPr>
              <a:t>从分散任务到统一范式</a:t>
            </a:r>
          </a:p>
          <a:p>
            <a:pPr marL="285750" indent="-285750">
              <a:lnSpc>
                <a:spcPct val="150000"/>
              </a:lnSpc>
              <a:buFont typeface="Arial" panose="020B0604020202020204" pitchFamily="34" charset="0"/>
              <a:buChar char="•"/>
            </a:pPr>
            <a:r>
              <a:rPr lang="zh-CN" altLang="en-US" b="1" dirty="0"/>
              <a:t>传统</a:t>
            </a:r>
            <a:r>
              <a:rPr lang="en-US" b="1" dirty="0"/>
              <a:t>NLP</a:t>
            </a:r>
            <a:r>
              <a:rPr lang="en-US" dirty="0"/>
              <a:t>：</a:t>
            </a:r>
            <a:r>
              <a:rPr lang="zh-CN" altLang="en-US" dirty="0"/>
              <a:t>处理自然语言通常被拆分为若干子任务，每个任务都有特定的算法和流程，例如：</a:t>
            </a:r>
          </a:p>
          <a:p>
            <a:pPr marL="742950" lvl="1" indent="-285750">
              <a:lnSpc>
                <a:spcPct val="150000"/>
              </a:lnSpc>
              <a:buFont typeface="Arial" panose="020B0604020202020204" pitchFamily="34" charset="0"/>
              <a:buChar char="•"/>
            </a:pPr>
            <a:r>
              <a:rPr lang="zh-CN" altLang="en-US" b="1" dirty="0"/>
              <a:t>词法分析</a:t>
            </a:r>
            <a:r>
              <a:rPr lang="zh-CN" altLang="en-US" dirty="0"/>
              <a:t>（分词、词性标注）：基于规则、统计或</a:t>
            </a:r>
            <a:r>
              <a:rPr lang="en-US" dirty="0"/>
              <a:t>HMM</a:t>
            </a:r>
            <a:r>
              <a:rPr lang="zh-CN" altLang="en-US" dirty="0"/>
              <a:t>模型；</a:t>
            </a:r>
          </a:p>
          <a:p>
            <a:pPr marL="742950" lvl="1" indent="-285750">
              <a:lnSpc>
                <a:spcPct val="150000"/>
              </a:lnSpc>
              <a:buFont typeface="Arial" panose="020B0604020202020204" pitchFamily="34" charset="0"/>
              <a:buChar char="•"/>
            </a:pPr>
            <a:r>
              <a:rPr lang="zh-CN" altLang="en-US" b="1" dirty="0"/>
              <a:t>句法分析</a:t>
            </a:r>
            <a:r>
              <a:rPr lang="zh-CN" altLang="en-US" dirty="0"/>
              <a:t>：使用上下文无关文法（</a:t>
            </a:r>
            <a:r>
              <a:rPr lang="en-US" dirty="0"/>
              <a:t>CFG）、</a:t>
            </a:r>
            <a:r>
              <a:rPr lang="zh-CN" altLang="en-US" dirty="0"/>
              <a:t>依存句法树等；</a:t>
            </a:r>
          </a:p>
          <a:p>
            <a:pPr marL="742950" lvl="1" indent="-285750">
              <a:lnSpc>
                <a:spcPct val="150000"/>
              </a:lnSpc>
              <a:buFont typeface="Arial" panose="020B0604020202020204" pitchFamily="34" charset="0"/>
              <a:buChar char="•"/>
            </a:pPr>
            <a:r>
              <a:rPr lang="zh-CN" altLang="en-US" b="1" dirty="0"/>
              <a:t>语义分析</a:t>
            </a:r>
            <a:r>
              <a:rPr lang="zh-CN" altLang="en-US" dirty="0"/>
              <a:t>：引入语义角色标注、词义消歧等模块；</a:t>
            </a:r>
          </a:p>
          <a:p>
            <a:pPr marL="742950" lvl="1" indent="-285750">
              <a:lnSpc>
                <a:spcPct val="150000"/>
              </a:lnSpc>
              <a:buFont typeface="Arial" panose="020B0604020202020204" pitchFamily="34" charset="0"/>
              <a:buChar char="•"/>
            </a:pPr>
            <a:r>
              <a:rPr lang="zh-CN" altLang="en-US" b="1" dirty="0"/>
              <a:t>情感分析、命名实体识别、问答、翻译等</a:t>
            </a:r>
            <a:r>
              <a:rPr lang="zh-CN" altLang="en-US" dirty="0"/>
              <a:t>：多依赖特定特征工程和模型设计。</a:t>
            </a:r>
          </a:p>
          <a:p>
            <a:pPr marL="285750" indent="-285750">
              <a:lnSpc>
                <a:spcPct val="150000"/>
              </a:lnSpc>
              <a:buFont typeface="Arial" panose="020B0604020202020204" pitchFamily="34" charset="0"/>
              <a:buChar char="•"/>
            </a:pPr>
            <a:r>
              <a:rPr lang="zh-CN" altLang="en-US" b="1" dirty="0"/>
              <a:t>大模型（如</a:t>
            </a:r>
            <a:r>
              <a:rPr lang="en-US" b="1" dirty="0"/>
              <a:t>GPT、T5、BERT</a:t>
            </a:r>
            <a:r>
              <a:rPr lang="zh-CN" altLang="en-US" b="1" dirty="0"/>
              <a:t>等）</a:t>
            </a:r>
            <a:r>
              <a:rPr lang="zh-CN" altLang="en-US" dirty="0"/>
              <a:t>：使用**</a:t>
            </a:r>
            <a:r>
              <a:rPr lang="zh-CN" altLang="en-US" b="1" dirty="0">
                <a:solidFill>
                  <a:srgbClr val="0432FF"/>
                </a:solidFill>
              </a:rPr>
              <a:t>预训练</a:t>
            </a:r>
            <a:r>
              <a:rPr lang="en-US" altLang="zh-CN" b="1" dirty="0">
                <a:solidFill>
                  <a:srgbClr val="0432FF"/>
                </a:solidFill>
              </a:rPr>
              <a:t>-</a:t>
            </a:r>
            <a:r>
              <a:rPr lang="zh-CN" altLang="en-US" b="1" dirty="0">
                <a:solidFill>
                  <a:srgbClr val="0432FF"/>
                </a:solidFill>
              </a:rPr>
              <a:t>微调（或指令微调）</a:t>
            </a:r>
            <a:r>
              <a:rPr lang="zh-CN" altLang="en-US" dirty="0"/>
              <a:t>**的</a:t>
            </a:r>
            <a:r>
              <a:rPr lang="zh-CN" altLang="en-US" dirty="0">
                <a:solidFill>
                  <a:srgbClr val="C00000"/>
                </a:solidFill>
              </a:rPr>
              <a:t>统一架构</a:t>
            </a:r>
            <a:r>
              <a:rPr lang="zh-CN" altLang="en-US" dirty="0"/>
              <a:t>，实现“</a:t>
            </a:r>
            <a:r>
              <a:rPr lang="zh-CN" altLang="en-US" dirty="0">
                <a:solidFill>
                  <a:srgbClr val="C00000"/>
                </a:solidFill>
              </a:rPr>
              <a:t>一模多能</a:t>
            </a:r>
            <a:r>
              <a:rPr lang="zh-CN" altLang="en-US" dirty="0"/>
              <a:t>”：</a:t>
            </a:r>
          </a:p>
          <a:p>
            <a:pPr marL="742950" lvl="1" indent="-285750">
              <a:lnSpc>
                <a:spcPct val="150000"/>
              </a:lnSpc>
              <a:buFont typeface="Arial" panose="020B0604020202020204" pitchFamily="34" charset="0"/>
              <a:buChar char="•"/>
            </a:pPr>
            <a:r>
              <a:rPr lang="zh-CN" altLang="en-US" dirty="0"/>
              <a:t>不再区分每个任务的专用结构，而是通过</a:t>
            </a:r>
            <a:r>
              <a:rPr lang="zh-CN" altLang="en-US" b="1" dirty="0"/>
              <a:t>语言建模能力</a:t>
            </a:r>
            <a:r>
              <a:rPr lang="zh-CN" altLang="en-US" dirty="0"/>
              <a:t>，学会如何理解和生成语言；</a:t>
            </a:r>
          </a:p>
          <a:p>
            <a:pPr marL="742950" lvl="1" indent="-285750">
              <a:lnSpc>
                <a:spcPct val="150000"/>
              </a:lnSpc>
              <a:buFont typeface="Arial" panose="020B0604020202020204" pitchFamily="34" charset="0"/>
              <a:buChar char="•"/>
            </a:pPr>
            <a:r>
              <a:rPr lang="zh-CN" altLang="en-US" dirty="0"/>
              <a:t>多个任务可以通过“自然语言指令”统一建模（即 </a:t>
            </a:r>
            <a:r>
              <a:rPr lang="en-US" dirty="0"/>
              <a:t>prompt-based learning）；</a:t>
            </a:r>
          </a:p>
          <a:p>
            <a:pPr marL="742950" lvl="1" indent="-285750">
              <a:lnSpc>
                <a:spcPct val="150000"/>
              </a:lnSpc>
              <a:buFont typeface="Arial" panose="020B0604020202020204" pitchFamily="34" charset="0"/>
              <a:buChar char="•"/>
            </a:pPr>
            <a:r>
              <a:rPr lang="zh-CN" altLang="en-US" dirty="0"/>
              <a:t>微调方式（或零样本</a:t>
            </a:r>
            <a:r>
              <a:rPr lang="en-US" altLang="zh-CN" dirty="0"/>
              <a:t>/</a:t>
            </a:r>
            <a:r>
              <a:rPr lang="zh-CN" altLang="en-US" dirty="0"/>
              <a:t>少样本学习）替代了过去的特征工程和任务特定模型。</a:t>
            </a:r>
          </a:p>
        </p:txBody>
      </p:sp>
    </p:spTree>
    <p:extLst>
      <p:ext uri="{BB962C8B-B14F-4D97-AF65-F5344CB8AC3E}">
        <p14:creationId xmlns:p14="http://schemas.microsoft.com/office/powerpoint/2010/main" val="2897538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A0871F-357D-94ED-45E3-8D180EAB5E39}"/>
              </a:ext>
            </a:extLst>
          </p:cNvPr>
          <p:cNvSpPr>
            <a:spLocks noGrp="1"/>
          </p:cNvSpPr>
          <p:nvPr>
            <p:ph type="title"/>
          </p:nvPr>
        </p:nvSpPr>
        <p:spPr/>
        <p:txBody>
          <a:bodyPr/>
          <a:lstStyle/>
          <a:p>
            <a:r>
              <a:rPr lang="zh-CN" altLang="en-US" b="1" dirty="0"/>
              <a:t>二、原理上的本质差异</a:t>
            </a:r>
            <a:endParaRPr kumimoji="1" lang="zh-CN" altLang="en-US" dirty="0"/>
          </a:p>
        </p:txBody>
      </p:sp>
      <p:pic>
        <p:nvPicPr>
          <p:cNvPr id="3" name="Picture 2">
            <a:extLst>
              <a:ext uri="{FF2B5EF4-FFF2-40B4-BE49-F238E27FC236}">
                <a16:creationId xmlns:a16="http://schemas.microsoft.com/office/drawing/2014/main" id="{9D25F612-7927-D01D-B6FD-1FC6BB8FB7B1}"/>
              </a:ext>
            </a:extLst>
          </p:cNvPr>
          <p:cNvPicPr>
            <a:picLocks noChangeAspect="1"/>
          </p:cNvPicPr>
          <p:nvPr/>
        </p:nvPicPr>
        <p:blipFill>
          <a:blip r:embed="rId2"/>
          <a:stretch>
            <a:fillRect/>
          </a:stretch>
        </p:blipFill>
        <p:spPr>
          <a:xfrm>
            <a:off x="1459317" y="2192627"/>
            <a:ext cx="9273366" cy="279978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8249442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D0389E-86E1-3CC3-FE88-3A55019AE5EE}"/>
              </a:ext>
            </a:extLst>
          </p:cNvPr>
          <p:cNvSpPr>
            <a:spLocks noGrp="1"/>
          </p:cNvSpPr>
          <p:nvPr>
            <p:ph type="title"/>
          </p:nvPr>
        </p:nvSpPr>
        <p:spPr/>
        <p:txBody>
          <a:bodyPr/>
          <a:lstStyle/>
          <a:p>
            <a:r>
              <a:rPr lang="zh-CN" altLang="en-US" b="1" dirty="0"/>
              <a:t>三、统一模式如何解决传统任务？</a:t>
            </a:r>
            <a:endParaRPr kumimoji="1" lang="zh-CN" altLang="en-US" dirty="0"/>
          </a:p>
        </p:txBody>
      </p:sp>
      <p:pic>
        <p:nvPicPr>
          <p:cNvPr id="3" name="Picture 2">
            <a:extLst>
              <a:ext uri="{FF2B5EF4-FFF2-40B4-BE49-F238E27FC236}">
                <a16:creationId xmlns:a16="http://schemas.microsoft.com/office/drawing/2014/main" id="{5CB8F261-FC18-C688-59C4-77D7AD77011C}"/>
              </a:ext>
            </a:extLst>
          </p:cNvPr>
          <p:cNvPicPr>
            <a:picLocks noChangeAspect="1"/>
          </p:cNvPicPr>
          <p:nvPr/>
        </p:nvPicPr>
        <p:blipFill>
          <a:blip r:embed="rId2"/>
          <a:stretch>
            <a:fillRect/>
          </a:stretch>
        </p:blipFill>
        <p:spPr>
          <a:xfrm>
            <a:off x="1171668" y="1668124"/>
            <a:ext cx="9848663" cy="425500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443488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3B2CE1-5168-6F98-F520-08D9C1D2B9E1}"/>
              </a:ext>
            </a:extLst>
          </p:cNvPr>
          <p:cNvSpPr>
            <a:spLocks noGrp="1"/>
          </p:cNvSpPr>
          <p:nvPr>
            <p:ph type="title"/>
          </p:nvPr>
        </p:nvSpPr>
        <p:spPr/>
        <p:txBody>
          <a:bodyPr/>
          <a:lstStyle/>
          <a:p>
            <a:r>
              <a:rPr lang="zh-CN" altLang="en-US" b="1" dirty="0"/>
              <a:t>四、大模型的统一范式：</a:t>
            </a:r>
            <a:r>
              <a:rPr lang="en-US" b="1" dirty="0">
                <a:solidFill>
                  <a:srgbClr val="C00000"/>
                </a:solidFill>
              </a:rPr>
              <a:t>Prompt+</a:t>
            </a:r>
            <a:r>
              <a:rPr lang="zh-CN" altLang="en-US" b="1" dirty="0">
                <a:solidFill>
                  <a:srgbClr val="C00000"/>
                </a:solidFill>
              </a:rPr>
              <a:t>生成</a:t>
            </a:r>
            <a:r>
              <a:rPr lang="en-US" altLang="zh-CN" b="1" dirty="0">
                <a:solidFill>
                  <a:srgbClr val="00B050"/>
                </a:solidFill>
              </a:rPr>
              <a:t>=</a:t>
            </a:r>
            <a:r>
              <a:rPr lang="zh-CN" altLang="en-US" b="1" dirty="0">
                <a:solidFill>
                  <a:srgbClr val="C00000"/>
                </a:solidFill>
              </a:rPr>
              <a:t>多任务统一处理</a:t>
            </a:r>
            <a:endParaRPr kumimoji="1" lang="zh-CN" altLang="en-US" dirty="0">
              <a:solidFill>
                <a:srgbClr val="C00000"/>
              </a:solidFill>
            </a:endParaRPr>
          </a:p>
        </p:txBody>
      </p:sp>
      <p:sp>
        <p:nvSpPr>
          <p:cNvPr id="4" name="TextBox 3">
            <a:extLst>
              <a:ext uri="{FF2B5EF4-FFF2-40B4-BE49-F238E27FC236}">
                <a16:creationId xmlns:a16="http://schemas.microsoft.com/office/drawing/2014/main" id="{10B0F0FD-10E2-6115-7326-2AB29894A773}"/>
              </a:ext>
            </a:extLst>
          </p:cNvPr>
          <p:cNvSpPr txBox="1"/>
          <p:nvPr/>
        </p:nvSpPr>
        <p:spPr>
          <a:xfrm>
            <a:off x="946623" y="1442662"/>
            <a:ext cx="9980682" cy="1703800"/>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b="1" dirty="0">
                <a:solidFill>
                  <a:srgbClr val="C00000"/>
                </a:solidFill>
              </a:rPr>
              <a:t>Prompt</a:t>
            </a:r>
            <a:r>
              <a:rPr lang="zh-CN" altLang="en-US" b="1" dirty="0">
                <a:solidFill>
                  <a:srgbClr val="C00000"/>
                </a:solidFill>
              </a:rPr>
              <a:t>范式</a:t>
            </a:r>
            <a:r>
              <a:rPr lang="zh-CN" altLang="en-US" dirty="0"/>
              <a:t>：大模型通过自然语言 </a:t>
            </a:r>
            <a:r>
              <a:rPr lang="en-US" dirty="0"/>
              <a:t>prompt </a:t>
            </a:r>
            <a:r>
              <a:rPr lang="zh-CN" altLang="en-US" dirty="0"/>
              <a:t>实现任务描述，不再需要为每个任务设计复杂结构；</a:t>
            </a:r>
          </a:p>
          <a:p>
            <a:pPr marL="285750" indent="-285750">
              <a:lnSpc>
                <a:spcPct val="150000"/>
              </a:lnSpc>
              <a:buFont typeface="Arial" panose="020B0604020202020204" pitchFamily="34" charset="0"/>
              <a:buChar char="•"/>
            </a:pPr>
            <a:r>
              <a:rPr lang="en-US" b="1" dirty="0">
                <a:solidFill>
                  <a:srgbClr val="C00000"/>
                </a:solidFill>
              </a:rPr>
              <a:t>Few-shot / Zero-shot </a:t>
            </a:r>
            <a:r>
              <a:rPr lang="zh-CN" altLang="en-US" b="1" dirty="0">
                <a:solidFill>
                  <a:srgbClr val="C00000"/>
                </a:solidFill>
              </a:rPr>
              <a:t>学习</a:t>
            </a:r>
            <a:r>
              <a:rPr lang="zh-CN" altLang="en-US" dirty="0"/>
              <a:t>：大模型可以在无需微调的情况下，通过上下文示例或指令完成多种任务；</a:t>
            </a:r>
          </a:p>
          <a:p>
            <a:pPr marL="285750" indent="-285750">
              <a:lnSpc>
                <a:spcPct val="150000"/>
              </a:lnSpc>
              <a:buFont typeface="Arial" panose="020B0604020202020204" pitchFamily="34" charset="0"/>
              <a:buChar char="•"/>
            </a:pPr>
            <a:r>
              <a:rPr lang="zh-CN" altLang="en-US" b="1" dirty="0">
                <a:solidFill>
                  <a:srgbClr val="C00000"/>
                </a:solidFill>
              </a:rPr>
              <a:t>文本到文本的泛化能力</a:t>
            </a:r>
            <a:r>
              <a:rPr lang="zh-CN" altLang="en-US" dirty="0"/>
              <a:t>：所有任务都被建模为“</a:t>
            </a:r>
            <a:r>
              <a:rPr lang="zh-CN" altLang="en-US" dirty="0">
                <a:solidFill>
                  <a:srgbClr val="00B050"/>
                </a:solidFill>
              </a:rPr>
              <a:t>理解输入 → 生成输出</a:t>
            </a:r>
            <a:r>
              <a:rPr lang="zh-CN" altLang="en-US" dirty="0"/>
              <a:t>”的流程。</a:t>
            </a:r>
          </a:p>
        </p:txBody>
      </p:sp>
      <p:pic>
        <p:nvPicPr>
          <p:cNvPr id="5" name="Picture 4">
            <a:extLst>
              <a:ext uri="{FF2B5EF4-FFF2-40B4-BE49-F238E27FC236}">
                <a16:creationId xmlns:a16="http://schemas.microsoft.com/office/drawing/2014/main" id="{E47BBA52-2368-AAE3-3689-B5F619EE1220}"/>
              </a:ext>
            </a:extLst>
          </p:cNvPr>
          <p:cNvPicPr>
            <a:picLocks noChangeAspect="1"/>
          </p:cNvPicPr>
          <p:nvPr/>
        </p:nvPicPr>
        <p:blipFill>
          <a:blip r:embed="rId2"/>
          <a:stretch>
            <a:fillRect/>
          </a:stretch>
        </p:blipFill>
        <p:spPr>
          <a:xfrm>
            <a:off x="3590436" y="3560762"/>
            <a:ext cx="5011128" cy="204846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60539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en-US" dirty="0"/>
              <a:t>1</a:t>
            </a:r>
            <a:r>
              <a:rPr lang="en-US" altLang="zh-CN" dirty="0"/>
              <a:t>1</a:t>
            </a:r>
            <a:r>
              <a:rPr lang="en-US" dirty="0"/>
              <a:t>.</a:t>
            </a:r>
            <a:r>
              <a:rPr lang="en-US" altLang="zh-CN" dirty="0"/>
              <a:t>3</a:t>
            </a:r>
            <a:r>
              <a:rPr lang="en-US" dirty="0"/>
              <a:t> </a:t>
            </a:r>
            <a:r>
              <a:rPr lang="zh-CN" altLang="en-US" dirty="0"/>
              <a:t>自然语言处理常用工具库</a:t>
            </a:r>
            <a:endParaRPr lang="en-US" dirty="0"/>
          </a:p>
        </p:txBody>
      </p:sp>
      <p:sp>
        <p:nvSpPr>
          <p:cNvPr id="4" name="文本占位符 3"/>
          <p:cNvSpPr>
            <a:spLocks noGrp="1"/>
          </p:cNvSpPr>
          <p:nvPr>
            <p:ph type="body" idx="1"/>
          </p:nvPr>
        </p:nvSpPr>
        <p:spPr/>
        <p:txBody>
          <a:bodyPr/>
          <a:lstStyle/>
          <a:p>
            <a:endParaRPr lang="zh-CN" altLang="en-US" dirty="0"/>
          </a:p>
        </p:txBody>
      </p:sp>
    </p:spTree>
    <p:extLst>
      <p:ext uri="{BB962C8B-B14F-4D97-AF65-F5344CB8AC3E}">
        <p14:creationId xmlns:p14="http://schemas.microsoft.com/office/powerpoint/2010/main" val="2494304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1</a:t>
            </a:r>
            <a:r>
              <a:rPr lang="en-US" altLang="zh-CN" dirty="0"/>
              <a:t>1</a:t>
            </a:r>
            <a:r>
              <a:rPr lang="en-US" dirty="0"/>
              <a:t>.</a:t>
            </a:r>
            <a:r>
              <a:rPr lang="en-US" altLang="zh-CN" dirty="0"/>
              <a:t>3</a:t>
            </a:r>
            <a:r>
              <a:rPr lang="en-US" dirty="0"/>
              <a:t> </a:t>
            </a:r>
            <a:r>
              <a:rPr lang="zh-CN" altLang="en-US" dirty="0"/>
              <a:t>自然语言处理常用工具库</a:t>
            </a:r>
            <a:endParaRPr lang="en-US" dirty="0"/>
          </a:p>
        </p:txBody>
      </p:sp>
      <p:sp>
        <p:nvSpPr>
          <p:cNvPr id="3" name="文本框 2"/>
          <p:cNvSpPr txBox="1"/>
          <p:nvPr/>
        </p:nvSpPr>
        <p:spPr>
          <a:xfrm>
            <a:off x="918263" y="1255403"/>
            <a:ext cx="9982200" cy="1842299"/>
          </a:xfrm>
          <a:prstGeom prst="rect">
            <a:avLst/>
          </a:prstGeom>
          <a:noFill/>
        </p:spPr>
        <p:txBody>
          <a:bodyPr wrap="square" rtlCol="0">
            <a:spAutoFit/>
          </a:bodyPr>
          <a:lstStyle/>
          <a:p>
            <a:pPr>
              <a:lnSpc>
                <a:spcPct val="150000"/>
              </a:lnSpc>
            </a:pPr>
            <a:r>
              <a:rPr lang="zh-CN" altLang="en-US" sz="2400" dirty="0">
                <a:solidFill>
                  <a:srgbClr val="0432FF"/>
                </a:solidFill>
              </a:rPr>
              <a:t>（</a:t>
            </a:r>
            <a:r>
              <a:rPr lang="en-US" altLang="zh-CN" sz="2400" dirty="0">
                <a:solidFill>
                  <a:srgbClr val="0432FF"/>
                </a:solidFill>
              </a:rPr>
              <a:t>1</a:t>
            </a:r>
            <a:r>
              <a:rPr lang="zh-CN" altLang="en-US" sz="2400" dirty="0">
                <a:solidFill>
                  <a:srgbClr val="0432FF"/>
                </a:solidFill>
              </a:rPr>
              <a:t>）</a:t>
            </a:r>
            <a:r>
              <a:rPr lang="en-US" altLang="zh-CN" sz="2400" dirty="0">
                <a:solidFill>
                  <a:srgbClr val="0432FF"/>
                </a:solidFill>
              </a:rPr>
              <a:t>NLTK</a:t>
            </a:r>
          </a:p>
          <a:p>
            <a:pPr algn="just">
              <a:lnSpc>
                <a:spcPct val="150000"/>
              </a:lnSpc>
            </a:pPr>
            <a:r>
              <a:rPr lang="en-US" altLang="zh-CN" dirty="0"/>
              <a:t>    NLTK</a:t>
            </a:r>
            <a:r>
              <a:rPr lang="zh-CN" altLang="en-US" dirty="0"/>
              <a:t>是一个高效的</a:t>
            </a:r>
            <a:r>
              <a:rPr lang="en-US" altLang="zh-CN" dirty="0"/>
              <a:t>Python</a:t>
            </a:r>
            <a:r>
              <a:rPr lang="zh-CN" altLang="en-US" dirty="0"/>
              <a:t>构建的平台，用来处理人类自然语言数据。它提供了易于使用的接口，通过这些接口可以访问超过</a:t>
            </a:r>
            <a:r>
              <a:rPr lang="en-US" altLang="zh-CN" dirty="0"/>
              <a:t>50</a:t>
            </a:r>
            <a:r>
              <a:rPr lang="zh-CN" altLang="en-US" dirty="0"/>
              <a:t>个语料库和词汇资源（如</a:t>
            </a:r>
            <a:r>
              <a:rPr lang="en-US" altLang="zh-CN" dirty="0"/>
              <a:t>WordNet</a:t>
            </a:r>
            <a:r>
              <a:rPr lang="zh-CN" altLang="en-US" dirty="0"/>
              <a:t>），还有一套用于分类、标记化、词干标记、解析和语义推理的文本处理库。</a:t>
            </a:r>
            <a:endParaRPr lang="en-US" altLang="zh-CN" dirty="0"/>
          </a:p>
        </p:txBody>
      </p:sp>
      <p:pic>
        <p:nvPicPr>
          <p:cNvPr id="7" name="图片 6"/>
          <p:cNvPicPr/>
          <p:nvPr/>
        </p:nvPicPr>
        <p:blipFill rotWithShape="1">
          <a:blip r:embed="rId3">
            <a:extLst>
              <a:ext uri="{28A0092B-C50C-407E-A947-70E740481C1C}">
                <a14:useLocalDpi xmlns:a14="http://schemas.microsoft.com/office/drawing/2010/main" val="0"/>
              </a:ext>
            </a:extLst>
          </a:blip>
          <a:srcRect l="345" t="12755"/>
          <a:stretch/>
        </p:blipFill>
        <p:spPr>
          <a:xfrm>
            <a:off x="4704767" y="3097702"/>
            <a:ext cx="6624393" cy="3384985"/>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2F904921-5158-7B31-B28D-11D3C2902331}"/>
              </a:ext>
            </a:extLst>
          </p:cNvPr>
          <p:cNvPicPr>
            <a:picLocks noChangeAspect="1"/>
          </p:cNvPicPr>
          <p:nvPr/>
        </p:nvPicPr>
        <p:blipFill>
          <a:blip r:embed="rId4"/>
          <a:stretch>
            <a:fillRect/>
          </a:stretch>
        </p:blipFill>
        <p:spPr>
          <a:xfrm>
            <a:off x="1763765" y="5438866"/>
            <a:ext cx="2095500" cy="685800"/>
          </a:xfrm>
          <a:prstGeom prst="rect">
            <a:avLst/>
          </a:prstGeom>
          <a:effectLst>
            <a:outerShdw blurRad="63500" sx="102000" sy="102000" algn="ctr" rotWithShape="0">
              <a:prstClr val="black">
                <a:alpha val="40000"/>
              </a:prstClr>
            </a:outerShdw>
          </a:effectLst>
        </p:spPr>
      </p:pic>
      <p:sp>
        <p:nvSpPr>
          <p:cNvPr id="8" name="TextBox 7">
            <a:extLst>
              <a:ext uri="{FF2B5EF4-FFF2-40B4-BE49-F238E27FC236}">
                <a16:creationId xmlns:a16="http://schemas.microsoft.com/office/drawing/2014/main" id="{2F6F2595-EFD5-5D6C-18EF-7FABB7E4CB76}"/>
              </a:ext>
            </a:extLst>
          </p:cNvPr>
          <p:cNvSpPr txBox="1"/>
          <p:nvPr/>
        </p:nvSpPr>
        <p:spPr>
          <a:xfrm>
            <a:off x="918263" y="3097702"/>
            <a:ext cx="3786504" cy="2119298"/>
          </a:xfrm>
          <a:prstGeom prst="rect">
            <a:avLst/>
          </a:prstGeom>
          <a:noFill/>
        </p:spPr>
        <p:txBody>
          <a:bodyPr wrap="square">
            <a:spAutoFit/>
          </a:bodyPr>
          <a:lstStyle/>
          <a:p>
            <a:pPr marL="342900" indent="-342900" algn="just">
              <a:lnSpc>
                <a:spcPct val="150000"/>
              </a:lnSpc>
              <a:buFont typeface="Arial" panose="020B0604020202020204" pitchFamily="34" charset="0"/>
              <a:buChar char="•"/>
            </a:pPr>
            <a:r>
              <a:rPr lang="zh-CN" altLang="en-US" dirty="0">
                <a:solidFill>
                  <a:srgbClr val="7030A0"/>
                </a:solidFill>
              </a:rPr>
              <a:t>安装</a:t>
            </a:r>
            <a:r>
              <a:rPr lang="en-US" altLang="zh-CN" dirty="0">
                <a:solidFill>
                  <a:srgbClr val="7030A0"/>
                </a:solidFill>
              </a:rPr>
              <a:t>NLTK</a:t>
            </a:r>
          </a:p>
          <a:p>
            <a:pPr algn="just">
              <a:lnSpc>
                <a:spcPct val="150000"/>
              </a:lnSpc>
            </a:pPr>
            <a:r>
              <a:rPr lang="en-US" altLang="zh-CN" dirty="0"/>
              <a:t>    </a:t>
            </a:r>
            <a:r>
              <a:rPr lang="zh-CN" altLang="zh-CN" dirty="0"/>
              <a:t>使用</a:t>
            </a:r>
            <a:r>
              <a:rPr lang="en-US" altLang="zh-CN" dirty="0"/>
              <a:t>pip</a:t>
            </a:r>
            <a:r>
              <a:rPr lang="zh-CN" altLang="zh-CN" dirty="0"/>
              <a:t>来进行</a:t>
            </a:r>
            <a:r>
              <a:rPr lang="en-US" altLang="zh-CN" dirty="0"/>
              <a:t>NLTK</a:t>
            </a:r>
            <a:r>
              <a:rPr lang="zh-CN" altLang="zh-CN" dirty="0"/>
              <a:t>的安装：</a:t>
            </a:r>
            <a:r>
              <a:rPr lang="en-US" altLang="zh-CN" b="1" dirty="0">
                <a:solidFill>
                  <a:srgbClr val="7030A0"/>
                </a:solidFill>
              </a:rPr>
              <a:t>pip install </a:t>
            </a:r>
            <a:r>
              <a:rPr lang="en-US" altLang="zh-CN" b="1" dirty="0" err="1">
                <a:solidFill>
                  <a:srgbClr val="7030A0"/>
                </a:solidFill>
              </a:rPr>
              <a:t>nltk</a:t>
            </a:r>
            <a:r>
              <a:rPr lang="zh-CN" altLang="zh-CN" dirty="0"/>
              <a:t>；在安装完成后还可以下载</a:t>
            </a:r>
            <a:r>
              <a:rPr lang="en-US" altLang="zh-CN" dirty="0"/>
              <a:t>NLTK</a:t>
            </a:r>
            <a:r>
              <a:rPr lang="zh-CN" altLang="zh-CN" dirty="0"/>
              <a:t>提供的拓展包，这一步通过以下代码实现</a:t>
            </a:r>
            <a:r>
              <a:rPr lang="en-US" altLang="zh-CN" dirty="0"/>
              <a:t>:</a:t>
            </a:r>
            <a:endParaRPr lang="zh-CN" altLang="zh-CN" dirty="0"/>
          </a:p>
        </p:txBody>
      </p:sp>
    </p:spTree>
    <p:extLst>
      <p:ext uri="{BB962C8B-B14F-4D97-AF65-F5344CB8AC3E}">
        <p14:creationId xmlns:p14="http://schemas.microsoft.com/office/powerpoint/2010/main" val="34171182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11.3 </a:t>
            </a:r>
            <a:r>
              <a:rPr lang="zh-CN" altLang="en-US" dirty="0"/>
              <a:t>自然语言处理常用工具库</a:t>
            </a:r>
            <a:endParaRPr lang="en-US" dirty="0"/>
          </a:p>
        </p:txBody>
      </p:sp>
      <p:sp>
        <p:nvSpPr>
          <p:cNvPr id="3" name="文本框 2"/>
          <p:cNvSpPr txBox="1"/>
          <p:nvPr/>
        </p:nvSpPr>
        <p:spPr>
          <a:xfrm>
            <a:off x="1103382" y="1670037"/>
            <a:ext cx="9982200" cy="400110"/>
          </a:xfrm>
          <a:prstGeom prst="rect">
            <a:avLst/>
          </a:prstGeom>
          <a:noFill/>
        </p:spPr>
        <p:txBody>
          <a:bodyPr wrap="square" rtlCol="0">
            <a:spAutoFit/>
          </a:bodyPr>
          <a:lstStyle/>
          <a:p>
            <a:pPr marL="342900" indent="-342900" algn="just">
              <a:buFont typeface="Arial" panose="020B0604020202020204" pitchFamily="34" charset="0"/>
              <a:buChar char="•"/>
            </a:pPr>
            <a:r>
              <a:rPr lang="zh-CN" altLang="en-US" sz="2000" dirty="0">
                <a:solidFill>
                  <a:srgbClr val="7030A0"/>
                </a:solidFill>
              </a:rPr>
              <a:t>利用</a:t>
            </a:r>
            <a:r>
              <a:rPr lang="en-US" altLang="zh-CN" sz="2000" dirty="0">
                <a:solidFill>
                  <a:srgbClr val="7030A0"/>
                </a:solidFill>
              </a:rPr>
              <a:t>NLTK</a:t>
            </a:r>
            <a:r>
              <a:rPr lang="zh-CN" altLang="en-US" sz="2000" dirty="0">
                <a:solidFill>
                  <a:srgbClr val="7030A0"/>
                </a:solidFill>
              </a:rPr>
              <a:t>分句</a:t>
            </a:r>
            <a:endParaRPr lang="en-US" altLang="zh-CN" sz="2000" dirty="0">
              <a:solidFill>
                <a:srgbClr val="7030A0"/>
              </a:solidFill>
            </a:endParaRPr>
          </a:p>
        </p:txBody>
      </p:sp>
      <p:pic>
        <p:nvPicPr>
          <p:cNvPr id="4" name="Picture 3">
            <a:extLst>
              <a:ext uri="{FF2B5EF4-FFF2-40B4-BE49-F238E27FC236}">
                <a16:creationId xmlns:a16="http://schemas.microsoft.com/office/drawing/2014/main" id="{A83F2528-8E83-B1BC-22EA-1C2C3FEC8A6E}"/>
              </a:ext>
            </a:extLst>
          </p:cNvPr>
          <p:cNvPicPr>
            <a:picLocks noChangeAspect="1"/>
          </p:cNvPicPr>
          <p:nvPr/>
        </p:nvPicPr>
        <p:blipFill>
          <a:blip r:embed="rId3"/>
          <a:stretch>
            <a:fillRect/>
          </a:stretch>
        </p:blipFill>
        <p:spPr>
          <a:xfrm>
            <a:off x="698241" y="2567023"/>
            <a:ext cx="10795517" cy="172395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1579744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11.3 </a:t>
            </a:r>
            <a:r>
              <a:rPr lang="zh-CN" altLang="en-US" dirty="0"/>
              <a:t>自然语言处理常用工具库</a:t>
            </a:r>
            <a:endParaRPr lang="en-US" dirty="0"/>
          </a:p>
        </p:txBody>
      </p:sp>
      <p:sp>
        <p:nvSpPr>
          <p:cNvPr id="3" name="文本框 2"/>
          <p:cNvSpPr txBox="1"/>
          <p:nvPr/>
        </p:nvSpPr>
        <p:spPr>
          <a:xfrm>
            <a:off x="1068388" y="1400494"/>
            <a:ext cx="9982200" cy="400110"/>
          </a:xfrm>
          <a:prstGeom prst="rect">
            <a:avLst/>
          </a:prstGeom>
          <a:noFill/>
        </p:spPr>
        <p:txBody>
          <a:bodyPr wrap="square" rtlCol="0">
            <a:spAutoFit/>
          </a:bodyPr>
          <a:lstStyle/>
          <a:p>
            <a:pPr marL="342900" indent="-342900" algn="just">
              <a:buFont typeface="Arial" panose="020B0604020202020204" pitchFamily="34" charset="0"/>
              <a:buChar char="•"/>
            </a:pPr>
            <a:r>
              <a:rPr lang="zh-CN" altLang="en-US" sz="2000" dirty="0">
                <a:solidFill>
                  <a:srgbClr val="7030A0"/>
                </a:solidFill>
              </a:rPr>
              <a:t>利用</a:t>
            </a:r>
            <a:r>
              <a:rPr lang="en-US" altLang="zh-CN" sz="2000" dirty="0">
                <a:solidFill>
                  <a:srgbClr val="7030A0"/>
                </a:solidFill>
              </a:rPr>
              <a:t>NLTK</a:t>
            </a:r>
            <a:r>
              <a:rPr lang="zh-CN" altLang="en-US" sz="2000" dirty="0">
                <a:solidFill>
                  <a:srgbClr val="7030A0"/>
                </a:solidFill>
              </a:rPr>
              <a:t>分词</a:t>
            </a:r>
            <a:endParaRPr lang="en-US" altLang="zh-CN" sz="2000" dirty="0">
              <a:solidFill>
                <a:srgbClr val="7030A0"/>
              </a:solidFill>
            </a:endParaRPr>
          </a:p>
        </p:txBody>
      </p:sp>
      <p:sp>
        <p:nvSpPr>
          <p:cNvPr id="6" name="矩形 5"/>
          <p:cNvSpPr/>
          <p:nvPr/>
        </p:nvSpPr>
        <p:spPr>
          <a:xfrm>
            <a:off x="1305002" y="4127457"/>
            <a:ext cx="9908337" cy="923330"/>
          </a:xfrm>
          <a:prstGeom prst="rect">
            <a:avLst/>
          </a:prstGeom>
        </p:spPr>
        <p:txBody>
          <a:bodyPr wrap="square">
            <a:spAutoFit/>
          </a:bodyPr>
          <a:lstStyle/>
          <a:p>
            <a:r>
              <a:rPr lang="en-US" altLang="zh-CN" dirty="0">
                <a:latin typeface="Consolas" panose="020B0609020204030204" pitchFamily="49" charset="0"/>
              </a:rPr>
              <a:t>['Hello', 'Mr.', 'Adam', ',', 'how', 'are', 'you', '?', 'I', 'hope', 'everything', 'is', 'going', 'well', '.', 'Today', 'is', 'a', 'good', 'day', ',', 'see', 'you', 'dude', '.']</a:t>
            </a:r>
            <a:endParaRPr lang="zh-CN" altLang="zh-CN" dirty="0">
              <a:latin typeface="Consolas" panose="020B0609020204030204" pitchFamily="49" charset="0"/>
            </a:endParaRPr>
          </a:p>
        </p:txBody>
      </p:sp>
      <p:pic>
        <p:nvPicPr>
          <p:cNvPr id="4" name="Picture 3">
            <a:extLst>
              <a:ext uri="{FF2B5EF4-FFF2-40B4-BE49-F238E27FC236}">
                <a16:creationId xmlns:a16="http://schemas.microsoft.com/office/drawing/2014/main" id="{1CCB24B0-13D3-CBDF-2CC9-F3AAC86A236F}"/>
              </a:ext>
            </a:extLst>
          </p:cNvPr>
          <p:cNvPicPr>
            <a:picLocks noChangeAspect="1"/>
          </p:cNvPicPr>
          <p:nvPr/>
        </p:nvPicPr>
        <p:blipFill>
          <a:blip r:embed="rId3"/>
          <a:stretch>
            <a:fillRect/>
          </a:stretch>
        </p:blipFill>
        <p:spPr>
          <a:xfrm>
            <a:off x="1305002" y="2417174"/>
            <a:ext cx="9908337" cy="1366667"/>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686972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11.3 </a:t>
            </a:r>
            <a:r>
              <a:rPr lang="zh-CN" altLang="en-US" dirty="0"/>
              <a:t>自然语言处理常用工具库</a:t>
            </a:r>
            <a:endParaRPr lang="en-US" dirty="0"/>
          </a:p>
        </p:txBody>
      </p:sp>
      <p:sp>
        <p:nvSpPr>
          <p:cNvPr id="3" name="文本框 2"/>
          <p:cNvSpPr txBox="1"/>
          <p:nvPr/>
        </p:nvSpPr>
        <p:spPr>
          <a:xfrm>
            <a:off x="1103382" y="1549546"/>
            <a:ext cx="9982200" cy="1759456"/>
          </a:xfrm>
          <a:prstGeom prst="rect">
            <a:avLst/>
          </a:prstGeom>
          <a:noFill/>
        </p:spPr>
        <p:txBody>
          <a:bodyPr wrap="square" rtlCol="0">
            <a:spAutoFit/>
          </a:bodyPr>
          <a:lstStyle/>
          <a:p>
            <a:pPr marL="342900" indent="-342900" algn="just">
              <a:spcBef>
                <a:spcPts val="1000"/>
              </a:spcBef>
              <a:buFont typeface="Arial" panose="020B0604020202020204" pitchFamily="34" charset="0"/>
              <a:buChar char="•"/>
            </a:pPr>
            <a:r>
              <a:rPr lang="zh-CN" altLang="en-US" sz="2000" dirty="0">
                <a:solidFill>
                  <a:srgbClr val="7030A0"/>
                </a:solidFill>
              </a:rPr>
              <a:t>利用</a:t>
            </a:r>
            <a:r>
              <a:rPr lang="en-US" altLang="zh-CN" sz="2000" dirty="0">
                <a:solidFill>
                  <a:srgbClr val="7030A0"/>
                </a:solidFill>
              </a:rPr>
              <a:t>NLTK</a:t>
            </a:r>
            <a:r>
              <a:rPr lang="zh-CN" altLang="en-US" sz="2000" dirty="0">
                <a:solidFill>
                  <a:srgbClr val="7030A0"/>
                </a:solidFill>
              </a:rPr>
              <a:t>进行词干提取</a:t>
            </a:r>
            <a:endParaRPr lang="en-US" altLang="zh-CN" sz="2000" dirty="0">
              <a:solidFill>
                <a:srgbClr val="7030A0"/>
              </a:solidFill>
            </a:endParaRPr>
          </a:p>
          <a:p>
            <a:pPr algn="just">
              <a:lnSpc>
                <a:spcPct val="150000"/>
              </a:lnSpc>
              <a:spcBef>
                <a:spcPts val="1000"/>
              </a:spcBef>
            </a:pPr>
            <a:r>
              <a:rPr lang="en-US" altLang="zh-CN" sz="2000" dirty="0"/>
              <a:t>   NLTK</a:t>
            </a:r>
            <a:r>
              <a:rPr lang="zh-CN" altLang="zh-CN" sz="2000" dirty="0"/>
              <a:t>提供多种词干提取器，常用的</a:t>
            </a:r>
            <a:r>
              <a:rPr lang="ja-JP" altLang="zh-CN" sz="2000" dirty="0"/>
              <a:t>有</a:t>
            </a:r>
            <a:r>
              <a:rPr lang="en-US" altLang="zh-CN" sz="2000" dirty="0" err="1"/>
              <a:t>PorterStemmer</a:t>
            </a:r>
            <a:r>
              <a:rPr lang="zh-CN" altLang="zh-CN" sz="2000" dirty="0"/>
              <a:t>、</a:t>
            </a:r>
            <a:r>
              <a:rPr lang="en-US" altLang="zh-CN" sz="2000" dirty="0" err="1"/>
              <a:t>LancasterStemmer</a:t>
            </a:r>
            <a:r>
              <a:rPr lang="ja-JP" altLang="zh-CN" sz="2000" dirty="0"/>
              <a:t>和</a:t>
            </a:r>
            <a:r>
              <a:rPr lang="en-US" altLang="zh-CN" sz="2000" dirty="0" err="1"/>
              <a:t>SnowballStemmer</a:t>
            </a:r>
            <a:r>
              <a:rPr lang="zh-CN" altLang="zh-CN" sz="2000" dirty="0"/>
              <a:t>三类</a:t>
            </a:r>
            <a:r>
              <a:rPr lang="ja-JP" altLang="zh-CN" sz="2000" dirty="0"/>
              <a:t>。</a:t>
            </a:r>
            <a:endParaRPr lang="zh-CN" altLang="zh-CN" sz="2000" dirty="0"/>
          </a:p>
          <a:p>
            <a:pPr algn="just"/>
            <a:endParaRPr lang="en-US" altLang="zh-CN" sz="2000" dirty="0"/>
          </a:p>
        </p:txBody>
      </p:sp>
      <p:pic>
        <p:nvPicPr>
          <p:cNvPr id="5" name="Picture 4">
            <a:extLst>
              <a:ext uri="{FF2B5EF4-FFF2-40B4-BE49-F238E27FC236}">
                <a16:creationId xmlns:a16="http://schemas.microsoft.com/office/drawing/2014/main" id="{95365582-9329-69CD-058F-2AB8AAB9E2EC}"/>
              </a:ext>
            </a:extLst>
          </p:cNvPr>
          <p:cNvPicPr>
            <a:picLocks noChangeAspect="1"/>
          </p:cNvPicPr>
          <p:nvPr/>
        </p:nvPicPr>
        <p:blipFill>
          <a:blip r:embed="rId3"/>
          <a:stretch>
            <a:fillRect/>
          </a:stretch>
        </p:blipFill>
        <p:spPr>
          <a:xfrm>
            <a:off x="1090682" y="2974867"/>
            <a:ext cx="5003800" cy="18923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60467D46-F838-1C2F-5273-A9C15835BC6A}"/>
              </a:ext>
            </a:extLst>
          </p:cNvPr>
          <p:cNvPicPr>
            <a:picLocks noChangeAspect="1"/>
          </p:cNvPicPr>
          <p:nvPr/>
        </p:nvPicPr>
        <p:blipFill>
          <a:blip r:embed="rId4"/>
          <a:stretch>
            <a:fillRect/>
          </a:stretch>
        </p:blipFill>
        <p:spPr>
          <a:xfrm>
            <a:off x="6424682" y="2974867"/>
            <a:ext cx="4673600" cy="1714500"/>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250CC9FB-2A0D-0CE8-BFAC-33C97BEC1D1D}"/>
              </a:ext>
            </a:extLst>
          </p:cNvPr>
          <p:cNvPicPr>
            <a:picLocks noChangeAspect="1"/>
          </p:cNvPicPr>
          <p:nvPr/>
        </p:nvPicPr>
        <p:blipFill>
          <a:blip r:embed="rId5"/>
          <a:stretch>
            <a:fillRect/>
          </a:stretch>
        </p:blipFill>
        <p:spPr>
          <a:xfrm>
            <a:off x="3041745" y="4741493"/>
            <a:ext cx="5562600" cy="17018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97729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11.3 </a:t>
            </a:r>
            <a:r>
              <a:rPr lang="zh-CN" altLang="en-US" dirty="0"/>
              <a:t>自然语言处理常用工具库</a:t>
            </a:r>
            <a:endParaRPr lang="en-US" dirty="0"/>
          </a:p>
        </p:txBody>
      </p:sp>
      <p:sp>
        <p:nvSpPr>
          <p:cNvPr id="3" name="文本框 2"/>
          <p:cNvSpPr txBox="1"/>
          <p:nvPr/>
        </p:nvSpPr>
        <p:spPr>
          <a:xfrm>
            <a:off x="1068388" y="1400494"/>
            <a:ext cx="9982200" cy="707886"/>
          </a:xfrm>
          <a:prstGeom prst="rect">
            <a:avLst/>
          </a:prstGeom>
          <a:noFill/>
        </p:spPr>
        <p:txBody>
          <a:bodyPr wrap="square" rtlCol="0">
            <a:spAutoFit/>
          </a:bodyPr>
          <a:lstStyle/>
          <a:p>
            <a:pPr marL="342900" indent="-342900" algn="just">
              <a:spcBef>
                <a:spcPts val="1000"/>
              </a:spcBef>
              <a:buFont typeface="Arial" panose="020B0604020202020204" pitchFamily="34" charset="0"/>
              <a:buChar char="•"/>
            </a:pPr>
            <a:r>
              <a:rPr lang="zh-CN" altLang="en-US" sz="2000" dirty="0">
                <a:solidFill>
                  <a:srgbClr val="7030A0"/>
                </a:solidFill>
              </a:rPr>
              <a:t>利用</a:t>
            </a:r>
            <a:r>
              <a:rPr lang="en-US" altLang="zh-CN" sz="2000" dirty="0">
                <a:solidFill>
                  <a:srgbClr val="7030A0"/>
                </a:solidFill>
              </a:rPr>
              <a:t>NLTK</a:t>
            </a:r>
            <a:r>
              <a:rPr lang="zh-CN" altLang="en-US" sz="2000" dirty="0">
                <a:solidFill>
                  <a:srgbClr val="7030A0"/>
                </a:solidFill>
              </a:rPr>
              <a:t>进行词性标注</a:t>
            </a:r>
            <a:endParaRPr lang="en-US" altLang="zh-CN" sz="2000" dirty="0">
              <a:solidFill>
                <a:srgbClr val="7030A0"/>
              </a:solidFill>
            </a:endParaRPr>
          </a:p>
          <a:p>
            <a:pPr algn="just"/>
            <a:endParaRPr lang="en-US" altLang="zh-CN" sz="2000" dirty="0">
              <a:solidFill>
                <a:srgbClr val="7030A0"/>
              </a:solidFill>
            </a:endParaRPr>
          </a:p>
        </p:txBody>
      </p:sp>
      <p:pic>
        <p:nvPicPr>
          <p:cNvPr id="4" name="Picture 3">
            <a:extLst>
              <a:ext uri="{FF2B5EF4-FFF2-40B4-BE49-F238E27FC236}">
                <a16:creationId xmlns:a16="http://schemas.microsoft.com/office/drawing/2014/main" id="{61995420-D9EB-1FFA-3E52-12F30FE54B3C}"/>
              </a:ext>
            </a:extLst>
          </p:cNvPr>
          <p:cNvPicPr>
            <a:picLocks noChangeAspect="1"/>
          </p:cNvPicPr>
          <p:nvPr/>
        </p:nvPicPr>
        <p:blipFill>
          <a:blip r:embed="rId3"/>
          <a:stretch>
            <a:fillRect/>
          </a:stretch>
        </p:blipFill>
        <p:spPr>
          <a:xfrm>
            <a:off x="1193677" y="2420115"/>
            <a:ext cx="9804646" cy="2465088"/>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781272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ACC6F3-594E-2D82-F329-96C87AA81397}"/>
              </a:ext>
            </a:extLst>
          </p:cNvPr>
          <p:cNvSpPr>
            <a:spLocks noGrp="1"/>
          </p:cNvSpPr>
          <p:nvPr>
            <p:ph type="title"/>
          </p:nvPr>
        </p:nvSpPr>
        <p:spPr/>
        <p:txBody>
          <a:bodyPr/>
          <a:lstStyle/>
          <a:p>
            <a:r>
              <a:rPr lang="en-US" altLang="zh-CN" dirty="0"/>
              <a:t>11.3 </a:t>
            </a:r>
            <a:r>
              <a:rPr lang="zh-CN" altLang="en-US" dirty="0"/>
              <a:t>自然语言处理常用工具库</a:t>
            </a:r>
            <a:endParaRPr kumimoji="1" lang="zh-CN" altLang="en-US" dirty="0"/>
          </a:p>
        </p:txBody>
      </p:sp>
      <p:sp>
        <p:nvSpPr>
          <p:cNvPr id="4" name="TextBox 3">
            <a:extLst>
              <a:ext uri="{FF2B5EF4-FFF2-40B4-BE49-F238E27FC236}">
                <a16:creationId xmlns:a16="http://schemas.microsoft.com/office/drawing/2014/main" id="{7AE2CFAB-B935-1AEF-35D2-4A57B539C1EE}"/>
              </a:ext>
            </a:extLst>
          </p:cNvPr>
          <p:cNvSpPr txBox="1"/>
          <p:nvPr/>
        </p:nvSpPr>
        <p:spPr>
          <a:xfrm>
            <a:off x="1104899" y="1444220"/>
            <a:ext cx="7056461" cy="369332"/>
          </a:xfrm>
          <a:prstGeom prst="rect">
            <a:avLst/>
          </a:prstGeom>
          <a:noFill/>
        </p:spPr>
        <p:txBody>
          <a:bodyPr wrap="square">
            <a:spAutoFit/>
          </a:bodyPr>
          <a:lstStyle/>
          <a:p>
            <a:pPr marL="285750" indent="-285750">
              <a:buFont typeface="Arial" panose="020B0604020202020204" pitchFamily="34" charset="0"/>
              <a:buChar char="•"/>
            </a:pPr>
            <a:r>
              <a:rPr lang="en-US" dirty="0" err="1">
                <a:solidFill>
                  <a:srgbClr val="C00000"/>
                </a:solidFill>
              </a:rPr>
              <a:t>nltk.chunk</a:t>
            </a:r>
            <a:r>
              <a:rPr lang="zh-CN" altLang="en-US" b="0" i="0" dirty="0">
                <a:solidFill>
                  <a:srgbClr val="C00000"/>
                </a:solidFill>
                <a:effectLst/>
                <a:latin typeface="Times New Roman" panose="02020603050405020304" pitchFamily="18" charset="0"/>
              </a:rPr>
              <a:t>模块</a:t>
            </a:r>
            <a:r>
              <a:rPr lang="zh-CN" altLang="en-US" b="0" i="0" dirty="0">
                <a:solidFill>
                  <a:srgbClr val="262625"/>
                </a:solidFill>
                <a:effectLst/>
                <a:latin typeface="Times New Roman" panose="02020603050405020304" pitchFamily="18" charset="0"/>
              </a:rPr>
              <a:t>：支持文本中的短语分块和命名实体识别（</a:t>
            </a:r>
            <a:r>
              <a:rPr lang="en-US" b="0" i="0" dirty="0">
                <a:solidFill>
                  <a:srgbClr val="262625"/>
                </a:solidFill>
                <a:effectLst/>
                <a:latin typeface="Times New Roman" panose="02020603050405020304" pitchFamily="18" charset="0"/>
              </a:rPr>
              <a:t>NER）</a:t>
            </a:r>
            <a:endParaRPr lang="zh-CN" altLang="en-US" dirty="0"/>
          </a:p>
        </p:txBody>
      </p:sp>
      <p:pic>
        <p:nvPicPr>
          <p:cNvPr id="5" name="Picture 4">
            <a:extLst>
              <a:ext uri="{FF2B5EF4-FFF2-40B4-BE49-F238E27FC236}">
                <a16:creationId xmlns:a16="http://schemas.microsoft.com/office/drawing/2014/main" id="{6BB19E9A-D3FE-00AD-BA4E-D0E5B353C583}"/>
              </a:ext>
            </a:extLst>
          </p:cNvPr>
          <p:cNvPicPr>
            <a:picLocks noChangeAspect="1"/>
          </p:cNvPicPr>
          <p:nvPr/>
        </p:nvPicPr>
        <p:blipFill>
          <a:blip r:embed="rId2"/>
          <a:stretch>
            <a:fillRect/>
          </a:stretch>
        </p:blipFill>
        <p:spPr>
          <a:xfrm>
            <a:off x="1753643" y="2543127"/>
            <a:ext cx="8684714" cy="2501322"/>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4303949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D6A47-1E73-31E3-B570-DA0D2F0F0622}"/>
              </a:ext>
            </a:extLst>
          </p:cNvPr>
          <p:cNvSpPr>
            <a:spLocks noGrp="1"/>
          </p:cNvSpPr>
          <p:nvPr>
            <p:ph type="title"/>
          </p:nvPr>
        </p:nvSpPr>
        <p:spPr/>
        <p:txBody>
          <a:bodyPr/>
          <a:lstStyle/>
          <a:p>
            <a:r>
              <a:rPr lang="en-US" b="1" dirty="0">
                <a:hlinkClick r:id="rId2"/>
              </a:rPr>
              <a:t>NLTK </a:t>
            </a:r>
            <a:r>
              <a:rPr lang="zh-CN" altLang="en-US" b="1" dirty="0">
                <a:hlinkClick r:id="rId2"/>
              </a:rPr>
              <a:t>应用示例</a:t>
            </a:r>
            <a:endParaRPr kumimoji="1" lang="zh-CN" altLang="en-US" dirty="0"/>
          </a:p>
        </p:txBody>
      </p:sp>
      <p:pic>
        <p:nvPicPr>
          <p:cNvPr id="3" name="Picture 2">
            <a:extLst>
              <a:ext uri="{FF2B5EF4-FFF2-40B4-BE49-F238E27FC236}">
                <a16:creationId xmlns:a16="http://schemas.microsoft.com/office/drawing/2014/main" id="{EB17060F-1817-54E2-959D-B55C1C769CB3}"/>
              </a:ext>
            </a:extLst>
          </p:cNvPr>
          <p:cNvPicPr>
            <a:picLocks noChangeAspect="1"/>
          </p:cNvPicPr>
          <p:nvPr/>
        </p:nvPicPr>
        <p:blipFill>
          <a:blip r:embed="rId3"/>
          <a:stretch>
            <a:fillRect/>
          </a:stretch>
        </p:blipFill>
        <p:spPr>
          <a:xfrm>
            <a:off x="416227" y="0"/>
            <a:ext cx="7554802" cy="6858000"/>
          </a:xfrm>
          <a:prstGeom prst="rect">
            <a:avLst/>
          </a:prstGeom>
        </p:spPr>
      </p:pic>
      <p:pic>
        <p:nvPicPr>
          <p:cNvPr id="4" name="Picture 3">
            <a:extLst>
              <a:ext uri="{FF2B5EF4-FFF2-40B4-BE49-F238E27FC236}">
                <a16:creationId xmlns:a16="http://schemas.microsoft.com/office/drawing/2014/main" id="{65F5909A-8F17-435B-BB8E-93E6A0DA7452}"/>
              </a:ext>
            </a:extLst>
          </p:cNvPr>
          <p:cNvPicPr>
            <a:picLocks noChangeAspect="1"/>
          </p:cNvPicPr>
          <p:nvPr/>
        </p:nvPicPr>
        <p:blipFill>
          <a:blip r:embed="rId4"/>
          <a:stretch>
            <a:fillRect/>
          </a:stretch>
        </p:blipFill>
        <p:spPr>
          <a:xfrm>
            <a:off x="4343400" y="5224101"/>
            <a:ext cx="7772400" cy="1433743"/>
          </a:xfrm>
          <a:prstGeom prst="rect">
            <a:avLst/>
          </a:prstGeom>
        </p:spPr>
      </p:pic>
    </p:spTree>
    <p:extLst>
      <p:ext uri="{BB962C8B-B14F-4D97-AF65-F5344CB8AC3E}">
        <p14:creationId xmlns:p14="http://schemas.microsoft.com/office/powerpoint/2010/main" val="33613014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11.3 </a:t>
            </a:r>
            <a:r>
              <a:rPr lang="zh-CN" altLang="en-US" dirty="0"/>
              <a:t>自然语言处理常用工具库</a:t>
            </a:r>
            <a:endParaRPr lang="en-US" dirty="0"/>
          </a:p>
        </p:txBody>
      </p:sp>
      <p:sp>
        <p:nvSpPr>
          <p:cNvPr id="3" name="文本框 2"/>
          <p:cNvSpPr txBox="1"/>
          <p:nvPr/>
        </p:nvSpPr>
        <p:spPr>
          <a:xfrm>
            <a:off x="972854" y="1422779"/>
            <a:ext cx="9982200" cy="2087431"/>
          </a:xfrm>
          <a:prstGeom prst="rect">
            <a:avLst/>
          </a:prstGeom>
          <a:noFill/>
        </p:spPr>
        <p:txBody>
          <a:bodyPr wrap="square" rtlCol="0">
            <a:spAutoFit/>
          </a:bodyPr>
          <a:lstStyle/>
          <a:p>
            <a:pPr>
              <a:lnSpc>
                <a:spcPct val="150000"/>
              </a:lnSpc>
            </a:pPr>
            <a:r>
              <a:rPr lang="zh-CN" altLang="en-US" sz="2400" dirty="0">
                <a:solidFill>
                  <a:srgbClr val="0432FF"/>
                </a:solidFill>
              </a:rPr>
              <a:t>（</a:t>
            </a:r>
            <a:r>
              <a:rPr lang="en-US" altLang="zh-CN" sz="2400" dirty="0">
                <a:solidFill>
                  <a:srgbClr val="0432FF"/>
                </a:solidFill>
              </a:rPr>
              <a:t>2</a:t>
            </a:r>
            <a:r>
              <a:rPr lang="zh-CN" altLang="en-US" sz="2400" dirty="0">
                <a:solidFill>
                  <a:srgbClr val="0432FF"/>
                </a:solidFill>
              </a:rPr>
              <a:t>）</a:t>
            </a:r>
            <a:r>
              <a:rPr lang="en-US" altLang="zh-CN" sz="2400" dirty="0" err="1">
                <a:solidFill>
                  <a:srgbClr val="0432FF"/>
                </a:solidFill>
              </a:rPr>
              <a:t>Jieba</a:t>
            </a:r>
            <a:r>
              <a:rPr lang="zh-CN" altLang="en-US" sz="2400" dirty="0">
                <a:solidFill>
                  <a:srgbClr val="0432FF"/>
                </a:solidFill>
              </a:rPr>
              <a:t>分词</a:t>
            </a:r>
            <a:endParaRPr lang="en-US" altLang="zh-CN" sz="2400" dirty="0">
              <a:solidFill>
                <a:srgbClr val="0432FF"/>
              </a:solidFill>
            </a:endParaRPr>
          </a:p>
          <a:p>
            <a:pPr>
              <a:lnSpc>
                <a:spcPct val="150000"/>
              </a:lnSpc>
              <a:spcBef>
                <a:spcPts val="1000"/>
              </a:spcBef>
            </a:pPr>
            <a:r>
              <a:rPr lang="en-US" altLang="zh-CN" sz="2000" dirty="0">
                <a:latin typeface="宋体" panose="02010600030101010101" pitchFamily="2" charset="-122"/>
                <a:ea typeface="宋体" panose="02010600030101010101" pitchFamily="2" charset="-122"/>
              </a:rPr>
              <a:t>    </a:t>
            </a:r>
            <a:r>
              <a:rPr lang="zh-CN" altLang="zh-CN" sz="2000" dirty="0">
                <a:latin typeface="宋体" panose="02010600030101010101" pitchFamily="2" charset="-122"/>
                <a:ea typeface="宋体" panose="02010600030101010101" pitchFamily="2" charset="-122"/>
              </a:rPr>
              <a:t>Jieba分词是目前</a:t>
            </a:r>
            <a:r>
              <a:rPr lang="zh-CN" altLang="zh-CN" sz="2000" dirty="0">
                <a:solidFill>
                  <a:srgbClr val="0432FF"/>
                </a:solidFill>
                <a:latin typeface="宋体" panose="02010600030101010101" pitchFamily="2" charset="-122"/>
                <a:ea typeface="宋体" panose="02010600030101010101" pitchFamily="2" charset="-122"/>
              </a:rPr>
              <a:t>使用最多的中文分词工具之一</a:t>
            </a:r>
            <a:r>
              <a:rPr lang="zh-CN" altLang="zh-CN"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支持精确模式</a:t>
            </a:r>
            <a:r>
              <a:rPr lang="zh-CN" altLang="en-US"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全模式</a:t>
            </a:r>
            <a:r>
              <a:rPr lang="zh-CN" altLang="zh-CN" sz="2000" dirty="0">
                <a:latin typeface="宋体" panose="02010600030101010101" pitchFamily="2" charset="-122"/>
                <a:ea typeface="宋体" panose="02010600030101010101" pitchFamily="2" charset="-122"/>
              </a:rPr>
              <a:t>分词</a:t>
            </a:r>
            <a:r>
              <a:rPr lang="zh-CN" altLang="en-US" sz="2000" dirty="0">
                <a:latin typeface="宋体" panose="02010600030101010101" pitchFamily="2" charset="-122"/>
                <a:ea typeface="宋体" panose="02010600030101010101" pitchFamily="2" charset="-122"/>
              </a:rPr>
              <a:t>、</a:t>
            </a:r>
            <a:r>
              <a:rPr lang="ja-JP" altLang="zh-CN" sz="2000" dirty="0">
                <a:latin typeface="宋体" panose="02010600030101010101" pitchFamily="2" charset="-122"/>
                <a:ea typeface="宋体" panose="02010600030101010101" pitchFamily="2" charset="-122"/>
              </a:rPr>
              <a:t>搜索引擎模式</a:t>
            </a:r>
            <a:r>
              <a:rPr lang="zh-CN" altLang="zh-CN" sz="2000" dirty="0">
                <a:latin typeface="宋体" panose="02010600030101010101" pitchFamily="2" charset="-122"/>
                <a:ea typeface="宋体" panose="02010600030101010101" pitchFamily="2" charset="-122"/>
              </a:rPr>
              <a:t>分词</a:t>
            </a:r>
            <a:r>
              <a:rPr lang="zh-CN" altLang="en-US" sz="2000" dirty="0">
                <a:latin typeface="宋体" panose="02010600030101010101" pitchFamily="2" charset="-122"/>
                <a:ea typeface="宋体" panose="02010600030101010101" pitchFamily="2" charset="-122"/>
              </a:rPr>
              <a:t>、</a:t>
            </a:r>
            <a:r>
              <a:rPr lang="en-US" altLang="zh-CN" sz="2000" dirty="0">
                <a:latin typeface="宋体" panose="02010600030101010101" pitchFamily="2" charset="-122"/>
                <a:ea typeface="宋体" panose="02010600030101010101" pitchFamily="2" charset="-122"/>
              </a:rPr>
              <a:t>paddle</a:t>
            </a:r>
            <a:r>
              <a:rPr lang="ja-JP" altLang="zh-CN" sz="2000" dirty="0">
                <a:latin typeface="宋体" panose="02010600030101010101" pitchFamily="2" charset="-122"/>
                <a:ea typeface="宋体" panose="02010600030101010101" pitchFamily="2" charset="-122"/>
              </a:rPr>
              <a:t>模式</a:t>
            </a:r>
            <a:r>
              <a:rPr lang="zh-CN" altLang="en-US" sz="2000" dirty="0">
                <a:latin typeface="宋体" panose="02010600030101010101" pitchFamily="2" charset="-122"/>
                <a:ea typeface="宋体" panose="02010600030101010101" pitchFamily="2" charset="-122"/>
              </a:rPr>
              <a:t>四种模式</a:t>
            </a:r>
            <a:r>
              <a:rPr lang="zh-CN" altLang="zh-CN" sz="2000" dirty="0">
                <a:latin typeface="宋体" panose="02010600030101010101" pitchFamily="2" charset="-122"/>
                <a:ea typeface="宋体" panose="02010600030101010101" pitchFamily="2" charset="-122"/>
              </a:rPr>
              <a:t>。除了上述四种分词模式以外，</a:t>
            </a:r>
            <a:r>
              <a:rPr lang="en-US" altLang="zh-CN" sz="2000" dirty="0" err="1">
                <a:latin typeface="宋体" panose="02010600030101010101" pitchFamily="2" charset="-122"/>
                <a:ea typeface="宋体" panose="02010600030101010101" pitchFamily="2" charset="-122"/>
              </a:rPr>
              <a:t>Jieba</a:t>
            </a:r>
            <a:r>
              <a:rPr lang="zh-CN" altLang="zh-CN" sz="2000" dirty="0">
                <a:latin typeface="宋体" panose="02010600030101010101" pitchFamily="2" charset="-122"/>
                <a:ea typeface="宋体" panose="02010600030101010101" pitchFamily="2" charset="-122"/>
              </a:rPr>
              <a:t>分词还支持添加自定义词典、提取关键词和词形标注等功能。</a:t>
            </a:r>
          </a:p>
        </p:txBody>
      </p:sp>
      <p:sp>
        <p:nvSpPr>
          <p:cNvPr id="6" name="文本框 5"/>
          <p:cNvSpPr txBox="1"/>
          <p:nvPr/>
        </p:nvSpPr>
        <p:spPr>
          <a:xfrm>
            <a:off x="1318334" y="3753799"/>
            <a:ext cx="9982200" cy="1681422"/>
          </a:xfrm>
          <a:prstGeom prst="rect">
            <a:avLst/>
          </a:prstGeom>
          <a:noFill/>
        </p:spPr>
        <p:txBody>
          <a:bodyPr wrap="square" rtlCol="0">
            <a:spAutoFit/>
          </a:bodyPr>
          <a:lstStyle/>
          <a:p>
            <a:pPr marL="342900" indent="-342900" algn="just">
              <a:lnSpc>
                <a:spcPct val="150000"/>
              </a:lnSpc>
              <a:spcBef>
                <a:spcPts val="1000"/>
              </a:spcBef>
              <a:buFont typeface="Arial" panose="020B0604020202020204" pitchFamily="34" charset="0"/>
              <a:buChar char="•"/>
            </a:pPr>
            <a:r>
              <a:rPr lang="zh-CN" altLang="en-US" sz="2000" dirty="0">
                <a:solidFill>
                  <a:srgbClr val="7030A0"/>
                </a:solidFill>
              </a:rPr>
              <a:t>安装</a:t>
            </a:r>
            <a:r>
              <a:rPr lang="en-US" altLang="zh-CN" sz="2000" dirty="0" err="1">
                <a:solidFill>
                  <a:srgbClr val="7030A0"/>
                </a:solidFill>
              </a:rPr>
              <a:t>Jieba</a:t>
            </a:r>
            <a:r>
              <a:rPr lang="zh-CN" altLang="en-US" sz="2000" dirty="0">
                <a:solidFill>
                  <a:srgbClr val="7030A0"/>
                </a:solidFill>
              </a:rPr>
              <a:t>分词</a:t>
            </a:r>
            <a:endParaRPr lang="en-US" altLang="zh-CN" sz="2000" dirty="0">
              <a:solidFill>
                <a:srgbClr val="7030A0"/>
              </a:solidFill>
            </a:endParaRPr>
          </a:p>
          <a:p>
            <a:pPr algn="just">
              <a:lnSpc>
                <a:spcPct val="150000"/>
              </a:lnSpc>
              <a:spcBef>
                <a:spcPts val="1000"/>
              </a:spcBef>
            </a:pPr>
            <a:r>
              <a:rPr lang="en-US" altLang="zh-CN" dirty="0"/>
              <a:t>    </a:t>
            </a:r>
            <a:r>
              <a:rPr lang="zh-CN" altLang="zh-CN" sz="2000" dirty="0"/>
              <a:t>可以使用</a:t>
            </a:r>
            <a:r>
              <a:rPr lang="en-US" altLang="zh-CN" sz="2000" dirty="0"/>
              <a:t>pip</a:t>
            </a:r>
            <a:r>
              <a:rPr lang="zh-CN" altLang="zh-CN" sz="2000" dirty="0"/>
              <a:t>进行</a:t>
            </a:r>
            <a:r>
              <a:rPr lang="en-US" altLang="zh-CN" sz="2000" dirty="0" err="1"/>
              <a:t>Jieba</a:t>
            </a:r>
            <a:r>
              <a:rPr lang="zh-CN" altLang="zh-CN" sz="2000" dirty="0"/>
              <a:t>分词的安装：</a:t>
            </a:r>
            <a:r>
              <a:rPr lang="en-US" altLang="zh-CN" sz="2000" b="1" dirty="0">
                <a:solidFill>
                  <a:srgbClr val="7030A0"/>
                </a:solidFill>
              </a:rPr>
              <a:t>pip install </a:t>
            </a:r>
            <a:r>
              <a:rPr lang="en-US" altLang="zh-CN" sz="2000" b="1" dirty="0" err="1">
                <a:solidFill>
                  <a:srgbClr val="7030A0"/>
                </a:solidFill>
              </a:rPr>
              <a:t>jieba</a:t>
            </a:r>
            <a:r>
              <a:rPr lang="zh-CN" altLang="zh-CN" sz="2000" dirty="0"/>
              <a:t>；</a:t>
            </a:r>
            <a:endParaRPr lang="en-US" altLang="zh-CN" sz="2000" dirty="0"/>
          </a:p>
          <a:p>
            <a:pPr algn="just">
              <a:lnSpc>
                <a:spcPct val="150000"/>
              </a:lnSpc>
              <a:spcBef>
                <a:spcPts val="1000"/>
              </a:spcBef>
            </a:pPr>
            <a:r>
              <a:rPr lang="zh-CN" altLang="zh-CN" sz="2000" dirty="0"/>
              <a:t>安装成功后通过</a:t>
            </a:r>
            <a:r>
              <a:rPr lang="en-US" altLang="zh-CN" sz="2000" dirty="0">
                <a:solidFill>
                  <a:srgbClr val="7030A0"/>
                </a:solidFill>
                <a:latin typeface="Consolas" panose="020B0609020204030204" pitchFamily="49" charset="0"/>
              </a:rPr>
              <a:t>import </a:t>
            </a:r>
            <a:r>
              <a:rPr lang="en-US" altLang="zh-CN" sz="2000" dirty="0" err="1">
                <a:solidFill>
                  <a:srgbClr val="7030A0"/>
                </a:solidFill>
                <a:latin typeface="Consolas" panose="020B0609020204030204" pitchFamily="49" charset="0"/>
              </a:rPr>
              <a:t>jieba</a:t>
            </a:r>
            <a:r>
              <a:rPr lang="zh-CN" altLang="zh-CN" sz="2000" dirty="0"/>
              <a:t>调用结巴分词。</a:t>
            </a:r>
          </a:p>
        </p:txBody>
      </p:sp>
    </p:spTree>
    <p:extLst>
      <p:ext uri="{BB962C8B-B14F-4D97-AF65-F5344CB8AC3E}">
        <p14:creationId xmlns:p14="http://schemas.microsoft.com/office/powerpoint/2010/main" val="4172090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11.3 </a:t>
            </a:r>
            <a:r>
              <a:rPr lang="zh-CN" altLang="en-US" dirty="0"/>
              <a:t>自然语言处理常用工具库</a:t>
            </a:r>
            <a:endParaRPr lang="en-US" dirty="0"/>
          </a:p>
        </p:txBody>
      </p:sp>
      <p:sp>
        <p:nvSpPr>
          <p:cNvPr id="3" name="文本框 2"/>
          <p:cNvSpPr txBox="1"/>
          <p:nvPr/>
        </p:nvSpPr>
        <p:spPr>
          <a:xfrm>
            <a:off x="986349" y="1476073"/>
            <a:ext cx="9982200" cy="400110"/>
          </a:xfrm>
          <a:prstGeom prst="rect">
            <a:avLst/>
          </a:prstGeom>
          <a:noFill/>
        </p:spPr>
        <p:txBody>
          <a:bodyPr wrap="square" rtlCol="0">
            <a:spAutoFit/>
          </a:bodyPr>
          <a:lstStyle/>
          <a:p>
            <a:pPr marL="342900" indent="-342900" algn="just">
              <a:spcBef>
                <a:spcPts val="1000"/>
              </a:spcBef>
              <a:buFont typeface="Arial" panose="020B0604020202020204" pitchFamily="34" charset="0"/>
              <a:buChar char="•"/>
            </a:pPr>
            <a:r>
              <a:rPr lang="zh-CN" altLang="en-US" sz="2000" dirty="0">
                <a:solidFill>
                  <a:srgbClr val="7030A0"/>
                </a:solidFill>
              </a:rPr>
              <a:t>利用</a:t>
            </a:r>
            <a:r>
              <a:rPr lang="en-US" altLang="zh-CN" sz="2000" dirty="0" err="1">
                <a:solidFill>
                  <a:srgbClr val="7030A0"/>
                </a:solidFill>
              </a:rPr>
              <a:t>Jieba</a:t>
            </a:r>
            <a:r>
              <a:rPr lang="zh-CN" altLang="en-US" sz="2000" dirty="0">
                <a:solidFill>
                  <a:srgbClr val="7030A0"/>
                </a:solidFill>
              </a:rPr>
              <a:t>进行分词</a:t>
            </a:r>
            <a:endParaRPr lang="en-US" altLang="zh-CN" sz="2000" dirty="0">
              <a:solidFill>
                <a:srgbClr val="7030A0"/>
              </a:solidFill>
            </a:endParaRPr>
          </a:p>
        </p:txBody>
      </p:sp>
      <p:pic>
        <p:nvPicPr>
          <p:cNvPr id="7" name="Picture 6">
            <a:extLst>
              <a:ext uri="{FF2B5EF4-FFF2-40B4-BE49-F238E27FC236}">
                <a16:creationId xmlns:a16="http://schemas.microsoft.com/office/drawing/2014/main" id="{763A910F-42F8-6452-74F7-40D53AA4F55F}"/>
              </a:ext>
            </a:extLst>
          </p:cNvPr>
          <p:cNvPicPr>
            <a:picLocks noChangeAspect="1"/>
          </p:cNvPicPr>
          <p:nvPr/>
        </p:nvPicPr>
        <p:blipFill>
          <a:blip r:embed="rId3"/>
          <a:stretch>
            <a:fillRect/>
          </a:stretch>
        </p:blipFill>
        <p:spPr>
          <a:xfrm>
            <a:off x="822575" y="2276293"/>
            <a:ext cx="7580106" cy="3848763"/>
          </a:xfrm>
          <a:prstGeom prst="rect">
            <a:avLst/>
          </a:prstGeom>
          <a:effectLst>
            <a:outerShdw blurRad="63500" sx="102000" sy="102000" algn="ctr" rotWithShape="0">
              <a:prstClr val="black">
                <a:alpha val="40000"/>
              </a:prstClr>
            </a:outerShdw>
          </a:effectLst>
        </p:spPr>
      </p:pic>
      <p:pic>
        <p:nvPicPr>
          <p:cNvPr id="8" name="Picture 7">
            <a:extLst>
              <a:ext uri="{FF2B5EF4-FFF2-40B4-BE49-F238E27FC236}">
                <a16:creationId xmlns:a16="http://schemas.microsoft.com/office/drawing/2014/main" id="{D542CD18-981D-385D-F521-5D62DFA86C2F}"/>
              </a:ext>
            </a:extLst>
          </p:cNvPr>
          <p:cNvPicPr>
            <a:picLocks noChangeAspect="1"/>
          </p:cNvPicPr>
          <p:nvPr/>
        </p:nvPicPr>
        <p:blipFill>
          <a:blip r:embed="rId4"/>
          <a:stretch>
            <a:fillRect/>
          </a:stretch>
        </p:blipFill>
        <p:spPr>
          <a:xfrm>
            <a:off x="5565823" y="1696974"/>
            <a:ext cx="6273800" cy="25400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715947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checkerboard(across)">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3FB1BD-6572-CB5F-5258-264097BC4FCE}"/>
              </a:ext>
            </a:extLst>
          </p:cNvPr>
          <p:cNvSpPr>
            <a:spLocks noGrp="1"/>
          </p:cNvSpPr>
          <p:nvPr>
            <p:ph type="title"/>
          </p:nvPr>
        </p:nvSpPr>
        <p:spPr/>
        <p:txBody>
          <a:bodyPr/>
          <a:lstStyle/>
          <a:p>
            <a:r>
              <a:rPr lang="zh-CN" altLang="en-US" b="1" i="0" u="none" strike="noStrike" dirty="0">
                <a:solidFill>
                  <a:srgbClr val="262625"/>
                </a:solidFill>
                <a:effectLst/>
                <a:latin typeface="Open Sans" panose="020B0606030504020204" pitchFamily="34" charset="0"/>
                <a:hlinkClick r:id="rId2"/>
              </a:rPr>
              <a:t>载入自定义词典</a:t>
            </a:r>
            <a:endParaRPr kumimoji="1" lang="zh-CN" altLang="en-US" dirty="0"/>
          </a:p>
        </p:txBody>
      </p:sp>
      <p:pic>
        <p:nvPicPr>
          <p:cNvPr id="3" name="Picture 2">
            <a:extLst>
              <a:ext uri="{FF2B5EF4-FFF2-40B4-BE49-F238E27FC236}">
                <a16:creationId xmlns:a16="http://schemas.microsoft.com/office/drawing/2014/main" id="{DF7CE6C9-D28E-C9D1-605E-33B88575BD0C}"/>
              </a:ext>
            </a:extLst>
          </p:cNvPr>
          <p:cNvPicPr>
            <a:picLocks noChangeAspect="1"/>
          </p:cNvPicPr>
          <p:nvPr/>
        </p:nvPicPr>
        <p:blipFill>
          <a:blip r:embed="rId3"/>
          <a:stretch>
            <a:fillRect/>
          </a:stretch>
        </p:blipFill>
        <p:spPr>
          <a:xfrm>
            <a:off x="1104900" y="1343748"/>
            <a:ext cx="7442169" cy="2752583"/>
          </a:xfrm>
          <a:prstGeom prst="rect">
            <a:avLst/>
          </a:prstGeom>
          <a:effectLst>
            <a:outerShdw blurRad="63500" sx="102000" sy="102000" algn="ctr" rotWithShape="0">
              <a:prstClr val="black">
                <a:alpha val="40000"/>
              </a:prstClr>
            </a:outerShdw>
          </a:effectLst>
        </p:spPr>
      </p:pic>
      <p:sp>
        <p:nvSpPr>
          <p:cNvPr id="5" name="TextBox 4">
            <a:extLst>
              <a:ext uri="{FF2B5EF4-FFF2-40B4-BE49-F238E27FC236}">
                <a16:creationId xmlns:a16="http://schemas.microsoft.com/office/drawing/2014/main" id="{BA981E19-51A7-B636-8A77-F40DF3419A17}"/>
              </a:ext>
            </a:extLst>
          </p:cNvPr>
          <p:cNvSpPr txBox="1"/>
          <p:nvPr/>
        </p:nvSpPr>
        <p:spPr>
          <a:xfrm>
            <a:off x="436159" y="4134427"/>
            <a:ext cx="1692891" cy="369332"/>
          </a:xfrm>
          <a:prstGeom prst="rect">
            <a:avLst/>
          </a:prstGeom>
          <a:noFill/>
        </p:spPr>
        <p:txBody>
          <a:bodyPr wrap="square">
            <a:spAutoFit/>
          </a:bodyPr>
          <a:lstStyle/>
          <a:p>
            <a:r>
              <a:rPr lang="zh-CN" altLang="en-US" b="1" i="0" dirty="0">
                <a:solidFill>
                  <a:srgbClr val="C00000"/>
                </a:solidFill>
                <a:effectLst/>
                <a:latin typeface="Times New Roman" panose="02020603050405020304" pitchFamily="18" charset="0"/>
              </a:rPr>
              <a:t>动态添加新词</a:t>
            </a:r>
            <a:endParaRPr lang="zh-CN" altLang="en-US" b="1" dirty="0">
              <a:solidFill>
                <a:srgbClr val="C00000"/>
              </a:solidFill>
            </a:endParaRPr>
          </a:p>
        </p:txBody>
      </p:sp>
      <p:pic>
        <p:nvPicPr>
          <p:cNvPr id="6" name="Picture 5">
            <a:extLst>
              <a:ext uri="{FF2B5EF4-FFF2-40B4-BE49-F238E27FC236}">
                <a16:creationId xmlns:a16="http://schemas.microsoft.com/office/drawing/2014/main" id="{B2B60616-5DEA-ACA9-C700-B1C486ECAB50}"/>
              </a:ext>
            </a:extLst>
          </p:cNvPr>
          <p:cNvPicPr>
            <a:picLocks noChangeAspect="1"/>
          </p:cNvPicPr>
          <p:nvPr/>
        </p:nvPicPr>
        <p:blipFill>
          <a:blip r:embed="rId4"/>
          <a:stretch>
            <a:fillRect/>
          </a:stretch>
        </p:blipFill>
        <p:spPr>
          <a:xfrm>
            <a:off x="936657" y="4541855"/>
            <a:ext cx="5676900" cy="1981200"/>
          </a:xfrm>
          <a:prstGeom prst="rect">
            <a:avLst/>
          </a:prstGeom>
          <a:effectLst>
            <a:outerShdw blurRad="63500" sx="102000" sy="102000" algn="ctr" rotWithShape="0">
              <a:prstClr val="black">
                <a:alpha val="40000"/>
              </a:prstClr>
            </a:outerShdw>
          </a:effectLst>
        </p:spPr>
      </p:pic>
      <p:pic>
        <p:nvPicPr>
          <p:cNvPr id="7" name="Picture 6">
            <a:extLst>
              <a:ext uri="{FF2B5EF4-FFF2-40B4-BE49-F238E27FC236}">
                <a16:creationId xmlns:a16="http://schemas.microsoft.com/office/drawing/2014/main" id="{68CDF2C8-2D28-33C2-16F9-83B6ACD2C15B}"/>
              </a:ext>
            </a:extLst>
          </p:cNvPr>
          <p:cNvPicPr>
            <a:picLocks noChangeAspect="1"/>
          </p:cNvPicPr>
          <p:nvPr/>
        </p:nvPicPr>
        <p:blipFill>
          <a:blip r:embed="rId5"/>
          <a:stretch>
            <a:fillRect/>
          </a:stretch>
        </p:blipFill>
        <p:spPr>
          <a:xfrm>
            <a:off x="5689568" y="4351355"/>
            <a:ext cx="6218565" cy="128517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05685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par>
                                <p:cTn id="8" presetID="3" presetClass="entr" presetSubtype="10" fill="hold" nodeType="with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blinds(horizontal)">
                                      <p:cBhvr>
                                        <p:cTn id="10" dur="500"/>
                                        <p:tgtEl>
                                          <p:spTgt spid="6"/>
                                        </p:tgtEl>
                                      </p:cBhvr>
                                    </p:animEffect>
                                  </p:childTnLst>
                                </p:cTn>
                              </p:par>
                            </p:childTnLst>
                          </p:cTn>
                        </p:par>
                      </p:childTnLst>
                    </p:cTn>
                  </p:par>
                  <p:par>
                    <p:cTn id="11" fill="hold">
                      <p:stCondLst>
                        <p:cond delay="indefinite"/>
                      </p:stCondLst>
                      <p:childTnLst>
                        <p:par>
                          <p:cTn id="12" fill="hold">
                            <p:stCondLst>
                              <p:cond delay="0"/>
                            </p:stCondLst>
                            <p:childTnLst>
                              <p:par>
                                <p:cTn id="13" presetID="5" presetClass="entr" presetSubtype="1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checkerboard(across)">
                                      <p:cBhvr>
                                        <p:cTn id="15"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3C2684-015B-EEA5-94FE-CD5D6968BD45}"/>
              </a:ext>
            </a:extLst>
          </p:cNvPr>
          <p:cNvSpPr>
            <a:spLocks noGrp="1"/>
          </p:cNvSpPr>
          <p:nvPr>
            <p:ph type="title"/>
          </p:nvPr>
        </p:nvSpPr>
        <p:spPr/>
        <p:txBody>
          <a:bodyPr/>
          <a:lstStyle/>
          <a:p>
            <a:r>
              <a:rPr lang="zh-CN" altLang="en-US" b="1" dirty="0">
                <a:hlinkClick r:id="rId2"/>
              </a:rPr>
              <a:t>词性标注</a:t>
            </a:r>
            <a:endParaRPr kumimoji="1" lang="zh-CN" altLang="en-US" dirty="0"/>
          </a:p>
        </p:txBody>
      </p:sp>
      <p:pic>
        <p:nvPicPr>
          <p:cNvPr id="3" name="Picture 2">
            <a:extLst>
              <a:ext uri="{FF2B5EF4-FFF2-40B4-BE49-F238E27FC236}">
                <a16:creationId xmlns:a16="http://schemas.microsoft.com/office/drawing/2014/main" id="{E508FEA6-0B52-A272-7E10-0A123E60CE06}"/>
              </a:ext>
            </a:extLst>
          </p:cNvPr>
          <p:cNvPicPr>
            <a:picLocks noChangeAspect="1"/>
          </p:cNvPicPr>
          <p:nvPr/>
        </p:nvPicPr>
        <p:blipFill>
          <a:blip r:embed="rId3"/>
          <a:stretch>
            <a:fillRect/>
          </a:stretch>
        </p:blipFill>
        <p:spPr>
          <a:xfrm>
            <a:off x="882650" y="1487214"/>
            <a:ext cx="5549900" cy="3505200"/>
          </a:xfrm>
          <a:prstGeom prst="rect">
            <a:avLst/>
          </a:prstGeom>
        </p:spPr>
      </p:pic>
      <p:pic>
        <p:nvPicPr>
          <p:cNvPr id="4" name="Picture 3">
            <a:extLst>
              <a:ext uri="{FF2B5EF4-FFF2-40B4-BE49-F238E27FC236}">
                <a16:creationId xmlns:a16="http://schemas.microsoft.com/office/drawing/2014/main" id="{FF36F795-B69B-9829-346B-795B85DAFA7F}"/>
              </a:ext>
            </a:extLst>
          </p:cNvPr>
          <p:cNvPicPr>
            <a:picLocks noChangeAspect="1"/>
          </p:cNvPicPr>
          <p:nvPr/>
        </p:nvPicPr>
        <p:blipFill>
          <a:blip r:embed="rId4"/>
          <a:stretch>
            <a:fillRect/>
          </a:stretch>
        </p:blipFill>
        <p:spPr>
          <a:xfrm>
            <a:off x="5113502" y="3772557"/>
            <a:ext cx="6337300" cy="2628900"/>
          </a:xfrm>
          <a:prstGeom prst="rect">
            <a:avLst/>
          </a:prstGeom>
        </p:spPr>
      </p:pic>
    </p:spTree>
    <p:extLst>
      <p:ext uri="{BB962C8B-B14F-4D97-AF65-F5344CB8AC3E}">
        <p14:creationId xmlns:p14="http://schemas.microsoft.com/office/powerpoint/2010/main" val="3403630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11.3 </a:t>
            </a:r>
            <a:r>
              <a:rPr lang="zh-CN" altLang="en-US" dirty="0"/>
              <a:t>自然语言处理常用工具库</a:t>
            </a:r>
            <a:endParaRPr lang="en-US" dirty="0"/>
          </a:p>
        </p:txBody>
      </p:sp>
      <p:sp>
        <p:nvSpPr>
          <p:cNvPr id="3" name="文本框 2"/>
          <p:cNvSpPr txBox="1"/>
          <p:nvPr/>
        </p:nvSpPr>
        <p:spPr>
          <a:xfrm>
            <a:off x="1068388" y="1400494"/>
            <a:ext cx="9982200" cy="400110"/>
          </a:xfrm>
          <a:prstGeom prst="rect">
            <a:avLst/>
          </a:prstGeom>
          <a:noFill/>
        </p:spPr>
        <p:txBody>
          <a:bodyPr wrap="square" rtlCol="0">
            <a:spAutoFit/>
          </a:bodyPr>
          <a:lstStyle/>
          <a:p>
            <a:pPr marL="342900" indent="-342900" algn="just">
              <a:spcBef>
                <a:spcPts val="1000"/>
              </a:spcBef>
              <a:buFont typeface="Arial" panose="020B0604020202020204" pitchFamily="34" charset="0"/>
              <a:buChar char="•"/>
            </a:pPr>
            <a:r>
              <a:rPr lang="zh-CN" altLang="en-US" sz="2000" dirty="0">
                <a:solidFill>
                  <a:srgbClr val="7030A0"/>
                </a:solidFill>
              </a:rPr>
              <a:t>利用</a:t>
            </a:r>
            <a:r>
              <a:rPr lang="en-US" altLang="zh-CN" sz="2000" dirty="0" err="1">
                <a:solidFill>
                  <a:srgbClr val="7030A0"/>
                </a:solidFill>
              </a:rPr>
              <a:t>Jieba</a:t>
            </a:r>
            <a:r>
              <a:rPr lang="zh-CN" altLang="en-US" sz="2000" dirty="0">
                <a:solidFill>
                  <a:srgbClr val="7030A0"/>
                </a:solidFill>
              </a:rPr>
              <a:t>进行关键词提取：</a:t>
            </a:r>
            <a:r>
              <a:rPr lang="zh-CN" altLang="en-US" sz="2000" dirty="0">
                <a:solidFill>
                  <a:srgbClr val="0432FF"/>
                </a:solidFill>
              </a:rPr>
              <a:t>基于</a:t>
            </a:r>
            <a:r>
              <a:rPr lang="en-US" altLang="zh-CN" sz="2000" dirty="0">
                <a:solidFill>
                  <a:srgbClr val="0432FF"/>
                </a:solidFill>
              </a:rPr>
              <a:t>TF-IDF</a:t>
            </a:r>
          </a:p>
        </p:txBody>
      </p:sp>
      <p:pic>
        <p:nvPicPr>
          <p:cNvPr id="4" name="Picture 3">
            <a:extLst>
              <a:ext uri="{FF2B5EF4-FFF2-40B4-BE49-F238E27FC236}">
                <a16:creationId xmlns:a16="http://schemas.microsoft.com/office/drawing/2014/main" id="{E65D06EB-0E5A-30EE-12D1-83CE275D523F}"/>
              </a:ext>
            </a:extLst>
          </p:cNvPr>
          <p:cNvPicPr>
            <a:picLocks noChangeAspect="1"/>
          </p:cNvPicPr>
          <p:nvPr/>
        </p:nvPicPr>
        <p:blipFill>
          <a:blip r:embed="rId3"/>
          <a:stretch>
            <a:fillRect/>
          </a:stretch>
        </p:blipFill>
        <p:spPr>
          <a:xfrm>
            <a:off x="466867" y="1972967"/>
            <a:ext cx="7772400" cy="3484539"/>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4666C263-6603-7FAD-0E2D-2CEFFC39D013}"/>
              </a:ext>
            </a:extLst>
          </p:cNvPr>
          <p:cNvPicPr>
            <a:picLocks noChangeAspect="1"/>
          </p:cNvPicPr>
          <p:nvPr/>
        </p:nvPicPr>
        <p:blipFill>
          <a:blip r:embed="rId4"/>
          <a:stretch>
            <a:fillRect/>
          </a:stretch>
        </p:blipFill>
        <p:spPr>
          <a:xfrm>
            <a:off x="8478103" y="972036"/>
            <a:ext cx="3124200" cy="54864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147153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dirty="0"/>
              <a:t>11.3 </a:t>
            </a:r>
            <a:r>
              <a:rPr lang="zh-CN" altLang="en-US" dirty="0"/>
              <a:t>自然语言处理常用工具库</a:t>
            </a:r>
            <a:endParaRPr lang="en-US" dirty="0"/>
          </a:p>
        </p:txBody>
      </p:sp>
      <p:sp>
        <p:nvSpPr>
          <p:cNvPr id="3" name="文本框 2"/>
          <p:cNvSpPr txBox="1"/>
          <p:nvPr/>
        </p:nvSpPr>
        <p:spPr>
          <a:xfrm>
            <a:off x="1068388" y="1400494"/>
            <a:ext cx="9982200" cy="400110"/>
          </a:xfrm>
          <a:prstGeom prst="rect">
            <a:avLst/>
          </a:prstGeom>
          <a:noFill/>
        </p:spPr>
        <p:txBody>
          <a:bodyPr wrap="square" rtlCol="0">
            <a:spAutoFit/>
          </a:bodyPr>
          <a:lstStyle/>
          <a:p>
            <a:pPr marL="342900" indent="-342900" algn="just">
              <a:spcBef>
                <a:spcPts val="1000"/>
              </a:spcBef>
              <a:buFont typeface="Arial" panose="020B0604020202020204" pitchFamily="34" charset="0"/>
              <a:buChar char="•"/>
            </a:pPr>
            <a:r>
              <a:rPr lang="zh-CN" altLang="en-US" sz="2000" dirty="0">
                <a:solidFill>
                  <a:srgbClr val="7030A0"/>
                </a:solidFill>
              </a:rPr>
              <a:t>利用</a:t>
            </a:r>
            <a:r>
              <a:rPr lang="en-US" altLang="zh-CN" sz="2000" dirty="0" err="1">
                <a:solidFill>
                  <a:srgbClr val="7030A0"/>
                </a:solidFill>
              </a:rPr>
              <a:t>Jieba</a:t>
            </a:r>
            <a:r>
              <a:rPr lang="zh-CN" altLang="en-US" sz="2000" dirty="0">
                <a:solidFill>
                  <a:srgbClr val="7030A0"/>
                </a:solidFill>
              </a:rPr>
              <a:t>进行关键词提取</a:t>
            </a:r>
            <a:r>
              <a:rPr lang="en-US" altLang="zh-CN" sz="2000" dirty="0">
                <a:solidFill>
                  <a:srgbClr val="7030A0"/>
                </a:solidFill>
              </a:rPr>
              <a:t>:</a:t>
            </a:r>
            <a:r>
              <a:rPr lang="zh-CN" altLang="en-US" sz="2000" dirty="0">
                <a:solidFill>
                  <a:srgbClr val="7030A0"/>
                </a:solidFill>
              </a:rPr>
              <a:t> </a:t>
            </a:r>
            <a:r>
              <a:rPr lang="zh-CN" altLang="en-US" sz="2000" dirty="0">
                <a:solidFill>
                  <a:srgbClr val="0432FF"/>
                </a:solidFill>
              </a:rPr>
              <a:t>基于</a:t>
            </a:r>
            <a:r>
              <a:rPr lang="en-US" altLang="zh-CN" sz="2000" dirty="0" err="1">
                <a:solidFill>
                  <a:srgbClr val="0432FF"/>
                </a:solidFill>
              </a:rPr>
              <a:t>TextRank</a:t>
            </a:r>
            <a:endParaRPr lang="en-US" altLang="zh-CN" sz="2000" dirty="0">
              <a:solidFill>
                <a:srgbClr val="0432FF"/>
              </a:solidFill>
            </a:endParaRPr>
          </a:p>
        </p:txBody>
      </p:sp>
      <p:pic>
        <p:nvPicPr>
          <p:cNvPr id="4" name="Picture 3">
            <a:extLst>
              <a:ext uri="{FF2B5EF4-FFF2-40B4-BE49-F238E27FC236}">
                <a16:creationId xmlns:a16="http://schemas.microsoft.com/office/drawing/2014/main" id="{B4DCAC94-20C0-7BA5-356C-932AE2ACBC14}"/>
              </a:ext>
            </a:extLst>
          </p:cNvPr>
          <p:cNvPicPr>
            <a:picLocks noChangeAspect="1"/>
          </p:cNvPicPr>
          <p:nvPr/>
        </p:nvPicPr>
        <p:blipFill>
          <a:blip r:embed="rId3"/>
          <a:stretch>
            <a:fillRect/>
          </a:stretch>
        </p:blipFill>
        <p:spPr>
          <a:xfrm>
            <a:off x="523922" y="2446947"/>
            <a:ext cx="7772400" cy="1307620"/>
          </a:xfrm>
          <a:prstGeom prst="rect">
            <a:avLst/>
          </a:prstGeom>
          <a:effectLst>
            <a:outerShdw blurRad="63500" sx="102000" sy="102000" algn="ctr" rotWithShape="0">
              <a:prstClr val="black">
                <a:alpha val="40000"/>
              </a:prstClr>
            </a:outerShdw>
          </a:effectLst>
        </p:spPr>
      </p:pic>
      <p:pic>
        <p:nvPicPr>
          <p:cNvPr id="9" name="Picture 8">
            <a:extLst>
              <a:ext uri="{FF2B5EF4-FFF2-40B4-BE49-F238E27FC236}">
                <a16:creationId xmlns:a16="http://schemas.microsoft.com/office/drawing/2014/main" id="{9B333FC1-E801-A651-7093-A2F31BC70DBD}"/>
              </a:ext>
            </a:extLst>
          </p:cNvPr>
          <p:cNvPicPr>
            <a:picLocks noChangeAspect="1"/>
          </p:cNvPicPr>
          <p:nvPr/>
        </p:nvPicPr>
        <p:blipFill>
          <a:blip r:embed="rId4"/>
          <a:stretch>
            <a:fillRect/>
          </a:stretch>
        </p:blipFill>
        <p:spPr>
          <a:xfrm>
            <a:off x="8594678" y="904164"/>
            <a:ext cx="3073400" cy="54864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385242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just">
              <a:spcBef>
                <a:spcPts val="1000"/>
              </a:spcBef>
            </a:pPr>
            <a:r>
              <a:rPr lang="zh-CN" altLang="en-US" sz="2800" dirty="0">
                <a:solidFill>
                  <a:srgbClr val="0432FF"/>
                </a:solidFill>
              </a:rPr>
              <a:t>（</a:t>
            </a:r>
            <a:r>
              <a:rPr lang="en-US" altLang="zh-CN" sz="2800" dirty="0">
                <a:solidFill>
                  <a:srgbClr val="0432FF"/>
                </a:solidFill>
              </a:rPr>
              <a:t>3</a:t>
            </a:r>
            <a:r>
              <a:rPr lang="zh-CN" altLang="en-US" sz="2800" dirty="0">
                <a:solidFill>
                  <a:srgbClr val="0432FF"/>
                </a:solidFill>
              </a:rPr>
              <a:t>）</a:t>
            </a:r>
            <a:r>
              <a:rPr lang="en-US" altLang="zh-CN" sz="2800" dirty="0">
                <a:solidFill>
                  <a:srgbClr val="0432FF"/>
                </a:solidFill>
              </a:rPr>
              <a:t>PYLTP</a:t>
            </a:r>
            <a:r>
              <a:rPr lang="zh-CN" altLang="en-US" sz="2800" dirty="0">
                <a:solidFill>
                  <a:srgbClr val="0432FF"/>
                </a:solidFill>
              </a:rPr>
              <a:t> </a:t>
            </a:r>
            <a:r>
              <a:rPr lang="en-US" altLang="zh-CN" sz="2800" dirty="0">
                <a:solidFill>
                  <a:srgbClr val="0432FF"/>
                </a:solidFill>
              </a:rPr>
              <a:t> </a:t>
            </a:r>
            <a:r>
              <a:rPr lang="en-US" altLang="zh-CN" sz="2800" dirty="0">
                <a:solidFill>
                  <a:srgbClr val="0432FF"/>
                </a:solidFill>
                <a:hlinkClick r:id="rId3"/>
              </a:rPr>
              <a:t>https://pypi.org/project/pyltp/</a:t>
            </a:r>
            <a:r>
              <a:rPr lang="zh-CN" altLang="en-US" sz="2800" dirty="0">
                <a:solidFill>
                  <a:srgbClr val="0432FF"/>
                </a:solidFill>
              </a:rPr>
              <a:t> </a:t>
            </a:r>
            <a:r>
              <a:rPr lang="zh-CN" altLang="en-US" sz="2800" b="1" dirty="0">
                <a:solidFill>
                  <a:srgbClr val="C00000"/>
                </a:solidFill>
              </a:rPr>
              <a:t>（略）</a:t>
            </a:r>
            <a:endParaRPr lang="en-US" altLang="zh-CN" sz="2800" b="1" dirty="0">
              <a:solidFill>
                <a:srgbClr val="C00000"/>
              </a:solidFill>
            </a:endParaRPr>
          </a:p>
        </p:txBody>
      </p:sp>
      <p:sp>
        <p:nvSpPr>
          <p:cNvPr id="3" name="文本框 2"/>
          <p:cNvSpPr txBox="1"/>
          <p:nvPr/>
        </p:nvSpPr>
        <p:spPr>
          <a:xfrm>
            <a:off x="733512" y="1319722"/>
            <a:ext cx="6418158" cy="2534796"/>
          </a:xfrm>
          <a:prstGeom prst="rect">
            <a:avLst/>
          </a:prstGeom>
          <a:noFill/>
        </p:spPr>
        <p:txBody>
          <a:bodyPr wrap="square" rtlCol="0">
            <a:spAutoFit/>
          </a:bodyPr>
          <a:lstStyle/>
          <a:p>
            <a:pPr algn="just">
              <a:lnSpc>
                <a:spcPct val="150000"/>
              </a:lnSpc>
              <a:spcBef>
                <a:spcPts val="1000"/>
              </a:spcBef>
            </a:pPr>
            <a:r>
              <a:rPr lang="zh-CN" altLang="zh-CN" dirty="0"/>
              <a:t>语言技术平台（</a:t>
            </a:r>
            <a:r>
              <a:rPr lang="en-US" altLang="zh-CN" dirty="0" err="1"/>
              <a:t>Languange</a:t>
            </a:r>
            <a:r>
              <a:rPr lang="en-US" altLang="zh-CN" dirty="0"/>
              <a:t> </a:t>
            </a:r>
            <a:r>
              <a:rPr lang="en-US" altLang="zh-CN" dirty="0" err="1"/>
              <a:t>Technolog</a:t>
            </a:r>
            <a:r>
              <a:rPr lang="en-US" altLang="zh-CN" dirty="0"/>
              <a:t> Platform, LTP</a:t>
            </a:r>
            <a:r>
              <a:rPr lang="zh-CN" altLang="zh-CN" dirty="0"/>
              <a:t>）是由哈工大社会计算与信息检索中心研发的自然语言处理工具。</a:t>
            </a:r>
            <a:r>
              <a:rPr lang="en-US" altLang="zh-CN" dirty="0"/>
              <a:t>LTP</a:t>
            </a:r>
            <a:r>
              <a:rPr lang="zh-CN" altLang="zh-CN" dirty="0"/>
              <a:t>提供了一整套自底向上的中文语言处理模块（包括词法、句法、语义等</a:t>
            </a:r>
            <a:r>
              <a:rPr lang="en-US" altLang="zh-CN" dirty="0"/>
              <a:t>6</a:t>
            </a:r>
            <a:r>
              <a:rPr lang="zh-CN" altLang="zh-CN" dirty="0"/>
              <a:t>项中文处理核心技术）。</a:t>
            </a:r>
            <a:r>
              <a:rPr lang="en-US" altLang="zh-CN" dirty="0"/>
              <a:t>PYLTP</a:t>
            </a:r>
            <a:r>
              <a:rPr lang="zh-CN" altLang="zh-CN" dirty="0"/>
              <a:t>是</a:t>
            </a:r>
            <a:r>
              <a:rPr lang="en-US" altLang="zh-CN" dirty="0"/>
              <a:t>LTP</a:t>
            </a:r>
            <a:r>
              <a:rPr lang="zh-CN" altLang="zh-CN" dirty="0"/>
              <a:t>的</a:t>
            </a:r>
            <a:r>
              <a:rPr lang="en-US" altLang="zh-CN" dirty="0"/>
              <a:t>Python</a:t>
            </a:r>
            <a:r>
              <a:rPr lang="zh-CN" altLang="zh-CN" dirty="0"/>
              <a:t>封装，本节将介绍</a:t>
            </a:r>
            <a:r>
              <a:rPr lang="en-US" altLang="zh-CN" dirty="0"/>
              <a:t>PYLTP</a:t>
            </a:r>
            <a:r>
              <a:rPr lang="zh-CN" altLang="zh-CN" dirty="0"/>
              <a:t>的安装及使用方法。（注：当前的</a:t>
            </a:r>
            <a:r>
              <a:rPr lang="en-US" altLang="zh-CN" dirty="0" err="1"/>
              <a:t>pyltp</a:t>
            </a:r>
            <a:r>
              <a:rPr lang="zh-CN" altLang="zh-CN" dirty="0"/>
              <a:t>不支持</a:t>
            </a:r>
            <a:r>
              <a:rPr lang="en-US" altLang="zh-CN" dirty="0"/>
              <a:t>Python 3.7</a:t>
            </a:r>
            <a:r>
              <a:rPr lang="zh-CN" altLang="zh-CN" dirty="0"/>
              <a:t>及以上版本）</a:t>
            </a:r>
            <a:endParaRPr lang="zh-CN" altLang="en-US" dirty="0"/>
          </a:p>
        </p:txBody>
      </p:sp>
      <p:sp>
        <p:nvSpPr>
          <p:cNvPr id="5" name="文本框 4"/>
          <p:cNvSpPr txBox="1"/>
          <p:nvPr/>
        </p:nvSpPr>
        <p:spPr>
          <a:xfrm>
            <a:off x="831254" y="4324573"/>
            <a:ext cx="5949718" cy="1923604"/>
          </a:xfrm>
          <a:prstGeom prst="rect">
            <a:avLst/>
          </a:prstGeom>
          <a:noFill/>
        </p:spPr>
        <p:txBody>
          <a:bodyPr wrap="square" rtlCol="0">
            <a:spAutoFit/>
          </a:bodyPr>
          <a:lstStyle/>
          <a:p>
            <a:pPr marL="285750" indent="-285750">
              <a:buFont typeface="Arial" panose="020B0604020202020204" pitchFamily="34" charset="0"/>
              <a:buChar char="•"/>
            </a:pPr>
            <a:r>
              <a:rPr lang="zh-CN" altLang="en-US" sz="2000" dirty="0">
                <a:solidFill>
                  <a:srgbClr val="7030A0"/>
                </a:solidFill>
              </a:rPr>
              <a:t>安装</a:t>
            </a:r>
            <a:r>
              <a:rPr lang="en-US" altLang="zh-CN" sz="2000" dirty="0">
                <a:solidFill>
                  <a:srgbClr val="7030A0"/>
                </a:solidFill>
              </a:rPr>
              <a:t>PYLTP</a:t>
            </a:r>
          </a:p>
          <a:p>
            <a:pPr lvl="0">
              <a:lnSpc>
                <a:spcPct val="150000"/>
              </a:lnSpc>
            </a:pPr>
            <a:r>
              <a:rPr lang="en-US" altLang="zh-CN" sz="2000" dirty="0"/>
              <a:t>    </a:t>
            </a:r>
            <a:r>
              <a:rPr lang="zh-CN" altLang="zh-CN" sz="1600" dirty="0"/>
              <a:t>下载</a:t>
            </a:r>
            <a:r>
              <a:rPr lang="en-US" altLang="zh-CN" sz="1600" dirty="0"/>
              <a:t>pyltp-0.2.1-cp36-cp36m-win_amd64.whl</a:t>
            </a:r>
            <a:r>
              <a:rPr lang="zh-CN" altLang="zh-CN" sz="1600" dirty="0"/>
              <a:t>（对应</a:t>
            </a:r>
            <a:r>
              <a:rPr lang="en-US" altLang="zh-CN" sz="1600" dirty="0"/>
              <a:t>Python3.6</a:t>
            </a:r>
            <a:r>
              <a:rPr lang="zh-CN" altLang="zh-CN" sz="1600" dirty="0"/>
              <a:t>版本）</a:t>
            </a:r>
            <a:r>
              <a:rPr lang="en-US" altLang="zh-CN" sz="1600" dirty="0"/>
              <a:t>,</a:t>
            </a:r>
            <a:r>
              <a:rPr lang="zh-CN" altLang="zh-CN" sz="1600" dirty="0"/>
              <a:t>通过</a:t>
            </a:r>
            <a:r>
              <a:rPr lang="en-US" altLang="zh-CN" sz="1600" dirty="0"/>
              <a:t>pip</a:t>
            </a:r>
            <a:r>
              <a:rPr lang="zh-CN" altLang="zh-CN" sz="1600" dirty="0"/>
              <a:t>进行安装：</a:t>
            </a:r>
            <a:r>
              <a:rPr lang="en-US" altLang="zh-CN" sz="1600" dirty="0">
                <a:latin typeface="Consolas" panose="020B0609020204030204" pitchFamily="49" charset="0"/>
              </a:rPr>
              <a:t>pip install pyltp-0.2.1-cp36-cp36m-win_amd64.whl</a:t>
            </a:r>
            <a:r>
              <a:rPr lang="zh-CN" altLang="en-US" sz="1600" dirty="0">
                <a:latin typeface="Times New Roman" panose="02020603050405020304" pitchFamily="18" charset="0"/>
                <a:cs typeface="Times New Roman" panose="02020603050405020304" pitchFamily="18" charset="0"/>
              </a:rPr>
              <a:t>。</a:t>
            </a:r>
            <a:r>
              <a:rPr lang="zh-CN" altLang="zh-CN" sz="1600" dirty="0"/>
              <a:t>在完成以上的安装步骤后</a:t>
            </a:r>
            <a:r>
              <a:rPr lang="zh-CN" altLang="zh-CN" sz="1600" dirty="0">
                <a:latin typeface="宋体" panose="02010600030101010101" pitchFamily="2" charset="-122"/>
                <a:ea typeface="宋体" panose="02010600030101010101" pitchFamily="2" charset="-122"/>
              </a:rPr>
              <a:t>需下载完整的模型</a:t>
            </a:r>
            <a:r>
              <a:rPr lang="zh-CN" altLang="en-US" sz="1600" dirty="0">
                <a:latin typeface="宋体" panose="02010600030101010101" pitchFamily="2" charset="-122"/>
                <a:ea typeface="宋体" panose="02010600030101010101" pitchFamily="2" charset="-122"/>
              </a:rPr>
              <a:t>才可使用。</a:t>
            </a:r>
            <a:r>
              <a:rPr lang="zh-CN" altLang="en-US" sz="1600" dirty="0">
                <a:solidFill>
                  <a:srgbClr val="7030A0"/>
                </a:solidFill>
                <a:latin typeface="宋体" panose="02010600030101010101" pitchFamily="2" charset="-122"/>
                <a:ea typeface="宋体" panose="02010600030101010101" pitchFamily="2" charset="-122"/>
              </a:rPr>
              <a:t>目前</a:t>
            </a:r>
            <a:r>
              <a:rPr lang="en-US" altLang="zh-CN" sz="1600" dirty="0">
                <a:solidFill>
                  <a:srgbClr val="7030A0"/>
                </a:solidFill>
                <a:latin typeface="宋体" panose="02010600030101010101" pitchFamily="2" charset="-122"/>
                <a:ea typeface="宋体" panose="02010600030101010101" pitchFamily="2" charset="-122"/>
              </a:rPr>
              <a:t>PYLTP</a:t>
            </a:r>
            <a:r>
              <a:rPr lang="zh-CN" altLang="en-US" sz="1600" dirty="0">
                <a:solidFill>
                  <a:srgbClr val="7030A0"/>
                </a:solidFill>
                <a:latin typeface="宋体" panose="02010600030101010101" pitchFamily="2" charset="-122"/>
                <a:ea typeface="宋体" panose="02010600030101010101" pitchFamily="2" charset="-122"/>
              </a:rPr>
              <a:t>包含以下五个模型</a:t>
            </a:r>
            <a:r>
              <a:rPr lang="zh-CN" altLang="en-US" sz="1600" dirty="0">
                <a:latin typeface="宋体" panose="02010600030101010101" pitchFamily="2" charset="-122"/>
                <a:ea typeface="宋体" panose="02010600030101010101" pitchFamily="2" charset="-122"/>
              </a:rPr>
              <a:t>：</a:t>
            </a:r>
          </a:p>
        </p:txBody>
      </p:sp>
      <p:graphicFrame>
        <p:nvGraphicFramePr>
          <p:cNvPr id="8" name="表格 7"/>
          <p:cNvGraphicFramePr>
            <a:graphicFrameLocks noGrp="1"/>
          </p:cNvGraphicFramePr>
          <p:nvPr>
            <p:extLst>
              <p:ext uri="{D42A27DB-BD31-4B8C-83A1-F6EECF244321}">
                <p14:modId xmlns:p14="http://schemas.microsoft.com/office/powerpoint/2010/main" val="2663118719"/>
              </p:ext>
            </p:extLst>
          </p:nvPr>
        </p:nvGraphicFramePr>
        <p:xfrm>
          <a:off x="6780972" y="4800377"/>
          <a:ext cx="4859866" cy="1447800"/>
        </p:xfrm>
        <a:graphic>
          <a:graphicData uri="http://schemas.openxmlformats.org/drawingml/2006/table">
            <a:tbl>
              <a:tblPr firstRow="1" firstCol="1" bandRow="1"/>
              <a:tblGrid>
                <a:gridCol w="2199939">
                  <a:extLst>
                    <a:ext uri="{9D8B030D-6E8A-4147-A177-3AD203B41FA5}">
                      <a16:colId xmlns:a16="http://schemas.microsoft.com/office/drawing/2014/main" val="1543819406"/>
                    </a:ext>
                  </a:extLst>
                </a:gridCol>
                <a:gridCol w="2659927">
                  <a:extLst>
                    <a:ext uri="{9D8B030D-6E8A-4147-A177-3AD203B41FA5}">
                      <a16:colId xmlns:a16="http://schemas.microsoft.com/office/drawing/2014/main" val="421098772"/>
                    </a:ext>
                  </a:extLst>
                </a:gridCol>
              </a:tblGrid>
              <a:tr h="0">
                <a:tc>
                  <a:txBody>
                    <a:bodyPr/>
                    <a:lstStyle/>
                    <a:p>
                      <a:pPr indent="14605" algn="ctr">
                        <a:lnSpc>
                          <a:spcPts val="1900"/>
                        </a:lnSpc>
                        <a:spcAft>
                          <a:spcPts val="0"/>
                        </a:spcAft>
                        <a:tabLst>
                          <a:tab pos="15875" algn="l"/>
                        </a:tabLst>
                      </a:pPr>
                      <a:r>
                        <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模型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900"/>
                        </a:lnSpc>
                        <a:spcAft>
                          <a:spcPts val="0"/>
                        </a:spcAft>
                      </a:pPr>
                      <a:r>
                        <a:rPr lang="zh-CN" sz="18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功能说明</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86129195"/>
                  </a:ext>
                </a:extLst>
              </a:tr>
              <a:tr h="0">
                <a:tc>
                  <a:txBody>
                    <a:bodyPr/>
                    <a:lstStyle/>
                    <a:p>
                      <a:pPr indent="127000" algn="ctr">
                        <a:lnSpc>
                          <a:spcPts val="1900"/>
                        </a:lnSpc>
                        <a:spcAft>
                          <a:spcPts val="0"/>
                        </a:spcAft>
                      </a:pPr>
                      <a:r>
                        <a:rPr lang="en-US" sz="1800" b="0" kern="100" dirty="0" err="1">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cws.model</a:t>
                      </a:r>
                      <a:endPar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900"/>
                        </a:lnSpc>
                        <a:spcAft>
                          <a:spcPts val="0"/>
                        </a:spcAft>
                      </a:pPr>
                      <a:r>
                        <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分词模型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00660371"/>
                  </a:ext>
                </a:extLst>
              </a:tr>
              <a:tr h="0">
                <a:tc>
                  <a:txBody>
                    <a:bodyPr/>
                    <a:lstStyle/>
                    <a:p>
                      <a:pPr indent="127000" algn="ctr">
                        <a:lnSpc>
                          <a:spcPts val="1900"/>
                        </a:lnSpc>
                        <a:spcAft>
                          <a:spcPts val="0"/>
                        </a:spcAft>
                      </a:pPr>
                      <a:r>
                        <a:rPr lang="en-US" sz="1800" b="0" kern="100" dirty="0" err="1">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pos.model</a:t>
                      </a:r>
                      <a:endPar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900"/>
                        </a:lnSpc>
                        <a:spcAft>
                          <a:spcPts val="0"/>
                        </a:spcAft>
                      </a:pPr>
                      <a:r>
                        <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词性标注模型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139679563"/>
                  </a:ext>
                </a:extLst>
              </a:tr>
              <a:tr h="0">
                <a:tc>
                  <a:txBody>
                    <a:bodyPr/>
                    <a:lstStyle/>
                    <a:p>
                      <a:pPr indent="127000" algn="ctr">
                        <a:lnSpc>
                          <a:spcPts val="1900"/>
                        </a:lnSpc>
                        <a:spcAft>
                          <a:spcPts val="0"/>
                        </a:spcAft>
                      </a:pPr>
                      <a:r>
                        <a:rPr lang="en-US" sz="1800" b="0" kern="100" dirty="0" err="1">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ner.model</a:t>
                      </a:r>
                      <a:endPar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900"/>
                        </a:lnSpc>
                        <a:spcAft>
                          <a:spcPts val="0"/>
                        </a:spcAft>
                      </a:pPr>
                      <a:r>
                        <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命名实体识别模型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44315072"/>
                  </a:ext>
                </a:extLst>
              </a:tr>
              <a:tr h="0">
                <a:tc>
                  <a:txBody>
                    <a:bodyPr/>
                    <a:lstStyle/>
                    <a:p>
                      <a:pPr indent="127000" algn="ctr">
                        <a:lnSpc>
                          <a:spcPts val="1900"/>
                        </a:lnSpc>
                        <a:spcAft>
                          <a:spcPts val="0"/>
                        </a:spcAft>
                      </a:pPr>
                      <a:r>
                        <a:rPr lang="en-US" sz="18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parser.model</a:t>
                      </a:r>
                      <a:endParaRPr lang="zh-CN" sz="1800" b="0" kern="10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900"/>
                        </a:lnSpc>
                        <a:spcAft>
                          <a:spcPts val="0"/>
                        </a:spcAft>
                      </a:pPr>
                      <a:r>
                        <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依存句法分析模型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08202589"/>
                  </a:ext>
                </a:extLst>
              </a:tr>
              <a:tr h="0">
                <a:tc>
                  <a:txBody>
                    <a:bodyPr/>
                    <a:lstStyle/>
                    <a:p>
                      <a:pPr indent="127000" algn="ctr">
                        <a:lnSpc>
                          <a:spcPts val="1900"/>
                        </a:lnSpc>
                        <a:spcAft>
                          <a:spcPts val="0"/>
                        </a:spcAft>
                      </a:pPr>
                      <a:r>
                        <a:rPr lang="en-US" sz="1800" b="0" kern="100" dirty="0" err="1">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pisrl_model</a:t>
                      </a:r>
                      <a:endPar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indent="127000" algn="ctr">
                        <a:lnSpc>
                          <a:spcPts val="1900"/>
                        </a:lnSpc>
                        <a:spcAft>
                          <a:spcPts val="0"/>
                        </a:spcAft>
                      </a:pPr>
                      <a:r>
                        <a:rPr lang="zh-CN" sz="1800" b="0" kern="100" dirty="0">
                          <a:solidFill>
                            <a:schemeClr val="tx1"/>
                          </a:solidFill>
                          <a:effectLst/>
                          <a:latin typeface="宋体" panose="02010600030101010101" pitchFamily="2" charset="-122"/>
                          <a:ea typeface="宋体" panose="02010600030101010101" pitchFamily="2" charset="-122"/>
                          <a:cs typeface="Times New Roman" panose="02020603050405020304" pitchFamily="18" charset="0"/>
                        </a:rPr>
                        <a:t>语义角色标注模型</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348517716"/>
                  </a:ext>
                </a:extLst>
              </a:tr>
            </a:tbl>
          </a:graphicData>
        </a:graphic>
      </p:graphicFrame>
      <p:pic>
        <p:nvPicPr>
          <p:cNvPr id="4" name="Picture 3">
            <a:extLst>
              <a:ext uri="{FF2B5EF4-FFF2-40B4-BE49-F238E27FC236}">
                <a16:creationId xmlns:a16="http://schemas.microsoft.com/office/drawing/2014/main" id="{21CE47DA-DD12-EA35-618C-629C5FE0C25D}"/>
              </a:ext>
            </a:extLst>
          </p:cNvPr>
          <p:cNvPicPr>
            <a:picLocks noChangeAspect="1"/>
          </p:cNvPicPr>
          <p:nvPr/>
        </p:nvPicPr>
        <p:blipFill>
          <a:blip r:embed="rId4"/>
          <a:stretch>
            <a:fillRect/>
          </a:stretch>
        </p:blipFill>
        <p:spPr>
          <a:xfrm>
            <a:off x="7018106" y="1026556"/>
            <a:ext cx="4858820" cy="3121127"/>
          </a:xfrm>
          <a:prstGeom prst="rect">
            <a:avLst/>
          </a:prstGeom>
        </p:spPr>
      </p:pic>
      <p:sp>
        <p:nvSpPr>
          <p:cNvPr id="7" name="TextBox 6">
            <a:extLst>
              <a:ext uri="{FF2B5EF4-FFF2-40B4-BE49-F238E27FC236}">
                <a16:creationId xmlns:a16="http://schemas.microsoft.com/office/drawing/2014/main" id="{6154DBC2-44EC-65A3-0D9F-3ADD9924ADD3}"/>
              </a:ext>
            </a:extLst>
          </p:cNvPr>
          <p:cNvSpPr txBox="1"/>
          <p:nvPr/>
        </p:nvSpPr>
        <p:spPr>
          <a:xfrm>
            <a:off x="599120" y="3970537"/>
            <a:ext cx="11277806" cy="338554"/>
          </a:xfrm>
          <a:prstGeom prst="rect">
            <a:avLst/>
          </a:prstGeom>
          <a:noFill/>
        </p:spPr>
        <p:txBody>
          <a:bodyPr wrap="square">
            <a:spAutoFit/>
          </a:bodyPr>
          <a:lstStyle/>
          <a:p>
            <a:r>
              <a:rPr lang="zh-CN" altLang="en-US" sz="1600" b="1" i="0" dirty="0">
                <a:solidFill>
                  <a:srgbClr val="464646"/>
                </a:solidFill>
                <a:effectLst/>
                <a:latin typeface="Source Sans 3"/>
              </a:rPr>
              <a:t>目前基于</a:t>
            </a:r>
            <a:r>
              <a:rPr lang="en-US" sz="1600" b="1" i="0" dirty="0" err="1">
                <a:solidFill>
                  <a:srgbClr val="464646"/>
                </a:solidFill>
                <a:effectLst/>
                <a:latin typeface="Source Sans 3"/>
              </a:rPr>
              <a:t>Pytorch</a:t>
            </a:r>
            <a:r>
              <a:rPr lang="zh-CN" altLang="en-US" sz="1600" b="1" i="0" dirty="0">
                <a:solidFill>
                  <a:srgbClr val="464646"/>
                </a:solidFill>
                <a:effectLst/>
                <a:latin typeface="Source Sans 3"/>
              </a:rPr>
              <a:t>的</a:t>
            </a:r>
            <a:r>
              <a:rPr lang="en-US" sz="1600" b="1" i="0" dirty="0">
                <a:solidFill>
                  <a:srgbClr val="464646"/>
                </a:solidFill>
                <a:effectLst/>
                <a:latin typeface="Source Sans 3"/>
              </a:rPr>
              <a:t>LTP4 </a:t>
            </a:r>
            <a:r>
              <a:rPr lang="zh-CN" altLang="en-US" sz="1600" b="1" i="0" dirty="0">
                <a:solidFill>
                  <a:srgbClr val="464646"/>
                </a:solidFill>
                <a:effectLst/>
                <a:latin typeface="Source Sans 3"/>
              </a:rPr>
              <a:t>已经发布，而</a:t>
            </a:r>
            <a:r>
              <a:rPr lang="en-US" sz="1600" b="1" i="0" dirty="0" err="1">
                <a:solidFill>
                  <a:srgbClr val="C00000"/>
                </a:solidFill>
                <a:effectLst/>
                <a:latin typeface="Source Sans 3"/>
              </a:rPr>
              <a:t>PyLTP</a:t>
            </a:r>
            <a:r>
              <a:rPr lang="zh-CN" altLang="en-US" sz="1600" b="1" i="0" dirty="0">
                <a:solidFill>
                  <a:srgbClr val="C00000"/>
                </a:solidFill>
                <a:effectLst/>
                <a:latin typeface="Source Sans 3"/>
              </a:rPr>
              <a:t>将会只有非常有限的维护</a:t>
            </a:r>
            <a:r>
              <a:rPr lang="zh-CN" altLang="en-US" sz="1600" b="1" i="0" dirty="0">
                <a:solidFill>
                  <a:srgbClr val="464646"/>
                </a:solidFill>
                <a:effectLst/>
                <a:latin typeface="Source Sans 3"/>
              </a:rPr>
              <a:t>，请大家移步使用</a:t>
            </a:r>
            <a:r>
              <a:rPr lang="en-US" altLang="zh-CN" sz="1600" b="0" i="0" dirty="0">
                <a:solidFill>
                  <a:srgbClr val="464646"/>
                </a:solidFill>
                <a:effectLst/>
                <a:latin typeface="Source Sans 3"/>
              </a:rPr>
              <a:t>[</a:t>
            </a:r>
            <a:r>
              <a:rPr lang="en-US" sz="1600" b="0" i="0" dirty="0">
                <a:solidFill>
                  <a:srgbClr val="464646"/>
                </a:solidFill>
                <a:effectLst/>
                <a:latin typeface="Source Sans 3"/>
              </a:rPr>
              <a:t>LTP 4](https://</a:t>
            </a:r>
            <a:r>
              <a:rPr lang="en-US" sz="1600" b="0" i="0" dirty="0" err="1">
                <a:solidFill>
                  <a:srgbClr val="464646"/>
                </a:solidFill>
                <a:effectLst/>
                <a:latin typeface="Source Sans 3"/>
              </a:rPr>
              <a:t>github.com</a:t>
            </a:r>
            <a:r>
              <a:rPr lang="en-US" sz="1600" b="0" i="0" dirty="0">
                <a:solidFill>
                  <a:srgbClr val="464646"/>
                </a:solidFill>
                <a:effectLst/>
                <a:latin typeface="Source Sans 3"/>
              </a:rPr>
              <a:t>/HIT-SCIR/</a:t>
            </a:r>
            <a:r>
              <a:rPr lang="en-US" sz="1600" b="0" i="0" dirty="0" err="1">
                <a:solidFill>
                  <a:srgbClr val="464646"/>
                </a:solidFill>
                <a:effectLst/>
                <a:latin typeface="Source Sans 3"/>
              </a:rPr>
              <a:t>ltp</a:t>
            </a:r>
            <a:r>
              <a:rPr lang="en-US" sz="1600" b="0" i="0" dirty="0">
                <a:solidFill>
                  <a:srgbClr val="464646"/>
                </a:solidFill>
                <a:effectLst/>
                <a:latin typeface="Source Sans 3"/>
              </a:rPr>
              <a:t>)</a:t>
            </a:r>
            <a:endParaRPr lang="zh-CN" altLang="en-US" sz="1600" dirty="0"/>
          </a:p>
        </p:txBody>
      </p:sp>
    </p:spTree>
    <p:extLst>
      <p:ext uri="{BB962C8B-B14F-4D97-AF65-F5344CB8AC3E}">
        <p14:creationId xmlns:p14="http://schemas.microsoft.com/office/powerpoint/2010/main" val="2489112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970A2-74CE-87C5-61C8-BA49958B5F81}"/>
              </a:ext>
            </a:extLst>
          </p:cNvPr>
          <p:cNvSpPr>
            <a:spLocks noGrp="1"/>
          </p:cNvSpPr>
          <p:nvPr>
            <p:ph type="title"/>
          </p:nvPr>
        </p:nvSpPr>
        <p:spPr/>
        <p:txBody>
          <a:bodyPr/>
          <a:lstStyle/>
          <a:p>
            <a:r>
              <a:rPr kumimoji="1" lang="zh-CN" altLang="en-US" b="1" dirty="0">
                <a:solidFill>
                  <a:srgbClr val="C00000"/>
                </a:solidFill>
              </a:rPr>
              <a:t>大语言模型在</a:t>
            </a:r>
            <a:r>
              <a:rPr kumimoji="1" lang="en-US" altLang="zh-CN" b="1" dirty="0">
                <a:solidFill>
                  <a:srgbClr val="C00000"/>
                </a:solidFill>
              </a:rPr>
              <a:t>NLP</a:t>
            </a:r>
            <a:r>
              <a:rPr kumimoji="1" lang="zh-CN" altLang="en-US" b="1" dirty="0">
                <a:solidFill>
                  <a:srgbClr val="C00000"/>
                </a:solidFill>
              </a:rPr>
              <a:t>任务中的应用示例</a:t>
            </a:r>
          </a:p>
        </p:txBody>
      </p:sp>
      <p:pic>
        <p:nvPicPr>
          <p:cNvPr id="3" name="Picture 2">
            <a:extLst>
              <a:ext uri="{FF2B5EF4-FFF2-40B4-BE49-F238E27FC236}">
                <a16:creationId xmlns:a16="http://schemas.microsoft.com/office/drawing/2014/main" id="{7D4F4EE8-C8A2-E9D0-8296-CC8896A611F1}"/>
              </a:ext>
            </a:extLst>
          </p:cNvPr>
          <p:cNvPicPr>
            <a:picLocks noChangeAspect="1"/>
          </p:cNvPicPr>
          <p:nvPr/>
        </p:nvPicPr>
        <p:blipFill>
          <a:blip r:embed="rId2"/>
          <a:stretch>
            <a:fillRect/>
          </a:stretch>
        </p:blipFill>
        <p:spPr>
          <a:xfrm>
            <a:off x="2209041" y="1502971"/>
            <a:ext cx="7772400" cy="4616334"/>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1204918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C60287A-B4FF-6166-F6F8-541135EF89F8}"/>
              </a:ext>
            </a:extLst>
          </p:cNvPr>
          <p:cNvPicPr>
            <a:picLocks noChangeAspect="1"/>
          </p:cNvPicPr>
          <p:nvPr/>
        </p:nvPicPr>
        <p:blipFill>
          <a:blip r:embed="rId2"/>
          <a:stretch>
            <a:fillRect/>
          </a:stretch>
        </p:blipFill>
        <p:spPr>
          <a:xfrm>
            <a:off x="340057" y="726994"/>
            <a:ext cx="6224516" cy="5404011"/>
          </a:xfrm>
          <a:prstGeom prst="rect">
            <a:avLst/>
          </a:prstGeom>
          <a:effectLst>
            <a:outerShdw blurRad="63500" sx="102000" sy="102000" algn="ctr" rotWithShape="0">
              <a:prstClr val="black">
                <a:alpha val="40000"/>
              </a:prstClr>
            </a:outerShdw>
          </a:effectLst>
        </p:spPr>
      </p:pic>
      <p:pic>
        <p:nvPicPr>
          <p:cNvPr id="2" name="Picture 1">
            <a:extLst>
              <a:ext uri="{FF2B5EF4-FFF2-40B4-BE49-F238E27FC236}">
                <a16:creationId xmlns:a16="http://schemas.microsoft.com/office/drawing/2014/main" id="{0F8B7CFA-2938-F1FD-E291-39C3926B9662}"/>
              </a:ext>
            </a:extLst>
          </p:cNvPr>
          <p:cNvPicPr>
            <a:picLocks noChangeAspect="1"/>
          </p:cNvPicPr>
          <p:nvPr/>
        </p:nvPicPr>
        <p:blipFill>
          <a:blip r:embed="rId3"/>
          <a:stretch>
            <a:fillRect/>
          </a:stretch>
        </p:blipFill>
        <p:spPr>
          <a:xfrm>
            <a:off x="4216020" y="1679397"/>
            <a:ext cx="7772400" cy="2544369"/>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165146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5A377A-9E71-6882-FA6D-219BD7F3279A}"/>
              </a:ext>
            </a:extLst>
          </p:cNvPr>
          <p:cNvSpPr>
            <a:spLocks noGrp="1"/>
          </p:cNvSpPr>
          <p:nvPr>
            <p:ph type="title"/>
          </p:nvPr>
        </p:nvSpPr>
        <p:spPr/>
        <p:txBody>
          <a:bodyPr/>
          <a:lstStyle/>
          <a:p>
            <a:r>
              <a:rPr lang="zh-CN" altLang="en-US" b="1" i="0" dirty="0">
                <a:solidFill>
                  <a:srgbClr val="404040"/>
                </a:solidFill>
                <a:effectLst/>
                <a:latin typeface="DeepSeek-CJK-patch"/>
              </a:rPr>
              <a:t>句法分析（</a:t>
            </a:r>
            <a:r>
              <a:rPr lang="en-US" b="1" i="0" dirty="0">
                <a:solidFill>
                  <a:srgbClr val="404040"/>
                </a:solidFill>
                <a:effectLst/>
                <a:latin typeface="DeepSeek-CJK-patch"/>
              </a:rPr>
              <a:t>Syntactic Parsing）</a:t>
            </a:r>
            <a:endParaRPr kumimoji="1" lang="zh-CN" altLang="en-US" dirty="0"/>
          </a:p>
        </p:txBody>
      </p:sp>
      <p:pic>
        <p:nvPicPr>
          <p:cNvPr id="3" name="Picture 2">
            <a:extLst>
              <a:ext uri="{FF2B5EF4-FFF2-40B4-BE49-F238E27FC236}">
                <a16:creationId xmlns:a16="http://schemas.microsoft.com/office/drawing/2014/main" id="{810C0308-7DD6-B796-850D-CD58F465DFA4}"/>
              </a:ext>
            </a:extLst>
          </p:cNvPr>
          <p:cNvPicPr>
            <a:picLocks noChangeAspect="1"/>
          </p:cNvPicPr>
          <p:nvPr/>
        </p:nvPicPr>
        <p:blipFill>
          <a:blip r:embed="rId2"/>
          <a:stretch>
            <a:fillRect/>
          </a:stretch>
        </p:blipFill>
        <p:spPr>
          <a:xfrm>
            <a:off x="244521" y="483426"/>
            <a:ext cx="7493760" cy="4980718"/>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6639EA8C-06CE-E4ED-CB88-55FB15307FC4}"/>
              </a:ext>
            </a:extLst>
          </p:cNvPr>
          <p:cNvPicPr>
            <a:picLocks noChangeAspect="1"/>
          </p:cNvPicPr>
          <p:nvPr/>
        </p:nvPicPr>
        <p:blipFill>
          <a:blip r:embed="rId3"/>
          <a:stretch>
            <a:fillRect/>
          </a:stretch>
        </p:blipFill>
        <p:spPr>
          <a:xfrm>
            <a:off x="5475215" y="2322966"/>
            <a:ext cx="6224516" cy="4033183"/>
          </a:xfrm>
          <a:prstGeom prst="rect">
            <a:avLst/>
          </a:prstGeom>
          <a:effectLst>
            <a:outerShdw blurRad="63500" sx="102000" sy="102000" algn="ctr" rotWithShape="0">
              <a:prstClr val="black">
                <a:alpha val="40000"/>
              </a:prstClr>
            </a:outerShdw>
          </a:effectLst>
        </p:spPr>
      </p:pic>
      <p:pic>
        <p:nvPicPr>
          <p:cNvPr id="5" name="Picture 4">
            <a:extLst>
              <a:ext uri="{FF2B5EF4-FFF2-40B4-BE49-F238E27FC236}">
                <a16:creationId xmlns:a16="http://schemas.microsoft.com/office/drawing/2014/main" id="{3255EA7D-0D77-3F48-CE91-65CF25582680}"/>
              </a:ext>
            </a:extLst>
          </p:cNvPr>
          <p:cNvPicPr>
            <a:picLocks noChangeAspect="1"/>
          </p:cNvPicPr>
          <p:nvPr/>
        </p:nvPicPr>
        <p:blipFill>
          <a:blip r:embed="rId4"/>
          <a:stretch>
            <a:fillRect/>
          </a:stretch>
        </p:blipFill>
        <p:spPr>
          <a:xfrm>
            <a:off x="9033017" y="300132"/>
            <a:ext cx="2451100" cy="3632200"/>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9007520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9" presetClass="entr" presetSubtype="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dissolve">
                                      <p:cBhvr>
                                        <p:cTn id="1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B0FD3F-42C6-ADA9-A615-588BA1CE6A5D}"/>
              </a:ext>
            </a:extLst>
          </p:cNvPr>
          <p:cNvSpPr>
            <a:spLocks noGrp="1"/>
          </p:cNvSpPr>
          <p:nvPr>
            <p:ph type="title"/>
          </p:nvPr>
        </p:nvSpPr>
        <p:spPr/>
        <p:txBody>
          <a:bodyPr/>
          <a:lstStyle/>
          <a:p>
            <a:r>
              <a:rPr lang="zh-CN" altLang="en-US" b="1" i="0" dirty="0">
                <a:solidFill>
                  <a:srgbClr val="404040"/>
                </a:solidFill>
                <a:effectLst/>
                <a:latin typeface="DeepSeek-CJK-patch"/>
              </a:rPr>
              <a:t>命名实体识别（</a:t>
            </a:r>
            <a:r>
              <a:rPr lang="en-US" b="1" i="0" dirty="0">
                <a:solidFill>
                  <a:srgbClr val="404040"/>
                </a:solidFill>
                <a:effectLst/>
                <a:latin typeface="DeepSeek-CJK-patch"/>
              </a:rPr>
              <a:t>NER）</a:t>
            </a:r>
            <a:endParaRPr kumimoji="1" lang="zh-CN" altLang="en-US" dirty="0"/>
          </a:p>
        </p:txBody>
      </p:sp>
      <p:pic>
        <p:nvPicPr>
          <p:cNvPr id="3" name="Picture 2">
            <a:extLst>
              <a:ext uri="{FF2B5EF4-FFF2-40B4-BE49-F238E27FC236}">
                <a16:creationId xmlns:a16="http://schemas.microsoft.com/office/drawing/2014/main" id="{08F1C2CC-8061-6CA9-E954-6C8E10284BCC}"/>
              </a:ext>
            </a:extLst>
          </p:cNvPr>
          <p:cNvPicPr>
            <a:picLocks noChangeAspect="1"/>
          </p:cNvPicPr>
          <p:nvPr/>
        </p:nvPicPr>
        <p:blipFill>
          <a:blip r:embed="rId2"/>
          <a:stretch>
            <a:fillRect/>
          </a:stretch>
        </p:blipFill>
        <p:spPr>
          <a:xfrm>
            <a:off x="2332630" y="347403"/>
            <a:ext cx="7772400" cy="1651518"/>
          </a:xfrm>
          <a:prstGeom prst="rect">
            <a:avLst/>
          </a:prstGeom>
          <a:effectLst>
            <a:outerShdw blurRad="63500" sx="102000" sy="102000" algn="ctr" rotWithShape="0">
              <a:prstClr val="black">
                <a:alpha val="40000"/>
              </a:prstClr>
            </a:outerShdw>
          </a:effectLst>
        </p:spPr>
      </p:pic>
      <p:pic>
        <p:nvPicPr>
          <p:cNvPr id="4" name="Picture 3">
            <a:extLst>
              <a:ext uri="{FF2B5EF4-FFF2-40B4-BE49-F238E27FC236}">
                <a16:creationId xmlns:a16="http://schemas.microsoft.com/office/drawing/2014/main" id="{0B7C87AC-C9CA-DC3F-5732-E824A32A86EE}"/>
              </a:ext>
            </a:extLst>
          </p:cNvPr>
          <p:cNvPicPr>
            <a:picLocks noChangeAspect="1"/>
          </p:cNvPicPr>
          <p:nvPr/>
        </p:nvPicPr>
        <p:blipFill>
          <a:blip r:embed="rId3"/>
          <a:stretch>
            <a:fillRect/>
          </a:stretch>
        </p:blipFill>
        <p:spPr>
          <a:xfrm>
            <a:off x="2799497" y="2207242"/>
            <a:ext cx="6838666" cy="4303355"/>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3239808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checkerboard(across)">
                                      <p:cBhvr>
                                        <p:cTn id="1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78508E-B479-AF80-B779-723F9835AD55}"/>
              </a:ext>
            </a:extLst>
          </p:cNvPr>
          <p:cNvSpPr>
            <a:spLocks noGrp="1"/>
          </p:cNvSpPr>
          <p:nvPr>
            <p:ph type="title"/>
          </p:nvPr>
        </p:nvSpPr>
        <p:spPr/>
        <p:txBody>
          <a:bodyPr/>
          <a:lstStyle/>
          <a:p>
            <a:pPr algn="l">
              <a:spcBef>
                <a:spcPts val="1372"/>
              </a:spcBef>
              <a:spcAft>
                <a:spcPts val="1029"/>
              </a:spcAft>
            </a:pPr>
            <a:r>
              <a:rPr lang="zh-CN" altLang="en-US" b="1" i="0" dirty="0">
                <a:solidFill>
                  <a:srgbClr val="404040"/>
                </a:solidFill>
                <a:effectLst/>
                <a:latin typeface="DeepSeek-CJK-patch"/>
              </a:rPr>
              <a:t>情感分析（</a:t>
            </a:r>
            <a:r>
              <a:rPr lang="en-US" b="1" i="0" dirty="0">
                <a:solidFill>
                  <a:srgbClr val="404040"/>
                </a:solidFill>
                <a:effectLst/>
                <a:latin typeface="DeepSeek-CJK-patch"/>
              </a:rPr>
              <a:t>Sentiment Analysis）</a:t>
            </a:r>
            <a:endParaRPr lang="en-US" b="0" i="0" dirty="0">
              <a:solidFill>
                <a:srgbClr val="404040"/>
              </a:solidFill>
              <a:effectLst/>
              <a:latin typeface="DeepSeek-CJK-patch"/>
            </a:endParaRPr>
          </a:p>
        </p:txBody>
      </p:sp>
      <p:pic>
        <p:nvPicPr>
          <p:cNvPr id="3" name="Picture 2">
            <a:extLst>
              <a:ext uri="{FF2B5EF4-FFF2-40B4-BE49-F238E27FC236}">
                <a16:creationId xmlns:a16="http://schemas.microsoft.com/office/drawing/2014/main" id="{93269B4F-A761-E22D-DE1F-F261E574FFC6}"/>
              </a:ext>
            </a:extLst>
          </p:cNvPr>
          <p:cNvPicPr>
            <a:picLocks noChangeAspect="1"/>
          </p:cNvPicPr>
          <p:nvPr/>
        </p:nvPicPr>
        <p:blipFill>
          <a:blip r:embed="rId2"/>
          <a:stretch>
            <a:fillRect/>
          </a:stretch>
        </p:blipFill>
        <p:spPr>
          <a:xfrm>
            <a:off x="2209041" y="1657966"/>
            <a:ext cx="7772400" cy="3924206"/>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14693060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617517" y="2750961"/>
            <a:ext cx="10071099" cy="1684150"/>
          </a:xfrm>
        </p:spPr>
        <p:txBody>
          <a:bodyPr/>
          <a:lstStyle/>
          <a:p>
            <a:r>
              <a:rPr lang="zh-CN" altLang="en-US" b="1" dirty="0"/>
              <a:t>文本预处理实践</a:t>
            </a:r>
            <a:endParaRPr lang="en-US" b="1" dirty="0"/>
          </a:p>
        </p:txBody>
      </p:sp>
    </p:spTree>
    <p:extLst>
      <p:ext uri="{BB962C8B-B14F-4D97-AF65-F5344CB8AC3E}">
        <p14:creationId xmlns:p14="http://schemas.microsoft.com/office/powerpoint/2010/main" val="26528118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1123B3-0FC5-44B5-4010-FDDA9B5A31B9}"/>
              </a:ext>
            </a:extLst>
          </p:cNvPr>
          <p:cNvSpPr>
            <a:spLocks noGrp="1"/>
          </p:cNvSpPr>
          <p:nvPr>
            <p:ph type="title"/>
          </p:nvPr>
        </p:nvSpPr>
        <p:spPr/>
        <p:txBody>
          <a:bodyPr/>
          <a:lstStyle/>
          <a:p>
            <a:r>
              <a:rPr kumimoji="1" lang="zh-CN" altLang="en-US" dirty="0"/>
              <a:t>文本数据的收集与读入</a:t>
            </a:r>
          </a:p>
        </p:txBody>
      </p:sp>
      <p:sp>
        <p:nvSpPr>
          <p:cNvPr id="4" name="TextBox 3">
            <a:extLst>
              <a:ext uri="{FF2B5EF4-FFF2-40B4-BE49-F238E27FC236}">
                <a16:creationId xmlns:a16="http://schemas.microsoft.com/office/drawing/2014/main" id="{BC54DE8F-3C09-4900-4BBB-E5CE70B77726}"/>
              </a:ext>
            </a:extLst>
          </p:cNvPr>
          <p:cNvSpPr txBox="1"/>
          <p:nvPr/>
        </p:nvSpPr>
        <p:spPr>
          <a:xfrm>
            <a:off x="7441324" y="1489869"/>
            <a:ext cx="2963918" cy="923330"/>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下面的示例可以爬取指定网页的标题和其中的全部 </a:t>
            </a:r>
            <a:r>
              <a:rPr lang="en-US" b="0" i="0" dirty="0">
                <a:solidFill>
                  <a:srgbClr val="262625"/>
                </a:solidFill>
                <a:effectLst/>
                <a:latin typeface="Times New Roman" panose="02020603050405020304" pitchFamily="18" charset="0"/>
              </a:rPr>
              <a:t>URL </a:t>
            </a:r>
            <a:r>
              <a:rPr lang="zh-CN" altLang="en-US" b="0" i="0" dirty="0">
                <a:solidFill>
                  <a:srgbClr val="262625"/>
                </a:solidFill>
                <a:effectLst/>
                <a:latin typeface="Times New Roman" panose="02020603050405020304" pitchFamily="18" charset="0"/>
              </a:rPr>
              <a:t>链接。</a:t>
            </a:r>
            <a:endParaRPr lang="zh-CN" altLang="en-US" dirty="0"/>
          </a:p>
        </p:txBody>
      </p:sp>
      <p:pic>
        <p:nvPicPr>
          <p:cNvPr id="5" name="Picture 4">
            <a:extLst>
              <a:ext uri="{FF2B5EF4-FFF2-40B4-BE49-F238E27FC236}">
                <a16:creationId xmlns:a16="http://schemas.microsoft.com/office/drawing/2014/main" id="{D41C7C1E-DC05-6666-4E8B-3EA571BEB34E}"/>
              </a:ext>
            </a:extLst>
          </p:cNvPr>
          <p:cNvPicPr>
            <a:picLocks noChangeAspect="1"/>
          </p:cNvPicPr>
          <p:nvPr/>
        </p:nvPicPr>
        <p:blipFill>
          <a:blip r:embed="rId2"/>
          <a:stretch>
            <a:fillRect/>
          </a:stretch>
        </p:blipFill>
        <p:spPr>
          <a:xfrm>
            <a:off x="631716" y="1333500"/>
            <a:ext cx="6388100" cy="5524500"/>
          </a:xfrm>
          <a:prstGeom prst="rect">
            <a:avLst/>
          </a:prstGeom>
        </p:spPr>
      </p:pic>
      <p:pic>
        <p:nvPicPr>
          <p:cNvPr id="6" name="Picture 5">
            <a:extLst>
              <a:ext uri="{FF2B5EF4-FFF2-40B4-BE49-F238E27FC236}">
                <a16:creationId xmlns:a16="http://schemas.microsoft.com/office/drawing/2014/main" id="{8A9714A8-0926-E64A-98FA-701CA2CE3E23}"/>
              </a:ext>
            </a:extLst>
          </p:cNvPr>
          <p:cNvPicPr>
            <a:picLocks noChangeAspect="1"/>
          </p:cNvPicPr>
          <p:nvPr/>
        </p:nvPicPr>
        <p:blipFill>
          <a:blip r:embed="rId3"/>
          <a:stretch>
            <a:fillRect/>
          </a:stretch>
        </p:blipFill>
        <p:spPr>
          <a:xfrm>
            <a:off x="4038599" y="4335399"/>
            <a:ext cx="7772400" cy="1189101"/>
          </a:xfrm>
          <a:prstGeom prst="rect">
            <a:avLst/>
          </a:prstGeom>
        </p:spPr>
      </p:pic>
    </p:spTree>
    <p:extLst>
      <p:ext uri="{BB962C8B-B14F-4D97-AF65-F5344CB8AC3E}">
        <p14:creationId xmlns:p14="http://schemas.microsoft.com/office/powerpoint/2010/main" val="38880834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B7C45B-7EFB-0DB7-2EC1-1B8367087FD0}"/>
              </a:ext>
            </a:extLst>
          </p:cNvPr>
          <p:cNvSpPr>
            <a:spLocks noGrp="1"/>
          </p:cNvSpPr>
          <p:nvPr>
            <p:ph type="title"/>
          </p:nvPr>
        </p:nvSpPr>
        <p:spPr/>
        <p:txBody>
          <a:bodyPr/>
          <a:lstStyle/>
          <a:p>
            <a:r>
              <a:rPr kumimoji="1" lang="zh-CN" altLang="en-US" dirty="0"/>
              <a:t>文本清洗</a:t>
            </a:r>
          </a:p>
        </p:txBody>
      </p:sp>
      <p:pic>
        <p:nvPicPr>
          <p:cNvPr id="3" name="Picture 2">
            <a:extLst>
              <a:ext uri="{FF2B5EF4-FFF2-40B4-BE49-F238E27FC236}">
                <a16:creationId xmlns:a16="http://schemas.microsoft.com/office/drawing/2014/main" id="{2FE67EFE-6DF0-9AA4-219E-D42D17151D9C}"/>
              </a:ext>
            </a:extLst>
          </p:cNvPr>
          <p:cNvPicPr>
            <a:picLocks noChangeAspect="1"/>
          </p:cNvPicPr>
          <p:nvPr/>
        </p:nvPicPr>
        <p:blipFill>
          <a:blip r:embed="rId2"/>
          <a:stretch>
            <a:fillRect/>
          </a:stretch>
        </p:blipFill>
        <p:spPr>
          <a:xfrm>
            <a:off x="2209041" y="3429000"/>
            <a:ext cx="7772400" cy="1847537"/>
          </a:xfrm>
          <a:prstGeom prst="rect">
            <a:avLst/>
          </a:prstGeom>
        </p:spPr>
      </p:pic>
      <p:sp>
        <p:nvSpPr>
          <p:cNvPr id="5" name="TextBox 4">
            <a:extLst>
              <a:ext uri="{FF2B5EF4-FFF2-40B4-BE49-F238E27FC236}">
                <a16:creationId xmlns:a16="http://schemas.microsoft.com/office/drawing/2014/main" id="{3DDF0066-DD00-BC9C-7697-06885CD4D7CF}"/>
              </a:ext>
            </a:extLst>
          </p:cNvPr>
          <p:cNvSpPr txBox="1"/>
          <p:nvPr/>
        </p:nvSpPr>
        <p:spPr>
          <a:xfrm>
            <a:off x="1439916" y="1622674"/>
            <a:ext cx="8975835" cy="1705403"/>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文本清洗是数据预处理中的重要步骤，其主要作用是去除文本中无关或无意义的字符和标识，提升后续分析的准确性和效率。在文本分析中，这一过程通常包括去除多余空格、标点符号、特殊字符、换行符以及 </a:t>
            </a:r>
            <a:r>
              <a:rPr lang="en-US" b="0" i="0" dirty="0">
                <a:solidFill>
                  <a:srgbClr val="262625"/>
                </a:solidFill>
                <a:effectLst/>
                <a:latin typeface="Microsoft YaHei" panose="020B0503020204020204" pitchFamily="34" charset="-122"/>
                <a:ea typeface="Microsoft YaHei" panose="020B0503020204020204" pitchFamily="34" charset="-122"/>
              </a:rPr>
              <a:t>HTML </a:t>
            </a:r>
            <a:r>
              <a:rPr lang="zh-CN" altLang="en-US" b="0" i="0" dirty="0">
                <a:solidFill>
                  <a:srgbClr val="262625"/>
                </a:solidFill>
                <a:effectLst/>
                <a:latin typeface="Microsoft YaHei" panose="020B0503020204020204" pitchFamily="34" charset="-122"/>
                <a:ea typeface="Microsoft YaHei" panose="020B0503020204020204" pitchFamily="34" charset="-122"/>
              </a:rPr>
              <a:t>标签等无关元素。清洗文本在于简化文本内容，将数据转化为更干净、可解析的形式，同时保留与分析任务相关的重要信息。</a:t>
            </a:r>
            <a:endParaRPr lang="zh-CN" altLang="en-US" dirty="0">
              <a:latin typeface="Microsoft YaHei" panose="020B0503020204020204" pitchFamily="34" charset="-122"/>
              <a:ea typeface="Microsoft YaHei" panose="020B0503020204020204" pitchFamily="34" charset="-122"/>
            </a:endParaRPr>
          </a:p>
        </p:txBody>
      </p:sp>
    </p:spTree>
    <p:extLst>
      <p:ext uri="{BB962C8B-B14F-4D97-AF65-F5344CB8AC3E}">
        <p14:creationId xmlns:p14="http://schemas.microsoft.com/office/powerpoint/2010/main" val="1970113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228257-727D-2E5B-80F3-6917470EFC18}"/>
              </a:ext>
            </a:extLst>
          </p:cNvPr>
          <p:cNvSpPr>
            <a:spLocks noGrp="1"/>
          </p:cNvSpPr>
          <p:nvPr>
            <p:ph type="title"/>
          </p:nvPr>
        </p:nvSpPr>
        <p:spPr/>
        <p:txBody>
          <a:bodyPr/>
          <a:lstStyle/>
          <a:p>
            <a:r>
              <a:rPr kumimoji="1" lang="zh-CN" altLang="en-US" dirty="0"/>
              <a:t>去停用词</a:t>
            </a:r>
          </a:p>
        </p:txBody>
      </p:sp>
      <p:sp>
        <p:nvSpPr>
          <p:cNvPr id="4" name="TextBox 3">
            <a:extLst>
              <a:ext uri="{FF2B5EF4-FFF2-40B4-BE49-F238E27FC236}">
                <a16:creationId xmlns:a16="http://schemas.microsoft.com/office/drawing/2014/main" id="{AD3B394A-A4DA-867A-CA73-F297A50D5B24}"/>
              </a:ext>
            </a:extLst>
          </p:cNvPr>
          <p:cNvSpPr txBox="1"/>
          <p:nvPr/>
        </p:nvSpPr>
        <p:spPr>
          <a:xfrm>
            <a:off x="695500" y="1397674"/>
            <a:ext cx="2958509" cy="5219442"/>
          </a:xfrm>
          <a:prstGeom prst="rect">
            <a:avLst/>
          </a:prstGeom>
          <a:noFill/>
        </p:spPr>
        <p:txBody>
          <a:bodyPr wrap="square">
            <a:spAutoFit/>
          </a:bodyPr>
          <a:lstStyle/>
          <a:p>
            <a:pPr>
              <a:lnSpc>
                <a:spcPct val="150000"/>
              </a:lnSpc>
            </a:pPr>
            <a:r>
              <a:rPr lang="zh-CN" altLang="en-US" sz="1600" b="0" i="0" dirty="0">
                <a:solidFill>
                  <a:srgbClr val="262625"/>
                </a:solidFill>
                <a:effectLst/>
                <a:latin typeface="Microsoft YaHei" panose="020B0503020204020204" pitchFamily="34" charset="-122"/>
                <a:ea typeface="Microsoft YaHei" panose="020B0503020204020204" pitchFamily="34" charset="-122"/>
              </a:rPr>
              <a:t>文本中往往包含一些没有实质意义或对分析任务没有帮助的词汇，如“此”、“也”等。这些词被称为停用词，它们通常不会提供有价值的信息，甚至可能干扰后续的文本分析。例如，常见的停用词包括功能性词汇，如“你”、“我”、“啊”、“哦”等，以及高频的虚词和标点符号。去除这些词汇后，文本的结构更加清晰，保留的则是具有更高语义价值的关键词汇，有助于提高分析结果的准确性。</a:t>
            </a:r>
            <a:endParaRPr lang="zh-CN" altLang="en-US" sz="1600"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F7C96BBB-24F2-BD22-4EEE-B4B631E52554}"/>
              </a:ext>
            </a:extLst>
          </p:cNvPr>
          <p:cNvPicPr>
            <a:picLocks noChangeAspect="1"/>
          </p:cNvPicPr>
          <p:nvPr/>
        </p:nvPicPr>
        <p:blipFill>
          <a:blip r:embed="rId2"/>
          <a:stretch>
            <a:fillRect/>
          </a:stretch>
        </p:blipFill>
        <p:spPr>
          <a:xfrm>
            <a:off x="3979829" y="529398"/>
            <a:ext cx="7772400" cy="1884218"/>
          </a:xfrm>
          <a:prstGeom prst="rect">
            <a:avLst/>
          </a:prstGeom>
        </p:spPr>
      </p:pic>
      <p:pic>
        <p:nvPicPr>
          <p:cNvPr id="6" name="Picture 5">
            <a:extLst>
              <a:ext uri="{FF2B5EF4-FFF2-40B4-BE49-F238E27FC236}">
                <a16:creationId xmlns:a16="http://schemas.microsoft.com/office/drawing/2014/main" id="{5D08B253-232C-B7BF-5F54-87BDC49DFE25}"/>
              </a:ext>
            </a:extLst>
          </p:cNvPr>
          <p:cNvPicPr>
            <a:picLocks noChangeAspect="1"/>
          </p:cNvPicPr>
          <p:nvPr/>
        </p:nvPicPr>
        <p:blipFill>
          <a:blip r:embed="rId3"/>
          <a:stretch>
            <a:fillRect/>
          </a:stretch>
        </p:blipFill>
        <p:spPr>
          <a:xfrm>
            <a:off x="3979829" y="2513985"/>
            <a:ext cx="6858000" cy="1930400"/>
          </a:xfrm>
          <a:prstGeom prst="rect">
            <a:avLst/>
          </a:prstGeom>
        </p:spPr>
      </p:pic>
      <p:pic>
        <p:nvPicPr>
          <p:cNvPr id="7" name="Picture 6">
            <a:extLst>
              <a:ext uri="{FF2B5EF4-FFF2-40B4-BE49-F238E27FC236}">
                <a16:creationId xmlns:a16="http://schemas.microsoft.com/office/drawing/2014/main" id="{9A2083AC-A5CA-D9B1-3C29-C1F4EAF29E9F}"/>
              </a:ext>
            </a:extLst>
          </p:cNvPr>
          <p:cNvPicPr>
            <a:picLocks noChangeAspect="1"/>
          </p:cNvPicPr>
          <p:nvPr/>
        </p:nvPicPr>
        <p:blipFill>
          <a:blip r:embed="rId4"/>
          <a:stretch>
            <a:fillRect/>
          </a:stretch>
        </p:blipFill>
        <p:spPr>
          <a:xfrm>
            <a:off x="3979829" y="4719106"/>
            <a:ext cx="7772400" cy="1740412"/>
          </a:xfrm>
          <a:prstGeom prst="rect">
            <a:avLst/>
          </a:prstGeom>
        </p:spPr>
      </p:pic>
    </p:spTree>
    <p:extLst>
      <p:ext uri="{BB962C8B-B14F-4D97-AF65-F5344CB8AC3E}">
        <p14:creationId xmlns:p14="http://schemas.microsoft.com/office/powerpoint/2010/main" val="22337702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4D8EE1-A5BA-8238-8831-A8D6F6295EC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1F67C-41C1-0276-4839-C038FC57C437}"/>
              </a:ext>
            </a:extLst>
          </p:cNvPr>
          <p:cNvSpPr>
            <a:spLocks noGrp="1"/>
          </p:cNvSpPr>
          <p:nvPr>
            <p:ph type="title"/>
          </p:nvPr>
        </p:nvSpPr>
        <p:spPr>
          <a:xfrm>
            <a:off x="1617517" y="2750961"/>
            <a:ext cx="10071099" cy="1684150"/>
          </a:xfrm>
        </p:spPr>
        <p:txBody>
          <a:bodyPr/>
          <a:lstStyle/>
          <a:p>
            <a:r>
              <a:rPr lang="zh-CN" altLang="en-US" b="1" dirty="0"/>
              <a:t>关键词提取实践</a:t>
            </a:r>
            <a:endParaRPr lang="en-US" b="1" dirty="0"/>
          </a:p>
        </p:txBody>
      </p:sp>
    </p:spTree>
    <p:extLst>
      <p:ext uri="{BB962C8B-B14F-4D97-AF65-F5344CB8AC3E}">
        <p14:creationId xmlns:p14="http://schemas.microsoft.com/office/powerpoint/2010/main" val="36426849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7E0C70-509F-65A0-03C2-6FEA01969DBF}"/>
              </a:ext>
            </a:extLst>
          </p:cNvPr>
          <p:cNvSpPr>
            <a:spLocks noGrp="1"/>
          </p:cNvSpPr>
          <p:nvPr>
            <p:ph type="title"/>
          </p:nvPr>
        </p:nvSpPr>
        <p:spPr/>
        <p:txBody>
          <a:bodyPr/>
          <a:lstStyle/>
          <a:p>
            <a:r>
              <a:rPr lang="zh-CN" altLang="en-US" sz="2800" b="1" dirty="0">
                <a:solidFill>
                  <a:srgbClr val="1D1D1C"/>
                </a:solidFill>
                <a:latin typeface="Helvetica-Bold" pitchFamily="2" charset="0"/>
              </a:rPr>
              <a:t>词频分析</a:t>
            </a:r>
            <a:endParaRPr kumimoji="1" lang="zh-CN" altLang="en-US" dirty="0"/>
          </a:p>
        </p:txBody>
      </p:sp>
      <p:sp>
        <p:nvSpPr>
          <p:cNvPr id="4" name="TextBox 3">
            <a:extLst>
              <a:ext uri="{FF2B5EF4-FFF2-40B4-BE49-F238E27FC236}">
                <a16:creationId xmlns:a16="http://schemas.microsoft.com/office/drawing/2014/main" id="{9FCB2FF1-30D9-4A37-1C01-C312409F6B3C}"/>
              </a:ext>
            </a:extLst>
          </p:cNvPr>
          <p:cNvSpPr txBox="1"/>
          <p:nvPr/>
        </p:nvSpPr>
        <p:spPr>
          <a:xfrm>
            <a:off x="984031" y="1391546"/>
            <a:ext cx="10222420" cy="1289905"/>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词频分析（</a:t>
            </a:r>
            <a:r>
              <a:rPr lang="en-US" b="0" i="0" dirty="0">
                <a:solidFill>
                  <a:srgbClr val="262625"/>
                </a:solidFill>
                <a:effectLst/>
                <a:latin typeface="Microsoft YaHei" panose="020B0503020204020204" pitchFamily="34" charset="-122"/>
                <a:ea typeface="Microsoft YaHei" panose="020B0503020204020204" pitchFamily="34" charset="-122"/>
              </a:rPr>
              <a:t>Word Frequency Analysis）</a:t>
            </a:r>
            <a:r>
              <a:rPr lang="zh-CN" altLang="en-US" b="0" i="0" dirty="0">
                <a:solidFill>
                  <a:srgbClr val="262625"/>
                </a:solidFill>
                <a:effectLst/>
                <a:latin typeface="Microsoft YaHei" panose="020B0503020204020204" pitchFamily="34" charset="-122"/>
                <a:ea typeface="Microsoft YaHei" panose="020B0503020204020204" pitchFamily="34" charset="-122"/>
              </a:rPr>
              <a:t>是一种统计并分析文本中重要词汇出现次数的技术，是文本内容分析的基础手段之一。其核心原理是通过观察词语出现频率的变化来揭示文本内容的重点和趋势。</a:t>
            </a:r>
            <a:endParaRPr lang="zh-CN" altLang="en-US"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38CEF4D1-7561-BE83-8CD7-96714A984A67}"/>
              </a:ext>
            </a:extLst>
          </p:cNvPr>
          <p:cNvPicPr>
            <a:picLocks noChangeAspect="1"/>
          </p:cNvPicPr>
          <p:nvPr/>
        </p:nvPicPr>
        <p:blipFill>
          <a:blip r:embed="rId2"/>
          <a:stretch>
            <a:fillRect/>
          </a:stretch>
        </p:blipFill>
        <p:spPr>
          <a:xfrm>
            <a:off x="2209041" y="2844395"/>
            <a:ext cx="7772400" cy="1757790"/>
          </a:xfrm>
          <a:prstGeom prst="rect">
            <a:avLst/>
          </a:prstGeom>
        </p:spPr>
      </p:pic>
    </p:spTree>
    <p:extLst>
      <p:ext uri="{BB962C8B-B14F-4D97-AF65-F5344CB8AC3E}">
        <p14:creationId xmlns:p14="http://schemas.microsoft.com/office/powerpoint/2010/main" val="18798101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1F65D8-E3EA-F811-528B-4773931F8FEB}"/>
              </a:ext>
            </a:extLst>
          </p:cNvPr>
          <p:cNvSpPr>
            <a:spLocks noGrp="1"/>
          </p:cNvSpPr>
          <p:nvPr>
            <p:ph type="title"/>
          </p:nvPr>
        </p:nvSpPr>
        <p:spPr/>
        <p:txBody>
          <a:bodyPr/>
          <a:lstStyle/>
          <a:p>
            <a:r>
              <a:rPr kumimoji="1" lang="zh-CN" altLang="en-US" dirty="0"/>
              <a:t>基于 </a:t>
            </a:r>
            <a:r>
              <a:rPr kumimoji="1" lang="en-US" altLang="zh-CN" dirty="0"/>
              <a:t>TF-IDF </a:t>
            </a:r>
            <a:r>
              <a:rPr kumimoji="1" lang="zh-CN" altLang="en-US" dirty="0"/>
              <a:t>的关键词提取实践</a:t>
            </a:r>
          </a:p>
        </p:txBody>
      </p:sp>
      <p:sp>
        <p:nvSpPr>
          <p:cNvPr id="4" name="TextBox 3">
            <a:extLst>
              <a:ext uri="{FF2B5EF4-FFF2-40B4-BE49-F238E27FC236}">
                <a16:creationId xmlns:a16="http://schemas.microsoft.com/office/drawing/2014/main" id="{9341D9C2-AB62-A4DF-FA8E-6B803DCF9BD3}"/>
              </a:ext>
            </a:extLst>
          </p:cNvPr>
          <p:cNvSpPr txBox="1"/>
          <p:nvPr/>
        </p:nvSpPr>
        <p:spPr>
          <a:xfrm>
            <a:off x="1429406" y="1424942"/>
            <a:ext cx="9101959" cy="874407"/>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基于 </a:t>
            </a:r>
            <a:r>
              <a:rPr lang="en-US" b="0" i="0" dirty="0">
                <a:solidFill>
                  <a:srgbClr val="262625"/>
                </a:solidFill>
                <a:effectLst/>
                <a:latin typeface="Microsoft YaHei" panose="020B0503020204020204" pitchFamily="34" charset="-122"/>
                <a:ea typeface="Microsoft YaHei" panose="020B0503020204020204" pitchFamily="34" charset="-122"/>
              </a:rPr>
              <a:t>TF-IDF </a:t>
            </a:r>
            <a:r>
              <a:rPr lang="zh-CN" altLang="en-US" b="0" i="0" dirty="0">
                <a:solidFill>
                  <a:srgbClr val="262625"/>
                </a:solidFill>
                <a:effectLst/>
                <a:latin typeface="Microsoft YaHei" panose="020B0503020204020204" pitchFamily="34" charset="-122"/>
                <a:ea typeface="Microsoft YaHei" panose="020B0503020204020204" pitchFamily="34" charset="-122"/>
              </a:rPr>
              <a:t>的关键词提取是文本分析中的一项常用技术，通过计算词频 </a:t>
            </a:r>
            <a:r>
              <a:rPr lang="en-US" altLang="zh-CN"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TF) </a:t>
            </a:r>
            <a:r>
              <a:rPr lang="zh-CN" altLang="en-US" b="0" i="0" dirty="0">
                <a:solidFill>
                  <a:srgbClr val="262625"/>
                </a:solidFill>
                <a:effectLst/>
                <a:latin typeface="Microsoft YaHei" panose="020B0503020204020204" pitchFamily="34" charset="-122"/>
                <a:ea typeface="Microsoft YaHei" panose="020B0503020204020204" pitchFamily="34" charset="-122"/>
              </a:rPr>
              <a:t>和逆文档频率 </a:t>
            </a:r>
            <a:r>
              <a:rPr lang="en-US" altLang="zh-CN" b="0" i="0" dirty="0">
                <a:solidFill>
                  <a:srgbClr val="262625"/>
                </a:solidFill>
                <a:effectLst/>
                <a:latin typeface="Microsoft YaHei" panose="020B0503020204020204" pitchFamily="34" charset="-122"/>
                <a:ea typeface="Microsoft YaHei" panose="020B0503020204020204" pitchFamily="34" charset="-122"/>
              </a:rPr>
              <a:t>(</a:t>
            </a:r>
            <a:r>
              <a:rPr lang="en-US" b="0" i="0" dirty="0">
                <a:solidFill>
                  <a:srgbClr val="262625"/>
                </a:solidFill>
                <a:effectLst/>
                <a:latin typeface="Microsoft YaHei" panose="020B0503020204020204" pitchFamily="34" charset="-122"/>
                <a:ea typeface="Microsoft YaHei" panose="020B0503020204020204" pitchFamily="34" charset="-122"/>
              </a:rPr>
              <a:t>IDF) </a:t>
            </a:r>
            <a:r>
              <a:rPr lang="zh-CN" altLang="en-US" b="0" i="0" dirty="0">
                <a:solidFill>
                  <a:srgbClr val="262625"/>
                </a:solidFill>
                <a:effectLst/>
                <a:latin typeface="Microsoft YaHei" panose="020B0503020204020204" pitchFamily="34" charset="-122"/>
                <a:ea typeface="Microsoft YaHei" panose="020B0503020204020204" pitchFamily="34" charset="-122"/>
              </a:rPr>
              <a:t>的权重，提取出文本中最能代表主题的关键词。</a:t>
            </a:r>
            <a:endParaRPr lang="zh-CN" altLang="en-US" dirty="0">
              <a:latin typeface="Microsoft YaHei" panose="020B0503020204020204" pitchFamily="34" charset="-122"/>
              <a:ea typeface="Microsoft YaHei" panose="020B0503020204020204" pitchFamily="34" charset="-122"/>
            </a:endParaRPr>
          </a:p>
        </p:txBody>
      </p:sp>
      <p:pic>
        <p:nvPicPr>
          <p:cNvPr id="5" name="Picture 4">
            <a:extLst>
              <a:ext uri="{FF2B5EF4-FFF2-40B4-BE49-F238E27FC236}">
                <a16:creationId xmlns:a16="http://schemas.microsoft.com/office/drawing/2014/main" id="{10C4F26D-A9C4-F07D-7ADE-75D3E1DE1872}"/>
              </a:ext>
            </a:extLst>
          </p:cNvPr>
          <p:cNvPicPr>
            <a:picLocks noChangeAspect="1"/>
          </p:cNvPicPr>
          <p:nvPr/>
        </p:nvPicPr>
        <p:blipFill>
          <a:blip r:embed="rId2"/>
          <a:stretch>
            <a:fillRect/>
          </a:stretch>
        </p:blipFill>
        <p:spPr>
          <a:xfrm>
            <a:off x="2278891" y="2747141"/>
            <a:ext cx="7632700" cy="2057400"/>
          </a:xfrm>
          <a:prstGeom prst="rect">
            <a:avLst/>
          </a:prstGeom>
        </p:spPr>
      </p:pic>
    </p:spTree>
    <p:extLst>
      <p:ext uri="{BB962C8B-B14F-4D97-AF65-F5344CB8AC3E}">
        <p14:creationId xmlns:p14="http://schemas.microsoft.com/office/powerpoint/2010/main" val="33181701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626FBF-75F6-6462-D6E4-D9C282BC895E}"/>
              </a:ext>
            </a:extLst>
          </p:cNvPr>
          <p:cNvSpPr>
            <a:spLocks noGrp="1"/>
          </p:cNvSpPr>
          <p:nvPr>
            <p:ph type="title"/>
          </p:nvPr>
        </p:nvSpPr>
        <p:spPr/>
        <p:txBody>
          <a:bodyPr/>
          <a:lstStyle/>
          <a:p>
            <a:r>
              <a:rPr kumimoji="1" lang="zh-CN" altLang="en-US" dirty="0"/>
              <a:t>基于 </a:t>
            </a:r>
            <a:r>
              <a:rPr kumimoji="1" lang="en-US" altLang="zh-CN" dirty="0" err="1"/>
              <a:t>TextRank</a:t>
            </a:r>
            <a:r>
              <a:rPr kumimoji="1" lang="en-US" altLang="zh-CN" dirty="0"/>
              <a:t> </a:t>
            </a:r>
            <a:r>
              <a:rPr kumimoji="1" lang="zh-CN" altLang="en-US" dirty="0"/>
              <a:t>的关键词提取实践</a:t>
            </a:r>
          </a:p>
        </p:txBody>
      </p:sp>
      <p:sp>
        <p:nvSpPr>
          <p:cNvPr id="4" name="TextBox 3">
            <a:extLst>
              <a:ext uri="{FF2B5EF4-FFF2-40B4-BE49-F238E27FC236}">
                <a16:creationId xmlns:a16="http://schemas.microsoft.com/office/drawing/2014/main" id="{DBAD8726-5B8F-1243-527E-A1A3D3ED4FB2}"/>
              </a:ext>
            </a:extLst>
          </p:cNvPr>
          <p:cNvSpPr txBox="1"/>
          <p:nvPr/>
        </p:nvSpPr>
        <p:spPr>
          <a:xfrm>
            <a:off x="1240220" y="1457659"/>
            <a:ext cx="8828689" cy="1701684"/>
          </a:xfrm>
          <a:prstGeom prst="rect">
            <a:avLst/>
          </a:prstGeom>
          <a:noFill/>
        </p:spPr>
        <p:txBody>
          <a:bodyPr wrap="square">
            <a:spAutoFit/>
          </a:bodyPr>
          <a:lstStyle/>
          <a:p>
            <a:pPr algn="just">
              <a:lnSpc>
                <a:spcPct val="150000"/>
              </a:lnSpc>
              <a:buNone/>
            </a:pPr>
            <a:r>
              <a:rPr lang="zh-CN" altLang="en-US" sz="1800" b="0" i="0" dirty="0">
                <a:solidFill>
                  <a:srgbClr val="262625"/>
                </a:solidFill>
                <a:effectLst/>
                <a:latin typeface="Microsoft YaHei" panose="020B0503020204020204" pitchFamily="34" charset="-122"/>
                <a:ea typeface="Microsoft YaHei" panose="020B0503020204020204" pitchFamily="34" charset="-122"/>
              </a:rPr>
              <a:t>与 </a:t>
            </a:r>
            <a:r>
              <a:rPr lang="en-US" sz="1800" b="0" i="0" dirty="0">
                <a:solidFill>
                  <a:srgbClr val="262625"/>
                </a:solidFill>
                <a:effectLst/>
                <a:latin typeface="Microsoft YaHei" panose="020B0503020204020204" pitchFamily="34" charset="-122"/>
                <a:ea typeface="Microsoft YaHei" panose="020B0503020204020204" pitchFamily="34" charset="-122"/>
              </a:rPr>
              <a:t>TF-IDF </a:t>
            </a:r>
            <a:r>
              <a:rPr lang="zh-CN" altLang="en-US" sz="1800" b="0" i="0" dirty="0">
                <a:solidFill>
                  <a:srgbClr val="262625"/>
                </a:solidFill>
                <a:effectLst/>
                <a:latin typeface="Microsoft YaHei" panose="020B0503020204020204" pitchFamily="34" charset="-122"/>
                <a:ea typeface="Microsoft YaHei" panose="020B0503020204020204" pitchFamily="34" charset="-122"/>
              </a:rPr>
              <a:t>算法不同，</a:t>
            </a:r>
            <a:r>
              <a:rPr lang="en-US" sz="1800" b="0" i="0" dirty="0" err="1">
                <a:solidFill>
                  <a:srgbClr val="262625"/>
                </a:solidFill>
                <a:effectLst/>
                <a:latin typeface="Microsoft YaHei" panose="020B0503020204020204" pitchFamily="34" charset="-122"/>
                <a:ea typeface="Microsoft YaHei" panose="020B0503020204020204" pitchFamily="34" charset="-122"/>
              </a:rPr>
              <a:t>TextRank</a:t>
            </a:r>
            <a:r>
              <a:rPr lang="en-US" sz="1800" b="0" i="0" dirty="0">
                <a:solidFill>
                  <a:srgbClr val="262625"/>
                </a:solidFill>
                <a:effectLst/>
                <a:latin typeface="Microsoft YaHei" panose="020B0503020204020204" pitchFamily="34" charset="-122"/>
                <a:ea typeface="Microsoft YaHei" panose="020B0503020204020204" pitchFamily="34" charset="-122"/>
              </a:rPr>
              <a:t> </a:t>
            </a:r>
            <a:r>
              <a:rPr lang="zh-CN" altLang="en-US" sz="1800" b="0" i="0" dirty="0">
                <a:solidFill>
                  <a:srgbClr val="262625"/>
                </a:solidFill>
                <a:effectLst/>
                <a:latin typeface="Microsoft YaHei" panose="020B0503020204020204" pitchFamily="34" charset="-122"/>
                <a:ea typeface="Microsoft YaHei" panose="020B0503020204020204" pitchFamily="34" charset="-122"/>
              </a:rPr>
              <a:t>是一种基于图模型的无监督排序算法，在关键词提取任务中具有独特优势。它通过分析文本内部的结构和词汇之间的共现关系，对每个词的重要性进行排序，并提取出最具代表性的关键词。</a:t>
            </a:r>
            <a:r>
              <a:rPr lang="en-US" sz="1800" b="0" i="0" dirty="0" err="1">
                <a:solidFill>
                  <a:srgbClr val="262625"/>
                </a:solidFill>
                <a:effectLst/>
                <a:latin typeface="Microsoft YaHei" panose="020B0503020204020204" pitchFamily="34" charset="-122"/>
                <a:ea typeface="Microsoft YaHei" panose="020B0503020204020204" pitchFamily="34" charset="-122"/>
              </a:rPr>
              <a:t>TextRank</a:t>
            </a:r>
            <a:r>
              <a:rPr lang="en-US" sz="1800" b="0" i="0" dirty="0">
                <a:solidFill>
                  <a:srgbClr val="262625"/>
                </a:solidFill>
                <a:effectLst/>
                <a:latin typeface="Microsoft YaHei" panose="020B0503020204020204" pitchFamily="34" charset="-122"/>
                <a:ea typeface="Microsoft YaHei" panose="020B0503020204020204" pitchFamily="34" charset="-122"/>
              </a:rPr>
              <a:t> </a:t>
            </a:r>
            <a:r>
              <a:rPr lang="zh-CN" altLang="en-US" sz="1800" b="0" i="0" dirty="0">
                <a:solidFill>
                  <a:srgbClr val="262625"/>
                </a:solidFill>
                <a:effectLst/>
                <a:latin typeface="Microsoft YaHei" panose="020B0503020204020204" pitchFamily="34" charset="-122"/>
                <a:ea typeface="Microsoft YaHei" panose="020B0503020204020204" pitchFamily="34" charset="-122"/>
              </a:rPr>
              <a:t>的特点是无需依赖语料库或预训练模型，仅通过分析单篇文档即可实现关键词的提取。</a:t>
            </a:r>
          </a:p>
        </p:txBody>
      </p:sp>
      <p:pic>
        <p:nvPicPr>
          <p:cNvPr id="5" name="Picture 4">
            <a:extLst>
              <a:ext uri="{FF2B5EF4-FFF2-40B4-BE49-F238E27FC236}">
                <a16:creationId xmlns:a16="http://schemas.microsoft.com/office/drawing/2014/main" id="{93D7447B-904B-4196-4674-380C0404E40D}"/>
              </a:ext>
            </a:extLst>
          </p:cNvPr>
          <p:cNvPicPr>
            <a:picLocks noChangeAspect="1"/>
          </p:cNvPicPr>
          <p:nvPr/>
        </p:nvPicPr>
        <p:blipFill>
          <a:blip r:embed="rId2"/>
          <a:stretch>
            <a:fillRect/>
          </a:stretch>
        </p:blipFill>
        <p:spPr>
          <a:xfrm>
            <a:off x="2685291" y="3443840"/>
            <a:ext cx="6819900" cy="1981200"/>
          </a:xfrm>
          <a:prstGeom prst="rect">
            <a:avLst/>
          </a:prstGeom>
        </p:spPr>
      </p:pic>
    </p:spTree>
    <p:extLst>
      <p:ext uri="{BB962C8B-B14F-4D97-AF65-F5344CB8AC3E}">
        <p14:creationId xmlns:p14="http://schemas.microsoft.com/office/powerpoint/2010/main" val="13012580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679C3B-2A54-AFE8-75C2-0569DD5D57F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B2BA63-852D-AD80-2405-D011BDB9001B}"/>
              </a:ext>
            </a:extLst>
          </p:cNvPr>
          <p:cNvSpPr>
            <a:spLocks noGrp="1"/>
          </p:cNvSpPr>
          <p:nvPr>
            <p:ph type="title"/>
          </p:nvPr>
        </p:nvSpPr>
        <p:spPr>
          <a:xfrm>
            <a:off x="1617517" y="2750961"/>
            <a:ext cx="10071099" cy="1684150"/>
          </a:xfrm>
        </p:spPr>
        <p:txBody>
          <a:bodyPr/>
          <a:lstStyle/>
          <a:p>
            <a:r>
              <a:rPr lang="zh-CN" altLang="en-US" b="1" dirty="0"/>
              <a:t>词云构建实践</a:t>
            </a:r>
            <a:endParaRPr lang="en-US" b="1" dirty="0"/>
          </a:p>
        </p:txBody>
      </p:sp>
    </p:spTree>
    <p:extLst>
      <p:ext uri="{BB962C8B-B14F-4D97-AF65-F5344CB8AC3E}">
        <p14:creationId xmlns:p14="http://schemas.microsoft.com/office/powerpoint/2010/main" val="3666772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5607BA-5676-6869-F980-2366864B7AAF}"/>
              </a:ext>
            </a:extLst>
          </p:cNvPr>
          <p:cNvSpPr>
            <a:spLocks noGrp="1"/>
          </p:cNvSpPr>
          <p:nvPr>
            <p:ph type="title"/>
          </p:nvPr>
        </p:nvSpPr>
        <p:spPr/>
        <p:txBody>
          <a:bodyPr/>
          <a:lstStyle/>
          <a:p>
            <a:r>
              <a:rPr kumimoji="1" lang="zh-CN" altLang="en-US" dirty="0"/>
              <a:t>数据与工具准备</a:t>
            </a:r>
          </a:p>
        </p:txBody>
      </p:sp>
      <p:sp>
        <p:nvSpPr>
          <p:cNvPr id="4" name="TextBox 3">
            <a:extLst>
              <a:ext uri="{FF2B5EF4-FFF2-40B4-BE49-F238E27FC236}">
                <a16:creationId xmlns:a16="http://schemas.microsoft.com/office/drawing/2014/main" id="{A6B6F4C7-51B6-C81D-F0F1-635AB8A931DB}"/>
              </a:ext>
            </a:extLst>
          </p:cNvPr>
          <p:cNvSpPr txBox="1"/>
          <p:nvPr/>
        </p:nvSpPr>
        <p:spPr>
          <a:xfrm>
            <a:off x="1471448" y="1601753"/>
            <a:ext cx="9017876" cy="1286186"/>
          </a:xfrm>
          <a:prstGeom prst="rect">
            <a:avLst/>
          </a:prstGeom>
          <a:noFill/>
        </p:spPr>
        <p:txBody>
          <a:bodyPr wrap="square">
            <a:spAutoFit/>
          </a:bodyPr>
          <a:lstStyle/>
          <a:p>
            <a:pPr algn="just">
              <a:lnSpc>
                <a:spcPct val="150000"/>
              </a:lnSpc>
              <a:buNone/>
            </a:pPr>
            <a:r>
              <a:rPr lang="zh-CN" altLang="en-US" sz="1800" b="0" i="0" dirty="0">
                <a:solidFill>
                  <a:srgbClr val="262625"/>
                </a:solidFill>
                <a:effectLst/>
                <a:latin typeface="Times New Roman" panose="02020603050405020304" pitchFamily="18" charset="0"/>
              </a:rPr>
              <a:t>（</a:t>
            </a:r>
            <a:r>
              <a:rPr lang="en-US" altLang="zh-CN" sz="1800" b="0" i="0" dirty="0">
                <a:solidFill>
                  <a:srgbClr val="262625"/>
                </a:solidFill>
                <a:effectLst/>
                <a:latin typeface="Times New Roman" panose="02020603050405020304" pitchFamily="18" charset="0"/>
              </a:rPr>
              <a:t>1</a:t>
            </a:r>
            <a:r>
              <a:rPr lang="zh-CN" altLang="en-US" sz="1800" b="0" i="0" dirty="0">
                <a:solidFill>
                  <a:srgbClr val="262625"/>
                </a:solidFill>
                <a:effectLst/>
                <a:latin typeface="Times New Roman" panose="02020603050405020304" pitchFamily="18" charset="0"/>
              </a:rPr>
              <a:t>）软件工具包的准备</a:t>
            </a:r>
          </a:p>
          <a:p>
            <a:pPr algn="just">
              <a:lnSpc>
                <a:spcPct val="150000"/>
              </a:lnSpc>
              <a:buNone/>
            </a:pPr>
            <a:r>
              <a:rPr lang="zh-CN" altLang="en-US" sz="1800" b="0" i="0" dirty="0">
                <a:solidFill>
                  <a:srgbClr val="262625"/>
                </a:solidFill>
                <a:effectLst/>
                <a:latin typeface="Times New Roman" panose="02020603050405020304" pitchFamily="18" charset="0"/>
              </a:rPr>
              <a:t>  需要确保在 </a:t>
            </a:r>
            <a:r>
              <a:rPr lang="en-US" sz="1800" b="0" i="0" dirty="0">
                <a:solidFill>
                  <a:srgbClr val="262625"/>
                </a:solidFill>
                <a:effectLst/>
                <a:latin typeface="Times New Roman" panose="02020603050405020304" pitchFamily="18" charset="0"/>
              </a:rPr>
              <a:t>Python </a:t>
            </a:r>
            <a:r>
              <a:rPr lang="zh-CN" altLang="en-US" sz="1800" b="0" i="0" dirty="0">
                <a:solidFill>
                  <a:srgbClr val="262625"/>
                </a:solidFill>
                <a:effectLst/>
                <a:latin typeface="Times New Roman" panose="02020603050405020304" pitchFamily="18" charset="0"/>
              </a:rPr>
              <a:t>环境下安装必要的第三方软件包，包括 </a:t>
            </a:r>
            <a:r>
              <a:rPr lang="en-US" sz="1800" b="0" i="0" dirty="0" err="1">
                <a:solidFill>
                  <a:srgbClr val="262625"/>
                </a:solidFill>
                <a:effectLst/>
                <a:latin typeface="Times New Roman" panose="02020603050405020304" pitchFamily="18" charset="0"/>
              </a:rPr>
              <a:t>jieba、WordCloud、numpy、re</a:t>
            </a:r>
            <a:r>
              <a:rPr lang="en-US" sz="1800" b="0" i="0" dirty="0">
                <a:solidFill>
                  <a:srgbClr val="262625"/>
                </a:solidFill>
                <a:effectLst/>
                <a:latin typeface="Times New Roman" panose="02020603050405020304" pitchFamily="18" charset="0"/>
              </a:rPr>
              <a:t> </a:t>
            </a:r>
            <a:r>
              <a:rPr lang="zh-CN" altLang="en-US" sz="1800" b="0" i="0" dirty="0">
                <a:solidFill>
                  <a:srgbClr val="262625"/>
                </a:solidFill>
                <a:effectLst/>
                <a:latin typeface="Times New Roman" panose="02020603050405020304" pitchFamily="18" charset="0"/>
              </a:rPr>
              <a:t>等工具包。此外，为了完成词云的绘制，还需要导入相关模块和库。</a:t>
            </a:r>
          </a:p>
        </p:txBody>
      </p:sp>
      <p:pic>
        <p:nvPicPr>
          <p:cNvPr id="5" name="Picture 4">
            <a:extLst>
              <a:ext uri="{FF2B5EF4-FFF2-40B4-BE49-F238E27FC236}">
                <a16:creationId xmlns:a16="http://schemas.microsoft.com/office/drawing/2014/main" id="{CE7BB3EF-04F2-3F2C-D427-CDF0E23288B3}"/>
              </a:ext>
            </a:extLst>
          </p:cNvPr>
          <p:cNvPicPr>
            <a:picLocks noChangeAspect="1"/>
          </p:cNvPicPr>
          <p:nvPr/>
        </p:nvPicPr>
        <p:blipFill>
          <a:blip r:embed="rId2"/>
          <a:stretch>
            <a:fillRect/>
          </a:stretch>
        </p:blipFill>
        <p:spPr>
          <a:xfrm>
            <a:off x="3567941" y="3024133"/>
            <a:ext cx="5054600" cy="1587500"/>
          </a:xfrm>
          <a:prstGeom prst="rect">
            <a:avLst/>
          </a:prstGeom>
        </p:spPr>
      </p:pic>
      <p:sp>
        <p:nvSpPr>
          <p:cNvPr id="7" name="TextBox 6">
            <a:extLst>
              <a:ext uri="{FF2B5EF4-FFF2-40B4-BE49-F238E27FC236}">
                <a16:creationId xmlns:a16="http://schemas.microsoft.com/office/drawing/2014/main" id="{A7430D4C-DEC3-F018-0EB6-D0CDF0BB4C63}"/>
              </a:ext>
            </a:extLst>
          </p:cNvPr>
          <p:cNvSpPr txBox="1"/>
          <p:nvPr/>
        </p:nvSpPr>
        <p:spPr>
          <a:xfrm>
            <a:off x="1334813" y="4611633"/>
            <a:ext cx="9291145" cy="1701684"/>
          </a:xfrm>
          <a:prstGeom prst="rect">
            <a:avLst/>
          </a:prstGeom>
          <a:noFill/>
        </p:spPr>
        <p:txBody>
          <a:bodyPr wrap="square">
            <a:spAutoFit/>
          </a:bodyPr>
          <a:lstStyle/>
          <a:p>
            <a:pPr algn="just">
              <a:lnSpc>
                <a:spcPct val="150000"/>
              </a:lnSpc>
              <a:buNone/>
            </a:pPr>
            <a:r>
              <a:rPr lang="zh-CN" altLang="en-US" sz="1800" b="0" i="0" dirty="0">
                <a:solidFill>
                  <a:srgbClr val="262625"/>
                </a:solidFill>
                <a:effectLst/>
                <a:latin typeface="Times New Roman" panose="02020603050405020304" pitchFamily="18" charset="0"/>
              </a:rPr>
              <a:t> （</a:t>
            </a:r>
            <a:r>
              <a:rPr lang="en-US" altLang="zh-CN" sz="1800" b="0" i="0" dirty="0">
                <a:solidFill>
                  <a:srgbClr val="262625"/>
                </a:solidFill>
                <a:effectLst/>
                <a:latin typeface="Times New Roman" panose="02020603050405020304" pitchFamily="18" charset="0"/>
              </a:rPr>
              <a:t>2</a:t>
            </a:r>
            <a:r>
              <a:rPr lang="zh-CN" altLang="en-US" sz="1800" b="0" i="0" dirty="0">
                <a:solidFill>
                  <a:srgbClr val="262625"/>
                </a:solidFill>
                <a:effectLst/>
                <a:latin typeface="Times New Roman" panose="02020603050405020304" pitchFamily="18" charset="0"/>
              </a:rPr>
              <a:t>）文本数据的准备。</a:t>
            </a:r>
          </a:p>
          <a:p>
            <a:pPr algn="just">
              <a:lnSpc>
                <a:spcPct val="150000"/>
              </a:lnSpc>
              <a:buNone/>
            </a:pPr>
            <a:r>
              <a:rPr lang="zh-CN" altLang="en-US" sz="1800" b="0" i="0" dirty="0">
                <a:solidFill>
                  <a:srgbClr val="262625"/>
                </a:solidFill>
                <a:effectLst/>
                <a:latin typeface="Times New Roman" panose="02020603050405020304" pitchFamily="18" charset="0"/>
              </a:rPr>
              <a:t>  构建词云所需的数据必须是纯文本格式的文件。如果数据来源为 </a:t>
            </a:r>
            <a:r>
              <a:rPr lang="en-US" sz="1800" b="0" i="0" dirty="0" err="1">
                <a:solidFill>
                  <a:srgbClr val="262625"/>
                </a:solidFill>
                <a:effectLst/>
                <a:latin typeface="Times New Roman" panose="02020603050405020304" pitchFamily="18" charset="0"/>
              </a:rPr>
              <a:t>PDF、Word</a:t>
            </a:r>
            <a:r>
              <a:rPr lang="en-US" sz="1800" b="0" i="0" dirty="0">
                <a:solidFill>
                  <a:srgbClr val="262625"/>
                </a:solidFill>
                <a:effectLst/>
                <a:latin typeface="Times New Roman" panose="02020603050405020304" pitchFamily="18" charset="0"/>
              </a:rPr>
              <a:t> </a:t>
            </a:r>
            <a:r>
              <a:rPr lang="zh-CN" altLang="en-US" sz="1800" b="0" i="0" dirty="0">
                <a:solidFill>
                  <a:srgbClr val="262625"/>
                </a:solidFill>
                <a:effectLst/>
                <a:latin typeface="Times New Roman" panose="02020603050405020304" pitchFamily="18" charset="0"/>
              </a:rPr>
              <a:t>等格式，则需要将文件内容提取并转换为纯文本格式，确保能够直接进行分析和处理。</a:t>
            </a:r>
          </a:p>
          <a:p>
            <a:pPr algn="just">
              <a:lnSpc>
                <a:spcPct val="150000"/>
              </a:lnSpc>
              <a:buNone/>
            </a:pPr>
            <a:r>
              <a:rPr lang="zh-CN" altLang="en-US" sz="1800" b="0" i="0" dirty="0">
                <a:solidFill>
                  <a:srgbClr val="262625"/>
                </a:solidFill>
                <a:effectLst/>
                <a:latin typeface="Times New Roman" panose="02020603050405020304" pitchFamily="18" charset="0"/>
              </a:rPr>
              <a:t>  在本节案例中，我们选用了</a:t>
            </a:r>
            <a:r>
              <a:rPr lang="en-US" altLang="zh-CN" sz="1800" b="0" i="0" dirty="0">
                <a:solidFill>
                  <a:srgbClr val="262625"/>
                </a:solidFill>
                <a:effectLst/>
                <a:latin typeface="Times New Roman" panose="02020603050405020304" pitchFamily="18" charset="0"/>
              </a:rPr>
              <a:t>《</a:t>
            </a:r>
            <a:r>
              <a:rPr lang="zh-CN" altLang="en-US" sz="1800" b="0" i="0" dirty="0">
                <a:solidFill>
                  <a:srgbClr val="262625"/>
                </a:solidFill>
                <a:effectLst/>
                <a:latin typeface="Times New Roman" panose="02020603050405020304" pitchFamily="18" charset="0"/>
              </a:rPr>
              <a:t>红楼梦</a:t>
            </a:r>
            <a:r>
              <a:rPr lang="en-US" altLang="zh-CN" sz="1800" b="0" i="0" dirty="0">
                <a:solidFill>
                  <a:srgbClr val="262625"/>
                </a:solidFill>
                <a:effectLst/>
                <a:latin typeface="Times New Roman" panose="02020603050405020304" pitchFamily="18" charset="0"/>
              </a:rPr>
              <a:t>》</a:t>
            </a:r>
            <a:r>
              <a:rPr lang="zh-CN" altLang="en-US" sz="1800" b="0" i="0" dirty="0">
                <a:solidFill>
                  <a:srgbClr val="262625"/>
                </a:solidFill>
                <a:effectLst/>
                <a:latin typeface="Times New Roman" panose="02020603050405020304" pitchFamily="18" charset="0"/>
              </a:rPr>
              <a:t>的纯文本作为数据源。</a:t>
            </a:r>
          </a:p>
        </p:txBody>
      </p:sp>
    </p:spTree>
    <p:extLst>
      <p:ext uri="{BB962C8B-B14F-4D97-AF65-F5344CB8AC3E}">
        <p14:creationId xmlns:p14="http://schemas.microsoft.com/office/powerpoint/2010/main" val="3900508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DCBFF4-0C70-D460-E1FD-0B1756F2E50B}"/>
              </a:ext>
            </a:extLst>
          </p:cNvPr>
          <p:cNvSpPr>
            <a:spLocks noGrp="1"/>
          </p:cNvSpPr>
          <p:nvPr>
            <p:ph type="title"/>
          </p:nvPr>
        </p:nvSpPr>
        <p:spPr/>
        <p:txBody>
          <a:bodyPr/>
          <a:lstStyle/>
          <a:p>
            <a:r>
              <a:rPr kumimoji="1" lang="zh-CN" altLang="en-US" dirty="0"/>
              <a:t>数据预处理</a:t>
            </a:r>
          </a:p>
        </p:txBody>
      </p:sp>
      <p:pic>
        <p:nvPicPr>
          <p:cNvPr id="3" name="Picture 2">
            <a:extLst>
              <a:ext uri="{FF2B5EF4-FFF2-40B4-BE49-F238E27FC236}">
                <a16:creationId xmlns:a16="http://schemas.microsoft.com/office/drawing/2014/main" id="{FD5FD42B-B0DA-7425-46A2-CBF6CB649C8C}"/>
              </a:ext>
            </a:extLst>
          </p:cNvPr>
          <p:cNvPicPr>
            <a:picLocks noChangeAspect="1"/>
          </p:cNvPicPr>
          <p:nvPr/>
        </p:nvPicPr>
        <p:blipFill>
          <a:blip r:embed="rId2"/>
          <a:stretch>
            <a:fillRect/>
          </a:stretch>
        </p:blipFill>
        <p:spPr>
          <a:xfrm>
            <a:off x="2209041" y="1388745"/>
            <a:ext cx="7772400" cy="4080510"/>
          </a:xfrm>
          <a:prstGeom prst="rect">
            <a:avLst/>
          </a:prstGeom>
        </p:spPr>
      </p:pic>
      <p:pic>
        <p:nvPicPr>
          <p:cNvPr id="4" name="Picture 3">
            <a:extLst>
              <a:ext uri="{FF2B5EF4-FFF2-40B4-BE49-F238E27FC236}">
                <a16:creationId xmlns:a16="http://schemas.microsoft.com/office/drawing/2014/main" id="{BCFE68FB-2D90-DB1F-8D55-3AB9E9B7E3BD}"/>
              </a:ext>
            </a:extLst>
          </p:cNvPr>
          <p:cNvPicPr>
            <a:picLocks noChangeAspect="1"/>
          </p:cNvPicPr>
          <p:nvPr/>
        </p:nvPicPr>
        <p:blipFill>
          <a:blip r:embed="rId3"/>
          <a:stretch>
            <a:fillRect/>
          </a:stretch>
        </p:blipFill>
        <p:spPr>
          <a:xfrm>
            <a:off x="2209041" y="5684838"/>
            <a:ext cx="6388100" cy="952500"/>
          </a:xfrm>
          <a:prstGeom prst="rect">
            <a:avLst/>
          </a:prstGeom>
        </p:spPr>
      </p:pic>
    </p:spTree>
    <p:extLst>
      <p:ext uri="{BB962C8B-B14F-4D97-AF65-F5344CB8AC3E}">
        <p14:creationId xmlns:p14="http://schemas.microsoft.com/office/powerpoint/2010/main" val="3521957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605D6A-12BA-03D1-1C66-AF9D5238FF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002B09-3B8F-DC46-A43C-4C31D744C207}"/>
              </a:ext>
            </a:extLst>
          </p:cNvPr>
          <p:cNvSpPr>
            <a:spLocks noGrp="1"/>
          </p:cNvSpPr>
          <p:nvPr>
            <p:ph type="title"/>
          </p:nvPr>
        </p:nvSpPr>
        <p:spPr/>
        <p:txBody>
          <a:bodyPr/>
          <a:lstStyle/>
          <a:p>
            <a:r>
              <a:rPr kumimoji="1" lang="zh-CN" altLang="en-US" dirty="0"/>
              <a:t>数据预处理</a:t>
            </a:r>
          </a:p>
        </p:txBody>
      </p:sp>
      <p:sp>
        <p:nvSpPr>
          <p:cNvPr id="5" name="TextBox 4">
            <a:extLst>
              <a:ext uri="{FF2B5EF4-FFF2-40B4-BE49-F238E27FC236}">
                <a16:creationId xmlns:a16="http://schemas.microsoft.com/office/drawing/2014/main" id="{3A1A541D-F461-1BCC-30E9-6227714C6864}"/>
              </a:ext>
            </a:extLst>
          </p:cNvPr>
          <p:cNvSpPr txBox="1"/>
          <p:nvPr/>
        </p:nvSpPr>
        <p:spPr>
          <a:xfrm>
            <a:off x="1303283" y="1575816"/>
            <a:ext cx="6096000"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a:t>
            </a:r>
            <a:r>
              <a:rPr lang="en-US" altLang="zh-CN" b="0" i="0" dirty="0">
                <a:solidFill>
                  <a:srgbClr val="262625"/>
                </a:solidFill>
                <a:effectLst/>
                <a:latin typeface="Times New Roman" panose="02020603050405020304" pitchFamily="18" charset="0"/>
              </a:rPr>
              <a:t>2</a:t>
            </a:r>
            <a:r>
              <a:rPr lang="zh-CN" altLang="en-US" b="0" i="0" dirty="0">
                <a:solidFill>
                  <a:srgbClr val="262625"/>
                </a:solidFill>
                <a:effectLst/>
                <a:latin typeface="Times New Roman" panose="02020603050405020304" pitchFamily="18" charset="0"/>
              </a:rPr>
              <a:t>）词频统计</a:t>
            </a:r>
            <a:endParaRPr lang="zh-CN" altLang="en-US" dirty="0"/>
          </a:p>
        </p:txBody>
      </p:sp>
      <p:pic>
        <p:nvPicPr>
          <p:cNvPr id="6" name="Picture 5">
            <a:extLst>
              <a:ext uri="{FF2B5EF4-FFF2-40B4-BE49-F238E27FC236}">
                <a16:creationId xmlns:a16="http://schemas.microsoft.com/office/drawing/2014/main" id="{40C66AA6-0968-5D2D-B6EB-440AD36FDE04}"/>
              </a:ext>
            </a:extLst>
          </p:cNvPr>
          <p:cNvPicPr>
            <a:picLocks noChangeAspect="1"/>
          </p:cNvPicPr>
          <p:nvPr/>
        </p:nvPicPr>
        <p:blipFill>
          <a:blip r:embed="rId2"/>
          <a:stretch>
            <a:fillRect/>
          </a:stretch>
        </p:blipFill>
        <p:spPr>
          <a:xfrm>
            <a:off x="3513083" y="1366229"/>
            <a:ext cx="7772400" cy="1713100"/>
          </a:xfrm>
          <a:prstGeom prst="rect">
            <a:avLst/>
          </a:prstGeom>
        </p:spPr>
      </p:pic>
      <p:sp>
        <p:nvSpPr>
          <p:cNvPr id="8" name="TextBox 7">
            <a:extLst>
              <a:ext uri="{FF2B5EF4-FFF2-40B4-BE49-F238E27FC236}">
                <a16:creationId xmlns:a16="http://schemas.microsoft.com/office/drawing/2014/main" id="{F14DF7D0-37E1-D150-E7D6-E1E78BD1A853}"/>
              </a:ext>
            </a:extLst>
          </p:cNvPr>
          <p:cNvSpPr txBox="1"/>
          <p:nvPr/>
        </p:nvSpPr>
        <p:spPr>
          <a:xfrm>
            <a:off x="1303283" y="3882838"/>
            <a:ext cx="6096000" cy="369332"/>
          </a:xfrm>
          <a:prstGeom prst="rect">
            <a:avLst/>
          </a:prstGeom>
          <a:noFill/>
        </p:spPr>
        <p:txBody>
          <a:bodyPr wrap="square">
            <a:spAutoFit/>
          </a:bodyPr>
          <a:lstStyle/>
          <a:p>
            <a:r>
              <a:rPr lang="zh-CN" altLang="en-US" b="0" i="0" dirty="0">
                <a:solidFill>
                  <a:srgbClr val="262625"/>
                </a:solidFill>
                <a:effectLst/>
                <a:latin typeface="Times New Roman" panose="02020603050405020304" pitchFamily="18" charset="0"/>
              </a:rPr>
              <a:t>（</a:t>
            </a:r>
            <a:r>
              <a:rPr lang="en-US" altLang="zh-CN" b="0" i="0" dirty="0">
                <a:solidFill>
                  <a:srgbClr val="262625"/>
                </a:solidFill>
                <a:effectLst/>
                <a:latin typeface="Times New Roman" panose="02020603050405020304" pitchFamily="18" charset="0"/>
              </a:rPr>
              <a:t>3</a:t>
            </a:r>
            <a:r>
              <a:rPr lang="zh-CN" altLang="en-US" b="0" i="0" dirty="0">
                <a:solidFill>
                  <a:srgbClr val="262625"/>
                </a:solidFill>
                <a:effectLst/>
                <a:latin typeface="Times New Roman" panose="02020603050405020304" pitchFamily="18" charset="0"/>
              </a:rPr>
              <a:t>）关键词提取</a:t>
            </a:r>
            <a:endParaRPr lang="zh-CN" altLang="en-US" dirty="0"/>
          </a:p>
        </p:txBody>
      </p:sp>
      <p:pic>
        <p:nvPicPr>
          <p:cNvPr id="9" name="Picture 8">
            <a:extLst>
              <a:ext uri="{FF2B5EF4-FFF2-40B4-BE49-F238E27FC236}">
                <a16:creationId xmlns:a16="http://schemas.microsoft.com/office/drawing/2014/main" id="{D9350EFA-C8DE-0971-30EE-8B5C1126EB3F}"/>
              </a:ext>
            </a:extLst>
          </p:cNvPr>
          <p:cNvPicPr>
            <a:picLocks noChangeAspect="1"/>
          </p:cNvPicPr>
          <p:nvPr/>
        </p:nvPicPr>
        <p:blipFill>
          <a:blip r:embed="rId3"/>
          <a:stretch>
            <a:fillRect/>
          </a:stretch>
        </p:blipFill>
        <p:spPr>
          <a:xfrm>
            <a:off x="3513083" y="3288916"/>
            <a:ext cx="7772400" cy="3108960"/>
          </a:xfrm>
          <a:prstGeom prst="rect">
            <a:avLst/>
          </a:prstGeom>
        </p:spPr>
      </p:pic>
    </p:spTree>
    <p:extLst>
      <p:ext uri="{BB962C8B-B14F-4D97-AF65-F5344CB8AC3E}">
        <p14:creationId xmlns:p14="http://schemas.microsoft.com/office/powerpoint/2010/main" val="35919452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1D7394-4F9A-77E6-8ECF-3AF8B1214D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3E7FBE-D133-F945-52C7-B9F904CD6AD9}"/>
              </a:ext>
            </a:extLst>
          </p:cNvPr>
          <p:cNvSpPr>
            <a:spLocks noGrp="1"/>
          </p:cNvSpPr>
          <p:nvPr>
            <p:ph type="title"/>
          </p:nvPr>
        </p:nvSpPr>
        <p:spPr/>
        <p:txBody>
          <a:bodyPr/>
          <a:lstStyle/>
          <a:p>
            <a:r>
              <a:rPr lang="zh-CN" altLang="en-US" b="1" dirty="0">
                <a:hlinkClick r:id="rId2"/>
              </a:rPr>
              <a:t>词云生成</a:t>
            </a:r>
            <a:endParaRPr lang="zh-CN" altLang="en-US" b="1" dirty="0"/>
          </a:p>
        </p:txBody>
      </p:sp>
      <p:sp>
        <p:nvSpPr>
          <p:cNvPr id="4" name="TextBox 3">
            <a:extLst>
              <a:ext uri="{FF2B5EF4-FFF2-40B4-BE49-F238E27FC236}">
                <a16:creationId xmlns:a16="http://schemas.microsoft.com/office/drawing/2014/main" id="{AEAA8CE6-2D8C-65CB-8280-AC18FBA03CCF}"/>
              </a:ext>
            </a:extLst>
          </p:cNvPr>
          <p:cNvSpPr txBox="1"/>
          <p:nvPr/>
        </p:nvSpPr>
        <p:spPr>
          <a:xfrm>
            <a:off x="599090" y="1489869"/>
            <a:ext cx="3552496" cy="4613892"/>
          </a:xfrm>
          <a:prstGeom prst="rect">
            <a:avLst/>
          </a:prstGeom>
          <a:noFill/>
        </p:spPr>
        <p:txBody>
          <a:bodyPr wrap="square">
            <a:spAutoFit/>
          </a:bodyPr>
          <a:lstStyle/>
          <a:p>
            <a:pPr>
              <a:lnSpc>
                <a:spcPct val="150000"/>
              </a:lnSpc>
            </a:pPr>
            <a:r>
              <a:rPr lang="zh-CN" altLang="en-US" b="0" i="0" dirty="0">
                <a:solidFill>
                  <a:srgbClr val="262625"/>
                </a:solidFill>
                <a:effectLst/>
                <a:latin typeface="Microsoft YaHei" panose="020B0503020204020204" pitchFamily="34" charset="-122"/>
                <a:ea typeface="Microsoft YaHei" panose="020B0503020204020204" pitchFamily="34" charset="-122"/>
              </a:rPr>
              <a:t>（</a:t>
            </a:r>
            <a:r>
              <a:rPr lang="en-US" altLang="zh-CN" b="0" i="0" dirty="0">
                <a:solidFill>
                  <a:srgbClr val="262625"/>
                </a:solidFill>
                <a:effectLst/>
                <a:latin typeface="Microsoft YaHei" panose="020B0503020204020204" pitchFamily="34" charset="-122"/>
                <a:ea typeface="Microsoft YaHei" panose="020B0503020204020204" pitchFamily="34" charset="-122"/>
              </a:rPr>
              <a:t>1</a:t>
            </a:r>
            <a:r>
              <a:rPr lang="zh-CN" altLang="en-US" b="0" i="0" dirty="0">
                <a:solidFill>
                  <a:srgbClr val="262625"/>
                </a:solidFill>
                <a:effectLst/>
                <a:latin typeface="Microsoft YaHei" panose="020B0503020204020204" pitchFamily="34" charset="-122"/>
                <a:ea typeface="Microsoft YaHei" panose="020B0503020204020204" pitchFamily="34" charset="-122"/>
              </a:rPr>
              <a:t>）设置词云参数：使用</a:t>
            </a:r>
            <a:r>
              <a:rPr lang="en-US" b="0" i="0" dirty="0" err="1">
                <a:solidFill>
                  <a:srgbClr val="6E6B5E"/>
                </a:solidFill>
                <a:effectLst/>
                <a:latin typeface="Microsoft YaHei" panose="020B0503020204020204" pitchFamily="34" charset="-122"/>
                <a:ea typeface="Microsoft YaHei" panose="020B0503020204020204" pitchFamily="34" charset="-122"/>
              </a:rPr>
              <a:t>WordCloud</a:t>
            </a:r>
            <a:r>
              <a:rPr lang="en-US" b="0" i="0" dirty="0">
                <a:solidFill>
                  <a:srgbClr val="6E6B5E"/>
                </a:solidFill>
                <a:effectLst/>
                <a:latin typeface="Microsoft YaHei" panose="020B0503020204020204" pitchFamily="34" charset="-122"/>
                <a:ea typeface="Microsoft YaHei" panose="020B0503020204020204" pitchFamily="34" charset="-122"/>
              </a:rPr>
              <a:t>()</a:t>
            </a:r>
            <a:r>
              <a:rPr lang="zh-CN" altLang="en-US" b="0" i="0" dirty="0">
                <a:solidFill>
                  <a:srgbClr val="262625"/>
                </a:solidFill>
                <a:effectLst/>
                <a:latin typeface="Microsoft YaHei" panose="020B0503020204020204" pitchFamily="34" charset="-122"/>
                <a:ea typeface="Microsoft YaHei" panose="020B0503020204020204" pitchFamily="34" charset="-122"/>
              </a:rPr>
              <a:t>函数来设置词云对象的相关参数，如字体、背景颜色、最大词汇数等。</a:t>
            </a:r>
            <a:endParaRPr lang="en-US" altLang="zh-CN" b="0" i="0" dirty="0">
              <a:solidFill>
                <a:srgbClr val="262625"/>
              </a:solidFill>
              <a:effectLst/>
              <a:latin typeface="Microsoft YaHei" panose="020B0503020204020204" pitchFamily="34" charset="-122"/>
              <a:ea typeface="Microsoft YaHei" panose="020B0503020204020204" pitchFamily="34" charset="-122"/>
            </a:endParaRPr>
          </a:p>
          <a:p>
            <a:pPr>
              <a:lnSpc>
                <a:spcPct val="150000"/>
              </a:lnSpc>
            </a:pP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2</a:t>
            </a:r>
            <a:r>
              <a:rPr lang="zh-CN" altLang="en-US" dirty="0">
                <a:latin typeface="Microsoft YaHei" panose="020B0503020204020204" pitchFamily="34" charset="-122"/>
                <a:ea typeface="Microsoft YaHei" panose="020B0503020204020204" pitchFamily="34" charset="-122"/>
              </a:rPr>
              <a:t>）生成词云：一种是使</a:t>
            </a:r>
            <a:r>
              <a:rPr lang="en-US" altLang="zh-CN" dirty="0" err="1">
                <a:latin typeface="Microsoft YaHei" panose="020B0503020204020204" pitchFamily="34" charset="-122"/>
                <a:ea typeface="Microsoft YaHei" panose="020B0503020204020204" pitchFamily="34" charset="-122"/>
              </a:rPr>
              <a:t>WordCloud.generate</a:t>
            </a:r>
            <a:r>
              <a:rPr lang="en-US" altLang="zh-CN" dirty="0">
                <a:latin typeface="Microsoft YaHei" panose="020B0503020204020204" pitchFamily="34" charset="-122"/>
                <a:ea typeface="Microsoft YaHei" panose="020B0503020204020204" pitchFamily="34" charset="-122"/>
              </a:rPr>
              <a:t>(text)</a:t>
            </a:r>
            <a:r>
              <a:rPr lang="zh-CN" altLang="en-US" dirty="0">
                <a:latin typeface="Microsoft YaHei" panose="020B0503020204020204" pitchFamily="34" charset="-122"/>
                <a:ea typeface="Microsoft YaHei" panose="020B0503020204020204" pitchFamily="34" charset="-122"/>
              </a:rPr>
              <a:t>函数直接从原始文本生成词云，</a:t>
            </a:r>
            <a:endParaRPr lang="en-US" altLang="zh-CN" dirty="0">
              <a:latin typeface="Microsoft YaHei" panose="020B0503020204020204" pitchFamily="34" charset="-122"/>
              <a:ea typeface="Microsoft YaHei" panose="020B0503020204020204" pitchFamily="34" charset="-122"/>
            </a:endParaRPr>
          </a:p>
          <a:p>
            <a:pPr>
              <a:lnSpc>
                <a:spcPct val="150000"/>
              </a:lnSpc>
            </a:pPr>
            <a:r>
              <a:rPr lang="zh-CN" altLang="en-US" dirty="0">
                <a:latin typeface="Microsoft YaHei" panose="020B0503020204020204" pitchFamily="34" charset="-122"/>
                <a:ea typeface="Microsoft YaHei" panose="020B0503020204020204" pitchFamily="34" charset="-122"/>
              </a:rPr>
              <a:t>（</a:t>
            </a:r>
            <a:r>
              <a:rPr lang="en-US" altLang="zh-CN" dirty="0">
                <a:latin typeface="Microsoft YaHei" panose="020B0503020204020204" pitchFamily="34" charset="-122"/>
                <a:ea typeface="Microsoft YaHei" panose="020B0503020204020204" pitchFamily="34" charset="-122"/>
              </a:rPr>
              <a:t>3</a:t>
            </a:r>
            <a:r>
              <a:rPr lang="zh-CN" altLang="en-US" dirty="0">
                <a:latin typeface="Microsoft YaHei" panose="020B0503020204020204" pitchFamily="34" charset="-122"/>
                <a:ea typeface="Microsoft YaHei" panose="020B0503020204020204" pitchFamily="34" charset="-122"/>
              </a:rPr>
              <a:t>）保存词云图像：利用</a:t>
            </a:r>
            <a:r>
              <a:rPr lang="en-US" dirty="0" err="1">
                <a:latin typeface="Microsoft YaHei" panose="020B0503020204020204" pitchFamily="34" charset="-122"/>
                <a:ea typeface="Microsoft YaHei" panose="020B0503020204020204" pitchFamily="34" charset="-122"/>
              </a:rPr>
              <a:t>WordCloud.to_file</a:t>
            </a:r>
            <a:r>
              <a:rPr lang="en-US" dirty="0">
                <a:latin typeface="Microsoft YaHei" panose="020B0503020204020204" pitchFamily="34" charset="-122"/>
                <a:ea typeface="Microsoft YaHei" panose="020B0503020204020204" pitchFamily="34" charset="-122"/>
              </a:rPr>
              <a:t>(</a:t>
            </a:r>
            <a:r>
              <a:rPr lang="en-US" dirty="0" err="1">
                <a:latin typeface="Microsoft YaHei" panose="020B0503020204020204" pitchFamily="34" charset="-122"/>
                <a:ea typeface="Microsoft YaHei" panose="020B0503020204020204" pitchFamily="34" charset="-122"/>
              </a:rPr>
              <a:t>file_name</a:t>
            </a:r>
            <a:r>
              <a:rPr lang="en-US" dirty="0">
                <a:latin typeface="Microsoft YaHei" panose="020B0503020204020204" pitchFamily="34" charset="-122"/>
                <a:ea typeface="Microsoft YaHei" panose="020B0503020204020204" pitchFamily="34" charset="-122"/>
              </a:rPr>
              <a:t>)</a:t>
            </a:r>
            <a:r>
              <a:rPr lang="zh-CN" altLang="en-US" dirty="0">
                <a:latin typeface="Microsoft YaHei" panose="020B0503020204020204" pitchFamily="34" charset="-122"/>
                <a:ea typeface="Microsoft YaHei" panose="020B0503020204020204" pitchFamily="34" charset="-122"/>
              </a:rPr>
              <a:t>函数将将生成的词云图保存为图像文件。</a:t>
            </a:r>
          </a:p>
        </p:txBody>
      </p:sp>
      <p:pic>
        <p:nvPicPr>
          <p:cNvPr id="5" name="Picture 4">
            <a:extLst>
              <a:ext uri="{FF2B5EF4-FFF2-40B4-BE49-F238E27FC236}">
                <a16:creationId xmlns:a16="http://schemas.microsoft.com/office/drawing/2014/main" id="{9FD1CFC4-7075-A057-33E0-218B22FF2532}"/>
              </a:ext>
            </a:extLst>
          </p:cNvPr>
          <p:cNvPicPr>
            <a:picLocks noChangeAspect="1"/>
          </p:cNvPicPr>
          <p:nvPr/>
        </p:nvPicPr>
        <p:blipFill>
          <a:blip r:embed="rId3"/>
          <a:stretch>
            <a:fillRect/>
          </a:stretch>
        </p:blipFill>
        <p:spPr>
          <a:xfrm>
            <a:off x="4904827" y="302173"/>
            <a:ext cx="5892800" cy="3352800"/>
          </a:xfrm>
          <a:prstGeom prst="rect">
            <a:avLst/>
          </a:prstGeom>
        </p:spPr>
      </p:pic>
      <p:pic>
        <p:nvPicPr>
          <p:cNvPr id="6" name="Picture 5">
            <a:extLst>
              <a:ext uri="{FF2B5EF4-FFF2-40B4-BE49-F238E27FC236}">
                <a16:creationId xmlns:a16="http://schemas.microsoft.com/office/drawing/2014/main" id="{9F468D4C-060B-F427-19D5-AB275D8435C5}"/>
              </a:ext>
            </a:extLst>
          </p:cNvPr>
          <p:cNvPicPr>
            <a:picLocks noChangeAspect="1"/>
          </p:cNvPicPr>
          <p:nvPr/>
        </p:nvPicPr>
        <p:blipFill>
          <a:blip r:embed="rId4"/>
          <a:stretch>
            <a:fillRect/>
          </a:stretch>
        </p:blipFill>
        <p:spPr>
          <a:xfrm>
            <a:off x="4904827" y="3880946"/>
            <a:ext cx="6540500" cy="1054100"/>
          </a:xfrm>
          <a:prstGeom prst="rect">
            <a:avLst/>
          </a:prstGeom>
        </p:spPr>
      </p:pic>
      <p:pic>
        <p:nvPicPr>
          <p:cNvPr id="7" name="Picture 6">
            <a:extLst>
              <a:ext uri="{FF2B5EF4-FFF2-40B4-BE49-F238E27FC236}">
                <a16:creationId xmlns:a16="http://schemas.microsoft.com/office/drawing/2014/main" id="{31CD71F7-959A-3D9D-7328-BEEAB5BA538D}"/>
              </a:ext>
            </a:extLst>
          </p:cNvPr>
          <p:cNvPicPr>
            <a:picLocks noChangeAspect="1"/>
          </p:cNvPicPr>
          <p:nvPr/>
        </p:nvPicPr>
        <p:blipFill>
          <a:blip r:embed="rId5"/>
          <a:stretch>
            <a:fillRect/>
          </a:stretch>
        </p:blipFill>
        <p:spPr>
          <a:xfrm>
            <a:off x="4904827" y="5161019"/>
            <a:ext cx="6845300" cy="1549400"/>
          </a:xfrm>
          <a:prstGeom prst="rect">
            <a:avLst/>
          </a:prstGeom>
        </p:spPr>
      </p:pic>
      <p:pic>
        <p:nvPicPr>
          <p:cNvPr id="8" name="Picture 7">
            <a:extLst>
              <a:ext uri="{FF2B5EF4-FFF2-40B4-BE49-F238E27FC236}">
                <a16:creationId xmlns:a16="http://schemas.microsoft.com/office/drawing/2014/main" id="{E6308A9C-BA72-5CEE-03A0-0CDE88CF21A3}"/>
              </a:ext>
            </a:extLst>
          </p:cNvPr>
          <p:cNvPicPr>
            <a:picLocks noChangeAspect="1"/>
          </p:cNvPicPr>
          <p:nvPr/>
        </p:nvPicPr>
        <p:blipFill>
          <a:blip r:embed="rId6"/>
          <a:stretch>
            <a:fillRect/>
          </a:stretch>
        </p:blipFill>
        <p:spPr>
          <a:xfrm>
            <a:off x="0" y="3270432"/>
            <a:ext cx="4806223" cy="3439987"/>
          </a:xfrm>
          <a:prstGeom prst="rect">
            <a:avLst/>
          </a:prstGeom>
        </p:spPr>
      </p:pic>
    </p:spTree>
    <p:extLst>
      <p:ext uri="{BB962C8B-B14F-4D97-AF65-F5344CB8AC3E}">
        <p14:creationId xmlns:p14="http://schemas.microsoft.com/office/powerpoint/2010/main" val="22111009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linds(horizontal)">
                                      <p:cBhvr>
                                        <p:cTn id="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pPr algn="ctr"/>
            <a:br>
              <a:rPr lang="en-US" altLang="zh-CN" dirty="0"/>
            </a:br>
            <a:r>
              <a:rPr lang="en-US" altLang="zh-CN" dirty="0"/>
              <a:t>——The end——</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5280019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Academic Literature 16x9">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Academic Literature">
      <a:dk1>
        <a:srgbClr val="514843"/>
      </a:dk1>
      <a:lt1>
        <a:srgbClr val="FFFFFF"/>
      </a:lt1>
      <a:dk2>
        <a:srgbClr val="000000"/>
      </a:dk2>
      <a:lt2>
        <a:srgbClr val="FFFFF3"/>
      </a:lt2>
      <a:accent1>
        <a:srgbClr val="514843"/>
      </a:accent1>
      <a:accent2>
        <a:srgbClr val="6D7D66"/>
      </a:accent2>
      <a:accent3>
        <a:srgbClr val="525A6A"/>
      </a:accent3>
      <a:accent4>
        <a:srgbClr val="827266"/>
      </a:accent4>
      <a:accent5>
        <a:srgbClr val="AE9A7E"/>
      </a:accent5>
      <a:accent6>
        <a:srgbClr val="A8A39E"/>
      </a:accent6>
      <a:hlink>
        <a:srgbClr val="59704F"/>
      </a:hlink>
      <a:folHlink>
        <a:srgbClr val="A8A39E"/>
      </a:folHlink>
    </a:clrScheme>
    <a:fontScheme name="Plantagenet Cherokee-Euphemia">
      <a:majorFont>
        <a:latin typeface="Plantagenet Cherokee"/>
        <a:ea typeface=""/>
        <a:cs typeface=""/>
      </a:majorFont>
      <a:minorFont>
        <a:latin typeface="Euphemia"/>
        <a:ea typeface=""/>
        <a:cs typeface=""/>
      </a:minorFont>
    </a:fontScheme>
    <a:fmtScheme name="AcademicLiterature">
      <a:fillStyleLst>
        <a:solidFill>
          <a:schemeClr val="phClr"/>
        </a:solidFill>
        <a:gradFill rotWithShape="1">
          <a:gsLst>
            <a:gs pos="0">
              <a:schemeClr val="phClr">
                <a:tint val="58000"/>
                <a:satMod val="300000"/>
              </a:schemeClr>
            </a:gs>
            <a:gs pos="100000">
              <a:schemeClr val="phClr">
                <a:tint val="68000"/>
                <a:satMod val="300000"/>
              </a:schemeClr>
            </a:gs>
          </a:gsLst>
          <a:path path="rect">
            <a:fillToRect l="50000" t="50000" r="50000" b="50000"/>
          </a:path>
        </a:gradFill>
        <a:gradFill rotWithShape="1">
          <a:gsLst>
            <a:gs pos="0">
              <a:schemeClr val="phClr">
                <a:shade val="100000"/>
                <a:satMod val="137000"/>
              </a:schemeClr>
            </a:gs>
            <a:gs pos="71000">
              <a:schemeClr val="phClr">
                <a:shade val="98000"/>
                <a:satMod val="137000"/>
              </a:schemeClr>
            </a:gs>
            <a:gs pos="100000">
              <a:schemeClr val="phClr">
                <a:shade val="75000"/>
                <a:satMod val="137000"/>
              </a:schemeClr>
            </a:gs>
          </a:gsLst>
          <a:path path="rect">
            <a:fillToRect l="50000" t="50000" r="50000" b="50000"/>
          </a:path>
        </a:gradFill>
      </a:fillStyleLst>
      <a:lnStyleLst>
        <a:ln w="6350" cap="rnd" cmpd="sng" algn="ctr">
          <a:solidFill>
            <a:schemeClr val="phClr">
              <a:shade val="95000"/>
              <a:satMod val="105000"/>
            </a:schemeClr>
          </a:solidFill>
          <a:prstDash val="solid"/>
        </a:ln>
        <a:ln w="48000" cap="flat" cmpd="thickThin" algn="ctr">
          <a:solidFill>
            <a:schemeClr val="phClr"/>
          </a:solidFill>
          <a:prstDash val="solid"/>
        </a:ln>
        <a:ln w="48500" cap="flat" cmpd="thickThin" algn="ctr">
          <a:solidFill>
            <a:schemeClr val="phClr"/>
          </a:solidFill>
          <a:prstDash val="solid"/>
        </a:ln>
      </a:lnStyleLst>
      <a:effectStyleLst>
        <a:effectStyle>
          <a:effectLst>
            <a:outerShdw blurRad="45000" dist="25000" dir="5400000" rotWithShape="0">
              <a:srgbClr val="000000">
                <a:alpha val="38000"/>
              </a:srgbClr>
            </a:outerShdw>
          </a:effectLst>
        </a:effectStyle>
        <a:effectStyle>
          <a:effectLst>
            <a:outerShdw blurRad="39000" dist="25400" dir="5400000" rotWithShape="0">
              <a:srgbClr val="000000">
                <a:alpha val="38000"/>
              </a:srgbClr>
            </a:outerShdw>
          </a:effectLst>
        </a:effectStyle>
        <a:effectStyle>
          <a:effectLst>
            <a:outerShdw blurRad="39000" dist="25400" dir="5400000" rotWithShape="0">
              <a:srgbClr val="000000">
                <a:alpha val="38000"/>
              </a:srgbClr>
            </a:outerShdw>
          </a:effectLst>
          <a:scene3d>
            <a:camera prst="orthographicFront">
              <a:rot lat="0" lon="0" rev="0"/>
            </a:camera>
            <a:lightRig rig="threePt" dir="t">
              <a:rot lat="0" lon="0" rev="1800000"/>
            </a:lightRig>
          </a:scene3d>
          <a:sp3d prstMaterial="matte">
            <a:bevelT h="20000"/>
          </a:sp3d>
        </a:effectStyle>
      </a:effectStyleLst>
      <a:bgFillStyleLst>
        <a:solidFill>
          <a:schemeClr val="phClr"/>
        </a:solidFill>
        <a:gradFill rotWithShape="1">
          <a:gsLst>
            <a:gs pos="0">
              <a:schemeClr val="phClr">
                <a:tint val="80000"/>
                <a:satMod val="300000"/>
              </a:schemeClr>
            </a:gs>
            <a:gs pos="100000">
              <a:schemeClr val="phClr">
                <a:shade val="90000"/>
                <a:alpha val="80000"/>
                <a:satMod val="200000"/>
              </a:schemeClr>
            </a:gs>
          </a:gsLst>
          <a:path path="rect">
            <a:fillToRect l="20000" t="20000" r="20000" b="20000"/>
          </a:path>
        </a:gradFill>
        <a:gradFill rotWithShape="1">
          <a:gsLst>
            <a:gs pos="0">
              <a:schemeClr val="phClr">
                <a:tint val="80000"/>
                <a:satMod val="300000"/>
              </a:schemeClr>
            </a:gs>
            <a:gs pos="100000">
              <a:schemeClr val="phClr">
                <a:shade val="90000"/>
                <a:alpha val="80000"/>
                <a:satMod val="200000"/>
              </a:schemeClr>
            </a:gs>
          </a:gsLst>
          <a:path path="rect">
            <a:fillToRect l="5000" t="5000" r="5000" b="5000"/>
          </a:path>
        </a:gradFill>
      </a:bgFillStyleLst>
    </a:fmtScheme>
  </a:themeElements>
  <a:objectDefaults>
    <a:lnDef>
      <a:spPr>
        <a:ln>
          <a:solidFill>
            <a:schemeClr val="accent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VSO_x0020_item_x0020_id xmlns="40262f94-9f35-4ac3-9a90-690165a166b7" xsi:nil="true"/>
    <Assetid_x0020_ xmlns="40262f94-9f35-4ac3-9a90-690165a166b7" xsi:nil="true"/>
    <Item_x0020_Details xmlns="40262f94-9f35-4ac3-9a90-690165a166b7" xsi:nil="true"/>
    <Template_x0020_details xmlns="40262f94-9f35-4ac3-9a90-690165a166b7" xsi:nil="true"/>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AA3F7D94069FF64A86F7DFF56D60E3BE" ma:contentTypeVersion="6" ma:contentTypeDescription="Create a new document." ma:contentTypeScope="" ma:versionID="c32302c77d4085ecf495bdddb7f5e889">
  <xsd:schema xmlns:xsd="http://www.w3.org/2001/XMLSchema" xmlns:xs="http://www.w3.org/2001/XMLSchema" xmlns:p="http://schemas.microsoft.com/office/2006/metadata/properties" xmlns:ns2="a4f35948-e619-41b3-aa29-22878b09cfd2" xmlns:ns3="40262f94-9f35-4ac3-9a90-690165a166b7" targetNamespace="http://schemas.microsoft.com/office/2006/metadata/properties" ma:root="true" ma:fieldsID="4ab5ae46be95f9d0be6107e8200be7a2" ns2:_="" ns3:_="">
    <xsd:import namespace="a4f35948-e619-41b3-aa29-22878b09cfd2"/>
    <xsd:import namespace="40262f94-9f35-4ac3-9a90-690165a166b7"/>
    <xsd:element name="properties">
      <xsd:complexType>
        <xsd:sequence>
          <xsd:element name="documentManagement">
            <xsd:complexType>
              <xsd:all>
                <xsd:element ref="ns2:SharedWithUsers" minOccurs="0"/>
                <xsd:element ref="ns2:SharedWithDetails" minOccurs="0"/>
                <xsd:element ref="ns3:VSO_x0020_item_x0020_id" minOccurs="0"/>
                <xsd:element ref="ns3:Item_x0020_Details" minOccurs="0"/>
                <xsd:element ref="ns3:Template_x0020_details" minOccurs="0"/>
                <xsd:element ref="ns3:Assetid_x0020_"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4f35948-e619-41b3-aa29-22878b09cfd2"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description=""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0262f94-9f35-4ac3-9a90-690165a166b7" elementFormDefault="qualified">
    <xsd:import namespace="http://schemas.microsoft.com/office/2006/documentManagement/types"/>
    <xsd:import namespace="http://schemas.microsoft.com/office/infopath/2007/PartnerControls"/>
    <xsd:element name="VSO_x0020_item_x0020_id" ma:index="10" nillable="true" ma:displayName="VSO item id" ma:description="Please add the bug number to refer to VSO items." ma:internalName="VSO_x0020_item_x0020_id">
      <xsd:simpleType>
        <xsd:restriction base="dms:Text">
          <xsd:maxLength value="255"/>
        </xsd:restriction>
      </xsd:simpleType>
    </xsd:element>
    <xsd:element name="Item_x0020_Details" ma:index="11" nillable="true" ma:displayName="Item Details" ma:internalName="Item_x0020_Details">
      <xsd:simpleType>
        <xsd:restriction base="dms:Note">
          <xsd:maxLength value="255"/>
        </xsd:restriction>
      </xsd:simpleType>
    </xsd:element>
    <xsd:element name="Template_x0020_details" ma:index="12" nillable="true" ma:displayName="Template details" ma:internalName="Template_x0020_details">
      <xsd:simpleType>
        <xsd:restriction base="dms:Text"/>
      </xsd:simpleType>
    </xsd:element>
    <xsd:element name="Assetid_x0020_" ma:index="13" nillable="true" ma:displayName="Assetid " ma:internalName="Assetid_x0020_">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DBAFF00-647E-4627-9B6C-A5CDC1F32200}">
  <ds:schemaRefs>
    <ds:schemaRef ds:uri="http://purl.org/dc/elements/1.1/"/>
    <ds:schemaRef ds:uri="http://schemas.openxmlformats.org/package/2006/metadata/core-properties"/>
    <ds:schemaRef ds:uri="http://www.w3.org/XML/1998/namespace"/>
    <ds:schemaRef ds:uri="http://schemas.microsoft.com/office/2006/documentManagement/types"/>
    <ds:schemaRef ds:uri="http://purl.org/dc/terms/"/>
    <ds:schemaRef ds:uri="http://schemas.microsoft.com/office/infopath/2007/PartnerControls"/>
    <ds:schemaRef ds:uri="a4f35948-e619-41b3-aa29-22878b09cfd2"/>
    <ds:schemaRef ds:uri="40262f94-9f35-4ac3-9a90-690165a166b7"/>
    <ds:schemaRef ds:uri="http://schemas.microsoft.com/office/2006/metadata/properties"/>
    <ds:schemaRef ds:uri="http://purl.org/dc/dcmitype/"/>
  </ds:schemaRefs>
</ds:datastoreItem>
</file>

<file path=customXml/itemProps2.xml><?xml version="1.0" encoding="utf-8"?>
<ds:datastoreItem xmlns:ds="http://schemas.openxmlformats.org/officeDocument/2006/customXml" ds:itemID="{5400D5F3-AA73-4EC6-BCD9-0DC3E330E5B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a4f35948-e619-41b3-aa29-22878b09cfd2"/>
    <ds:schemaRef ds:uri="40262f94-9f35-4ac3-9a90-690165a166b7"/>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DDC6030-8312-4894-9236-1E15DA4F39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1400</TotalTime>
  <Words>9917</Words>
  <Application>Microsoft Macintosh PowerPoint</Application>
  <PresentationFormat>Widescreen</PresentationFormat>
  <Paragraphs>717</Paragraphs>
  <Slides>110</Slides>
  <Notes>87</Notes>
  <HiddenSlides>0</HiddenSlides>
  <MMClips>0</MMClips>
  <ScaleCrop>false</ScaleCrop>
  <HeadingPairs>
    <vt:vector size="6" baseType="variant">
      <vt:variant>
        <vt:lpstr>Fonts Used</vt:lpstr>
      </vt:variant>
      <vt:variant>
        <vt:i4>17</vt:i4>
      </vt:variant>
      <vt:variant>
        <vt:lpstr>Theme</vt:lpstr>
      </vt:variant>
      <vt:variant>
        <vt:i4>1</vt:i4>
      </vt:variant>
      <vt:variant>
        <vt:lpstr>Slide Titles</vt:lpstr>
      </vt:variant>
      <vt:variant>
        <vt:i4>110</vt:i4>
      </vt:variant>
    </vt:vector>
  </HeadingPairs>
  <TitlesOfParts>
    <vt:vector size="128" baseType="lpstr">
      <vt:lpstr>DeepSeek-CJK-patch</vt:lpstr>
      <vt:lpstr>KaiTi_GB2312</vt:lpstr>
      <vt:lpstr>微软雅黑</vt:lpstr>
      <vt:lpstr>微软雅黑</vt:lpstr>
      <vt:lpstr>宋体</vt:lpstr>
      <vt:lpstr>宋体</vt:lpstr>
      <vt:lpstr>Source Sans 3</vt:lpstr>
      <vt:lpstr>Arial</vt:lpstr>
      <vt:lpstr>Consolas</vt:lpstr>
      <vt:lpstr>Courier New</vt:lpstr>
      <vt:lpstr>Euphemia</vt:lpstr>
      <vt:lpstr>Helvetica-Bold</vt:lpstr>
      <vt:lpstr>Lato</vt:lpstr>
      <vt:lpstr>Open Sans</vt:lpstr>
      <vt:lpstr>Plantagenet Cherokee</vt:lpstr>
      <vt:lpstr>Times New Roman</vt:lpstr>
      <vt:lpstr>Wingdings</vt:lpstr>
      <vt:lpstr>Academic Literature 16x9</vt:lpstr>
      <vt:lpstr>第13章  文本分析项目实践</vt:lpstr>
      <vt:lpstr>教学内容</vt:lpstr>
      <vt:lpstr>11.1 自然语言处理概述</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11.2 自然语言处理方法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11.2 自然语言处理方法</vt:lpstr>
      <vt:lpstr>11.2 自然语言处理方法</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11.2 自然语言处理方法</vt:lpstr>
      <vt:lpstr>11.2 自然语言处理方法</vt:lpstr>
      <vt:lpstr>11.2 自然语言处理方法</vt:lpstr>
      <vt:lpstr>PowerPoint Presentation</vt:lpstr>
      <vt:lpstr>PowerPoint Presentation</vt:lpstr>
      <vt:lpstr>PowerPoint Presentation</vt:lpstr>
      <vt:lpstr>PowerPoint Presentation</vt:lpstr>
      <vt:lpstr>11.2 自然语言处理方法</vt:lpstr>
      <vt:lpstr>11.2 自然语言处理方法</vt:lpstr>
      <vt:lpstr>11.2 自然语言处理方法</vt:lpstr>
      <vt:lpstr>11.2 自然语言处理方法</vt:lpstr>
      <vt:lpstr>11.2 自然语言处理方法</vt:lpstr>
      <vt:lpstr>一、大模型对NLP任务的整体性影响</vt:lpstr>
      <vt:lpstr>二、原理上的本质差异</vt:lpstr>
      <vt:lpstr>三、统一模式如何解决传统任务？</vt:lpstr>
      <vt:lpstr>四、大模型的统一范式：Prompt+生成=多任务统一处理</vt:lpstr>
      <vt:lpstr>11.3 自然语言处理常用工具库</vt:lpstr>
      <vt:lpstr>11.3 自然语言处理常用工具库</vt:lpstr>
      <vt:lpstr>11.3 自然语言处理常用工具库</vt:lpstr>
      <vt:lpstr>11.3 自然语言处理常用工具库</vt:lpstr>
      <vt:lpstr>11.3 自然语言处理常用工具库</vt:lpstr>
      <vt:lpstr>11.3 自然语言处理常用工具库</vt:lpstr>
      <vt:lpstr>11.3 自然语言处理常用工具库</vt:lpstr>
      <vt:lpstr>NLTK 应用示例</vt:lpstr>
      <vt:lpstr>11.3 自然语言处理常用工具库</vt:lpstr>
      <vt:lpstr>11.3 自然语言处理常用工具库</vt:lpstr>
      <vt:lpstr>载入自定义词典</vt:lpstr>
      <vt:lpstr>词性标注</vt:lpstr>
      <vt:lpstr>11.3 自然语言处理常用工具库</vt:lpstr>
      <vt:lpstr>11.3 自然语言处理常用工具库</vt:lpstr>
      <vt:lpstr>（3）PYLTP  https://pypi.org/project/pyltp/ （略）</vt:lpstr>
      <vt:lpstr>大语言模型在NLP任务中的应用示例</vt:lpstr>
      <vt:lpstr>PowerPoint Presentation</vt:lpstr>
      <vt:lpstr>句法分析（Syntactic Parsing）</vt:lpstr>
      <vt:lpstr>命名实体识别（NER）</vt:lpstr>
      <vt:lpstr>情感分析（Sentiment Analysis）</vt:lpstr>
      <vt:lpstr>文本预处理实践</vt:lpstr>
      <vt:lpstr>文本数据的收集与读入</vt:lpstr>
      <vt:lpstr>文本清洗</vt:lpstr>
      <vt:lpstr>去停用词</vt:lpstr>
      <vt:lpstr>关键词提取实践</vt:lpstr>
      <vt:lpstr>词频分析</vt:lpstr>
      <vt:lpstr>基于 TF-IDF 的关键词提取实践</vt:lpstr>
      <vt:lpstr>基于 TextRank 的关键词提取实践</vt:lpstr>
      <vt:lpstr>词云构建实践</vt:lpstr>
      <vt:lpstr>数据与工具准备</vt:lpstr>
      <vt:lpstr>数据预处理</vt:lpstr>
      <vt:lpstr>数据预处理</vt:lpstr>
      <vt:lpstr>词云生成</vt:lpstr>
      <vt:lpstr> ——The end——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With Picture Layout</dc:title>
  <dc:creator>Brett</dc:creator>
  <cp:lastModifiedBy>Hao Fan</cp:lastModifiedBy>
  <cp:revision>324</cp:revision>
  <dcterms:created xsi:type="dcterms:W3CDTF">2014-04-17T22:28:38Z</dcterms:created>
  <dcterms:modified xsi:type="dcterms:W3CDTF">2026-02-26T11:41:16Z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0x010100AA3F7D94069FF64A86F7DFF56D60E3BE</vt:lpwstr>
  </property>
</Properties>
</file>