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6"/>
  </p:notesMasterIdLst>
  <p:handoutMasterIdLst>
    <p:handoutMasterId r:id="rId77"/>
  </p:handoutMasterIdLst>
  <p:sldIdLst>
    <p:sldId id="256" r:id="rId5"/>
    <p:sldId id="257" r:id="rId6"/>
    <p:sldId id="269" r:id="rId7"/>
    <p:sldId id="271" r:id="rId8"/>
    <p:sldId id="413" r:id="rId9"/>
    <p:sldId id="414" r:id="rId10"/>
    <p:sldId id="416" r:id="rId11"/>
    <p:sldId id="464" r:id="rId12"/>
    <p:sldId id="417" r:id="rId13"/>
    <p:sldId id="475" r:id="rId14"/>
    <p:sldId id="419" r:id="rId15"/>
    <p:sldId id="420" r:id="rId16"/>
    <p:sldId id="465" r:id="rId17"/>
    <p:sldId id="421" r:id="rId18"/>
    <p:sldId id="422" r:id="rId19"/>
    <p:sldId id="423" r:id="rId20"/>
    <p:sldId id="466" r:id="rId21"/>
    <p:sldId id="424" r:id="rId22"/>
    <p:sldId id="467" r:id="rId23"/>
    <p:sldId id="486" r:id="rId24"/>
    <p:sldId id="425" r:id="rId25"/>
    <p:sldId id="426" r:id="rId26"/>
    <p:sldId id="427" r:id="rId27"/>
    <p:sldId id="468" r:id="rId28"/>
    <p:sldId id="476" r:id="rId29"/>
    <p:sldId id="428" r:id="rId30"/>
    <p:sldId id="477" r:id="rId31"/>
    <p:sldId id="429" r:id="rId32"/>
    <p:sldId id="470" r:id="rId33"/>
    <p:sldId id="471" r:id="rId34"/>
    <p:sldId id="478" r:id="rId35"/>
    <p:sldId id="431" r:id="rId36"/>
    <p:sldId id="432" r:id="rId37"/>
    <p:sldId id="479" r:id="rId38"/>
    <p:sldId id="433" r:id="rId39"/>
    <p:sldId id="434" r:id="rId40"/>
    <p:sldId id="472" r:id="rId41"/>
    <p:sldId id="435" r:id="rId42"/>
    <p:sldId id="436" r:id="rId43"/>
    <p:sldId id="437" r:id="rId44"/>
    <p:sldId id="438" r:id="rId45"/>
    <p:sldId id="439" r:id="rId46"/>
    <p:sldId id="441" r:id="rId47"/>
    <p:sldId id="442" r:id="rId48"/>
    <p:sldId id="443" r:id="rId49"/>
    <p:sldId id="444" r:id="rId50"/>
    <p:sldId id="480" r:id="rId51"/>
    <p:sldId id="445" r:id="rId52"/>
    <p:sldId id="446" r:id="rId53"/>
    <p:sldId id="473" r:id="rId54"/>
    <p:sldId id="449" r:id="rId55"/>
    <p:sldId id="448" r:id="rId56"/>
    <p:sldId id="487" r:id="rId57"/>
    <p:sldId id="451" r:id="rId58"/>
    <p:sldId id="452" r:id="rId59"/>
    <p:sldId id="481" r:id="rId60"/>
    <p:sldId id="455" r:id="rId61"/>
    <p:sldId id="483" r:id="rId62"/>
    <p:sldId id="456" r:id="rId63"/>
    <p:sldId id="474" r:id="rId64"/>
    <p:sldId id="457" r:id="rId65"/>
    <p:sldId id="458" r:id="rId66"/>
    <p:sldId id="484" r:id="rId67"/>
    <p:sldId id="459" r:id="rId68"/>
    <p:sldId id="482" r:id="rId69"/>
    <p:sldId id="485" r:id="rId70"/>
    <p:sldId id="460" r:id="rId71"/>
    <p:sldId id="461" r:id="rId72"/>
    <p:sldId id="462" r:id="rId73"/>
    <p:sldId id="463" r:id="rId74"/>
    <p:sldId id="351"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5148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12" autoAdjust="0"/>
    <p:restoredTop sz="95068" autoAdjust="0"/>
  </p:normalViewPr>
  <p:slideViewPr>
    <p:cSldViewPr snapToGrid="0" showGuides="1">
      <p:cViewPr varScale="1">
        <p:scale>
          <a:sx n="106" d="100"/>
          <a:sy n="106" d="100"/>
        </p:scale>
        <p:origin x="208" y="496"/>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3796805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742456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a:t>
            </a:fld>
            <a:endParaRPr lang="en-US"/>
          </a:p>
        </p:txBody>
      </p:sp>
    </p:spTree>
    <p:extLst>
      <p:ext uri="{BB962C8B-B14F-4D97-AF65-F5344CB8AC3E}">
        <p14:creationId xmlns:p14="http://schemas.microsoft.com/office/powerpoint/2010/main" val="893411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a:t>
            </a:fld>
            <a:endParaRPr lang="en-US"/>
          </a:p>
        </p:txBody>
      </p:sp>
    </p:spTree>
    <p:extLst>
      <p:ext uri="{BB962C8B-B14F-4D97-AF65-F5344CB8AC3E}">
        <p14:creationId xmlns:p14="http://schemas.microsoft.com/office/powerpoint/2010/main" val="2715363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a:t>
            </a:fld>
            <a:endParaRPr lang="en-US"/>
          </a:p>
        </p:txBody>
      </p:sp>
    </p:spTree>
    <p:extLst>
      <p:ext uri="{BB962C8B-B14F-4D97-AF65-F5344CB8AC3E}">
        <p14:creationId xmlns:p14="http://schemas.microsoft.com/office/powerpoint/2010/main" val="1793023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a:t>
            </a:fld>
            <a:endParaRPr lang="en-US"/>
          </a:p>
        </p:txBody>
      </p:sp>
    </p:spTree>
    <p:extLst>
      <p:ext uri="{BB962C8B-B14F-4D97-AF65-F5344CB8AC3E}">
        <p14:creationId xmlns:p14="http://schemas.microsoft.com/office/powerpoint/2010/main" val="217804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a:p>
        </p:txBody>
      </p:sp>
    </p:spTree>
    <p:extLst>
      <p:ext uri="{BB962C8B-B14F-4D97-AF65-F5344CB8AC3E}">
        <p14:creationId xmlns:p14="http://schemas.microsoft.com/office/powerpoint/2010/main" val="1184432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3588785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11</a:t>
            </a:fld>
            <a:endParaRPr lang="en-US"/>
          </a:p>
        </p:txBody>
      </p:sp>
    </p:spTree>
    <p:extLst>
      <p:ext uri="{BB962C8B-B14F-4D97-AF65-F5344CB8AC3E}">
        <p14:creationId xmlns:p14="http://schemas.microsoft.com/office/powerpoint/2010/main" val="3168817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a:p>
        </p:txBody>
      </p:sp>
    </p:spTree>
    <p:extLst>
      <p:ext uri="{BB962C8B-B14F-4D97-AF65-F5344CB8AC3E}">
        <p14:creationId xmlns:p14="http://schemas.microsoft.com/office/powerpoint/2010/main" val="2213447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13</a:t>
            </a:fld>
            <a:endParaRPr lang="en-US"/>
          </a:p>
        </p:txBody>
      </p:sp>
    </p:spTree>
    <p:extLst>
      <p:ext uri="{BB962C8B-B14F-4D97-AF65-F5344CB8AC3E}">
        <p14:creationId xmlns:p14="http://schemas.microsoft.com/office/powerpoint/2010/main" val="2015467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331945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15</a:t>
            </a:fld>
            <a:endParaRPr lang="en-US"/>
          </a:p>
        </p:txBody>
      </p:sp>
    </p:spTree>
    <p:extLst>
      <p:ext uri="{BB962C8B-B14F-4D97-AF65-F5344CB8AC3E}">
        <p14:creationId xmlns:p14="http://schemas.microsoft.com/office/powerpoint/2010/main" val="969219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16</a:t>
            </a:fld>
            <a:endParaRPr lang="en-US"/>
          </a:p>
        </p:txBody>
      </p:sp>
    </p:spTree>
    <p:extLst>
      <p:ext uri="{BB962C8B-B14F-4D97-AF65-F5344CB8AC3E}">
        <p14:creationId xmlns:p14="http://schemas.microsoft.com/office/powerpoint/2010/main" val="1217422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17</a:t>
            </a:fld>
            <a:endParaRPr lang="en-US"/>
          </a:p>
        </p:txBody>
      </p:sp>
    </p:spTree>
    <p:extLst>
      <p:ext uri="{BB962C8B-B14F-4D97-AF65-F5344CB8AC3E}">
        <p14:creationId xmlns:p14="http://schemas.microsoft.com/office/powerpoint/2010/main" val="986139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18</a:t>
            </a:fld>
            <a:endParaRPr lang="en-US"/>
          </a:p>
        </p:txBody>
      </p:sp>
    </p:spTree>
    <p:extLst>
      <p:ext uri="{BB962C8B-B14F-4D97-AF65-F5344CB8AC3E}">
        <p14:creationId xmlns:p14="http://schemas.microsoft.com/office/powerpoint/2010/main" val="1891979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19</a:t>
            </a:fld>
            <a:endParaRPr lang="en-US"/>
          </a:p>
        </p:txBody>
      </p:sp>
    </p:spTree>
    <p:extLst>
      <p:ext uri="{BB962C8B-B14F-4D97-AF65-F5344CB8AC3E}">
        <p14:creationId xmlns:p14="http://schemas.microsoft.com/office/powerpoint/2010/main" val="4157878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20D9-4901-48BC-BB28-724C02462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2C157-D04D-D178-2EC2-727D9435E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CE48B-FF2B-83B0-84F4-684A49A333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8F0E83-0B01-DD4E-40BD-ADD9C58B67DE}"/>
              </a:ext>
            </a:extLst>
          </p:cNvPr>
          <p:cNvSpPr>
            <a:spLocks noGrp="1"/>
          </p:cNvSpPr>
          <p:nvPr>
            <p:ph type="sldNum" sz="quarter" idx="10"/>
          </p:nvPr>
        </p:nvSpPr>
        <p:spPr/>
        <p:txBody>
          <a:bodyPr/>
          <a:lstStyle/>
          <a:p>
            <a:fld id="{0A3C37BE-C303-496D-B5CD-85F2937540FC}" type="slidenum">
              <a:rPr lang="en-US"/>
              <a:t>20</a:t>
            </a:fld>
            <a:endParaRPr lang="en-US"/>
          </a:p>
        </p:txBody>
      </p:sp>
    </p:spTree>
    <p:extLst>
      <p:ext uri="{BB962C8B-B14F-4D97-AF65-F5344CB8AC3E}">
        <p14:creationId xmlns:p14="http://schemas.microsoft.com/office/powerpoint/2010/main" val="435618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a:p>
        </p:txBody>
      </p:sp>
    </p:spTree>
    <p:extLst>
      <p:ext uri="{BB962C8B-B14F-4D97-AF65-F5344CB8AC3E}">
        <p14:creationId xmlns:p14="http://schemas.microsoft.com/office/powerpoint/2010/main" val="3382369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798406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a:p>
        </p:txBody>
      </p:sp>
    </p:spTree>
    <p:extLst>
      <p:ext uri="{BB962C8B-B14F-4D97-AF65-F5344CB8AC3E}">
        <p14:creationId xmlns:p14="http://schemas.microsoft.com/office/powerpoint/2010/main" val="35961726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24</a:t>
            </a:fld>
            <a:endParaRPr lang="en-US"/>
          </a:p>
        </p:txBody>
      </p:sp>
    </p:spTree>
    <p:extLst>
      <p:ext uri="{BB962C8B-B14F-4D97-AF65-F5344CB8AC3E}">
        <p14:creationId xmlns:p14="http://schemas.microsoft.com/office/powerpoint/2010/main" val="4144716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26</a:t>
            </a:fld>
            <a:endParaRPr lang="en-US"/>
          </a:p>
        </p:txBody>
      </p:sp>
    </p:spTree>
    <p:extLst>
      <p:ext uri="{BB962C8B-B14F-4D97-AF65-F5344CB8AC3E}">
        <p14:creationId xmlns:p14="http://schemas.microsoft.com/office/powerpoint/2010/main" val="120788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22956797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13837623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a:p>
        </p:txBody>
      </p:sp>
    </p:spTree>
    <p:extLst>
      <p:ext uri="{BB962C8B-B14F-4D97-AF65-F5344CB8AC3E}">
        <p14:creationId xmlns:p14="http://schemas.microsoft.com/office/powerpoint/2010/main" val="7960788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a:p>
        </p:txBody>
      </p:sp>
    </p:spTree>
    <p:extLst>
      <p:ext uri="{BB962C8B-B14F-4D97-AF65-F5344CB8AC3E}">
        <p14:creationId xmlns:p14="http://schemas.microsoft.com/office/powerpoint/2010/main" val="3863087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53163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a:p>
        </p:txBody>
      </p:sp>
    </p:spTree>
    <p:extLst>
      <p:ext uri="{BB962C8B-B14F-4D97-AF65-F5344CB8AC3E}">
        <p14:creationId xmlns:p14="http://schemas.microsoft.com/office/powerpoint/2010/main" val="26125798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a:p>
        </p:txBody>
      </p:sp>
    </p:spTree>
    <p:extLst>
      <p:ext uri="{BB962C8B-B14F-4D97-AF65-F5344CB8AC3E}">
        <p14:creationId xmlns:p14="http://schemas.microsoft.com/office/powerpoint/2010/main" val="4193507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37</a:t>
            </a:fld>
            <a:endParaRPr lang="en-US"/>
          </a:p>
        </p:txBody>
      </p:sp>
    </p:spTree>
    <p:extLst>
      <p:ext uri="{BB962C8B-B14F-4D97-AF65-F5344CB8AC3E}">
        <p14:creationId xmlns:p14="http://schemas.microsoft.com/office/powerpoint/2010/main" val="3277968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38</a:t>
            </a:fld>
            <a:endParaRPr lang="en-US"/>
          </a:p>
        </p:txBody>
      </p:sp>
    </p:spTree>
    <p:extLst>
      <p:ext uri="{BB962C8B-B14F-4D97-AF65-F5344CB8AC3E}">
        <p14:creationId xmlns:p14="http://schemas.microsoft.com/office/powerpoint/2010/main" val="4449994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a:p>
        </p:txBody>
      </p:sp>
    </p:spTree>
    <p:extLst>
      <p:ext uri="{BB962C8B-B14F-4D97-AF65-F5344CB8AC3E}">
        <p14:creationId xmlns:p14="http://schemas.microsoft.com/office/powerpoint/2010/main" val="1153357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40</a:t>
            </a:fld>
            <a:endParaRPr lang="en-US"/>
          </a:p>
        </p:txBody>
      </p:sp>
    </p:spTree>
    <p:extLst>
      <p:ext uri="{BB962C8B-B14F-4D97-AF65-F5344CB8AC3E}">
        <p14:creationId xmlns:p14="http://schemas.microsoft.com/office/powerpoint/2010/main" val="34919921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41</a:t>
            </a:fld>
            <a:endParaRPr lang="en-US"/>
          </a:p>
        </p:txBody>
      </p:sp>
    </p:spTree>
    <p:extLst>
      <p:ext uri="{BB962C8B-B14F-4D97-AF65-F5344CB8AC3E}">
        <p14:creationId xmlns:p14="http://schemas.microsoft.com/office/powerpoint/2010/main" val="41646337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35074958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a:p>
        </p:txBody>
      </p:sp>
    </p:spTree>
    <p:extLst>
      <p:ext uri="{BB962C8B-B14F-4D97-AF65-F5344CB8AC3E}">
        <p14:creationId xmlns:p14="http://schemas.microsoft.com/office/powerpoint/2010/main" val="1236954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44</a:t>
            </a:fld>
            <a:endParaRPr lang="en-US"/>
          </a:p>
        </p:txBody>
      </p:sp>
    </p:spTree>
    <p:extLst>
      <p:ext uri="{BB962C8B-B14F-4D97-AF65-F5344CB8AC3E}">
        <p14:creationId xmlns:p14="http://schemas.microsoft.com/office/powerpoint/2010/main" val="14743057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45</a:t>
            </a:fld>
            <a:endParaRPr lang="en-US"/>
          </a:p>
        </p:txBody>
      </p:sp>
    </p:spTree>
    <p:extLst>
      <p:ext uri="{BB962C8B-B14F-4D97-AF65-F5344CB8AC3E}">
        <p14:creationId xmlns:p14="http://schemas.microsoft.com/office/powerpoint/2010/main" val="25193555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46</a:t>
            </a:fld>
            <a:endParaRPr lang="en-US"/>
          </a:p>
        </p:txBody>
      </p:sp>
    </p:spTree>
    <p:extLst>
      <p:ext uri="{BB962C8B-B14F-4D97-AF65-F5344CB8AC3E}">
        <p14:creationId xmlns:p14="http://schemas.microsoft.com/office/powerpoint/2010/main" val="22941667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4372962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8176682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50</a:t>
            </a:fld>
            <a:endParaRPr lang="en-US"/>
          </a:p>
        </p:txBody>
      </p:sp>
    </p:spTree>
    <p:extLst>
      <p:ext uri="{BB962C8B-B14F-4D97-AF65-F5344CB8AC3E}">
        <p14:creationId xmlns:p14="http://schemas.microsoft.com/office/powerpoint/2010/main" val="40263986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51</a:t>
            </a:fld>
            <a:endParaRPr lang="en-US"/>
          </a:p>
        </p:txBody>
      </p:sp>
    </p:spTree>
    <p:extLst>
      <p:ext uri="{BB962C8B-B14F-4D97-AF65-F5344CB8AC3E}">
        <p14:creationId xmlns:p14="http://schemas.microsoft.com/office/powerpoint/2010/main" val="40602463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52</a:t>
            </a:fld>
            <a:endParaRPr lang="en-US"/>
          </a:p>
        </p:txBody>
      </p:sp>
    </p:spTree>
    <p:extLst>
      <p:ext uri="{BB962C8B-B14F-4D97-AF65-F5344CB8AC3E}">
        <p14:creationId xmlns:p14="http://schemas.microsoft.com/office/powerpoint/2010/main" val="36876213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F2D4-D3B4-C3B2-BDCB-A8AC4C2A6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C6120-0F34-7F9D-A8B3-A1AD752FF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7CB38-137F-25C8-E8B9-A66B454907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FE9DF3-D9FA-9341-6166-123A8BFCD93F}"/>
              </a:ext>
            </a:extLst>
          </p:cNvPr>
          <p:cNvSpPr>
            <a:spLocks noGrp="1"/>
          </p:cNvSpPr>
          <p:nvPr>
            <p:ph type="sldNum" sz="quarter" idx="10"/>
          </p:nvPr>
        </p:nvSpPr>
        <p:spPr/>
        <p:txBody>
          <a:bodyPr/>
          <a:lstStyle/>
          <a:p>
            <a:fld id="{0A3C37BE-C303-496D-B5CD-85F2937540FC}" type="slidenum">
              <a:rPr lang="en-US"/>
              <a:t>53</a:t>
            </a:fld>
            <a:endParaRPr lang="en-US"/>
          </a:p>
        </p:txBody>
      </p:sp>
    </p:spTree>
    <p:extLst>
      <p:ext uri="{BB962C8B-B14F-4D97-AF65-F5344CB8AC3E}">
        <p14:creationId xmlns:p14="http://schemas.microsoft.com/office/powerpoint/2010/main" val="2868837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54</a:t>
            </a:fld>
            <a:endParaRPr lang="en-US"/>
          </a:p>
        </p:txBody>
      </p:sp>
    </p:spTree>
    <p:extLst>
      <p:ext uri="{BB962C8B-B14F-4D97-AF65-F5344CB8AC3E}">
        <p14:creationId xmlns:p14="http://schemas.microsoft.com/office/powerpoint/2010/main" val="3743554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55</a:t>
            </a:fld>
            <a:endParaRPr lang="en-US"/>
          </a:p>
        </p:txBody>
      </p:sp>
    </p:spTree>
    <p:extLst>
      <p:ext uri="{BB962C8B-B14F-4D97-AF65-F5344CB8AC3E}">
        <p14:creationId xmlns:p14="http://schemas.microsoft.com/office/powerpoint/2010/main" val="21761980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57</a:t>
            </a:fld>
            <a:endParaRPr lang="en-US"/>
          </a:p>
        </p:txBody>
      </p:sp>
    </p:spTree>
    <p:extLst>
      <p:ext uri="{BB962C8B-B14F-4D97-AF65-F5344CB8AC3E}">
        <p14:creationId xmlns:p14="http://schemas.microsoft.com/office/powerpoint/2010/main" val="37837732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59</a:t>
            </a:fld>
            <a:endParaRPr lang="en-US"/>
          </a:p>
        </p:txBody>
      </p:sp>
    </p:spTree>
    <p:extLst>
      <p:ext uri="{BB962C8B-B14F-4D97-AF65-F5344CB8AC3E}">
        <p14:creationId xmlns:p14="http://schemas.microsoft.com/office/powerpoint/2010/main" val="26057379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60</a:t>
            </a:fld>
            <a:endParaRPr lang="en-US"/>
          </a:p>
        </p:txBody>
      </p:sp>
    </p:spTree>
    <p:extLst>
      <p:ext uri="{BB962C8B-B14F-4D97-AF65-F5344CB8AC3E}">
        <p14:creationId xmlns:p14="http://schemas.microsoft.com/office/powerpoint/2010/main" val="4520275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33071144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62</a:t>
            </a:fld>
            <a:endParaRPr lang="en-US"/>
          </a:p>
        </p:txBody>
      </p:sp>
    </p:spTree>
    <p:extLst>
      <p:ext uri="{BB962C8B-B14F-4D97-AF65-F5344CB8AC3E}">
        <p14:creationId xmlns:p14="http://schemas.microsoft.com/office/powerpoint/2010/main" val="6310203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64</a:t>
            </a:fld>
            <a:endParaRPr lang="en-US"/>
          </a:p>
        </p:txBody>
      </p:sp>
    </p:spTree>
    <p:extLst>
      <p:ext uri="{BB962C8B-B14F-4D97-AF65-F5344CB8AC3E}">
        <p14:creationId xmlns:p14="http://schemas.microsoft.com/office/powerpoint/2010/main" val="32881187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67</a:t>
            </a:fld>
            <a:endParaRPr lang="en-US"/>
          </a:p>
        </p:txBody>
      </p:sp>
    </p:spTree>
    <p:extLst>
      <p:ext uri="{BB962C8B-B14F-4D97-AF65-F5344CB8AC3E}">
        <p14:creationId xmlns:p14="http://schemas.microsoft.com/office/powerpoint/2010/main" val="376760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68</a:t>
            </a:fld>
            <a:endParaRPr lang="en-US"/>
          </a:p>
        </p:txBody>
      </p:sp>
    </p:spTree>
    <p:extLst>
      <p:ext uri="{BB962C8B-B14F-4D97-AF65-F5344CB8AC3E}">
        <p14:creationId xmlns:p14="http://schemas.microsoft.com/office/powerpoint/2010/main" val="8463664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69</a:t>
            </a:fld>
            <a:endParaRPr lang="en-US"/>
          </a:p>
        </p:txBody>
      </p:sp>
    </p:spTree>
    <p:extLst>
      <p:ext uri="{BB962C8B-B14F-4D97-AF65-F5344CB8AC3E}">
        <p14:creationId xmlns:p14="http://schemas.microsoft.com/office/powerpoint/2010/main" val="37638944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70</a:t>
            </a:fld>
            <a:endParaRPr lang="en-US"/>
          </a:p>
        </p:txBody>
      </p:sp>
    </p:spTree>
    <p:extLst>
      <p:ext uri="{BB962C8B-B14F-4D97-AF65-F5344CB8AC3E}">
        <p14:creationId xmlns:p14="http://schemas.microsoft.com/office/powerpoint/2010/main" val="34542751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71</a:t>
            </a:fld>
            <a:endParaRPr lang="en-US"/>
          </a:p>
        </p:txBody>
      </p:sp>
    </p:spTree>
    <p:extLst>
      <p:ext uri="{BB962C8B-B14F-4D97-AF65-F5344CB8AC3E}">
        <p14:creationId xmlns:p14="http://schemas.microsoft.com/office/powerpoint/2010/main" val="29775599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8.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8.xml"/><Relationship Id="rId5" Type="http://schemas.openxmlformats.org/officeDocument/2006/relationships/image" Target="../media/image84.png"/><Relationship Id="rId4" Type="http://schemas.openxmlformats.org/officeDocument/2006/relationships/image" Target="../media/image83.png"/></Relationships>
</file>

<file path=ppt/slides/_rels/slide5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6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6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3"/>
            <a:ext cx="5734050" cy="2219691"/>
          </a:xfrm>
        </p:spPr>
        <p:txBody>
          <a:bodyPr anchor="ctr"/>
          <a:lstStyle/>
          <a:p>
            <a:r>
              <a:rPr lang="zh-CN" altLang="en-US" b="1" dirty="0">
                <a:latin typeface="宋体" panose="02010600030101010101" pitchFamily="2" charset="-122"/>
                <a:ea typeface="宋体" panose="02010600030101010101" pitchFamily="2" charset="-122"/>
              </a:rPr>
              <a:t>第</a:t>
            </a:r>
            <a:r>
              <a:rPr lang="en-US" altLang="zh-CN" b="1" dirty="0">
                <a:latin typeface="宋体" panose="02010600030101010101" pitchFamily="2" charset="-122"/>
                <a:ea typeface="宋体" panose="02010600030101010101" pitchFamily="2" charset="-122"/>
              </a:rPr>
              <a:t>9</a:t>
            </a:r>
            <a:r>
              <a:rPr lang="zh-CN" altLang="en-US" b="1" dirty="0">
                <a:latin typeface="宋体" panose="02010600030101010101" pitchFamily="2" charset="-122"/>
                <a:ea typeface="宋体" panose="02010600030101010101" pitchFamily="2" charset="-122"/>
              </a:rPr>
              <a:t>章 </a:t>
            </a:r>
            <a:r>
              <a:rPr lang="zh-CN" altLang="en-US" b="1" dirty="0"/>
              <a:t>文件读写</a:t>
            </a:r>
            <a:endParaRPr lang="en-US" dirty="0">
              <a:latin typeface="宋体" panose="02010600030101010101" pitchFamily="2" charset="-122"/>
              <a:ea typeface="宋体" panose="02010600030101010101" pitchFamily="2" charset="-122"/>
            </a:endParaRPr>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5" name="副标题 1">
            <a:extLst>
              <a:ext uri="{FF2B5EF4-FFF2-40B4-BE49-F238E27FC236}">
                <a16:creationId xmlns:a16="http://schemas.microsoft.com/office/drawing/2014/main" id="{0686E0E2-CB63-FD40-B396-0EECB1AA435A}"/>
              </a:ext>
            </a:extLst>
          </p:cNvPr>
          <p:cNvSpPr>
            <a:spLocks noGrp="1"/>
          </p:cNvSpPr>
          <p:nvPr>
            <p:ph type="subTitle" idx="1"/>
          </p:nvPr>
        </p:nvSpPr>
        <p:spPr>
          <a:xfrm>
            <a:off x="1104900" y="4511784"/>
            <a:ext cx="5734050" cy="955565"/>
          </a:xfrm>
        </p:spPr>
        <p:txBody>
          <a:bodyPr>
            <a:normAutofit/>
          </a:bodyPr>
          <a:lstStyle/>
          <a:p>
            <a:pPr algn="r">
              <a:lnSpc>
                <a:spcPct val="150000"/>
              </a:lnSpc>
            </a:pPr>
            <a:r>
              <a:rPr lang="en-US" altLang="zh-CN" sz="2000" dirty="0"/>
              <a:t>Python</a:t>
            </a:r>
            <a:r>
              <a:rPr lang="zh-TW" altLang="en-US" sz="2000" dirty="0"/>
              <a:t>课程组</a:t>
            </a:r>
            <a:endParaRPr lang="en-US" altLang="zh-TW" sz="2000" dirty="0"/>
          </a:p>
          <a:p>
            <a:pPr algn="r">
              <a:lnSpc>
                <a:spcPct val="150000"/>
              </a:lnSpc>
            </a:pPr>
            <a:r>
              <a:rPr lang="zh-TW" altLang="en-US" sz="2000" dirty="0"/>
              <a:t>武汉大学信息管理学院</a:t>
            </a:r>
            <a:endParaRPr lang="zh-CN" altLang="en-US" sz="2000"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en-US" dirty="0"/>
              <a:t>教学内容</a:t>
            </a:r>
            <a:endParaRPr lang="en-US" dirty="0"/>
          </a:p>
        </p:txBody>
      </p:sp>
      <p:sp>
        <p:nvSpPr>
          <p:cNvPr id="14" name="Content Placeholder 13"/>
          <p:cNvSpPr>
            <a:spLocks noGrp="1"/>
          </p:cNvSpPr>
          <p:nvPr>
            <p:ph idx="1"/>
          </p:nvPr>
        </p:nvSpPr>
        <p:spPr/>
        <p:txBody>
          <a:bodyPr>
            <a:normAutofit/>
          </a:bodyPr>
          <a:lstStyle/>
          <a:p>
            <a:pPr marL="0" indent="0">
              <a:lnSpc>
                <a:spcPct val="100000"/>
              </a:lnSpc>
              <a:buNone/>
            </a:pPr>
            <a:r>
              <a:rPr lang="en-US" altLang="zh-CN" dirty="0"/>
              <a:t>9.1</a:t>
            </a:r>
            <a:r>
              <a:rPr lang="en-US" altLang="zh-CN" dirty="0">
                <a:latin typeface="宋体" panose="02010600030101010101" pitchFamily="2" charset="-122"/>
                <a:ea typeface="宋体" panose="02010600030101010101" pitchFamily="2" charset="-122"/>
              </a:rPr>
              <a:t> </a:t>
            </a:r>
            <a:r>
              <a:rPr lang="zh-CN" altLang="en-US" dirty="0"/>
              <a:t>文件数据读写</a:t>
            </a:r>
            <a:endParaRPr lang="en-US" altLang="zh-CN" dirty="0"/>
          </a:p>
          <a:p>
            <a:pPr marL="0" indent="0">
              <a:lnSpc>
                <a:spcPct val="100000"/>
              </a:lnSpc>
              <a:buNone/>
            </a:pPr>
            <a:r>
              <a:rPr lang="en-US" altLang="zh-CN" dirty="0"/>
              <a:t>9.2 txt</a:t>
            </a:r>
            <a:r>
              <a:rPr lang="zh-CN" altLang="en-US" dirty="0"/>
              <a:t>文件读写</a:t>
            </a:r>
            <a:endParaRPr lang="en-US" altLang="zh-CN" dirty="0"/>
          </a:p>
          <a:p>
            <a:pPr marL="0" indent="0">
              <a:lnSpc>
                <a:spcPct val="100000"/>
              </a:lnSpc>
              <a:buNone/>
            </a:pPr>
            <a:r>
              <a:rPr lang="en-US" altLang="zh-CN" dirty="0"/>
              <a:t>9.3 csv</a:t>
            </a:r>
            <a:r>
              <a:rPr lang="zh-CN" altLang="en-US" dirty="0"/>
              <a:t>文件读写</a:t>
            </a:r>
            <a:endParaRPr lang="en-US" altLang="zh-CN" dirty="0"/>
          </a:p>
          <a:p>
            <a:pPr marL="0" indent="0">
              <a:lnSpc>
                <a:spcPct val="100000"/>
              </a:lnSpc>
              <a:buNone/>
            </a:pPr>
            <a:r>
              <a:rPr lang="en-US" altLang="zh-CN" dirty="0"/>
              <a:t>9.4 </a:t>
            </a:r>
            <a:r>
              <a:rPr lang="en-US" altLang="zh-CN" dirty="0" err="1"/>
              <a:t>xls</a:t>
            </a:r>
            <a:r>
              <a:rPr lang="zh-CN" altLang="en-US" dirty="0"/>
              <a:t>与</a:t>
            </a:r>
            <a:r>
              <a:rPr lang="en-US" altLang="zh-CN" dirty="0"/>
              <a:t>xlsx</a:t>
            </a:r>
            <a:r>
              <a:rPr lang="zh-CN" altLang="en-US" dirty="0"/>
              <a:t>文件读写</a:t>
            </a:r>
            <a:endParaRPr lang="en-US" altLang="zh-CN" dirty="0"/>
          </a:p>
          <a:p>
            <a:pPr marL="0" indent="0">
              <a:lnSpc>
                <a:spcPct val="100000"/>
              </a:lnSpc>
              <a:buNone/>
            </a:pPr>
            <a:r>
              <a:rPr lang="en-US" altLang="zh-CN" dirty="0"/>
              <a:t>9.5 json</a:t>
            </a:r>
            <a:r>
              <a:rPr lang="zh-CN" altLang="en-US" dirty="0"/>
              <a:t>文件读写</a:t>
            </a:r>
            <a:endParaRPr lang="en-US" altLang="zh-CN" dirty="0"/>
          </a:p>
          <a:p>
            <a:pPr marL="0" indent="0">
              <a:lnSpc>
                <a:spcPct val="100000"/>
              </a:lnSpc>
              <a:buNone/>
            </a:pPr>
            <a:r>
              <a:rPr lang="en-US" altLang="zh-CN" dirty="0"/>
              <a:t>9.6 </a:t>
            </a:r>
            <a:r>
              <a:rPr lang="en-US" altLang="zh-CN" dirty="0" err="1"/>
              <a:t>sql</a:t>
            </a:r>
            <a:r>
              <a:rPr lang="zh-CN" altLang="en-US" dirty="0"/>
              <a:t>文件读写</a:t>
            </a:r>
            <a:endParaRPr lang="en-US" altLang="zh-CN" dirty="0"/>
          </a:p>
        </p:txBody>
      </p:sp>
      <p:pic>
        <p:nvPicPr>
          <p:cNvPr id="4" name="图片 3">
            <a:extLst>
              <a:ext uri="{FF2B5EF4-FFF2-40B4-BE49-F238E27FC236}">
                <a16:creationId xmlns:a16="http://schemas.microsoft.com/office/drawing/2014/main" id="{6E77C269-4FA4-4D26-A59A-C49D61D8DA41}"/>
              </a:ext>
            </a:extLst>
          </p:cNvPr>
          <p:cNvPicPr>
            <a:picLocks noChangeAspect="1"/>
          </p:cNvPicPr>
          <p:nvPr/>
        </p:nvPicPr>
        <p:blipFill>
          <a:blip r:embed="rId3"/>
          <a:stretch>
            <a:fillRect/>
          </a:stretch>
        </p:blipFill>
        <p:spPr>
          <a:xfrm>
            <a:off x="4502729" y="2494609"/>
            <a:ext cx="6858310" cy="27831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9</a:t>
            </a:r>
            <a:r>
              <a:rPr lang="en-US" altLang="zh-CN" b="1" dirty="0"/>
              <a:t>.1 </a:t>
            </a:r>
            <a:r>
              <a:rPr lang="zh-CN" altLang="en-US" b="1" dirty="0"/>
              <a:t>文件数据读写</a:t>
            </a:r>
            <a:endParaRPr lang="en-US" b="1" dirty="0"/>
          </a:p>
        </p:txBody>
      </p:sp>
    </p:spTree>
    <p:extLst>
      <p:ext uri="{BB962C8B-B14F-4D97-AF65-F5344CB8AC3E}">
        <p14:creationId xmlns:p14="http://schemas.microsoft.com/office/powerpoint/2010/main" val="417224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dirty="0">
                <a:solidFill>
                  <a:srgbClr val="0432FF"/>
                </a:solidFill>
              </a:rPr>
              <a:t>1. </a:t>
            </a:r>
            <a:r>
              <a:rPr lang="zh-CN" altLang="en-US" sz="2400" dirty="0">
                <a:solidFill>
                  <a:srgbClr val="0432FF"/>
                </a:solidFill>
              </a:rPr>
              <a:t>什么是文件</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872415" y="4689321"/>
            <a:ext cx="9982200" cy="171567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lnSpc>
                <a:spcPct val="170000"/>
              </a:lnSpc>
              <a:spcBef>
                <a:spcPts val="0"/>
              </a:spcBef>
            </a:pPr>
            <a:r>
              <a:rPr lang="zh-CN" altLang="en-US" sz="1600" dirty="0"/>
              <a:t>文本文件的每一个字节放一个</a:t>
            </a:r>
            <a:r>
              <a:rPr lang="en-US" altLang="zh-CN" sz="1600" dirty="0"/>
              <a:t>ASCII</a:t>
            </a:r>
            <a:r>
              <a:rPr lang="zh-CN" altLang="en-US" sz="1600" dirty="0"/>
              <a:t>代码，代表一个字符</a:t>
            </a:r>
            <a:endParaRPr lang="en-US" altLang="zh-CN" sz="1600" dirty="0"/>
          </a:p>
          <a:p>
            <a:pPr algn="just">
              <a:lnSpc>
                <a:spcPct val="170000"/>
              </a:lnSpc>
              <a:spcBef>
                <a:spcPts val="0"/>
              </a:spcBef>
            </a:pPr>
            <a:r>
              <a:rPr lang="zh-CN" altLang="en-US" sz="1600" dirty="0"/>
              <a:t>二进制文件是把内存中的数据按其在内存中的存储形式原样输出到磁盘上存放。</a:t>
            </a:r>
            <a:endParaRPr lang="en-US" altLang="zh-CN" sz="1600" dirty="0"/>
          </a:p>
          <a:p>
            <a:pPr marL="0" indent="0" algn="just">
              <a:lnSpc>
                <a:spcPct val="170000"/>
              </a:lnSpc>
              <a:spcBef>
                <a:spcPts val="0"/>
              </a:spcBef>
              <a:buNone/>
            </a:pPr>
            <a:r>
              <a:rPr lang="zh-CN" altLang="en-US" sz="1600" dirty="0"/>
              <a:t>  值得注意的是，二进制文件和文本文件在计算机中都是以二进制的形式存储，只不过文本文件是把每一个字节解读成字符，而二进制文件可以任意定义解读方式</a:t>
            </a:r>
            <a:r>
              <a:rPr lang="zh-TW" altLang="en-US" sz="1600" dirty="0"/>
              <a:t>。</a:t>
            </a:r>
            <a:endParaRPr lang="zh-CN" altLang="en-US" sz="16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宋体" panose="02010600030101010101" pitchFamily="2" charset="-122"/>
                <a:ea typeface="宋体" panose="02010600030101010101" pitchFamily="2" charset="-122"/>
              </a:rPr>
              <a:t> 9</a:t>
            </a:r>
            <a:r>
              <a:rPr lang="en-US" altLang="zh-CN" dirty="0"/>
              <a:t>.1 </a:t>
            </a:r>
            <a:r>
              <a:rPr lang="zh-CN" altLang="en-US" dirty="0"/>
              <a:t>文件数据读写</a:t>
            </a:r>
          </a:p>
        </p:txBody>
      </p:sp>
      <p:sp>
        <p:nvSpPr>
          <p:cNvPr id="2" name="矩形 1">
            <a:extLst>
              <a:ext uri="{FF2B5EF4-FFF2-40B4-BE49-F238E27FC236}">
                <a16:creationId xmlns:a16="http://schemas.microsoft.com/office/drawing/2014/main" id="{9546BAB2-B6A8-4FD4-B411-BDE4585B0723}"/>
              </a:ext>
            </a:extLst>
          </p:cNvPr>
          <p:cNvSpPr/>
          <p:nvPr/>
        </p:nvSpPr>
        <p:spPr>
          <a:xfrm>
            <a:off x="2728700" y="2322069"/>
            <a:ext cx="646331" cy="369332"/>
          </a:xfrm>
          <a:prstGeom prst="rect">
            <a:avLst/>
          </a:prstGeom>
        </p:spPr>
        <p:txBody>
          <a:bodyPr wrap="none">
            <a:spAutoFit/>
          </a:bodyPr>
          <a:lstStyle/>
          <a:p>
            <a:r>
              <a:rPr lang="zh-CN" altLang="en-US" dirty="0"/>
              <a:t>文件</a:t>
            </a:r>
          </a:p>
        </p:txBody>
      </p:sp>
      <p:sp>
        <p:nvSpPr>
          <p:cNvPr id="3" name="矩形 2">
            <a:extLst>
              <a:ext uri="{FF2B5EF4-FFF2-40B4-BE49-F238E27FC236}">
                <a16:creationId xmlns:a16="http://schemas.microsoft.com/office/drawing/2014/main" id="{9543328B-EE2D-4F53-9D29-CBFDE3210B44}"/>
              </a:ext>
            </a:extLst>
          </p:cNvPr>
          <p:cNvSpPr/>
          <p:nvPr/>
        </p:nvSpPr>
        <p:spPr>
          <a:xfrm>
            <a:off x="3663177" y="3144198"/>
            <a:ext cx="1569660" cy="369332"/>
          </a:xfrm>
          <a:prstGeom prst="rect">
            <a:avLst/>
          </a:prstGeom>
        </p:spPr>
        <p:txBody>
          <a:bodyPr wrap="none">
            <a:spAutoFit/>
          </a:bodyPr>
          <a:lstStyle/>
          <a:p>
            <a:r>
              <a:rPr lang="zh-CN" altLang="en-US" dirty="0"/>
              <a:t>计算机文件：</a:t>
            </a:r>
          </a:p>
        </p:txBody>
      </p:sp>
      <p:sp>
        <p:nvSpPr>
          <p:cNvPr id="5" name="矩形 4">
            <a:extLst>
              <a:ext uri="{FF2B5EF4-FFF2-40B4-BE49-F238E27FC236}">
                <a16:creationId xmlns:a16="http://schemas.microsoft.com/office/drawing/2014/main" id="{32C62CE4-78BF-40F8-8566-43A4C1BFF4A9}"/>
              </a:ext>
            </a:extLst>
          </p:cNvPr>
          <p:cNvSpPr/>
          <p:nvPr/>
        </p:nvSpPr>
        <p:spPr>
          <a:xfrm>
            <a:off x="872415" y="3144198"/>
            <a:ext cx="1569660" cy="369332"/>
          </a:xfrm>
          <a:prstGeom prst="rect">
            <a:avLst/>
          </a:prstGeom>
        </p:spPr>
        <p:txBody>
          <a:bodyPr wrap="none">
            <a:spAutoFit/>
          </a:bodyPr>
          <a:lstStyle/>
          <a:p>
            <a:r>
              <a:rPr lang="zh-CN" altLang="en-US" dirty="0"/>
              <a:t>普通纸质文件</a:t>
            </a:r>
          </a:p>
        </p:txBody>
      </p:sp>
      <p:grpSp>
        <p:nvGrpSpPr>
          <p:cNvPr id="14" name="组合 13">
            <a:extLst>
              <a:ext uri="{FF2B5EF4-FFF2-40B4-BE49-F238E27FC236}">
                <a16:creationId xmlns:a16="http://schemas.microsoft.com/office/drawing/2014/main" id="{BB6BEF59-A137-4A5F-902D-8B204192F8AE}"/>
              </a:ext>
            </a:extLst>
          </p:cNvPr>
          <p:cNvGrpSpPr/>
          <p:nvPr/>
        </p:nvGrpSpPr>
        <p:grpSpPr>
          <a:xfrm rot="5400000">
            <a:off x="2789667" y="2134693"/>
            <a:ext cx="524393" cy="1601140"/>
            <a:chOff x="2218044" y="2645372"/>
            <a:chExt cx="524393" cy="1601140"/>
          </a:xfrm>
        </p:grpSpPr>
        <p:sp>
          <p:nvSpPr>
            <p:cNvPr id="6" name="左大括号 5">
              <a:extLst>
                <a:ext uri="{FF2B5EF4-FFF2-40B4-BE49-F238E27FC236}">
                  <a16:creationId xmlns:a16="http://schemas.microsoft.com/office/drawing/2014/main" id="{736E5AED-5EF4-45F0-AE57-A868C4E09BB4}"/>
                </a:ext>
              </a:extLst>
            </p:cNvPr>
            <p:cNvSpPr/>
            <p:nvPr/>
          </p:nvSpPr>
          <p:spPr>
            <a:xfrm>
              <a:off x="2293260" y="2645372"/>
              <a:ext cx="449177" cy="1601140"/>
            </a:xfrm>
            <a:prstGeom prst="leftBrace">
              <a:avLst>
                <a:gd name="adj1" fmla="val 0"/>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C462CA5F-F3A1-4254-AFAE-22B47AAA366F}"/>
                </a:ext>
              </a:extLst>
            </p:cNvPr>
            <p:cNvSpPr/>
            <p:nvPr/>
          </p:nvSpPr>
          <p:spPr>
            <a:xfrm rot="16200000">
              <a:off x="2010295" y="2903132"/>
              <a:ext cx="723275" cy="307777"/>
            </a:xfrm>
            <a:prstGeom prst="rect">
              <a:avLst/>
            </a:prstGeom>
          </p:spPr>
          <p:txBody>
            <a:bodyPr vert="horz" wrap="none">
              <a:spAutoFit/>
            </a:bodyPr>
            <a:lstStyle/>
            <a:p>
              <a:r>
                <a:rPr lang="zh-CN" altLang="en-US" sz="1400" dirty="0">
                  <a:solidFill>
                    <a:srgbClr val="FF0000"/>
                  </a:solidFill>
                </a:rPr>
                <a:t>按载体</a:t>
              </a:r>
            </a:p>
          </p:txBody>
        </p:sp>
      </p:grpSp>
      <p:sp>
        <p:nvSpPr>
          <p:cNvPr id="13" name="矩形 12">
            <a:extLst>
              <a:ext uri="{FF2B5EF4-FFF2-40B4-BE49-F238E27FC236}">
                <a16:creationId xmlns:a16="http://schemas.microsoft.com/office/drawing/2014/main" id="{9D90670E-60DC-4CA3-9D7B-CFCE4C0DD68B}"/>
              </a:ext>
            </a:extLst>
          </p:cNvPr>
          <p:cNvSpPr/>
          <p:nvPr/>
        </p:nvSpPr>
        <p:spPr>
          <a:xfrm>
            <a:off x="5073536" y="3161802"/>
            <a:ext cx="3259580" cy="954107"/>
          </a:xfrm>
          <a:prstGeom prst="rect">
            <a:avLst/>
          </a:prstGeom>
        </p:spPr>
        <p:txBody>
          <a:bodyPr wrap="square">
            <a:spAutoFit/>
          </a:bodyPr>
          <a:lstStyle/>
          <a:p>
            <a:pPr algn="just"/>
            <a:r>
              <a:rPr lang="zh-CN" altLang="en-US" sz="1400" dirty="0"/>
              <a:t>以计算机硬盘为载体存储在计算机上的信息集合，通常具有文件拓展名，用于指示文件类型，例如，图片文件常常以</a:t>
            </a:r>
            <a:r>
              <a:rPr lang="en-US" altLang="zh-CN" sz="1400" dirty="0"/>
              <a:t>JPEG</a:t>
            </a:r>
            <a:r>
              <a:rPr lang="zh-CN" altLang="en-US" sz="1400" dirty="0"/>
              <a:t>格式保存并且文件拓展名为</a:t>
            </a:r>
            <a:r>
              <a:rPr lang="en-US" altLang="zh-CN" sz="1400" dirty="0"/>
              <a:t>.jpg</a:t>
            </a:r>
            <a:r>
              <a:rPr lang="zh-CN" altLang="en-US" sz="1400" dirty="0"/>
              <a:t>。</a:t>
            </a:r>
          </a:p>
        </p:txBody>
      </p:sp>
      <p:grpSp>
        <p:nvGrpSpPr>
          <p:cNvPr id="23" name="组合 22">
            <a:extLst>
              <a:ext uri="{FF2B5EF4-FFF2-40B4-BE49-F238E27FC236}">
                <a16:creationId xmlns:a16="http://schemas.microsoft.com/office/drawing/2014/main" id="{91F8112C-95D1-4699-8D6A-475D066FC0FA}"/>
              </a:ext>
            </a:extLst>
          </p:cNvPr>
          <p:cNvGrpSpPr/>
          <p:nvPr/>
        </p:nvGrpSpPr>
        <p:grpSpPr>
          <a:xfrm rot="5400000">
            <a:off x="3650142" y="2856553"/>
            <a:ext cx="524391" cy="1910202"/>
            <a:chOff x="2218046" y="2336310"/>
            <a:chExt cx="524391" cy="1910202"/>
          </a:xfrm>
        </p:grpSpPr>
        <p:sp>
          <p:nvSpPr>
            <p:cNvPr id="24" name="左大括号 23">
              <a:extLst>
                <a:ext uri="{FF2B5EF4-FFF2-40B4-BE49-F238E27FC236}">
                  <a16:creationId xmlns:a16="http://schemas.microsoft.com/office/drawing/2014/main" id="{2E83BF39-6878-4FC3-93B5-A49F2BB9BE80}"/>
                </a:ext>
              </a:extLst>
            </p:cNvPr>
            <p:cNvSpPr/>
            <p:nvPr/>
          </p:nvSpPr>
          <p:spPr>
            <a:xfrm>
              <a:off x="2293260" y="2645372"/>
              <a:ext cx="449177" cy="1601140"/>
            </a:xfrm>
            <a:prstGeom prst="leftBrace">
              <a:avLst>
                <a:gd name="adj1" fmla="val 0"/>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id="{65D1C2CB-1AC4-4C01-AD0A-D1054D57FC7A}"/>
                </a:ext>
              </a:extLst>
            </p:cNvPr>
            <p:cNvSpPr/>
            <p:nvPr/>
          </p:nvSpPr>
          <p:spPr>
            <a:xfrm rot="16200000">
              <a:off x="1830761" y="2723595"/>
              <a:ext cx="1082348" cy="307777"/>
            </a:xfrm>
            <a:prstGeom prst="rect">
              <a:avLst/>
            </a:prstGeom>
          </p:spPr>
          <p:txBody>
            <a:bodyPr vert="horz" wrap="none">
              <a:spAutoFit/>
            </a:bodyPr>
            <a:lstStyle/>
            <a:p>
              <a:r>
                <a:rPr lang="zh-CN" altLang="en-US" sz="1400" dirty="0">
                  <a:solidFill>
                    <a:srgbClr val="FF0000"/>
                  </a:solidFill>
                </a:rPr>
                <a:t>按编码方式</a:t>
              </a:r>
            </a:p>
          </p:txBody>
        </p:sp>
      </p:grpSp>
      <p:sp>
        <p:nvSpPr>
          <p:cNvPr id="21" name="矩形 20">
            <a:extLst>
              <a:ext uri="{FF2B5EF4-FFF2-40B4-BE49-F238E27FC236}">
                <a16:creationId xmlns:a16="http://schemas.microsoft.com/office/drawing/2014/main" id="{B464D7FD-3844-4AD2-8AA7-9497E1FF8B71}"/>
              </a:ext>
            </a:extLst>
          </p:cNvPr>
          <p:cNvSpPr/>
          <p:nvPr/>
        </p:nvSpPr>
        <p:spPr>
          <a:xfrm>
            <a:off x="2026000" y="4061343"/>
            <a:ext cx="1107996" cy="369332"/>
          </a:xfrm>
          <a:prstGeom prst="rect">
            <a:avLst/>
          </a:prstGeom>
        </p:spPr>
        <p:txBody>
          <a:bodyPr wrap="none">
            <a:spAutoFit/>
          </a:bodyPr>
          <a:lstStyle/>
          <a:p>
            <a:r>
              <a:rPr lang="zh-CN" altLang="en-US" dirty="0"/>
              <a:t>文本文件</a:t>
            </a:r>
          </a:p>
        </p:txBody>
      </p:sp>
      <p:sp>
        <p:nvSpPr>
          <p:cNvPr id="26" name="矩形 25">
            <a:extLst>
              <a:ext uri="{FF2B5EF4-FFF2-40B4-BE49-F238E27FC236}">
                <a16:creationId xmlns:a16="http://schemas.microsoft.com/office/drawing/2014/main" id="{DFB45F37-3F23-42FA-B812-E46DF55ABA07}"/>
              </a:ext>
            </a:extLst>
          </p:cNvPr>
          <p:cNvSpPr/>
          <p:nvPr/>
        </p:nvSpPr>
        <p:spPr>
          <a:xfrm>
            <a:off x="4434021" y="4157488"/>
            <a:ext cx="1338828" cy="369332"/>
          </a:xfrm>
          <a:prstGeom prst="rect">
            <a:avLst/>
          </a:prstGeom>
        </p:spPr>
        <p:txBody>
          <a:bodyPr wrap="none">
            <a:spAutoFit/>
          </a:bodyPr>
          <a:lstStyle/>
          <a:p>
            <a:r>
              <a:rPr lang="zh-CN" altLang="en-US" dirty="0"/>
              <a:t>二进制文件</a:t>
            </a:r>
          </a:p>
        </p:txBody>
      </p:sp>
      <p:pic>
        <p:nvPicPr>
          <p:cNvPr id="1026" name="Picture 2" descr="Computer files">
            <a:extLst>
              <a:ext uri="{FF2B5EF4-FFF2-40B4-BE49-F238E27FC236}">
                <a16:creationId xmlns:a16="http://schemas.microsoft.com/office/drawing/2014/main" id="{4DB49291-BECC-BCAA-367B-40B709A0A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8500" y="1619249"/>
            <a:ext cx="3175000" cy="326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85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668918"/>
            <a:ext cx="9982200" cy="4526536"/>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dirty="0">
                <a:latin typeface="宋体" panose="02010600030101010101" pitchFamily="2" charset="-122"/>
                <a:ea typeface="宋体" panose="02010600030101010101" pitchFamily="2" charset="-122"/>
              </a:rPr>
              <a:t>  </a:t>
            </a:r>
            <a:r>
              <a:rPr lang="zh-CN" altLang="en-US" dirty="0"/>
              <a:t>通常使用</a:t>
            </a:r>
            <a:r>
              <a:rPr lang="en-US" altLang="zh-CN" dirty="0"/>
              <a:t>Python</a:t>
            </a:r>
            <a:r>
              <a:rPr lang="zh-CN" altLang="en-US" dirty="0"/>
              <a:t>的内建函数</a:t>
            </a:r>
            <a:r>
              <a:rPr lang="en-US" altLang="zh-CN" dirty="0"/>
              <a:t>open()[ ]</a:t>
            </a:r>
            <a:r>
              <a:rPr lang="zh-CN" altLang="en-US" dirty="0"/>
              <a:t>来打开文件，使用</a:t>
            </a:r>
            <a:r>
              <a:rPr lang="en-US" altLang="zh-CN" dirty="0"/>
              <a:t>with</a:t>
            </a:r>
            <a:r>
              <a:rPr lang="zh-CN" altLang="en-US" dirty="0"/>
              <a:t>语句或文件对象的</a:t>
            </a:r>
            <a:r>
              <a:rPr lang="en-US" altLang="zh-CN" dirty="0"/>
              <a:t>close()</a:t>
            </a:r>
            <a:r>
              <a:rPr lang="zh-CN" altLang="en-US" dirty="0"/>
              <a:t>方法来关闭文件。</a:t>
            </a:r>
          </a:p>
          <a:p>
            <a:pPr marL="0" indent="0" algn="just">
              <a:lnSpc>
                <a:spcPct val="150000"/>
              </a:lnSpc>
              <a:spcBef>
                <a:spcPts val="0"/>
              </a:spcBef>
              <a:buNone/>
            </a:pPr>
            <a:r>
              <a:rPr lang="zh-CN" altLang="en-US" dirty="0"/>
              <a:t>    （</a:t>
            </a:r>
            <a:r>
              <a:rPr lang="en-US" altLang="zh-CN" dirty="0"/>
              <a:t>1</a:t>
            </a:r>
            <a:r>
              <a:rPr lang="zh-CN" altLang="en-US" dirty="0"/>
              <a:t>）</a:t>
            </a:r>
            <a:r>
              <a:rPr lang="en-US" altLang="zh-CN" dirty="0"/>
              <a:t>open</a:t>
            </a:r>
            <a:r>
              <a:rPr lang="zh-CN" altLang="en-US" dirty="0"/>
              <a:t>函数的使用语法如下：</a:t>
            </a:r>
          </a:p>
          <a:p>
            <a:pPr marL="0" indent="0" algn="just">
              <a:lnSpc>
                <a:spcPct val="150000"/>
              </a:lnSpc>
              <a:spcBef>
                <a:spcPts val="0"/>
              </a:spcBef>
              <a:buNone/>
            </a:pPr>
            <a:r>
              <a:rPr lang="en-US" altLang="zh-CN" b="1"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rPr>
              <a:t>open(file, mode=’r’, buffering=1, encoding=None, errors=None, newline=None, </a:t>
            </a:r>
            <a:r>
              <a:rPr lang="en-US" altLang="zh-CN" dirty="0" err="1">
                <a:solidFill>
                  <a:srgbClr val="FF0000"/>
                </a:solidFill>
              </a:rPr>
              <a:t>closefd</a:t>
            </a:r>
            <a:r>
              <a:rPr lang="en-US" altLang="zh-CN" dirty="0">
                <a:solidFill>
                  <a:srgbClr val="FF0000"/>
                </a:solidFill>
              </a:rPr>
              <a:t>=True, opener=None)[ ]</a:t>
            </a:r>
          </a:p>
          <a:p>
            <a:pPr marL="0" indent="0" algn="just">
              <a:lnSpc>
                <a:spcPct val="150000"/>
              </a:lnSpc>
              <a:spcBef>
                <a:spcPts val="0"/>
              </a:spcBef>
              <a:buNone/>
            </a:pPr>
            <a:r>
              <a:rPr lang="zh-CN" altLang="en-US" dirty="0">
                <a:latin typeface="宋体" panose="02010600030101010101" pitchFamily="2" charset="-122"/>
                <a:ea typeface="宋体" panose="02010600030101010101" pitchFamily="2" charset="-122"/>
              </a:rPr>
              <a:t>    </a:t>
            </a:r>
            <a:r>
              <a:rPr lang="zh-CN" altLang="en-US" dirty="0"/>
              <a:t>该函数打开指定文件并返回对应的文件对象，</a:t>
            </a:r>
            <a:r>
              <a:rPr lang="zh-CN" altLang="en-US" dirty="0">
                <a:solidFill>
                  <a:srgbClr val="0432FF"/>
                </a:solidFill>
              </a:rPr>
              <a:t>如果该文件不能打开，则引发</a:t>
            </a:r>
            <a:r>
              <a:rPr lang="en-US" altLang="zh-CN" dirty="0" err="1">
                <a:solidFill>
                  <a:srgbClr val="0432FF"/>
                </a:solidFill>
              </a:rPr>
              <a:t>OSError</a:t>
            </a:r>
            <a:r>
              <a:rPr lang="zh-CN" altLang="en-US" dirty="0"/>
              <a:t>。</a:t>
            </a:r>
            <a:r>
              <a:rPr lang="en-US" altLang="zh-CN" dirty="0"/>
              <a:t>open</a:t>
            </a:r>
            <a:r>
              <a:rPr lang="zh-CN" altLang="en-US" dirty="0"/>
              <a:t>函数最常用的两个参数是</a:t>
            </a:r>
            <a:r>
              <a:rPr lang="en-US" altLang="zh-CN" dirty="0"/>
              <a:t>file</a:t>
            </a:r>
            <a:r>
              <a:rPr lang="zh-CN" altLang="en-US" dirty="0"/>
              <a:t>和</a:t>
            </a:r>
            <a:r>
              <a:rPr lang="en-US" altLang="zh-CN" dirty="0"/>
              <a:t>mode</a:t>
            </a:r>
            <a:r>
              <a:rPr lang="zh-CN" altLang="en-US" dirty="0"/>
              <a:t>。</a:t>
            </a:r>
            <a:endParaRPr lang="en-US" altLang="zh-CN" dirty="0"/>
          </a:p>
          <a:p>
            <a:pPr marL="800100" lvl="1" indent="-342900" algn="just">
              <a:lnSpc>
                <a:spcPct val="150000"/>
              </a:lnSpc>
              <a:spcBef>
                <a:spcPts val="0"/>
              </a:spcBef>
              <a:buFont typeface="+mj-ea"/>
              <a:buAutoNum type="circleNumDbPlain"/>
            </a:pPr>
            <a:r>
              <a:rPr lang="en-US" altLang="zh-CN" sz="1900" dirty="0">
                <a:solidFill>
                  <a:srgbClr val="0432FF"/>
                </a:solidFill>
              </a:rPr>
              <a:t>file</a:t>
            </a:r>
            <a:r>
              <a:rPr lang="zh-CN" altLang="en-US" sz="1900" dirty="0">
                <a:solidFill>
                  <a:srgbClr val="0432FF"/>
                </a:solidFill>
              </a:rPr>
              <a:t>参数</a:t>
            </a:r>
            <a:r>
              <a:rPr lang="zh-CN" altLang="en-US" sz="1900" dirty="0">
                <a:solidFill>
                  <a:srgbClr val="FF0000"/>
                </a:solidFill>
              </a:rPr>
              <a:t>是一个路径类对象，表示将要打开的文件的路径</a:t>
            </a:r>
            <a:r>
              <a:rPr lang="zh-CN" altLang="en-US" sz="1900" dirty="0"/>
              <a:t>（可以是绝对路径或者当前工作目录的相对路径），也可以是整数类型的文件描述符。</a:t>
            </a:r>
            <a:endParaRPr lang="en-US" altLang="zh-CN" sz="1900" dirty="0"/>
          </a:p>
          <a:p>
            <a:pPr marL="800100" lvl="1" indent="-342900" algn="just">
              <a:lnSpc>
                <a:spcPct val="150000"/>
              </a:lnSpc>
              <a:spcBef>
                <a:spcPts val="0"/>
              </a:spcBef>
              <a:buFont typeface="+mj-ea"/>
              <a:buAutoNum type="circleNumDbPlain"/>
            </a:pPr>
            <a:r>
              <a:rPr lang="en-US" altLang="zh-CN" sz="1900" dirty="0">
                <a:solidFill>
                  <a:srgbClr val="0432FF"/>
                </a:solidFill>
              </a:rPr>
              <a:t>mode</a:t>
            </a:r>
            <a:r>
              <a:rPr lang="zh-CN" altLang="en-US" sz="1900" dirty="0">
                <a:solidFill>
                  <a:srgbClr val="0432FF"/>
                </a:solidFill>
              </a:rPr>
              <a:t>参数</a:t>
            </a:r>
            <a:r>
              <a:rPr lang="zh-CN" altLang="en-US" sz="1900" dirty="0">
                <a:solidFill>
                  <a:srgbClr val="FF0000"/>
                </a:solidFill>
              </a:rPr>
              <a:t>是一个可选字符串，用于指定打开文件的模式</a:t>
            </a:r>
            <a:r>
              <a:rPr lang="zh-CN" altLang="en-US" sz="1900" dirty="0"/>
              <a:t>，默认值为’</a:t>
            </a:r>
            <a:r>
              <a:rPr lang="en-US" altLang="zh-CN" sz="1900" dirty="0"/>
              <a:t>r’</a:t>
            </a:r>
            <a:r>
              <a:rPr lang="zh-CN" altLang="en-US" sz="1900" dirty="0"/>
              <a:t>，意味着以只读的文本模式打开文件，相当于’</a:t>
            </a:r>
            <a:r>
              <a:rPr lang="en-US" altLang="zh-CN" sz="1900" dirty="0"/>
              <a:t>rt’</a:t>
            </a:r>
            <a:r>
              <a:rPr lang="zh-CN" altLang="en-US" sz="1900" dirty="0"/>
              <a:t>。</a:t>
            </a:r>
          </a:p>
          <a:p>
            <a:pPr marL="0" indent="0" algn="just">
              <a:lnSpc>
                <a:spcPct val="150000"/>
              </a:lnSpc>
              <a:buNone/>
            </a:pP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solidFill>
                  <a:schemeClr val="accent1">
                    <a:lumMod val="50000"/>
                  </a:schemeClr>
                </a:solidFill>
                <a:latin typeface="Microsoft YaHei" panose="020B0503020204020204" pitchFamily="34" charset="-122"/>
                <a:ea typeface="Microsoft YaHei" panose="020B0503020204020204" pitchFamily="34" charset="-122"/>
              </a:rPr>
              <a:t> 9.1.2. </a:t>
            </a:r>
            <a:r>
              <a:rPr lang="zh-CN" altLang="en-US" dirty="0">
                <a:solidFill>
                  <a:schemeClr val="accent1">
                    <a:lumMod val="50000"/>
                  </a:schemeClr>
                </a:solidFill>
                <a:latin typeface="Microsoft YaHei" panose="020B0503020204020204" pitchFamily="34" charset="-122"/>
                <a:ea typeface="Microsoft YaHei" panose="020B0503020204020204" pitchFamily="34" charset="-122"/>
              </a:rPr>
              <a:t>文件的打开与关闭</a:t>
            </a:r>
          </a:p>
        </p:txBody>
      </p:sp>
    </p:spTree>
    <p:extLst>
      <p:ext uri="{BB962C8B-B14F-4D97-AF65-F5344CB8AC3E}">
        <p14:creationId xmlns:p14="http://schemas.microsoft.com/office/powerpoint/2010/main" val="187048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4705" y="2326131"/>
            <a:ext cx="9982200" cy="351974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startAt="3"/>
            </a:pPr>
            <a:r>
              <a:rPr lang="en-US" altLang="zh-CN" sz="1800" dirty="0">
                <a:solidFill>
                  <a:srgbClr val="0432FF"/>
                </a:solidFill>
              </a:rPr>
              <a:t>buffering</a:t>
            </a:r>
            <a:r>
              <a:rPr lang="zh-CN" altLang="en-US" sz="1800" dirty="0">
                <a:solidFill>
                  <a:srgbClr val="0432FF"/>
                </a:solidFill>
              </a:rPr>
              <a:t>参数</a:t>
            </a:r>
            <a:r>
              <a:rPr lang="zh-CN" altLang="en-US" sz="1800" dirty="0"/>
              <a:t>是一个可选的整数，用于</a:t>
            </a:r>
            <a:r>
              <a:rPr lang="zh-CN" altLang="en-US" sz="1800" dirty="0">
                <a:solidFill>
                  <a:srgbClr val="FF0000"/>
                </a:solidFill>
              </a:rPr>
              <a:t>设置缓冲策略</a:t>
            </a:r>
            <a:r>
              <a:rPr lang="zh-CN" altLang="en-US" sz="1800" dirty="0"/>
              <a:t>。若取</a:t>
            </a:r>
            <a:r>
              <a:rPr lang="en-US" altLang="zh-CN" sz="1800" dirty="0"/>
              <a:t>0</a:t>
            </a:r>
            <a:r>
              <a:rPr lang="zh-CN" altLang="en-US" sz="1800" dirty="0"/>
              <a:t>则切换缓冲（仅允许在二进制模式下），取</a:t>
            </a:r>
            <a:r>
              <a:rPr lang="en-US" altLang="zh-CN" sz="1800" dirty="0"/>
              <a:t>1</a:t>
            </a:r>
            <a:r>
              <a:rPr lang="zh-CN" altLang="en-US" sz="1800" dirty="0"/>
              <a:t>则选择行缓冲（仅在文本模式下可用），若取</a:t>
            </a:r>
            <a:r>
              <a:rPr lang="en-US" altLang="zh-CN" sz="1800" dirty="0"/>
              <a:t>&gt;1</a:t>
            </a:r>
            <a:r>
              <a:rPr lang="zh-CN" altLang="en-US" sz="1800" dirty="0"/>
              <a:t>的整数则指定以字节为单位的块缓冲区的大小。如果没有给出</a:t>
            </a:r>
            <a:r>
              <a:rPr lang="en-US" altLang="zh-CN" sz="1800" dirty="0"/>
              <a:t>buffering</a:t>
            </a:r>
            <a:r>
              <a:rPr lang="zh-CN" altLang="en-US" sz="1800" dirty="0"/>
              <a:t>参数，则默认二进制文件以固定大小的块进行缓冲，通常为</a:t>
            </a:r>
            <a:r>
              <a:rPr lang="en-US" altLang="zh-CN" sz="1800" dirty="0"/>
              <a:t>4076</a:t>
            </a:r>
            <a:r>
              <a:rPr lang="zh-CN" altLang="en-US" sz="1800" dirty="0"/>
              <a:t>或</a:t>
            </a:r>
            <a:r>
              <a:rPr lang="en-US" altLang="zh-CN" sz="1800" dirty="0"/>
              <a:t>8172</a:t>
            </a:r>
            <a:r>
              <a:rPr lang="zh-CN" altLang="en-US" sz="1800" dirty="0"/>
              <a:t>字节，且文本文件使用行缓冲。</a:t>
            </a:r>
          </a:p>
          <a:p>
            <a:pPr marL="342900" indent="-342900" algn="just">
              <a:lnSpc>
                <a:spcPct val="150000"/>
              </a:lnSpc>
              <a:spcBef>
                <a:spcPts val="0"/>
              </a:spcBef>
              <a:buFont typeface="+mj-ea"/>
              <a:buAutoNum type="circleNumDbPlain" startAt="3"/>
            </a:pPr>
            <a:r>
              <a:rPr lang="en-US" altLang="zh-CN" sz="1800" dirty="0">
                <a:solidFill>
                  <a:srgbClr val="0432FF"/>
                </a:solidFill>
              </a:rPr>
              <a:t>encoding</a:t>
            </a:r>
            <a:r>
              <a:rPr lang="zh-CN" altLang="en-US" sz="1800" dirty="0">
                <a:solidFill>
                  <a:srgbClr val="0432FF"/>
                </a:solidFill>
              </a:rPr>
              <a:t>参数</a:t>
            </a:r>
            <a:r>
              <a:rPr lang="zh-CN" altLang="en-US" sz="1800" dirty="0">
                <a:solidFill>
                  <a:srgbClr val="FF0000"/>
                </a:solidFill>
              </a:rPr>
              <a:t>指定用于解码或编码文件的编码</a:t>
            </a:r>
            <a:r>
              <a:rPr lang="zh-CN" altLang="en-US" sz="1800" dirty="0"/>
              <a:t>，仅在文本模式下使用。默认编码是依赖平台的，可通过</a:t>
            </a:r>
            <a:r>
              <a:rPr lang="en-US" altLang="zh-CN" sz="1800" dirty="0" err="1"/>
              <a:t>locale.getpreferredencoding</a:t>
            </a:r>
            <a:r>
              <a:rPr lang="en-US" altLang="zh-CN" sz="1800" dirty="0"/>
              <a:t>()</a:t>
            </a:r>
            <a:r>
              <a:rPr lang="zh-CN" altLang="en-US" sz="1800" dirty="0"/>
              <a:t>获知，</a:t>
            </a:r>
            <a:r>
              <a:rPr lang="en-US" altLang="zh-CN" sz="1800" dirty="0"/>
              <a:t>encoding</a:t>
            </a:r>
            <a:r>
              <a:rPr lang="zh-CN" altLang="en-US" sz="1800" dirty="0"/>
              <a:t>参数可取任何</a:t>
            </a:r>
            <a:r>
              <a:rPr lang="en-US" altLang="zh-CN" sz="1800" dirty="0"/>
              <a:t>Python</a:t>
            </a:r>
            <a:r>
              <a:rPr lang="zh-CN" altLang="en-US" sz="1800" dirty="0"/>
              <a:t>支持的文本编码，常用编码包括’</a:t>
            </a:r>
            <a:r>
              <a:rPr lang="en-US" altLang="zh-CN" sz="1800" dirty="0"/>
              <a:t>ascii’</a:t>
            </a:r>
            <a:r>
              <a:rPr lang="zh-CN" altLang="en-US" sz="1800" dirty="0"/>
              <a:t>、’</a:t>
            </a:r>
            <a:r>
              <a:rPr lang="en-US" altLang="zh-CN" sz="1800" dirty="0" err="1"/>
              <a:t>gbk</a:t>
            </a:r>
            <a:r>
              <a:rPr lang="en-US" altLang="zh-CN" sz="1800" dirty="0"/>
              <a:t>’</a:t>
            </a:r>
            <a:r>
              <a:rPr lang="zh-CN" altLang="en-US" sz="1800" dirty="0"/>
              <a:t>、’</a:t>
            </a:r>
            <a:r>
              <a:rPr lang="en-US" altLang="zh-CN" sz="1800" dirty="0"/>
              <a:t>utf-8’</a:t>
            </a:r>
            <a:r>
              <a:rPr lang="zh-CN" altLang="en-US" sz="1800" dirty="0"/>
              <a:t>等。</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宋体" panose="02010600030101010101" pitchFamily="2" charset="-122"/>
                <a:ea typeface="宋体" panose="02010600030101010101" pitchFamily="2" charset="-122"/>
              </a:rPr>
              <a:t> </a:t>
            </a:r>
            <a:r>
              <a:rPr lang="en-US" altLang="zh-CN" dirty="0">
                <a:solidFill>
                  <a:schemeClr val="accent1">
                    <a:lumMod val="50000"/>
                  </a:schemeClr>
                </a:solidFill>
                <a:latin typeface="Microsoft YaHei" panose="020B0503020204020204" pitchFamily="34" charset="-122"/>
                <a:ea typeface="Microsoft YaHei" panose="020B0503020204020204" pitchFamily="34" charset="-122"/>
              </a:rPr>
              <a:t> 9.1.2. </a:t>
            </a:r>
            <a:r>
              <a:rPr lang="zh-CN" altLang="en-US" dirty="0">
                <a:solidFill>
                  <a:schemeClr val="accent1">
                    <a:lumMod val="50000"/>
                  </a:schemeClr>
                </a:solidFill>
                <a:latin typeface="Microsoft YaHei" panose="020B0503020204020204" pitchFamily="34" charset="-122"/>
                <a:ea typeface="Microsoft YaHei" panose="020B0503020204020204" pitchFamily="34" charset="-122"/>
              </a:rPr>
              <a:t>文件的打开与关闭</a:t>
            </a:r>
          </a:p>
        </p:txBody>
      </p:sp>
      <p:sp>
        <p:nvSpPr>
          <p:cNvPr id="2" name="矩形 1">
            <a:extLst>
              <a:ext uri="{FF2B5EF4-FFF2-40B4-BE49-F238E27FC236}">
                <a16:creationId xmlns:a16="http://schemas.microsoft.com/office/drawing/2014/main" id="{139D329D-0D02-4496-98D9-A11C1ABDC3EE}"/>
              </a:ext>
            </a:extLst>
          </p:cNvPr>
          <p:cNvSpPr/>
          <p:nvPr/>
        </p:nvSpPr>
        <p:spPr>
          <a:xfrm>
            <a:off x="1104141" y="1580043"/>
            <a:ext cx="9997482" cy="646331"/>
          </a:xfrm>
          <a:prstGeom prst="rect">
            <a:avLst/>
          </a:prstGeom>
        </p:spPr>
        <p:txBody>
          <a:bodyPr wrap="square">
            <a:spAutoFit/>
          </a:bodyPr>
          <a:lstStyle/>
          <a:p>
            <a:r>
              <a:rPr lang="en-US" altLang="zh-CN" dirty="0">
                <a:solidFill>
                  <a:srgbClr val="FF0000"/>
                </a:solidFill>
              </a:rPr>
              <a:t>open(file, mode=’r’, buffering=1, encoding=None, errors=None, newline=None, </a:t>
            </a:r>
            <a:r>
              <a:rPr lang="en-US" altLang="zh-CN" dirty="0" err="1">
                <a:solidFill>
                  <a:srgbClr val="FF0000"/>
                </a:solidFill>
              </a:rPr>
              <a:t>closefd</a:t>
            </a:r>
            <a:r>
              <a:rPr lang="en-US" altLang="zh-CN" dirty="0">
                <a:solidFill>
                  <a:srgbClr val="FF0000"/>
                </a:solidFill>
              </a:rPr>
              <a:t>=True, opener=None)[ ]</a:t>
            </a:r>
            <a:endParaRPr lang="zh-CN" altLang="en-US" dirty="0"/>
          </a:p>
        </p:txBody>
      </p:sp>
      <p:pic>
        <p:nvPicPr>
          <p:cNvPr id="3" name="Picture 2">
            <a:extLst>
              <a:ext uri="{FF2B5EF4-FFF2-40B4-BE49-F238E27FC236}">
                <a16:creationId xmlns:a16="http://schemas.microsoft.com/office/drawing/2014/main" id="{F85485BF-5788-0EDF-A7BB-CC0C7190E097}"/>
              </a:ext>
            </a:extLst>
          </p:cNvPr>
          <p:cNvPicPr>
            <a:picLocks noChangeAspect="1"/>
          </p:cNvPicPr>
          <p:nvPr/>
        </p:nvPicPr>
        <p:blipFill>
          <a:blip r:embed="rId3"/>
          <a:stretch>
            <a:fillRect/>
          </a:stretch>
        </p:blipFill>
        <p:spPr>
          <a:xfrm>
            <a:off x="7166681" y="5120133"/>
            <a:ext cx="3568700" cy="825500"/>
          </a:xfrm>
          <a:prstGeom prst="rect">
            <a:avLst/>
          </a:prstGeom>
        </p:spPr>
      </p:pic>
    </p:spTree>
    <p:extLst>
      <p:ext uri="{BB962C8B-B14F-4D97-AF65-F5344CB8AC3E}">
        <p14:creationId xmlns:p14="http://schemas.microsoft.com/office/powerpoint/2010/main" val="830018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881303"/>
            <a:ext cx="9982200" cy="4259245"/>
          </a:xfrm>
          <a:prstGeom prst="rect">
            <a:avLst/>
          </a:prstGeom>
        </p:spPr>
        <p:txBody>
          <a:bodyPr>
            <a:normAutofit fontScale="250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lvl="0" indent="-342900" algn="just">
              <a:lnSpc>
                <a:spcPct val="150000"/>
              </a:lnSpc>
              <a:spcBef>
                <a:spcPts val="0"/>
              </a:spcBef>
              <a:buFont typeface="+mj-ea"/>
              <a:buAutoNum type="circleNumDbPlain" startAt="3"/>
            </a:pPr>
            <a:endParaRPr lang="zh-CN" altLang="en-US" sz="5500" dirty="0">
              <a:solidFill>
                <a:srgbClr val="514843"/>
              </a:solidFill>
            </a:endParaRPr>
          </a:p>
          <a:p>
            <a:pPr marL="342000" lvl="0" indent="-342000" algn="just">
              <a:lnSpc>
                <a:spcPct val="150000"/>
              </a:lnSpc>
              <a:spcBef>
                <a:spcPts val="0"/>
              </a:spcBef>
              <a:buFont typeface="+mj-ea"/>
              <a:buAutoNum type="circleNumDbPlain" startAt="5"/>
            </a:pPr>
            <a:r>
              <a:rPr lang="en-US" altLang="zh-CN" sz="7200" dirty="0">
                <a:solidFill>
                  <a:srgbClr val="0432FF"/>
                </a:solidFill>
              </a:rPr>
              <a:t>errors</a:t>
            </a:r>
            <a:r>
              <a:rPr lang="zh-CN" altLang="en-US" sz="7200" dirty="0">
                <a:solidFill>
                  <a:srgbClr val="0432FF"/>
                </a:solidFill>
              </a:rPr>
              <a:t>参数</a:t>
            </a:r>
            <a:r>
              <a:rPr lang="zh-CN" altLang="en-US" sz="7200" dirty="0"/>
              <a:t>是一个可选的字符串，用于</a:t>
            </a:r>
            <a:r>
              <a:rPr lang="zh-CN" altLang="en-US" sz="7200" dirty="0">
                <a:solidFill>
                  <a:srgbClr val="FF0000"/>
                </a:solidFill>
              </a:rPr>
              <a:t>指定如何处理编码和解码错误</a:t>
            </a:r>
            <a:r>
              <a:rPr lang="zh-CN" altLang="en-US" sz="7200" dirty="0"/>
              <a:t>，跟</a:t>
            </a:r>
            <a:r>
              <a:rPr lang="en-US" altLang="zh-CN" sz="7200" dirty="0"/>
              <a:t>encoding</a:t>
            </a:r>
            <a:r>
              <a:rPr lang="zh-CN" altLang="en-US" sz="7200" dirty="0"/>
              <a:t>参数一样仅在文本模式下使用。</a:t>
            </a:r>
            <a:r>
              <a:rPr lang="en-US" altLang="zh-CN" sz="7200" dirty="0"/>
              <a:t>encoding</a:t>
            </a:r>
            <a:r>
              <a:rPr lang="zh-CN" altLang="en-US" sz="7200" dirty="0"/>
              <a:t>参数可取任何</a:t>
            </a:r>
            <a:r>
              <a:rPr lang="en-US" altLang="zh-CN" sz="7200" dirty="0" err="1"/>
              <a:t>codecs.register_error</a:t>
            </a:r>
            <a:r>
              <a:rPr lang="en-US" altLang="zh-CN" sz="7200" dirty="0"/>
              <a:t>()</a:t>
            </a:r>
            <a:r>
              <a:rPr lang="zh-CN" altLang="en-US" sz="7200" dirty="0"/>
              <a:t>中注册过的标准错误处理名称，包括：</a:t>
            </a:r>
          </a:p>
          <a:p>
            <a:pPr lvl="1" algn="just">
              <a:lnSpc>
                <a:spcPct val="150000"/>
              </a:lnSpc>
              <a:spcBef>
                <a:spcPts val="0"/>
              </a:spcBef>
            </a:pPr>
            <a:r>
              <a:rPr lang="zh-CN" altLang="en-US" sz="5600" dirty="0"/>
              <a:t>’</a:t>
            </a:r>
            <a:r>
              <a:rPr lang="en-US" altLang="zh-CN" sz="5600" dirty="0"/>
              <a:t>strict’</a:t>
            </a:r>
            <a:r>
              <a:rPr lang="zh-CN" altLang="en-US" sz="5600" dirty="0"/>
              <a:t>会在存在编码错误时引发</a:t>
            </a:r>
            <a:r>
              <a:rPr lang="en-US" altLang="zh-CN" sz="5600" dirty="0" err="1"/>
              <a:t>ValueError</a:t>
            </a:r>
            <a:r>
              <a:rPr lang="zh-CN" altLang="en-US" sz="5600" dirty="0"/>
              <a:t>，与默认值</a:t>
            </a:r>
            <a:r>
              <a:rPr lang="en-US" altLang="zh-CN" sz="5600" dirty="0"/>
              <a:t>None</a:t>
            </a:r>
            <a:r>
              <a:rPr lang="zh-CN" altLang="en-US" sz="5600" dirty="0"/>
              <a:t>具有相同的效果；</a:t>
            </a:r>
          </a:p>
          <a:p>
            <a:pPr lvl="1" algn="just">
              <a:lnSpc>
                <a:spcPct val="150000"/>
              </a:lnSpc>
              <a:spcBef>
                <a:spcPts val="0"/>
              </a:spcBef>
            </a:pPr>
            <a:r>
              <a:rPr lang="zh-CN" altLang="en-US" sz="5600" dirty="0"/>
              <a:t>’</a:t>
            </a:r>
            <a:r>
              <a:rPr lang="en-US" altLang="zh-CN" sz="5600" dirty="0"/>
              <a:t>ignore’</a:t>
            </a:r>
            <a:r>
              <a:rPr lang="zh-CN" altLang="en-US" sz="5600" dirty="0"/>
              <a:t>会忽略编码错误，但这可能导致数据丢失；</a:t>
            </a:r>
          </a:p>
          <a:p>
            <a:pPr lvl="1" algn="just">
              <a:lnSpc>
                <a:spcPct val="150000"/>
              </a:lnSpc>
              <a:spcBef>
                <a:spcPts val="0"/>
              </a:spcBef>
            </a:pPr>
            <a:r>
              <a:rPr lang="zh-CN" altLang="en-US" sz="5600" dirty="0"/>
              <a:t>’</a:t>
            </a:r>
            <a:r>
              <a:rPr lang="en-US" altLang="zh-CN" sz="5600" dirty="0"/>
              <a:t>replace’</a:t>
            </a:r>
            <a:r>
              <a:rPr lang="zh-CN" altLang="en-US" sz="5600" dirty="0"/>
              <a:t>会将替换标记（例如’</a:t>
            </a:r>
            <a:r>
              <a:rPr lang="en-US" altLang="zh-CN" sz="5600" dirty="0"/>
              <a:t>?’</a:t>
            </a:r>
            <a:r>
              <a:rPr lang="zh-CN" altLang="en-US" sz="5600" dirty="0"/>
              <a:t>）插入到有错误数据的地方；</a:t>
            </a:r>
          </a:p>
          <a:p>
            <a:pPr lvl="1" algn="just">
              <a:lnSpc>
                <a:spcPct val="150000"/>
              </a:lnSpc>
              <a:spcBef>
                <a:spcPts val="0"/>
              </a:spcBef>
            </a:pPr>
            <a:r>
              <a:rPr lang="zh-CN" altLang="en-US" sz="5600" dirty="0"/>
              <a:t>’</a:t>
            </a:r>
            <a:r>
              <a:rPr lang="en-US" altLang="zh-CN" sz="5600" dirty="0" err="1"/>
              <a:t>surrogateescape</a:t>
            </a:r>
            <a:r>
              <a:rPr lang="en-US" altLang="zh-CN" sz="5600" dirty="0"/>
              <a:t>’</a:t>
            </a:r>
            <a:r>
              <a:rPr lang="zh-CN" altLang="en-US" sz="5600" dirty="0"/>
              <a:t>会将错误字节作为</a:t>
            </a:r>
            <a:r>
              <a:rPr lang="en-US" altLang="zh-CN" sz="5600" dirty="0"/>
              <a:t>Unicode</a:t>
            </a:r>
            <a:r>
              <a:rPr lang="zh-CN" altLang="en-US" sz="5600" dirty="0"/>
              <a:t>专用区中的代码点，当在写入数据时，这些私有代码点将被转回到相同的字节中，可用于处理未知编码的文件；</a:t>
            </a:r>
            <a:endParaRPr lang="en-US" altLang="zh-CN" sz="5600" dirty="0"/>
          </a:p>
          <a:p>
            <a:pPr lvl="1" algn="just">
              <a:lnSpc>
                <a:spcPct val="150000"/>
              </a:lnSpc>
              <a:spcBef>
                <a:spcPts val="0"/>
              </a:spcBef>
            </a:pPr>
            <a:r>
              <a:rPr lang="zh-CN" altLang="en-US" sz="5600" dirty="0"/>
              <a:t>’</a:t>
            </a:r>
            <a:r>
              <a:rPr lang="en-US" altLang="zh-CN" sz="5600" dirty="0" err="1"/>
              <a:t>surrogateescape</a:t>
            </a:r>
            <a:r>
              <a:rPr lang="en-US" altLang="zh-CN" sz="5600" dirty="0"/>
              <a:t>’</a:t>
            </a:r>
            <a:r>
              <a:rPr lang="zh-CN" altLang="en-US" sz="5600" dirty="0"/>
              <a:t>会将错误字节作为</a:t>
            </a:r>
            <a:r>
              <a:rPr lang="en-US" altLang="zh-CN" sz="5600" dirty="0"/>
              <a:t>Unicode</a:t>
            </a:r>
            <a:r>
              <a:rPr lang="zh-CN" altLang="en-US" sz="5600" dirty="0"/>
              <a:t>专用区中的代码点，当在写入数据时，这些私有代码点将被转回到相同的字节中，可用于处理未知编码的文件；</a:t>
            </a:r>
          </a:p>
          <a:p>
            <a:pPr lvl="1" algn="just">
              <a:lnSpc>
                <a:spcPct val="150000"/>
              </a:lnSpc>
              <a:spcBef>
                <a:spcPts val="0"/>
              </a:spcBef>
            </a:pPr>
            <a:r>
              <a:rPr lang="zh-CN" altLang="en-US" sz="5600" dirty="0"/>
              <a:t>’</a:t>
            </a:r>
            <a:r>
              <a:rPr lang="en-US" altLang="zh-CN" sz="5600" dirty="0" err="1"/>
              <a:t>xmlcharrefreplace</a:t>
            </a:r>
            <a:r>
              <a:rPr lang="en-US" altLang="zh-CN" sz="5600" dirty="0"/>
              <a:t>’</a:t>
            </a:r>
            <a:r>
              <a:rPr lang="zh-CN" altLang="en-US" sz="5600" dirty="0"/>
              <a:t>在写入文件时，会将错误字符替换为相应的</a:t>
            </a:r>
            <a:r>
              <a:rPr lang="en-US" altLang="zh-CN" sz="5600" dirty="0"/>
              <a:t>XML</a:t>
            </a:r>
            <a:r>
              <a:rPr lang="zh-CN" altLang="en-US" sz="5600" dirty="0"/>
              <a:t>字符；</a:t>
            </a:r>
          </a:p>
          <a:p>
            <a:pPr lvl="1" algn="just">
              <a:lnSpc>
                <a:spcPct val="150000"/>
              </a:lnSpc>
              <a:spcBef>
                <a:spcPts val="0"/>
              </a:spcBef>
            </a:pPr>
            <a:r>
              <a:rPr lang="zh-CN" altLang="en-US" sz="5600" dirty="0"/>
              <a:t>’</a:t>
            </a:r>
            <a:r>
              <a:rPr lang="en-US" altLang="zh-CN" sz="5600" dirty="0" err="1"/>
              <a:t>backslashreplace</a:t>
            </a:r>
            <a:r>
              <a:rPr lang="en-US" altLang="zh-CN" sz="5600" dirty="0"/>
              <a:t>’</a:t>
            </a:r>
            <a:r>
              <a:rPr lang="zh-CN" altLang="en-US" sz="5600" dirty="0"/>
              <a:t>会用</a:t>
            </a:r>
            <a:r>
              <a:rPr lang="en-US" altLang="zh-CN" sz="5600" dirty="0"/>
              <a:t>Python</a:t>
            </a:r>
            <a:r>
              <a:rPr lang="zh-CN" altLang="en-US" sz="5600" dirty="0"/>
              <a:t>的反向转义序列替换格式错误的数据；</a:t>
            </a:r>
          </a:p>
          <a:p>
            <a:pPr lvl="1" algn="just">
              <a:lnSpc>
                <a:spcPct val="150000"/>
              </a:lnSpc>
              <a:spcBef>
                <a:spcPts val="0"/>
              </a:spcBef>
            </a:pPr>
            <a:r>
              <a:rPr lang="zh-CN" altLang="en-US" sz="5600" dirty="0"/>
              <a:t>’</a:t>
            </a:r>
            <a:r>
              <a:rPr lang="en-US" altLang="zh-CN" sz="5600" dirty="0" err="1"/>
              <a:t>namereplace</a:t>
            </a:r>
            <a:r>
              <a:rPr lang="en-US" altLang="zh-CN" sz="5600" dirty="0"/>
              <a:t>’</a:t>
            </a:r>
            <a:r>
              <a:rPr lang="zh-CN" altLang="en-US" sz="5600" dirty="0"/>
              <a:t>在写入文件时，用转义序列替换不支持的字符。</a:t>
            </a:r>
            <a:endParaRPr lang="zh-CN" altLang="en-US" sz="72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solidFill>
                  <a:schemeClr val="accent1">
                    <a:lumMod val="50000"/>
                  </a:schemeClr>
                </a:solidFill>
                <a:latin typeface="Microsoft YaHei" panose="020B0503020204020204" pitchFamily="34" charset="-122"/>
                <a:ea typeface="Microsoft YaHei" panose="020B0503020204020204" pitchFamily="34" charset="-122"/>
              </a:rPr>
              <a:t> 9.1.2. </a:t>
            </a:r>
            <a:r>
              <a:rPr lang="zh-CN" altLang="en-US" dirty="0">
                <a:solidFill>
                  <a:schemeClr val="accent1">
                    <a:lumMod val="50000"/>
                  </a:schemeClr>
                </a:solidFill>
                <a:latin typeface="Microsoft YaHei" panose="020B0503020204020204" pitchFamily="34" charset="-122"/>
                <a:ea typeface="Microsoft YaHei" panose="020B0503020204020204" pitchFamily="34" charset="-122"/>
              </a:rPr>
              <a:t>文件的打开与关闭</a:t>
            </a:r>
          </a:p>
        </p:txBody>
      </p:sp>
      <p:sp>
        <p:nvSpPr>
          <p:cNvPr id="5" name="矩形 4">
            <a:extLst>
              <a:ext uri="{FF2B5EF4-FFF2-40B4-BE49-F238E27FC236}">
                <a16:creationId xmlns:a16="http://schemas.microsoft.com/office/drawing/2014/main" id="{68981877-964D-4ABC-94FA-D7CD30C60663}"/>
              </a:ext>
            </a:extLst>
          </p:cNvPr>
          <p:cNvSpPr/>
          <p:nvPr/>
        </p:nvSpPr>
        <p:spPr>
          <a:xfrm>
            <a:off x="1104141" y="1556597"/>
            <a:ext cx="9997482" cy="646331"/>
          </a:xfrm>
          <a:prstGeom prst="rect">
            <a:avLst/>
          </a:prstGeom>
        </p:spPr>
        <p:txBody>
          <a:bodyPr wrap="square">
            <a:spAutoFit/>
          </a:bodyPr>
          <a:lstStyle/>
          <a:p>
            <a:r>
              <a:rPr lang="en-US" altLang="zh-CN" dirty="0">
                <a:solidFill>
                  <a:srgbClr val="FF0000"/>
                </a:solidFill>
              </a:rPr>
              <a:t>open(file, mode=’r’, buffering=1, encoding=None, errors=None, newline=None, </a:t>
            </a:r>
            <a:r>
              <a:rPr lang="en-US" altLang="zh-CN" dirty="0" err="1">
                <a:solidFill>
                  <a:srgbClr val="FF0000"/>
                </a:solidFill>
              </a:rPr>
              <a:t>closefd</a:t>
            </a:r>
            <a:r>
              <a:rPr lang="en-US" altLang="zh-CN" dirty="0">
                <a:solidFill>
                  <a:srgbClr val="FF0000"/>
                </a:solidFill>
              </a:rPr>
              <a:t>=True, opener=None)[ ]</a:t>
            </a:r>
            <a:endParaRPr lang="zh-CN" altLang="en-US" dirty="0"/>
          </a:p>
        </p:txBody>
      </p:sp>
    </p:spTree>
    <p:extLst>
      <p:ext uri="{BB962C8B-B14F-4D97-AF65-F5344CB8AC3E}">
        <p14:creationId xmlns:p14="http://schemas.microsoft.com/office/powerpoint/2010/main" val="140304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51505" y="2307622"/>
            <a:ext cx="9982200" cy="4018900"/>
          </a:xfrm>
          <a:prstGeom prst="rect">
            <a:avLst/>
          </a:prstGeom>
        </p:spPr>
        <p:txBody>
          <a:bodyPr>
            <a:normAutofit fontScale="250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000" indent="-342000" algn="just">
              <a:lnSpc>
                <a:spcPct val="150000"/>
              </a:lnSpc>
              <a:spcBef>
                <a:spcPts val="0"/>
              </a:spcBef>
              <a:buFont typeface="+mj-ea"/>
              <a:buAutoNum type="circleNumDbPlain" startAt="6"/>
            </a:pPr>
            <a:r>
              <a:rPr lang="en-US" altLang="zh-CN" sz="7200" dirty="0">
                <a:solidFill>
                  <a:srgbClr val="0432FF"/>
                </a:solidFill>
              </a:rPr>
              <a:t>newline</a:t>
            </a:r>
            <a:r>
              <a:rPr lang="zh-CN" altLang="en-US" sz="7200" dirty="0">
                <a:solidFill>
                  <a:srgbClr val="0432FF"/>
                </a:solidFill>
              </a:rPr>
              <a:t>参数仅适用于文本模式</a:t>
            </a:r>
            <a:r>
              <a:rPr lang="zh-CN" altLang="en-US" sz="7200" dirty="0"/>
              <a:t>，用于指定读写操作时采用的换行模式。</a:t>
            </a:r>
            <a:endParaRPr lang="en-US" altLang="zh-CN" sz="7200" dirty="0"/>
          </a:p>
          <a:p>
            <a:pPr lvl="1" algn="just">
              <a:lnSpc>
                <a:spcPct val="150000"/>
              </a:lnSpc>
              <a:spcBef>
                <a:spcPts val="0"/>
              </a:spcBef>
            </a:pPr>
            <a:r>
              <a:rPr lang="zh-CN" altLang="en-US" sz="5600" dirty="0"/>
              <a:t>在读取模式下，如果</a:t>
            </a:r>
            <a:r>
              <a:rPr lang="en-US" altLang="zh-CN" sz="5600" dirty="0">
                <a:solidFill>
                  <a:srgbClr val="FF0000"/>
                </a:solidFill>
              </a:rPr>
              <a:t>newline</a:t>
            </a:r>
            <a:r>
              <a:rPr lang="zh-CN" altLang="en-US" sz="5600" dirty="0">
                <a:solidFill>
                  <a:srgbClr val="FF0000"/>
                </a:solidFill>
              </a:rPr>
              <a:t>为</a:t>
            </a:r>
            <a:r>
              <a:rPr lang="en-US" altLang="zh-CN" sz="5600" dirty="0">
                <a:solidFill>
                  <a:srgbClr val="FF0000"/>
                </a:solidFill>
              </a:rPr>
              <a:t>None</a:t>
            </a:r>
            <a:r>
              <a:rPr lang="zh-CN" altLang="en-US" sz="5600" dirty="0">
                <a:solidFill>
                  <a:srgbClr val="FF0000"/>
                </a:solidFill>
              </a:rPr>
              <a:t>，则启用通用换行模式</a:t>
            </a:r>
            <a:r>
              <a:rPr lang="zh-CN" altLang="en-US" sz="5600" dirty="0"/>
              <a:t>，文件中的以’</a:t>
            </a:r>
            <a:r>
              <a:rPr lang="en-US" altLang="zh-CN" sz="5600" dirty="0"/>
              <a:t>\n’</a:t>
            </a:r>
            <a:r>
              <a:rPr lang="zh-CN" altLang="en-US" sz="5600" dirty="0"/>
              <a:t>、’</a:t>
            </a:r>
            <a:r>
              <a:rPr lang="en-US" altLang="zh-CN" sz="5600" dirty="0"/>
              <a:t>\r’</a:t>
            </a:r>
            <a:r>
              <a:rPr lang="zh-CN" altLang="en-US" sz="5600" dirty="0"/>
              <a:t>或’</a:t>
            </a:r>
            <a:r>
              <a:rPr lang="en-US" altLang="zh-CN" sz="5600" dirty="0"/>
              <a:t>\r\n’</a:t>
            </a:r>
            <a:r>
              <a:rPr lang="zh-CN" altLang="en-US" sz="5600" dirty="0"/>
              <a:t>结尾的行均被翻译为’</a:t>
            </a:r>
            <a:r>
              <a:rPr lang="en-US" altLang="zh-CN" sz="5600" dirty="0"/>
              <a:t>\n’</a:t>
            </a:r>
            <a:r>
              <a:rPr lang="zh-CN" altLang="en-US" sz="5600" dirty="0"/>
              <a:t>；如果</a:t>
            </a:r>
            <a:r>
              <a:rPr lang="en-US" altLang="zh-CN" sz="5600" dirty="0"/>
              <a:t>newline</a:t>
            </a:r>
            <a:r>
              <a:rPr lang="zh-CN" altLang="en-US" sz="5600" dirty="0"/>
              <a:t>是空值，则行结尾不进行翻译，直接返回；如果</a:t>
            </a:r>
            <a:r>
              <a:rPr lang="en-US" altLang="zh-CN" sz="5600" dirty="0"/>
              <a:t>newline</a:t>
            </a:r>
            <a:r>
              <a:rPr lang="zh-CN" altLang="en-US" sz="5600" dirty="0"/>
              <a:t>是任何其他合法值，则行由给定字符串终止，并将行结尾返回调用者。</a:t>
            </a:r>
            <a:endParaRPr lang="en-US" altLang="zh-CN" sz="5600" dirty="0"/>
          </a:p>
          <a:p>
            <a:pPr lvl="1" algn="just">
              <a:lnSpc>
                <a:spcPct val="150000"/>
              </a:lnSpc>
              <a:spcBef>
                <a:spcPts val="0"/>
              </a:spcBef>
            </a:pPr>
            <a:r>
              <a:rPr lang="zh-CN" altLang="en-US" sz="5600" dirty="0"/>
              <a:t>在写入模式下，如果</a:t>
            </a:r>
            <a:r>
              <a:rPr lang="en-US" altLang="zh-CN" sz="5600" dirty="0">
                <a:solidFill>
                  <a:srgbClr val="FF0000"/>
                </a:solidFill>
              </a:rPr>
              <a:t>newline</a:t>
            </a:r>
            <a:r>
              <a:rPr lang="zh-CN" altLang="en-US" sz="5600" dirty="0">
                <a:solidFill>
                  <a:srgbClr val="FF0000"/>
                </a:solidFill>
              </a:rPr>
              <a:t>为</a:t>
            </a:r>
            <a:r>
              <a:rPr lang="en-US" altLang="zh-CN" sz="5600" dirty="0">
                <a:solidFill>
                  <a:srgbClr val="FF0000"/>
                </a:solidFill>
              </a:rPr>
              <a:t>None</a:t>
            </a:r>
            <a:r>
              <a:rPr lang="zh-CN" altLang="en-US" sz="5600" dirty="0">
                <a:solidFill>
                  <a:srgbClr val="FF0000"/>
                </a:solidFill>
              </a:rPr>
              <a:t>，则写入的任何’</a:t>
            </a:r>
            <a:r>
              <a:rPr lang="en-US" altLang="zh-CN" sz="5600" dirty="0">
                <a:solidFill>
                  <a:srgbClr val="FF0000"/>
                </a:solidFill>
              </a:rPr>
              <a:t>\n’</a:t>
            </a:r>
            <a:r>
              <a:rPr lang="zh-CN" altLang="en-US" sz="5600" dirty="0">
                <a:solidFill>
                  <a:srgbClr val="FF0000"/>
                </a:solidFill>
              </a:rPr>
              <a:t>字符都将转换为系统默认行分隔符</a:t>
            </a:r>
            <a:r>
              <a:rPr lang="zh-CN" altLang="en-US" sz="5600" dirty="0"/>
              <a:t>；如果</a:t>
            </a:r>
            <a:r>
              <a:rPr lang="en-US" altLang="zh-CN" sz="5600" dirty="0"/>
              <a:t>newline</a:t>
            </a:r>
            <a:r>
              <a:rPr lang="zh-CN" altLang="en-US" sz="5600" dirty="0"/>
              <a:t>是’’或’</a:t>
            </a:r>
            <a:r>
              <a:rPr lang="en-US" altLang="zh-CN" sz="5600" dirty="0"/>
              <a:t>\n’</a:t>
            </a:r>
            <a:r>
              <a:rPr lang="zh-CN" altLang="en-US" sz="5600" dirty="0"/>
              <a:t>，则不进行翻译；如果</a:t>
            </a:r>
            <a:r>
              <a:rPr lang="en-US" altLang="zh-CN" sz="5600" dirty="0"/>
              <a:t>newline</a:t>
            </a:r>
            <a:r>
              <a:rPr lang="zh-CN" altLang="en-US" sz="5600" dirty="0"/>
              <a:t>是任何其他合法值，则写入的任何’</a:t>
            </a:r>
            <a:r>
              <a:rPr lang="en-US" altLang="zh-CN" sz="5600" dirty="0"/>
              <a:t>\n’</a:t>
            </a:r>
            <a:r>
              <a:rPr lang="zh-CN" altLang="en-US" sz="5600" dirty="0"/>
              <a:t>字符将被转换为给定的字符串。</a:t>
            </a:r>
          </a:p>
          <a:p>
            <a:pPr marL="342000" indent="-342000" algn="just">
              <a:lnSpc>
                <a:spcPct val="150000"/>
              </a:lnSpc>
              <a:spcBef>
                <a:spcPts val="0"/>
              </a:spcBef>
              <a:buFont typeface="+mj-ea"/>
              <a:buAutoNum type="circleNumDbPlain" startAt="6"/>
            </a:pPr>
            <a:r>
              <a:rPr lang="en-US" altLang="zh-CN" sz="7200" dirty="0" err="1">
                <a:solidFill>
                  <a:srgbClr val="0432FF"/>
                </a:solidFill>
              </a:rPr>
              <a:t>closefd</a:t>
            </a:r>
            <a:r>
              <a:rPr lang="zh-CN" altLang="en-US" sz="7200" dirty="0">
                <a:solidFill>
                  <a:srgbClr val="0432FF"/>
                </a:solidFill>
              </a:rPr>
              <a:t>参数</a:t>
            </a:r>
            <a:r>
              <a:rPr lang="zh-CN" altLang="en-US" sz="7200" dirty="0"/>
              <a:t>是一个可选的布尔值，默认为</a:t>
            </a:r>
            <a:r>
              <a:rPr lang="en-US" altLang="zh-CN" sz="7200" dirty="0"/>
              <a:t>True</a:t>
            </a:r>
            <a:r>
              <a:rPr lang="zh-CN" altLang="en-US" sz="7200" dirty="0"/>
              <a:t>。如果</a:t>
            </a:r>
            <a:r>
              <a:rPr lang="en-US" altLang="zh-CN" sz="7200" dirty="0" err="1"/>
              <a:t>closefd</a:t>
            </a:r>
            <a:r>
              <a:rPr lang="zh-CN" altLang="en-US" sz="7200" dirty="0"/>
              <a:t>是</a:t>
            </a:r>
            <a:r>
              <a:rPr lang="en-US" altLang="zh-CN" sz="7200" dirty="0"/>
              <a:t>False</a:t>
            </a:r>
            <a:r>
              <a:rPr lang="zh-CN" altLang="en-US" sz="7200" dirty="0"/>
              <a:t>且给出的是文件描述符而不是文件名，则当文件关闭时，底层文件描述符将保持打开状态。如果给出的是文件名则</a:t>
            </a:r>
            <a:r>
              <a:rPr lang="en-US" altLang="zh-CN" sz="7200" dirty="0" err="1"/>
              <a:t>closefd</a:t>
            </a:r>
            <a:r>
              <a:rPr lang="zh-CN" altLang="en-US" sz="7200" dirty="0"/>
              <a:t>必须为</a:t>
            </a:r>
            <a:r>
              <a:rPr lang="en-US" altLang="zh-CN" sz="7200" dirty="0"/>
              <a:t>True</a:t>
            </a:r>
            <a:r>
              <a:rPr lang="zh-CN" altLang="en-US" sz="7200" dirty="0"/>
              <a:t>，否则将引发错误。</a:t>
            </a:r>
          </a:p>
          <a:p>
            <a:pPr marL="342000" indent="-342000" algn="just">
              <a:lnSpc>
                <a:spcPct val="150000"/>
              </a:lnSpc>
              <a:spcBef>
                <a:spcPts val="0"/>
              </a:spcBef>
              <a:buFont typeface="+mj-ea"/>
              <a:buAutoNum type="circleNumDbPlain" startAt="6"/>
            </a:pPr>
            <a:r>
              <a:rPr lang="en-US" altLang="zh-CN" sz="7200" dirty="0">
                <a:solidFill>
                  <a:srgbClr val="0432FF"/>
                </a:solidFill>
              </a:rPr>
              <a:t>opener</a:t>
            </a:r>
            <a:r>
              <a:rPr lang="zh-CN" altLang="en-US" sz="7200" dirty="0">
                <a:solidFill>
                  <a:srgbClr val="0432FF"/>
                </a:solidFill>
              </a:rPr>
              <a:t>参数</a:t>
            </a:r>
            <a:r>
              <a:rPr lang="zh-CN" altLang="en-US" sz="7200" dirty="0"/>
              <a:t>用于使用自定义开启器，通过使用参数</a:t>
            </a:r>
            <a:r>
              <a:rPr lang="en-US" altLang="zh-CN" sz="7200" dirty="0"/>
              <a:t>file</a:t>
            </a:r>
            <a:r>
              <a:rPr lang="zh-CN" altLang="en-US" sz="7200" dirty="0"/>
              <a:t>和</a:t>
            </a:r>
            <a:r>
              <a:rPr lang="en-US" altLang="zh-CN" sz="7200" dirty="0"/>
              <a:t>flags</a:t>
            </a:r>
            <a:r>
              <a:rPr lang="zh-CN" altLang="en-US" sz="7200" dirty="0"/>
              <a:t>能获得文件对象的基础文件描述符。具体说明请查阅</a:t>
            </a:r>
            <a:r>
              <a:rPr lang="en-US" altLang="zh-CN" sz="7200" dirty="0"/>
              <a:t>Python</a:t>
            </a:r>
            <a:r>
              <a:rPr lang="zh-CN" altLang="en-US" sz="7200" dirty="0"/>
              <a:t>官方文档。</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solidFill>
                  <a:schemeClr val="accent1">
                    <a:lumMod val="50000"/>
                  </a:schemeClr>
                </a:solidFill>
                <a:latin typeface="Microsoft YaHei" panose="020B0503020204020204" pitchFamily="34" charset="-122"/>
                <a:ea typeface="Microsoft YaHei" panose="020B0503020204020204" pitchFamily="34" charset="-122"/>
              </a:rPr>
              <a:t> 9.1.2. </a:t>
            </a:r>
            <a:r>
              <a:rPr lang="zh-CN" altLang="en-US" dirty="0">
                <a:solidFill>
                  <a:schemeClr val="accent1">
                    <a:lumMod val="50000"/>
                  </a:schemeClr>
                </a:solidFill>
                <a:latin typeface="Microsoft YaHei" panose="020B0503020204020204" pitchFamily="34" charset="-122"/>
                <a:ea typeface="Microsoft YaHei" panose="020B0503020204020204" pitchFamily="34" charset="-122"/>
              </a:rPr>
              <a:t>文件的打开与关闭</a:t>
            </a:r>
          </a:p>
        </p:txBody>
      </p:sp>
      <p:sp>
        <p:nvSpPr>
          <p:cNvPr id="5" name="矩形 4">
            <a:extLst>
              <a:ext uri="{FF2B5EF4-FFF2-40B4-BE49-F238E27FC236}">
                <a16:creationId xmlns:a16="http://schemas.microsoft.com/office/drawing/2014/main" id="{2A1B67DC-38F0-4CB3-A430-7F32D2471D51}"/>
              </a:ext>
            </a:extLst>
          </p:cNvPr>
          <p:cNvSpPr/>
          <p:nvPr/>
        </p:nvSpPr>
        <p:spPr>
          <a:xfrm>
            <a:off x="1104141" y="1661291"/>
            <a:ext cx="9997482" cy="646331"/>
          </a:xfrm>
          <a:prstGeom prst="rect">
            <a:avLst/>
          </a:prstGeom>
        </p:spPr>
        <p:txBody>
          <a:bodyPr wrap="square">
            <a:spAutoFit/>
          </a:bodyPr>
          <a:lstStyle/>
          <a:p>
            <a:r>
              <a:rPr lang="en-US" altLang="zh-CN" dirty="0">
                <a:solidFill>
                  <a:srgbClr val="FF0000"/>
                </a:solidFill>
              </a:rPr>
              <a:t>open(file, mode=’r’, buffering=1, encoding=None, errors=None, newline=None, </a:t>
            </a:r>
            <a:r>
              <a:rPr lang="en-US" altLang="zh-CN" dirty="0" err="1">
                <a:solidFill>
                  <a:srgbClr val="FF0000"/>
                </a:solidFill>
              </a:rPr>
              <a:t>closefd</a:t>
            </a:r>
            <a:r>
              <a:rPr lang="en-US" altLang="zh-CN" dirty="0">
                <a:solidFill>
                  <a:srgbClr val="FF0000"/>
                </a:solidFill>
              </a:rPr>
              <a:t>=True, opener=None)[ ]</a:t>
            </a:r>
            <a:endParaRPr lang="zh-CN" altLang="en-US" dirty="0"/>
          </a:p>
        </p:txBody>
      </p:sp>
    </p:spTree>
    <p:extLst>
      <p:ext uri="{BB962C8B-B14F-4D97-AF65-F5344CB8AC3E}">
        <p14:creationId xmlns:p14="http://schemas.microsoft.com/office/powerpoint/2010/main" val="60569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315731"/>
            <a:ext cx="9982200" cy="137489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dirty="0">
                <a:latin typeface="宋体" panose="02010600030101010101" pitchFamily="2" charset="-122"/>
                <a:ea typeface="宋体" panose="02010600030101010101" pitchFamily="2" charset="-122"/>
              </a:rPr>
              <a:t>    </a:t>
            </a:r>
            <a:r>
              <a:rPr lang="zh-CN" altLang="en-US" sz="1800" dirty="0"/>
              <a:t>（</a:t>
            </a:r>
            <a:r>
              <a:rPr lang="en-US" altLang="zh-CN" sz="1800" dirty="0"/>
              <a:t>2</a:t>
            </a:r>
            <a:r>
              <a:rPr lang="zh-CN" altLang="en-US" sz="1800" dirty="0"/>
              <a:t>）在使用完一个文件应该</a:t>
            </a:r>
            <a:r>
              <a:rPr lang="zh-CN" altLang="en-US" sz="1800" dirty="0">
                <a:solidFill>
                  <a:srgbClr val="0432FF"/>
                </a:solidFill>
              </a:rPr>
              <a:t>关闭它</a:t>
            </a:r>
            <a:r>
              <a:rPr lang="zh-CN" altLang="en-US" sz="1800" dirty="0"/>
              <a:t>，防止被再次误用。</a:t>
            </a:r>
            <a:r>
              <a:rPr lang="zh-CN" altLang="en-US" sz="1800" dirty="0">
                <a:solidFill>
                  <a:srgbClr val="FF0000"/>
                </a:solidFill>
              </a:rPr>
              <a:t>关闭文件的含义是将文件对象与外存上的文件脱离联系，释放打开文件时占用的资源。</a:t>
            </a:r>
            <a:r>
              <a:rPr lang="zh-CN" altLang="en-US" sz="1800" dirty="0"/>
              <a:t>在处理文件对象时，最好使用</a:t>
            </a:r>
            <a:r>
              <a:rPr lang="en-US" altLang="zh-CN" sz="1800" dirty="0">
                <a:solidFill>
                  <a:srgbClr val="0432FF"/>
                </a:solidFill>
              </a:rPr>
              <a:t>with</a:t>
            </a:r>
            <a:r>
              <a:rPr lang="zh-CN" altLang="en-US" sz="1800" dirty="0">
                <a:solidFill>
                  <a:srgbClr val="FF0000"/>
                </a:solidFill>
              </a:rPr>
              <a:t>关键字</a:t>
            </a:r>
            <a:r>
              <a:rPr lang="zh-CN" altLang="en-US" sz="1800" dirty="0"/>
              <a:t>，这样即使在某个时刻引发了异常，子句结束后文件依然会正确关闭。</a:t>
            </a:r>
            <a:r>
              <a:rPr lang="en-US" altLang="zh-CN" sz="1800" dirty="0"/>
              <a:t>with</a:t>
            </a:r>
            <a:r>
              <a:rPr lang="zh-CN" altLang="en-US" sz="1800" dirty="0"/>
              <a:t>语句使用示例如下：</a:t>
            </a:r>
            <a:endParaRPr lang="zh-CN" altLang="zh-CN" sz="1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solidFill>
                  <a:schemeClr val="accent1">
                    <a:lumMod val="50000"/>
                  </a:schemeClr>
                </a:solidFill>
                <a:latin typeface="Microsoft YaHei" panose="020B0503020204020204" pitchFamily="34" charset="-122"/>
                <a:ea typeface="Microsoft YaHei" panose="020B0503020204020204" pitchFamily="34" charset="-122"/>
              </a:rPr>
              <a:t> 9.1.2. </a:t>
            </a:r>
            <a:r>
              <a:rPr lang="zh-CN" altLang="en-US" dirty="0">
                <a:solidFill>
                  <a:schemeClr val="accent1">
                    <a:lumMod val="50000"/>
                  </a:schemeClr>
                </a:solidFill>
                <a:latin typeface="Microsoft YaHei" panose="020B0503020204020204" pitchFamily="34" charset="-122"/>
                <a:ea typeface="Microsoft YaHei" panose="020B0503020204020204" pitchFamily="34" charset="-122"/>
              </a:rPr>
              <a:t>文件的打开与关闭</a:t>
            </a:r>
          </a:p>
        </p:txBody>
      </p:sp>
      <p:sp>
        <p:nvSpPr>
          <p:cNvPr id="8" name="Content Placeholder 13">
            <a:extLst>
              <a:ext uri="{FF2B5EF4-FFF2-40B4-BE49-F238E27FC236}">
                <a16:creationId xmlns:a16="http://schemas.microsoft.com/office/drawing/2014/main" id="{1A949396-6722-4EC4-B3C7-30BBC7D000D6}"/>
              </a:ext>
            </a:extLst>
          </p:cNvPr>
          <p:cNvSpPr txBox="1">
            <a:spLocks/>
          </p:cNvSpPr>
          <p:nvPr/>
        </p:nvSpPr>
        <p:spPr>
          <a:xfrm>
            <a:off x="1120941" y="4661996"/>
            <a:ext cx="9982200" cy="1812434"/>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如果</a:t>
            </a:r>
            <a:r>
              <a:rPr lang="zh-CN" altLang="en-US" sz="1800" dirty="0">
                <a:solidFill>
                  <a:srgbClr val="FF0000"/>
                </a:solidFill>
              </a:rPr>
              <a:t>未使用</a:t>
            </a:r>
            <a:r>
              <a:rPr lang="en-US" altLang="zh-CN" sz="1800" dirty="0">
                <a:solidFill>
                  <a:srgbClr val="0432FF"/>
                </a:solidFill>
              </a:rPr>
              <a:t>with</a:t>
            </a:r>
            <a:r>
              <a:rPr lang="zh-CN" altLang="en-US" sz="1800" dirty="0">
                <a:solidFill>
                  <a:srgbClr val="FF0000"/>
                </a:solidFill>
              </a:rPr>
              <a:t>关键字，则应该调用</a:t>
            </a:r>
            <a:r>
              <a:rPr lang="en-US" altLang="zh-CN" sz="1800" dirty="0" err="1">
                <a:solidFill>
                  <a:srgbClr val="0432FF"/>
                </a:solidFill>
              </a:rPr>
              <a:t>f.close</a:t>
            </a:r>
            <a:r>
              <a:rPr lang="en-US" altLang="zh-CN" sz="1800" dirty="0">
                <a:solidFill>
                  <a:srgbClr val="0432FF"/>
                </a:solidFill>
              </a:rPr>
              <a:t>()</a:t>
            </a:r>
            <a:r>
              <a:rPr lang="zh-CN" altLang="en-US" sz="1800" dirty="0">
                <a:solidFill>
                  <a:srgbClr val="FF0000"/>
                </a:solidFill>
              </a:rPr>
              <a:t>来关闭文件并释放它使用的所有系统资源。</a:t>
            </a:r>
            <a:r>
              <a:rPr lang="zh-CN" altLang="en-US" sz="1800" dirty="0"/>
              <a:t>如果未显性地关闭文件，最终</a:t>
            </a:r>
            <a:r>
              <a:rPr lang="en-US" altLang="zh-CN" sz="1800" dirty="0"/>
              <a:t>Python</a:t>
            </a:r>
            <a:r>
              <a:rPr lang="zh-CN" altLang="en-US" sz="1800" dirty="0"/>
              <a:t>的垃圾回收站将销毁该文件对象并关闭文件。这样做的风险是在文件对象被销毁前文件会一直保持打开状态，可能被误用。另外，通过</a:t>
            </a:r>
            <a:r>
              <a:rPr lang="en-US" altLang="zh-CN" sz="1800" dirty="0"/>
              <a:t>with</a:t>
            </a:r>
            <a:r>
              <a:rPr lang="zh-CN" altLang="en-US" sz="1800" dirty="0"/>
              <a:t>语句或者调用</a:t>
            </a:r>
            <a:r>
              <a:rPr lang="en-US" altLang="zh-CN" sz="1800" dirty="0" err="1"/>
              <a:t>f.close</a:t>
            </a:r>
            <a:r>
              <a:rPr lang="en-US" altLang="zh-CN" sz="1800" dirty="0"/>
              <a:t>()</a:t>
            </a:r>
            <a:r>
              <a:rPr lang="zh-CN" altLang="en-US" sz="1800" dirty="0"/>
              <a:t>关闭文件对象后，无法再次使用该文件对象。</a:t>
            </a:r>
            <a:endParaRPr lang="zh-CN" altLang="zh-CN" sz="1800" dirty="0"/>
          </a:p>
        </p:txBody>
      </p:sp>
      <p:pic>
        <p:nvPicPr>
          <p:cNvPr id="2" name="Picture 1">
            <a:extLst>
              <a:ext uri="{FF2B5EF4-FFF2-40B4-BE49-F238E27FC236}">
                <a16:creationId xmlns:a16="http://schemas.microsoft.com/office/drawing/2014/main" id="{95505860-B61B-9EF5-6E87-7CF75F1A9284}"/>
              </a:ext>
            </a:extLst>
          </p:cNvPr>
          <p:cNvPicPr>
            <a:picLocks noChangeAspect="1"/>
          </p:cNvPicPr>
          <p:nvPr/>
        </p:nvPicPr>
        <p:blipFill>
          <a:blip r:embed="rId3"/>
          <a:stretch>
            <a:fillRect/>
          </a:stretch>
        </p:blipFill>
        <p:spPr>
          <a:xfrm>
            <a:off x="4956341" y="2909396"/>
            <a:ext cx="6146800" cy="1752600"/>
          </a:xfrm>
          <a:prstGeom prst="rect">
            <a:avLst/>
          </a:prstGeom>
        </p:spPr>
      </p:pic>
      <p:pic>
        <p:nvPicPr>
          <p:cNvPr id="3" name="Picture 2">
            <a:extLst>
              <a:ext uri="{FF2B5EF4-FFF2-40B4-BE49-F238E27FC236}">
                <a16:creationId xmlns:a16="http://schemas.microsoft.com/office/drawing/2014/main" id="{328029F9-C3CD-0B93-0751-476B67876B8A}"/>
              </a:ext>
            </a:extLst>
          </p:cNvPr>
          <p:cNvPicPr>
            <a:picLocks noChangeAspect="1"/>
          </p:cNvPicPr>
          <p:nvPr/>
        </p:nvPicPr>
        <p:blipFill>
          <a:blip r:embed="rId4"/>
          <a:stretch>
            <a:fillRect/>
          </a:stretch>
        </p:blipFill>
        <p:spPr>
          <a:xfrm>
            <a:off x="1403172" y="3220421"/>
            <a:ext cx="3187700" cy="1231900"/>
          </a:xfrm>
          <a:prstGeom prst="rect">
            <a:avLst/>
          </a:prstGeom>
        </p:spPr>
      </p:pic>
    </p:spTree>
    <p:extLst>
      <p:ext uri="{BB962C8B-B14F-4D97-AF65-F5344CB8AC3E}">
        <p14:creationId xmlns:p14="http://schemas.microsoft.com/office/powerpoint/2010/main" val="426398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E5BFD-D93E-E1F4-281A-584E3282BDAD}"/>
              </a:ext>
            </a:extLst>
          </p:cNvPr>
          <p:cNvPicPr>
            <a:picLocks noChangeAspect="1"/>
          </p:cNvPicPr>
          <p:nvPr/>
        </p:nvPicPr>
        <p:blipFill>
          <a:blip r:embed="rId2"/>
          <a:stretch>
            <a:fillRect/>
          </a:stretch>
        </p:blipFill>
        <p:spPr>
          <a:xfrm>
            <a:off x="919538" y="635898"/>
            <a:ext cx="3962400" cy="46609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7465EBED-3252-60E2-0049-DDE2B5DEC663}"/>
              </a:ext>
            </a:extLst>
          </p:cNvPr>
          <p:cNvPicPr>
            <a:picLocks noChangeAspect="1"/>
          </p:cNvPicPr>
          <p:nvPr/>
        </p:nvPicPr>
        <p:blipFill>
          <a:blip r:embed="rId3"/>
          <a:stretch>
            <a:fillRect/>
          </a:stretch>
        </p:blipFill>
        <p:spPr>
          <a:xfrm>
            <a:off x="5544264" y="2185298"/>
            <a:ext cx="4432300" cy="311150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62C60336-D3C8-CDAF-BBF7-1733331D99E5}"/>
              </a:ext>
            </a:extLst>
          </p:cNvPr>
          <p:cNvSpPr txBox="1"/>
          <p:nvPr/>
        </p:nvSpPr>
        <p:spPr>
          <a:xfrm>
            <a:off x="5381089" y="5605023"/>
            <a:ext cx="6097712" cy="646331"/>
          </a:xfrm>
          <a:prstGeom prst="rect">
            <a:avLst/>
          </a:prstGeom>
          <a:noFill/>
        </p:spPr>
        <p:txBody>
          <a:bodyPr wrap="square">
            <a:spAutoFit/>
          </a:bodyPr>
          <a:lstStyle/>
          <a:p>
            <a:pPr marL="285750" indent="-285750">
              <a:buFont typeface="Wingdings" pitchFamily="2" charset="2"/>
              <a:buChar char="v"/>
            </a:pPr>
            <a:r>
              <a:rPr lang="en-US" b="0" i="0" dirty="0">
                <a:effectLst/>
                <a:latin typeface="euclid_circular_a"/>
              </a:rPr>
              <a:t>Here, </a:t>
            </a:r>
            <a:r>
              <a:rPr lang="en-US" dirty="0">
                <a:solidFill>
                  <a:srgbClr val="7030A0"/>
                </a:solidFill>
              </a:rPr>
              <a:t>with...open</a:t>
            </a:r>
            <a:r>
              <a:rPr lang="en-US" b="0" i="0" dirty="0">
                <a:solidFill>
                  <a:srgbClr val="7030A0"/>
                </a:solidFill>
                <a:effectLst/>
                <a:latin typeface="euclid_circular_a"/>
              </a:rPr>
              <a:t> </a:t>
            </a:r>
            <a:r>
              <a:rPr lang="en-US" b="0" i="0" dirty="0">
                <a:effectLst/>
                <a:latin typeface="euclid_circular_a"/>
              </a:rPr>
              <a:t>automatically closes the file, so we </a:t>
            </a:r>
            <a:r>
              <a:rPr lang="en-US" b="0" i="0" dirty="0">
                <a:solidFill>
                  <a:srgbClr val="C00000"/>
                </a:solidFill>
                <a:effectLst/>
                <a:latin typeface="euclid_circular_a"/>
              </a:rPr>
              <a:t>don't have to</a:t>
            </a:r>
            <a:r>
              <a:rPr lang="en-US" b="0" i="0" dirty="0">
                <a:effectLst/>
                <a:latin typeface="euclid_circular_a"/>
              </a:rPr>
              <a:t> use the </a:t>
            </a:r>
            <a:r>
              <a:rPr lang="en-US" dirty="0">
                <a:solidFill>
                  <a:srgbClr val="7030A0"/>
                </a:solidFill>
              </a:rPr>
              <a:t>close()</a:t>
            </a:r>
            <a:r>
              <a:rPr lang="en-US" b="0" i="0" dirty="0">
                <a:solidFill>
                  <a:srgbClr val="7030A0"/>
                </a:solidFill>
                <a:effectLst/>
                <a:latin typeface="euclid_circular_a"/>
              </a:rPr>
              <a:t> </a:t>
            </a:r>
            <a:r>
              <a:rPr lang="en-US" b="0" i="0" dirty="0">
                <a:effectLst/>
                <a:latin typeface="euclid_circular_a"/>
              </a:rPr>
              <a:t>function.</a:t>
            </a:r>
            <a:endParaRPr lang="zh-CN" altLang="en-US" dirty="0"/>
          </a:p>
        </p:txBody>
      </p:sp>
    </p:spTree>
    <p:extLst>
      <p:ext uri="{BB962C8B-B14F-4D97-AF65-F5344CB8AC3E}">
        <p14:creationId xmlns:p14="http://schemas.microsoft.com/office/powerpoint/2010/main" val="311645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9</a:t>
            </a:r>
            <a:r>
              <a:rPr lang="en-US" altLang="zh-CN" b="1" dirty="0"/>
              <a:t>.2 txt</a:t>
            </a:r>
            <a:r>
              <a:rPr lang="zh-CN" altLang="en-US" b="1" dirty="0"/>
              <a:t>文件读写</a:t>
            </a:r>
            <a:endParaRPr lang="en-US" b="1" dirty="0"/>
          </a:p>
        </p:txBody>
      </p:sp>
    </p:spTree>
    <p:extLst>
      <p:ext uri="{BB962C8B-B14F-4D97-AF65-F5344CB8AC3E}">
        <p14:creationId xmlns:p14="http://schemas.microsoft.com/office/powerpoint/2010/main" val="208437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902649"/>
            <a:ext cx="10132819" cy="387496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dirty="0">
                <a:latin typeface="宋体" panose="02010600030101010101" pitchFamily="2" charset="-122"/>
                <a:ea typeface="宋体" panose="02010600030101010101" pitchFamily="2" charset="-122"/>
              </a:rPr>
              <a:t>    </a:t>
            </a:r>
            <a:r>
              <a:rPr lang="en-US" altLang="zh-CN" dirty="0"/>
              <a:t>txt</a:t>
            </a:r>
            <a:r>
              <a:rPr lang="zh-CN" altLang="en-US" dirty="0"/>
              <a:t>是一种最常见的文件格式，主要存储文本信息，即文字信息，大多使用记事本等程序保存，并且可通过大多数软件查看，包括记事本、浏览器等。</a:t>
            </a:r>
            <a:endParaRPr lang="en-US" altLang="zh-CN" dirty="0"/>
          </a:p>
          <a:p>
            <a:pPr marL="0" indent="0" algn="just">
              <a:lnSpc>
                <a:spcPct val="150000"/>
              </a:lnSpc>
              <a:spcBef>
                <a:spcPts val="0"/>
              </a:spcBef>
              <a:buNone/>
            </a:pPr>
            <a:r>
              <a:rPr lang="en-US" altLang="zh-CN" dirty="0"/>
              <a:t>    txt</a:t>
            </a:r>
            <a:r>
              <a:rPr lang="zh-CN" altLang="en-US" dirty="0"/>
              <a:t>格式具有三大优势：</a:t>
            </a:r>
            <a:endParaRPr lang="en-US" altLang="zh-CN" dirty="0"/>
          </a:p>
          <a:p>
            <a:pPr lvl="2" algn="just">
              <a:lnSpc>
                <a:spcPct val="150000"/>
              </a:lnSpc>
              <a:spcBef>
                <a:spcPts val="0"/>
              </a:spcBef>
            </a:pPr>
            <a:r>
              <a:rPr lang="zh-CN" altLang="en-US" sz="1800" dirty="0">
                <a:solidFill>
                  <a:srgbClr val="0432FF"/>
                </a:solidFill>
              </a:rPr>
              <a:t>体积小，存储简单方便；</a:t>
            </a:r>
            <a:endParaRPr lang="en-US" altLang="zh-CN" sz="1800" dirty="0">
              <a:solidFill>
                <a:srgbClr val="0432FF"/>
              </a:solidFill>
            </a:endParaRPr>
          </a:p>
          <a:p>
            <a:pPr lvl="2" algn="just">
              <a:lnSpc>
                <a:spcPct val="150000"/>
              </a:lnSpc>
              <a:spcBef>
                <a:spcPts val="0"/>
              </a:spcBef>
            </a:pPr>
            <a:r>
              <a:rPr lang="zh-CN" altLang="en-US" sz="1800" dirty="0">
                <a:solidFill>
                  <a:srgbClr val="0432FF"/>
                </a:solidFill>
              </a:rPr>
              <a:t>格式简单，不会中毒；</a:t>
            </a:r>
            <a:endParaRPr lang="en-US" altLang="zh-CN" sz="1800" dirty="0">
              <a:solidFill>
                <a:srgbClr val="0432FF"/>
              </a:solidFill>
            </a:endParaRPr>
          </a:p>
          <a:p>
            <a:pPr lvl="2" algn="just">
              <a:lnSpc>
                <a:spcPct val="150000"/>
              </a:lnSpc>
              <a:spcBef>
                <a:spcPts val="0"/>
              </a:spcBef>
            </a:pPr>
            <a:r>
              <a:rPr lang="zh-CN" altLang="en-US" sz="1800" dirty="0">
                <a:solidFill>
                  <a:srgbClr val="0432FF"/>
                </a:solidFill>
              </a:rPr>
              <a:t>在电脑和很多移动设备上通用。</a:t>
            </a:r>
            <a:endParaRPr lang="en-US" altLang="zh-CN" sz="1800" dirty="0">
              <a:solidFill>
                <a:srgbClr val="0432FF"/>
              </a:solidFill>
            </a:endParaRPr>
          </a:p>
          <a:p>
            <a:pPr marL="0" indent="0" algn="just">
              <a:lnSpc>
                <a:spcPct val="150000"/>
              </a:lnSpc>
              <a:spcBef>
                <a:spcPts val="0"/>
              </a:spcBef>
              <a:buNone/>
            </a:pPr>
            <a:r>
              <a:rPr lang="en-US" altLang="zh-CN" dirty="0"/>
              <a:t>    txt</a:t>
            </a:r>
            <a:r>
              <a:rPr lang="zh-CN" altLang="en-US" dirty="0"/>
              <a:t>格式同时也存在一些不足，例如不支持标签记录，只能支持纯文字，不支持图像等。</a:t>
            </a:r>
          </a:p>
          <a:p>
            <a:pPr marL="0" indent="0" algn="just">
              <a:lnSpc>
                <a:spcPct val="150000"/>
              </a:lnSpc>
              <a:spcBef>
                <a:spcPts val="0"/>
              </a:spcBef>
              <a:buNone/>
            </a:pPr>
            <a:r>
              <a:rPr lang="zh-CN" altLang="en-US" dirty="0"/>
              <a:t>    </a:t>
            </a:r>
            <a:r>
              <a:rPr lang="zh-CN" altLang="en-US" dirty="0">
                <a:solidFill>
                  <a:srgbClr val="FF0000"/>
                </a:solidFill>
              </a:rPr>
              <a:t>假设已打开一个</a:t>
            </a:r>
            <a:r>
              <a:rPr lang="en-US" altLang="zh-CN" dirty="0">
                <a:solidFill>
                  <a:srgbClr val="FF0000"/>
                </a:solidFill>
              </a:rPr>
              <a:t>txt</a:t>
            </a:r>
            <a:r>
              <a:rPr lang="zh-CN" altLang="en-US" dirty="0">
                <a:solidFill>
                  <a:srgbClr val="FF0000"/>
                </a:solidFill>
              </a:rPr>
              <a:t>文件，并创建了名为</a:t>
            </a:r>
            <a:r>
              <a:rPr lang="en-US" altLang="zh-CN" dirty="0">
                <a:solidFill>
                  <a:srgbClr val="FF0000"/>
                </a:solidFill>
              </a:rPr>
              <a:t>f</a:t>
            </a:r>
            <a:r>
              <a:rPr lang="zh-CN" altLang="en-US" dirty="0">
                <a:solidFill>
                  <a:srgbClr val="FF0000"/>
                </a:solidFill>
              </a:rPr>
              <a:t>的文件对象。</a:t>
            </a:r>
          </a:p>
          <a:p>
            <a:pPr marL="0" indent="0" algn="just">
              <a:lnSpc>
                <a:spcPct val="150000"/>
              </a:lnSpc>
              <a:buNone/>
            </a:pP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9.2 txt</a:t>
            </a:r>
            <a:r>
              <a:rPr lang="zh-CN" altLang="en-US" dirty="0"/>
              <a:t>文件读写</a:t>
            </a:r>
          </a:p>
        </p:txBody>
      </p:sp>
    </p:spTree>
    <p:extLst>
      <p:ext uri="{BB962C8B-B14F-4D97-AF65-F5344CB8AC3E}">
        <p14:creationId xmlns:p14="http://schemas.microsoft.com/office/powerpoint/2010/main" val="207346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t>1. txt</a:t>
            </a:r>
            <a:r>
              <a:rPr lang="zh-CN" altLang="en-US" sz="2200" dirty="0"/>
              <a:t>文件读取</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951118"/>
            <a:ext cx="9982200" cy="452653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dirty="0"/>
              <a:t>从</a:t>
            </a:r>
            <a:r>
              <a:rPr lang="en-US" altLang="zh-CN" dirty="0"/>
              <a:t>txt</a:t>
            </a:r>
            <a:r>
              <a:rPr lang="zh-CN" altLang="en-US" dirty="0"/>
              <a:t>文件中读取数据可调用三个函数，分别是</a:t>
            </a:r>
            <a:endParaRPr lang="en-US" altLang="zh-CN" dirty="0"/>
          </a:p>
          <a:p>
            <a:pPr lvl="2" algn="just">
              <a:lnSpc>
                <a:spcPct val="150000"/>
              </a:lnSpc>
              <a:spcBef>
                <a:spcPts val="0"/>
              </a:spcBef>
            </a:pPr>
            <a:r>
              <a:rPr lang="en-US" altLang="zh-CN" sz="1800" dirty="0" err="1">
                <a:solidFill>
                  <a:srgbClr val="FF0000"/>
                </a:solidFill>
              </a:rPr>
              <a:t>f.read</a:t>
            </a:r>
            <a:r>
              <a:rPr lang="en-US" altLang="zh-CN" sz="1800" dirty="0">
                <a:solidFill>
                  <a:srgbClr val="FF0000"/>
                </a:solidFill>
              </a:rPr>
              <a:t>(size=-1)</a:t>
            </a:r>
          </a:p>
          <a:p>
            <a:pPr lvl="2" algn="just">
              <a:lnSpc>
                <a:spcPct val="150000"/>
              </a:lnSpc>
              <a:spcBef>
                <a:spcPts val="0"/>
              </a:spcBef>
            </a:pPr>
            <a:r>
              <a:rPr lang="en-US" altLang="zh-CN" sz="1800" dirty="0" err="1">
                <a:solidFill>
                  <a:srgbClr val="FF0000"/>
                </a:solidFill>
              </a:rPr>
              <a:t>f.readline</a:t>
            </a:r>
            <a:r>
              <a:rPr lang="en-US" altLang="zh-CN" sz="1800" dirty="0">
                <a:solidFill>
                  <a:srgbClr val="FF0000"/>
                </a:solidFill>
              </a:rPr>
              <a:t>(size=-1)</a:t>
            </a:r>
          </a:p>
          <a:p>
            <a:pPr lvl="2" algn="just">
              <a:lnSpc>
                <a:spcPct val="150000"/>
              </a:lnSpc>
              <a:spcBef>
                <a:spcPts val="0"/>
              </a:spcBef>
            </a:pPr>
            <a:r>
              <a:rPr lang="en-US" altLang="zh-CN" sz="1800" dirty="0" err="1">
                <a:solidFill>
                  <a:srgbClr val="FF0000"/>
                </a:solidFill>
              </a:rPr>
              <a:t>f.readlines</a:t>
            </a:r>
            <a:r>
              <a:rPr lang="en-US" altLang="zh-CN" sz="1800" dirty="0">
                <a:solidFill>
                  <a:srgbClr val="FF0000"/>
                </a:solidFill>
              </a:rPr>
              <a:t>(hint=-1)[ ]</a:t>
            </a:r>
            <a:endParaRPr lang="zh-CN" altLang="en-US" dirty="0">
              <a:solidFill>
                <a:srgbClr val="FF0000"/>
              </a:solidFill>
            </a:endParaRPr>
          </a:p>
          <a:p>
            <a:pPr marL="914400" lvl="1" indent="-457200" algn="just">
              <a:lnSpc>
                <a:spcPct val="150000"/>
              </a:lnSpc>
              <a:spcBef>
                <a:spcPts val="0"/>
              </a:spcBef>
              <a:buFont typeface="+mj-ea"/>
              <a:buAutoNum type="circleNumDbPlain"/>
            </a:pPr>
            <a:r>
              <a:rPr lang="en-US" altLang="zh-CN" sz="2000" dirty="0" err="1"/>
              <a:t>f.read</a:t>
            </a:r>
            <a:r>
              <a:rPr lang="en-US" altLang="zh-CN" sz="2000" dirty="0"/>
              <a:t>(size=-1)</a:t>
            </a:r>
            <a:r>
              <a:rPr lang="zh-CN" altLang="en-US" sz="2000" dirty="0"/>
              <a:t>：从文件中读取</a:t>
            </a:r>
            <a:r>
              <a:rPr lang="en-US" altLang="zh-CN" sz="2000" dirty="0"/>
              <a:t>size</a:t>
            </a:r>
            <a:r>
              <a:rPr lang="zh-CN" altLang="en-US" sz="2000" dirty="0"/>
              <a:t>指定的字符数并将其作为字符串（文本模式下）或字节对象（二进制模式下）返回。</a:t>
            </a:r>
            <a:endParaRPr lang="en-US" altLang="zh-CN" sz="2000" dirty="0"/>
          </a:p>
          <a:p>
            <a:pPr lvl="2" algn="just">
              <a:lnSpc>
                <a:spcPct val="150000"/>
              </a:lnSpc>
              <a:spcBef>
                <a:spcPts val="0"/>
              </a:spcBef>
            </a:pPr>
            <a:r>
              <a:rPr lang="en-US" altLang="zh-CN" sz="1800" dirty="0"/>
              <a:t>size</a:t>
            </a:r>
            <a:r>
              <a:rPr lang="zh-CN" altLang="en-US" sz="1800" dirty="0"/>
              <a:t>是一个可选的数字参数，如果</a:t>
            </a:r>
            <a:r>
              <a:rPr lang="zh-CN" altLang="en-US" sz="1800" dirty="0">
                <a:solidFill>
                  <a:srgbClr val="FF0000"/>
                </a:solidFill>
              </a:rPr>
              <a:t>未给定</a:t>
            </a:r>
            <a:r>
              <a:rPr lang="en-US" altLang="zh-CN" sz="1800" dirty="0">
                <a:solidFill>
                  <a:srgbClr val="FF0000"/>
                </a:solidFill>
              </a:rPr>
              <a:t>size</a:t>
            </a:r>
            <a:r>
              <a:rPr lang="zh-CN" altLang="en-US" sz="1800" dirty="0">
                <a:solidFill>
                  <a:srgbClr val="0432FF"/>
                </a:solidFill>
              </a:rPr>
              <a:t>或</a:t>
            </a:r>
            <a:r>
              <a:rPr lang="en-US" altLang="zh-CN" sz="1800" dirty="0">
                <a:solidFill>
                  <a:srgbClr val="FF0000"/>
                </a:solidFill>
              </a:rPr>
              <a:t>size</a:t>
            </a:r>
            <a:r>
              <a:rPr lang="zh-CN" altLang="en-US" sz="1800" dirty="0">
                <a:solidFill>
                  <a:srgbClr val="FF0000"/>
                </a:solidFill>
              </a:rPr>
              <a:t>为负数，则读取并返回文件的</a:t>
            </a:r>
            <a:r>
              <a:rPr lang="zh-CN" altLang="en-US" sz="1800" dirty="0">
                <a:solidFill>
                  <a:srgbClr val="0432FF"/>
                </a:solidFill>
              </a:rPr>
              <a:t>全部内容</a:t>
            </a:r>
            <a:r>
              <a:rPr lang="zh-CN" altLang="en-US" sz="1800" dirty="0"/>
              <a:t>。</a:t>
            </a:r>
            <a:endParaRPr lang="en-US" altLang="zh-CN" sz="1800" dirty="0"/>
          </a:p>
          <a:p>
            <a:pPr lvl="2" algn="just">
              <a:lnSpc>
                <a:spcPct val="150000"/>
              </a:lnSpc>
              <a:spcBef>
                <a:spcPts val="0"/>
              </a:spcBef>
            </a:pPr>
            <a:r>
              <a:rPr lang="zh-CN" altLang="en-US" sz="1800" dirty="0"/>
              <a:t>如果已到达文件末尾，</a:t>
            </a:r>
            <a:r>
              <a:rPr lang="en-US" altLang="zh-CN" sz="1800" dirty="0" err="1"/>
              <a:t>f.read</a:t>
            </a:r>
            <a:r>
              <a:rPr lang="en-US" altLang="zh-CN" sz="1800" dirty="0"/>
              <a:t>()</a:t>
            </a:r>
            <a:r>
              <a:rPr lang="zh-CN" altLang="en-US" sz="1800" dirty="0"/>
              <a:t>将返回一个空字符串“”。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9.2.1 txt</a:t>
            </a:r>
            <a:r>
              <a:rPr lang="zh-CN" altLang="en-US" dirty="0">
                <a:solidFill>
                  <a:srgbClr val="002060"/>
                </a:solidFill>
                <a:latin typeface="Microsoft YaHei" panose="020B0503020204020204" pitchFamily="34" charset="-122"/>
                <a:ea typeface="Microsoft YaHei" panose="020B0503020204020204" pitchFamily="34" charset="-122"/>
              </a:rPr>
              <a:t>文件读取</a:t>
            </a:r>
          </a:p>
        </p:txBody>
      </p:sp>
      <p:pic>
        <p:nvPicPr>
          <p:cNvPr id="2" name="Picture 1">
            <a:extLst>
              <a:ext uri="{FF2B5EF4-FFF2-40B4-BE49-F238E27FC236}">
                <a16:creationId xmlns:a16="http://schemas.microsoft.com/office/drawing/2014/main" id="{6FA31C10-38EE-0F01-B12E-2F4A29FD00BD}"/>
              </a:ext>
            </a:extLst>
          </p:cNvPr>
          <p:cNvPicPr>
            <a:picLocks noChangeAspect="1"/>
          </p:cNvPicPr>
          <p:nvPr/>
        </p:nvPicPr>
        <p:blipFill>
          <a:blip r:embed="rId3"/>
          <a:stretch>
            <a:fillRect/>
          </a:stretch>
        </p:blipFill>
        <p:spPr>
          <a:xfrm>
            <a:off x="7090738" y="738883"/>
            <a:ext cx="4368800" cy="12319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FD34D2F5-F66F-31B4-6BA4-3847C3DFA8AF}"/>
              </a:ext>
            </a:extLst>
          </p:cNvPr>
          <p:cNvPicPr>
            <a:picLocks noChangeAspect="1"/>
          </p:cNvPicPr>
          <p:nvPr/>
        </p:nvPicPr>
        <p:blipFill>
          <a:blip r:embed="rId4"/>
          <a:stretch>
            <a:fillRect/>
          </a:stretch>
        </p:blipFill>
        <p:spPr>
          <a:xfrm>
            <a:off x="6930132" y="2338268"/>
            <a:ext cx="4965700" cy="1257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8799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484161"/>
            <a:ext cx="9982200" cy="452653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914400" lvl="1" indent="-457200" algn="just">
              <a:lnSpc>
                <a:spcPct val="150000"/>
              </a:lnSpc>
              <a:spcBef>
                <a:spcPts val="0"/>
              </a:spcBef>
              <a:buFont typeface="+mj-ea"/>
              <a:buAutoNum type="circleNumDbPlain" startAt="2"/>
            </a:pPr>
            <a:r>
              <a:rPr lang="en-US" altLang="zh-CN" sz="2000" dirty="0" err="1"/>
              <a:t>f.readline</a:t>
            </a:r>
            <a:r>
              <a:rPr lang="en-US" altLang="zh-CN" sz="2000" dirty="0"/>
              <a:t>()</a:t>
            </a:r>
            <a:r>
              <a:rPr lang="zh-CN" altLang="en-US" sz="2000" dirty="0"/>
              <a:t>：</a:t>
            </a:r>
            <a:r>
              <a:rPr lang="zh-CN" altLang="en-US" sz="2000" dirty="0">
                <a:solidFill>
                  <a:srgbClr val="0432FF"/>
                </a:solidFill>
              </a:rPr>
              <a:t>从文件中读取一行内容，返回的字符串末尾为换行符’</a:t>
            </a:r>
            <a:r>
              <a:rPr lang="en-US" altLang="zh-CN" sz="2000" dirty="0">
                <a:solidFill>
                  <a:srgbClr val="0432FF"/>
                </a:solidFill>
              </a:rPr>
              <a:t>\n’</a:t>
            </a:r>
            <a:r>
              <a:rPr lang="zh-CN" altLang="en-US" sz="2000" dirty="0">
                <a:solidFill>
                  <a:srgbClr val="0432FF"/>
                </a:solidFill>
              </a:rPr>
              <a:t>，</a:t>
            </a:r>
            <a:r>
              <a:rPr lang="zh-CN" altLang="en-US" sz="2000" dirty="0"/>
              <a:t>如果文件不以换行符结尾，则在文件的最后一行省略。空行用’</a:t>
            </a:r>
            <a:r>
              <a:rPr lang="en-US" altLang="zh-CN" sz="2000" dirty="0"/>
              <a:t>\n’</a:t>
            </a:r>
            <a:r>
              <a:rPr lang="zh-CN" altLang="en-US" sz="2000" dirty="0"/>
              <a:t>表示，该字符串只包含一个换行符。如果已到达文件末尾，</a:t>
            </a:r>
            <a:r>
              <a:rPr lang="en-US" altLang="zh-CN" sz="2000" dirty="0" err="1"/>
              <a:t>f.readline</a:t>
            </a:r>
            <a:r>
              <a:rPr lang="en-US" altLang="zh-CN" sz="2000" dirty="0"/>
              <a:t>()</a:t>
            </a:r>
            <a:r>
              <a:rPr lang="zh-CN" altLang="en-US" sz="2000" dirty="0"/>
              <a:t>将返回一个空字符串。</a:t>
            </a:r>
          </a:p>
          <a:p>
            <a:pPr marL="914400" lvl="1" indent="-457200" algn="just">
              <a:lnSpc>
                <a:spcPct val="150000"/>
              </a:lnSpc>
              <a:spcBef>
                <a:spcPts val="0"/>
              </a:spcBef>
              <a:buFont typeface="+mj-ea"/>
              <a:buAutoNum type="circleNumDbPlain" startAt="2"/>
            </a:pPr>
            <a:r>
              <a:rPr lang="en-US" altLang="zh-CN" sz="2000" dirty="0" err="1"/>
              <a:t>f.readlines</a:t>
            </a:r>
            <a:r>
              <a:rPr lang="en-US" altLang="zh-CN" sz="2000" dirty="0"/>
              <a:t>(hint=-1)</a:t>
            </a:r>
            <a:r>
              <a:rPr lang="zh-CN" altLang="en-US" sz="2000" dirty="0"/>
              <a:t>：</a:t>
            </a:r>
            <a:r>
              <a:rPr lang="zh-CN" altLang="en-US" sz="2000" dirty="0">
                <a:solidFill>
                  <a:srgbClr val="0432FF"/>
                </a:solidFill>
              </a:rPr>
              <a:t>从文件中读取</a:t>
            </a:r>
            <a:r>
              <a:rPr lang="en-US" altLang="zh-CN" sz="2000" dirty="0">
                <a:solidFill>
                  <a:srgbClr val="0432FF"/>
                </a:solidFill>
              </a:rPr>
              <a:t>hint</a:t>
            </a:r>
            <a:r>
              <a:rPr lang="zh-CN" altLang="en-US" sz="2000" dirty="0">
                <a:solidFill>
                  <a:srgbClr val="0432FF"/>
                </a:solidFill>
              </a:rPr>
              <a:t>指定的行数，</a:t>
            </a:r>
            <a:r>
              <a:rPr lang="zh-CN" altLang="en-US" sz="2000" dirty="0">
                <a:solidFill>
                  <a:srgbClr val="FF0000"/>
                </a:solidFill>
              </a:rPr>
              <a:t>如果未给定</a:t>
            </a:r>
            <a:r>
              <a:rPr lang="en-US" altLang="zh-CN" sz="2000" dirty="0">
                <a:solidFill>
                  <a:srgbClr val="FF0000"/>
                </a:solidFill>
              </a:rPr>
              <a:t>hint</a:t>
            </a:r>
            <a:r>
              <a:rPr lang="zh-CN" altLang="en-US" sz="2000" dirty="0">
                <a:solidFill>
                  <a:srgbClr val="FF0000"/>
                </a:solidFill>
              </a:rPr>
              <a:t>或</a:t>
            </a:r>
            <a:r>
              <a:rPr lang="en-US" altLang="zh-CN" sz="2000" dirty="0">
                <a:solidFill>
                  <a:srgbClr val="FF0000"/>
                </a:solidFill>
              </a:rPr>
              <a:t>hint</a:t>
            </a:r>
            <a:r>
              <a:rPr lang="zh-CN" altLang="en-US" sz="2000" dirty="0">
                <a:solidFill>
                  <a:srgbClr val="FF0000"/>
                </a:solidFill>
              </a:rPr>
              <a:t>为负数，则读取所有行内容</a:t>
            </a:r>
            <a:r>
              <a:rPr lang="zh-CN" altLang="en-US" sz="2000" dirty="0"/>
              <a:t>，并返回以每行内容为元素形成的一个列表。</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9.2.1 txt</a:t>
            </a:r>
            <a:r>
              <a:rPr lang="zh-CN" altLang="en-US" dirty="0">
                <a:solidFill>
                  <a:srgbClr val="002060"/>
                </a:solidFill>
                <a:latin typeface="Microsoft YaHei" panose="020B0503020204020204" pitchFamily="34" charset="-122"/>
                <a:ea typeface="Microsoft YaHei" panose="020B0503020204020204" pitchFamily="34" charset="-122"/>
              </a:rPr>
              <a:t>文件读取</a:t>
            </a:r>
          </a:p>
        </p:txBody>
      </p:sp>
      <p:pic>
        <p:nvPicPr>
          <p:cNvPr id="2" name="Picture 1">
            <a:extLst>
              <a:ext uri="{FF2B5EF4-FFF2-40B4-BE49-F238E27FC236}">
                <a16:creationId xmlns:a16="http://schemas.microsoft.com/office/drawing/2014/main" id="{7B829AD5-E4DA-AFB9-213C-BB9997CB4027}"/>
              </a:ext>
            </a:extLst>
          </p:cNvPr>
          <p:cNvPicPr>
            <a:picLocks noChangeAspect="1"/>
          </p:cNvPicPr>
          <p:nvPr/>
        </p:nvPicPr>
        <p:blipFill>
          <a:blip r:embed="rId3"/>
          <a:stretch>
            <a:fillRect/>
          </a:stretch>
        </p:blipFill>
        <p:spPr>
          <a:xfrm>
            <a:off x="346056" y="4058667"/>
            <a:ext cx="6426200" cy="20574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CF18DD48-8F7F-2131-2B68-CE23BFF5DA82}"/>
              </a:ext>
            </a:extLst>
          </p:cNvPr>
          <p:cNvPicPr>
            <a:picLocks noChangeAspect="1"/>
          </p:cNvPicPr>
          <p:nvPr/>
        </p:nvPicPr>
        <p:blipFill>
          <a:blip r:embed="rId4"/>
          <a:stretch>
            <a:fillRect/>
          </a:stretch>
        </p:blipFill>
        <p:spPr>
          <a:xfrm>
            <a:off x="4990326" y="4192017"/>
            <a:ext cx="3810000" cy="1790700"/>
          </a:xfrm>
          <a:prstGeom prst="rect">
            <a:avLst/>
          </a:prstGeom>
          <a:effectLst>
            <a:outerShdw blurRad="63500" sx="102000" sy="102000" algn="ctr" rotWithShape="0">
              <a:prstClr val="black">
                <a:alpha val="40000"/>
              </a:prstClr>
            </a:outerShdw>
          </a:effectLst>
        </p:spPr>
      </p:pic>
      <p:grpSp>
        <p:nvGrpSpPr>
          <p:cNvPr id="7" name="组合 6">
            <a:extLst>
              <a:ext uri="{FF2B5EF4-FFF2-40B4-BE49-F238E27FC236}">
                <a16:creationId xmlns:a16="http://schemas.microsoft.com/office/drawing/2014/main" id="{5EF707AF-6A43-43E0-8AD6-4EA5EBE17BC0}"/>
              </a:ext>
            </a:extLst>
          </p:cNvPr>
          <p:cNvGrpSpPr/>
          <p:nvPr/>
        </p:nvGrpSpPr>
        <p:grpSpPr>
          <a:xfrm>
            <a:off x="8388004" y="4806462"/>
            <a:ext cx="3710212" cy="1685177"/>
            <a:chOff x="7556303" y="3060441"/>
            <a:chExt cx="4144285" cy="2351314"/>
          </a:xfr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100000" t="100000"/>
            </a:path>
            <a:tileRect r="-100000" b="-100000"/>
          </a:gradFill>
        </p:grpSpPr>
        <p:sp>
          <p:nvSpPr>
            <p:cNvPr id="8" name="对话气泡: 椭圆形 7">
              <a:extLst>
                <a:ext uri="{FF2B5EF4-FFF2-40B4-BE49-F238E27FC236}">
                  <a16:creationId xmlns:a16="http://schemas.microsoft.com/office/drawing/2014/main" id="{686BA8C9-E66D-4847-994F-5431EC3198F2}"/>
                </a:ext>
              </a:extLst>
            </p:cNvPr>
            <p:cNvSpPr/>
            <p:nvPr/>
          </p:nvSpPr>
          <p:spPr>
            <a:xfrm>
              <a:off x="7556303" y="3060441"/>
              <a:ext cx="4144285" cy="2351314"/>
            </a:xfrm>
            <a:prstGeom prst="wedgeEllipseCallout">
              <a:avLst>
                <a:gd name="adj1" fmla="val -51418"/>
                <a:gd name="adj2" fmla="val -45286"/>
              </a:avLst>
            </a:prstGeom>
            <a:grp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0" name="文本框 9">
              <a:extLst>
                <a:ext uri="{FF2B5EF4-FFF2-40B4-BE49-F238E27FC236}">
                  <a16:creationId xmlns:a16="http://schemas.microsoft.com/office/drawing/2014/main" id="{D383BDD1-84D3-4488-A954-9189C8777791}"/>
                </a:ext>
              </a:extLst>
            </p:cNvPr>
            <p:cNvSpPr txBox="1"/>
            <p:nvPr/>
          </p:nvSpPr>
          <p:spPr>
            <a:xfrm>
              <a:off x="7827638" y="3641819"/>
              <a:ext cx="3601616" cy="1059841"/>
            </a:xfrm>
            <a:prstGeom prst="rect">
              <a:avLst/>
            </a:prstGeom>
            <a:grpFill/>
            <a:ln>
              <a:noFill/>
            </a:ln>
          </p:spPr>
          <p:txBody>
            <a:bodyPr wrap="square" rtlCol="0">
              <a:spAutoFit/>
            </a:bodyPr>
            <a:lstStyle/>
            <a:p>
              <a:pPr marL="0" lvl="1" algn="just"/>
              <a:r>
                <a:rPr lang="zh-CN" altLang="en-US" dirty="0"/>
                <a:t>另外，可以通过</a:t>
              </a:r>
              <a:r>
                <a:rPr lang="zh-CN" altLang="en-US" dirty="0">
                  <a:solidFill>
                    <a:srgbClr val="FF0000"/>
                  </a:solidFill>
                </a:rPr>
                <a:t>循环遍历文件对象来读取文件中的行</a:t>
              </a:r>
              <a:r>
                <a:rPr lang="zh-CN" altLang="en-US" dirty="0"/>
                <a:t>，这能够简化代码并且提高运行效率</a:t>
              </a:r>
              <a:endParaRPr lang="zh-CN" altLang="en-US" dirty="0">
                <a:solidFill>
                  <a:srgbClr val="FF0000"/>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341629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8406" y="1608649"/>
            <a:ext cx="9982200" cy="129826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00000"/>
              </a:lnSpc>
              <a:buNone/>
            </a:pPr>
            <a:r>
              <a:rPr lang="zh-CN" altLang="en-US" sz="1800" dirty="0">
                <a:latin typeface="宋体" panose="02010600030101010101" pitchFamily="2" charset="-122"/>
                <a:ea typeface="宋体" panose="02010600030101010101" pitchFamily="2" charset="-122"/>
              </a:rPr>
              <a:t>    </a:t>
            </a:r>
            <a:r>
              <a:rPr lang="zh-CN" altLang="en-US" sz="1800" dirty="0"/>
              <a:t>向文件中写入数据可以调用两个函数：</a:t>
            </a:r>
            <a:r>
              <a:rPr lang="en-US" altLang="zh-CN" sz="1800" dirty="0" err="1">
                <a:solidFill>
                  <a:srgbClr val="FF0000"/>
                </a:solidFill>
              </a:rPr>
              <a:t>f.write</a:t>
            </a:r>
            <a:r>
              <a:rPr lang="en-US" altLang="zh-CN" sz="1800" dirty="0">
                <a:solidFill>
                  <a:srgbClr val="FF0000"/>
                </a:solidFill>
              </a:rPr>
              <a:t>(string)</a:t>
            </a:r>
            <a:r>
              <a:rPr lang="zh-CN" altLang="en-US" sz="1800" dirty="0">
                <a:solidFill>
                  <a:srgbClr val="FF0000"/>
                </a:solidFill>
              </a:rPr>
              <a:t>和</a:t>
            </a:r>
            <a:r>
              <a:rPr lang="en-US" altLang="zh-CN" sz="1800" dirty="0" err="1">
                <a:solidFill>
                  <a:srgbClr val="FF0000"/>
                </a:solidFill>
              </a:rPr>
              <a:t>f.writelines</a:t>
            </a:r>
            <a:r>
              <a:rPr lang="en-US" altLang="zh-CN" sz="1800" dirty="0">
                <a:solidFill>
                  <a:srgbClr val="FF0000"/>
                </a:solidFill>
              </a:rPr>
              <a:t>(sequence)[ ]</a:t>
            </a:r>
            <a:r>
              <a:rPr lang="zh-CN" altLang="en-US" sz="1800" dirty="0"/>
              <a:t>。</a:t>
            </a:r>
          </a:p>
          <a:p>
            <a:pPr marL="457200" indent="-457200" algn="just">
              <a:lnSpc>
                <a:spcPct val="100000"/>
              </a:lnSpc>
              <a:buFont typeface="+mj-ea"/>
              <a:buAutoNum type="circleNumDbPlain"/>
            </a:pPr>
            <a:r>
              <a:rPr lang="en-US" altLang="zh-CN" sz="1800" dirty="0" err="1"/>
              <a:t>f.write</a:t>
            </a:r>
            <a:r>
              <a:rPr lang="en-US" altLang="zh-CN" sz="1800" dirty="0"/>
              <a:t>(string)</a:t>
            </a:r>
            <a:r>
              <a:rPr lang="zh-CN" altLang="en-US" sz="1800" dirty="0"/>
              <a:t>：</a:t>
            </a:r>
            <a:r>
              <a:rPr lang="zh-CN" altLang="en-US" sz="1800" dirty="0">
                <a:solidFill>
                  <a:srgbClr val="FF0000"/>
                </a:solidFill>
              </a:rPr>
              <a:t>向文件中写入</a:t>
            </a:r>
            <a:r>
              <a:rPr lang="en-US" altLang="zh-CN" sz="1800" dirty="0">
                <a:solidFill>
                  <a:srgbClr val="FF0000"/>
                </a:solidFill>
              </a:rPr>
              <a:t>string</a:t>
            </a:r>
            <a:r>
              <a:rPr lang="zh-CN" altLang="en-US" sz="1800" dirty="0">
                <a:solidFill>
                  <a:srgbClr val="FF0000"/>
                </a:solidFill>
              </a:rPr>
              <a:t>字符串，并返回写入的字符数，且不会自动在字符串末尾添加‘</a:t>
            </a:r>
            <a:r>
              <a:rPr lang="en-US" altLang="zh-CN" sz="1800" dirty="0">
                <a:solidFill>
                  <a:srgbClr val="FF0000"/>
                </a:solidFill>
              </a:rPr>
              <a:t>\n’</a:t>
            </a:r>
            <a:r>
              <a:rPr lang="zh-CN" altLang="en-US" sz="1800" dirty="0">
                <a:solidFill>
                  <a:srgbClr val="FF0000"/>
                </a:solidFill>
              </a:rPr>
              <a:t>换行字符</a:t>
            </a:r>
            <a:r>
              <a:rPr lang="zh-CN" altLang="en-US" sz="1800" dirty="0"/>
              <a:t>。例如：</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9.2.2 txt</a:t>
            </a:r>
            <a:r>
              <a:rPr lang="zh-CN" altLang="en-US" dirty="0">
                <a:solidFill>
                  <a:srgbClr val="002060"/>
                </a:solidFill>
                <a:latin typeface="Microsoft YaHei" panose="020B0503020204020204" pitchFamily="34" charset="-122"/>
                <a:ea typeface="Microsoft YaHei" panose="020B0503020204020204" pitchFamily="34" charset="-122"/>
              </a:rPr>
              <a:t>文件写入</a:t>
            </a:r>
          </a:p>
        </p:txBody>
      </p:sp>
      <p:graphicFrame>
        <p:nvGraphicFramePr>
          <p:cNvPr id="5" name="表格 5">
            <a:extLst>
              <a:ext uri="{FF2B5EF4-FFF2-40B4-BE49-F238E27FC236}">
                <a16:creationId xmlns:a16="http://schemas.microsoft.com/office/drawing/2014/main" id="{E6CDB800-41A4-4A02-B2E0-EB5CE892413B}"/>
              </a:ext>
            </a:extLst>
          </p:cNvPr>
          <p:cNvGraphicFramePr>
            <a:graphicFrameLocks noGrp="1"/>
          </p:cNvGraphicFramePr>
          <p:nvPr>
            <p:extLst>
              <p:ext uri="{D42A27DB-BD31-4B8C-83A1-F6EECF244321}">
                <p14:modId xmlns:p14="http://schemas.microsoft.com/office/powerpoint/2010/main" val="1343291123"/>
              </p:ext>
            </p:extLst>
          </p:nvPr>
        </p:nvGraphicFramePr>
        <p:xfrm>
          <a:off x="1261807" y="3263100"/>
          <a:ext cx="9668385" cy="518747"/>
        </p:xfrm>
        <a:graphic>
          <a:graphicData uri="http://schemas.openxmlformats.org/drawingml/2006/table">
            <a:tbl>
              <a:tblPr firstRow="1" bandRow="1">
                <a:tableStyleId>{5C22544A-7EE6-4342-B048-85BDC9FD1C3A}</a:tableStyleId>
              </a:tblPr>
              <a:tblGrid>
                <a:gridCol w="9668385">
                  <a:extLst>
                    <a:ext uri="{9D8B030D-6E8A-4147-A177-3AD203B41FA5}">
                      <a16:colId xmlns:a16="http://schemas.microsoft.com/office/drawing/2014/main" val="1478211251"/>
                    </a:ext>
                  </a:extLst>
                </a:gridCol>
              </a:tblGrid>
              <a:tr h="518747">
                <a:tc>
                  <a:txBody>
                    <a:bodyPr/>
                    <a:lstStyle/>
                    <a:p>
                      <a:r>
                        <a:rPr lang="en-US" altLang="zh-CN" sz="1600" b="1" kern="1200" dirty="0" err="1">
                          <a:solidFill>
                            <a:schemeClr val="lt1"/>
                          </a:solidFill>
                          <a:effectLst/>
                          <a:latin typeface="Consolas" panose="020B0609020204030204" pitchFamily="49" charset="0"/>
                          <a:ea typeface="+mn-ea"/>
                          <a:cs typeface="+mn-cs"/>
                        </a:rPr>
                        <a:t>f.write</a:t>
                      </a:r>
                      <a:r>
                        <a:rPr lang="en-US" altLang="zh-CN" sz="1600" b="1" kern="1200" dirty="0">
                          <a:solidFill>
                            <a:schemeClr val="lt1"/>
                          </a:solidFill>
                          <a:effectLst/>
                          <a:latin typeface="Consolas" panose="020B0609020204030204" pitchFamily="49" charset="0"/>
                          <a:ea typeface="+mn-ea"/>
                          <a:cs typeface="+mn-cs"/>
                        </a:rPr>
                        <a:t>(‘This is a test\n’)</a:t>
                      </a: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EB088A33-A224-45C0-B0F9-DE1CCB496792}"/>
              </a:ext>
            </a:extLst>
          </p:cNvPr>
          <p:cNvSpPr/>
          <p:nvPr/>
        </p:nvSpPr>
        <p:spPr>
          <a:xfrm>
            <a:off x="1261806" y="3809562"/>
            <a:ext cx="5849943" cy="390620"/>
          </a:xfrm>
          <a:prstGeom prst="rect">
            <a:avLst/>
          </a:prstGeom>
        </p:spPr>
        <p:txBody>
          <a:bodyPr wrap="square">
            <a:spAutoFit/>
          </a:bodyPr>
          <a:lstStyle/>
          <a:p>
            <a:pPr algn="just">
              <a:lnSpc>
                <a:spcPct val="115000"/>
              </a:lnSpc>
              <a:spcAft>
                <a:spcPts val="0"/>
              </a:spcAft>
            </a:pPr>
            <a:r>
              <a:rPr lang="en-US" altLang="zh-CN" kern="100" dirty="0">
                <a:latin typeface="Consolas" panose="020B0609020204030204" pitchFamily="49" charset="0"/>
                <a:ea typeface="宋体" panose="02010600030101010101" pitchFamily="2" charset="-122"/>
                <a:cs typeface="Times New Roman" panose="02020603050405020304" pitchFamily="18" charset="0"/>
              </a:rPr>
              <a:t>15</a:t>
            </a:r>
          </a:p>
        </p:txBody>
      </p:sp>
      <p:sp>
        <p:nvSpPr>
          <p:cNvPr id="7" name="Content Placeholder 13">
            <a:extLst>
              <a:ext uri="{FF2B5EF4-FFF2-40B4-BE49-F238E27FC236}">
                <a16:creationId xmlns:a16="http://schemas.microsoft.com/office/drawing/2014/main" id="{BC42F90F-25E7-462E-B940-B4A8A8F68941}"/>
              </a:ext>
            </a:extLst>
          </p:cNvPr>
          <p:cNvSpPr txBox="1">
            <a:spLocks/>
          </p:cNvSpPr>
          <p:nvPr/>
        </p:nvSpPr>
        <p:spPr>
          <a:xfrm>
            <a:off x="5080249" y="3907119"/>
            <a:ext cx="5849943" cy="76147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00000"/>
              </a:lnSpc>
              <a:buFont typeface="+mj-ea"/>
              <a:buAutoNum type="circleNumDbPlain" startAt="2"/>
            </a:pPr>
            <a:r>
              <a:rPr lang="en-US" altLang="zh-CN" sz="1800" dirty="0" err="1"/>
              <a:t>f.writelines</a:t>
            </a:r>
            <a:r>
              <a:rPr lang="en-US" altLang="zh-CN" sz="1800" dirty="0"/>
              <a:t>(sequence)</a:t>
            </a:r>
            <a:r>
              <a:rPr lang="zh-CN" altLang="en-US" sz="1800" dirty="0"/>
              <a:t>：</a:t>
            </a:r>
            <a:r>
              <a:rPr lang="zh-CN" altLang="en-US" sz="1800" dirty="0">
                <a:solidFill>
                  <a:srgbClr val="FF0000"/>
                </a:solidFill>
              </a:rPr>
              <a:t>向文件中写入</a:t>
            </a:r>
            <a:r>
              <a:rPr lang="en-US" altLang="zh-CN" sz="1800" dirty="0">
                <a:solidFill>
                  <a:srgbClr val="FF0000"/>
                </a:solidFill>
              </a:rPr>
              <a:t>sequence</a:t>
            </a:r>
            <a:r>
              <a:rPr lang="zh-CN" altLang="en-US" sz="1800" dirty="0">
                <a:solidFill>
                  <a:srgbClr val="FF0000"/>
                </a:solidFill>
              </a:rPr>
              <a:t>字符串列表，不会自动在字符串末尾添加‘</a:t>
            </a:r>
            <a:r>
              <a:rPr lang="en-US" altLang="zh-CN" sz="1800" dirty="0">
                <a:solidFill>
                  <a:srgbClr val="FF0000"/>
                </a:solidFill>
              </a:rPr>
              <a:t>\n’</a:t>
            </a:r>
            <a:r>
              <a:rPr lang="zh-CN" altLang="en-US" sz="1800" dirty="0">
                <a:solidFill>
                  <a:srgbClr val="FF0000"/>
                </a:solidFill>
              </a:rPr>
              <a:t>换行字符。</a:t>
            </a:r>
          </a:p>
        </p:txBody>
      </p:sp>
      <p:grpSp>
        <p:nvGrpSpPr>
          <p:cNvPr id="12" name="组合 11">
            <a:extLst>
              <a:ext uri="{FF2B5EF4-FFF2-40B4-BE49-F238E27FC236}">
                <a16:creationId xmlns:a16="http://schemas.microsoft.com/office/drawing/2014/main" id="{5FE6F79F-473E-48A0-AFF2-8570B894E7C2}"/>
              </a:ext>
            </a:extLst>
          </p:cNvPr>
          <p:cNvGrpSpPr/>
          <p:nvPr/>
        </p:nvGrpSpPr>
        <p:grpSpPr>
          <a:xfrm>
            <a:off x="892268" y="4494213"/>
            <a:ext cx="3759449" cy="2122057"/>
            <a:chOff x="7556303" y="3060441"/>
            <a:chExt cx="4144285" cy="2351314"/>
          </a:xfrm>
        </p:grpSpPr>
        <p:sp>
          <p:nvSpPr>
            <p:cNvPr id="13" name="对话气泡: 椭圆形 12">
              <a:extLst>
                <a:ext uri="{FF2B5EF4-FFF2-40B4-BE49-F238E27FC236}">
                  <a16:creationId xmlns:a16="http://schemas.microsoft.com/office/drawing/2014/main" id="{80BA6E0D-AA58-4558-903A-B25F03466C75}"/>
                </a:ext>
              </a:extLst>
            </p:cNvPr>
            <p:cNvSpPr/>
            <p:nvPr/>
          </p:nvSpPr>
          <p:spPr>
            <a:xfrm>
              <a:off x="7556303" y="3060441"/>
              <a:ext cx="4144285" cy="2351314"/>
            </a:xfrm>
            <a:prstGeom prst="wedgeEllipseCallout">
              <a:avLst>
                <a:gd name="adj1" fmla="val -32667"/>
                <a:gd name="adj2" fmla="val -62777"/>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4" name="文本框 13">
              <a:extLst>
                <a:ext uri="{FF2B5EF4-FFF2-40B4-BE49-F238E27FC236}">
                  <a16:creationId xmlns:a16="http://schemas.microsoft.com/office/drawing/2014/main" id="{EBAE852F-D021-47DF-8F93-D60B29873027}"/>
                </a:ext>
              </a:extLst>
            </p:cNvPr>
            <p:cNvSpPr txBox="1"/>
            <p:nvPr/>
          </p:nvSpPr>
          <p:spPr>
            <a:xfrm>
              <a:off x="7827637" y="3719129"/>
              <a:ext cx="3601616" cy="1059841"/>
            </a:xfrm>
            <a:prstGeom prst="rect">
              <a:avLst/>
            </a:prstGeom>
            <a:noFill/>
          </p:spPr>
          <p:txBody>
            <a:bodyPr wrap="square" rtlCol="0">
              <a:spAutoFit/>
            </a:bodyPr>
            <a:lstStyle/>
            <a:p>
              <a:r>
                <a:rPr lang="zh-CN" altLang="en-US" dirty="0"/>
                <a:t>当用户向文件中写入‘</a:t>
              </a:r>
              <a:r>
                <a:rPr lang="en-US" altLang="zh-CN" dirty="0"/>
                <a:t>This is a test\n’</a:t>
              </a:r>
              <a:r>
                <a:rPr lang="zh-CN" altLang="en-US" dirty="0"/>
                <a:t>时，程序运行成功后将</a:t>
              </a:r>
              <a:r>
                <a:rPr lang="zh-CN" altLang="en-US" dirty="0">
                  <a:solidFill>
                    <a:srgbClr val="FF0000"/>
                  </a:solidFill>
                </a:rPr>
                <a:t>返回字符串的长度</a:t>
              </a:r>
              <a:r>
                <a:rPr lang="en-US" altLang="zh-CN" dirty="0">
                  <a:solidFill>
                    <a:srgbClr val="FF0000"/>
                  </a:solidFill>
                </a:rPr>
                <a:t>15</a:t>
              </a:r>
              <a:r>
                <a:rPr lang="zh-CN" altLang="en-US" dirty="0"/>
                <a:t>。</a:t>
              </a:r>
            </a:p>
          </p:txBody>
        </p:sp>
      </p:grpSp>
      <p:pic>
        <p:nvPicPr>
          <p:cNvPr id="2" name="Picture 1">
            <a:extLst>
              <a:ext uri="{FF2B5EF4-FFF2-40B4-BE49-F238E27FC236}">
                <a16:creationId xmlns:a16="http://schemas.microsoft.com/office/drawing/2014/main" id="{3B713C4A-91B5-ED88-3F22-5AC965CF399E}"/>
              </a:ext>
            </a:extLst>
          </p:cNvPr>
          <p:cNvPicPr>
            <a:picLocks noChangeAspect="1"/>
          </p:cNvPicPr>
          <p:nvPr/>
        </p:nvPicPr>
        <p:blipFill>
          <a:blip r:embed="rId3"/>
          <a:stretch>
            <a:fillRect/>
          </a:stretch>
        </p:blipFill>
        <p:spPr>
          <a:xfrm>
            <a:off x="5329863" y="4859142"/>
            <a:ext cx="6223000" cy="1435100"/>
          </a:xfrm>
          <a:prstGeom prst="rect">
            <a:avLst/>
          </a:prstGeom>
        </p:spPr>
      </p:pic>
    </p:spTree>
    <p:extLst>
      <p:ext uri="{BB962C8B-B14F-4D97-AF65-F5344CB8AC3E}">
        <p14:creationId xmlns:p14="http://schemas.microsoft.com/office/powerpoint/2010/main" val="187621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3. </a:t>
            </a:r>
            <a:r>
              <a:rPr lang="zh-CN" altLang="en-US" sz="2200" dirty="0">
                <a:solidFill>
                  <a:srgbClr val="0432FF"/>
                </a:solidFill>
              </a:rPr>
              <a:t>使用指针随机读写</a:t>
            </a:r>
          </a:p>
          <a:p>
            <a:pPr marL="0" indent="0">
              <a:lnSpc>
                <a:spcPct val="100000"/>
              </a:lnSpc>
              <a:buNone/>
            </a:pPr>
            <a:endParaRPr lang="zh-CN" altLang="en-US" sz="2400" b="1" dirty="0">
              <a:solidFill>
                <a:srgbClr val="0432FF"/>
              </a:solidFill>
              <a:latin typeface="宋体" panose="02010600030101010101" pitchFamily="2" charset="-122"/>
              <a:ea typeface="宋体" panose="02010600030101010101" pitchFamily="2" charset="-122"/>
              <a:cs typeface="+mj-cs"/>
            </a:endParaRP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951117"/>
            <a:ext cx="9982200" cy="3982323"/>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在对文件进行读写操作时，文件对象的位置指针指向当前读写的位置，顺序读写一个字符后，该位置指针自动移动指向下一个字符。除顺序读写外，</a:t>
            </a:r>
            <a:r>
              <a:rPr lang="en-US" altLang="zh-CN" sz="1800" dirty="0">
                <a:solidFill>
                  <a:srgbClr val="FF0000"/>
                </a:solidFill>
              </a:rPr>
              <a:t>Python</a:t>
            </a:r>
            <a:r>
              <a:rPr lang="zh-CN" altLang="en-US" sz="1800" dirty="0">
                <a:solidFill>
                  <a:srgbClr val="FF0000"/>
                </a:solidFill>
              </a:rPr>
              <a:t>提供了</a:t>
            </a:r>
            <a:r>
              <a:rPr lang="en-US" altLang="zh-CN" sz="1800" dirty="0">
                <a:solidFill>
                  <a:srgbClr val="FF0000"/>
                </a:solidFill>
              </a:rPr>
              <a:t>seek</a:t>
            </a:r>
            <a:r>
              <a:rPr lang="zh-CN" altLang="en-US" sz="1800" dirty="0">
                <a:solidFill>
                  <a:srgbClr val="FF0000"/>
                </a:solidFill>
              </a:rPr>
              <a:t>函数改变位置指针的指向</a:t>
            </a:r>
            <a:r>
              <a:rPr lang="zh-CN" altLang="en-US" sz="1800" dirty="0"/>
              <a:t>，从而实现对文件的随机读写。另外，</a:t>
            </a:r>
            <a:r>
              <a:rPr lang="zh-CN" altLang="en-US" sz="1800" dirty="0">
                <a:solidFill>
                  <a:srgbClr val="FF0000"/>
                </a:solidFill>
              </a:rPr>
              <a:t>通过</a:t>
            </a:r>
            <a:r>
              <a:rPr lang="en-US" altLang="zh-CN" sz="1800" dirty="0">
                <a:solidFill>
                  <a:srgbClr val="FF0000"/>
                </a:solidFill>
              </a:rPr>
              <a:t>tell</a:t>
            </a:r>
            <a:r>
              <a:rPr lang="zh-CN" altLang="en-US" sz="1800" dirty="0">
                <a:solidFill>
                  <a:srgbClr val="FF0000"/>
                </a:solidFill>
              </a:rPr>
              <a:t>函数可以得知位置指针的当前位置</a:t>
            </a:r>
            <a:r>
              <a:rPr lang="zh-CN" altLang="en-US" sz="1800" dirty="0"/>
              <a:t>。</a:t>
            </a:r>
          </a:p>
          <a:p>
            <a:pPr marL="0" indent="0" algn="just">
              <a:lnSpc>
                <a:spcPct val="150000"/>
              </a:lnSpc>
              <a:spcBef>
                <a:spcPts val="0"/>
              </a:spcBef>
              <a:buNone/>
            </a:pPr>
            <a:r>
              <a:rPr lang="en-US" altLang="zh-CN" sz="1800" dirty="0"/>
              <a:t>    seek</a:t>
            </a:r>
            <a:r>
              <a:rPr lang="zh-CN" altLang="en-US" sz="1800" dirty="0"/>
              <a:t>函数的调用形式为：</a:t>
            </a:r>
            <a:endParaRPr lang="en-US" altLang="zh-CN" sz="1800" dirty="0"/>
          </a:p>
          <a:p>
            <a:pPr marL="0" indent="0" algn="just">
              <a:lnSpc>
                <a:spcPct val="150000"/>
              </a:lnSpc>
              <a:spcBef>
                <a:spcPts val="0"/>
              </a:spcBef>
              <a:buNone/>
            </a:pPr>
            <a:r>
              <a:rPr lang="en-US" altLang="zh-CN" sz="1800" b="1" dirty="0">
                <a:solidFill>
                  <a:srgbClr val="FF0000"/>
                </a:solidFill>
              </a:rPr>
              <a:t>    	</a:t>
            </a:r>
            <a:r>
              <a:rPr lang="en-US" altLang="zh-CN" sz="1800" b="1" dirty="0" err="1">
                <a:solidFill>
                  <a:srgbClr val="FF0000"/>
                </a:solidFill>
              </a:rPr>
              <a:t>f.seek</a:t>
            </a:r>
            <a:r>
              <a:rPr lang="en-US" altLang="zh-CN" sz="1800" b="1" dirty="0">
                <a:solidFill>
                  <a:srgbClr val="FF0000"/>
                </a:solidFill>
              </a:rPr>
              <a:t>(</a:t>
            </a:r>
            <a:r>
              <a:rPr lang="en-US" altLang="zh-CN" sz="1800" b="1" dirty="0" err="1">
                <a:solidFill>
                  <a:srgbClr val="FF0000"/>
                </a:solidFill>
              </a:rPr>
              <a:t>offset,startpoint</a:t>
            </a:r>
            <a:r>
              <a:rPr lang="en-US" altLang="zh-CN" sz="1800" b="1" dirty="0">
                <a:solidFill>
                  <a:srgbClr val="FF0000"/>
                </a:solidFill>
              </a:rPr>
              <a:t>=0)</a:t>
            </a:r>
          </a:p>
          <a:p>
            <a:pPr marL="0" indent="0" algn="just">
              <a:lnSpc>
                <a:spcPct val="150000"/>
              </a:lnSpc>
              <a:spcBef>
                <a:spcPts val="0"/>
              </a:spcBef>
              <a:buNone/>
            </a:pPr>
            <a:r>
              <a:rPr lang="zh-CN" altLang="en-US" sz="1800" dirty="0"/>
              <a:t>    通过向参考点</a:t>
            </a:r>
            <a:r>
              <a:rPr lang="en-US" altLang="zh-CN" sz="1800" dirty="0" err="1"/>
              <a:t>startpoint</a:t>
            </a:r>
            <a:r>
              <a:rPr lang="zh-CN" altLang="en-US" sz="1800" dirty="0"/>
              <a:t>添加偏移量</a:t>
            </a:r>
            <a:r>
              <a:rPr lang="en-US" altLang="zh-CN" sz="1800" dirty="0"/>
              <a:t>offset</a:t>
            </a:r>
            <a:r>
              <a:rPr lang="zh-CN" altLang="en-US" sz="1800" dirty="0"/>
              <a:t>来计算位置。其中，</a:t>
            </a:r>
            <a:r>
              <a:rPr lang="en-US" altLang="zh-CN" sz="1800" dirty="0" err="1"/>
              <a:t>startpoint</a:t>
            </a:r>
            <a:r>
              <a:rPr lang="zh-CN" altLang="en-US" sz="1800" dirty="0"/>
              <a:t>参数在</a:t>
            </a:r>
            <a:r>
              <a:rPr lang="en-US" altLang="zh-CN" sz="1800" dirty="0"/>
              <a:t>0,1,2</a:t>
            </a:r>
            <a:r>
              <a:rPr lang="zh-CN" altLang="en-US" sz="1800" dirty="0"/>
              <a:t>中取值，</a:t>
            </a:r>
            <a:r>
              <a:rPr lang="en-US" altLang="zh-CN" sz="1800" dirty="0"/>
              <a:t>0</a:t>
            </a:r>
            <a:r>
              <a:rPr lang="zh-CN" altLang="en-US" sz="1800" dirty="0"/>
              <a:t>表示文件开始，</a:t>
            </a:r>
            <a:r>
              <a:rPr lang="en-US" altLang="zh-CN" sz="1800" dirty="0"/>
              <a:t>1</a:t>
            </a:r>
            <a:r>
              <a:rPr lang="zh-CN" altLang="en-US" sz="1800" dirty="0"/>
              <a:t>表示当前位置，</a:t>
            </a:r>
            <a:r>
              <a:rPr lang="en-US" altLang="zh-CN" sz="1800" dirty="0"/>
              <a:t>2</a:t>
            </a:r>
            <a:r>
              <a:rPr lang="zh-CN" altLang="en-US" sz="1800" dirty="0"/>
              <a:t>表示文件末尾。</a:t>
            </a:r>
            <a:endParaRPr lang="en-US" altLang="zh-CN" sz="1800" dirty="0"/>
          </a:p>
          <a:p>
            <a:pPr lvl="1" algn="just">
              <a:lnSpc>
                <a:spcPct val="150000"/>
              </a:lnSpc>
              <a:spcBef>
                <a:spcPts val="0"/>
              </a:spcBef>
            </a:pPr>
            <a:r>
              <a:rPr lang="en-US" altLang="zh-CN" dirty="0" err="1"/>
              <a:t>startpoint</a:t>
            </a:r>
            <a:r>
              <a:rPr lang="zh-CN" altLang="en-US" dirty="0"/>
              <a:t>参数可缺省，默认值为</a:t>
            </a:r>
            <a:r>
              <a:rPr lang="en-US" altLang="zh-CN" dirty="0"/>
              <a:t>0</a:t>
            </a:r>
            <a:r>
              <a:rPr lang="zh-CN" altLang="en-US" dirty="0"/>
              <a:t>，</a:t>
            </a:r>
            <a:r>
              <a:rPr lang="zh-CN" altLang="en-US" dirty="0">
                <a:solidFill>
                  <a:srgbClr val="0432FF"/>
                </a:solidFill>
              </a:rPr>
              <a:t>即从文件开始进行读写</a:t>
            </a:r>
            <a:r>
              <a:rPr lang="zh-CN" altLang="en-US" dirty="0"/>
              <a:t>。</a:t>
            </a:r>
            <a:endParaRPr lang="en-US" altLang="zh-CN" dirty="0"/>
          </a:p>
          <a:p>
            <a:pPr lvl="1" algn="just">
              <a:lnSpc>
                <a:spcPct val="150000"/>
              </a:lnSpc>
              <a:spcBef>
                <a:spcPts val="0"/>
              </a:spcBef>
            </a:pPr>
            <a:r>
              <a:rPr lang="en-US" altLang="zh-CN" dirty="0"/>
              <a:t>offset</a:t>
            </a:r>
            <a:r>
              <a:rPr lang="zh-CN" altLang="en-US" dirty="0"/>
              <a:t>偏移量指以</a:t>
            </a:r>
            <a:r>
              <a:rPr lang="en-US" altLang="zh-CN" dirty="0" err="1"/>
              <a:t>startpoint</a:t>
            </a:r>
            <a:r>
              <a:rPr lang="zh-CN" altLang="en-US" dirty="0"/>
              <a:t>为基点，往后移动的字节数。</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9.2.3 txt</a:t>
            </a:r>
            <a:r>
              <a:rPr lang="zh-CN" altLang="en-US" dirty="0">
                <a:solidFill>
                  <a:srgbClr val="002060"/>
                </a:solidFill>
                <a:latin typeface="Microsoft YaHei" panose="020B0503020204020204" pitchFamily="34" charset="-122"/>
                <a:ea typeface="Microsoft YaHei" panose="020B0503020204020204" pitchFamily="34" charset="-122"/>
              </a:rPr>
              <a:t>文件随机读写</a:t>
            </a:r>
          </a:p>
        </p:txBody>
      </p:sp>
    </p:spTree>
    <p:extLst>
      <p:ext uri="{BB962C8B-B14F-4D97-AF65-F5344CB8AC3E}">
        <p14:creationId xmlns:p14="http://schemas.microsoft.com/office/powerpoint/2010/main" val="2792979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477165"/>
            <a:ext cx="9982200" cy="51082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t> seek</a:t>
            </a:r>
            <a:r>
              <a:rPr lang="zh-CN" altLang="en-US" sz="1800" dirty="0"/>
              <a:t>函数返回值为移动后位置指针的位置，用相对于文件开头的偏移量（单位是字节）来表示。</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9.2.3 txt</a:t>
            </a:r>
            <a:r>
              <a:rPr lang="zh-CN" altLang="en-US" dirty="0">
                <a:solidFill>
                  <a:srgbClr val="002060"/>
                </a:solidFill>
                <a:latin typeface="Microsoft YaHei" panose="020B0503020204020204" pitchFamily="34" charset="-122"/>
                <a:ea typeface="Microsoft YaHei" panose="020B0503020204020204" pitchFamily="34" charset="-122"/>
              </a:rPr>
              <a:t>文件随机读写</a:t>
            </a:r>
          </a:p>
        </p:txBody>
      </p:sp>
      <p:graphicFrame>
        <p:nvGraphicFramePr>
          <p:cNvPr id="8" name="表格 5">
            <a:extLst>
              <a:ext uri="{FF2B5EF4-FFF2-40B4-BE49-F238E27FC236}">
                <a16:creationId xmlns:a16="http://schemas.microsoft.com/office/drawing/2014/main" id="{6C3E17D3-54AD-4D33-AD2C-B47929794842}"/>
              </a:ext>
            </a:extLst>
          </p:cNvPr>
          <p:cNvGraphicFramePr>
            <a:graphicFrameLocks noGrp="1"/>
          </p:cNvGraphicFramePr>
          <p:nvPr>
            <p:extLst>
              <p:ext uri="{D42A27DB-BD31-4B8C-83A1-F6EECF244321}">
                <p14:modId xmlns:p14="http://schemas.microsoft.com/office/powerpoint/2010/main" val="2791262141"/>
              </p:ext>
            </p:extLst>
          </p:nvPr>
        </p:nvGraphicFramePr>
        <p:xfrm>
          <a:off x="1104141" y="2272576"/>
          <a:ext cx="9668385" cy="822960"/>
        </p:xfrm>
        <a:graphic>
          <a:graphicData uri="http://schemas.openxmlformats.org/drawingml/2006/table">
            <a:tbl>
              <a:tblPr firstRow="1" bandRow="1">
                <a:tableStyleId>{5C22544A-7EE6-4342-B048-85BDC9FD1C3A}</a:tableStyleId>
              </a:tblPr>
              <a:tblGrid>
                <a:gridCol w="9668385">
                  <a:extLst>
                    <a:ext uri="{9D8B030D-6E8A-4147-A177-3AD203B41FA5}">
                      <a16:colId xmlns:a16="http://schemas.microsoft.com/office/drawing/2014/main" val="1478211251"/>
                    </a:ext>
                  </a:extLst>
                </a:gridCol>
              </a:tblGrid>
              <a:tr h="615663">
                <a:tc>
                  <a:txBody>
                    <a:bodyPr/>
                    <a:lstStyle/>
                    <a:p>
                      <a:r>
                        <a:rPr lang="en-US" altLang="zh-CN" sz="1600" b="1" kern="1200" dirty="0">
                          <a:solidFill>
                            <a:schemeClr val="lt1"/>
                          </a:solidFill>
                          <a:effectLst/>
                          <a:latin typeface="Consolas" panose="020B0609020204030204" pitchFamily="49" charset="0"/>
                          <a:ea typeface="+mn-ea"/>
                          <a:cs typeface="+mn-cs"/>
                        </a:rPr>
                        <a:t>f = open(‘</a:t>
                      </a:r>
                      <a:r>
                        <a:rPr lang="en-US" altLang="zh-CN" sz="1600" b="1" kern="1200" dirty="0" err="1">
                          <a:solidFill>
                            <a:schemeClr val="lt1"/>
                          </a:solidFill>
                          <a:effectLst/>
                          <a:latin typeface="Consolas" panose="020B0609020204030204" pitchFamily="49" charset="0"/>
                          <a:ea typeface="+mn-ea"/>
                          <a:cs typeface="+mn-cs"/>
                        </a:rPr>
                        <a:t>workfile</a:t>
                      </a:r>
                      <a:r>
                        <a:rPr lang="en-US" altLang="zh-CN" sz="1600" b="1" kern="1200" dirty="0">
                          <a:solidFill>
                            <a:schemeClr val="lt1"/>
                          </a:solidFill>
                          <a:effectLst/>
                          <a:latin typeface="Consolas" panose="020B0609020204030204" pitchFamily="49" charset="0"/>
                          <a:ea typeface="+mn-ea"/>
                          <a:cs typeface="+mn-cs"/>
                        </a:rPr>
                        <a:t>’, ‘</a:t>
                      </a:r>
                      <a:r>
                        <a:rPr lang="en-US" altLang="zh-CN" sz="1600" b="1" kern="1200" dirty="0" err="1">
                          <a:solidFill>
                            <a:schemeClr val="lt1"/>
                          </a:solidFill>
                          <a:effectLst/>
                          <a:latin typeface="Consolas" panose="020B0609020204030204" pitchFamily="49" charset="0"/>
                          <a:ea typeface="+mn-ea"/>
                          <a:cs typeface="+mn-cs"/>
                        </a:rPr>
                        <a:t>rb</a:t>
                      </a:r>
                      <a:r>
                        <a:rPr lang="en-US" altLang="zh-CN" sz="1600" b="1" kern="1200" dirty="0">
                          <a:solidFill>
                            <a:schemeClr val="lt1"/>
                          </a:solidFill>
                          <a:effectLst/>
                          <a:latin typeface="Consolas" panose="020B0609020204030204" pitchFamily="49" charset="0"/>
                          <a:ea typeface="+mn-ea"/>
                          <a:cs typeface="+mn-cs"/>
                        </a:rPr>
                        <a:t>+’)   #</a:t>
                      </a:r>
                      <a:r>
                        <a:rPr lang="zh-CN" altLang="en-US" sz="1600" b="1" kern="1200" dirty="0">
                          <a:solidFill>
                            <a:schemeClr val="lt1"/>
                          </a:solidFill>
                          <a:effectLst/>
                          <a:latin typeface="Consolas" panose="020B0609020204030204" pitchFamily="49" charset="0"/>
                          <a:ea typeface="+mn-ea"/>
                          <a:cs typeface="+mn-cs"/>
                        </a:rPr>
                        <a:t>二进制读写模式打开文件</a:t>
                      </a:r>
                    </a:p>
                    <a:p>
                      <a:r>
                        <a:rPr lang="en-US" altLang="zh-CN" sz="1600" b="1" kern="1200" dirty="0" err="1">
                          <a:solidFill>
                            <a:schemeClr val="lt1"/>
                          </a:solidFill>
                          <a:effectLst/>
                          <a:latin typeface="Consolas" panose="020B0609020204030204" pitchFamily="49" charset="0"/>
                          <a:ea typeface="+mn-ea"/>
                          <a:cs typeface="+mn-cs"/>
                        </a:rPr>
                        <a:t>f.write</a:t>
                      </a:r>
                      <a:r>
                        <a:rPr lang="en-US" altLang="zh-CN" sz="1600" b="1" kern="1200" dirty="0">
                          <a:solidFill>
                            <a:schemeClr val="lt1"/>
                          </a:solidFill>
                          <a:effectLst/>
                          <a:latin typeface="Consolas" panose="020B0609020204030204" pitchFamily="49" charset="0"/>
                          <a:ea typeface="+mn-ea"/>
                          <a:cs typeface="+mn-cs"/>
                        </a:rPr>
                        <a:t>(b’0123456789abcdef’)</a:t>
                      </a:r>
                    </a:p>
                    <a:p>
                      <a:r>
                        <a:rPr lang="en-US" altLang="zh-CN" sz="1600" b="1" kern="1200" dirty="0" err="1">
                          <a:solidFill>
                            <a:schemeClr val="lt1"/>
                          </a:solidFill>
                          <a:effectLst/>
                          <a:latin typeface="Consolas" panose="020B0609020204030204" pitchFamily="49" charset="0"/>
                          <a:ea typeface="+mn-ea"/>
                          <a:cs typeface="+mn-cs"/>
                        </a:rPr>
                        <a:t>f.seek</a:t>
                      </a:r>
                      <a:r>
                        <a:rPr lang="en-US" altLang="zh-CN" sz="1600" b="1" kern="1200" dirty="0">
                          <a:solidFill>
                            <a:schemeClr val="lt1"/>
                          </a:solidFill>
                          <a:effectLst/>
                          <a:latin typeface="Consolas" panose="020B0609020204030204" pitchFamily="49" charset="0"/>
                          <a:ea typeface="+mn-ea"/>
                          <a:cs typeface="+mn-cs"/>
                        </a:rPr>
                        <a:t>(5)</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B3B737A1-30CC-492B-BA81-030A45123E96}"/>
              </a:ext>
            </a:extLst>
          </p:cNvPr>
          <p:cNvSpPr/>
          <p:nvPr/>
        </p:nvSpPr>
        <p:spPr>
          <a:xfrm>
            <a:off x="1104141" y="3045725"/>
            <a:ext cx="5849943" cy="709168"/>
          </a:xfrm>
          <a:prstGeom prst="rect">
            <a:avLst/>
          </a:prstGeom>
        </p:spPr>
        <p:txBody>
          <a:bodyPr wrap="square">
            <a:spAutoFit/>
          </a:bodyPr>
          <a:lstStyle/>
          <a:p>
            <a:pPr algn="just">
              <a:lnSpc>
                <a:spcPct val="115000"/>
              </a:lnSpc>
              <a:spcAft>
                <a:spcPts val="0"/>
              </a:spcAft>
            </a:pPr>
            <a:r>
              <a:rPr lang="en-US" altLang="zh-CN" kern="100" dirty="0">
                <a:latin typeface="Consolas" panose="020B0609020204030204" pitchFamily="49" charset="0"/>
                <a:ea typeface="宋体" panose="02010600030101010101" pitchFamily="2" charset="-122"/>
                <a:cs typeface="Times New Roman" panose="02020603050405020304" pitchFamily="18" charset="0"/>
              </a:rPr>
              <a:t>16</a:t>
            </a:r>
          </a:p>
          <a:p>
            <a:pPr algn="just">
              <a:lnSpc>
                <a:spcPct val="115000"/>
              </a:lnSpc>
              <a:spcAft>
                <a:spcPts val="0"/>
              </a:spcAft>
            </a:pPr>
            <a:r>
              <a:rPr lang="en-US" altLang="zh-CN" kern="100" dirty="0">
                <a:latin typeface="Consolas" panose="020B0609020204030204" pitchFamily="49" charset="0"/>
                <a:ea typeface="宋体" panose="02010600030101010101" pitchFamily="2" charset="-122"/>
                <a:cs typeface="Times New Roman" panose="02020603050405020304" pitchFamily="18" charset="0"/>
              </a:rPr>
              <a:t>5</a:t>
            </a:r>
          </a:p>
        </p:txBody>
      </p:sp>
      <p:sp>
        <p:nvSpPr>
          <p:cNvPr id="13" name="对话气泡: 椭圆形 12">
            <a:extLst>
              <a:ext uri="{FF2B5EF4-FFF2-40B4-BE49-F238E27FC236}">
                <a16:creationId xmlns:a16="http://schemas.microsoft.com/office/drawing/2014/main" id="{780EB00B-B297-4A5A-8248-63D6F6F6F39C}"/>
              </a:ext>
            </a:extLst>
          </p:cNvPr>
          <p:cNvSpPr/>
          <p:nvPr/>
        </p:nvSpPr>
        <p:spPr>
          <a:xfrm>
            <a:off x="7666102" y="3153899"/>
            <a:ext cx="4498668" cy="2461456"/>
          </a:xfrm>
          <a:prstGeom prst="wedgeEllipseCallout">
            <a:avLst>
              <a:gd name="adj1" fmla="val -90039"/>
              <a:gd name="adj2" fmla="val -68294"/>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4" name="文本框 13">
            <a:extLst>
              <a:ext uri="{FF2B5EF4-FFF2-40B4-BE49-F238E27FC236}">
                <a16:creationId xmlns:a16="http://schemas.microsoft.com/office/drawing/2014/main" id="{AB69B40B-41CC-4F0D-8E2B-06A8D6DBD7E9}"/>
              </a:ext>
            </a:extLst>
          </p:cNvPr>
          <p:cNvSpPr txBox="1"/>
          <p:nvPr/>
        </p:nvSpPr>
        <p:spPr>
          <a:xfrm>
            <a:off x="8113525" y="3483618"/>
            <a:ext cx="3603822" cy="1668855"/>
          </a:xfrm>
          <a:prstGeom prst="rect">
            <a:avLst/>
          </a:prstGeom>
          <a:noFill/>
        </p:spPr>
        <p:txBody>
          <a:bodyPr wrap="square" rtlCol="0">
            <a:spAutoFit/>
          </a:bodyPr>
          <a:lstStyle/>
          <a:p>
            <a:pPr algn="just">
              <a:lnSpc>
                <a:spcPct val="150000"/>
              </a:lnSpc>
            </a:pPr>
            <a:r>
              <a:rPr lang="zh-CN" altLang="zh-CN" sz="1400" dirty="0">
                <a:solidFill>
                  <a:srgbClr val="FF0000"/>
                </a:solidFill>
              </a:rPr>
              <a:t>首先使用</a:t>
            </a:r>
            <a:r>
              <a:rPr lang="en-US" altLang="zh-CN" sz="1400" dirty="0">
                <a:solidFill>
                  <a:srgbClr val="FF0000"/>
                </a:solidFill>
              </a:rPr>
              <a:t>write</a:t>
            </a:r>
            <a:r>
              <a:rPr lang="zh-CN" altLang="zh-CN" sz="1400" dirty="0">
                <a:solidFill>
                  <a:srgbClr val="FF0000"/>
                </a:solidFill>
              </a:rPr>
              <a:t>将字符串写入文件</a:t>
            </a:r>
            <a:r>
              <a:rPr lang="zh-CN" altLang="zh-CN" sz="1400" dirty="0"/>
              <a:t>当中，运行结果返回字符串的总长度。</a:t>
            </a:r>
          </a:p>
          <a:p>
            <a:pPr algn="just">
              <a:lnSpc>
                <a:spcPct val="150000"/>
              </a:lnSpc>
            </a:pPr>
            <a:r>
              <a:rPr lang="zh-CN" altLang="en-US" sz="1400" dirty="0"/>
              <a:t>上面的代码中</a:t>
            </a:r>
            <a:r>
              <a:rPr lang="en-US" altLang="zh-CN" sz="1400" dirty="0" err="1"/>
              <a:t>startpoint</a:t>
            </a:r>
            <a:r>
              <a:rPr lang="zh-CN" altLang="en-US" sz="1400" dirty="0"/>
              <a:t>值缺省，默认为</a:t>
            </a:r>
            <a:r>
              <a:rPr lang="en-US" altLang="zh-CN" sz="1400" dirty="0"/>
              <a:t>0</a:t>
            </a:r>
            <a:r>
              <a:rPr lang="zh-CN" altLang="en-US" sz="1400" dirty="0"/>
              <a:t>，表示从文件开头位置开始，</a:t>
            </a:r>
            <a:r>
              <a:rPr lang="zh-CN" altLang="en-US" sz="1400" dirty="0">
                <a:solidFill>
                  <a:srgbClr val="FF0000"/>
                </a:solidFill>
              </a:rPr>
              <a:t>偏移量为</a:t>
            </a:r>
            <a:r>
              <a:rPr lang="en-US" altLang="zh-CN" sz="1400" dirty="0">
                <a:solidFill>
                  <a:srgbClr val="FF0000"/>
                </a:solidFill>
              </a:rPr>
              <a:t>5</a:t>
            </a:r>
            <a:r>
              <a:rPr lang="zh-CN" altLang="en-US" sz="1400" dirty="0">
                <a:solidFill>
                  <a:srgbClr val="FF0000"/>
                </a:solidFill>
              </a:rPr>
              <a:t>，因此索引为</a:t>
            </a:r>
            <a:r>
              <a:rPr lang="en-US" altLang="zh-CN" sz="1400" dirty="0">
                <a:solidFill>
                  <a:srgbClr val="FF0000"/>
                </a:solidFill>
              </a:rPr>
              <a:t>5</a:t>
            </a:r>
            <a:r>
              <a:rPr lang="zh-CN" altLang="en-US" sz="1400" dirty="0">
                <a:solidFill>
                  <a:srgbClr val="FF0000"/>
                </a:solidFill>
              </a:rPr>
              <a:t>的运行结果为指针指向第</a:t>
            </a:r>
            <a:r>
              <a:rPr lang="en-US" altLang="zh-CN" sz="1400" dirty="0">
                <a:solidFill>
                  <a:srgbClr val="FF0000"/>
                </a:solidFill>
              </a:rPr>
              <a:t>5</a:t>
            </a:r>
            <a:r>
              <a:rPr lang="zh-CN" altLang="en-US" sz="1400" dirty="0">
                <a:solidFill>
                  <a:srgbClr val="FF0000"/>
                </a:solidFill>
              </a:rPr>
              <a:t>个位置</a:t>
            </a:r>
            <a:r>
              <a:rPr lang="zh-CN" altLang="en-US" sz="1400" dirty="0"/>
              <a:t>。</a:t>
            </a:r>
          </a:p>
        </p:txBody>
      </p:sp>
      <p:pic>
        <p:nvPicPr>
          <p:cNvPr id="2" name="Picture 1">
            <a:extLst>
              <a:ext uri="{FF2B5EF4-FFF2-40B4-BE49-F238E27FC236}">
                <a16:creationId xmlns:a16="http://schemas.microsoft.com/office/drawing/2014/main" id="{2E6ED564-5D83-B204-02DE-86F4D79129C1}"/>
              </a:ext>
            </a:extLst>
          </p:cNvPr>
          <p:cNvPicPr>
            <a:picLocks noChangeAspect="1"/>
          </p:cNvPicPr>
          <p:nvPr/>
        </p:nvPicPr>
        <p:blipFill>
          <a:blip r:embed="rId3"/>
          <a:stretch>
            <a:fillRect/>
          </a:stretch>
        </p:blipFill>
        <p:spPr>
          <a:xfrm>
            <a:off x="1719199" y="3380127"/>
            <a:ext cx="5613400" cy="3111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96854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9.2.3 txt</a:t>
            </a:r>
            <a:r>
              <a:rPr lang="zh-CN" altLang="en-US" dirty="0">
                <a:solidFill>
                  <a:srgbClr val="002060"/>
                </a:solidFill>
                <a:latin typeface="Microsoft YaHei" panose="020B0503020204020204" pitchFamily="34" charset="-122"/>
                <a:ea typeface="Microsoft YaHei" panose="020B0503020204020204" pitchFamily="34" charset="-122"/>
              </a:rPr>
              <a:t>文件随机读写</a:t>
            </a:r>
          </a:p>
        </p:txBody>
      </p:sp>
      <p:graphicFrame>
        <p:nvGraphicFramePr>
          <p:cNvPr id="8" name="表格 5">
            <a:extLst>
              <a:ext uri="{FF2B5EF4-FFF2-40B4-BE49-F238E27FC236}">
                <a16:creationId xmlns:a16="http://schemas.microsoft.com/office/drawing/2014/main" id="{6C3E17D3-54AD-4D33-AD2C-B47929794842}"/>
              </a:ext>
            </a:extLst>
          </p:cNvPr>
          <p:cNvGraphicFramePr>
            <a:graphicFrameLocks noGrp="1"/>
          </p:cNvGraphicFramePr>
          <p:nvPr>
            <p:extLst>
              <p:ext uri="{D42A27DB-BD31-4B8C-83A1-F6EECF244321}">
                <p14:modId xmlns:p14="http://schemas.microsoft.com/office/powerpoint/2010/main" val="1628589088"/>
              </p:ext>
            </p:extLst>
          </p:nvPr>
        </p:nvGraphicFramePr>
        <p:xfrm>
          <a:off x="997815" y="2469346"/>
          <a:ext cx="2761246" cy="518747"/>
        </p:xfrm>
        <a:graphic>
          <a:graphicData uri="http://schemas.openxmlformats.org/drawingml/2006/table">
            <a:tbl>
              <a:tblPr firstRow="1" bandRow="1">
                <a:tableStyleId>{5C22544A-7EE6-4342-B048-85BDC9FD1C3A}</a:tableStyleId>
              </a:tblPr>
              <a:tblGrid>
                <a:gridCol w="2761246">
                  <a:extLst>
                    <a:ext uri="{9D8B030D-6E8A-4147-A177-3AD203B41FA5}">
                      <a16:colId xmlns:a16="http://schemas.microsoft.com/office/drawing/2014/main" val="1478211251"/>
                    </a:ext>
                  </a:extLst>
                </a:gridCol>
              </a:tblGrid>
              <a:tr h="518747">
                <a:tc>
                  <a:txBody>
                    <a:bodyPr/>
                    <a:lstStyle/>
                    <a:p>
                      <a:r>
                        <a:rPr lang="en-US" altLang="zh-CN" sz="1600" b="1" kern="1200" dirty="0" err="1">
                          <a:solidFill>
                            <a:schemeClr val="lt1"/>
                          </a:solidFill>
                          <a:effectLst/>
                          <a:latin typeface="Consolas" panose="020B0609020204030204" pitchFamily="49" charset="0"/>
                          <a:ea typeface="+mn-ea"/>
                          <a:cs typeface="+mn-cs"/>
                        </a:rPr>
                        <a:t>f.read</a:t>
                      </a:r>
                      <a:r>
                        <a:rPr lang="en-US" altLang="zh-CN" sz="1600" b="1" kern="1200" dirty="0">
                          <a:solidFill>
                            <a:schemeClr val="lt1"/>
                          </a:solidFill>
                          <a:effectLst/>
                          <a:latin typeface="Consolas" panose="020B0609020204030204" pitchFamily="49" charset="0"/>
                          <a:ea typeface="+mn-ea"/>
                          <a:cs typeface="+mn-cs"/>
                        </a:rPr>
                        <a:t>(1)</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B3B737A1-30CC-492B-BA81-030A45123E96}"/>
              </a:ext>
            </a:extLst>
          </p:cNvPr>
          <p:cNvSpPr/>
          <p:nvPr/>
        </p:nvSpPr>
        <p:spPr>
          <a:xfrm>
            <a:off x="976757" y="3107132"/>
            <a:ext cx="1786960" cy="357470"/>
          </a:xfrm>
          <a:prstGeom prst="rect">
            <a:avLst/>
          </a:prstGeom>
        </p:spPr>
        <p:txBody>
          <a:bodyPr wrap="square">
            <a:spAutoFit/>
          </a:bodyPr>
          <a:lstStyle/>
          <a:p>
            <a:pPr algn="just">
              <a:lnSpc>
                <a:spcPct val="115000"/>
              </a:lnSpc>
              <a:spcAft>
                <a:spcPts val="0"/>
              </a:spcAft>
            </a:pP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b’5’</a:t>
            </a:r>
          </a:p>
        </p:txBody>
      </p:sp>
      <p:graphicFrame>
        <p:nvGraphicFramePr>
          <p:cNvPr id="12" name="表格 5">
            <a:extLst>
              <a:ext uri="{FF2B5EF4-FFF2-40B4-BE49-F238E27FC236}">
                <a16:creationId xmlns:a16="http://schemas.microsoft.com/office/drawing/2014/main" id="{8D48B116-047A-4A6C-92B4-C4409A6B63F1}"/>
              </a:ext>
            </a:extLst>
          </p:cNvPr>
          <p:cNvGraphicFramePr>
            <a:graphicFrameLocks noGrp="1"/>
          </p:cNvGraphicFramePr>
          <p:nvPr>
            <p:extLst>
              <p:ext uri="{D42A27DB-BD31-4B8C-83A1-F6EECF244321}">
                <p14:modId xmlns:p14="http://schemas.microsoft.com/office/powerpoint/2010/main" val="1615681544"/>
              </p:ext>
            </p:extLst>
          </p:nvPr>
        </p:nvGraphicFramePr>
        <p:xfrm>
          <a:off x="3984876" y="2472287"/>
          <a:ext cx="3612173" cy="579120"/>
        </p:xfrm>
        <a:graphic>
          <a:graphicData uri="http://schemas.openxmlformats.org/drawingml/2006/table">
            <a:tbl>
              <a:tblPr firstRow="1" bandRow="1">
                <a:tableStyleId>{5C22544A-7EE6-4342-B048-85BDC9FD1C3A}</a:tableStyleId>
              </a:tblPr>
              <a:tblGrid>
                <a:gridCol w="3612173">
                  <a:extLst>
                    <a:ext uri="{9D8B030D-6E8A-4147-A177-3AD203B41FA5}">
                      <a16:colId xmlns:a16="http://schemas.microsoft.com/office/drawing/2014/main" val="1478211251"/>
                    </a:ext>
                  </a:extLst>
                </a:gridCol>
              </a:tblGrid>
              <a:tr h="518747">
                <a:tc>
                  <a:txBody>
                    <a:bodyPr/>
                    <a:lstStyle/>
                    <a:p>
                      <a:r>
                        <a:rPr lang="en-US" altLang="zh-CN" sz="1600" b="1" kern="1200" dirty="0" err="1">
                          <a:solidFill>
                            <a:schemeClr val="lt1"/>
                          </a:solidFill>
                          <a:effectLst/>
                          <a:latin typeface="Consolas" panose="020B0609020204030204" pitchFamily="49" charset="0"/>
                          <a:ea typeface="+mn-ea"/>
                          <a:cs typeface="+mn-cs"/>
                        </a:rPr>
                        <a:t>f.seek</a:t>
                      </a:r>
                      <a:r>
                        <a:rPr lang="en-US" altLang="zh-CN" sz="1600" b="1" kern="1200" dirty="0">
                          <a:solidFill>
                            <a:schemeClr val="lt1"/>
                          </a:solidFill>
                          <a:effectLst/>
                          <a:latin typeface="Consolas" panose="020B0609020204030204" pitchFamily="49" charset="0"/>
                          <a:ea typeface="+mn-ea"/>
                          <a:cs typeface="+mn-cs"/>
                        </a:rPr>
                        <a:t>(-3,2)   </a:t>
                      </a:r>
                    </a:p>
                    <a:p>
                      <a:r>
                        <a:rPr lang="en-US" altLang="zh-CN" sz="1600" b="1" kern="1200" dirty="0">
                          <a:solidFill>
                            <a:schemeClr val="lt1"/>
                          </a:solidFill>
                          <a:effectLst/>
                          <a:latin typeface="Consolas" panose="020B0609020204030204" pitchFamily="49" charset="0"/>
                          <a:ea typeface="+mn-ea"/>
                          <a:cs typeface="+mn-cs"/>
                        </a:rPr>
                        <a:t>#</a:t>
                      </a:r>
                      <a:r>
                        <a:rPr lang="zh-CN" altLang="en-US" sz="1600" b="1" kern="1200" dirty="0">
                          <a:solidFill>
                            <a:schemeClr val="lt1"/>
                          </a:solidFill>
                          <a:effectLst/>
                          <a:latin typeface="Consolas" panose="020B0609020204030204" pitchFamily="49" charset="0"/>
                          <a:ea typeface="+mn-ea"/>
                          <a:cs typeface="+mn-cs"/>
                        </a:rPr>
                        <a:t>位置指针指向文件末尾的前</a:t>
                      </a:r>
                      <a:r>
                        <a:rPr lang="en-US" altLang="zh-CN" sz="1600" b="1" kern="1200" dirty="0">
                          <a:solidFill>
                            <a:schemeClr val="lt1"/>
                          </a:solidFill>
                          <a:effectLst/>
                          <a:latin typeface="Consolas" panose="020B0609020204030204" pitchFamily="49" charset="0"/>
                          <a:ea typeface="+mn-ea"/>
                          <a:cs typeface="+mn-cs"/>
                        </a:rPr>
                        <a:t>3</a:t>
                      </a:r>
                      <a:r>
                        <a:rPr lang="zh-CN" altLang="en-US" sz="1600" b="1" kern="1200" dirty="0">
                          <a:solidFill>
                            <a:schemeClr val="lt1"/>
                          </a:solidFill>
                          <a:effectLst/>
                          <a:latin typeface="Consolas" panose="020B0609020204030204" pitchFamily="49" charset="0"/>
                          <a:ea typeface="+mn-ea"/>
                          <a:cs typeface="+mn-cs"/>
                        </a:rPr>
                        <a:t>个位置</a:t>
                      </a:r>
                      <a:endParaRPr lang="en-US" altLang="zh-CN" sz="1600" b="1" kern="1200" dirty="0">
                        <a:solidFill>
                          <a:schemeClr val="lt1"/>
                        </a:solidFill>
                        <a:effectLst/>
                        <a:latin typeface="Consolas" panose="020B0609020204030204" pitchFamily="49" charset="0"/>
                        <a:ea typeface="+mn-ea"/>
                        <a:cs typeface="+mn-cs"/>
                      </a:endParaRPr>
                    </a:p>
                  </a:txBody>
                  <a:tcPr/>
                </a:tc>
                <a:extLst>
                  <a:ext uri="{0D108BD9-81ED-4DB2-BD59-A6C34878D82A}">
                    <a16:rowId xmlns:a16="http://schemas.microsoft.com/office/drawing/2014/main" val="3026568749"/>
                  </a:ext>
                </a:extLst>
              </a:tr>
            </a:tbl>
          </a:graphicData>
        </a:graphic>
      </p:graphicFrame>
      <p:sp>
        <p:nvSpPr>
          <p:cNvPr id="13" name="矩形 12">
            <a:extLst>
              <a:ext uri="{FF2B5EF4-FFF2-40B4-BE49-F238E27FC236}">
                <a16:creationId xmlns:a16="http://schemas.microsoft.com/office/drawing/2014/main" id="{184E983D-61A8-4D35-A94E-C6AA74269D3E}"/>
              </a:ext>
            </a:extLst>
          </p:cNvPr>
          <p:cNvSpPr/>
          <p:nvPr/>
        </p:nvSpPr>
        <p:spPr>
          <a:xfrm>
            <a:off x="3984876" y="3183272"/>
            <a:ext cx="2193161" cy="357470"/>
          </a:xfrm>
          <a:prstGeom prst="rect">
            <a:avLst/>
          </a:prstGeom>
        </p:spPr>
        <p:txBody>
          <a:bodyPr wrap="square">
            <a:spAutoFit/>
          </a:bodyPr>
          <a:lstStyle/>
          <a:p>
            <a:pPr algn="just">
              <a:lnSpc>
                <a:spcPct val="115000"/>
              </a:lnSpc>
              <a:spcAft>
                <a:spcPts val="0"/>
              </a:spcAft>
            </a:pP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13</a:t>
            </a:r>
          </a:p>
        </p:txBody>
      </p:sp>
      <p:graphicFrame>
        <p:nvGraphicFramePr>
          <p:cNvPr id="15" name="表格 5">
            <a:extLst>
              <a:ext uri="{FF2B5EF4-FFF2-40B4-BE49-F238E27FC236}">
                <a16:creationId xmlns:a16="http://schemas.microsoft.com/office/drawing/2014/main" id="{31CB4FF0-D7B5-4E98-86CC-FAFFB7567507}"/>
              </a:ext>
            </a:extLst>
          </p:cNvPr>
          <p:cNvGraphicFramePr>
            <a:graphicFrameLocks noGrp="1"/>
          </p:cNvGraphicFramePr>
          <p:nvPr>
            <p:extLst>
              <p:ext uri="{D42A27DB-BD31-4B8C-83A1-F6EECF244321}">
                <p14:modId xmlns:p14="http://schemas.microsoft.com/office/powerpoint/2010/main" val="1405942790"/>
              </p:ext>
            </p:extLst>
          </p:nvPr>
        </p:nvGraphicFramePr>
        <p:xfrm>
          <a:off x="8231309" y="2469345"/>
          <a:ext cx="2796365" cy="518747"/>
        </p:xfrm>
        <a:graphic>
          <a:graphicData uri="http://schemas.openxmlformats.org/drawingml/2006/table">
            <a:tbl>
              <a:tblPr firstRow="1" bandRow="1">
                <a:tableStyleId>{5C22544A-7EE6-4342-B048-85BDC9FD1C3A}</a:tableStyleId>
              </a:tblPr>
              <a:tblGrid>
                <a:gridCol w="2796365">
                  <a:extLst>
                    <a:ext uri="{9D8B030D-6E8A-4147-A177-3AD203B41FA5}">
                      <a16:colId xmlns:a16="http://schemas.microsoft.com/office/drawing/2014/main" val="1478211251"/>
                    </a:ext>
                  </a:extLst>
                </a:gridCol>
              </a:tblGrid>
              <a:tr h="518747">
                <a:tc>
                  <a:txBody>
                    <a:bodyPr/>
                    <a:lstStyle/>
                    <a:p>
                      <a:r>
                        <a:rPr lang="en-US" altLang="zh-CN" sz="1600" b="1" kern="1200" dirty="0" err="1">
                          <a:solidFill>
                            <a:schemeClr val="lt1"/>
                          </a:solidFill>
                          <a:effectLst/>
                          <a:latin typeface="Consolas" panose="020B0609020204030204" pitchFamily="49" charset="0"/>
                          <a:ea typeface="+mn-ea"/>
                          <a:cs typeface="+mn-cs"/>
                        </a:rPr>
                        <a:t>f.read</a:t>
                      </a:r>
                      <a:r>
                        <a:rPr lang="en-US" altLang="zh-CN" sz="1600" b="1" kern="1200" dirty="0">
                          <a:solidFill>
                            <a:schemeClr val="lt1"/>
                          </a:solidFill>
                          <a:effectLst/>
                          <a:latin typeface="Consolas" panose="020B0609020204030204" pitchFamily="49" charset="0"/>
                          <a:ea typeface="+mn-ea"/>
                          <a:cs typeface="+mn-cs"/>
                        </a:rPr>
                        <a:t>(1)</a:t>
                      </a:r>
                    </a:p>
                  </a:txBody>
                  <a:tcPr/>
                </a:tc>
                <a:extLst>
                  <a:ext uri="{0D108BD9-81ED-4DB2-BD59-A6C34878D82A}">
                    <a16:rowId xmlns:a16="http://schemas.microsoft.com/office/drawing/2014/main" val="3026568749"/>
                  </a:ext>
                </a:extLst>
              </a:tr>
            </a:tbl>
          </a:graphicData>
        </a:graphic>
      </p:graphicFrame>
      <p:sp>
        <p:nvSpPr>
          <p:cNvPr id="16" name="矩形 15">
            <a:extLst>
              <a:ext uri="{FF2B5EF4-FFF2-40B4-BE49-F238E27FC236}">
                <a16:creationId xmlns:a16="http://schemas.microsoft.com/office/drawing/2014/main" id="{F09BF6A2-531C-4227-AEAF-3ACDA1175CC2}"/>
              </a:ext>
            </a:extLst>
          </p:cNvPr>
          <p:cNvSpPr/>
          <p:nvPr/>
        </p:nvSpPr>
        <p:spPr>
          <a:xfrm>
            <a:off x="8231310" y="3122899"/>
            <a:ext cx="2796365" cy="357470"/>
          </a:xfrm>
          <a:prstGeom prst="rect">
            <a:avLst/>
          </a:prstGeom>
        </p:spPr>
        <p:txBody>
          <a:bodyPr wrap="square">
            <a:spAutoFit/>
          </a:bodyPr>
          <a:lstStyle/>
          <a:p>
            <a:pPr algn="just">
              <a:lnSpc>
                <a:spcPct val="115000"/>
              </a:lnSpc>
              <a:spcAft>
                <a:spcPts val="0"/>
              </a:spcAft>
            </a:pPr>
            <a:r>
              <a:rPr lang="en-US" altLang="zh-CN" sz="1600" kern="100" dirty="0" err="1">
                <a:latin typeface="Consolas" panose="020B0609020204030204" pitchFamily="49" charset="0"/>
                <a:ea typeface="宋体" panose="02010600030101010101" pitchFamily="2" charset="-122"/>
                <a:cs typeface="Times New Roman" panose="02020603050405020304" pitchFamily="18" charset="0"/>
              </a:rPr>
              <a:t>b’d</a:t>
            </a: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a:t>
            </a:r>
          </a:p>
        </p:txBody>
      </p:sp>
      <p:sp>
        <p:nvSpPr>
          <p:cNvPr id="21" name="对话气泡: 椭圆形 20">
            <a:extLst>
              <a:ext uri="{FF2B5EF4-FFF2-40B4-BE49-F238E27FC236}">
                <a16:creationId xmlns:a16="http://schemas.microsoft.com/office/drawing/2014/main" id="{C98CF70B-C9A7-4569-84C3-BC789E5D1616}"/>
              </a:ext>
            </a:extLst>
          </p:cNvPr>
          <p:cNvSpPr/>
          <p:nvPr/>
        </p:nvSpPr>
        <p:spPr>
          <a:xfrm>
            <a:off x="976757" y="3982572"/>
            <a:ext cx="2741540" cy="1415364"/>
          </a:xfrm>
          <a:prstGeom prst="wedgeEllipseCallout">
            <a:avLst>
              <a:gd name="adj1" fmla="val -32667"/>
              <a:gd name="adj2" fmla="val -62777"/>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l="50000" t="50000" r="50000" b="50000"/>
            </a:path>
            <a:tileRect/>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2" name="文本框 21">
            <a:extLst>
              <a:ext uri="{FF2B5EF4-FFF2-40B4-BE49-F238E27FC236}">
                <a16:creationId xmlns:a16="http://schemas.microsoft.com/office/drawing/2014/main" id="{A02FF835-CA88-4BE1-AB03-B99A560D45D9}"/>
              </a:ext>
            </a:extLst>
          </p:cNvPr>
          <p:cNvSpPr txBox="1"/>
          <p:nvPr/>
        </p:nvSpPr>
        <p:spPr>
          <a:xfrm>
            <a:off x="1216505" y="4165495"/>
            <a:ext cx="2382552" cy="1077218"/>
          </a:xfrm>
          <a:prstGeom prst="rect">
            <a:avLst/>
          </a:prstGeom>
          <a:noFill/>
        </p:spPr>
        <p:txBody>
          <a:bodyPr wrap="square" rtlCol="0">
            <a:spAutoFit/>
          </a:bodyPr>
          <a:lstStyle/>
          <a:p>
            <a:r>
              <a:rPr lang="zh-CN" altLang="en-US" sz="1600" dirty="0"/>
              <a:t>指针</a:t>
            </a:r>
            <a:r>
              <a:rPr lang="zh-CN" altLang="en-US" sz="1600" dirty="0">
                <a:solidFill>
                  <a:srgbClr val="FF0000"/>
                </a:solidFill>
              </a:rPr>
              <a:t>当前位置开始读取，指定读取</a:t>
            </a:r>
            <a:r>
              <a:rPr lang="en-US" altLang="zh-CN" sz="1600" dirty="0">
                <a:solidFill>
                  <a:srgbClr val="FF0000"/>
                </a:solidFill>
              </a:rPr>
              <a:t>1</a:t>
            </a:r>
            <a:r>
              <a:rPr lang="zh-CN" altLang="en-US" sz="1600" dirty="0">
                <a:solidFill>
                  <a:srgbClr val="FF0000"/>
                </a:solidFill>
              </a:rPr>
              <a:t>位</a:t>
            </a:r>
            <a:r>
              <a:rPr lang="zh-CN" altLang="en-US" sz="1600" dirty="0"/>
              <a:t>，因此运行结果为</a:t>
            </a:r>
            <a:r>
              <a:rPr lang="en-US" altLang="zh-CN" sz="1600" dirty="0"/>
              <a:t>5</a:t>
            </a:r>
            <a:r>
              <a:rPr lang="zh-CN" altLang="en-US" sz="1600" dirty="0"/>
              <a:t>，表示指针所指位置读取的字符为</a:t>
            </a:r>
            <a:r>
              <a:rPr lang="en-US" altLang="zh-CN" sz="1600" dirty="0"/>
              <a:t>5</a:t>
            </a:r>
            <a:endParaRPr lang="zh-CN" altLang="en-US" sz="1600" dirty="0"/>
          </a:p>
        </p:txBody>
      </p:sp>
      <p:sp>
        <p:nvSpPr>
          <p:cNvPr id="24" name="对话气泡: 椭圆形 23">
            <a:extLst>
              <a:ext uri="{FF2B5EF4-FFF2-40B4-BE49-F238E27FC236}">
                <a16:creationId xmlns:a16="http://schemas.microsoft.com/office/drawing/2014/main" id="{FFA20DFE-71AB-4BC7-AB67-4D00E3EFC1E9}"/>
              </a:ext>
            </a:extLst>
          </p:cNvPr>
          <p:cNvSpPr/>
          <p:nvPr/>
        </p:nvSpPr>
        <p:spPr>
          <a:xfrm>
            <a:off x="4281560" y="3982572"/>
            <a:ext cx="3204016" cy="1415364"/>
          </a:xfrm>
          <a:prstGeom prst="wedgeEllipseCallout">
            <a:avLst>
              <a:gd name="adj1" fmla="val -32667"/>
              <a:gd name="adj2" fmla="val -62777"/>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l="50000" t="50000" r="50000" b="50000"/>
            </a:path>
            <a:tileRect/>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5" name="文本框 24">
            <a:extLst>
              <a:ext uri="{FF2B5EF4-FFF2-40B4-BE49-F238E27FC236}">
                <a16:creationId xmlns:a16="http://schemas.microsoft.com/office/drawing/2014/main" id="{B7E801F1-B52F-471C-8864-C46ADDF2048F}"/>
              </a:ext>
            </a:extLst>
          </p:cNvPr>
          <p:cNvSpPr txBox="1"/>
          <p:nvPr/>
        </p:nvSpPr>
        <p:spPr>
          <a:xfrm>
            <a:off x="4561751" y="4165495"/>
            <a:ext cx="2784470" cy="1323439"/>
          </a:xfrm>
          <a:prstGeom prst="rect">
            <a:avLst/>
          </a:prstGeom>
          <a:noFill/>
        </p:spPr>
        <p:txBody>
          <a:bodyPr wrap="square" rtlCol="0">
            <a:spAutoFit/>
          </a:bodyPr>
          <a:lstStyle/>
          <a:p>
            <a:r>
              <a:rPr lang="en-US" altLang="zh-CN" sz="1600" dirty="0" err="1"/>
              <a:t>startpoint</a:t>
            </a:r>
            <a:r>
              <a:rPr lang="zh-CN" altLang="en-US" sz="1600" dirty="0"/>
              <a:t>值为</a:t>
            </a:r>
            <a:r>
              <a:rPr lang="en-US" altLang="zh-CN" sz="1600" dirty="0"/>
              <a:t>2</a:t>
            </a:r>
            <a:r>
              <a:rPr lang="zh-CN" altLang="en-US" sz="1600" dirty="0"/>
              <a:t>，表示</a:t>
            </a:r>
            <a:r>
              <a:rPr lang="zh-CN" altLang="en-US" sz="1600" dirty="0">
                <a:solidFill>
                  <a:srgbClr val="FF0000"/>
                </a:solidFill>
              </a:rPr>
              <a:t>从文件末尾位置开始查找，并向前偏移</a:t>
            </a:r>
            <a:r>
              <a:rPr lang="en-US" altLang="zh-CN" sz="1600" dirty="0">
                <a:solidFill>
                  <a:srgbClr val="FF0000"/>
                </a:solidFill>
              </a:rPr>
              <a:t>3</a:t>
            </a:r>
            <a:r>
              <a:rPr lang="zh-CN" altLang="en-US" sz="1600" dirty="0">
                <a:solidFill>
                  <a:srgbClr val="FF0000"/>
                </a:solidFill>
              </a:rPr>
              <a:t>个位置</a:t>
            </a:r>
            <a:r>
              <a:rPr lang="zh-CN" altLang="en-US" sz="1600" dirty="0"/>
              <a:t>，因此指针指向</a:t>
            </a:r>
            <a:r>
              <a:rPr lang="en-US" altLang="zh-CN" sz="1600" dirty="0"/>
              <a:t>13</a:t>
            </a:r>
            <a:r>
              <a:rPr lang="zh-CN" altLang="en-US" sz="1600" dirty="0"/>
              <a:t>这个位置。</a:t>
            </a:r>
          </a:p>
        </p:txBody>
      </p:sp>
      <p:sp>
        <p:nvSpPr>
          <p:cNvPr id="27" name="对话气泡: 椭圆形 26">
            <a:extLst>
              <a:ext uri="{FF2B5EF4-FFF2-40B4-BE49-F238E27FC236}">
                <a16:creationId xmlns:a16="http://schemas.microsoft.com/office/drawing/2014/main" id="{4524B589-C043-4CEB-B8AC-FC3D17DC3CA5}"/>
              </a:ext>
            </a:extLst>
          </p:cNvPr>
          <p:cNvSpPr/>
          <p:nvPr/>
        </p:nvSpPr>
        <p:spPr>
          <a:xfrm>
            <a:off x="7971642" y="4001812"/>
            <a:ext cx="3477685" cy="1415363"/>
          </a:xfrm>
          <a:prstGeom prst="wedgeEllipseCallout">
            <a:avLst>
              <a:gd name="adj1" fmla="val -32667"/>
              <a:gd name="adj2" fmla="val -62777"/>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l="50000" t="50000" r="50000" b="50000"/>
            </a:path>
            <a:tileRect/>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8" name="文本框 27">
            <a:extLst>
              <a:ext uri="{FF2B5EF4-FFF2-40B4-BE49-F238E27FC236}">
                <a16:creationId xmlns:a16="http://schemas.microsoft.com/office/drawing/2014/main" id="{1B836CB2-A9BF-4353-91C8-B99AB0588513}"/>
              </a:ext>
            </a:extLst>
          </p:cNvPr>
          <p:cNvSpPr txBox="1"/>
          <p:nvPr/>
        </p:nvSpPr>
        <p:spPr>
          <a:xfrm>
            <a:off x="8329030" y="4190128"/>
            <a:ext cx="3022304" cy="1077218"/>
          </a:xfrm>
          <a:prstGeom prst="rect">
            <a:avLst/>
          </a:prstGeom>
          <a:noFill/>
        </p:spPr>
        <p:txBody>
          <a:bodyPr wrap="square" rtlCol="0">
            <a:spAutoFit/>
          </a:bodyPr>
          <a:lstStyle/>
          <a:p>
            <a:r>
              <a:rPr lang="zh-CN" altLang="en-US" sz="1600" dirty="0">
                <a:solidFill>
                  <a:srgbClr val="FF0000"/>
                </a:solidFill>
              </a:rPr>
              <a:t>从当前指针指向的位置进行字符的读取，指定读取</a:t>
            </a:r>
            <a:r>
              <a:rPr lang="en-US" altLang="zh-CN" sz="1600" dirty="0">
                <a:solidFill>
                  <a:srgbClr val="FF0000"/>
                </a:solidFill>
              </a:rPr>
              <a:t>1</a:t>
            </a:r>
            <a:r>
              <a:rPr lang="zh-CN" altLang="en-US" sz="1600" dirty="0">
                <a:solidFill>
                  <a:srgbClr val="FF0000"/>
                </a:solidFill>
              </a:rPr>
              <a:t>位字符</a:t>
            </a:r>
            <a:r>
              <a:rPr lang="zh-CN" altLang="en-US" sz="1600" dirty="0"/>
              <a:t>，可以看到运行结果为</a:t>
            </a:r>
            <a:r>
              <a:rPr lang="en-US" altLang="zh-CN" sz="1600" dirty="0"/>
              <a:t>d</a:t>
            </a:r>
            <a:r>
              <a:rPr lang="zh-CN" altLang="en-US" sz="1600" dirty="0"/>
              <a:t>，表示当前指针指向位置的字符为</a:t>
            </a:r>
            <a:r>
              <a:rPr lang="en-US" altLang="zh-CN" sz="1600" dirty="0"/>
              <a:t>d</a:t>
            </a:r>
            <a:r>
              <a:rPr lang="zh-CN" altLang="en-US" sz="1600" dirty="0"/>
              <a:t>。</a:t>
            </a:r>
          </a:p>
        </p:txBody>
      </p:sp>
      <p:sp>
        <p:nvSpPr>
          <p:cNvPr id="29" name="Content Placeholder 13">
            <a:extLst>
              <a:ext uri="{FF2B5EF4-FFF2-40B4-BE49-F238E27FC236}">
                <a16:creationId xmlns:a16="http://schemas.microsoft.com/office/drawing/2014/main" id="{FBFB3280-B21E-4807-9A0C-82642E44DC0E}"/>
              </a:ext>
            </a:extLst>
          </p:cNvPr>
          <p:cNvSpPr txBox="1">
            <a:spLocks/>
          </p:cNvSpPr>
          <p:nvPr/>
        </p:nvSpPr>
        <p:spPr>
          <a:xfrm>
            <a:off x="1043957" y="1677230"/>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zh-CN" altLang="en-US" sz="1800" dirty="0"/>
              <a:t>承接上一页代码：</a:t>
            </a:r>
            <a:endParaRPr lang="zh-CN" altLang="en-US" sz="1800" b="1" dirty="0">
              <a:latin typeface="宋体" panose="02010600030101010101" pitchFamily="2" charset="-122"/>
              <a:ea typeface="宋体" panose="02010600030101010101" pitchFamily="2" charset="-122"/>
              <a:cs typeface="+mj-cs"/>
            </a:endParaRPr>
          </a:p>
        </p:txBody>
      </p:sp>
    </p:spTree>
    <p:extLst>
      <p:ext uri="{BB962C8B-B14F-4D97-AF65-F5344CB8AC3E}">
        <p14:creationId xmlns:p14="http://schemas.microsoft.com/office/powerpoint/2010/main" val="376339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9.2.3 txt</a:t>
            </a:r>
            <a:r>
              <a:rPr lang="zh-CN" altLang="en-US" dirty="0">
                <a:solidFill>
                  <a:srgbClr val="002060"/>
                </a:solidFill>
                <a:latin typeface="Microsoft YaHei" panose="020B0503020204020204" pitchFamily="34" charset="-122"/>
                <a:ea typeface="Microsoft YaHei" panose="020B0503020204020204" pitchFamily="34" charset="-122"/>
              </a:rPr>
              <a:t>文件随机读写</a:t>
            </a:r>
          </a:p>
        </p:txBody>
      </p:sp>
      <p:sp>
        <p:nvSpPr>
          <p:cNvPr id="17" name="Content Placeholder 13">
            <a:extLst>
              <a:ext uri="{FF2B5EF4-FFF2-40B4-BE49-F238E27FC236}">
                <a16:creationId xmlns:a16="http://schemas.microsoft.com/office/drawing/2014/main" id="{3389367C-D074-40F0-AD79-0D55DEF2A743}"/>
              </a:ext>
            </a:extLst>
          </p:cNvPr>
          <p:cNvSpPr txBox="1">
            <a:spLocks/>
          </p:cNvSpPr>
          <p:nvPr/>
        </p:nvSpPr>
        <p:spPr>
          <a:xfrm>
            <a:off x="1171342" y="1863576"/>
            <a:ext cx="9982200" cy="129727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当开发者多次调用指针偏移函数后不知道当前指针所指向的位置时，可以</a:t>
            </a:r>
            <a:r>
              <a:rPr lang="zh-CN" altLang="en-US" sz="1800" dirty="0">
                <a:solidFill>
                  <a:srgbClr val="FF0000"/>
                </a:solidFill>
              </a:rPr>
              <a:t>调用</a:t>
            </a:r>
            <a:r>
              <a:rPr lang="en-US" altLang="zh-CN" sz="1800" dirty="0">
                <a:solidFill>
                  <a:srgbClr val="FF0000"/>
                </a:solidFill>
              </a:rPr>
              <a:t>tell</a:t>
            </a:r>
            <a:r>
              <a:rPr lang="zh-CN" altLang="en-US" sz="1800" dirty="0">
                <a:solidFill>
                  <a:srgbClr val="FF0000"/>
                </a:solidFill>
              </a:rPr>
              <a:t>函数得到位置指针的当前位置</a:t>
            </a:r>
            <a:r>
              <a:rPr lang="zh-CN" altLang="en-US" sz="1800" dirty="0"/>
              <a:t>，用相对于文件开头的偏移量（单位是字节）来表示。调用形式为：</a:t>
            </a:r>
            <a:r>
              <a:rPr lang="en-US" altLang="zh-CN" sz="1800" dirty="0" err="1"/>
              <a:t>f.tell</a:t>
            </a:r>
            <a:r>
              <a:rPr lang="en-US" altLang="zh-CN" sz="1800" dirty="0"/>
              <a:t>()</a:t>
            </a:r>
            <a:r>
              <a:rPr lang="zh-CN" altLang="en-US" sz="1800" dirty="0"/>
              <a:t>。</a:t>
            </a:r>
          </a:p>
        </p:txBody>
      </p:sp>
      <p:graphicFrame>
        <p:nvGraphicFramePr>
          <p:cNvPr id="18" name="表格 5">
            <a:extLst>
              <a:ext uri="{FF2B5EF4-FFF2-40B4-BE49-F238E27FC236}">
                <a16:creationId xmlns:a16="http://schemas.microsoft.com/office/drawing/2014/main" id="{5B28830B-B6A7-464E-8495-28B239CC8523}"/>
              </a:ext>
            </a:extLst>
          </p:cNvPr>
          <p:cNvGraphicFramePr>
            <a:graphicFrameLocks noGrp="1"/>
          </p:cNvGraphicFramePr>
          <p:nvPr>
            <p:extLst>
              <p:ext uri="{D42A27DB-BD31-4B8C-83A1-F6EECF244321}">
                <p14:modId xmlns:p14="http://schemas.microsoft.com/office/powerpoint/2010/main" val="2940939014"/>
              </p:ext>
            </p:extLst>
          </p:nvPr>
        </p:nvGraphicFramePr>
        <p:xfrm>
          <a:off x="1171342" y="3333106"/>
          <a:ext cx="9948599" cy="1188720"/>
        </p:xfrm>
        <a:graphic>
          <a:graphicData uri="http://schemas.openxmlformats.org/drawingml/2006/table">
            <a:tbl>
              <a:tblPr firstRow="1" bandRow="1">
                <a:tableStyleId>{5C22544A-7EE6-4342-B048-85BDC9FD1C3A}</a:tableStyleId>
              </a:tblPr>
              <a:tblGrid>
                <a:gridCol w="9948599">
                  <a:extLst>
                    <a:ext uri="{9D8B030D-6E8A-4147-A177-3AD203B41FA5}">
                      <a16:colId xmlns:a16="http://schemas.microsoft.com/office/drawing/2014/main" val="1478211251"/>
                    </a:ext>
                  </a:extLst>
                </a:gridCol>
              </a:tblGrid>
              <a:tr h="521047">
                <a:tc>
                  <a:txBody>
                    <a:bodyPr/>
                    <a:lstStyle/>
                    <a:p>
                      <a:r>
                        <a:rPr lang="en-US" altLang="zh-CN" sz="1800" b="1" kern="1200" dirty="0">
                          <a:solidFill>
                            <a:schemeClr val="lt1"/>
                          </a:solidFill>
                          <a:effectLst/>
                          <a:latin typeface="Consolas" panose="020B0609020204030204" pitchFamily="49" charset="0"/>
                          <a:ea typeface="+mn-ea"/>
                          <a:cs typeface="+mn-cs"/>
                        </a:rPr>
                        <a:t>f = open('E:/test.txt','</a:t>
                      </a:r>
                      <a:r>
                        <a:rPr lang="en-US" altLang="zh-CN" sz="1800" b="1" kern="1200" dirty="0" err="1">
                          <a:solidFill>
                            <a:schemeClr val="lt1"/>
                          </a:solidFill>
                          <a:effectLst/>
                          <a:latin typeface="Consolas" panose="020B0609020204030204" pitchFamily="49" charset="0"/>
                          <a:ea typeface="+mn-ea"/>
                          <a:cs typeface="+mn-cs"/>
                        </a:rPr>
                        <a:t>rb</a:t>
                      </a:r>
                      <a:r>
                        <a:rPr lang="en-US" altLang="zh-CN" sz="1800" b="1" kern="1200" dirty="0">
                          <a:solidFill>
                            <a:schemeClr val="lt1"/>
                          </a:solidFill>
                          <a:effectLst/>
                          <a:latin typeface="Consolas" panose="020B0609020204030204" pitchFamily="49" charset="0"/>
                          <a:ea typeface="+mn-ea"/>
                          <a:cs typeface="+mn-cs"/>
                        </a:rPr>
                        <a:t>+')   #</a:t>
                      </a:r>
                      <a:r>
                        <a:rPr lang="zh-CN" altLang="en-US" sz="1800" b="1" kern="1200" dirty="0">
                          <a:solidFill>
                            <a:schemeClr val="lt1"/>
                          </a:solidFill>
                          <a:effectLst/>
                          <a:latin typeface="Consolas" panose="020B0609020204030204" pitchFamily="49" charset="0"/>
                          <a:ea typeface="+mn-ea"/>
                          <a:cs typeface="+mn-cs"/>
                        </a:rPr>
                        <a:t>二进制读写模式打开文件</a:t>
                      </a:r>
                    </a:p>
                    <a:p>
                      <a:r>
                        <a:rPr lang="en-US" altLang="zh-CN" sz="1800" b="1" kern="1200" dirty="0" err="1">
                          <a:solidFill>
                            <a:schemeClr val="lt1"/>
                          </a:solidFill>
                          <a:effectLst/>
                          <a:latin typeface="Consolas" panose="020B0609020204030204" pitchFamily="49" charset="0"/>
                          <a:ea typeface="+mn-ea"/>
                          <a:cs typeface="+mn-cs"/>
                        </a:rPr>
                        <a:t>f.write</a:t>
                      </a:r>
                      <a:r>
                        <a:rPr lang="en-US" altLang="zh-CN" sz="1800" b="1" kern="1200" dirty="0">
                          <a:solidFill>
                            <a:schemeClr val="lt1"/>
                          </a:solidFill>
                          <a:effectLst/>
                          <a:latin typeface="Consolas" panose="020B0609020204030204" pitchFamily="49" charset="0"/>
                          <a:ea typeface="+mn-ea"/>
                          <a:cs typeface="+mn-cs"/>
                        </a:rPr>
                        <a:t>(b'0123456787abcdef')</a:t>
                      </a:r>
                    </a:p>
                    <a:p>
                      <a:r>
                        <a:rPr lang="en-US" altLang="zh-CN" sz="1800" b="1" kern="1200" dirty="0" err="1">
                          <a:solidFill>
                            <a:schemeClr val="lt1"/>
                          </a:solidFill>
                          <a:effectLst/>
                          <a:latin typeface="Consolas" panose="020B0609020204030204" pitchFamily="49" charset="0"/>
                          <a:ea typeface="+mn-ea"/>
                          <a:cs typeface="+mn-cs"/>
                        </a:rPr>
                        <a:t>f.seek</a:t>
                      </a:r>
                      <a:r>
                        <a:rPr lang="en-US" altLang="zh-CN" sz="1800" b="1" kern="1200" dirty="0">
                          <a:solidFill>
                            <a:schemeClr val="lt1"/>
                          </a:solidFill>
                          <a:effectLst/>
                          <a:latin typeface="Consolas" panose="020B0609020204030204" pitchFamily="49" charset="0"/>
                          <a:ea typeface="+mn-ea"/>
                          <a:cs typeface="+mn-cs"/>
                        </a:rPr>
                        <a:t>(-3,2)</a:t>
                      </a:r>
                    </a:p>
                    <a:p>
                      <a:r>
                        <a:rPr lang="en-US" altLang="zh-CN" sz="1800" b="1" kern="1200" dirty="0">
                          <a:solidFill>
                            <a:schemeClr val="lt1"/>
                          </a:solidFill>
                          <a:effectLst/>
                          <a:latin typeface="Consolas" panose="020B0609020204030204" pitchFamily="49" charset="0"/>
                          <a:ea typeface="+mn-ea"/>
                          <a:cs typeface="+mn-cs"/>
                        </a:rPr>
                        <a:t>print(</a:t>
                      </a:r>
                      <a:r>
                        <a:rPr lang="en-US" altLang="zh-CN" sz="1800" b="1" kern="1200" dirty="0" err="1">
                          <a:solidFill>
                            <a:schemeClr val="lt1"/>
                          </a:solidFill>
                          <a:effectLst/>
                          <a:latin typeface="Consolas" panose="020B0609020204030204" pitchFamily="49" charset="0"/>
                          <a:ea typeface="+mn-ea"/>
                          <a:cs typeface="+mn-cs"/>
                        </a:rPr>
                        <a:t>f.tell</a:t>
                      </a:r>
                      <a:r>
                        <a:rPr lang="en-US" altLang="zh-CN" sz="1800" b="1" kern="1200" dirty="0">
                          <a:solidFill>
                            <a:schemeClr val="lt1"/>
                          </a:solidFill>
                          <a:effectLst/>
                          <a:latin typeface="Consolas" panose="020B0609020204030204" pitchFamily="49" charset="0"/>
                          <a:ea typeface="+mn-ea"/>
                          <a:cs typeface="+mn-cs"/>
                        </a:rPr>
                        <a:t>())</a:t>
                      </a:r>
                    </a:p>
                  </a:txBody>
                  <a:tcPr/>
                </a:tc>
                <a:extLst>
                  <a:ext uri="{0D108BD9-81ED-4DB2-BD59-A6C34878D82A}">
                    <a16:rowId xmlns:a16="http://schemas.microsoft.com/office/drawing/2014/main" val="3026568749"/>
                  </a:ext>
                </a:extLst>
              </a:tr>
            </a:tbl>
          </a:graphicData>
        </a:graphic>
      </p:graphicFrame>
      <p:sp>
        <p:nvSpPr>
          <p:cNvPr id="19" name="矩形 18">
            <a:extLst>
              <a:ext uri="{FF2B5EF4-FFF2-40B4-BE49-F238E27FC236}">
                <a16:creationId xmlns:a16="http://schemas.microsoft.com/office/drawing/2014/main" id="{10238529-893D-4E3F-933F-B3AAB27F7260}"/>
              </a:ext>
            </a:extLst>
          </p:cNvPr>
          <p:cNvSpPr/>
          <p:nvPr/>
        </p:nvSpPr>
        <p:spPr>
          <a:xfrm>
            <a:off x="1171342" y="4528396"/>
            <a:ext cx="1786960" cy="390620"/>
          </a:xfrm>
          <a:prstGeom prst="rect">
            <a:avLst/>
          </a:prstGeom>
        </p:spPr>
        <p:txBody>
          <a:bodyPr wrap="square">
            <a:spAutoFit/>
          </a:bodyPr>
          <a:lstStyle/>
          <a:p>
            <a:pPr algn="just">
              <a:lnSpc>
                <a:spcPct val="115000"/>
              </a:lnSpc>
              <a:spcAft>
                <a:spcPts val="0"/>
              </a:spcAft>
            </a:pPr>
            <a:r>
              <a:rPr lang="en-US" altLang="zh-CN" kern="100" dirty="0">
                <a:latin typeface="Consolas" panose="020B0609020204030204" pitchFamily="49" charset="0"/>
                <a:ea typeface="宋体" panose="02010600030101010101" pitchFamily="2" charset="-122"/>
                <a:cs typeface="Times New Roman" panose="02020603050405020304" pitchFamily="18" charset="0"/>
              </a:rPr>
              <a:t>13</a:t>
            </a:r>
          </a:p>
        </p:txBody>
      </p:sp>
      <p:grpSp>
        <p:nvGrpSpPr>
          <p:cNvPr id="29" name="组合 28">
            <a:extLst>
              <a:ext uri="{FF2B5EF4-FFF2-40B4-BE49-F238E27FC236}">
                <a16:creationId xmlns:a16="http://schemas.microsoft.com/office/drawing/2014/main" id="{94EFBCBD-4689-4B83-B941-6697D6DD918E}"/>
              </a:ext>
            </a:extLst>
          </p:cNvPr>
          <p:cNvGrpSpPr/>
          <p:nvPr/>
        </p:nvGrpSpPr>
        <p:grpSpPr>
          <a:xfrm>
            <a:off x="4888607" y="5090671"/>
            <a:ext cx="1893796" cy="950666"/>
            <a:chOff x="7556303" y="3060441"/>
            <a:chExt cx="4392057" cy="2351314"/>
          </a:xfr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3500000" scaled="1"/>
            <a:tileRect/>
          </a:gradFill>
        </p:grpSpPr>
        <p:sp>
          <p:nvSpPr>
            <p:cNvPr id="30" name="对话气泡: 椭圆形 29">
              <a:extLst>
                <a:ext uri="{FF2B5EF4-FFF2-40B4-BE49-F238E27FC236}">
                  <a16:creationId xmlns:a16="http://schemas.microsoft.com/office/drawing/2014/main" id="{172235BF-1710-48C7-8073-66F4FC42ED43}"/>
                </a:ext>
              </a:extLst>
            </p:cNvPr>
            <p:cNvSpPr/>
            <p:nvPr/>
          </p:nvSpPr>
          <p:spPr>
            <a:xfrm>
              <a:off x="7556303" y="3060441"/>
              <a:ext cx="4144285" cy="2351314"/>
            </a:xfrm>
            <a:prstGeom prst="wedgeEllipseCallout">
              <a:avLst>
                <a:gd name="adj1" fmla="val -54316"/>
                <a:gd name="adj2" fmla="val -91139"/>
              </a:avLst>
            </a:prstGeom>
            <a:grp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31" name="文本框 30">
              <a:extLst>
                <a:ext uri="{FF2B5EF4-FFF2-40B4-BE49-F238E27FC236}">
                  <a16:creationId xmlns:a16="http://schemas.microsoft.com/office/drawing/2014/main" id="{A55267B3-8DDC-4695-AD12-56801861C752}"/>
                </a:ext>
              </a:extLst>
            </p:cNvPr>
            <p:cNvSpPr txBox="1"/>
            <p:nvPr/>
          </p:nvSpPr>
          <p:spPr>
            <a:xfrm>
              <a:off x="7804075" y="3598569"/>
              <a:ext cx="4144285" cy="1446344"/>
            </a:xfrm>
            <a:prstGeom prst="rect">
              <a:avLst/>
            </a:prstGeom>
            <a:noFill/>
          </p:spPr>
          <p:txBody>
            <a:bodyPr wrap="square" rtlCol="0">
              <a:spAutoFit/>
            </a:bodyPr>
            <a:lstStyle/>
            <a:p>
              <a:r>
                <a:rPr lang="zh-CN" altLang="en-US" sz="1600" dirty="0"/>
                <a:t>表示当前指针指向</a:t>
              </a:r>
              <a:r>
                <a:rPr lang="en-US" altLang="zh-CN" sz="1600" dirty="0"/>
                <a:t>13</a:t>
              </a:r>
              <a:r>
                <a:rPr lang="zh-CN" altLang="en-US" sz="1600" dirty="0"/>
                <a:t>这个位置。</a:t>
              </a:r>
            </a:p>
          </p:txBody>
        </p:sp>
      </p:grpSp>
    </p:spTree>
    <p:extLst>
      <p:ext uri="{BB962C8B-B14F-4D97-AF65-F5344CB8AC3E}">
        <p14:creationId xmlns:p14="http://schemas.microsoft.com/office/powerpoint/2010/main" val="80640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852AA-F59B-A14F-3D38-8543D4FAE30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5E25BB6-E207-81A9-62C1-E910334B723E}"/>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9.2.4</a:t>
            </a:r>
            <a:r>
              <a:rPr lang="zh-CN" altLang="en-US" dirty="0">
                <a:solidFill>
                  <a:srgbClr val="002060"/>
                </a:solidFill>
                <a:latin typeface="Microsoft YaHei" panose="020B0503020204020204" pitchFamily="34" charset="-122"/>
                <a:ea typeface="Microsoft YaHei" panose="020B0503020204020204" pitchFamily="34" charset="-122"/>
              </a:rPr>
              <a:t> 二进制文件的读写</a:t>
            </a:r>
          </a:p>
        </p:txBody>
      </p:sp>
      <p:sp>
        <p:nvSpPr>
          <p:cNvPr id="3" name="TextBox 2">
            <a:extLst>
              <a:ext uri="{FF2B5EF4-FFF2-40B4-BE49-F238E27FC236}">
                <a16:creationId xmlns:a16="http://schemas.microsoft.com/office/drawing/2014/main" id="{83EB3D74-C6A2-CE37-93E8-177096A3C857}"/>
              </a:ext>
            </a:extLst>
          </p:cNvPr>
          <p:cNvSpPr txBox="1"/>
          <p:nvPr/>
        </p:nvSpPr>
        <p:spPr>
          <a:xfrm>
            <a:off x="1104141" y="1358261"/>
            <a:ext cx="9667849" cy="2526782"/>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二进制文件是一种存储方式，以字节序列保存数据，不依赖字符编码。相较于文本文件，二进制文件的数据存储紧凑、处理高效。</a:t>
            </a:r>
            <a:endParaRPr lang="en-US" altLang="zh-CN" b="0" i="0" dirty="0">
              <a:solidFill>
                <a:srgbClr val="262625"/>
              </a:solidFill>
              <a:effectLst/>
              <a:latin typeface="Times New Roman" panose="02020603050405020304" pitchFamily="18" charset="0"/>
            </a:endParaRPr>
          </a:p>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常见的二进制文件包括图像文件（如 </a:t>
            </a:r>
            <a:r>
              <a:rPr lang="en-US" b="0" i="0" dirty="0">
                <a:solidFill>
                  <a:srgbClr val="262625"/>
                </a:solidFill>
                <a:effectLst/>
                <a:latin typeface="Times New Roman" panose="02020603050405020304" pitchFamily="18" charset="0"/>
              </a:rPr>
              <a:t>JPG、PNG）、</a:t>
            </a:r>
            <a:r>
              <a:rPr lang="zh-CN" altLang="en-US" b="0" i="0" dirty="0">
                <a:solidFill>
                  <a:srgbClr val="262625"/>
                </a:solidFill>
                <a:effectLst/>
                <a:latin typeface="Times New Roman" panose="02020603050405020304" pitchFamily="18" charset="0"/>
              </a:rPr>
              <a:t>音频文件（如 </a:t>
            </a:r>
            <a:r>
              <a:rPr lang="en-US" b="0" i="0" dirty="0">
                <a:solidFill>
                  <a:srgbClr val="262625"/>
                </a:solidFill>
                <a:effectLst/>
                <a:latin typeface="Times New Roman" panose="02020603050405020304" pitchFamily="18" charset="0"/>
              </a:rPr>
              <a:t>MP3、WAV）、</a:t>
            </a:r>
            <a:r>
              <a:rPr lang="zh-CN" altLang="en-US" b="0" i="0" dirty="0">
                <a:solidFill>
                  <a:srgbClr val="262625"/>
                </a:solidFill>
                <a:effectLst/>
                <a:latin typeface="Times New Roman" panose="02020603050405020304" pitchFamily="18" charset="0"/>
              </a:rPr>
              <a:t>视频文件（如 </a:t>
            </a:r>
            <a:r>
              <a:rPr lang="en-US" b="0" i="0" dirty="0">
                <a:solidFill>
                  <a:srgbClr val="262625"/>
                </a:solidFill>
                <a:effectLst/>
                <a:latin typeface="Times New Roman" panose="02020603050405020304" pitchFamily="18" charset="0"/>
              </a:rPr>
              <a:t>MP4）、</a:t>
            </a:r>
            <a:r>
              <a:rPr lang="zh-CN" altLang="en-US" b="0" i="0" dirty="0">
                <a:solidFill>
                  <a:srgbClr val="262625"/>
                </a:solidFill>
                <a:effectLst/>
                <a:latin typeface="Times New Roman" panose="02020603050405020304" pitchFamily="18" charset="0"/>
              </a:rPr>
              <a:t>以及程序可执行文件等。</a:t>
            </a:r>
            <a:endParaRPr lang="en-US" altLang="zh-CN" b="0" i="0" dirty="0">
              <a:solidFill>
                <a:srgbClr val="262625"/>
              </a:solidFill>
              <a:effectLst/>
              <a:latin typeface="Times New Roman" panose="02020603050405020304" pitchFamily="18" charset="0"/>
            </a:endParaRPr>
          </a:p>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二进制文件适用于需要高效读取和处理数据的场景，且其数据通常不能被直接打印，需要通过特定应用程序或代码来解析和显示。</a:t>
            </a:r>
            <a:endParaRPr lang="zh-CN" altLang="en-US" dirty="0"/>
          </a:p>
        </p:txBody>
      </p:sp>
      <p:pic>
        <p:nvPicPr>
          <p:cNvPr id="4" name="Picture 3">
            <a:extLst>
              <a:ext uri="{FF2B5EF4-FFF2-40B4-BE49-F238E27FC236}">
                <a16:creationId xmlns:a16="http://schemas.microsoft.com/office/drawing/2014/main" id="{A731405E-D3A0-A391-6877-6AD273CF9BA0}"/>
              </a:ext>
            </a:extLst>
          </p:cNvPr>
          <p:cNvPicPr>
            <a:picLocks noChangeAspect="1"/>
          </p:cNvPicPr>
          <p:nvPr/>
        </p:nvPicPr>
        <p:blipFill>
          <a:blip r:embed="rId3"/>
          <a:stretch>
            <a:fillRect/>
          </a:stretch>
        </p:blipFill>
        <p:spPr>
          <a:xfrm>
            <a:off x="1836616" y="4030834"/>
            <a:ext cx="6197600" cy="1219200"/>
          </a:xfrm>
          <a:prstGeom prst="rect">
            <a:avLst/>
          </a:prstGeom>
        </p:spPr>
      </p:pic>
      <p:pic>
        <p:nvPicPr>
          <p:cNvPr id="5" name="Picture 4">
            <a:extLst>
              <a:ext uri="{FF2B5EF4-FFF2-40B4-BE49-F238E27FC236}">
                <a16:creationId xmlns:a16="http://schemas.microsoft.com/office/drawing/2014/main" id="{F1AA6BE1-BE32-036C-FCAD-0F609E1AF243}"/>
              </a:ext>
            </a:extLst>
          </p:cNvPr>
          <p:cNvPicPr>
            <a:picLocks noChangeAspect="1"/>
          </p:cNvPicPr>
          <p:nvPr/>
        </p:nvPicPr>
        <p:blipFill>
          <a:blip r:embed="rId4"/>
          <a:stretch>
            <a:fillRect/>
          </a:stretch>
        </p:blipFill>
        <p:spPr>
          <a:xfrm>
            <a:off x="1836616" y="5395825"/>
            <a:ext cx="6388100" cy="1016000"/>
          </a:xfrm>
          <a:prstGeom prst="rect">
            <a:avLst/>
          </a:prstGeom>
        </p:spPr>
      </p:pic>
    </p:spTree>
    <p:extLst>
      <p:ext uri="{BB962C8B-B14F-4D97-AF65-F5344CB8AC3E}">
        <p14:creationId xmlns:p14="http://schemas.microsoft.com/office/powerpoint/2010/main" val="4086170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b="1" dirty="0"/>
              <a:t>9.3 csv</a:t>
            </a:r>
            <a:r>
              <a:rPr lang="zh-CN" altLang="en-US" b="1" dirty="0"/>
              <a:t>文件读写</a:t>
            </a:r>
            <a:endParaRPr lang="en-US" b="1" dirty="0"/>
          </a:p>
        </p:txBody>
      </p:sp>
    </p:spTree>
    <p:extLst>
      <p:ext uri="{BB962C8B-B14F-4D97-AF65-F5344CB8AC3E}">
        <p14:creationId xmlns:p14="http://schemas.microsoft.com/office/powerpoint/2010/main" val="2625503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381543" y="1530849"/>
            <a:ext cx="9982200" cy="440761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dirty="0">
                <a:solidFill>
                  <a:srgbClr val="0432FF"/>
                </a:solidFill>
              </a:rPr>
              <a:t>逗号分隔值（</a:t>
            </a:r>
            <a:r>
              <a:rPr lang="en-US" altLang="zh-CN" dirty="0">
                <a:solidFill>
                  <a:srgbClr val="0432FF"/>
                </a:solidFill>
              </a:rPr>
              <a:t>comma-separated values</a:t>
            </a:r>
            <a:r>
              <a:rPr lang="zh-CN" altLang="en-US" dirty="0">
                <a:solidFill>
                  <a:srgbClr val="0432FF"/>
                </a:solidFill>
              </a:rPr>
              <a:t>）</a:t>
            </a:r>
            <a:r>
              <a:rPr lang="zh-CN" altLang="en-US" dirty="0"/>
              <a:t>是一种电子表格和数据库中最常见的输入、输出文件格式。</a:t>
            </a:r>
            <a:endParaRPr lang="en-US" altLang="zh-CN" dirty="0"/>
          </a:p>
          <a:p>
            <a:pPr lvl="1" algn="just">
              <a:lnSpc>
                <a:spcPct val="160000"/>
              </a:lnSpc>
              <a:spcBef>
                <a:spcPts val="0"/>
              </a:spcBef>
            </a:pPr>
            <a:r>
              <a:rPr lang="en-US" altLang="zh-CN" sz="2000" dirty="0"/>
              <a:t>csv</a:t>
            </a:r>
            <a:r>
              <a:rPr lang="zh-CN" altLang="en-US" sz="2000" dirty="0"/>
              <a:t>文件将表格数据存储为纯文本，便于进行存储、转换和处理数据，以行为单位，每行数据通常以逗号为分隔符分隔成单元格。</a:t>
            </a:r>
            <a:endParaRPr lang="en-US" altLang="zh-CN" sz="2000" dirty="0"/>
          </a:p>
          <a:p>
            <a:pPr lvl="1" algn="just">
              <a:lnSpc>
                <a:spcPct val="160000"/>
              </a:lnSpc>
              <a:spcBef>
                <a:spcPts val="0"/>
              </a:spcBef>
            </a:pPr>
            <a:r>
              <a:rPr lang="zh-CN" altLang="en-US" sz="2000" dirty="0"/>
              <a:t>尽管</a:t>
            </a:r>
            <a:r>
              <a:rPr lang="en-US" altLang="zh-CN" sz="2000" dirty="0"/>
              <a:t>csv</a:t>
            </a:r>
            <a:r>
              <a:rPr lang="zh-CN" altLang="en-US" sz="2000" dirty="0"/>
              <a:t>文件的分隔符可能有所不同，但文件的大致格式是相似的，因此</a:t>
            </a:r>
            <a:r>
              <a:rPr lang="en-US" altLang="zh-CN" sz="2000" dirty="0"/>
              <a:t>Python</a:t>
            </a:r>
            <a:r>
              <a:rPr lang="zh-CN" altLang="en-US" sz="2000" dirty="0"/>
              <a:t>提供了一个专门处理</a:t>
            </a:r>
            <a:r>
              <a:rPr lang="en-US" altLang="zh-CN" sz="2000" dirty="0"/>
              <a:t>csv</a:t>
            </a:r>
            <a:r>
              <a:rPr lang="zh-CN" altLang="en-US" sz="2000" dirty="0"/>
              <a:t>文件的模块来高效处理此类数据，</a:t>
            </a:r>
            <a:endParaRPr lang="en-US" altLang="zh-CN" sz="2000" dirty="0"/>
          </a:p>
          <a:p>
            <a:pPr lvl="1" algn="just">
              <a:lnSpc>
                <a:spcPct val="160000"/>
              </a:lnSpc>
              <a:spcBef>
                <a:spcPts val="0"/>
              </a:spcBef>
            </a:pPr>
            <a:r>
              <a:rPr lang="zh-CN" altLang="en-US" sz="2000" dirty="0"/>
              <a:t>忽略读写数据的繁琐细节，专注于对数据的处理。</a:t>
            </a:r>
          </a:p>
          <a:p>
            <a:pPr marL="0" indent="0" algn="just">
              <a:lnSpc>
                <a:spcPct val="160000"/>
              </a:lnSpc>
              <a:spcBef>
                <a:spcPts val="0"/>
              </a:spcBef>
              <a:buNone/>
            </a:pPr>
            <a:r>
              <a:rPr lang="zh-CN" altLang="en-US" sz="2200" dirty="0"/>
              <a:t>    要使用</a:t>
            </a:r>
            <a:r>
              <a:rPr lang="en-US" altLang="zh-CN" sz="2200" dirty="0"/>
              <a:t>csv</a:t>
            </a:r>
            <a:r>
              <a:rPr lang="zh-CN" altLang="en-US" sz="2200" dirty="0"/>
              <a:t>模块，必须先导入</a:t>
            </a:r>
            <a:r>
              <a:rPr lang="en-US" altLang="zh-CN" sz="2200" dirty="0"/>
              <a:t>csv</a:t>
            </a:r>
            <a:r>
              <a:rPr lang="zh-CN" altLang="en-US" sz="2200" dirty="0"/>
              <a:t>模块，</a:t>
            </a:r>
            <a:r>
              <a:rPr lang="zh-CN" altLang="en-US" sz="2400" dirty="0">
                <a:solidFill>
                  <a:srgbClr val="FF0000"/>
                </a:solidFill>
              </a:rPr>
              <a:t>使用</a:t>
            </a:r>
            <a:r>
              <a:rPr lang="en-US" altLang="zh-CN" sz="2400" dirty="0">
                <a:solidFill>
                  <a:srgbClr val="FF0000"/>
                </a:solidFill>
              </a:rPr>
              <a:t>import csv</a:t>
            </a:r>
            <a:r>
              <a:rPr lang="zh-CN" altLang="en-US" sz="2400" dirty="0">
                <a:solidFill>
                  <a:srgbClr val="FF0000"/>
                </a:solidFill>
              </a:rPr>
              <a:t>语句</a:t>
            </a:r>
            <a:r>
              <a:rPr lang="zh-CN" altLang="en-US" sz="2200" dirty="0"/>
              <a:t>。</a:t>
            </a:r>
          </a:p>
          <a:p>
            <a:pPr marL="0" indent="0" algn="just">
              <a:lnSpc>
                <a:spcPct val="160000"/>
              </a:lnSpc>
              <a:buNone/>
            </a:pP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9.3 csv</a:t>
            </a:r>
            <a:r>
              <a:rPr lang="zh-CN" altLang="en-US" dirty="0"/>
              <a:t>文件读写</a:t>
            </a:r>
          </a:p>
        </p:txBody>
      </p:sp>
    </p:spTree>
    <p:extLst>
      <p:ext uri="{BB962C8B-B14F-4D97-AF65-F5344CB8AC3E}">
        <p14:creationId xmlns:p14="http://schemas.microsoft.com/office/powerpoint/2010/main" val="2987924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1. csv</a:t>
            </a:r>
            <a:r>
              <a:rPr lang="zh-CN" altLang="en-US" sz="2200" dirty="0">
                <a:solidFill>
                  <a:srgbClr val="0432FF"/>
                </a:solidFill>
              </a:rPr>
              <a:t>文件读取</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2065421"/>
            <a:ext cx="9982200" cy="3159725"/>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800" dirty="0"/>
              <a:t>csv</a:t>
            </a:r>
            <a:r>
              <a:rPr lang="zh-CN" altLang="en-US" sz="1800" dirty="0"/>
              <a:t>模块定义了</a:t>
            </a:r>
            <a:r>
              <a:rPr lang="en-US" altLang="zh-CN" sz="1800" dirty="0"/>
              <a:t>reader</a:t>
            </a:r>
            <a:r>
              <a:rPr lang="zh-CN" altLang="en-US" sz="1800" dirty="0"/>
              <a:t>和</a:t>
            </a:r>
            <a:r>
              <a:rPr lang="en-US" altLang="zh-CN" sz="1800" dirty="0"/>
              <a:t>writer</a:t>
            </a:r>
            <a:r>
              <a:rPr lang="zh-CN" altLang="en-US" sz="1800" dirty="0"/>
              <a:t>两个常用函数</a:t>
            </a:r>
            <a:r>
              <a:rPr lang="en-US" altLang="zh-CN" sz="1800" dirty="0"/>
              <a:t>[ ]</a:t>
            </a:r>
          </a:p>
          <a:p>
            <a:pPr marL="0" indent="0">
              <a:lnSpc>
                <a:spcPct val="150000"/>
              </a:lnSpc>
              <a:spcBef>
                <a:spcPts val="0"/>
              </a:spcBef>
              <a:buNone/>
            </a:pPr>
            <a:r>
              <a:rPr lang="en-US" altLang="zh-CN" sz="1800" dirty="0"/>
              <a:t>  	  </a:t>
            </a:r>
            <a:r>
              <a:rPr lang="en-US" altLang="zh-CN" sz="1800" dirty="0" err="1">
                <a:solidFill>
                  <a:srgbClr val="FF0000"/>
                </a:solidFill>
              </a:rPr>
              <a:t>csv.reader</a:t>
            </a:r>
            <a:r>
              <a:rPr lang="en-US" altLang="zh-CN" sz="1800" dirty="0">
                <a:solidFill>
                  <a:srgbClr val="FF0000"/>
                </a:solidFill>
              </a:rPr>
              <a:t>(</a:t>
            </a:r>
            <a:r>
              <a:rPr lang="en-US" altLang="zh-CN" sz="1800" dirty="0" err="1">
                <a:solidFill>
                  <a:srgbClr val="FF0000"/>
                </a:solidFill>
              </a:rPr>
              <a:t>csvfile</a:t>
            </a:r>
            <a:r>
              <a:rPr lang="en-US" altLang="zh-CN" sz="1800" dirty="0">
                <a:solidFill>
                  <a:srgbClr val="FF0000"/>
                </a:solidFill>
              </a:rPr>
              <a:t>, dialect=’excel’, **</a:t>
            </a:r>
            <a:r>
              <a:rPr lang="en-US" altLang="zh-CN" sz="1800" dirty="0" err="1">
                <a:solidFill>
                  <a:srgbClr val="FF0000"/>
                </a:solidFill>
              </a:rPr>
              <a:t>fmtparams</a:t>
            </a:r>
            <a:r>
              <a:rPr lang="en-US" altLang="zh-CN" sz="1800" dirty="0">
                <a:solidFill>
                  <a:srgbClr val="FF0000"/>
                </a:solidFill>
              </a:rPr>
              <a:t>)</a:t>
            </a:r>
          </a:p>
          <a:p>
            <a:pPr marL="0" indent="0">
              <a:lnSpc>
                <a:spcPct val="150000"/>
              </a:lnSpc>
              <a:spcBef>
                <a:spcPts val="0"/>
              </a:spcBef>
              <a:buNone/>
            </a:pPr>
            <a:r>
              <a:rPr lang="zh-CN" altLang="en-US" sz="1800" dirty="0"/>
              <a:t>    该函数用于从</a:t>
            </a:r>
            <a:r>
              <a:rPr lang="en-US" altLang="zh-CN" sz="1800" dirty="0"/>
              <a:t>csv</a:t>
            </a:r>
            <a:r>
              <a:rPr lang="zh-CN" altLang="en-US" sz="1800" dirty="0"/>
              <a:t>文件中读取数据，返回一个在给定的</a:t>
            </a:r>
            <a:r>
              <a:rPr lang="en-US" altLang="zh-CN" sz="1800" dirty="0" err="1"/>
              <a:t>csvfile</a:t>
            </a:r>
            <a:r>
              <a:rPr lang="zh-CN" altLang="en-US" sz="1800" dirty="0"/>
              <a:t>中的行上迭代的</a:t>
            </a:r>
            <a:r>
              <a:rPr lang="en-US" altLang="zh-CN" sz="1800" dirty="0"/>
              <a:t>reader</a:t>
            </a:r>
            <a:r>
              <a:rPr lang="zh-CN" altLang="en-US" sz="1800" dirty="0"/>
              <a:t>对象。</a:t>
            </a:r>
            <a:endParaRPr lang="en-US" altLang="zh-CN" sz="1800" dirty="0"/>
          </a:p>
          <a:p>
            <a:pPr lvl="1">
              <a:lnSpc>
                <a:spcPct val="150000"/>
              </a:lnSpc>
              <a:spcBef>
                <a:spcPts val="0"/>
              </a:spcBef>
            </a:pPr>
            <a:r>
              <a:rPr lang="en-US" altLang="zh-CN" dirty="0" err="1">
                <a:solidFill>
                  <a:srgbClr val="0432FF"/>
                </a:solidFill>
              </a:rPr>
              <a:t>csvfile</a:t>
            </a:r>
            <a:r>
              <a:rPr lang="zh-CN" altLang="en-US" dirty="0"/>
              <a:t>是文件对象或列表对象，如果</a:t>
            </a:r>
            <a:r>
              <a:rPr lang="en-US" altLang="zh-CN" dirty="0"/>
              <a:t>csv</a:t>
            </a:r>
            <a:r>
              <a:rPr lang="zh-CN" altLang="en-US" dirty="0"/>
              <a:t>是文件对象，则应该使用</a:t>
            </a:r>
            <a:r>
              <a:rPr lang="en-US" altLang="zh-CN" dirty="0"/>
              <a:t>newline=’’</a:t>
            </a:r>
            <a:r>
              <a:rPr lang="zh-CN" altLang="en-US" dirty="0"/>
              <a:t>打开它；</a:t>
            </a:r>
            <a:endParaRPr lang="en-US" altLang="zh-CN" dirty="0"/>
          </a:p>
          <a:p>
            <a:pPr lvl="1">
              <a:lnSpc>
                <a:spcPct val="150000"/>
              </a:lnSpc>
              <a:spcBef>
                <a:spcPts val="0"/>
              </a:spcBef>
            </a:pPr>
            <a:r>
              <a:rPr lang="en-US" altLang="zh-CN" dirty="0">
                <a:solidFill>
                  <a:srgbClr val="0432FF"/>
                </a:solidFill>
              </a:rPr>
              <a:t>dialect</a:t>
            </a:r>
            <a:r>
              <a:rPr lang="zh-CN" altLang="en-US" dirty="0"/>
              <a:t>是一个可选参数，用于指定</a:t>
            </a:r>
            <a:r>
              <a:rPr lang="en-US" altLang="zh-CN" dirty="0"/>
              <a:t>csv</a:t>
            </a:r>
            <a:r>
              <a:rPr lang="zh-CN" altLang="en-US" dirty="0"/>
              <a:t>文件的格式，包括一系列特定参数的取值，可以是</a:t>
            </a:r>
            <a:r>
              <a:rPr lang="en-US" altLang="zh-CN" dirty="0"/>
              <a:t>Dialect</a:t>
            </a:r>
            <a:r>
              <a:rPr lang="zh-CN" altLang="en-US" dirty="0"/>
              <a:t>类的子类实例或者由</a:t>
            </a:r>
            <a:r>
              <a:rPr lang="en-US" altLang="zh-CN" dirty="0" err="1"/>
              <a:t>list_dialect</a:t>
            </a:r>
            <a:r>
              <a:rPr lang="en-US" altLang="zh-CN" dirty="0"/>
              <a:t>()</a:t>
            </a:r>
            <a:r>
              <a:rPr lang="zh-CN" altLang="en-US" dirty="0"/>
              <a:t>函数返回的字符串，默认值是</a:t>
            </a:r>
            <a:r>
              <a:rPr lang="en-US" altLang="zh-CN" dirty="0"/>
              <a:t>excel</a:t>
            </a:r>
            <a:r>
              <a:rPr lang="zh-CN" altLang="en-US" dirty="0"/>
              <a:t>，即以逗号为分隔符；</a:t>
            </a:r>
            <a:endParaRPr lang="en-US" altLang="zh-CN" dirty="0"/>
          </a:p>
          <a:p>
            <a:pPr lvl="1">
              <a:lnSpc>
                <a:spcPct val="150000"/>
              </a:lnSpc>
              <a:spcBef>
                <a:spcPts val="0"/>
              </a:spcBef>
            </a:pPr>
            <a:r>
              <a:rPr lang="zh-CN" altLang="en-US" dirty="0"/>
              <a:t>其他可选的</a:t>
            </a:r>
            <a:r>
              <a:rPr lang="en-US" altLang="zh-CN" dirty="0" err="1">
                <a:solidFill>
                  <a:srgbClr val="0432FF"/>
                </a:solidFill>
              </a:rPr>
              <a:t>fmtparams</a:t>
            </a:r>
            <a:r>
              <a:rPr lang="zh-CN" altLang="en-US" dirty="0"/>
              <a:t>关键字参数用于指定当前</a:t>
            </a:r>
            <a:r>
              <a:rPr lang="en-US" altLang="zh-CN" dirty="0"/>
              <a:t>dialect</a:t>
            </a:r>
            <a:r>
              <a:rPr lang="zh-CN" altLang="en-US" dirty="0"/>
              <a:t>状态下特定的格式参数，可以覆盖</a:t>
            </a:r>
            <a:r>
              <a:rPr lang="en-US" altLang="zh-CN" dirty="0"/>
              <a:t>dialect</a:t>
            </a:r>
            <a:r>
              <a:rPr lang="zh-CN" altLang="en-US" dirty="0"/>
              <a:t>中的格式。</a:t>
            </a:r>
          </a:p>
          <a:p>
            <a:pPr marL="0" indent="0">
              <a:lnSpc>
                <a:spcPct val="150000"/>
              </a:lnSpc>
              <a:spcBef>
                <a:spcPts val="0"/>
              </a:spcBef>
              <a:buNone/>
            </a:pPr>
            <a:r>
              <a:rPr lang="zh-CN" altLang="en-US" sz="1800" dirty="0"/>
              <a:t>    </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9.3.1</a:t>
            </a:r>
            <a:r>
              <a:rPr lang="zh-CN" altLang="en-US" dirty="0">
                <a:solidFill>
                  <a:srgbClr val="002060"/>
                </a:solidFill>
                <a:latin typeface="Microsoft YaHei" panose="020B0503020204020204" pitchFamily="34" charset="-122"/>
                <a:ea typeface="Microsoft YaHei" panose="020B0503020204020204" pitchFamily="34" charset="-122"/>
              </a:rPr>
              <a:t> </a:t>
            </a:r>
            <a:r>
              <a:rPr lang="en-US" altLang="zh-CN" dirty="0">
                <a:solidFill>
                  <a:srgbClr val="002060"/>
                </a:solidFill>
                <a:latin typeface="Microsoft YaHei" panose="020B0503020204020204" pitchFamily="34" charset="-122"/>
                <a:ea typeface="Microsoft YaHei" panose="020B0503020204020204" pitchFamily="34" charset="-122"/>
              </a:rPr>
              <a:t>CSV</a:t>
            </a:r>
            <a:r>
              <a:rPr lang="zh-CN" altLang="en-US" dirty="0">
                <a:solidFill>
                  <a:srgbClr val="002060"/>
                </a:solidFill>
                <a:latin typeface="Microsoft YaHei" panose="020B0503020204020204" pitchFamily="34" charset="-122"/>
                <a:ea typeface="Microsoft YaHei" panose="020B0503020204020204" pitchFamily="34" charset="-122"/>
              </a:rPr>
              <a:t>文件的读取</a:t>
            </a:r>
          </a:p>
        </p:txBody>
      </p:sp>
    </p:spTree>
    <p:extLst>
      <p:ext uri="{BB962C8B-B14F-4D97-AF65-F5344CB8AC3E}">
        <p14:creationId xmlns:p14="http://schemas.microsoft.com/office/powerpoint/2010/main" val="737311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465279"/>
            <a:ext cx="9982200" cy="1418622"/>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zh-CN" altLang="en-US" sz="1800" dirty="0"/>
              <a:t>    从</a:t>
            </a:r>
            <a:r>
              <a:rPr lang="en-US" altLang="zh-CN" sz="1800" dirty="0"/>
              <a:t>csv</a:t>
            </a:r>
            <a:r>
              <a:rPr lang="zh-CN" altLang="en-US" sz="1800" dirty="0"/>
              <a:t>文件读取的每一行都作为字符串列表返回，除非指定了</a:t>
            </a:r>
            <a:r>
              <a:rPr lang="en-US" altLang="zh-CN" sz="1800" dirty="0"/>
              <a:t>QUOTE_NONNUMERIC</a:t>
            </a:r>
            <a:r>
              <a:rPr lang="zh-CN" altLang="en-US" sz="1800" dirty="0"/>
              <a:t>（引号</a:t>
            </a:r>
            <a:r>
              <a:rPr lang="en-US" altLang="zh-CN" sz="1800" dirty="0"/>
              <a:t>-</a:t>
            </a:r>
            <a:r>
              <a:rPr lang="zh-CN" altLang="en-US" sz="1800" dirty="0"/>
              <a:t>非数字）格式选项（在这种情况下，未引号字段转换为浮点数），否则不会执行自动数据类型转换。</a:t>
            </a:r>
            <a:r>
              <a:rPr lang="en-US" altLang="zh-CN" sz="1800" dirty="0"/>
              <a:t> reader</a:t>
            </a:r>
            <a:r>
              <a:rPr lang="zh-CN" altLang="en-US" sz="1800" dirty="0"/>
              <a:t>函数使用示例：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9.3.1</a:t>
            </a:r>
            <a:r>
              <a:rPr lang="zh-CN" altLang="en-US" dirty="0">
                <a:solidFill>
                  <a:srgbClr val="002060"/>
                </a:solidFill>
                <a:latin typeface="Microsoft YaHei" panose="020B0503020204020204" pitchFamily="34" charset="-122"/>
                <a:ea typeface="Microsoft YaHei" panose="020B0503020204020204" pitchFamily="34" charset="-122"/>
              </a:rPr>
              <a:t> </a:t>
            </a:r>
            <a:r>
              <a:rPr lang="en-US" altLang="zh-CN" dirty="0">
                <a:solidFill>
                  <a:srgbClr val="002060"/>
                </a:solidFill>
                <a:latin typeface="Microsoft YaHei" panose="020B0503020204020204" pitchFamily="34" charset="-122"/>
                <a:ea typeface="Microsoft YaHei" panose="020B0503020204020204" pitchFamily="34" charset="-122"/>
              </a:rPr>
              <a:t>CSV</a:t>
            </a:r>
            <a:r>
              <a:rPr lang="zh-CN" altLang="en-US" dirty="0">
                <a:solidFill>
                  <a:srgbClr val="002060"/>
                </a:solidFill>
                <a:latin typeface="Microsoft YaHei" panose="020B0503020204020204" pitchFamily="34" charset="-122"/>
                <a:ea typeface="Microsoft YaHei" panose="020B0503020204020204" pitchFamily="34" charset="-122"/>
              </a:rPr>
              <a:t>文件的读取</a:t>
            </a:r>
          </a:p>
        </p:txBody>
      </p:sp>
      <p:pic>
        <p:nvPicPr>
          <p:cNvPr id="3" name="Picture 2">
            <a:extLst>
              <a:ext uri="{FF2B5EF4-FFF2-40B4-BE49-F238E27FC236}">
                <a16:creationId xmlns:a16="http://schemas.microsoft.com/office/drawing/2014/main" id="{53A8EB08-6A8B-F830-7F8B-60A7AC165673}"/>
              </a:ext>
            </a:extLst>
          </p:cNvPr>
          <p:cNvPicPr>
            <a:picLocks noChangeAspect="1"/>
          </p:cNvPicPr>
          <p:nvPr/>
        </p:nvPicPr>
        <p:blipFill>
          <a:blip r:embed="rId3"/>
          <a:stretch>
            <a:fillRect/>
          </a:stretch>
        </p:blipFill>
        <p:spPr>
          <a:xfrm>
            <a:off x="1300723" y="3252218"/>
            <a:ext cx="3746500" cy="29083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1177144F-8C48-DAA3-1712-25CDA965BE80}"/>
              </a:ext>
            </a:extLst>
          </p:cNvPr>
          <p:cNvPicPr>
            <a:picLocks noChangeAspect="1"/>
          </p:cNvPicPr>
          <p:nvPr/>
        </p:nvPicPr>
        <p:blipFill>
          <a:blip r:embed="rId4"/>
          <a:stretch>
            <a:fillRect/>
          </a:stretch>
        </p:blipFill>
        <p:spPr>
          <a:xfrm>
            <a:off x="5491825" y="2483868"/>
            <a:ext cx="3657600" cy="22225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0452D3E2-BA30-D795-98BF-A7E4710558D7}"/>
              </a:ext>
            </a:extLst>
          </p:cNvPr>
          <p:cNvPicPr>
            <a:picLocks noChangeAspect="1"/>
          </p:cNvPicPr>
          <p:nvPr/>
        </p:nvPicPr>
        <p:blipFill>
          <a:blip r:embed="rId5"/>
          <a:stretch>
            <a:fillRect/>
          </a:stretch>
        </p:blipFill>
        <p:spPr>
          <a:xfrm>
            <a:off x="7428741" y="5037651"/>
            <a:ext cx="3657600" cy="1473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4223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FB3E01-6AD4-5DF4-DE59-D2570E985E60}"/>
              </a:ext>
            </a:extLst>
          </p:cNvPr>
          <p:cNvPicPr>
            <a:picLocks noChangeAspect="1"/>
          </p:cNvPicPr>
          <p:nvPr/>
        </p:nvPicPr>
        <p:blipFill>
          <a:blip r:embed="rId2"/>
          <a:stretch>
            <a:fillRect/>
          </a:stretch>
        </p:blipFill>
        <p:spPr>
          <a:xfrm>
            <a:off x="1485115" y="255712"/>
            <a:ext cx="7023100" cy="4826000"/>
          </a:xfrm>
          <a:prstGeom prst="rect">
            <a:avLst/>
          </a:prstGeom>
        </p:spPr>
      </p:pic>
      <p:pic>
        <p:nvPicPr>
          <p:cNvPr id="3" name="Picture 2">
            <a:extLst>
              <a:ext uri="{FF2B5EF4-FFF2-40B4-BE49-F238E27FC236}">
                <a16:creationId xmlns:a16="http://schemas.microsoft.com/office/drawing/2014/main" id="{CA8C939B-561F-B9B5-130D-15557EA33713}"/>
              </a:ext>
            </a:extLst>
          </p:cNvPr>
          <p:cNvPicPr>
            <a:picLocks noChangeAspect="1"/>
          </p:cNvPicPr>
          <p:nvPr/>
        </p:nvPicPr>
        <p:blipFill>
          <a:blip r:embed="rId3"/>
          <a:stretch>
            <a:fillRect/>
          </a:stretch>
        </p:blipFill>
        <p:spPr>
          <a:xfrm>
            <a:off x="1485115" y="5150706"/>
            <a:ext cx="7772400" cy="1451582"/>
          </a:xfrm>
          <a:prstGeom prst="rect">
            <a:avLst/>
          </a:prstGeom>
        </p:spPr>
      </p:pic>
    </p:spTree>
    <p:extLst>
      <p:ext uri="{BB962C8B-B14F-4D97-AF65-F5344CB8AC3E}">
        <p14:creationId xmlns:p14="http://schemas.microsoft.com/office/powerpoint/2010/main" val="3714821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244292"/>
            <a:ext cx="9982200" cy="1914095"/>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600" dirty="0" err="1">
                <a:solidFill>
                  <a:srgbClr val="FF0000"/>
                </a:solidFill>
                <a:latin typeface="Microsoft YaHei" panose="020B0503020204020204" pitchFamily="34" charset="-122"/>
                <a:ea typeface="Microsoft YaHei" panose="020B0503020204020204" pitchFamily="34" charset="-122"/>
              </a:rPr>
              <a:t>csv.writer</a:t>
            </a:r>
            <a:r>
              <a:rPr lang="en-US" altLang="zh-CN" sz="1600" dirty="0">
                <a:solidFill>
                  <a:srgbClr val="FF0000"/>
                </a:solidFill>
                <a:latin typeface="Microsoft YaHei" panose="020B0503020204020204" pitchFamily="34" charset="-122"/>
                <a:ea typeface="Microsoft YaHei" panose="020B0503020204020204" pitchFamily="34" charset="-122"/>
              </a:rPr>
              <a:t>(file, delimiter=',', </a:t>
            </a:r>
            <a:r>
              <a:rPr lang="en-US" altLang="zh-CN" sz="1600" dirty="0" err="1">
                <a:solidFill>
                  <a:srgbClr val="FF0000"/>
                </a:solidFill>
                <a:latin typeface="Microsoft YaHei" panose="020B0503020204020204" pitchFamily="34" charset="-122"/>
                <a:ea typeface="Microsoft YaHei" panose="020B0503020204020204" pitchFamily="34" charset="-122"/>
              </a:rPr>
              <a:t>quotechar</a:t>
            </a:r>
            <a:r>
              <a:rPr lang="en-US" altLang="zh-CN" sz="1600" dirty="0">
                <a:solidFill>
                  <a:srgbClr val="FF0000"/>
                </a:solidFill>
                <a:latin typeface="Microsoft YaHei" panose="020B0503020204020204" pitchFamily="34" charset="-122"/>
                <a:ea typeface="Microsoft YaHei" panose="020B0503020204020204" pitchFamily="34" charset="-122"/>
              </a:rPr>
              <a:t>='"', quoting=</a:t>
            </a:r>
            <a:r>
              <a:rPr lang="en-US" altLang="zh-CN" sz="1600" dirty="0" err="1">
                <a:solidFill>
                  <a:srgbClr val="FF0000"/>
                </a:solidFill>
                <a:latin typeface="Microsoft YaHei" panose="020B0503020204020204" pitchFamily="34" charset="-122"/>
                <a:ea typeface="Microsoft YaHei" panose="020B0503020204020204" pitchFamily="34" charset="-122"/>
              </a:rPr>
              <a:t>csv.QUOTE_MINIMAL</a:t>
            </a:r>
            <a:r>
              <a:rPr lang="en-US" altLang="zh-CN" sz="1600" dirty="0">
                <a:solidFill>
                  <a:srgbClr val="FF0000"/>
                </a:solidFill>
                <a:latin typeface="Microsoft YaHei" panose="020B0503020204020204" pitchFamily="34" charset="-122"/>
                <a:ea typeface="Microsoft YaHei" panose="020B0503020204020204" pitchFamily="34" charset="-122"/>
              </a:rPr>
              <a:t>, </a:t>
            </a:r>
            <a:r>
              <a:rPr lang="en-US" altLang="zh-CN" sz="1600" dirty="0" err="1">
                <a:solidFill>
                  <a:srgbClr val="FF0000"/>
                </a:solidFill>
                <a:latin typeface="Microsoft YaHei" panose="020B0503020204020204" pitchFamily="34" charset="-122"/>
                <a:ea typeface="Microsoft YaHei" panose="020B0503020204020204" pitchFamily="34" charset="-122"/>
              </a:rPr>
              <a:t>lineterminator</a:t>
            </a:r>
            <a:r>
              <a:rPr lang="en-US" altLang="zh-CN" sz="1600" dirty="0">
                <a:solidFill>
                  <a:srgbClr val="FF0000"/>
                </a:solidFill>
                <a:latin typeface="Microsoft YaHei" panose="020B0503020204020204" pitchFamily="34" charset="-122"/>
                <a:ea typeface="Microsoft YaHei" panose="020B0503020204020204" pitchFamily="34" charset="-122"/>
              </a:rPr>
              <a:t>='\n')</a:t>
            </a:r>
          </a:p>
          <a:p>
            <a:pPr marL="0" indent="0" algn="just">
              <a:lnSpc>
                <a:spcPct val="150000"/>
              </a:lnSpc>
              <a:spcBef>
                <a:spcPts val="0"/>
              </a:spcBef>
              <a:buNone/>
            </a:pPr>
            <a:r>
              <a:rPr lang="zh-CN" altLang="en-US" sz="1800" dirty="0"/>
              <a:t>    </a:t>
            </a:r>
            <a:r>
              <a:rPr lang="en-US" altLang="zh-CN" sz="1800" dirty="0"/>
              <a:t>writer</a:t>
            </a:r>
            <a:r>
              <a:rPr lang="zh-CN" altLang="en-US" sz="1800" dirty="0"/>
              <a:t>函数用于向</a:t>
            </a:r>
            <a:r>
              <a:rPr lang="en-US" altLang="zh-CN" sz="1800" dirty="0"/>
              <a:t>csv</a:t>
            </a:r>
            <a:r>
              <a:rPr lang="zh-CN" altLang="en-US" sz="1800" dirty="0"/>
              <a:t>文件写入数据，返回一个</a:t>
            </a:r>
            <a:r>
              <a:rPr lang="en-US" altLang="zh-CN" sz="1800" dirty="0"/>
              <a:t>writer</a:t>
            </a:r>
            <a:r>
              <a:rPr lang="zh-CN" altLang="en-US" sz="1800" dirty="0"/>
              <a:t>对象，负责将用户的数据在给定的文件类对象上转换为带分隔符的字符串。</a:t>
            </a:r>
            <a:endParaRPr lang="en-US" altLang="zh-CN" sz="1800" dirty="0"/>
          </a:p>
          <a:p>
            <a:pPr lvl="1" algn="just">
              <a:lnSpc>
                <a:spcPct val="150000"/>
              </a:lnSpc>
              <a:spcBef>
                <a:spcPts val="0"/>
              </a:spcBef>
            </a:pPr>
            <a:r>
              <a:rPr lang="en-US" dirty="0"/>
              <a:t>quoting</a:t>
            </a:r>
            <a:r>
              <a:rPr lang="zh-CN" altLang="en-US" dirty="0"/>
              <a:t>用来控制给字段添加引用字符的行为，常用值包括：</a:t>
            </a:r>
            <a:endParaRPr lang="zh-CN" altLang="en-US" sz="1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9.3.2</a:t>
            </a:r>
            <a:r>
              <a:rPr lang="zh-CN" altLang="en-US" dirty="0">
                <a:solidFill>
                  <a:srgbClr val="002060"/>
                </a:solidFill>
                <a:latin typeface="Microsoft YaHei" panose="020B0503020204020204" pitchFamily="34" charset="-122"/>
                <a:ea typeface="Microsoft YaHei" panose="020B0503020204020204" pitchFamily="34" charset="-122"/>
              </a:rPr>
              <a:t> </a:t>
            </a:r>
            <a:r>
              <a:rPr lang="en-US" altLang="zh-CN" dirty="0">
                <a:solidFill>
                  <a:srgbClr val="002060"/>
                </a:solidFill>
                <a:latin typeface="Microsoft YaHei" panose="020B0503020204020204" pitchFamily="34" charset="-122"/>
                <a:ea typeface="Microsoft YaHei" panose="020B0503020204020204" pitchFamily="34" charset="-122"/>
              </a:rPr>
              <a:t>CSV</a:t>
            </a:r>
            <a:r>
              <a:rPr lang="zh-CN" altLang="en-US" dirty="0">
                <a:solidFill>
                  <a:srgbClr val="002060"/>
                </a:solidFill>
                <a:latin typeface="Microsoft YaHei" panose="020B0503020204020204" pitchFamily="34" charset="-122"/>
                <a:ea typeface="Microsoft YaHei" panose="020B0503020204020204" pitchFamily="34" charset="-122"/>
              </a:rPr>
              <a:t>文件的写入</a:t>
            </a:r>
          </a:p>
        </p:txBody>
      </p:sp>
      <p:pic>
        <p:nvPicPr>
          <p:cNvPr id="2" name="Picture 1">
            <a:extLst>
              <a:ext uri="{FF2B5EF4-FFF2-40B4-BE49-F238E27FC236}">
                <a16:creationId xmlns:a16="http://schemas.microsoft.com/office/drawing/2014/main" id="{6D2A7616-56F9-45C2-433B-45735F5ACF3C}"/>
              </a:ext>
            </a:extLst>
          </p:cNvPr>
          <p:cNvPicPr>
            <a:picLocks noChangeAspect="1"/>
          </p:cNvPicPr>
          <p:nvPr/>
        </p:nvPicPr>
        <p:blipFill>
          <a:blip r:embed="rId3"/>
          <a:stretch>
            <a:fillRect/>
          </a:stretch>
        </p:blipFill>
        <p:spPr>
          <a:xfrm>
            <a:off x="1997893" y="2888294"/>
            <a:ext cx="8194695" cy="1081411"/>
          </a:xfrm>
          <a:prstGeom prst="rect">
            <a:avLst/>
          </a:prstGeom>
        </p:spPr>
      </p:pic>
      <p:pic>
        <p:nvPicPr>
          <p:cNvPr id="3" name="Picture 2">
            <a:extLst>
              <a:ext uri="{FF2B5EF4-FFF2-40B4-BE49-F238E27FC236}">
                <a16:creationId xmlns:a16="http://schemas.microsoft.com/office/drawing/2014/main" id="{AB7BA7C1-4A96-FD4A-2EAD-6973C0DF7E7F}"/>
              </a:ext>
            </a:extLst>
          </p:cNvPr>
          <p:cNvPicPr>
            <a:picLocks noChangeAspect="1"/>
          </p:cNvPicPr>
          <p:nvPr/>
        </p:nvPicPr>
        <p:blipFill>
          <a:blip r:embed="rId4"/>
          <a:stretch>
            <a:fillRect/>
          </a:stretch>
        </p:blipFill>
        <p:spPr>
          <a:xfrm>
            <a:off x="866532" y="4119871"/>
            <a:ext cx="6426200" cy="13081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1A6D82AE-8FA6-0B87-030B-8EB25389DFF6}"/>
              </a:ext>
            </a:extLst>
          </p:cNvPr>
          <p:cNvPicPr>
            <a:picLocks noChangeAspect="1"/>
          </p:cNvPicPr>
          <p:nvPr/>
        </p:nvPicPr>
        <p:blipFill>
          <a:blip r:embed="rId5"/>
          <a:stretch>
            <a:fillRect/>
          </a:stretch>
        </p:blipFill>
        <p:spPr>
          <a:xfrm>
            <a:off x="6457462" y="4641219"/>
            <a:ext cx="5511800" cy="2108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07745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076EA4-6024-5B42-BD53-51943D3EDE46}"/>
              </a:ext>
            </a:extLst>
          </p:cNvPr>
          <p:cNvPicPr>
            <a:picLocks noChangeAspect="1"/>
          </p:cNvPicPr>
          <p:nvPr/>
        </p:nvPicPr>
        <p:blipFill>
          <a:blip r:embed="rId2"/>
          <a:stretch>
            <a:fillRect/>
          </a:stretch>
        </p:blipFill>
        <p:spPr>
          <a:xfrm>
            <a:off x="1186957" y="660400"/>
            <a:ext cx="5473700" cy="5537200"/>
          </a:xfrm>
          <a:prstGeom prst="rect">
            <a:avLst/>
          </a:prstGeom>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75E721CD-236D-3FB8-C42E-7CE8FE088A5E}"/>
              </a:ext>
            </a:extLst>
          </p:cNvPr>
          <p:cNvSpPr txBox="1"/>
          <p:nvPr/>
        </p:nvSpPr>
        <p:spPr>
          <a:xfrm>
            <a:off x="7053971" y="5479077"/>
            <a:ext cx="4482457" cy="369332"/>
          </a:xfrm>
          <a:prstGeom prst="rect">
            <a:avLst/>
          </a:prstGeom>
          <a:noFill/>
        </p:spPr>
        <p:txBody>
          <a:bodyPr wrap="square">
            <a:spAutoFit/>
          </a:bodyPr>
          <a:lstStyle/>
          <a:p>
            <a:pPr marL="285750" indent="-285750">
              <a:buFont typeface="Arial" panose="020B0604020202020204" pitchFamily="34" charset="0"/>
              <a:buChar char="•"/>
            </a:pPr>
            <a:r>
              <a:rPr lang="zh-CN" altLang="en-US" b="0" i="0" dirty="0">
                <a:effectLst/>
                <a:latin typeface="Nunito" pitchFamily="2" charset="77"/>
              </a:rPr>
              <a:t>使用 </a:t>
            </a:r>
            <a:r>
              <a:rPr lang="en-US" b="0" i="0" dirty="0" err="1">
                <a:effectLst/>
                <a:latin typeface="Nunito" pitchFamily="2" charset="77"/>
              </a:rPr>
              <a:t>writerows</a:t>
            </a:r>
            <a:r>
              <a:rPr lang="en-US" b="0" i="0" dirty="0">
                <a:effectLst/>
                <a:latin typeface="Nunito" pitchFamily="2" charset="77"/>
              </a:rPr>
              <a:t> </a:t>
            </a:r>
            <a:r>
              <a:rPr lang="zh-CN" altLang="en-US" b="0" i="0" dirty="0">
                <a:effectLst/>
                <a:latin typeface="Nunito" pitchFamily="2" charset="77"/>
              </a:rPr>
              <a:t>方法一次写入多行。</a:t>
            </a:r>
            <a:endParaRPr lang="zh-CN" altLang="en-US" dirty="0"/>
          </a:p>
        </p:txBody>
      </p:sp>
      <p:sp>
        <p:nvSpPr>
          <p:cNvPr id="6" name="TextBox 5">
            <a:extLst>
              <a:ext uri="{FF2B5EF4-FFF2-40B4-BE49-F238E27FC236}">
                <a16:creationId xmlns:a16="http://schemas.microsoft.com/office/drawing/2014/main" id="{54082ADB-33D1-4AE6-A75C-D9788E271491}"/>
              </a:ext>
            </a:extLst>
          </p:cNvPr>
          <p:cNvSpPr txBox="1"/>
          <p:nvPr/>
        </p:nvSpPr>
        <p:spPr>
          <a:xfrm>
            <a:off x="7053971" y="4758275"/>
            <a:ext cx="4482457" cy="646331"/>
          </a:xfrm>
          <a:prstGeom prst="rect">
            <a:avLst/>
          </a:prstGeom>
          <a:noFill/>
        </p:spPr>
        <p:txBody>
          <a:bodyPr wrap="square">
            <a:spAutoFit/>
          </a:bodyPr>
          <a:lstStyle/>
          <a:p>
            <a:pPr marL="285750" indent="-285750">
              <a:buFont typeface="Arial" panose="020B0604020202020204" pitchFamily="34" charset="0"/>
              <a:buChar char="•"/>
            </a:pPr>
            <a:r>
              <a:rPr lang="zh-CN" altLang="en-US" b="0" i="0" dirty="0">
                <a:effectLst/>
                <a:latin typeface="Nunito" pitchFamily="2" charset="77"/>
              </a:rPr>
              <a:t>使用 </a:t>
            </a:r>
            <a:r>
              <a:rPr lang="en-US" b="0" i="0" dirty="0" err="1">
                <a:effectLst/>
                <a:latin typeface="Nunito" pitchFamily="2" charset="77"/>
              </a:rPr>
              <a:t>writerow</a:t>
            </a:r>
            <a:r>
              <a:rPr lang="en-US" b="0" i="0" dirty="0">
                <a:effectLst/>
                <a:latin typeface="Nunito" pitchFamily="2" charset="77"/>
              </a:rPr>
              <a:t> </a:t>
            </a:r>
            <a:r>
              <a:rPr lang="zh-CN" altLang="en-US" b="0" i="0" dirty="0">
                <a:effectLst/>
                <a:latin typeface="Nunito" pitchFamily="2" charset="77"/>
              </a:rPr>
              <a:t>方法写入第一行，它只是字段名称。</a:t>
            </a:r>
            <a:endParaRPr lang="zh-CN" altLang="en-US" dirty="0"/>
          </a:p>
        </p:txBody>
      </p:sp>
    </p:spTree>
    <p:extLst>
      <p:ext uri="{BB962C8B-B14F-4D97-AF65-F5344CB8AC3E}">
        <p14:creationId xmlns:p14="http://schemas.microsoft.com/office/powerpoint/2010/main" val="428486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471889"/>
            <a:ext cx="9982200" cy="2851768"/>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800" dirty="0"/>
              <a:t>csv</a:t>
            </a:r>
            <a:r>
              <a:rPr lang="zh-CN" altLang="en-US" sz="1800" dirty="0"/>
              <a:t>模块定义了</a:t>
            </a:r>
            <a:r>
              <a:rPr lang="en-US" altLang="zh-CN" sz="1800" dirty="0" err="1"/>
              <a:t>DictReader</a:t>
            </a:r>
            <a:r>
              <a:rPr lang="zh-CN" altLang="en-US" sz="1800" dirty="0"/>
              <a:t>和</a:t>
            </a:r>
            <a:r>
              <a:rPr lang="en-US" altLang="zh-CN" sz="1800" dirty="0" err="1"/>
              <a:t>DictWriter</a:t>
            </a:r>
            <a:r>
              <a:rPr lang="zh-CN" altLang="en-US" sz="1800" dirty="0"/>
              <a:t>两个类用于以字典的形式读写数据。</a:t>
            </a:r>
            <a:endParaRPr lang="en-US" altLang="zh-CN" sz="1800" dirty="0"/>
          </a:p>
          <a:p>
            <a:pPr marL="0" indent="0" algn="just">
              <a:lnSpc>
                <a:spcPct val="150000"/>
              </a:lnSpc>
              <a:spcBef>
                <a:spcPts val="0"/>
              </a:spcBef>
              <a:buNone/>
            </a:pPr>
            <a:r>
              <a:rPr lang="en-US" altLang="zh-CN" sz="1800" dirty="0"/>
              <a:t>    </a:t>
            </a:r>
            <a:r>
              <a:rPr lang="en-US" altLang="zh-CN" sz="1800" dirty="0" err="1"/>
              <a:t>DictReader</a:t>
            </a:r>
            <a:r>
              <a:rPr lang="zh-CN" altLang="en-US" sz="1800" dirty="0"/>
              <a:t>类的使用形式为：</a:t>
            </a:r>
            <a:endParaRPr lang="en-US" altLang="zh-CN" sz="1800" dirty="0"/>
          </a:p>
          <a:p>
            <a:pPr marL="457200" lvl="1" indent="0" algn="just">
              <a:lnSpc>
                <a:spcPct val="150000"/>
              </a:lnSpc>
              <a:spcBef>
                <a:spcPts val="0"/>
              </a:spcBef>
              <a:buNone/>
            </a:pPr>
            <a:r>
              <a:rPr lang="en-US" altLang="zh-CN" dirty="0"/>
              <a:t>    </a:t>
            </a:r>
            <a:r>
              <a:rPr lang="en-US" altLang="zh-CN" dirty="0" err="1">
                <a:solidFill>
                  <a:srgbClr val="FF0000"/>
                </a:solidFill>
              </a:rPr>
              <a:t>csv.DictReader</a:t>
            </a:r>
            <a:r>
              <a:rPr lang="en-US" altLang="zh-CN" dirty="0">
                <a:solidFill>
                  <a:srgbClr val="FF0000"/>
                </a:solidFill>
              </a:rPr>
              <a:t>(f, fieldnames=None, </a:t>
            </a:r>
            <a:r>
              <a:rPr lang="en-US" altLang="zh-CN" dirty="0" err="1">
                <a:solidFill>
                  <a:srgbClr val="FF0000"/>
                </a:solidFill>
              </a:rPr>
              <a:t>restkey</a:t>
            </a:r>
            <a:r>
              <a:rPr lang="en-US" altLang="zh-CN" dirty="0">
                <a:solidFill>
                  <a:srgbClr val="FF0000"/>
                </a:solidFill>
              </a:rPr>
              <a:t>=None, </a:t>
            </a:r>
          </a:p>
          <a:p>
            <a:pPr marL="457200" lvl="1" indent="0" algn="just">
              <a:lnSpc>
                <a:spcPct val="150000"/>
              </a:lnSpc>
              <a:spcBef>
                <a:spcPts val="0"/>
              </a:spcBef>
              <a:buNone/>
            </a:pPr>
            <a:r>
              <a:rPr lang="en-US" altLang="zh-CN" dirty="0">
                <a:solidFill>
                  <a:srgbClr val="FF0000"/>
                </a:solidFill>
              </a:rPr>
              <a:t>		</a:t>
            </a:r>
            <a:r>
              <a:rPr lang="en-US" altLang="zh-CN" dirty="0" err="1">
                <a:solidFill>
                  <a:srgbClr val="FF0000"/>
                </a:solidFill>
              </a:rPr>
              <a:t>restval</a:t>
            </a:r>
            <a:r>
              <a:rPr lang="en-US" altLang="zh-CN" dirty="0">
                <a:solidFill>
                  <a:srgbClr val="FF0000"/>
                </a:solidFill>
              </a:rPr>
              <a:t>=None, dialect='excel', *</a:t>
            </a:r>
            <a:r>
              <a:rPr lang="en-US" altLang="zh-CN" dirty="0" err="1">
                <a:solidFill>
                  <a:srgbClr val="FF0000"/>
                </a:solidFill>
              </a:rPr>
              <a:t>args</a:t>
            </a:r>
            <a:r>
              <a:rPr lang="en-US" altLang="zh-CN" dirty="0">
                <a:solidFill>
                  <a:srgbClr val="FF0000"/>
                </a:solidFill>
              </a:rPr>
              <a:t>, **</a:t>
            </a:r>
            <a:r>
              <a:rPr lang="en-US" altLang="zh-CN" dirty="0" err="1">
                <a:solidFill>
                  <a:srgbClr val="FF0000"/>
                </a:solidFill>
              </a:rPr>
              <a:t>kwds</a:t>
            </a:r>
            <a:r>
              <a:rPr lang="en-US" altLang="zh-CN" dirty="0">
                <a:solidFill>
                  <a:srgbClr val="FF0000"/>
                </a:solidFill>
              </a:rPr>
              <a:t>)</a:t>
            </a:r>
            <a:endParaRPr lang="zh-CN" altLang="en-US" dirty="0">
              <a:solidFill>
                <a:srgbClr val="FF0000"/>
              </a:solidFill>
            </a:endParaRPr>
          </a:p>
          <a:p>
            <a:pPr marL="0" indent="0" algn="just">
              <a:lnSpc>
                <a:spcPct val="150000"/>
              </a:lnSpc>
              <a:spcBef>
                <a:spcPts val="0"/>
              </a:spcBef>
              <a:buNone/>
            </a:pPr>
            <a:r>
              <a:rPr lang="zh-CN" altLang="en-US" sz="1800" dirty="0"/>
              <a:t>    该函数创建一个</a:t>
            </a:r>
            <a:r>
              <a:rPr lang="en-US" altLang="zh-CN" sz="1800" dirty="0" err="1">
                <a:solidFill>
                  <a:srgbClr val="0432FF"/>
                </a:solidFill>
              </a:rPr>
              <a:t>DictReader</a:t>
            </a:r>
            <a:r>
              <a:rPr lang="zh-CN" altLang="en-US" sz="1800" dirty="0"/>
              <a:t>对象，将每行中的信息映射到一个</a:t>
            </a:r>
            <a:r>
              <a:rPr lang="en-US" altLang="zh-CN" sz="1800" dirty="0" err="1"/>
              <a:t>ordereddict</a:t>
            </a:r>
            <a:r>
              <a:rPr lang="zh-CN" altLang="en-US" sz="1800" dirty="0"/>
              <a:t>上。</a:t>
            </a:r>
            <a:endParaRPr lang="en-US" altLang="zh-CN" sz="1800" dirty="0"/>
          </a:p>
          <a:p>
            <a:pPr marL="0" indent="0" algn="just">
              <a:lnSpc>
                <a:spcPct val="150000"/>
              </a:lnSpc>
              <a:spcBef>
                <a:spcPts val="0"/>
              </a:spcBef>
              <a:buNone/>
            </a:pPr>
            <a:r>
              <a:rPr lang="zh-CN" altLang="en-US" sz="1800" dirty="0"/>
              <a:t>该</a:t>
            </a:r>
            <a:r>
              <a:rPr lang="en-US" altLang="zh-CN" sz="1800" dirty="0" err="1">
                <a:solidFill>
                  <a:srgbClr val="0432FF"/>
                </a:solidFill>
              </a:rPr>
              <a:t>ordereddict</a:t>
            </a:r>
            <a:r>
              <a:rPr lang="zh-CN" altLang="en-US" sz="1800" dirty="0"/>
              <a:t>对象的键由可选的</a:t>
            </a:r>
            <a:r>
              <a:rPr lang="en-US" altLang="zh-CN" sz="1800" dirty="0"/>
              <a:t>fieldname</a:t>
            </a:r>
            <a:r>
              <a:rPr lang="zh-CN" altLang="en-US" sz="1800" dirty="0"/>
              <a:t>参数给定。</a:t>
            </a:r>
            <a:endParaRPr lang="zh-CN" altLang="en-US" sz="18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9.3.3</a:t>
            </a:r>
            <a:r>
              <a:rPr lang="zh-CN" altLang="en-US" dirty="0">
                <a:solidFill>
                  <a:srgbClr val="002060"/>
                </a:solidFill>
                <a:latin typeface="Microsoft YaHei" panose="020B0503020204020204" pitchFamily="34" charset="-122"/>
                <a:ea typeface="Microsoft YaHei" panose="020B0503020204020204" pitchFamily="34" charset="-122"/>
              </a:rPr>
              <a:t> 以字典形式读写</a:t>
            </a:r>
          </a:p>
        </p:txBody>
      </p:sp>
      <p:pic>
        <p:nvPicPr>
          <p:cNvPr id="2" name="Picture 1">
            <a:extLst>
              <a:ext uri="{FF2B5EF4-FFF2-40B4-BE49-F238E27FC236}">
                <a16:creationId xmlns:a16="http://schemas.microsoft.com/office/drawing/2014/main" id="{93408269-3459-042D-2F01-0EFED203402A}"/>
              </a:ext>
            </a:extLst>
          </p:cNvPr>
          <p:cNvPicPr>
            <a:picLocks noChangeAspect="1"/>
          </p:cNvPicPr>
          <p:nvPr/>
        </p:nvPicPr>
        <p:blipFill>
          <a:blip r:embed="rId3"/>
          <a:stretch>
            <a:fillRect/>
          </a:stretch>
        </p:blipFill>
        <p:spPr>
          <a:xfrm>
            <a:off x="3002791" y="4307222"/>
            <a:ext cx="6184900" cy="2019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49072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991771" y="1549637"/>
            <a:ext cx="9982200" cy="2241409"/>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600" dirty="0"/>
              <a:t>    fieldnames</a:t>
            </a:r>
            <a:r>
              <a:rPr lang="zh-CN" altLang="en-US" sz="1600" dirty="0"/>
              <a:t>参数是一个序列，如果省略了该参数，则文件</a:t>
            </a:r>
            <a:r>
              <a:rPr lang="en-US" altLang="zh-CN" sz="1600" dirty="0"/>
              <a:t>f</a:t>
            </a:r>
            <a:r>
              <a:rPr lang="zh-CN" altLang="en-US" sz="1600" dirty="0"/>
              <a:t>第一行中的值将用作字段名。</a:t>
            </a:r>
            <a:endParaRPr lang="en-US" altLang="zh-CN" sz="1600" dirty="0"/>
          </a:p>
          <a:p>
            <a:pPr marL="0" indent="0" algn="just">
              <a:lnSpc>
                <a:spcPct val="150000"/>
              </a:lnSpc>
              <a:spcBef>
                <a:spcPts val="0"/>
              </a:spcBef>
              <a:buNone/>
            </a:pPr>
            <a:r>
              <a:rPr lang="zh-CN" altLang="en-US" sz="1600" dirty="0"/>
              <a:t>    如果一行中的字段多于字段名，则剩余数据将放入列表中，并使用</a:t>
            </a:r>
            <a:r>
              <a:rPr lang="en-US" altLang="zh-CN" sz="1600" dirty="0" err="1"/>
              <a:t>restkey</a:t>
            </a:r>
            <a:r>
              <a:rPr lang="zh-CN" altLang="en-US" sz="1600" dirty="0"/>
              <a:t>指定的字段名存储（默认为无）。</a:t>
            </a:r>
            <a:endParaRPr lang="en-US" altLang="zh-CN" sz="1600" dirty="0"/>
          </a:p>
          <a:p>
            <a:pPr marL="0" indent="0" algn="just">
              <a:lnSpc>
                <a:spcPct val="150000"/>
              </a:lnSpc>
              <a:spcBef>
                <a:spcPts val="0"/>
              </a:spcBef>
              <a:buNone/>
            </a:pPr>
            <a:r>
              <a:rPr lang="zh-CN" altLang="en-US" sz="1600" dirty="0"/>
              <a:t>    如果非空行的字段少于字段名，则缺少的值将用’</a:t>
            </a:r>
            <a:r>
              <a:rPr lang="en-US" altLang="zh-CN" sz="1400" dirty="0"/>
              <a:t>None</a:t>
            </a:r>
            <a:r>
              <a:rPr lang="en-US" altLang="zh-CN" sz="1600" dirty="0"/>
              <a:t>’</a:t>
            </a:r>
            <a:r>
              <a:rPr lang="zh-CN" altLang="en-US" sz="1600" dirty="0"/>
              <a:t>填充。不管字段名是如何确定的，有序字典都会保留其原始顺序。所有其他可选参数或关键字参数都将传递给基础</a:t>
            </a:r>
            <a:r>
              <a:rPr lang="en-US" altLang="zh-CN" sz="1600" dirty="0"/>
              <a:t>reader</a:t>
            </a:r>
            <a:r>
              <a:rPr lang="zh-CN" altLang="en-US" sz="1600" dirty="0"/>
              <a:t>实例。</a:t>
            </a:r>
          </a:p>
          <a:p>
            <a:pPr marL="0" indent="0" algn="just">
              <a:lnSpc>
                <a:spcPct val="150000"/>
              </a:lnSpc>
              <a:spcBef>
                <a:spcPts val="0"/>
              </a:spcBef>
              <a:buNone/>
            </a:pPr>
            <a:r>
              <a:rPr lang="zh-CN" altLang="en-US" sz="1600" dirty="0"/>
              <a:t>    示例如下：</a:t>
            </a:r>
          </a:p>
          <a:p>
            <a:pPr marL="0" indent="0" algn="just">
              <a:lnSpc>
                <a:spcPct val="150000"/>
              </a:lnSpc>
              <a:spcBef>
                <a:spcPts val="0"/>
              </a:spcBef>
              <a:buNone/>
            </a:pPr>
            <a:endParaRPr lang="zh-CN" altLang="en-US" sz="16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9.3.3</a:t>
            </a:r>
            <a:r>
              <a:rPr lang="zh-CN" altLang="en-US" dirty="0">
                <a:solidFill>
                  <a:srgbClr val="002060"/>
                </a:solidFill>
                <a:latin typeface="Microsoft YaHei" panose="020B0503020204020204" pitchFamily="34" charset="-122"/>
                <a:ea typeface="Microsoft YaHei" panose="020B0503020204020204" pitchFamily="34" charset="-122"/>
              </a:rPr>
              <a:t> 以字典形式读写</a:t>
            </a:r>
          </a:p>
        </p:txBody>
      </p:sp>
      <p:pic>
        <p:nvPicPr>
          <p:cNvPr id="3" name="Picture 2">
            <a:extLst>
              <a:ext uri="{FF2B5EF4-FFF2-40B4-BE49-F238E27FC236}">
                <a16:creationId xmlns:a16="http://schemas.microsoft.com/office/drawing/2014/main" id="{1C68B5D4-CDA2-5901-48A7-4A6CA2429FBA}"/>
              </a:ext>
            </a:extLst>
          </p:cNvPr>
          <p:cNvPicPr>
            <a:picLocks noChangeAspect="1"/>
          </p:cNvPicPr>
          <p:nvPr/>
        </p:nvPicPr>
        <p:blipFill>
          <a:blip r:embed="rId3"/>
          <a:stretch>
            <a:fillRect/>
          </a:stretch>
        </p:blipFill>
        <p:spPr>
          <a:xfrm>
            <a:off x="2916680" y="3938922"/>
            <a:ext cx="6934200" cy="20828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1483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548561" y="1347491"/>
            <a:ext cx="4468916" cy="2628900"/>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lnSpc>
                <a:spcPct val="150000"/>
              </a:lnSpc>
              <a:spcBef>
                <a:spcPts val="0"/>
              </a:spcBef>
            </a:pPr>
            <a:r>
              <a:rPr lang="zh-CN" altLang="en-US" sz="1800" dirty="0"/>
              <a:t>第二个函数是</a:t>
            </a:r>
            <a:r>
              <a:rPr lang="en-US" altLang="zh-CN" sz="1800" dirty="0" err="1"/>
              <a:t>DictWriter</a:t>
            </a:r>
            <a:r>
              <a:rPr lang="zh-CN" altLang="en-US" sz="1800" dirty="0"/>
              <a:t>类，使用形式为</a:t>
            </a:r>
            <a:endParaRPr lang="en-US" altLang="zh-CN" sz="1800" dirty="0"/>
          </a:p>
          <a:p>
            <a:pPr marL="0" indent="0" algn="just">
              <a:lnSpc>
                <a:spcPct val="150000"/>
              </a:lnSpc>
              <a:spcBef>
                <a:spcPts val="0"/>
              </a:spcBef>
              <a:buNone/>
            </a:pPr>
            <a:r>
              <a:rPr lang="en-US" altLang="zh-CN" sz="1800" dirty="0" err="1">
                <a:solidFill>
                  <a:srgbClr val="FF0000"/>
                </a:solidFill>
              </a:rPr>
              <a:t>csv.DictWriter</a:t>
            </a:r>
            <a:r>
              <a:rPr lang="en-US" altLang="zh-CN" sz="1800" dirty="0">
                <a:solidFill>
                  <a:srgbClr val="FF0000"/>
                </a:solidFill>
              </a:rPr>
              <a:t>(f, fieldnames, </a:t>
            </a:r>
            <a:r>
              <a:rPr lang="en-US" altLang="zh-CN" sz="1800" dirty="0" err="1">
                <a:solidFill>
                  <a:srgbClr val="FF0000"/>
                </a:solidFill>
              </a:rPr>
              <a:t>restval</a:t>
            </a:r>
            <a:r>
              <a:rPr lang="en-US" altLang="zh-CN" sz="1800" dirty="0">
                <a:solidFill>
                  <a:srgbClr val="FF0000"/>
                </a:solidFill>
              </a:rPr>
              <a:t>=‘ ’, </a:t>
            </a:r>
            <a:r>
              <a:rPr lang="en-US" altLang="zh-CN" sz="1800" dirty="0" err="1">
                <a:solidFill>
                  <a:srgbClr val="FF0000"/>
                </a:solidFill>
              </a:rPr>
              <a:t>extrasaction</a:t>
            </a:r>
            <a:r>
              <a:rPr lang="en-US" altLang="zh-CN" sz="1800" dirty="0">
                <a:solidFill>
                  <a:srgbClr val="FF0000"/>
                </a:solidFill>
              </a:rPr>
              <a:t>='</a:t>
            </a:r>
            <a:r>
              <a:rPr lang="en-US" altLang="zh-CN" sz="1800" dirty="0" err="1">
                <a:solidFill>
                  <a:srgbClr val="FF0000"/>
                </a:solidFill>
              </a:rPr>
              <a:t>raise',dialect</a:t>
            </a:r>
            <a:r>
              <a:rPr lang="en-US" altLang="zh-CN" sz="1800" dirty="0">
                <a:solidFill>
                  <a:srgbClr val="FF0000"/>
                </a:solidFill>
              </a:rPr>
              <a:t>='excel', *</a:t>
            </a:r>
            <a:r>
              <a:rPr lang="en-US" altLang="zh-CN" sz="1800" dirty="0" err="1">
                <a:solidFill>
                  <a:srgbClr val="FF0000"/>
                </a:solidFill>
              </a:rPr>
              <a:t>args</a:t>
            </a:r>
            <a:r>
              <a:rPr lang="en-US" altLang="zh-CN" sz="1800" dirty="0">
                <a:solidFill>
                  <a:srgbClr val="FF0000"/>
                </a:solidFill>
              </a:rPr>
              <a:t>, **</a:t>
            </a:r>
            <a:r>
              <a:rPr lang="en-US" altLang="zh-CN" sz="1800" dirty="0" err="1">
                <a:solidFill>
                  <a:srgbClr val="FF0000"/>
                </a:solidFill>
              </a:rPr>
              <a:t>kwds</a:t>
            </a:r>
            <a:r>
              <a:rPr lang="en-US" altLang="zh-CN" sz="1800" dirty="0">
                <a:solidFill>
                  <a:srgbClr val="FF0000"/>
                </a:solidFill>
              </a:rPr>
              <a:t>)</a:t>
            </a:r>
            <a:endParaRPr lang="zh-CN" altLang="en-US" sz="1800" dirty="0">
              <a:solidFill>
                <a:srgbClr val="FF0000"/>
              </a:solidFill>
            </a:endParaRPr>
          </a:p>
          <a:p>
            <a:pPr marL="0" indent="0" algn="just">
              <a:lnSpc>
                <a:spcPct val="150000"/>
              </a:lnSpc>
              <a:spcBef>
                <a:spcPts val="0"/>
              </a:spcBef>
              <a:buNone/>
            </a:pPr>
            <a:r>
              <a:rPr lang="zh-CN" altLang="en-US" sz="1800" dirty="0"/>
              <a:t>    该函数创建一个</a:t>
            </a:r>
            <a:r>
              <a:rPr lang="en-US" altLang="zh-CN" sz="1800" dirty="0" err="1"/>
              <a:t>DictWriter</a:t>
            </a:r>
            <a:r>
              <a:rPr lang="zh-CN" altLang="en-US" sz="1800" dirty="0"/>
              <a:t>对象，将字典映射到输出行。</a:t>
            </a:r>
            <a:endParaRPr lang="en-US" altLang="zh-CN" sz="1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9.3.3</a:t>
            </a:r>
            <a:r>
              <a:rPr lang="zh-CN" altLang="en-US" dirty="0">
                <a:solidFill>
                  <a:srgbClr val="002060"/>
                </a:solidFill>
                <a:latin typeface="Microsoft YaHei" panose="020B0503020204020204" pitchFamily="34" charset="-122"/>
                <a:ea typeface="Microsoft YaHei" panose="020B0503020204020204" pitchFamily="34" charset="-122"/>
              </a:rPr>
              <a:t> 以字典形式读写</a:t>
            </a:r>
          </a:p>
        </p:txBody>
      </p:sp>
      <p:pic>
        <p:nvPicPr>
          <p:cNvPr id="2" name="Picture 1">
            <a:extLst>
              <a:ext uri="{FF2B5EF4-FFF2-40B4-BE49-F238E27FC236}">
                <a16:creationId xmlns:a16="http://schemas.microsoft.com/office/drawing/2014/main" id="{8461E180-254F-57F2-5C85-CD124BF59FA8}"/>
              </a:ext>
            </a:extLst>
          </p:cNvPr>
          <p:cNvPicPr>
            <a:picLocks noChangeAspect="1"/>
          </p:cNvPicPr>
          <p:nvPr/>
        </p:nvPicPr>
        <p:blipFill>
          <a:blip r:embed="rId3"/>
          <a:stretch>
            <a:fillRect/>
          </a:stretch>
        </p:blipFill>
        <p:spPr>
          <a:xfrm>
            <a:off x="5223138" y="1222226"/>
            <a:ext cx="6718300" cy="2628900"/>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87BA8D59-11BB-54D4-5848-827BF4935C65}"/>
              </a:ext>
            </a:extLst>
          </p:cNvPr>
          <p:cNvSpPr txBox="1"/>
          <p:nvPr/>
        </p:nvSpPr>
        <p:spPr>
          <a:xfrm>
            <a:off x="767103" y="3976391"/>
            <a:ext cx="10656276" cy="2350131"/>
          </a:xfrm>
          <a:prstGeom prst="rect">
            <a:avLst/>
          </a:prstGeom>
          <a:noFill/>
        </p:spPr>
        <p:txBody>
          <a:bodyPr wrap="square">
            <a:spAutoFit/>
          </a:bodyPr>
          <a:lstStyle/>
          <a:p>
            <a:pPr marL="742950" lvl="1" indent="-285750" algn="just">
              <a:lnSpc>
                <a:spcPct val="150000"/>
              </a:lnSpc>
              <a:spcBef>
                <a:spcPts val="0"/>
              </a:spcBef>
              <a:buFont typeface="Arial" panose="020B0604020202020204" pitchFamily="34" charset="0"/>
              <a:buChar char="•"/>
            </a:pPr>
            <a:r>
              <a:rPr lang="en-US" altLang="zh-CN" sz="1600" dirty="0" err="1"/>
              <a:t>FieldNames</a:t>
            </a:r>
            <a:r>
              <a:rPr lang="zh-CN" altLang="en-US" sz="1600" dirty="0"/>
              <a:t>参数是一个键序列，用于标识传递给</a:t>
            </a:r>
            <a:r>
              <a:rPr lang="en-US" altLang="zh-CN" sz="1600" dirty="0" err="1"/>
              <a:t>writeRow</a:t>
            </a:r>
            <a:r>
              <a:rPr lang="en-US" altLang="zh-CN" sz="1600" dirty="0"/>
              <a:t>()</a:t>
            </a:r>
            <a:r>
              <a:rPr lang="zh-CN" altLang="en-US" sz="1600" dirty="0"/>
              <a:t>方法的字典中的值写入文件</a:t>
            </a:r>
            <a:r>
              <a:rPr lang="en-US" altLang="zh-CN" sz="1600" dirty="0"/>
              <a:t>f</a:t>
            </a:r>
            <a:r>
              <a:rPr lang="zh-CN" altLang="en-US" sz="1600" dirty="0"/>
              <a:t>的顺序。</a:t>
            </a:r>
            <a:endParaRPr lang="en-US" altLang="zh-CN" sz="1600" dirty="0"/>
          </a:p>
          <a:p>
            <a:pPr marL="742950" lvl="1" indent="-285750" algn="just">
              <a:lnSpc>
                <a:spcPct val="150000"/>
              </a:lnSpc>
              <a:spcBef>
                <a:spcPts val="0"/>
              </a:spcBef>
              <a:buFont typeface="Arial" panose="020B0604020202020204" pitchFamily="34" charset="0"/>
              <a:buChar char="•"/>
            </a:pPr>
            <a:r>
              <a:rPr lang="en-US" altLang="zh-CN" sz="1600" dirty="0" err="1"/>
              <a:t>restval</a:t>
            </a:r>
            <a:r>
              <a:rPr lang="zh-CN" altLang="en-US" sz="1600" dirty="0"/>
              <a:t>参数可选，用于指定当字典在</a:t>
            </a:r>
            <a:r>
              <a:rPr lang="en-US" altLang="zh-CN" sz="1600" dirty="0" err="1"/>
              <a:t>FieldNames</a:t>
            </a:r>
            <a:r>
              <a:rPr lang="zh-CN" altLang="en-US" sz="1600" dirty="0"/>
              <a:t>中缺少键时要写入的值。</a:t>
            </a:r>
            <a:endParaRPr lang="en-US" altLang="zh-CN" sz="1600" dirty="0"/>
          </a:p>
          <a:p>
            <a:pPr marL="742950" lvl="1" indent="-285750" algn="just">
              <a:lnSpc>
                <a:spcPct val="150000"/>
              </a:lnSpc>
              <a:spcBef>
                <a:spcPts val="0"/>
              </a:spcBef>
              <a:buFont typeface="Arial" panose="020B0604020202020204" pitchFamily="34" charset="0"/>
              <a:buChar char="•"/>
            </a:pPr>
            <a:r>
              <a:rPr lang="zh-CN" altLang="en-US" sz="1600" dirty="0"/>
              <a:t>如果传递给</a:t>
            </a:r>
            <a:r>
              <a:rPr lang="en-US" altLang="zh-CN" sz="1600" dirty="0" err="1"/>
              <a:t>writerow</a:t>
            </a:r>
            <a:r>
              <a:rPr lang="en-US" altLang="zh-CN" sz="1600" dirty="0"/>
              <a:t>()</a:t>
            </a:r>
            <a:r>
              <a:rPr lang="zh-CN" altLang="en-US" sz="1600" dirty="0"/>
              <a:t>方法的字典包含在字段名中找不到的键，则可选的</a:t>
            </a:r>
            <a:r>
              <a:rPr lang="en-US" altLang="zh-CN" sz="1600" dirty="0" err="1"/>
              <a:t>extrasaction</a:t>
            </a:r>
            <a:r>
              <a:rPr lang="zh-CN" altLang="en-US" sz="1600" dirty="0"/>
              <a:t>参数指示要采取的操作。如果将其设置为“</a:t>
            </a:r>
            <a:r>
              <a:rPr lang="en-US" altLang="zh-CN" sz="1600" dirty="0"/>
              <a:t>raise”</a:t>
            </a:r>
            <a:r>
              <a:rPr lang="zh-CN" altLang="en-US" sz="1600" dirty="0"/>
              <a:t>，则会引发默认值</a:t>
            </a:r>
            <a:r>
              <a:rPr lang="en-US" altLang="zh-CN" sz="1600" dirty="0" err="1"/>
              <a:t>ValueError</a:t>
            </a:r>
            <a:r>
              <a:rPr lang="zh-CN" altLang="en-US" sz="1600" dirty="0"/>
              <a:t>；如果设置为“</a:t>
            </a:r>
            <a:r>
              <a:rPr lang="en-US" altLang="zh-CN" sz="1600" dirty="0"/>
              <a:t>ignore”</a:t>
            </a:r>
            <a:r>
              <a:rPr lang="zh-CN" altLang="en-US" sz="1600" dirty="0"/>
              <a:t>，则忽略字典中的额外值。</a:t>
            </a:r>
            <a:endParaRPr lang="en-US" altLang="zh-CN" sz="1600" dirty="0"/>
          </a:p>
          <a:p>
            <a:pPr marL="742950" lvl="1" indent="-285750" algn="just">
              <a:lnSpc>
                <a:spcPct val="150000"/>
              </a:lnSpc>
              <a:spcBef>
                <a:spcPts val="0"/>
              </a:spcBef>
              <a:buFont typeface="Arial" panose="020B0604020202020204" pitchFamily="34" charset="0"/>
              <a:buChar char="•"/>
            </a:pPr>
            <a:r>
              <a:rPr lang="zh-CN" altLang="en-US" sz="1600" dirty="0"/>
              <a:t>任何其他可选参数或关键字参数都将传递给基础</a:t>
            </a:r>
            <a:r>
              <a:rPr lang="en-US" altLang="zh-CN" sz="1600" dirty="0"/>
              <a:t>writer</a:t>
            </a:r>
            <a:r>
              <a:rPr lang="zh-CN" altLang="en-US" sz="1600" dirty="0"/>
              <a:t>实例。</a:t>
            </a:r>
          </a:p>
          <a:p>
            <a:pPr marL="742950" lvl="1" indent="-285750" algn="just">
              <a:lnSpc>
                <a:spcPct val="150000"/>
              </a:lnSpc>
              <a:spcBef>
                <a:spcPts val="0"/>
              </a:spcBef>
              <a:buFont typeface="Arial" panose="020B0604020202020204" pitchFamily="34" charset="0"/>
              <a:buChar char="•"/>
            </a:pPr>
            <a:r>
              <a:rPr lang="zh-CN" altLang="en-US" sz="1600" dirty="0"/>
              <a:t>注意，与</a:t>
            </a:r>
            <a:r>
              <a:rPr lang="en-US" altLang="zh-CN" sz="1600" dirty="0" err="1"/>
              <a:t>DictReader</a:t>
            </a:r>
            <a:r>
              <a:rPr lang="zh-CN" altLang="en-US" sz="1600" dirty="0"/>
              <a:t>类不同，</a:t>
            </a:r>
            <a:r>
              <a:rPr lang="en-US" altLang="zh-CN" sz="1600" dirty="0" err="1"/>
              <a:t>DictWriter</a:t>
            </a:r>
            <a:r>
              <a:rPr lang="zh-CN" altLang="en-US" sz="1600" dirty="0"/>
              <a:t>类的</a:t>
            </a:r>
            <a:r>
              <a:rPr lang="en-US" altLang="zh-CN" sz="1600" dirty="0"/>
              <a:t>fieldname</a:t>
            </a:r>
            <a:r>
              <a:rPr lang="zh-CN" altLang="en-US" sz="1600" dirty="0"/>
              <a:t>参数不是可选的。</a:t>
            </a:r>
          </a:p>
        </p:txBody>
      </p:sp>
    </p:spTree>
    <p:extLst>
      <p:ext uri="{BB962C8B-B14F-4D97-AF65-F5344CB8AC3E}">
        <p14:creationId xmlns:p14="http://schemas.microsoft.com/office/powerpoint/2010/main" val="384277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FE2E93-C29F-3EB9-25D8-5C077B5EAC97}"/>
              </a:ext>
            </a:extLst>
          </p:cNvPr>
          <p:cNvPicPr>
            <a:picLocks noChangeAspect="1"/>
          </p:cNvPicPr>
          <p:nvPr/>
        </p:nvPicPr>
        <p:blipFill>
          <a:blip r:embed="rId2"/>
          <a:stretch>
            <a:fillRect/>
          </a:stretch>
        </p:blipFill>
        <p:spPr>
          <a:xfrm>
            <a:off x="1125941" y="0"/>
            <a:ext cx="5504580" cy="6858000"/>
          </a:xfrm>
          <a:prstGeom prst="rect">
            <a:avLst/>
          </a:prstGeom>
          <a:effectLst>
            <a:outerShdw blurRad="63500" sx="102000" sy="102000" algn="ctr" rotWithShape="0">
              <a:prstClr val="black">
                <a:alpha val="40000"/>
              </a:prstClr>
            </a:outerShdw>
          </a:effectLst>
        </p:spPr>
      </p:pic>
      <p:pic>
        <p:nvPicPr>
          <p:cNvPr id="2050" name="Picture 2">
            <a:extLst>
              <a:ext uri="{FF2B5EF4-FFF2-40B4-BE49-F238E27FC236}">
                <a16:creationId xmlns:a16="http://schemas.microsoft.com/office/drawing/2014/main" id="{5338F5DD-E188-AE11-B27C-4012F185A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6918" y="2282006"/>
            <a:ext cx="2565400" cy="3073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4C8FB32-6395-B831-AF94-67231CC86A93}"/>
              </a:ext>
            </a:extLst>
          </p:cNvPr>
          <p:cNvSpPr txBox="1"/>
          <p:nvPr/>
        </p:nvSpPr>
        <p:spPr>
          <a:xfrm>
            <a:off x="7161088" y="1448655"/>
            <a:ext cx="2600392" cy="369332"/>
          </a:xfrm>
          <a:prstGeom prst="rect">
            <a:avLst/>
          </a:prstGeom>
          <a:noFill/>
        </p:spPr>
        <p:txBody>
          <a:bodyPr wrap="none" rtlCol="0">
            <a:spAutoFit/>
          </a:bodyPr>
          <a:lstStyle/>
          <a:p>
            <a:r>
              <a:rPr lang="en-US" b="0" i="0" dirty="0">
                <a:effectLst/>
                <a:latin typeface="Nunito" pitchFamily="2" charset="77"/>
              </a:rPr>
              <a:t>CSV file looks like this: </a:t>
            </a:r>
            <a:endParaRPr kumimoji="1" lang="zh-CN" altLang="en-US" dirty="0"/>
          </a:p>
        </p:txBody>
      </p:sp>
    </p:spTree>
    <p:extLst>
      <p:ext uri="{BB962C8B-B14F-4D97-AF65-F5344CB8AC3E}">
        <p14:creationId xmlns:p14="http://schemas.microsoft.com/office/powerpoint/2010/main" val="197887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009270" y="1316476"/>
            <a:ext cx="10173459" cy="5010046"/>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en-US" altLang="zh-CN" dirty="0"/>
              <a:t>csv</a:t>
            </a:r>
            <a:r>
              <a:rPr lang="zh-CN" altLang="en-US" dirty="0"/>
              <a:t>模块提供了对于</a:t>
            </a:r>
            <a:r>
              <a:rPr lang="en-US" altLang="zh-CN" dirty="0"/>
              <a:t>Reader</a:t>
            </a:r>
            <a:r>
              <a:rPr lang="zh-CN" altLang="en-US" dirty="0"/>
              <a:t>对象的方法和属性，可用于</a:t>
            </a:r>
            <a:r>
              <a:rPr lang="en-US" altLang="zh-CN" dirty="0" err="1"/>
              <a:t>DictReader</a:t>
            </a:r>
            <a:r>
              <a:rPr lang="zh-CN" altLang="en-US" dirty="0"/>
              <a:t>实例和由</a:t>
            </a:r>
            <a:r>
              <a:rPr lang="en-US" altLang="zh-CN" dirty="0"/>
              <a:t>reader()</a:t>
            </a:r>
            <a:r>
              <a:rPr lang="zh-CN" altLang="en-US" dirty="0"/>
              <a:t>函数返回的对象。</a:t>
            </a:r>
          </a:p>
          <a:p>
            <a:pPr>
              <a:lnSpc>
                <a:spcPct val="150000"/>
              </a:lnSpc>
              <a:spcBef>
                <a:spcPts val="0"/>
              </a:spcBef>
              <a:buFont typeface="Wingdings" panose="05000000000000000000" pitchFamily="2" charset="2"/>
              <a:buChar char="Ø"/>
            </a:pPr>
            <a:r>
              <a:rPr lang="en-US" altLang="zh-CN" dirty="0"/>
              <a:t>    Reader</a:t>
            </a:r>
            <a:r>
              <a:rPr lang="zh-CN" altLang="en-US" dirty="0"/>
              <a:t>对象的通用方法：</a:t>
            </a:r>
          </a:p>
          <a:p>
            <a:pPr lvl="1">
              <a:lnSpc>
                <a:spcPct val="150000"/>
              </a:lnSpc>
              <a:spcBef>
                <a:spcPts val="0"/>
              </a:spcBef>
            </a:pPr>
            <a:r>
              <a:rPr lang="en-US" altLang="zh-CN" sz="1800" dirty="0" err="1"/>
              <a:t>csvreader</a:t>
            </a:r>
            <a:r>
              <a:rPr lang="en-US" altLang="zh-CN" sz="1800" dirty="0"/>
              <a:t>.__next__()</a:t>
            </a:r>
            <a:r>
              <a:rPr lang="zh-CN" altLang="en-US" sz="1800" dirty="0"/>
              <a:t>：将可迭代的</a:t>
            </a:r>
            <a:r>
              <a:rPr lang="en-US" altLang="zh-CN" sz="1800" dirty="0"/>
              <a:t>Reader</a:t>
            </a:r>
            <a:r>
              <a:rPr lang="zh-CN" altLang="en-US" sz="1800" dirty="0"/>
              <a:t>对象的下一行内容作为列表（如果对象由</a:t>
            </a:r>
            <a:r>
              <a:rPr lang="en-US" altLang="zh-CN" sz="1800" dirty="0"/>
              <a:t>read()</a:t>
            </a:r>
            <a:r>
              <a:rPr lang="zh-CN" altLang="en-US" sz="1800" dirty="0"/>
              <a:t>函数返回）或字典（如果对象是一个</a:t>
            </a:r>
            <a:r>
              <a:rPr lang="en-US" altLang="zh-CN" sz="1800" dirty="0" err="1"/>
              <a:t>DictReader</a:t>
            </a:r>
            <a:r>
              <a:rPr lang="zh-CN" altLang="en-US" sz="1800" dirty="0"/>
              <a:t>实例）返回。</a:t>
            </a:r>
          </a:p>
          <a:p>
            <a:pPr>
              <a:lnSpc>
                <a:spcPct val="150000"/>
              </a:lnSpc>
              <a:spcBef>
                <a:spcPts val="0"/>
              </a:spcBef>
              <a:buFont typeface="Wingdings" panose="05000000000000000000" pitchFamily="2" charset="2"/>
              <a:buChar char="Ø"/>
            </a:pPr>
            <a:r>
              <a:rPr lang="en-US" altLang="zh-CN" dirty="0"/>
              <a:t>    Reader</a:t>
            </a:r>
            <a:r>
              <a:rPr lang="zh-CN" altLang="en-US" dirty="0"/>
              <a:t>对象的共有属性：</a:t>
            </a:r>
          </a:p>
          <a:p>
            <a:pPr lvl="1">
              <a:lnSpc>
                <a:spcPct val="150000"/>
              </a:lnSpc>
              <a:spcBef>
                <a:spcPts val="0"/>
              </a:spcBef>
            </a:pPr>
            <a:r>
              <a:rPr lang="en-US" altLang="zh-CN" sz="1800" dirty="0" err="1"/>
              <a:t>csvreader.dialect</a:t>
            </a:r>
            <a:r>
              <a:rPr lang="zh-CN" altLang="en-US" sz="1800" dirty="0"/>
              <a:t>：解析器正在使用的</a:t>
            </a:r>
            <a:r>
              <a:rPr lang="en-US" altLang="zh-CN" sz="1800" dirty="0"/>
              <a:t>dialect</a:t>
            </a:r>
            <a:r>
              <a:rPr lang="zh-CN" altLang="en-US" sz="1800" dirty="0"/>
              <a:t>的只读描述。</a:t>
            </a:r>
          </a:p>
          <a:p>
            <a:pPr lvl="1">
              <a:lnSpc>
                <a:spcPct val="150000"/>
              </a:lnSpc>
              <a:spcBef>
                <a:spcPts val="0"/>
              </a:spcBef>
            </a:pPr>
            <a:r>
              <a:rPr lang="en-US" altLang="zh-CN" sz="1800" dirty="0" err="1"/>
              <a:t>csvreader.line_num</a:t>
            </a:r>
            <a:r>
              <a:rPr lang="zh-CN" altLang="en-US" sz="1800" dirty="0"/>
              <a:t>：从源迭代器中读取的行数，与返回的记录数不同，记录可以跨多行。</a:t>
            </a:r>
          </a:p>
          <a:p>
            <a:pPr>
              <a:lnSpc>
                <a:spcPct val="150000"/>
              </a:lnSpc>
              <a:spcBef>
                <a:spcPts val="0"/>
              </a:spcBef>
              <a:buFont typeface="Wingdings" panose="05000000000000000000" pitchFamily="2" charset="2"/>
              <a:buChar char="Ø"/>
            </a:pPr>
            <a:r>
              <a:rPr lang="en-US" altLang="zh-CN" dirty="0"/>
              <a:t>    </a:t>
            </a:r>
            <a:r>
              <a:rPr lang="en-US" altLang="zh-CN" dirty="0" err="1"/>
              <a:t>DictReader</a:t>
            </a:r>
            <a:r>
              <a:rPr lang="zh-CN" altLang="en-US" dirty="0"/>
              <a:t>对象独有的共有属性：</a:t>
            </a:r>
          </a:p>
          <a:p>
            <a:pPr lvl="1">
              <a:lnSpc>
                <a:spcPct val="150000"/>
              </a:lnSpc>
              <a:spcBef>
                <a:spcPts val="0"/>
              </a:spcBef>
            </a:pPr>
            <a:r>
              <a:rPr lang="en-US" altLang="zh-CN" sz="1800" dirty="0" err="1"/>
              <a:t>DictReader.fieldnames</a:t>
            </a:r>
            <a:r>
              <a:rPr lang="zh-CN" altLang="en-US" sz="1800" dirty="0"/>
              <a:t>：如果在创建对象时未作为参数传递，则在第一次访问或从文件中读取第一条记录时初始化此属性。</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9.3.4</a:t>
            </a:r>
            <a:r>
              <a:rPr lang="zh-CN" altLang="en-US" dirty="0">
                <a:solidFill>
                  <a:srgbClr val="002060"/>
                </a:solidFill>
                <a:latin typeface="Microsoft YaHei" panose="020B0503020204020204" pitchFamily="34" charset="-122"/>
                <a:ea typeface="Microsoft YaHei" panose="020B0503020204020204" pitchFamily="34" charset="-122"/>
              </a:rPr>
              <a:t> </a:t>
            </a:r>
            <a:r>
              <a:rPr lang="en-US" altLang="zh-CN" dirty="0">
                <a:solidFill>
                  <a:srgbClr val="002060"/>
                </a:solidFill>
                <a:latin typeface="Microsoft YaHei" panose="020B0503020204020204" pitchFamily="34" charset="-122"/>
                <a:ea typeface="Microsoft YaHei" panose="020B0503020204020204" pitchFamily="34" charset="-122"/>
              </a:rPr>
              <a:t>Reader</a:t>
            </a:r>
            <a:r>
              <a:rPr lang="zh-CN" altLang="en-US" dirty="0">
                <a:solidFill>
                  <a:srgbClr val="002060"/>
                </a:solidFill>
                <a:latin typeface="Microsoft YaHei" panose="020B0503020204020204" pitchFamily="34" charset="-122"/>
                <a:ea typeface="Microsoft YaHei" panose="020B0503020204020204" pitchFamily="34" charset="-122"/>
              </a:rPr>
              <a:t>对象的方法和属性</a:t>
            </a:r>
          </a:p>
        </p:txBody>
      </p:sp>
    </p:spTree>
    <p:extLst>
      <p:ext uri="{BB962C8B-B14F-4D97-AF65-F5344CB8AC3E}">
        <p14:creationId xmlns:p14="http://schemas.microsoft.com/office/powerpoint/2010/main" val="338258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596498"/>
            <a:ext cx="9982200" cy="4730024"/>
          </a:xfrm>
          <a:prstGeom prst="rect">
            <a:avLst/>
          </a:prstGeom>
        </p:spPr>
        <p:txBody>
          <a:bodyPr>
            <a:normAutofit fontScale="925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7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900" dirty="0"/>
              <a:t>csv</a:t>
            </a:r>
            <a:r>
              <a:rPr lang="zh-CN" altLang="en-US" sz="1900" dirty="0"/>
              <a:t>模块提供了对于</a:t>
            </a:r>
            <a:r>
              <a:rPr lang="en-US" altLang="zh-CN" sz="1900" dirty="0"/>
              <a:t>Writer</a:t>
            </a:r>
            <a:r>
              <a:rPr lang="zh-CN" altLang="en-US" sz="1900" dirty="0"/>
              <a:t>对象的方法和属性，可用于</a:t>
            </a:r>
            <a:r>
              <a:rPr lang="en-US" altLang="zh-CN" sz="1900" dirty="0" err="1"/>
              <a:t>DictWriter</a:t>
            </a:r>
            <a:r>
              <a:rPr lang="zh-CN" altLang="en-US" sz="1900" dirty="0"/>
              <a:t>实例和由</a:t>
            </a:r>
            <a:r>
              <a:rPr lang="en-US" altLang="zh-CN" sz="1900" dirty="0"/>
              <a:t>writer()</a:t>
            </a:r>
            <a:r>
              <a:rPr lang="zh-CN" altLang="en-US" sz="1900" dirty="0"/>
              <a:t>函数返回的对象。对于</a:t>
            </a:r>
            <a:r>
              <a:rPr lang="en-US" altLang="zh-CN" sz="1900" dirty="0"/>
              <a:t>Writer</a:t>
            </a:r>
            <a:r>
              <a:rPr lang="zh-CN" altLang="en-US" sz="1900" dirty="0"/>
              <a:t>对象，行必须是可迭代的字符串或数字，对于</a:t>
            </a:r>
            <a:r>
              <a:rPr lang="en-US" altLang="zh-CN" sz="1900" dirty="0" err="1"/>
              <a:t>DictWriter</a:t>
            </a:r>
            <a:r>
              <a:rPr lang="zh-CN" altLang="en-US" sz="1900" dirty="0"/>
              <a:t>对象，行必须是将字段名映射为字符串或数字的字典（首先通过</a:t>
            </a:r>
            <a:r>
              <a:rPr lang="en-US" altLang="zh-CN" sz="1900" dirty="0"/>
              <a:t>str()</a:t>
            </a:r>
            <a:r>
              <a:rPr lang="zh-CN" altLang="en-US" sz="1900" dirty="0"/>
              <a:t>传递）。</a:t>
            </a:r>
          </a:p>
          <a:p>
            <a:pPr>
              <a:lnSpc>
                <a:spcPct val="170000"/>
              </a:lnSpc>
              <a:spcBef>
                <a:spcPts val="0"/>
              </a:spcBef>
              <a:buFont typeface="Wingdings" panose="05000000000000000000" pitchFamily="2" charset="2"/>
              <a:buChar char="Ø"/>
            </a:pPr>
            <a:r>
              <a:rPr lang="en-US" altLang="zh-CN" sz="1900" dirty="0"/>
              <a:t>    Writer</a:t>
            </a:r>
            <a:r>
              <a:rPr lang="zh-CN" altLang="en-US" sz="1900" dirty="0"/>
              <a:t>对象的通用方法：</a:t>
            </a:r>
          </a:p>
          <a:p>
            <a:pPr lvl="1">
              <a:lnSpc>
                <a:spcPct val="170000"/>
              </a:lnSpc>
              <a:spcBef>
                <a:spcPts val="0"/>
              </a:spcBef>
            </a:pPr>
            <a:r>
              <a:rPr lang="en-US" altLang="zh-CN" sz="1800" dirty="0" err="1"/>
              <a:t>csvwriter.writerow</a:t>
            </a:r>
            <a:r>
              <a:rPr lang="en-US" altLang="zh-CN" sz="1800" dirty="0"/>
              <a:t>(row)</a:t>
            </a:r>
            <a:r>
              <a:rPr lang="zh-CN" altLang="en-US" sz="1800" dirty="0"/>
              <a:t>：将</a:t>
            </a:r>
            <a:r>
              <a:rPr lang="en-US" altLang="zh-CN" sz="1800" dirty="0"/>
              <a:t>row</a:t>
            </a:r>
            <a:r>
              <a:rPr lang="zh-CN" altLang="en-US" sz="1800" dirty="0"/>
              <a:t>参数写入</a:t>
            </a:r>
            <a:r>
              <a:rPr lang="en-US" altLang="zh-CN" sz="1800" dirty="0"/>
              <a:t>Writer</a:t>
            </a:r>
            <a:r>
              <a:rPr lang="zh-CN" altLang="en-US" sz="1800" dirty="0"/>
              <a:t>的文件对象，并根据当前</a:t>
            </a:r>
            <a:r>
              <a:rPr lang="en-US" altLang="zh-CN" sz="1800" dirty="0"/>
              <a:t>dialect</a:t>
            </a:r>
            <a:r>
              <a:rPr lang="zh-CN" altLang="en-US" sz="1800" dirty="0"/>
              <a:t>进行格式化。</a:t>
            </a:r>
          </a:p>
          <a:p>
            <a:pPr lvl="1">
              <a:lnSpc>
                <a:spcPct val="170000"/>
              </a:lnSpc>
              <a:spcBef>
                <a:spcPts val="0"/>
              </a:spcBef>
            </a:pPr>
            <a:r>
              <a:rPr lang="en-US" altLang="zh-CN" sz="1800" dirty="0" err="1"/>
              <a:t>csvwriter.writerows</a:t>
            </a:r>
            <a:r>
              <a:rPr lang="en-US" altLang="zh-CN" sz="1800" dirty="0"/>
              <a:t>(rows)</a:t>
            </a:r>
            <a:r>
              <a:rPr lang="zh-CN" altLang="en-US" sz="1800" dirty="0"/>
              <a:t>：将</a:t>
            </a:r>
            <a:r>
              <a:rPr lang="en-US" altLang="zh-CN" sz="1800" dirty="0"/>
              <a:t>rows</a:t>
            </a:r>
            <a:r>
              <a:rPr lang="zh-CN" altLang="en-US" sz="1800" dirty="0"/>
              <a:t>中的所有元素（一个可迭代的行对象）写入</a:t>
            </a:r>
            <a:r>
              <a:rPr lang="en-US" altLang="zh-CN" sz="1800" dirty="0"/>
              <a:t>Writer</a:t>
            </a:r>
            <a:r>
              <a:rPr lang="zh-CN" altLang="en-US" sz="1800" dirty="0"/>
              <a:t>的文件对象，并根据当前</a:t>
            </a:r>
            <a:r>
              <a:rPr lang="en-US" altLang="zh-CN" sz="1800" dirty="0"/>
              <a:t>dialect</a:t>
            </a:r>
            <a:r>
              <a:rPr lang="zh-CN" altLang="en-US" sz="1800" dirty="0"/>
              <a:t>进行格式化。</a:t>
            </a:r>
          </a:p>
          <a:p>
            <a:pPr>
              <a:lnSpc>
                <a:spcPct val="170000"/>
              </a:lnSpc>
              <a:spcBef>
                <a:spcPts val="0"/>
              </a:spcBef>
              <a:buFont typeface="Wingdings" panose="05000000000000000000" pitchFamily="2" charset="2"/>
              <a:buChar char="Ø"/>
            </a:pPr>
            <a:r>
              <a:rPr lang="en-US" altLang="zh-CN" sz="1800" dirty="0"/>
              <a:t>    </a:t>
            </a:r>
            <a:r>
              <a:rPr lang="en-US" altLang="zh-CN" sz="1900" dirty="0"/>
              <a:t>Writer</a:t>
            </a:r>
            <a:r>
              <a:rPr lang="zh-CN" altLang="en-US" sz="1900" dirty="0"/>
              <a:t>对象的共有属性：</a:t>
            </a:r>
          </a:p>
          <a:p>
            <a:pPr lvl="1">
              <a:lnSpc>
                <a:spcPct val="170000"/>
              </a:lnSpc>
              <a:spcBef>
                <a:spcPts val="0"/>
              </a:spcBef>
            </a:pPr>
            <a:r>
              <a:rPr lang="en-US" altLang="zh-CN" sz="1800" dirty="0" err="1"/>
              <a:t>csvwriter.dialect</a:t>
            </a:r>
            <a:r>
              <a:rPr lang="zh-CN" altLang="en-US" sz="1800" dirty="0"/>
              <a:t>：当前</a:t>
            </a:r>
            <a:r>
              <a:rPr lang="en-US" altLang="zh-CN" sz="1800" dirty="0"/>
              <a:t>Writer</a:t>
            </a:r>
            <a:r>
              <a:rPr lang="zh-CN" altLang="en-US" sz="1800" dirty="0"/>
              <a:t>对象正在使用的</a:t>
            </a:r>
            <a:r>
              <a:rPr lang="en-US" altLang="zh-CN" sz="1800" dirty="0"/>
              <a:t>dialect</a:t>
            </a:r>
            <a:r>
              <a:rPr lang="zh-CN" altLang="en-US" sz="1800" dirty="0"/>
              <a:t>的只读描述。</a:t>
            </a:r>
          </a:p>
          <a:p>
            <a:pPr lvl="1">
              <a:lnSpc>
                <a:spcPct val="170000"/>
              </a:lnSpc>
              <a:spcBef>
                <a:spcPts val="0"/>
              </a:spcBef>
            </a:pPr>
            <a:r>
              <a:rPr lang="en-US" altLang="zh-CN" sz="1800" dirty="0" err="1"/>
              <a:t>DictWriter</a:t>
            </a:r>
            <a:r>
              <a:rPr lang="zh-CN" altLang="en-US" sz="1800" dirty="0"/>
              <a:t>对象独有的通用方法：</a:t>
            </a:r>
          </a:p>
          <a:p>
            <a:pPr lvl="1">
              <a:lnSpc>
                <a:spcPct val="170000"/>
              </a:lnSpc>
              <a:spcBef>
                <a:spcPts val="0"/>
              </a:spcBef>
            </a:pPr>
            <a:r>
              <a:rPr lang="en-US" altLang="zh-CN" sz="1800" dirty="0" err="1"/>
              <a:t>DictWriter.writeheader</a:t>
            </a:r>
            <a:r>
              <a:rPr lang="en-US" altLang="zh-CN" sz="1800" dirty="0"/>
              <a:t>()</a:t>
            </a:r>
            <a:r>
              <a:rPr lang="zh-CN" altLang="en-US" sz="1800" dirty="0"/>
              <a:t>：写入一行在构造函数中指定的字段名。</a:t>
            </a:r>
          </a:p>
          <a:p>
            <a:pPr marL="0" indent="0">
              <a:lnSpc>
                <a:spcPct val="170000"/>
              </a:lnSpc>
              <a:spcBef>
                <a:spcPts val="0"/>
              </a:spcBef>
              <a:buNone/>
            </a:pPr>
            <a:endParaRPr lang="zh-CN" altLang="en-US" sz="18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nSpc>
                <a:spcPct val="100000"/>
              </a:lnSpc>
            </a:pPr>
            <a:r>
              <a:rPr lang="en-US" altLang="zh-CN" dirty="0">
                <a:solidFill>
                  <a:srgbClr val="002060"/>
                </a:solidFill>
                <a:latin typeface="Microsoft YaHei" panose="020B0503020204020204" pitchFamily="34" charset="-122"/>
                <a:ea typeface="Microsoft YaHei" panose="020B0503020204020204" pitchFamily="34" charset="-122"/>
              </a:rPr>
              <a:t>9.3.5</a:t>
            </a:r>
            <a:r>
              <a:rPr lang="zh-CN" altLang="en-US" dirty="0">
                <a:solidFill>
                  <a:srgbClr val="002060"/>
                </a:solidFill>
                <a:latin typeface="Microsoft YaHei" panose="020B0503020204020204" pitchFamily="34" charset="-122"/>
                <a:ea typeface="Microsoft YaHei" panose="020B0503020204020204" pitchFamily="34" charset="-122"/>
              </a:rPr>
              <a:t> </a:t>
            </a:r>
            <a:r>
              <a:rPr lang="en-US" altLang="zh-CN" dirty="0">
                <a:solidFill>
                  <a:srgbClr val="002060"/>
                </a:solidFill>
                <a:latin typeface="Microsoft YaHei" panose="020B0503020204020204" pitchFamily="34" charset="-122"/>
                <a:ea typeface="Microsoft YaHei" panose="020B0503020204020204" pitchFamily="34" charset="-122"/>
              </a:rPr>
              <a:t>Writer</a:t>
            </a:r>
            <a:r>
              <a:rPr lang="zh-CN" altLang="en-US" dirty="0">
                <a:solidFill>
                  <a:srgbClr val="002060"/>
                </a:solidFill>
                <a:latin typeface="Microsoft YaHei" panose="020B0503020204020204" pitchFamily="34" charset="-122"/>
                <a:ea typeface="Microsoft YaHei" panose="020B0503020204020204" pitchFamily="34" charset="-122"/>
              </a:rPr>
              <a:t>对象的方法和属性</a:t>
            </a:r>
          </a:p>
        </p:txBody>
      </p:sp>
    </p:spTree>
    <p:extLst>
      <p:ext uri="{BB962C8B-B14F-4D97-AF65-F5344CB8AC3E}">
        <p14:creationId xmlns:p14="http://schemas.microsoft.com/office/powerpoint/2010/main" val="345548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5E41F-661F-4063-B42C-C83D10DD1F8C}"/>
              </a:ext>
            </a:extLst>
          </p:cNvPr>
          <p:cNvSpPr>
            <a:spLocks noGrp="1"/>
          </p:cNvSpPr>
          <p:nvPr>
            <p:ph type="title"/>
          </p:nvPr>
        </p:nvSpPr>
        <p:spPr/>
        <p:txBody>
          <a:bodyPr/>
          <a:lstStyle/>
          <a:p>
            <a:r>
              <a:rPr kumimoji="1" lang="en-US" altLang="zh-CN" dirty="0"/>
              <a:t>Reading CSV Files With </a:t>
            </a:r>
            <a:r>
              <a:rPr kumimoji="1" lang="en-US" altLang="zh-CN" dirty="0">
                <a:solidFill>
                  <a:srgbClr val="0432FF"/>
                </a:solidFill>
              </a:rPr>
              <a:t>Pandas</a:t>
            </a:r>
            <a:endParaRPr kumimoji="1" lang="zh-CN" altLang="en-US" dirty="0">
              <a:solidFill>
                <a:srgbClr val="0432FF"/>
              </a:solidFill>
            </a:endParaRPr>
          </a:p>
        </p:txBody>
      </p:sp>
      <p:pic>
        <p:nvPicPr>
          <p:cNvPr id="3" name="Picture 2">
            <a:extLst>
              <a:ext uri="{FF2B5EF4-FFF2-40B4-BE49-F238E27FC236}">
                <a16:creationId xmlns:a16="http://schemas.microsoft.com/office/drawing/2014/main" id="{361D556F-9960-EE7B-667F-72EAF24BDCB1}"/>
              </a:ext>
            </a:extLst>
          </p:cNvPr>
          <p:cNvPicPr>
            <a:picLocks noChangeAspect="1"/>
          </p:cNvPicPr>
          <p:nvPr/>
        </p:nvPicPr>
        <p:blipFill>
          <a:blip r:embed="rId2"/>
          <a:stretch>
            <a:fillRect/>
          </a:stretch>
        </p:blipFill>
        <p:spPr>
          <a:xfrm>
            <a:off x="1104900" y="1385946"/>
            <a:ext cx="3213100" cy="1480087"/>
          </a:xfrm>
          <a:prstGeom prst="rect">
            <a:avLst/>
          </a:prstGeom>
        </p:spPr>
      </p:pic>
      <p:pic>
        <p:nvPicPr>
          <p:cNvPr id="4" name="Picture 3">
            <a:extLst>
              <a:ext uri="{FF2B5EF4-FFF2-40B4-BE49-F238E27FC236}">
                <a16:creationId xmlns:a16="http://schemas.microsoft.com/office/drawing/2014/main" id="{50B28C1C-ECED-3DCE-A0BA-1DF606D52896}"/>
              </a:ext>
            </a:extLst>
          </p:cNvPr>
          <p:cNvPicPr>
            <a:picLocks noChangeAspect="1"/>
          </p:cNvPicPr>
          <p:nvPr/>
        </p:nvPicPr>
        <p:blipFill>
          <a:blip r:embed="rId3"/>
          <a:stretch>
            <a:fillRect/>
          </a:stretch>
        </p:blipFill>
        <p:spPr>
          <a:xfrm>
            <a:off x="1104900" y="2866033"/>
            <a:ext cx="3213100" cy="1422192"/>
          </a:xfrm>
          <a:prstGeom prst="rect">
            <a:avLst/>
          </a:prstGeom>
        </p:spPr>
      </p:pic>
      <p:pic>
        <p:nvPicPr>
          <p:cNvPr id="5" name="Picture 4">
            <a:extLst>
              <a:ext uri="{FF2B5EF4-FFF2-40B4-BE49-F238E27FC236}">
                <a16:creationId xmlns:a16="http://schemas.microsoft.com/office/drawing/2014/main" id="{26B55840-78AF-80A2-4A88-5622F0EAAFA0}"/>
              </a:ext>
            </a:extLst>
          </p:cNvPr>
          <p:cNvPicPr>
            <a:picLocks noChangeAspect="1"/>
          </p:cNvPicPr>
          <p:nvPr/>
        </p:nvPicPr>
        <p:blipFill>
          <a:blip r:embed="rId4"/>
          <a:stretch>
            <a:fillRect/>
          </a:stretch>
        </p:blipFill>
        <p:spPr>
          <a:xfrm>
            <a:off x="1104900" y="4510488"/>
            <a:ext cx="2572176" cy="793003"/>
          </a:xfrm>
          <a:prstGeom prst="rect">
            <a:avLst/>
          </a:prstGeom>
        </p:spPr>
      </p:pic>
      <p:pic>
        <p:nvPicPr>
          <p:cNvPr id="6" name="Picture 5">
            <a:extLst>
              <a:ext uri="{FF2B5EF4-FFF2-40B4-BE49-F238E27FC236}">
                <a16:creationId xmlns:a16="http://schemas.microsoft.com/office/drawing/2014/main" id="{01B4CB20-D42C-2C8D-3C2D-243FC440D983}"/>
              </a:ext>
            </a:extLst>
          </p:cNvPr>
          <p:cNvPicPr>
            <a:picLocks noChangeAspect="1"/>
          </p:cNvPicPr>
          <p:nvPr/>
        </p:nvPicPr>
        <p:blipFill>
          <a:blip r:embed="rId5"/>
          <a:stretch>
            <a:fillRect/>
          </a:stretch>
        </p:blipFill>
        <p:spPr>
          <a:xfrm>
            <a:off x="1104900" y="5303491"/>
            <a:ext cx="2141734" cy="1199929"/>
          </a:xfrm>
          <a:prstGeom prst="rect">
            <a:avLst/>
          </a:prstGeom>
        </p:spPr>
      </p:pic>
      <p:pic>
        <p:nvPicPr>
          <p:cNvPr id="7" name="Picture 6">
            <a:extLst>
              <a:ext uri="{FF2B5EF4-FFF2-40B4-BE49-F238E27FC236}">
                <a16:creationId xmlns:a16="http://schemas.microsoft.com/office/drawing/2014/main" id="{7DF4272D-68F0-EA38-03D5-FB166AB15D72}"/>
              </a:ext>
            </a:extLst>
          </p:cNvPr>
          <p:cNvPicPr>
            <a:picLocks noChangeAspect="1"/>
          </p:cNvPicPr>
          <p:nvPr/>
        </p:nvPicPr>
        <p:blipFill>
          <a:blip r:embed="rId6"/>
          <a:stretch>
            <a:fillRect/>
          </a:stretch>
        </p:blipFill>
        <p:spPr>
          <a:xfrm>
            <a:off x="5528119" y="1377952"/>
            <a:ext cx="5557463" cy="2968090"/>
          </a:xfrm>
          <a:prstGeom prst="rect">
            <a:avLst/>
          </a:prstGeom>
        </p:spPr>
      </p:pic>
      <p:pic>
        <p:nvPicPr>
          <p:cNvPr id="8" name="Picture 7">
            <a:extLst>
              <a:ext uri="{FF2B5EF4-FFF2-40B4-BE49-F238E27FC236}">
                <a16:creationId xmlns:a16="http://schemas.microsoft.com/office/drawing/2014/main" id="{412712C2-6A8C-B9CC-FD40-F32F13AA20F7}"/>
              </a:ext>
            </a:extLst>
          </p:cNvPr>
          <p:cNvPicPr>
            <a:picLocks noChangeAspect="1"/>
          </p:cNvPicPr>
          <p:nvPr/>
        </p:nvPicPr>
        <p:blipFill>
          <a:blip r:embed="rId7"/>
          <a:stretch>
            <a:fillRect/>
          </a:stretch>
        </p:blipFill>
        <p:spPr>
          <a:xfrm>
            <a:off x="5528119" y="4374363"/>
            <a:ext cx="2072071" cy="2211370"/>
          </a:xfrm>
          <a:prstGeom prst="rect">
            <a:avLst/>
          </a:prstGeom>
        </p:spPr>
      </p:pic>
    </p:spTree>
    <p:extLst>
      <p:ext uri="{BB962C8B-B14F-4D97-AF65-F5344CB8AC3E}">
        <p14:creationId xmlns:p14="http://schemas.microsoft.com/office/powerpoint/2010/main" val="1931415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b="1" dirty="0"/>
              <a:t>9.4 </a:t>
            </a:r>
            <a:r>
              <a:rPr lang="en-US" altLang="zh-CN" b="1" dirty="0" err="1"/>
              <a:t>xls</a:t>
            </a:r>
            <a:r>
              <a:rPr lang="zh-CN" altLang="en-US" b="1" dirty="0"/>
              <a:t>与</a:t>
            </a:r>
            <a:r>
              <a:rPr lang="en-US" altLang="zh-CN" b="1" dirty="0"/>
              <a:t>xlsx</a:t>
            </a:r>
            <a:r>
              <a:rPr lang="zh-CN" altLang="en-US" b="1" dirty="0"/>
              <a:t>文件读写</a:t>
            </a:r>
            <a:endParaRPr lang="en-US" b="1" dirty="0"/>
          </a:p>
        </p:txBody>
      </p:sp>
    </p:spTree>
    <p:extLst>
      <p:ext uri="{BB962C8B-B14F-4D97-AF65-F5344CB8AC3E}">
        <p14:creationId xmlns:p14="http://schemas.microsoft.com/office/powerpoint/2010/main" val="269718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498879"/>
            <a:ext cx="9982200" cy="4628351"/>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2100" dirty="0">
                <a:latin typeface="宋体" panose="02010600030101010101" pitchFamily="2" charset="-122"/>
                <a:ea typeface="宋体" panose="02010600030101010101" pitchFamily="2" charset="-122"/>
              </a:rPr>
              <a:t> </a:t>
            </a:r>
            <a:r>
              <a:rPr lang="en-US" altLang="zh-CN" sz="1800" dirty="0" err="1"/>
              <a:t>xls</a:t>
            </a:r>
            <a:r>
              <a:rPr lang="zh-CN" altLang="en-US" sz="1800" dirty="0"/>
              <a:t>与</a:t>
            </a:r>
            <a:r>
              <a:rPr lang="en-US" altLang="zh-CN" sz="1800" dirty="0"/>
              <a:t>xlsx</a:t>
            </a:r>
            <a:r>
              <a:rPr lang="zh-CN" altLang="en-US" sz="1800" dirty="0"/>
              <a:t>都是</a:t>
            </a:r>
            <a:r>
              <a:rPr lang="en-US" altLang="zh-CN" sz="1800" dirty="0"/>
              <a:t>excel</a:t>
            </a:r>
            <a:r>
              <a:rPr lang="zh-CN" altLang="en-US" sz="1800" dirty="0"/>
              <a:t>的文件格式，也是广泛使用的二进制数据格式，其区别在于</a:t>
            </a:r>
            <a:endParaRPr lang="en-US" altLang="zh-CN" sz="1800" dirty="0"/>
          </a:p>
          <a:p>
            <a:pPr lvl="1" algn="just">
              <a:lnSpc>
                <a:spcPct val="150000"/>
              </a:lnSpc>
              <a:spcBef>
                <a:spcPts val="0"/>
              </a:spcBef>
            </a:pPr>
            <a:r>
              <a:rPr lang="en-US" altLang="zh-CN" sz="1800" dirty="0" err="1"/>
              <a:t>xls</a:t>
            </a:r>
            <a:r>
              <a:rPr lang="zh-CN" altLang="en-US" sz="1800" dirty="0"/>
              <a:t>是</a:t>
            </a:r>
            <a:r>
              <a:rPr lang="en-US" altLang="zh-CN" sz="1800" dirty="0"/>
              <a:t>2003</a:t>
            </a:r>
            <a:r>
              <a:rPr lang="zh-CN" altLang="en-US" sz="1800" dirty="0"/>
              <a:t>及以前版本生成的文件格式，是一个特有的二进制格式，其核心结构是复合文档类型的结构，</a:t>
            </a:r>
            <a:endParaRPr lang="en-US" altLang="zh-CN" sz="1800" dirty="0"/>
          </a:p>
          <a:p>
            <a:pPr lvl="1" algn="just">
              <a:lnSpc>
                <a:spcPct val="150000"/>
              </a:lnSpc>
              <a:spcBef>
                <a:spcPts val="0"/>
              </a:spcBef>
            </a:pPr>
            <a:r>
              <a:rPr lang="en-US" altLang="zh-CN" sz="1800" dirty="0"/>
              <a:t>xlsx</a:t>
            </a:r>
            <a:r>
              <a:rPr lang="zh-CN" altLang="en-US" sz="1800" dirty="0"/>
              <a:t>是</a:t>
            </a:r>
            <a:r>
              <a:rPr lang="en-US" altLang="zh-CN" sz="1800" dirty="0"/>
              <a:t>2007</a:t>
            </a:r>
            <a:r>
              <a:rPr lang="zh-CN" altLang="en-US" sz="1800" dirty="0"/>
              <a:t>及以后版本生成的文件格式，且</a:t>
            </a:r>
            <a:r>
              <a:rPr lang="en-US" altLang="zh-CN" sz="1800" dirty="0"/>
              <a:t>2007</a:t>
            </a:r>
            <a:r>
              <a:rPr lang="zh-CN" altLang="en-US" sz="1800" dirty="0"/>
              <a:t>之后版本可以打开</a:t>
            </a:r>
            <a:r>
              <a:rPr lang="en-US" altLang="zh-CN" sz="1800" dirty="0" err="1"/>
              <a:t>xls</a:t>
            </a:r>
            <a:r>
              <a:rPr lang="zh-CN" altLang="en-US" sz="1800" dirty="0"/>
              <a:t>格式的文件，核心结构是</a:t>
            </a:r>
            <a:r>
              <a:rPr lang="en-US" altLang="zh-CN" sz="1800" dirty="0"/>
              <a:t>XML</a:t>
            </a:r>
            <a:r>
              <a:rPr lang="zh-CN" altLang="en-US" sz="1800" dirty="0"/>
              <a:t>类型的结构，采用的是基于</a:t>
            </a:r>
            <a:r>
              <a:rPr lang="en-US" altLang="zh-CN" sz="1800" dirty="0"/>
              <a:t>XML</a:t>
            </a:r>
            <a:r>
              <a:rPr lang="zh-CN" altLang="en-US" sz="1800" dirty="0"/>
              <a:t>的压缩方式，使其占用的空间更小。</a:t>
            </a:r>
          </a:p>
          <a:p>
            <a:pPr marL="0" indent="0" algn="just">
              <a:lnSpc>
                <a:spcPct val="150000"/>
              </a:lnSpc>
              <a:spcBef>
                <a:spcPts val="0"/>
              </a:spcBef>
              <a:buNone/>
            </a:pPr>
            <a:r>
              <a:rPr lang="zh-CN" altLang="en-US" sz="1800" dirty="0"/>
              <a:t>    通常可以使用</a:t>
            </a:r>
            <a:r>
              <a:rPr lang="en-US" altLang="zh-CN" sz="1800" dirty="0" err="1"/>
              <a:t>xlrd</a:t>
            </a:r>
            <a:r>
              <a:rPr lang="zh-CN" altLang="en-US" sz="1800" dirty="0"/>
              <a:t>模块与</a:t>
            </a:r>
            <a:r>
              <a:rPr lang="en-US" altLang="zh-CN" sz="1800" dirty="0" err="1"/>
              <a:t>xlwt</a:t>
            </a:r>
            <a:r>
              <a:rPr lang="zh-CN" altLang="en-US" sz="1800" dirty="0"/>
              <a:t>模块实现对</a:t>
            </a:r>
            <a:r>
              <a:rPr lang="en-US" altLang="zh-CN" sz="1800" dirty="0"/>
              <a:t>excel</a:t>
            </a:r>
            <a:r>
              <a:rPr lang="zh-CN" altLang="en-US" sz="1800" dirty="0"/>
              <a:t>文件内容读取和写入。（而目前通过</a:t>
            </a:r>
            <a:r>
              <a:rPr lang="en-US" altLang="zh-CN" sz="1800" dirty="0"/>
              <a:t>pip</a:t>
            </a:r>
            <a:r>
              <a:rPr lang="zh-CN" altLang="en-US" sz="1800" dirty="0"/>
              <a:t>直接下载的最新版</a:t>
            </a:r>
            <a:r>
              <a:rPr lang="en-US" altLang="zh-CN" sz="1800" dirty="0" err="1"/>
              <a:t>xlrd</a:t>
            </a:r>
            <a:r>
              <a:rPr lang="en-US" altLang="zh-CN" sz="1800" dirty="0"/>
              <a:t> 2.0.1</a:t>
            </a:r>
            <a:r>
              <a:rPr lang="zh-CN" altLang="en-US" sz="1800" dirty="0"/>
              <a:t>版本移除了对</a:t>
            </a:r>
            <a:r>
              <a:rPr lang="en-US" altLang="zh-CN" sz="1800" dirty="0"/>
              <a:t>.xlsx</a:t>
            </a:r>
            <a:r>
              <a:rPr lang="zh-CN" altLang="en-US" sz="1800" dirty="0"/>
              <a:t>格式的支持，仅支持</a:t>
            </a:r>
            <a:r>
              <a:rPr lang="en-US" altLang="zh-CN" sz="1800" dirty="0"/>
              <a:t>.</a:t>
            </a:r>
            <a:r>
              <a:rPr lang="en-US" altLang="zh-CN" sz="1800" dirty="0" err="1"/>
              <a:t>xls</a:t>
            </a:r>
            <a:r>
              <a:rPr lang="zh-CN" altLang="en-US" sz="1800" dirty="0"/>
              <a:t>格式。因此，当我们处理</a:t>
            </a:r>
            <a:r>
              <a:rPr lang="en-US" altLang="zh-CN" sz="1800" dirty="0"/>
              <a:t>.xlsx</a:t>
            </a:r>
            <a:r>
              <a:rPr lang="zh-CN" altLang="en-US" sz="1800" dirty="0"/>
              <a:t>格式的文件，可能需要使用旧版本，如</a:t>
            </a:r>
            <a:r>
              <a:rPr lang="en-US" altLang="zh-CN" sz="1800" dirty="0"/>
              <a:t>1.2.0</a:t>
            </a:r>
            <a:r>
              <a:rPr lang="zh-CN" altLang="en-US" sz="1800" dirty="0"/>
              <a:t>。）</a:t>
            </a:r>
            <a:endParaRPr lang="en-US" altLang="zh-CN" sz="2100" dirty="0"/>
          </a:p>
          <a:p>
            <a:pPr marL="0" indent="0" algn="just">
              <a:lnSpc>
                <a:spcPct val="150000"/>
              </a:lnSpc>
              <a:spcBef>
                <a:spcPts val="0"/>
              </a:spcBef>
              <a:buNone/>
            </a:pPr>
            <a:r>
              <a:rPr lang="zh-CN" altLang="en-US" sz="1800" dirty="0"/>
              <a:t>    模块的</a:t>
            </a:r>
            <a:r>
              <a:rPr lang="zh-CN" altLang="en-US" sz="1800" b="1" dirty="0"/>
              <a:t>安装</a:t>
            </a:r>
            <a:r>
              <a:rPr lang="zh-CN" altLang="en-US" sz="1800" dirty="0"/>
              <a:t>：</a:t>
            </a:r>
            <a:r>
              <a:rPr lang="en-US" altLang="zh-CN" sz="1800" dirty="0">
                <a:solidFill>
                  <a:srgbClr val="0432FF"/>
                </a:solidFill>
              </a:rPr>
              <a:t>pip install </a:t>
            </a:r>
            <a:r>
              <a:rPr lang="en-US" altLang="zh-CN" sz="1800" dirty="0" err="1">
                <a:solidFill>
                  <a:srgbClr val="0432FF"/>
                </a:solidFill>
              </a:rPr>
              <a:t>xlwt</a:t>
            </a:r>
            <a:r>
              <a:rPr lang="zh-CN" altLang="en-US" sz="1800" dirty="0"/>
              <a:t>，</a:t>
            </a:r>
            <a:endParaRPr lang="en-US" altLang="zh-CN" sz="1800" dirty="0"/>
          </a:p>
          <a:p>
            <a:pPr marL="0" indent="0" algn="just">
              <a:lnSpc>
                <a:spcPct val="150000"/>
              </a:lnSpc>
              <a:spcBef>
                <a:spcPts val="0"/>
              </a:spcBef>
              <a:buNone/>
            </a:pPr>
            <a:r>
              <a:rPr lang="en-US" altLang="zh-CN" sz="1800" dirty="0">
                <a:solidFill>
                  <a:srgbClr val="0432FF"/>
                </a:solidFill>
              </a:rPr>
              <a:t>                pip install </a:t>
            </a:r>
            <a:r>
              <a:rPr lang="en-US" altLang="zh-CN" sz="1800" dirty="0" err="1">
                <a:solidFill>
                  <a:srgbClr val="0432FF"/>
                </a:solidFill>
              </a:rPr>
              <a:t>xlrd</a:t>
            </a:r>
            <a:r>
              <a:rPr lang="zh-CN" altLang="en-US" sz="1800" dirty="0"/>
              <a:t>（</a:t>
            </a:r>
            <a:r>
              <a:rPr lang="en-US" altLang="zh-CN" sz="1800" dirty="0"/>
              <a:t>pip install </a:t>
            </a:r>
            <a:r>
              <a:rPr lang="en-US" altLang="zh-CN" sz="1800" dirty="0" err="1"/>
              <a:t>xlrd</a:t>
            </a:r>
            <a:r>
              <a:rPr lang="en-US" altLang="zh-CN" sz="1800" dirty="0"/>
              <a:t>==1.2.0</a:t>
            </a:r>
            <a:r>
              <a:rPr lang="zh-CN" altLang="en-US" sz="1800" dirty="0"/>
              <a:t>即可安装</a:t>
            </a:r>
            <a:r>
              <a:rPr lang="en-US" altLang="zh-CN" sz="1800" dirty="0" err="1"/>
              <a:t>xlrd</a:t>
            </a:r>
            <a:r>
              <a:rPr lang="zh-CN" altLang="en-US" sz="1800" dirty="0"/>
              <a:t>的</a:t>
            </a:r>
            <a:r>
              <a:rPr lang="en-US" altLang="zh-CN" sz="1800" dirty="0"/>
              <a:t>1.2.0</a:t>
            </a:r>
            <a:r>
              <a:rPr lang="zh-CN" altLang="en-US" sz="1800" dirty="0"/>
              <a:t>版本）</a:t>
            </a:r>
            <a:endParaRPr lang="en-US" altLang="zh-CN" sz="1800" dirty="0"/>
          </a:p>
          <a:p>
            <a:pPr marL="0" indent="0" algn="just">
              <a:lnSpc>
                <a:spcPct val="150000"/>
              </a:lnSpc>
              <a:spcBef>
                <a:spcPts val="0"/>
              </a:spcBef>
              <a:buNone/>
            </a:pPr>
            <a:r>
              <a:rPr lang="zh-CN" altLang="en-US" sz="1800" dirty="0"/>
              <a:t>    模块的</a:t>
            </a:r>
            <a:r>
              <a:rPr lang="zh-CN" altLang="en-US" sz="1800" b="1" dirty="0"/>
              <a:t>调用</a:t>
            </a:r>
            <a:r>
              <a:rPr lang="zh-CN" altLang="en-US" sz="1800" dirty="0"/>
              <a:t>：</a:t>
            </a:r>
            <a:r>
              <a:rPr lang="en-US" altLang="zh-CN" sz="1800" dirty="0">
                <a:solidFill>
                  <a:srgbClr val="7030A0"/>
                </a:solidFill>
              </a:rPr>
              <a:t>import </a:t>
            </a:r>
            <a:r>
              <a:rPr lang="en-US" altLang="zh-CN" sz="1800" dirty="0" err="1">
                <a:solidFill>
                  <a:srgbClr val="7030A0"/>
                </a:solidFill>
              </a:rPr>
              <a:t>xlwt</a:t>
            </a:r>
            <a:r>
              <a:rPr lang="zh-CN" altLang="en-US" sz="1800" dirty="0"/>
              <a:t>，</a:t>
            </a:r>
            <a:r>
              <a:rPr lang="en-US" altLang="zh-CN" sz="1800" dirty="0">
                <a:solidFill>
                  <a:srgbClr val="7030A0"/>
                </a:solidFill>
              </a:rPr>
              <a:t>import </a:t>
            </a:r>
            <a:r>
              <a:rPr lang="en-US" altLang="zh-CN" sz="1800" dirty="0" err="1">
                <a:solidFill>
                  <a:srgbClr val="7030A0"/>
                </a:solidFill>
              </a:rPr>
              <a:t>xlrd</a:t>
            </a:r>
            <a:endParaRPr lang="en-US" altLang="zh-CN" sz="1800" dirty="0">
              <a:solidFill>
                <a:srgbClr val="7030A0"/>
              </a:solidFill>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9.4 </a:t>
            </a:r>
            <a:r>
              <a:rPr lang="en-US" altLang="zh-CN" dirty="0" err="1"/>
              <a:t>xls</a:t>
            </a:r>
            <a:r>
              <a:rPr lang="zh-CN" altLang="en-US" dirty="0"/>
              <a:t>与</a:t>
            </a:r>
            <a:r>
              <a:rPr lang="en-US" altLang="zh-CN" dirty="0"/>
              <a:t>xlsx</a:t>
            </a:r>
            <a:r>
              <a:rPr lang="zh-CN" altLang="en-US" dirty="0"/>
              <a:t>文件读写</a:t>
            </a:r>
          </a:p>
        </p:txBody>
      </p:sp>
    </p:spTree>
    <p:extLst>
      <p:ext uri="{BB962C8B-B14F-4D97-AF65-F5344CB8AC3E}">
        <p14:creationId xmlns:p14="http://schemas.microsoft.com/office/powerpoint/2010/main" val="283534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620520"/>
            <a:ext cx="9982200" cy="1808480"/>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dirty="0"/>
              <a:t>    一般，</a:t>
            </a:r>
            <a:r>
              <a:rPr lang="en-US" altLang="zh-CN" dirty="0" err="1"/>
              <a:t>xlrd</a:t>
            </a:r>
            <a:r>
              <a:rPr lang="zh-CN" altLang="en-US" dirty="0"/>
              <a:t>模块实现内容读取，</a:t>
            </a:r>
            <a:r>
              <a:rPr lang="en-US" altLang="zh-CN" dirty="0" err="1"/>
              <a:t>xlwt</a:t>
            </a:r>
            <a:r>
              <a:rPr lang="zh-CN" altLang="en-US" dirty="0"/>
              <a:t>模块实现内容写入。</a:t>
            </a:r>
          </a:p>
          <a:p>
            <a:pPr marL="0" indent="0" algn="just">
              <a:lnSpc>
                <a:spcPct val="150000"/>
              </a:lnSpc>
              <a:spcBef>
                <a:spcPts val="0"/>
              </a:spcBef>
              <a:buNone/>
            </a:pPr>
            <a:r>
              <a:rPr lang="zh-CN" altLang="en-US" dirty="0"/>
              <a:t>    本小节首先将介绍如何运用</a:t>
            </a:r>
            <a:r>
              <a:rPr lang="en-US" altLang="zh-CN" dirty="0" err="1"/>
              <a:t>xlrd</a:t>
            </a:r>
            <a:r>
              <a:rPr lang="zh-CN" altLang="en-US" dirty="0"/>
              <a:t>模块实现对表格文件的读取。为介绍数据读取基本操作及代码运行实例，</a:t>
            </a:r>
            <a:r>
              <a:rPr lang="zh-CN" altLang="en-US" dirty="0">
                <a:solidFill>
                  <a:srgbClr val="FF0000"/>
                </a:solidFill>
              </a:rPr>
              <a:t>在</a:t>
            </a:r>
            <a:r>
              <a:rPr lang="en-US" altLang="zh-CN" dirty="0">
                <a:solidFill>
                  <a:srgbClr val="FF0000"/>
                </a:solidFill>
              </a:rPr>
              <a:t>E</a:t>
            </a:r>
            <a:r>
              <a:rPr lang="zh-CN" altLang="en-US" dirty="0">
                <a:solidFill>
                  <a:srgbClr val="FF0000"/>
                </a:solidFill>
              </a:rPr>
              <a:t>盘新建一个</a:t>
            </a:r>
            <a:r>
              <a:rPr lang="en-US" altLang="zh-CN" dirty="0">
                <a:solidFill>
                  <a:srgbClr val="FF0000"/>
                </a:solidFill>
              </a:rPr>
              <a:t>excel</a:t>
            </a:r>
            <a:r>
              <a:rPr lang="zh-CN" altLang="en-US" dirty="0">
                <a:solidFill>
                  <a:srgbClr val="FF0000"/>
                </a:solidFill>
              </a:rPr>
              <a:t>文件，命名为</a:t>
            </a:r>
            <a:r>
              <a:rPr lang="en-US" altLang="zh-CN" dirty="0">
                <a:solidFill>
                  <a:srgbClr val="FF0000"/>
                </a:solidFill>
              </a:rPr>
              <a:t>example</a:t>
            </a:r>
            <a:r>
              <a:rPr lang="zh-CN" altLang="en-US" dirty="0">
                <a:solidFill>
                  <a:srgbClr val="FF0000"/>
                </a:solidFill>
              </a:rPr>
              <a:t>，同时在该工作簿中建立两张工作表（</a:t>
            </a:r>
            <a:r>
              <a:rPr lang="en-US" altLang="zh-CN" dirty="0">
                <a:solidFill>
                  <a:srgbClr val="FF0000"/>
                </a:solidFill>
              </a:rPr>
              <a:t>sheet</a:t>
            </a:r>
            <a:r>
              <a:rPr lang="zh-CN" altLang="en-US" dirty="0">
                <a:solidFill>
                  <a:srgbClr val="FF0000"/>
                </a:solidFill>
              </a:rPr>
              <a:t>），分别为</a:t>
            </a:r>
            <a:r>
              <a:rPr lang="en-US" altLang="zh-CN" dirty="0">
                <a:solidFill>
                  <a:srgbClr val="FF0000"/>
                </a:solidFill>
              </a:rPr>
              <a:t>STUDENT</a:t>
            </a:r>
            <a:r>
              <a:rPr lang="zh-CN" altLang="en-US" dirty="0">
                <a:solidFill>
                  <a:srgbClr val="FF0000"/>
                </a:solidFill>
              </a:rPr>
              <a:t>和</a:t>
            </a:r>
            <a:r>
              <a:rPr lang="en-US" altLang="zh-CN" dirty="0">
                <a:solidFill>
                  <a:srgbClr val="FF0000"/>
                </a:solidFill>
              </a:rPr>
              <a:t>BOOK</a:t>
            </a:r>
            <a:r>
              <a:rPr lang="zh-CN" altLang="en-US" dirty="0"/>
              <a:t>。</a:t>
            </a:r>
          </a:p>
          <a:p>
            <a:pPr marL="0" indent="0" algn="just">
              <a:lnSpc>
                <a:spcPct val="150000"/>
              </a:lnSpc>
              <a:buNone/>
            </a:pP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9.4 </a:t>
            </a:r>
            <a:r>
              <a:rPr lang="en-US" altLang="zh-CN" dirty="0" err="1"/>
              <a:t>xls</a:t>
            </a:r>
            <a:r>
              <a:rPr lang="zh-CN" altLang="en-US" dirty="0"/>
              <a:t>与</a:t>
            </a:r>
            <a:r>
              <a:rPr lang="en-US" altLang="zh-CN" dirty="0"/>
              <a:t>xlsx</a:t>
            </a:r>
            <a:r>
              <a:rPr lang="zh-CN" altLang="en-US" dirty="0"/>
              <a:t>文件读写</a:t>
            </a:r>
          </a:p>
        </p:txBody>
      </p:sp>
      <p:pic>
        <p:nvPicPr>
          <p:cNvPr id="3" name="图片 2">
            <a:extLst>
              <a:ext uri="{FF2B5EF4-FFF2-40B4-BE49-F238E27FC236}">
                <a16:creationId xmlns:a16="http://schemas.microsoft.com/office/drawing/2014/main" id="{6E92F962-2A65-44D0-A751-EEAB9E3F175A}"/>
              </a:ext>
            </a:extLst>
          </p:cNvPr>
          <p:cNvPicPr>
            <a:picLocks noChangeAspect="1"/>
          </p:cNvPicPr>
          <p:nvPr/>
        </p:nvPicPr>
        <p:blipFill rotWithShape="1">
          <a:blip r:embed="rId3"/>
          <a:srcRect b="10140"/>
          <a:stretch/>
        </p:blipFill>
        <p:spPr>
          <a:xfrm>
            <a:off x="1104141" y="4244306"/>
            <a:ext cx="5461248" cy="993174"/>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9F30C77E-C3CA-A18E-A232-3D15F7A99EF1}"/>
              </a:ext>
            </a:extLst>
          </p:cNvPr>
          <p:cNvPicPr>
            <a:picLocks noChangeAspect="1"/>
          </p:cNvPicPr>
          <p:nvPr/>
        </p:nvPicPr>
        <p:blipFill>
          <a:blip r:embed="rId4"/>
          <a:stretch>
            <a:fillRect/>
          </a:stretch>
        </p:blipFill>
        <p:spPr>
          <a:xfrm>
            <a:off x="7437200" y="3188314"/>
            <a:ext cx="3649141" cy="280610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3778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爆炸形: 14 pt  1">
            <a:extLst>
              <a:ext uri="{FF2B5EF4-FFF2-40B4-BE49-F238E27FC236}">
                <a16:creationId xmlns:a16="http://schemas.microsoft.com/office/drawing/2014/main" id="{82C6824B-B6F3-4F71-8BD6-EEF0EE70B36B}"/>
              </a:ext>
            </a:extLst>
          </p:cNvPr>
          <p:cNvSpPr/>
          <p:nvPr/>
        </p:nvSpPr>
        <p:spPr>
          <a:xfrm>
            <a:off x="7287171" y="3971796"/>
            <a:ext cx="4368800" cy="2499360"/>
          </a:xfrm>
          <a:prstGeom prst="irregularSeal2">
            <a:avLst/>
          </a:prstGeom>
          <a:solidFill>
            <a:schemeClr val="bg2">
              <a:lumMod val="9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fontScale="925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dirty="0">
                <a:solidFill>
                  <a:srgbClr val="0432FF"/>
                </a:solidFill>
              </a:rPr>
              <a:t>1.</a:t>
            </a:r>
            <a:r>
              <a:rPr lang="zh-CN" altLang="en-US" sz="2400" dirty="0">
                <a:solidFill>
                  <a:srgbClr val="0432FF"/>
                </a:solidFill>
              </a:rPr>
              <a:t> 打开</a:t>
            </a:r>
            <a:r>
              <a:rPr lang="en-US" altLang="zh-CN" sz="2400" dirty="0">
                <a:solidFill>
                  <a:srgbClr val="0432FF"/>
                </a:solidFill>
              </a:rPr>
              <a:t>example</a:t>
            </a:r>
            <a:r>
              <a:rPr lang="zh-CN" altLang="en-US" sz="2400" dirty="0">
                <a:solidFill>
                  <a:srgbClr val="0432FF"/>
                </a:solidFill>
              </a:rPr>
              <a:t>文件并获取所有</a:t>
            </a:r>
            <a:r>
              <a:rPr lang="en-US" altLang="zh-CN" sz="2400" dirty="0">
                <a:solidFill>
                  <a:srgbClr val="0432FF"/>
                </a:solidFill>
              </a:rPr>
              <a:t>sheet</a:t>
            </a:r>
            <a:r>
              <a:rPr lang="zh-CN" altLang="en-US" sz="2400" dirty="0">
                <a:solidFill>
                  <a:srgbClr val="0432FF"/>
                </a:solidFill>
              </a:rPr>
              <a:t>的名称</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2089338"/>
            <a:ext cx="9982200" cy="784492"/>
          </a:xfrm>
          <a:prstGeom prst="rect">
            <a:avLst/>
          </a:prstGeom>
        </p:spPr>
        <p:txBody>
          <a:bodyPr>
            <a:normAutofit fontScale="850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2100" dirty="0"/>
              <a:t>在</a:t>
            </a:r>
            <a:r>
              <a:rPr lang="en-US" altLang="zh-CN" sz="2100" dirty="0" err="1"/>
              <a:t>xlrd</a:t>
            </a:r>
            <a:r>
              <a:rPr lang="zh-CN" altLang="en-US" sz="2100" dirty="0"/>
              <a:t>模块中可以使用</a:t>
            </a:r>
            <a:r>
              <a:rPr lang="en-US" altLang="zh-CN" sz="2100" dirty="0" err="1"/>
              <a:t>xlrd.open_workbook</a:t>
            </a:r>
            <a:r>
              <a:rPr lang="en-US" altLang="zh-CN" sz="2100" dirty="0"/>
              <a:t>(</a:t>
            </a:r>
            <a:r>
              <a:rPr lang="en-US" altLang="zh-CN" sz="2100" dirty="0" err="1"/>
              <a:t>r'path</a:t>
            </a:r>
            <a:r>
              <a:rPr lang="en-US" altLang="zh-CN" sz="2100" dirty="0"/>
              <a:t>')</a:t>
            </a:r>
            <a:r>
              <a:rPr lang="zh-CN" altLang="en-US" sz="2100" dirty="0"/>
              <a:t>打开表格文件，其中</a:t>
            </a:r>
            <a:r>
              <a:rPr lang="en-US" altLang="zh-CN" sz="2100" dirty="0"/>
              <a:t>path</a:t>
            </a:r>
            <a:r>
              <a:rPr lang="zh-CN" altLang="en-US" sz="2100" dirty="0"/>
              <a:t>为文件的路径，使用</a:t>
            </a:r>
            <a:r>
              <a:rPr lang="en-US" altLang="zh-CN" sz="2100" dirty="0" err="1"/>
              <a:t>sheet_names</a:t>
            </a:r>
            <a:r>
              <a:rPr lang="en-US" altLang="zh-CN" sz="2100" dirty="0"/>
              <a:t>()</a:t>
            </a:r>
            <a:r>
              <a:rPr lang="zh-CN" altLang="en-US" sz="2100" dirty="0"/>
              <a:t>函数可以获取具体表格的名称。</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sp>
        <p:nvSpPr>
          <p:cNvPr id="7" name="Content Placeholder 13">
            <a:extLst>
              <a:ext uri="{FF2B5EF4-FFF2-40B4-BE49-F238E27FC236}">
                <a16:creationId xmlns:a16="http://schemas.microsoft.com/office/drawing/2014/main" id="{5B5CE325-F40C-46C2-B825-35C6120669BB}"/>
              </a:ext>
            </a:extLst>
          </p:cNvPr>
          <p:cNvSpPr txBox="1">
            <a:spLocks/>
          </p:cNvSpPr>
          <p:nvPr/>
        </p:nvSpPr>
        <p:spPr>
          <a:xfrm>
            <a:off x="7975601" y="4865077"/>
            <a:ext cx="2661920" cy="931750"/>
          </a:xfrm>
          <a:prstGeom prst="rect">
            <a:avLst/>
          </a:prstGeom>
        </p:spPr>
        <p:txBody>
          <a:bodyPr>
            <a:normAutofit fontScale="925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spcBef>
                <a:spcPts val="0"/>
              </a:spcBef>
              <a:buNone/>
            </a:pPr>
            <a:r>
              <a:rPr lang="zh-CN" altLang="en-US" sz="1100" dirty="0">
                <a:latin typeface="宋体" panose="02010600030101010101" pitchFamily="2" charset="-122"/>
                <a:ea typeface="宋体" panose="02010600030101010101" pitchFamily="2" charset="-122"/>
              </a:rPr>
              <a:t>    </a:t>
            </a:r>
            <a:r>
              <a:rPr lang="zh-CN" altLang="en-US" sz="1600" dirty="0"/>
              <a:t>在打开表格文件时需要注意文件路径的填写，</a:t>
            </a:r>
            <a:r>
              <a:rPr lang="zh-CN" altLang="en-US" sz="1600" dirty="0">
                <a:solidFill>
                  <a:srgbClr val="FF0000"/>
                </a:solidFill>
              </a:rPr>
              <a:t>如果路径错误会导致程序运行失败</a:t>
            </a:r>
            <a:r>
              <a:rPr lang="zh-CN" altLang="en-US" sz="1600" dirty="0"/>
              <a:t>。</a:t>
            </a:r>
          </a:p>
        </p:txBody>
      </p:sp>
      <p:pic>
        <p:nvPicPr>
          <p:cNvPr id="8" name="Picture 7">
            <a:extLst>
              <a:ext uri="{FF2B5EF4-FFF2-40B4-BE49-F238E27FC236}">
                <a16:creationId xmlns:a16="http://schemas.microsoft.com/office/drawing/2014/main" id="{D5F6AAA1-81A9-7668-B772-5A9223EA9363}"/>
              </a:ext>
            </a:extLst>
          </p:cNvPr>
          <p:cNvPicPr>
            <a:picLocks noChangeAspect="1"/>
          </p:cNvPicPr>
          <p:nvPr/>
        </p:nvPicPr>
        <p:blipFill>
          <a:blip r:embed="rId3"/>
          <a:stretch>
            <a:fillRect/>
          </a:stretch>
        </p:blipFill>
        <p:spPr>
          <a:xfrm>
            <a:off x="1554479" y="3057797"/>
            <a:ext cx="5625574" cy="326872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79627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403135"/>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2.</a:t>
            </a:r>
            <a:r>
              <a:rPr lang="zh-CN" altLang="en-US" sz="2200" dirty="0">
                <a:solidFill>
                  <a:srgbClr val="0432FF"/>
                </a:solidFill>
              </a:rPr>
              <a:t> 获取</a:t>
            </a:r>
            <a:r>
              <a:rPr lang="en-US" altLang="zh-CN" sz="2200" dirty="0">
                <a:solidFill>
                  <a:srgbClr val="0432FF"/>
                </a:solidFill>
              </a:rPr>
              <a:t>STUDENT</a:t>
            </a:r>
            <a:r>
              <a:rPr lang="zh-CN" altLang="en-US" sz="2200" dirty="0">
                <a:solidFill>
                  <a:srgbClr val="0432FF"/>
                </a:solidFill>
              </a:rPr>
              <a:t>工作表</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931264" y="1871816"/>
            <a:ext cx="7386827" cy="1303426"/>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获取工作表的方式有两种</a:t>
            </a:r>
            <a:endParaRPr lang="en-US" altLang="zh-CN" sz="1800" dirty="0"/>
          </a:p>
          <a:p>
            <a:pPr algn="just">
              <a:lnSpc>
                <a:spcPct val="150000"/>
              </a:lnSpc>
              <a:spcBef>
                <a:spcPts val="0"/>
              </a:spcBef>
            </a:pPr>
            <a:r>
              <a:rPr lang="zh-CN" altLang="en-US" sz="1600" dirty="0"/>
              <a:t>使用</a:t>
            </a:r>
            <a:r>
              <a:rPr lang="en-US" altLang="zh-CN" sz="1600" dirty="0"/>
              <a:t>sheets()[index]</a:t>
            </a:r>
            <a:r>
              <a:rPr lang="zh-CN" altLang="en-US" sz="1600" dirty="0"/>
              <a:t>函数通过索引获取表单，其中，</a:t>
            </a:r>
            <a:r>
              <a:rPr lang="en-US" altLang="zh-CN" sz="1600" dirty="0"/>
              <a:t>index</a:t>
            </a:r>
            <a:r>
              <a:rPr lang="zh-CN" altLang="en-US" sz="1600" dirty="0"/>
              <a:t>表示表单的索引；</a:t>
            </a:r>
            <a:endParaRPr lang="en-US" altLang="zh-CN" sz="1600" dirty="0"/>
          </a:p>
          <a:p>
            <a:pPr algn="just">
              <a:lnSpc>
                <a:spcPct val="150000"/>
              </a:lnSpc>
              <a:spcBef>
                <a:spcPts val="0"/>
              </a:spcBef>
            </a:pPr>
            <a:r>
              <a:rPr lang="zh-CN" altLang="en-US" sz="1600" dirty="0"/>
              <a:t>通过</a:t>
            </a:r>
            <a:r>
              <a:rPr lang="en-US" altLang="zh-CN" sz="1600" dirty="0" err="1"/>
              <a:t>sheet_by_index</a:t>
            </a:r>
            <a:r>
              <a:rPr lang="en-US" altLang="zh-CN" sz="1600" dirty="0"/>
              <a:t>(num)</a:t>
            </a:r>
            <a:r>
              <a:rPr lang="zh-CN" altLang="en-US" sz="1600" dirty="0"/>
              <a:t>函数的方式获取表单，其中，</a:t>
            </a:r>
            <a:r>
              <a:rPr lang="en-US" altLang="zh-CN" sz="1600" dirty="0"/>
              <a:t>num</a:t>
            </a:r>
            <a:r>
              <a:rPr lang="zh-CN" altLang="en-US" sz="1600" dirty="0"/>
              <a:t>表示表单的索引。</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pic>
        <p:nvPicPr>
          <p:cNvPr id="2" name="Picture 1">
            <a:extLst>
              <a:ext uri="{FF2B5EF4-FFF2-40B4-BE49-F238E27FC236}">
                <a16:creationId xmlns:a16="http://schemas.microsoft.com/office/drawing/2014/main" id="{92524EAA-9072-0874-DB39-83DB3A0809A2}"/>
              </a:ext>
            </a:extLst>
          </p:cNvPr>
          <p:cNvPicPr>
            <a:picLocks noChangeAspect="1"/>
          </p:cNvPicPr>
          <p:nvPr/>
        </p:nvPicPr>
        <p:blipFill>
          <a:blip r:embed="rId3"/>
          <a:stretch>
            <a:fillRect/>
          </a:stretch>
        </p:blipFill>
        <p:spPr>
          <a:xfrm>
            <a:off x="700934" y="3547121"/>
            <a:ext cx="6172200" cy="10795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FF51FC91-5DC7-05BB-86D2-C1C6ECFF3E81}"/>
              </a:ext>
            </a:extLst>
          </p:cNvPr>
          <p:cNvPicPr>
            <a:picLocks noChangeAspect="1"/>
          </p:cNvPicPr>
          <p:nvPr/>
        </p:nvPicPr>
        <p:blipFill>
          <a:blip r:embed="rId4"/>
          <a:stretch>
            <a:fillRect/>
          </a:stretch>
        </p:blipFill>
        <p:spPr>
          <a:xfrm>
            <a:off x="700934" y="4998500"/>
            <a:ext cx="7734300" cy="1155700"/>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2FC4969B-D972-7B81-0928-A5BB096AC03D}"/>
              </a:ext>
            </a:extLst>
          </p:cNvPr>
          <p:cNvPicPr>
            <a:picLocks noChangeAspect="1"/>
          </p:cNvPicPr>
          <p:nvPr/>
        </p:nvPicPr>
        <p:blipFill>
          <a:blip r:embed="rId5"/>
          <a:stretch>
            <a:fillRect/>
          </a:stretch>
        </p:blipFill>
        <p:spPr>
          <a:xfrm>
            <a:off x="6303591" y="2738604"/>
            <a:ext cx="5384800" cy="2006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1205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3.</a:t>
            </a:r>
            <a:r>
              <a:rPr lang="zh-CN" altLang="en-US" sz="2200" dirty="0">
                <a:solidFill>
                  <a:srgbClr val="0432FF"/>
                </a:solidFill>
              </a:rPr>
              <a:t> 获取</a:t>
            </a:r>
            <a:r>
              <a:rPr lang="en-US" altLang="zh-CN" sz="2200" dirty="0">
                <a:solidFill>
                  <a:srgbClr val="0432FF"/>
                </a:solidFill>
              </a:rPr>
              <a:t>sheet</a:t>
            </a:r>
            <a:r>
              <a:rPr lang="zh-CN" altLang="en-US" sz="2200" dirty="0">
                <a:solidFill>
                  <a:srgbClr val="0432FF"/>
                </a:solidFill>
              </a:rPr>
              <a:t>表的行数和列数</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984166"/>
            <a:ext cx="9982200" cy="96845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800" dirty="0"/>
              <a:t>可以使用</a:t>
            </a:r>
            <a:r>
              <a:rPr lang="en-US" altLang="zh-CN" sz="1800" dirty="0" err="1"/>
              <a:t>workbook.nrows</a:t>
            </a:r>
            <a:r>
              <a:rPr lang="zh-CN" altLang="en-US" sz="1800" dirty="0"/>
              <a:t>和</a:t>
            </a:r>
            <a:r>
              <a:rPr lang="en-US" altLang="zh-CN" sz="1800" dirty="0" err="1"/>
              <a:t>workbook.ncols</a:t>
            </a:r>
            <a:r>
              <a:rPr lang="zh-CN" altLang="en-US" sz="1800" dirty="0"/>
              <a:t>函数获取表单内容的行数和列数，例如获取</a:t>
            </a:r>
            <a:r>
              <a:rPr lang="en-US" altLang="zh-CN" sz="1800" dirty="0"/>
              <a:t>STUNDT</a:t>
            </a:r>
            <a:r>
              <a:rPr lang="zh-CN" altLang="en-US" sz="1800" dirty="0"/>
              <a:t>工作表的行数和列数：</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pic>
        <p:nvPicPr>
          <p:cNvPr id="2" name="Picture 1">
            <a:extLst>
              <a:ext uri="{FF2B5EF4-FFF2-40B4-BE49-F238E27FC236}">
                <a16:creationId xmlns:a16="http://schemas.microsoft.com/office/drawing/2014/main" id="{63C51BAB-F105-CE3C-93A4-5E6D0097ADF1}"/>
              </a:ext>
            </a:extLst>
          </p:cNvPr>
          <p:cNvPicPr>
            <a:picLocks noChangeAspect="1"/>
          </p:cNvPicPr>
          <p:nvPr/>
        </p:nvPicPr>
        <p:blipFill>
          <a:blip r:embed="rId3"/>
          <a:stretch>
            <a:fillRect/>
          </a:stretch>
        </p:blipFill>
        <p:spPr>
          <a:xfrm>
            <a:off x="1137741" y="2952625"/>
            <a:ext cx="5143500" cy="1193800"/>
          </a:xfrm>
          <a:prstGeom prst="rect">
            <a:avLst/>
          </a:prstGeom>
        </p:spPr>
      </p:pic>
      <p:pic>
        <p:nvPicPr>
          <p:cNvPr id="3" name="Picture 2">
            <a:extLst>
              <a:ext uri="{FF2B5EF4-FFF2-40B4-BE49-F238E27FC236}">
                <a16:creationId xmlns:a16="http://schemas.microsoft.com/office/drawing/2014/main" id="{F4BF26E4-D5D6-D81D-2272-AFB7543AD4A6}"/>
              </a:ext>
            </a:extLst>
          </p:cNvPr>
          <p:cNvPicPr>
            <a:picLocks noChangeAspect="1"/>
          </p:cNvPicPr>
          <p:nvPr/>
        </p:nvPicPr>
        <p:blipFill>
          <a:blip r:embed="rId4"/>
          <a:stretch>
            <a:fillRect/>
          </a:stretch>
        </p:blipFill>
        <p:spPr>
          <a:xfrm>
            <a:off x="6634521" y="2952625"/>
            <a:ext cx="4940300" cy="2197100"/>
          </a:xfrm>
          <a:prstGeom prst="rect">
            <a:avLst/>
          </a:prstGeom>
        </p:spPr>
      </p:pic>
    </p:spTree>
    <p:extLst>
      <p:ext uri="{BB962C8B-B14F-4D97-AF65-F5344CB8AC3E}">
        <p14:creationId xmlns:p14="http://schemas.microsoft.com/office/powerpoint/2010/main" val="92812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4.</a:t>
            </a:r>
            <a:r>
              <a:rPr lang="zh-CN" altLang="en-US" sz="2200" dirty="0">
                <a:solidFill>
                  <a:srgbClr val="0432FF"/>
                </a:solidFill>
              </a:rPr>
              <a:t> 获取整行和整列的值</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984166"/>
            <a:ext cx="9982200" cy="96845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a:t>
            </a:r>
            <a:r>
              <a:rPr lang="en-US" altLang="zh-CN" sz="1800" dirty="0" err="1"/>
              <a:t>row_values</a:t>
            </a:r>
            <a:r>
              <a:rPr lang="en-US" altLang="zh-CN" sz="1800" dirty="0"/>
              <a:t>()</a:t>
            </a:r>
            <a:r>
              <a:rPr lang="zh-CN" altLang="en-US" sz="1800" dirty="0"/>
              <a:t>函数和</a:t>
            </a:r>
            <a:r>
              <a:rPr lang="en-US" altLang="zh-CN" sz="1800" dirty="0" err="1"/>
              <a:t>col_values</a:t>
            </a:r>
            <a:r>
              <a:rPr lang="en-US" altLang="zh-CN" sz="1800" dirty="0"/>
              <a:t>()</a:t>
            </a:r>
            <a:r>
              <a:rPr lang="zh-CN" altLang="en-US" sz="1800" dirty="0"/>
              <a:t>函数分别被用于获取表单中整行和整列的表单内容，括号中可以填写数值，表示获取第几行或第几列的内容。</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pic>
        <p:nvPicPr>
          <p:cNvPr id="2" name="Picture 1">
            <a:extLst>
              <a:ext uri="{FF2B5EF4-FFF2-40B4-BE49-F238E27FC236}">
                <a16:creationId xmlns:a16="http://schemas.microsoft.com/office/drawing/2014/main" id="{18E62509-6A9A-4DF3-EBF4-CD53C9EE3B6B}"/>
              </a:ext>
            </a:extLst>
          </p:cNvPr>
          <p:cNvPicPr>
            <a:picLocks noChangeAspect="1"/>
          </p:cNvPicPr>
          <p:nvPr/>
        </p:nvPicPr>
        <p:blipFill>
          <a:blip r:embed="rId3"/>
          <a:stretch>
            <a:fillRect/>
          </a:stretch>
        </p:blipFill>
        <p:spPr>
          <a:xfrm>
            <a:off x="2527743" y="3138822"/>
            <a:ext cx="6337300" cy="3187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4783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7108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5.</a:t>
            </a:r>
            <a:r>
              <a:rPr lang="zh-CN" altLang="en-US" sz="2200" dirty="0">
                <a:solidFill>
                  <a:srgbClr val="0432FF"/>
                </a:solidFill>
              </a:rPr>
              <a:t> 循环获取整个表格内容</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2036571"/>
            <a:ext cx="9982200" cy="1339663"/>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2100" dirty="0"/>
              <a:t>通过</a:t>
            </a:r>
            <a:r>
              <a:rPr lang="en-US" altLang="zh-CN" sz="2100" dirty="0" err="1"/>
              <a:t>workbook.nrows</a:t>
            </a:r>
            <a:r>
              <a:rPr lang="zh-CN" altLang="en-US" sz="2100" dirty="0"/>
              <a:t>和</a:t>
            </a:r>
            <a:r>
              <a:rPr lang="en-US" altLang="zh-CN" sz="2100" dirty="0" err="1"/>
              <a:t>workbook.ncols</a:t>
            </a:r>
            <a:r>
              <a:rPr lang="zh-CN" altLang="en-US" sz="2100" dirty="0"/>
              <a:t>函数获取表单内容的行数和列数后，将其赋值给</a:t>
            </a:r>
            <a:r>
              <a:rPr lang="en-US" altLang="zh-CN" sz="2100" dirty="0" err="1"/>
              <a:t>num_rows</a:t>
            </a:r>
            <a:r>
              <a:rPr lang="zh-CN" altLang="en-US" sz="2100" dirty="0"/>
              <a:t>和</a:t>
            </a:r>
            <a:r>
              <a:rPr lang="en-US" altLang="zh-CN" sz="2100" dirty="0" err="1"/>
              <a:t>num_cols</a:t>
            </a:r>
            <a:r>
              <a:rPr lang="zh-CN" altLang="en-US" sz="2100" dirty="0"/>
              <a:t>。因此，在下述代码块中，</a:t>
            </a:r>
            <a:r>
              <a:rPr lang="en-US" altLang="zh-CN" sz="2100" dirty="0" err="1"/>
              <a:t>num_rows</a:t>
            </a:r>
            <a:r>
              <a:rPr lang="zh-CN" altLang="en-US" sz="2100" dirty="0"/>
              <a:t>表示整个表格内容所占行总数，</a:t>
            </a:r>
            <a:r>
              <a:rPr lang="en-US" altLang="zh-CN" sz="2100" dirty="0" err="1"/>
              <a:t>num_cols</a:t>
            </a:r>
            <a:r>
              <a:rPr lang="zh-CN" altLang="en-US" sz="2100" dirty="0"/>
              <a:t>表示整个表格内容所占列总数，通过循环遍历的形式可以输出整个表格的内容。</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pic>
        <p:nvPicPr>
          <p:cNvPr id="2" name="Picture 1">
            <a:extLst>
              <a:ext uri="{FF2B5EF4-FFF2-40B4-BE49-F238E27FC236}">
                <a16:creationId xmlns:a16="http://schemas.microsoft.com/office/drawing/2014/main" id="{A04967FC-0CCD-B85C-6751-4E73707F93EB}"/>
              </a:ext>
            </a:extLst>
          </p:cNvPr>
          <p:cNvPicPr>
            <a:picLocks noChangeAspect="1"/>
          </p:cNvPicPr>
          <p:nvPr/>
        </p:nvPicPr>
        <p:blipFill>
          <a:blip r:embed="rId3"/>
          <a:stretch>
            <a:fillRect/>
          </a:stretch>
        </p:blipFill>
        <p:spPr>
          <a:xfrm>
            <a:off x="1067626" y="3712372"/>
            <a:ext cx="10018715" cy="2349215"/>
          </a:xfrm>
          <a:prstGeom prst="rect">
            <a:avLst/>
          </a:prstGeom>
        </p:spPr>
      </p:pic>
    </p:spTree>
    <p:extLst>
      <p:ext uri="{BB962C8B-B14F-4D97-AF65-F5344CB8AC3E}">
        <p14:creationId xmlns:p14="http://schemas.microsoft.com/office/powerpoint/2010/main" val="282888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6.</a:t>
            </a:r>
            <a:r>
              <a:rPr lang="zh-CN" altLang="en-US" sz="2200" dirty="0">
                <a:solidFill>
                  <a:srgbClr val="0432FF"/>
                </a:solidFill>
              </a:rPr>
              <a:t> 获取特定单元格的内容</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982484"/>
            <a:ext cx="9982200" cy="1992806"/>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900" dirty="0">
                <a:solidFill>
                  <a:srgbClr val="FF0000"/>
                </a:solidFill>
              </a:rPr>
              <a:t>除了可以按整行或者按整列获取之外，还可以指定单元格获取该单元格的内容</a:t>
            </a:r>
            <a:r>
              <a:rPr lang="zh-CN" altLang="en-US" sz="1900" dirty="0"/>
              <a:t>，一般有多种形式，如</a:t>
            </a:r>
            <a:r>
              <a:rPr lang="en-US" altLang="zh-CN" sz="1900" dirty="0"/>
              <a:t>workbook1.cell(row, col).value</a:t>
            </a:r>
            <a:r>
              <a:rPr lang="zh-CN" altLang="en-US" sz="1900" dirty="0"/>
              <a:t>函数，其中</a:t>
            </a:r>
            <a:r>
              <a:rPr lang="en-US" altLang="zh-CN" sz="1900" dirty="0"/>
              <a:t>row</a:t>
            </a:r>
            <a:r>
              <a:rPr lang="zh-CN" altLang="en-US" sz="1900" dirty="0"/>
              <a:t>的值表示所在行，</a:t>
            </a:r>
            <a:r>
              <a:rPr lang="en-US" altLang="zh-CN" sz="1900" dirty="0"/>
              <a:t>col</a:t>
            </a:r>
            <a:r>
              <a:rPr lang="zh-CN" altLang="en-US" sz="1900" dirty="0"/>
              <a:t>的值表示所在列；</a:t>
            </a:r>
            <a:r>
              <a:rPr lang="en-US" altLang="zh-CN" sz="1900" dirty="0"/>
              <a:t>workbook1.cell_value(row, col)</a:t>
            </a:r>
            <a:r>
              <a:rPr lang="zh-CN" altLang="en-US" sz="1900" dirty="0"/>
              <a:t>函数，</a:t>
            </a:r>
            <a:r>
              <a:rPr lang="en-US" altLang="zh-CN" sz="1900" dirty="0"/>
              <a:t>row</a:t>
            </a:r>
            <a:r>
              <a:rPr lang="zh-CN" altLang="en-US" sz="1900" dirty="0"/>
              <a:t>的值表示所在行，</a:t>
            </a:r>
            <a:r>
              <a:rPr lang="en-US" altLang="zh-CN" sz="1900" dirty="0"/>
              <a:t>col</a:t>
            </a:r>
            <a:r>
              <a:rPr lang="zh-CN" altLang="en-US" sz="1900" dirty="0"/>
              <a:t>的值表示所在列；</a:t>
            </a:r>
            <a:r>
              <a:rPr lang="en-US" altLang="zh-CN" sz="1900" dirty="0"/>
              <a:t>workbook1.row()[].value</a:t>
            </a:r>
            <a:r>
              <a:rPr lang="zh-CN" altLang="en-US" sz="1900" dirty="0"/>
              <a:t>函数，小括号中输入行所在的值，方括号中为列所在的值，索引一般从</a:t>
            </a:r>
            <a:r>
              <a:rPr lang="en-US" altLang="zh-CN" sz="1900" dirty="0"/>
              <a:t>0</a:t>
            </a:r>
            <a:r>
              <a:rPr lang="zh-CN" altLang="en-US" sz="1900" dirty="0"/>
              <a:t>开始。示例如下：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9.4.1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xlrd</a:t>
            </a:r>
            <a:r>
              <a:rPr lang="zh-CN" altLang="en-US" dirty="0">
                <a:latin typeface="Microsoft YaHei" panose="020B0503020204020204" pitchFamily="34" charset="-122"/>
                <a:ea typeface="Microsoft YaHei" panose="020B0503020204020204" pitchFamily="34" charset="-122"/>
              </a:rPr>
              <a:t>模块</a:t>
            </a:r>
          </a:p>
        </p:txBody>
      </p:sp>
      <p:sp>
        <p:nvSpPr>
          <p:cNvPr id="7" name="Content Placeholder 13">
            <a:extLst>
              <a:ext uri="{FF2B5EF4-FFF2-40B4-BE49-F238E27FC236}">
                <a16:creationId xmlns:a16="http://schemas.microsoft.com/office/drawing/2014/main" id="{688CB862-1566-4319-9819-1AEA573995EA}"/>
              </a:ext>
            </a:extLst>
          </p:cNvPr>
          <p:cNvSpPr txBox="1">
            <a:spLocks/>
          </p:cNvSpPr>
          <p:nvPr/>
        </p:nvSpPr>
        <p:spPr>
          <a:xfrm>
            <a:off x="1104141" y="4457837"/>
            <a:ext cx="4116788" cy="186868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900" dirty="0"/>
              <a:t>在</a:t>
            </a:r>
            <a:r>
              <a:rPr lang="en-US" altLang="zh-CN" sz="1900" dirty="0"/>
              <a:t>Python</a:t>
            </a:r>
            <a:r>
              <a:rPr lang="zh-CN" altLang="en-US" sz="1900" dirty="0"/>
              <a:t>中还可以使用</a:t>
            </a:r>
            <a:r>
              <a:rPr lang="en-US" altLang="zh-CN" sz="1900" dirty="0" err="1"/>
              <a:t>xlwt</a:t>
            </a:r>
            <a:r>
              <a:rPr lang="zh-CN" altLang="en-US" sz="1900" dirty="0"/>
              <a:t>模块对</a:t>
            </a:r>
            <a:r>
              <a:rPr lang="en-US" altLang="zh-CN" sz="1900" dirty="0"/>
              <a:t>excel</a:t>
            </a:r>
            <a:r>
              <a:rPr lang="zh-CN" altLang="en-US" sz="1900" dirty="0"/>
              <a:t>文件进行读写，下面将介绍</a:t>
            </a:r>
            <a:r>
              <a:rPr lang="en-US" altLang="zh-CN" sz="1900" dirty="0" err="1"/>
              <a:t>xlwt</a:t>
            </a:r>
            <a:r>
              <a:rPr lang="zh-CN" altLang="en-US" sz="1900" dirty="0"/>
              <a:t>模块中对</a:t>
            </a:r>
            <a:r>
              <a:rPr lang="en-US" altLang="zh-CN" sz="1900" dirty="0"/>
              <a:t>excel</a:t>
            </a:r>
            <a:r>
              <a:rPr lang="zh-CN" altLang="en-US" sz="1900" dirty="0"/>
              <a:t>文件相关的基本操作及代码演示。</a:t>
            </a:r>
          </a:p>
        </p:txBody>
      </p:sp>
      <p:pic>
        <p:nvPicPr>
          <p:cNvPr id="2" name="Picture 1">
            <a:extLst>
              <a:ext uri="{FF2B5EF4-FFF2-40B4-BE49-F238E27FC236}">
                <a16:creationId xmlns:a16="http://schemas.microsoft.com/office/drawing/2014/main" id="{C6240FE9-D778-119D-D78D-D8834C6FA04D}"/>
              </a:ext>
            </a:extLst>
          </p:cNvPr>
          <p:cNvPicPr>
            <a:picLocks noChangeAspect="1"/>
          </p:cNvPicPr>
          <p:nvPr/>
        </p:nvPicPr>
        <p:blipFill>
          <a:blip r:embed="rId3"/>
          <a:stretch>
            <a:fillRect/>
          </a:stretch>
        </p:blipFill>
        <p:spPr>
          <a:xfrm>
            <a:off x="5633541" y="3676587"/>
            <a:ext cx="5486400" cy="2806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66633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985342" y="1423526"/>
            <a:ext cx="2231174"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1.</a:t>
            </a:r>
            <a:r>
              <a:rPr lang="zh-CN" altLang="en-US" sz="2200" dirty="0">
                <a:solidFill>
                  <a:srgbClr val="0432FF"/>
                </a:solidFill>
              </a:rPr>
              <a:t> 创建工作簿</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3352800" y="1241747"/>
            <a:ext cx="8289007" cy="1842583"/>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4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800" dirty="0" err="1"/>
              <a:t>xlwt</a:t>
            </a:r>
            <a:r>
              <a:rPr lang="zh-CN" altLang="en-US" sz="1800" dirty="0"/>
              <a:t>模块中可以使用</a:t>
            </a:r>
            <a:r>
              <a:rPr lang="en-US" altLang="zh-CN" sz="1800" dirty="0" err="1">
                <a:solidFill>
                  <a:srgbClr val="FF0000"/>
                </a:solidFill>
              </a:rPr>
              <a:t>xlwt.Workbook</a:t>
            </a:r>
            <a:r>
              <a:rPr lang="en-US" altLang="zh-CN" sz="1800" dirty="0">
                <a:solidFill>
                  <a:srgbClr val="FF0000"/>
                </a:solidFill>
              </a:rPr>
              <a:t>()</a:t>
            </a:r>
            <a:r>
              <a:rPr lang="zh-CN" altLang="en-US" sz="1800" dirty="0">
                <a:solidFill>
                  <a:srgbClr val="FF0000"/>
                </a:solidFill>
              </a:rPr>
              <a:t>创建工作簿</a:t>
            </a:r>
            <a:r>
              <a:rPr lang="zh-CN" altLang="en-US" sz="1800" dirty="0"/>
              <a:t>，之后通过</a:t>
            </a:r>
            <a:r>
              <a:rPr lang="en-US" altLang="zh-CN" sz="1800" dirty="0" err="1">
                <a:solidFill>
                  <a:srgbClr val="FF0000"/>
                </a:solidFill>
              </a:rPr>
              <a:t>add_sheet</a:t>
            </a:r>
            <a:r>
              <a:rPr lang="en-US" altLang="zh-CN" sz="1800" dirty="0">
                <a:solidFill>
                  <a:srgbClr val="FF0000"/>
                </a:solidFill>
              </a:rPr>
              <a:t>()</a:t>
            </a:r>
            <a:r>
              <a:rPr lang="zh-CN" altLang="en-US" sz="1800" dirty="0">
                <a:solidFill>
                  <a:srgbClr val="FF0000"/>
                </a:solidFill>
              </a:rPr>
              <a:t>函数在创建的工作簿中添加新的表单</a:t>
            </a:r>
            <a:r>
              <a:rPr lang="zh-CN" altLang="en-US" sz="1800" dirty="0"/>
              <a:t>，使用</a:t>
            </a:r>
            <a:r>
              <a:rPr lang="en-US" altLang="zh-CN" sz="1800" dirty="0">
                <a:solidFill>
                  <a:srgbClr val="FF0000"/>
                </a:solidFill>
              </a:rPr>
              <a:t>write()</a:t>
            </a:r>
            <a:r>
              <a:rPr lang="zh-CN" altLang="en-US" sz="1800" dirty="0">
                <a:solidFill>
                  <a:srgbClr val="FF0000"/>
                </a:solidFill>
              </a:rPr>
              <a:t>函数将需要输入的内容写入表单</a:t>
            </a:r>
            <a:r>
              <a:rPr lang="zh-CN" altLang="en-US" sz="1800" dirty="0"/>
              <a:t>中，使用形式为：</a:t>
            </a:r>
            <a:r>
              <a:rPr lang="en-US" altLang="zh-CN" sz="1800" dirty="0">
                <a:solidFill>
                  <a:srgbClr val="FF0000"/>
                </a:solidFill>
              </a:rPr>
              <a:t>   sheet1.write(</a:t>
            </a:r>
            <a:r>
              <a:rPr lang="en-US" altLang="zh-CN" sz="1800" dirty="0" err="1">
                <a:solidFill>
                  <a:srgbClr val="FF0000"/>
                </a:solidFill>
              </a:rPr>
              <a:t>row,col,label</a:t>
            </a:r>
            <a:r>
              <a:rPr lang="en-US" altLang="zh-CN" sz="1800" dirty="0">
                <a:solidFill>
                  <a:srgbClr val="FF0000"/>
                </a:solidFill>
              </a:rPr>
              <a:t> = 'str’)</a:t>
            </a:r>
          </a:p>
          <a:p>
            <a:pPr marL="0" indent="0" algn="just">
              <a:lnSpc>
                <a:spcPct val="140000"/>
              </a:lnSpc>
              <a:spcBef>
                <a:spcPts val="0"/>
              </a:spcBef>
              <a:buNone/>
            </a:pPr>
            <a:r>
              <a:rPr lang="en-US" altLang="zh-CN" sz="1800" dirty="0"/>
              <a:t>   sheet1</a:t>
            </a:r>
            <a:r>
              <a:rPr lang="zh-CN" altLang="en-US" sz="1800" dirty="0"/>
              <a:t>为表单的名称，</a:t>
            </a:r>
            <a:r>
              <a:rPr lang="en-US" altLang="zh-CN" sz="1800" dirty="0"/>
              <a:t>row</a:t>
            </a:r>
            <a:r>
              <a:rPr lang="zh-CN" altLang="en-US" sz="1800" dirty="0"/>
              <a:t>可以指定单元格的行，</a:t>
            </a:r>
            <a:r>
              <a:rPr lang="en-US" altLang="zh-CN" sz="1800" dirty="0"/>
              <a:t>col</a:t>
            </a:r>
            <a:r>
              <a:rPr lang="zh-CN" altLang="en-US" sz="1800" dirty="0"/>
              <a:t>指定单元格的列，</a:t>
            </a:r>
            <a:r>
              <a:rPr lang="en-US" altLang="zh-CN" sz="1800" dirty="0"/>
              <a:t>label</a:t>
            </a:r>
            <a:r>
              <a:rPr lang="zh-CN" altLang="en-US" sz="1800" dirty="0"/>
              <a:t>指定需要输入的内容。示例如下：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9.4.2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xlwt</a:t>
            </a:r>
            <a:r>
              <a:rPr lang="zh-CN" altLang="zh-CN" dirty="0">
                <a:latin typeface="Microsoft YaHei" panose="020B0503020204020204" pitchFamily="34" charset="-122"/>
                <a:ea typeface="Microsoft YaHei" panose="020B0503020204020204" pitchFamily="34" charset="-122"/>
              </a:rPr>
              <a:t>模块</a:t>
            </a:r>
            <a:endParaRPr lang="zh-CN" altLang="en-US" dirty="0">
              <a:latin typeface="Microsoft YaHei" panose="020B0503020204020204" pitchFamily="34" charset="-122"/>
              <a:ea typeface="Microsoft YaHei" panose="020B0503020204020204" pitchFamily="34" charset="-122"/>
            </a:endParaRPr>
          </a:p>
        </p:txBody>
      </p:sp>
      <p:sp>
        <p:nvSpPr>
          <p:cNvPr id="7" name="Content Placeholder 13">
            <a:extLst>
              <a:ext uri="{FF2B5EF4-FFF2-40B4-BE49-F238E27FC236}">
                <a16:creationId xmlns:a16="http://schemas.microsoft.com/office/drawing/2014/main" id="{688CB862-1566-4319-9819-1AEA573995EA}"/>
              </a:ext>
            </a:extLst>
          </p:cNvPr>
          <p:cNvSpPr txBox="1">
            <a:spLocks/>
          </p:cNvSpPr>
          <p:nvPr/>
        </p:nvSpPr>
        <p:spPr>
          <a:xfrm>
            <a:off x="445622" y="5375525"/>
            <a:ext cx="5194300" cy="118750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600" dirty="0"/>
              <a:t>需要注意的是，</a:t>
            </a:r>
            <a:r>
              <a:rPr lang="en-US" altLang="zh-CN" sz="1600" dirty="0"/>
              <a:t>save()</a:t>
            </a:r>
            <a:r>
              <a:rPr lang="zh-CN" altLang="en-US" sz="1600" dirty="0"/>
              <a:t>函数的对象工作簿的名称而非表单的名称，因此在上述代码块中，将</a:t>
            </a:r>
            <a:r>
              <a:rPr lang="en-US" altLang="zh-CN" sz="1600" dirty="0"/>
              <a:t>workbook</a:t>
            </a:r>
            <a:r>
              <a:rPr lang="zh-CN" altLang="en-US" sz="1600" dirty="0"/>
              <a:t>名称对应的工作簿存入盘中的</a:t>
            </a:r>
            <a:r>
              <a:rPr lang="en-US" altLang="zh-CN" sz="1600" dirty="0"/>
              <a:t>example_1.xls</a:t>
            </a:r>
            <a:r>
              <a:rPr lang="zh-CN" altLang="en-US" sz="1600" dirty="0"/>
              <a:t>。</a:t>
            </a:r>
          </a:p>
        </p:txBody>
      </p:sp>
      <p:pic>
        <p:nvPicPr>
          <p:cNvPr id="2" name="Picture 1">
            <a:extLst>
              <a:ext uri="{FF2B5EF4-FFF2-40B4-BE49-F238E27FC236}">
                <a16:creationId xmlns:a16="http://schemas.microsoft.com/office/drawing/2014/main" id="{0D07B7A8-3E24-AF28-07EE-09B0A06936E7}"/>
              </a:ext>
            </a:extLst>
          </p:cNvPr>
          <p:cNvPicPr>
            <a:picLocks noChangeAspect="1"/>
          </p:cNvPicPr>
          <p:nvPr/>
        </p:nvPicPr>
        <p:blipFill>
          <a:blip r:embed="rId3"/>
          <a:stretch>
            <a:fillRect/>
          </a:stretch>
        </p:blipFill>
        <p:spPr>
          <a:xfrm>
            <a:off x="397115" y="3687524"/>
            <a:ext cx="4749800" cy="596900"/>
          </a:xfrm>
          <a:prstGeom prst="rect">
            <a:avLst/>
          </a:prstGeom>
        </p:spPr>
      </p:pic>
      <p:pic>
        <p:nvPicPr>
          <p:cNvPr id="3" name="Picture 2">
            <a:extLst>
              <a:ext uri="{FF2B5EF4-FFF2-40B4-BE49-F238E27FC236}">
                <a16:creationId xmlns:a16="http://schemas.microsoft.com/office/drawing/2014/main" id="{A1934D38-F373-D38E-BBF3-450515EC51CB}"/>
              </a:ext>
            </a:extLst>
          </p:cNvPr>
          <p:cNvPicPr>
            <a:picLocks noChangeAspect="1"/>
          </p:cNvPicPr>
          <p:nvPr/>
        </p:nvPicPr>
        <p:blipFill>
          <a:blip r:embed="rId4"/>
          <a:stretch>
            <a:fillRect/>
          </a:stretch>
        </p:blipFill>
        <p:spPr>
          <a:xfrm>
            <a:off x="397115" y="4284424"/>
            <a:ext cx="4762500" cy="431800"/>
          </a:xfrm>
          <a:prstGeom prst="rect">
            <a:avLst/>
          </a:prstGeom>
        </p:spPr>
      </p:pic>
      <p:pic>
        <p:nvPicPr>
          <p:cNvPr id="6" name="Picture 5">
            <a:extLst>
              <a:ext uri="{FF2B5EF4-FFF2-40B4-BE49-F238E27FC236}">
                <a16:creationId xmlns:a16="http://schemas.microsoft.com/office/drawing/2014/main" id="{B5B4CC13-9846-A038-8922-D88F70AA18C1}"/>
              </a:ext>
            </a:extLst>
          </p:cNvPr>
          <p:cNvPicPr>
            <a:picLocks noChangeAspect="1"/>
          </p:cNvPicPr>
          <p:nvPr/>
        </p:nvPicPr>
        <p:blipFill>
          <a:blip r:embed="rId5"/>
          <a:stretch>
            <a:fillRect/>
          </a:stretch>
        </p:blipFill>
        <p:spPr>
          <a:xfrm>
            <a:off x="349388" y="4716224"/>
            <a:ext cx="5194300" cy="546100"/>
          </a:xfrm>
          <a:prstGeom prst="rect">
            <a:avLst/>
          </a:prstGeom>
        </p:spPr>
      </p:pic>
      <p:pic>
        <p:nvPicPr>
          <p:cNvPr id="8" name="Picture 7">
            <a:extLst>
              <a:ext uri="{FF2B5EF4-FFF2-40B4-BE49-F238E27FC236}">
                <a16:creationId xmlns:a16="http://schemas.microsoft.com/office/drawing/2014/main" id="{2CF8C45A-AA2E-315D-34AD-B1BB6B643258}"/>
              </a:ext>
            </a:extLst>
          </p:cNvPr>
          <p:cNvPicPr>
            <a:picLocks noChangeAspect="1"/>
          </p:cNvPicPr>
          <p:nvPr/>
        </p:nvPicPr>
        <p:blipFill>
          <a:blip r:embed="rId6"/>
          <a:stretch>
            <a:fillRect/>
          </a:stretch>
        </p:blipFill>
        <p:spPr>
          <a:xfrm>
            <a:off x="4993490" y="3229646"/>
            <a:ext cx="7009238" cy="1429978"/>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C95E5AE2-2EE4-B3F3-D378-4636C8682A7C}"/>
              </a:ext>
            </a:extLst>
          </p:cNvPr>
          <p:cNvPicPr>
            <a:picLocks noChangeAspect="1"/>
          </p:cNvPicPr>
          <p:nvPr/>
        </p:nvPicPr>
        <p:blipFill>
          <a:blip r:embed="rId7"/>
          <a:stretch>
            <a:fillRect/>
          </a:stretch>
        </p:blipFill>
        <p:spPr>
          <a:xfrm>
            <a:off x="5723227" y="4762157"/>
            <a:ext cx="5524500" cy="825500"/>
          </a:xfrm>
          <a:prstGeom prst="rect">
            <a:avLst/>
          </a:prstGeom>
        </p:spPr>
      </p:pic>
      <p:pic>
        <p:nvPicPr>
          <p:cNvPr id="11" name="Picture 10">
            <a:extLst>
              <a:ext uri="{FF2B5EF4-FFF2-40B4-BE49-F238E27FC236}">
                <a16:creationId xmlns:a16="http://schemas.microsoft.com/office/drawing/2014/main" id="{E1242DE4-D45C-BF1D-9D51-986CA3344070}"/>
              </a:ext>
            </a:extLst>
          </p:cNvPr>
          <p:cNvPicPr>
            <a:picLocks noChangeAspect="1"/>
          </p:cNvPicPr>
          <p:nvPr/>
        </p:nvPicPr>
        <p:blipFill>
          <a:blip r:embed="rId8"/>
          <a:stretch>
            <a:fillRect/>
          </a:stretch>
        </p:blipFill>
        <p:spPr>
          <a:xfrm>
            <a:off x="5723227" y="5843922"/>
            <a:ext cx="5829300" cy="482600"/>
          </a:xfrm>
          <a:prstGeom prst="rect">
            <a:avLst/>
          </a:prstGeom>
        </p:spPr>
      </p:pic>
      <p:pic>
        <p:nvPicPr>
          <p:cNvPr id="13" name="Picture 12">
            <a:extLst>
              <a:ext uri="{FF2B5EF4-FFF2-40B4-BE49-F238E27FC236}">
                <a16:creationId xmlns:a16="http://schemas.microsoft.com/office/drawing/2014/main" id="{BCB5DD73-0D97-FF9E-F61B-9C41691F0A28}"/>
              </a:ext>
            </a:extLst>
          </p:cNvPr>
          <p:cNvPicPr>
            <a:picLocks noChangeAspect="1"/>
          </p:cNvPicPr>
          <p:nvPr/>
        </p:nvPicPr>
        <p:blipFill>
          <a:blip r:embed="rId9"/>
          <a:stretch>
            <a:fillRect/>
          </a:stretch>
        </p:blipFill>
        <p:spPr>
          <a:xfrm>
            <a:off x="397115" y="2007865"/>
            <a:ext cx="2819400" cy="1422400"/>
          </a:xfrm>
          <a:prstGeom prst="rect">
            <a:avLst/>
          </a:prstGeom>
        </p:spPr>
      </p:pic>
    </p:spTree>
    <p:extLst>
      <p:ext uri="{BB962C8B-B14F-4D97-AF65-F5344CB8AC3E}">
        <p14:creationId xmlns:p14="http://schemas.microsoft.com/office/powerpoint/2010/main" val="310276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2.</a:t>
            </a:r>
            <a:r>
              <a:rPr lang="zh-CN" altLang="en-US" sz="2200" dirty="0">
                <a:solidFill>
                  <a:srgbClr val="0432FF"/>
                </a:solidFill>
              </a:rPr>
              <a:t> 单元格格式设置</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873092"/>
            <a:ext cx="9982200" cy="817149"/>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800" dirty="0" err="1"/>
              <a:t>xlwt</a:t>
            </a:r>
            <a:r>
              <a:rPr lang="zh-CN" altLang="en-US" sz="1800" dirty="0"/>
              <a:t>模块还提供对单元格格式的设置，如对单元格的字体、样式、单元格宽度和长度等的设置。具体方式如下表所示。</a:t>
            </a:r>
          </a:p>
        </p:txBody>
      </p:sp>
      <p:pic>
        <p:nvPicPr>
          <p:cNvPr id="2" name="图片 1">
            <a:extLst>
              <a:ext uri="{FF2B5EF4-FFF2-40B4-BE49-F238E27FC236}">
                <a16:creationId xmlns:a16="http://schemas.microsoft.com/office/drawing/2014/main" id="{BBCB4773-FBC6-4465-8DD4-D60885A67071}"/>
              </a:ext>
            </a:extLst>
          </p:cNvPr>
          <p:cNvPicPr>
            <a:picLocks noChangeAspect="1"/>
          </p:cNvPicPr>
          <p:nvPr/>
        </p:nvPicPr>
        <p:blipFill>
          <a:blip r:embed="rId3"/>
          <a:stretch>
            <a:fillRect/>
          </a:stretch>
        </p:blipFill>
        <p:spPr>
          <a:xfrm>
            <a:off x="3669865" y="2438576"/>
            <a:ext cx="5913632" cy="4348304"/>
          </a:xfrm>
          <a:prstGeom prst="rect">
            <a:avLst/>
          </a:prstGeom>
        </p:spPr>
      </p:pic>
      <p:sp>
        <p:nvSpPr>
          <p:cNvPr id="8" name="Title 1">
            <a:extLst>
              <a:ext uri="{FF2B5EF4-FFF2-40B4-BE49-F238E27FC236}">
                <a16:creationId xmlns:a16="http://schemas.microsoft.com/office/drawing/2014/main" id="{D49ABED6-2B7C-445C-A73B-4CC06B3EBB2C}"/>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9.4.2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xlwt</a:t>
            </a:r>
            <a:r>
              <a:rPr lang="zh-CN" altLang="zh-CN" dirty="0">
                <a:latin typeface="Microsoft YaHei" panose="020B0503020204020204" pitchFamily="34" charset="-122"/>
                <a:ea typeface="Microsoft YaHei" panose="020B0503020204020204" pitchFamily="34" charset="-122"/>
              </a:rPr>
              <a:t>模块</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3702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433150"/>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solidFill>
                  <a:srgbClr val="0432FF"/>
                </a:solidFill>
              </a:rPr>
              <a:t>2.</a:t>
            </a:r>
            <a:r>
              <a:rPr lang="zh-CN" altLang="en-US" sz="2200" dirty="0">
                <a:solidFill>
                  <a:srgbClr val="0432FF"/>
                </a:solidFill>
              </a:rPr>
              <a:t> 单元格格式设置</a:t>
            </a:r>
          </a:p>
        </p:txBody>
      </p:sp>
      <p:graphicFrame>
        <p:nvGraphicFramePr>
          <p:cNvPr id="5" name="表格 5">
            <a:extLst>
              <a:ext uri="{FF2B5EF4-FFF2-40B4-BE49-F238E27FC236}">
                <a16:creationId xmlns:a16="http://schemas.microsoft.com/office/drawing/2014/main" id="{816A499B-5BF7-468A-9400-944F36AA7FDF}"/>
              </a:ext>
            </a:extLst>
          </p:cNvPr>
          <p:cNvGraphicFramePr>
            <a:graphicFrameLocks noGrp="1"/>
          </p:cNvGraphicFramePr>
          <p:nvPr>
            <p:extLst>
              <p:ext uri="{D42A27DB-BD31-4B8C-83A1-F6EECF244321}">
                <p14:modId xmlns:p14="http://schemas.microsoft.com/office/powerpoint/2010/main" val="1348725826"/>
              </p:ext>
            </p:extLst>
          </p:nvPr>
        </p:nvGraphicFramePr>
        <p:xfrm>
          <a:off x="1171342" y="1919650"/>
          <a:ext cx="9948599" cy="3505200"/>
        </p:xfrm>
        <a:graphic>
          <a:graphicData uri="http://schemas.openxmlformats.org/drawingml/2006/table">
            <a:tbl>
              <a:tblPr firstRow="1" bandRow="1">
                <a:tableStyleId>{5C22544A-7EE6-4342-B048-85BDC9FD1C3A}</a:tableStyleId>
              </a:tblPr>
              <a:tblGrid>
                <a:gridCol w="9948599">
                  <a:extLst>
                    <a:ext uri="{9D8B030D-6E8A-4147-A177-3AD203B41FA5}">
                      <a16:colId xmlns:a16="http://schemas.microsoft.com/office/drawing/2014/main" val="1478211251"/>
                    </a:ext>
                  </a:extLst>
                </a:gridCol>
              </a:tblGrid>
              <a:tr h="581004">
                <a:tc>
                  <a:txBody>
                    <a:bodyPr/>
                    <a:lstStyle/>
                    <a:p>
                      <a:r>
                        <a:rPr lang="en-US" altLang="zh-CN" sz="1600" b="1" i="0" kern="1200" dirty="0">
                          <a:solidFill>
                            <a:schemeClr val="lt1"/>
                          </a:solidFill>
                          <a:effectLst/>
                          <a:latin typeface="Consolas" panose="020B0609020204030204" pitchFamily="49" charset="0"/>
                          <a:ea typeface="+mn-ea"/>
                          <a:cs typeface="+mn-cs"/>
                        </a:rPr>
                        <a:t>import </a:t>
                      </a:r>
                      <a:r>
                        <a:rPr lang="en-US" altLang="zh-CN" sz="1600" b="1" i="0" kern="1200" dirty="0" err="1">
                          <a:solidFill>
                            <a:schemeClr val="lt1"/>
                          </a:solidFill>
                          <a:effectLst/>
                          <a:latin typeface="Consolas" panose="020B0609020204030204" pitchFamily="49" charset="0"/>
                          <a:ea typeface="+mn-ea"/>
                          <a:cs typeface="+mn-cs"/>
                        </a:rPr>
                        <a:t>xlwt</a:t>
                      </a:r>
                      <a:endParaRPr lang="en-US" altLang="zh-CN" sz="1600" b="1" i="0" kern="1200" dirty="0">
                        <a:solidFill>
                          <a:schemeClr val="lt1"/>
                        </a:solidFill>
                        <a:effectLst/>
                        <a:latin typeface="Consolas" panose="020B0609020204030204" pitchFamily="49" charset="0"/>
                        <a:ea typeface="+mn-ea"/>
                        <a:cs typeface="+mn-cs"/>
                      </a:endParaRPr>
                    </a:p>
                    <a:p>
                      <a:r>
                        <a:rPr lang="en-US" altLang="zh-CN" sz="1600" b="1" i="0" kern="1200" dirty="0">
                          <a:solidFill>
                            <a:schemeClr val="lt1"/>
                          </a:solidFill>
                          <a:effectLst/>
                          <a:latin typeface="Consolas" panose="020B0609020204030204" pitchFamily="49" charset="0"/>
                          <a:ea typeface="+mn-ea"/>
                          <a:cs typeface="+mn-cs"/>
                        </a:rPr>
                        <a:t>style = </a:t>
                      </a:r>
                      <a:r>
                        <a:rPr lang="en-US" altLang="zh-CN" sz="1600" b="1" i="0" kern="1200" dirty="0" err="1">
                          <a:solidFill>
                            <a:schemeClr val="lt1"/>
                          </a:solidFill>
                          <a:effectLst/>
                          <a:latin typeface="Consolas" panose="020B0609020204030204" pitchFamily="49" charset="0"/>
                          <a:ea typeface="+mn-ea"/>
                          <a:cs typeface="+mn-cs"/>
                        </a:rPr>
                        <a:t>xlwt.XFStyle</a:t>
                      </a:r>
                      <a:r>
                        <a:rPr lang="en-US" altLang="zh-CN" sz="1600" b="1" i="0" kern="1200" dirty="0">
                          <a:solidFill>
                            <a:schemeClr val="lt1"/>
                          </a:solidFill>
                          <a:effectLst/>
                          <a:latin typeface="Consolas" panose="020B0609020204030204" pitchFamily="49" charset="0"/>
                          <a:ea typeface="+mn-ea"/>
                          <a:cs typeface="+mn-cs"/>
                        </a:rPr>
                        <a:t>()                          # </a:t>
                      </a:r>
                      <a:r>
                        <a:rPr lang="zh-CN" altLang="en-US" sz="1600" b="1" i="0" kern="1200" dirty="0">
                          <a:solidFill>
                            <a:schemeClr val="lt1"/>
                          </a:solidFill>
                          <a:effectLst/>
                          <a:latin typeface="Consolas" panose="020B0609020204030204" pitchFamily="49" charset="0"/>
                          <a:ea typeface="+mn-ea"/>
                          <a:cs typeface="+mn-cs"/>
                        </a:rPr>
                        <a:t>初始化样式</a:t>
                      </a:r>
                    </a:p>
                    <a:p>
                      <a:r>
                        <a:rPr lang="en-US" altLang="zh-CN" sz="1600" b="1" i="0" kern="1200" dirty="0">
                          <a:solidFill>
                            <a:schemeClr val="lt1"/>
                          </a:solidFill>
                          <a:effectLst/>
                          <a:latin typeface="Consolas" panose="020B0609020204030204" pitchFamily="49" charset="0"/>
                          <a:ea typeface="+mn-ea"/>
                          <a:cs typeface="+mn-cs"/>
                        </a:rPr>
                        <a:t>font = </a:t>
                      </a:r>
                      <a:r>
                        <a:rPr lang="en-US" altLang="zh-CN" sz="1600" b="1" i="0" kern="1200" dirty="0" err="1">
                          <a:solidFill>
                            <a:schemeClr val="lt1"/>
                          </a:solidFill>
                          <a:effectLst/>
                          <a:latin typeface="Consolas" panose="020B0609020204030204" pitchFamily="49" charset="0"/>
                          <a:ea typeface="+mn-ea"/>
                          <a:cs typeface="+mn-cs"/>
                        </a:rPr>
                        <a:t>xlwt.Font</a:t>
                      </a:r>
                      <a:r>
                        <a:rPr lang="en-US" altLang="zh-CN" sz="1600" b="1" i="0" kern="1200" dirty="0">
                          <a:solidFill>
                            <a:schemeClr val="lt1"/>
                          </a:solidFill>
                          <a:effectLst/>
                          <a:latin typeface="Consolas" panose="020B0609020204030204" pitchFamily="49" charset="0"/>
                          <a:ea typeface="+mn-ea"/>
                          <a:cs typeface="+mn-cs"/>
                        </a:rPr>
                        <a:t>()                              # </a:t>
                      </a:r>
                      <a:r>
                        <a:rPr lang="zh-CN" altLang="en-US" sz="1600" b="1" i="0" kern="1200" dirty="0">
                          <a:solidFill>
                            <a:schemeClr val="lt1"/>
                          </a:solidFill>
                          <a:effectLst/>
                          <a:latin typeface="Consolas" panose="020B0609020204030204" pitchFamily="49" charset="0"/>
                          <a:ea typeface="+mn-ea"/>
                          <a:cs typeface="+mn-cs"/>
                        </a:rPr>
                        <a:t>为样式创建字体</a:t>
                      </a:r>
                    </a:p>
                    <a:p>
                      <a:r>
                        <a:rPr lang="en-US" altLang="zh-CN" sz="1600" b="1" i="0" kern="1200" dirty="0">
                          <a:solidFill>
                            <a:schemeClr val="lt1"/>
                          </a:solidFill>
                          <a:effectLst/>
                          <a:latin typeface="Consolas" panose="020B0609020204030204" pitchFamily="49" charset="0"/>
                          <a:ea typeface="+mn-ea"/>
                          <a:cs typeface="+mn-cs"/>
                        </a:rPr>
                        <a:t>font.name = 'Times New Roman'</a:t>
                      </a:r>
                    </a:p>
                    <a:p>
                      <a:r>
                        <a:rPr lang="en-US" altLang="zh-CN" sz="1600" b="1" i="0" kern="1200" dirty="0" err="1">
                          <a:solidFill>
                            <a:schemeClr val="lt1"/>
                          </a:solidFill>
                          <a:effectLst/>
                          <a:latin typeface="Consolas" panose="020B0609020204030204" pitchFamily="49" charset="0"/>
                          <a:ea typeface="+mn-ea"/>
                          <a:cs typeface="+mn-cs"/>
                        </a:rPr>
                        <a:t>font.bold</a:t>
                      </a:r>
                      <a:r>
                        <a:rPr lang="en-US" altLang="zh-CN" sz="1600" b="1" i="0" kern="1200" dirty="0">
                          <a:solidFill>
                            <a:schemeClr val="lt1"/>
                          </a:solidFill>
                          <a:effectLst/>
                          <a:latin typeface="Consolas" panose="020B0609020204030204" pitchFamily="49" charset="0"/>
                          <a:ea typeface="+mn-ea"/>
                          <a:cs typeface="+mn-cs"/>
                        </a:rPr>
                        <a:t> = True                                # </a:t>
                      </a:r>
                      <a:r>
                        <a:rPr lang="zh-CN" altLang="en-US" sz="1600" b="1" i="0" kern="1200" dirty="0">
                          <a:solidFill>
                            <a:schemeClr val="lt1"/>
                          </a:solidFill>
                          <a:effectLst/>
                          <a:latin typeface="Consolas" panose="020B0609020204030204" pitchFamily="49" charset="0"/>
                          <a:ea typeface="+mn-ea"/>
                          <a:cs typeface="+mn-cs"/>
                        </a:rPr>
                        <a:t>黑体</a:t>
                      </a:r>
                    </a:p>
                    <a:p>
                      <a:r>
                        <a:rPr lang="en-US" altLang="zh-CN" sz="1600" b="1" i="0" kern="1200" dirty="0" err="1">
                          <a:solidFill>
                            <a:schemeClr val="lt1"/>
                          </a:solidFill>
                          <a:effectLst/>
                          <a:latin typeface="Consolas" panose="020B0609020204030204" pitchFamily="49" charset="0"/>
                          <a:ea typeface="+mn-ea"/>
                          <a:cs typeface="+mn-cs"/>
                        </a:rPr>
                        <a:t>font.underline</a:t>
                      </a:r>
                      <a:r>
                        <a:rPr lang="en-US" altLang="zh-CN" sz="1600" b="1" i="0" kern="1200" dirty="0">
                          <a:solidFill>
                            <a:schemeClr val="lt1"/>
                          </a:solidFill>
                          <a:effectLst/>
                          <a:latin typeface="Consolas" panose="020B0609020204030204" pitchFamily="49" charset="0"/>
                          <a:ea typeface="+mn-ea"/>
                          <a:cs typeface="+mn-cs"/>
                        </a:rPr>
                        <a:t> = True                           # </a:t>
                      </a:r>
                      <a:r>
                        <a:rPr lang="zh-CN" altLang="en-US" sz="1600" b="1" i="0" kern="1200" dirty="0">
                          <a:solidFill>
                            <a:schemeClr val="lt1"/>
                          </a:solidFill>
                          <a:effectLst/>
                          <a:latin typeface="Consolas" panose="020B0609020204030204" pitchFamily="49" charset="0"/>
                          <a:ea typeface="+mn-ea"/>
                          <a:cs typeface="+mn-cs"/>
                        </a:rPr>
                        <a:t>下划线</a:t>
                      </a:r>
                    </a:p>
                    <a:p>
                      <a:r>
                        <a:rPr lang="en-US" altLang="zh-CN" sz="1600" b="1" i="0" kern="1200" dirty="0" err="1">
                          <a:solidFill>
                            <a:schemeClr val="lt1"/>
                          </a:solidFill>
                          <a:effectLst/>
                          <a:latin typeface="Consolas" panose="020B0609020204030204" pitchFamily="49" charset="0"/>
                          <a:ea typeface="+mn-ea"/>
                          <a:cs typeface="+mn-cs"/>
                        </a:rPr>
                        <a:t>font.italic</a:t>
                      </a:r>
                      <a:r>
                        <a:rPr lang="en-US" altLang="zh-CN" sz="1600" b="1" i="0" kern="1200" dirty="0">
                          <a:solidFill>
                            <a:schemeClr val="lt1"/>
                          </a:solidFill>
                          <a:effectLst/>
                          <a:latin typeface="Consolas" panose="020B0609020204030204" pitchFamily="49" charset="0"/>
                          <a:ea typeface="+mn-ea"/>
                          <a:cs typeface="+mn-cs"/>
                        </a:rPr>
                        <a:t> = True                              # </a:t>
                      </a:r>
                      <a:r>
                        <a:rPr lang="zh-CN" altLang="en-US" sz="1600" b="1" i="0" kern="1200" dirty="0">
                          <a:solidFill>
                            <a:schemeClr val="lt1"/>
                          </a:solidFill>
                          <a:effectLst/>
                          <a:latin typeface="Consolas" panose="020B0609020204030204" pitchFamily="49" charset="0"/>
                          <a:ea typeface="+mn-ea"/>
                          <a:cs typeface="+mn-cs"/>
                        </a:rPr>
                        <a:t>斜体字</a:t>
                      </a:r>
                    </a:p>
                    <a:p>
                      <a:r>
                        <a:rPr lang="en-US" altLang="zh-CN" sz="1600" b="1" i="0" kern="1200" dirty="0" err="1">
                          <a:solidFill>
                            <a:schemeClr val="lt1"/>
                          </a:solidFill>
                          <a:effectLst/>
                          <a:latin typeface="Consolas" panose="020B0609020204030204" pitchFamily="49" charset="0"/>
                          <a:ea typeface="+mn-ea"/>
                          <a:cs typeface="+mn-cs"/>
                        </a:rPr>
                        <a:t>style.font</a:t>
                      </a:r>
                      <a:r>
                        <a:rPr lang="en-US" altLang="zh-CN" sz="1600" b="1" i="0" kern="1200" dirty="0">
                          <a:solidFill>
                            <a:schemeClr val="lt1"/>
                          </a:solidFill>
                          <a:effectLst/>
                          <a:latin typeface="Consolas" panose="020B0609020204030204" pitchFamily="49" charset="0"/>
                          <a:ea typeface="+mn-ea"/>
                          <a:cs typeface="+mn-cs"/>
                        </a:rPr>
                        <a:t> = font                               # </a:t>
                      </a:r>
                      <a:r>
                        <a:rPr lang="zh-CN" altLang="en-US" sz="1600" b="1" i="0" kern="1200" dirty="0">
                          <a:solidFill>
                            <a:schemeClr val="lt1"/>
                          </a:solidFill>
                          <a:effectLst/>
                          <a:latin typeface="Consolas" panose="020B0609020204030204" pitchFamily="49" charset="0"/>
                          <a:ea typeface="+mn-ea"/>
                          <a:cs typeface="+mn-cs"/>
                        </a:rPr>
                        <a:t>设定样式</a:t>
                      </a:r>
                    </a:p>
                    <a:p>
                      <a:r>
                        <a:rPr lang="en-US" altLang="zh-CN" sz="1600" b="1" i="0" kern="1200" dirty="0">
                          <a:solidFill>
                            <a:schemeClr val="lt1"/>
                          </a:solidFill>
                          <a:effectLst/>
                          <a:latin typeface="Consolas" panose="020B0609020204030204" pitchFamily="49" charset="0"/>
                          <a:ea typeface="+mn-ea"/>
                          <a:cs typeface="+mn-cs"/>
                        </a:rPr>
                        <a:t>sheet1.write(0, 0, 'Unformatted value')       # </a:t>
                      </a:r>
                      <a:r>
                        <a:rPr lang="zh-CN" altLang="en-US" sz="1600" b="1" i="0" kern="1200" dirty="0">
                          <a:solidFill>
                            <a:schemeClr val="lt1"/>
                          </a:solidFill>
                          <a:effectLst/>
                          <a:latin typeface="Consolas" panose="020B0609020204030204" pitchFamily="49" charset="0"/>
                          <a:ea typeface="+mn-ea"/>
                          <a:cs typeface="+mn-cs"/>
                        </a:rPr>
                        <a:t>不带样式的写入</a:t>
                      </a:r>
                    </a:p>
                    <a:p>
                      <a:r>
                        <a:rPr lang="en-US" altLang="zh-CN" sz="1600" b="1" i="0" kern="1200" dirty="0">
                          <a:solidFill>
                            <a:schemeClr val="lt1"/>
                          </a:solidFill>
                          <a:effectLst/>
                          <a:latin typeface="Consolas" panose="020B0609020204030204" pitchFamily="49" charset="0"/>
                          <a:ea typeface="+mn-ea"/>
                          <a:cs typeface="+mn-cs"/>
                        </a:rPr>
                        <a:t>sheet1.write(1, 0, 'Formatted value', style)  # </a:t>
                      </a:r>
                      <a:r>
                        <a:rPr lang="zh-CN" altLang="en-US" sz="1600" b="1" i="0" kern="1200" dirty="0">
                          <a:solidFill>
                            <a:schemeClr val="lt1"/>
                          </a:solidFill>
                          <a:effectLst/>
                          <a:latin typeface="Consolas" panose="020B0609020204030204" pitchFamily="49" charset="0"/>
                          <a:ea typeface="+mn-ea"/>
                          <a:cs typeface="+mn-cs"/>
                        </a:rPr>
                        <a:t>带样式的写入</a:t>
                      </a:r>
                    </a:p>
                    <a:p>
                      <a:r>
                        <a:rPr lang="en-US" altLang="zh-CN" sz="1600" b="1" i="0" kern="1200" dirty="0" err="1">
                          <a:solidFill>
                            <a:schemeClr val="lt1"/>
                          </a:solidFill>
                          <a:effectLst/>
                          <a:latin typeface="Consolas" panose="020B0609020204030204" pitchFamily="49" charset="0"/>
                          <a:ea typeface="+mn-ea"/>
                          <a:cs typeface="+mn-cs"/>
                        </a:rPr>
                        <a:t>workbook.save</a:t>
                      </a:r>
                      <a:r>
                        <a:rPr lang="en-US" altLang="zh-CN" sz="1600" b="1" i="0" kern="1200" dirty="0">
                          <a:solidFill>
                            <a:schemeClr val="lt1"/>
                          </a:solidFill>
                          <a:effectLst/>
                          <a:latin typeface="Consolas" panose="020B0609020204030204" pitchFamily="49" charset="0"/>
                          <a:ea typeface="+mn-ea"/>
                          <a:cs typeface="+mn-cs"/>
                        </a:rPr>
                        <a:t>('E:\example1.xls') # </a:t>
                      </a:r>
                      <a:r>
                        <a:rPr lang="zh-CN" altLang="en-US" sz="1600" b="1" i="0" kern="1200" dirty="0">
                          <a:solidFill>
                            <a:schemeClr val="lt1"/>
                          </a:solidFill>
                          <a:effectLst/>
                          <a:latin typeface="Consolas" panose="020B0609020204030204" pitchFamily="49" charset="0"/>
                          <a:ea typeface="+mn-ea"/>
                          <a:cs typeface="+mn-cs"/>
                        </a:rPr>
                        <a:t>保存文件</a:t>
                      </a:r>
                      <a:r>
                        <a:rPr lang="en-US" altLang="zh-CN" sz="1600" b="1" i="0" kern="1200" dirty="0">
                          <a:solidFill>
                            <a:schemeClr val="lt1"/>
                          </a:solidFill>
                          <a:effectLst/>
                          <a:latin typeface="Consolas" panose="020B0609020204030204" pitchFamily="49" charset="0"/>
                          <a:ea typeface="+mn-ea"/>
                          <a:cs typeface="+mn-cs"/>
                        </a:rPr>
                        <a:t>sheet1.col(0).width = 3333                    # </a:t>
                      </a:r>
                      <a:r>
                        <a:rPr lang="zh-CN" altLang="en-US" sz="1600" b="1" i="0" kern="1200" dirty="0">
                          <a:solidFill>
                            <a:schemeClr val="lt1"/>
                          </a:solidFill>
                          <a:effectLst/>
                          <a:latin typeface="Consolas" panose="020B0609020204030204" pitchFamily="49" charset="0"/>
                          <a:ea typeface="+mn-ea"/>
                          <a:cs typeface="+mn-cs"/>
                        </a:rPr>
                        <a:t>设置单元格宽度</a:t>
                      </a:r>
                    </a:p>
                    <a:p>
                      <a:r>
                        <a:rPr lang="en-US" altLang="zh-CN" sz="1600" b="1" i="0" kern="1200" dirty="0">
                          <a:solidFill>
                            <a:schemeClr val="lt1"/>
                          </a:solidFill>
                          <a:effectLst/>
                          <a:latin typeface="Consolas" panose="020B0609020204030204" pitchFamily="49" charset="0"/>
                          <a:ea typeface="+mn-ea"/>
                          <a:cs typeface="+mn-cs"/>
                        </a:rPr>
                        <a:t>sheet1.col(0).height = 3333                   # </a:t>
                      </a:r>
                      <a:r>
                        <a:rPr lang="zh-CN" altLang="en-US" sz="1600" b="1" i="0" kern="1200" dirty="0">
                          <a:solidFill>
                            <a:schemeClr val="lt1"/>
                          </a:solidFill>
                          <a:effectLst/>
                          <a:latin typeface="Consolas" panose="020B0609020204030204" pitchFamily="49" charset="0"/>
                          <a:ea typeface="+mn-ea"/>
                          <a:cs typeface="+mn-cs"/>
                        </a:rPr>
                        <a:t>设置单元格宽度</a:t>
                      </a:r>
                    </a:p>
                    <a:p>
                      <a:r>
                        <a:rPr lang="en-US" altLang="zh-CN" sz="1600" b="1" i="0" kern="1200" dirty="0" err="1">
                          <a:solidFill>
                            <a:schemeClr val="lt1"/>
                          </a:solidFill>
                          <a:effectLst/>
                          <a:latin typeface="Consolas" panose="020B0609020204030204" pitchFamily="49" charset="0"/>
                          <a:ea typeface="+mn-ea"/>
                          <a:cs typeface="+mn-cs"/>
                        </a:rPr>
                        <a:t>workbook.save</a:t>
                      </a:r>
                      <a:r>
                        <a:rPr lang="en-US" altLang="zh-CN" sz="1600" b="1" i="0" kern="1200" dirty="0">
                          <a:solidFill>
                            <a:schemeClr val="lt1"/>
                          </a:solidFill>
                          <a:effectLst/>
                          <a:latin typeface="Consolas" panose="020B0609020204030204" pitchFamily="49" charset="0"/>
                          <a:ea typeface="+mn-ea"/>
                          <a:cs typeface="+mn-cs"/>
                        </a:rPr>
                        <a:t>('E:\example1.xls')              # </a:t>
                      </a:r>
                      <a:r>
                        <a:rPr lang="zh-CN" altLang="en-US" sz="1600" b="1" i="0" kern="1200" dirty="0">
                          <a:solidFill>
                            <a:schemeClr val="lt1"/>
                          </a:solidFill>
                          <a:effectLst/>
                          <a:latin typeface="Consolas" panose="020B0609020204030204" pitchFamily="49" charset="0"/>
                          <a:ea typeface="+mn-ea"/>
                          <a:cs typeface="+mn-cs"/>
                        </a:rPr>
                        <a:t>保存文件</a:t>
                      </a:r>
                    </a:p>
                  </a:txBody>
                  <a:tcPr/>
                </a:tc>
                <a:extLst>
                  <a:ext uri="{0D108BD9-81ED-4DB2-BD59-A6C34878D82A}">
                    <a16:rowId xmlns:a16="http://schemas.microsoft.com/office/drawing/2014/main" val="3026568749"/>
                  </a:ext>
                </a:extLst>
              </a:tr>
            </a:tbl>
          </a:graphicData>
        </a:graphic>
      </p:graphicFrame>
      <p:sp>
        <p:nvSpPr>
          <p:cNvPr id="7" name="Content Placeholder 13">
            <a:extLst>
              <a:ext uri="{FF2B5EF4-FFF2-40B4-BE49-F238E27FC236}">
                <a16:creationId xmlns:a16="http://schemas.microsoft.com/office/drawing/2014/main" id="{688CB862-1566-4319-9819-1AEA573995EA}"/>
              </a:ext>
            </a:extLst>
          </p:cNvPr>
          <p:cNvSpPr txBox="1">
            <a:spLocks/>
          </p:cNvSpPr>
          <p:nvPr/>
        </p:nvSpPr>
        <p:spPr>
          <a:xfrm>
            <a:off x="1171342" y="5502360"/>
            <a:ext cx="9982200" cy="1272909"/>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900" dirty="0"/>
              <a:t>注意：</a:t>
            </a:r>
            <a:r>
              <a:rPr lang="en-US" altLang="zh-CN" sz="1900" dirty="0"/>
              <a:t>excel</a:t>
            </a:r>
            <a:r>
              <a:rPr lang="zh-CN" altLang="en-US" sz="1900" dirty="0"/>
              <a:t>文件在打开状态不能对其进行操作，容易程序报错。如</a:t>
            </a:r>
            <a:r>
              <a:rPr lang="en-US" altLang="zh-CN" sz="1900" dirty="0"/>
              <a:t>[</a:t>
            </a:r>
            <a:r>
              <a:rPr lang="en-US" altLang="zh-CN" sz="1900" dirty="0" err="1"/>
              <a:t>Errno</a:t>
            </a:r>
            <a:r>
              <a:rPr lang="en-US" altLang="zh-CN" sz="1900" dirty="0"/>
              <a:t> 13] Permission denied: 'E:\\example1.xls'</a:t>
            </a:r>
            <a:r>
              <a:rPr lang="zh-CN" altLang="en-US" sz="1900" dirty="0"/>
              <a:t>。权限拒绝，一般这种情况 是由于代码中用到的某些文件正在被其他软件所使用，不能更改或读取。</a:t>
            </a:r>
          </a:p>
        </p:txBody>
      </p:sp>
      <p:sp>
        <p:nvSpPr>
          <p:cNvPr id="8" name="Title 1">
            <a:extLst>
              <a:ext uri="{FF2B5EF4-FFF2-40B4-BE49-F238E27FC236}">
                <a16:creationId xmlns:a16="http://schemas.microsoft.com/office/drawing/2014/main" id="{6635DE1D-BC22-4328-B383-DDB936764231}"/>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9.4.2 </a:t>
            </a:r>
            <a:r>
              <a:rPr lang="en-US" altLang="zh-CN" dirty="0" err="1">
                <a:latin typeface="Microsoft YaHei" panose="020B0503020204020204" pitchFamily="34" charset="-122"/>
                <a:ea typeface="Microsoft YaHei" panose="020B0503020204020204" pitchFamily="34" charset="-122"/>
              </a:rPr>
              <a:t>xls</a:t>
            </a:r>
            <a:r>
              <a:rPr lang="zh-CN" altLang="en-US" dirty="0">
                <a:latin typeface="Microsoft YaHei" panose="020B0503020204020204" pitchFamily="34" charset="-122"/>
                <a:ea typeface="Microsoft YaHei" panose="020B0503020204020204" pitchFamily="34" charset="-122"/>
              </a:rPr>
              <a:t>与</a:t>
            </a:r>
            <a:r>
              <a:rPr lang="en-US" altLang="zh-CN" dirty="0">
                <a:latin typeface="Microsoft YaHei" panose="020B0503020204020204" pitchFamily="34" charset="-122"/>
                <a:ea typeface="Microsoft YaHei" panose="020B0503020204020204" pitchFamily="34" charset="-122"/>
              </a:rPr>
              <a:t>xlsx</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xlwt</a:t>
            </a:r>
            <a:r>
              <a:rPr lang="zh-CN" altLang="zh-CN" dirty="0">
                <a:latin typeface="Microsoft YaHei" panose="020B0503020204020204" pitchFamily="34" charset="-122"/>
                <a:ea typeface="Microsoft YaHei" panose="020B0503020204020204" pitchFamily="34" charset="-122"/>
              </a:rPr>
              <a:t>模块</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7983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5279-8544-0566-AEBA-2F353D9D135F}"/>
              </a:ext>
            </a:extLst>
          </p:cNvPr>
          <p:cNvSpPr>
            <a:spLocks noGrp="1"/>
          </p:cNvSpPr>
          <p:nvPr>
            <p:ph type="title"/>
          </p:nvPr>
        </p:nvSpPr>
        <p:spPr/>
        <p:txBody>
          <a:bodyPr/>
          <a:lstStyle/>
          <a:p>
            <a:r>
              <a:rPr kumimoji="1" lang="en-US" altLang="zh-CN" dirty="0"/>
              <a:t>Reading Excel File using </a:t>
            </a:r>
            <a:r>
              <a:rPr kumimoji="1" lang="en-US" altLang="zh-CN" dirty="0">
                <a:solidFill>
                  <a:srgbClr val="0432FF"/>
                </a:solidFill>
              </a:rPr>
              <a:t>Pandas</a:t>
            </a:r>
            <a:endParaRPr kumimoji="1" lang="zh-CN" altLang="en-US" dirty="0">
              <a:solidFill>
                <a:srgbClr val="0432FF"/>
              </a:solidFill>
            </a:endParaRPr>
          </a:p>
        </p:txBody>
      </p:sp>
      <p:pic>
        <p:nvPicPr>
          <p:cNvPr id="3074" name="Picture 2" descr="1">
            <a:extLst>
              <a:ext uri="{FF2B5EF4-FFF2-40B4-BE49-F238E27FC236}">
                <a16:creationId xmlns:a16="http://schemas.microsoft.com/office/drawing/2014/main" id="{101EF8E7-AE71-0CCC-352D-094A99481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537" y="1258727"/>
            <a:ext cx="3023885" cy="196620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076" name="Picture 4" descr="2">
            <a:extLst>
              <a:ext uri="{FF2B5EF4-FFF2-40B4-BE49-F238E27FC236}">
                <a16:creationId xmlns:a16="http://schemas.microsoft.com/office/drawing/2014/main" id="{0B055D7E-BC15-38EA-DF5F-2282134991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537" y="3313759"/>
            <a:ext cx="3023885" cy="196347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31AB97-A616-FDB9-032C-6DC141AF1873}"/>
              </a:ext>
            </a:extLst>
          </p:cNvPr>
          <p:cNvPicPr>
            <a:picLocks noChangeAspect="1"/>
          </p:cNvPicPr>
          <p:nvPr/>
        </p:nvPicPr>
        <p:blipFill>
          <a:blip r:embed="rId4"/>
          <a:stretch>
            <a:fillRect/>
          </a:stretch>
        </p:blipFill>
        <p:spPr>
          <a:xfrm>
            <a:off x="3846251" y="1355161"/>
            <a:ext cx="3432316" cy="541375"/>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B220BA88-A113-4C1D-1221-BD7EAB4D25FA}"/>
              </a:ext>
            </a:extLst>
          </p:cNvPr>
          <p:cNvPicPr>
            <a:picLocks noChangeAspect="1"/>
          </p:cNvPicPr>
          <p:nvPr/>
        </p:nvPicPr>
        <p:blipFill>
          <a:blip r:embed="rId5"/>
          <a:stretch>
            <a:fillRect/>
          </a:stretch>
        </p:blipFill>
        <p:spPr>
          <a:xfrm>
            <a:off x="3846251" y="1959209"/>
            <a:ext cx="2421532" cy="2137002"/>
          </a:xfrm>
          <a:prstGeom prst="rect">
            <a:avLst/>
          </a:prstGeom>
        </p:spPr>
      </p:pic>
      <p:pic>
        <p:nvPicPr>
          <p:cNvPr id="7" name="Picture 6">
            <a:extLst>
              <a:ext uri="{FF2B5EF4-FFF2-40B4-BE49-F238E27FC236}">
                <a16:creationId xmlns:a16="http://schemas.microsoft.com/office/drawing/2014/main" id="{93550842-4898-500A-DFC7-C297B1615F7E}"/>
              </a:ext>
            </a:extLst>
          </p:cNvPr>
          <p:cNvPicPr>
            <a:picLocks noChangeAspect="1"/>
          </p:cNvPicPr>
          <p:nvPr/>
        </p:nvPicPr>
        <p:blipFill>
          <a:blip r:embed="rId6"/>
          <a:stretch>
            <a:fillRect/>
          </a:stretch>
        </p:blipFill>
        <p:spPr>
          <a:xfrm>
            <a:off x="2833202" y="3828993"/>
            <a:ext cx="3434581" cy="2387222"/>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C97B23E4-FB5D-9DF3-E156-BE5111A4FD2A}"/>
              </a:ext>
            </a:extLst>
          </p:cNvPr>
          <p:cNvPicPr>
            <a:picLocks noChangeAspect="1"/>
          </p:cNvPicPr>
          <p:nvPr/>
        </p:nvPicPr>
        <p:blipFill>
          <a:blip r:embed="rId7"/>
          <a:stretch>
            <a:fillRect/>
          </a:stretch>
        </p:blipFill>
        <p:spPr>
          <a:xfrm>
            <a:off x="6386361" y="2596540"/>
            <a:ext cx="2393271" cy="3619675"/>
          </a:xfrm>
          <a:prstGeom prst="rect">
            <a:avLst/>
          </a:prstGeom>
        </p:spPr>
      </p:pic>
      <p:pic>
        <p:nvPicPr>
          <p:cNvPr id="9" name="Picture 8">
            <a:extLst>
              <a:ext uri="{FF2B5EF4-FFF2-40B4-BE49-F238E27FC236}">
                <a16:creationId xmlns:a16="http://schemas.microsoft.com/office/drawing/2014/main" id="{48E42360-7333-E1BA-4019-3214A7E47831}"/>
              </a:ext>
            </a:extLst>
          </p:cNvPr>
          <p:cNvPicPr>
            <a:picLocks noChangeAspect="1"/>
          </p:cNvPicPr>
          <p:nvPr/>
        </p:nvPicPr>
        <p:blipFill>
          <a:blip r:embed="rId8"/>
          <a:stretch>
            <a:fillRect/>
          </a:stretch>
        </p:blipFill>
        <p:spPr>
          <a:xfrm>
            <a:off x="7419892" y="1681651"/>
            <a:ext cx="4318000" cy="406400"/>
          </a:xfrm>
          <a:prstGeom prst="rect">
            <a:avLst/>
          </a:prstGeom>
          <a:effectLst>
            <a:outerShdw blurRad="63500" sx="102000" sy="102000" algn="ctr" rotWithShape="0">
              <a:prstClr val="black">
                <a:alpha val="40000"/>
              </a:prstClr>
            </a:outerShdw>
          </a:effectLst>
        </p:spPr>
      </p:pic>
      <p:pic>
        <p:nvPicPr>
          <p:cNvPr id="3078" name="Picture 6" descr="3">
            <a:extLst>
              <a:ext uri="{FF2B5EF4-FFF2-40B4-BE49-F238E27FC236}">
                <a16:creationId xmlns:a16="http://schemas.microsoft.com/office/drawing/2014/main" id="{3AF9B1E5-B8BC-8791-AD9D-AEBD209241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45244" y="2306345"/>
            <a:ext cx="2813566" cy="361961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435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500"/>
                                        <p:tgtEl>
                                          <p:spTgt spid="7"/>
                                        </p:tgtEl>
                                      </p:cBhvr>
                                    </p:animEffect>
                                  </p:childTnLst>
                                </p:cTn>
                              </p:par>
                              <p:par>
                                <p:cTn id="16" presetID="5"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par>
                                <p:cTn id="24" presetID="9" presetClass="entr" presetSubtype="0" fill="hold" nodeType="withEffect">
                                  <p:stCondLst>
                                    <p:cond delay="0"/>
                                  </p:stCondLst>
                                  <p:childTnLst>
                                    <p:set>
                                      <p:cBhvr>
                                        <p:cTn id="25" dur="1" fill="hold">
                                          <p:stCondLst>
                                            <p:cond delay="0"/>
                                          </p:stCondLst>
                                        </p:cTn>
                                        <p:tgtEl>
                                          <p:spTgt spid="3078"/>
                                        </p:tgtEl>
                                        <p:attrNameLst>
                                          <p:attrName>style.visibility</p:attrName>
                                        </p:attrNameLst>
                                      </p:cBhvr>
                                      <p:to>
                                        <p:strVal val="visible"/>
                                      </p:to>
                                    </p:set>
                                    <p:animEffect transition="in" filter="dissolve">
                                      <p:cBhvr>
                                        <p:cTn id="26"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b="1" dirty="0"/>
              <a:t>9.5 json</a:t>
            </a:r>
            <a:r>
              <a:rPr lang="zh-CN" altLang="en-US" b="1" dirty="0"/>
              <a:t>文件读写</a:t>
            </a:r>
            <a:endParaRPr lang="en-US" b="1" dirty="0"/>
          </a:p>
        </p:txBody>
      </p:sp>
    </p:spTree>
    <p:extLst>
      <p:ext uri="{BB962C8B-B14F-4D97-AF65-F5344CB8AC3E}">
        <p14:creationId xmlns:p14="http://schemas.microsoft.com/office/powerpoint/2010/main" val="3666696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775367" y="1632856"/>
            <a:ext cx="5820641" cy="4693666"/>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t>    JavaScript</a:t>
            </a:r>
            <a:r>
              <a:rPr lang="zh-CN" altLang="en-US" sz="1800" dirty="0"/>
              <a:t>对象标记（</a:t>
            </a:r>
            <a:r>
              <a:rPr lang="en-US" altLang="zh-CN" sz="1800" dirty="0"/>
              <a:t>JavaScript Object Notation</a:t>
            </a:r>
            <a:r>
              <a:rPr lang="zh-CN" altLang="en-US" sz="1800" dirty="0"/>
              <a:t>，</a:t>
            </a:r>
            <a:r>
              <a:rPr lang="en-US" altLang="zh-CN" sz="1800" dirty="0"/>
              <a:t>JSON</a:t>
            </a:r>
            <a:r>
              <a:rPr lang="zh-CN" altLang="en-US" sz="1800" dirty="0"/>
              <a:t>）是一种常用的</a:t>
            </a:r>
            <a:r>
              <a:rPr lang="zh-CN" altLang="en-US" sz="1800" dirty="0">
                <a:solidFill>
                  <a:srgbClr val="0432FF"/>
                </a:solidFill>
              </a:rPr>
              <a:t>轻量级的标准数据交换格式</a:t>
            </a:r>
            <a:r>
              <a:rPr lang="zh-CN" altLang="en-US" sz="1800" dirty="0"/>
              <a:t>，采用完全</a:t>
            </a:r>
            <a:r>
              <a:rPr lang="zh-CN" altLang="en-US" sz="1800" dirty="0">
                <a:solidFill>
                  <a:srgbClr val="C00000"/>
                </a:solidFill>
              </a:rPr>
              <a:t>独立于编程语言</a:t>
            </a:r>
            <a:r>
              <a:rPr lang="zh-CN" altLang="en-US" sz="1800" dirty="0"/>
              <a:t>的文本格式来存储和表示数据，具有简洁和清晰的结构层次，易于阅读和编写以及机器解析和生成，能够有效地提升网络传输效率。</a:t>
            </a:r>
          </a:p>
          <a:p>
            <a:pPr marL="0" indent="0" algn="just">
              <a:lnSpc>
                <a:spcPct val="150000"/>
              </a:lnSpc>
              <a:spcBef>
                <a:spcPts val="0"/>
              </a:spcBef>
              <a:buNone/>
            </a:pPr>
            <a:r>
              <a:rPr lang="en-US" altLang="zh-CN" sz="1800" dirty="0"/>
              <a:t>    JSON</a:t>
            </a:r>
            <a:r>
              <a:rPr lang="zh-CN" altLang="en-US" sz="1800" dirty="0"/>
              <a:t>是</a:t>
            </a:r>
            <a:r>
              <a:rPr lang="en-US" altLang="zh-CN" sz="1800" dirty="0"/>
              <a:t>JavaScript</a:t>
            </a:r>
            <a:r>
              <a:rPr lang="zh-CN" altLang="en-US" sz="1800" dirty="0"/>
              <a:t>对象的字符串表示法，使用文本表示一个</a:t>
            </a:r>
            <a:r>
              <a:rPr lang="en-US" altLang="zh-CN" sz="1800" dirty="0"/>
              <a:t>JavaScript</a:t>
            </a:r>
            <a:r>
              <a:rPr lang="zh-CN" altLang="en-US" sz="1800" dirty="0"/>
              <a:t>对象的信息，本质是一个字符串。</a:t>
            </a:r>
            <a:r>
              <a:rPr lang="en-US" altLang="zh-CN" sz="1800" dirty="0">
                <a:solidFill>
                  <a:srgbClr val="FF0000"/>
                </a:solidFill>
              </a:rPr>
              <a:t>JSON</a:t>
            </a:r>
            <a:r>
              <a:rPr lang="zh-CN" altLang="en-US" sz="1800" dirty="0">
                <a:solidFill>
                  <a:srgbClr val="FF0000"/>
                </a:solidFill>
              </a:rPr>
              <a:t>键值对是用来保存</a:t>
            </a:r>
            <a:r>
              <a:rPr lang="en-US" altLang="zh-CN" sz="1800" dirty="0">
                <a:solidFill>
                  <a:srgbClr val="FF0000"/>
                </a:solidFill>
              </a:rPr>
              <a:t>JS</a:t>
            </a:r>
            <a:r>
              <a:rPr lang="zh-CN" altLang="en-US" sz="1800" dirty="0">
                <a:solidFill>
                  <a:srgbClr val="FF0000"/>
                </a:solidFill>
              </a:rPr>
              <a:t>对象的一种方式，</a:t>
            </a:r>
            <a:r>
              <a:rPr lang="zh-CN" altLang="en-US" sz="1800" dirty="0">
                <a:solidFill>
                  <a:srgbClr val="0432FF"/>
                </a:solidFill>
              </a:rPr>
              <a:t>键值对</a:t>
            </a:r>
            <a:r>
              <a:rPr lang="zh-CN" altLang="en-US" sz="1800" dirty="0">
                <a:solidFill>
                  <a:srgbClr val="FF0000"/>
                </a:solidFill>
              </a:rPr>
              <a:t>组合中的键名写在前面并使用双引号，使用</a:t>
            </a:r>
            <a:r>
              <a:rPr lang="zh-CN" altLang="en-US" sz="1800" dirty="0">
                <a:solidFill>
                  <a:srgbClr val="0432FF"/>
                </a:solidFill>
              </a:rPr>
              <a:t>冒号分隔</a:t>
            </a:r>
            <a:r>
              <a:rPr lang="zh-CN" altLang="en-US" sz="1800" dirty="0">
                <a:solidFill>
                  <a:srgbClr val="FF0000"/>
                </a:solidFill>
              </a:rPr>
              <a:t>，然后是</a:t>
            </a:r>
            <a:r>
              <a:rPr lang="zh-CN" altLang="en-US" sz="1800" dirty="0">
                <a:solidFill>
                  <a:srgbClr val="0432FF"/>
                </a:solidFill>
              </a:rPr>
              <a:t>值</a:t>
            </a:r>
            <a:r>
              <a:rPr lang="zh-CN" altLang="en-US" sz="1800" dirty="0"/>
              <a:t>，</a:t>
            </a:r>
            <a:endParaRPr lang="en-US" altLang="zh-CN" sz="1800" dirty="0"/>
          </a:p>
          <a:p>
            <a:pPr marL="0" indent="0" algn="just">
              <a:lnSpc>
                <a:spcPct val="150000"/>
              </a:lnSpc>
              <a:spcBef>
                <a:spcPts val="0"/>
              </a:spcBef>
              <a:buNone/>
            </a:pPr>
            <a:r>
              <a:rPr lang="zh-CN" altLang="en-US" sz="1800" dirty="0"/>
              <a:t>例如：</a:t>
            </a:r>
            <a:r>
              <a:rPr lang="en-US" altLang="zh-CN" sz="1800" dirty="0">
                <a:solidFill>
                  <a:srgbClr val="7030A0"/>
                </a:solidFill>
              </a:rPr>
              <a:t>{“</a:t>
            </a:r>
            <a:r>
              <a:rPr lang="en-US" altLang="zh-CN" sz="1800" dirty="0" err="1">
                <a:solidFill>
                  <a:srgbClr val="7030A0"/>
                </a:solidFill>
              </a:rPr>
              <a:t>firstName</a:t>
            </a:r>
            <a:r>
              <a:rPr lang="en-US" altLang="zh-CN" sz="1800" dirty="0">
                <a:solidFill>
                  <a:srgbClr val="7030A0"/>
                </a:solidFill>
              </a:rPr>
              <a:t>”: “Json”}</a:t>
            </a:r>
            <a:r>
              <a:rPr lang="zh-CN" altLang="en-US" sz="1800" dirty="0"/>
              <a:t>，等价于以下</a:t>
            </a:r>
            <a:r>
              <a:rPr lang="en-US" altLang="zh-CN" sz="1800" dirty="0"/>
              <a:t>JavaScript</a:t>
            </a:r>
            <a:r>
              <a:rPr lang="zh-CN" altLang="en-US" sz="1800" dirty="0"/>
              <a:t>语句：</a:t>
            </a:r>
            <a:r>
              <a:rPr lang="en-US" altLang="zh-CN" sz="1800" dirty="0">
                <a:solidFill>
                  <a:srgbClr val="7030A0"/>
                </a:solidFill>
              </a:rPr>
              <a:t>{</a:t>
            </a:r>
            <a:r>
              <a:rPr lang="en-US" altLang="zh-CN" sz="1800" dirty="0" err="1">
                <a:solidFill>
                  <a:srgbClr val="7030A0"/>
                </a:solidFill>
              </a:rPr>
              <a:t>firstName</a:t>
            </a:r>
            <a:r>
              <a:rPr lang="en-US" altLang="zh-CN" sz="1800" dirty="0">
                <a:solidFill>
                  <a:srgbClr val="7030A0"/>
                </a:solidFill>
              </a:rPr>
              <a:t> : "Json"}</a:t>
            </a:r>
            <a:r>
              <a:rPr lang="zh-CN" altLang="en-US" sz="1800" dirty="0"/>
              <a:t>。</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9.5 json</a:t>
            </a:r>
            <a:r>
              <a:rPr lang="zh-CN" altLang="en-US" dirty="0"/>
              <a:t>文件读写</a:t>
            </a:r>
          </a:p>
        </p:txBody>
      </p:sp>
      <p:pic>
        <p:nvPicPr>
          <p:cNvPr id="2" name="Picture 1">
            <a:extLst>
              <a:ext uri="{FF2B5EF4-FFF2-40B4-BE49-F238E27FC236}">
                <a16:creationId xmlns:a16="http://schemas.microsoft.com/office/drawing/2014/main" id="{29EE5C4F-9689-5C55-2945-C5E862795AE8}"/>
              </a:ext>
            </a:extLst>
          </p:cNvPr>
          <p:cNvPicPr>
            <a:picLocks noChangeAspect="1"/>
          </p:cNvPicPr>
          <p:nvPr/>
        </p:nvPicPr>
        <p:blipFill>
          <a:blip r:embed="rId3"/>
          <a:stretch>
            <a:fillRect/>
          </a:stretch>
        </p:blipFill>
        <p:spPr>
          <a:xfrm>
            <a:off x="6961074" y="1907638"/>
            <a:ext cx="4936400" cy="376062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1372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286819"/>
            <a:ext cx="9982200" cy="42843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dirty="0"/>
              <a:t>    Python</a:t>
            </a:r>
            <a:r>
              <a:rPr lang="zh-CN" altLang="en-US" dirty="0"/>
              <a:t>的</a:t>
            </a:r>
            <a:r>
              <a:rPr lang="en-US" altLang="zh-CN" dirty="0">
                <a:solidFill>
                  <a:srgbClr val="FF0000"/>
                </a:solidFill>
              </a:rPr>
              <a:t>json</a:t>
            </a:r>
            <a:r>
              <a:rPr lang="zh-CN" altLang="en-US" dirty="0">
                <a:solidFill>
                  <a:srgbClr val="FF0000"/>
                </a:solidFill>
              </a:rPr>
              <a:t>模块能够实现</a:t>
            </a:r>
            <a:r>
              <a:rPr lang="en-US" altLang="zh-CN" dirty="0">
                <a:solidFill>
                  <a:srgbClr val="FF0000"/>
                </a:solidFill>
              </a:rPr>
              <a:t>Python</a:t>
            </a:r>
            <a:r>
              <a:rPr lang="zh-CN" altLang="en-US" dirty="0">
                <a:solidFill>
                  <a:srgbClr val="FF0000"/>
                </a:solidFill>
              </a:rPr>
              <a:t>对象和</a:t>
            </a:r>
            <a:r>
              <a:rPr lang="en-US" altLang="zh-CN" dirty="0">
                <a:solidFill>
                  <a:srgbClr val="FF0000"/>
                </a:solidFill>
              </a:rPr>
              <a:t>JSON</a:t>
            </a:r>
            <a:r>
              <a:rPr lang="zh-CN" altLang="en-US" dirty="0">
                <a:solidFill>
                  <a:srgbClr val="FF0000"/>
                </a:solidFill>
              </a:rPr>
              <a:t>格式之间的互相转换，即序列化和反序列化</a:t>
            </a:r>
            <a:r>
              <a:rPr lang="zh-CN" altLang="en-US" dirty="0"/>
              <a:t>。使用</a:t>
            </a:r>
            <a:r>
              <a:rPr lang="en-US" altLang="zh-CN" dirty="0"/>
              <a:t>json</a:t>
            </a:r>
            <a:r>
              <a:rPr lang="zh-CN" altLang="en-US" dirty="0"/>
              <a:t>模块需要使用</a:t>
            </a:r>
            <a:r>
              <a:rPr lang="en-US" altLang="zh-CN" dirty="0">
                <a:solidFill>
                  <a:srgbClr val="0432FF"/>
                </a:solidFill>
              </a:rPr>
              <a:t>import json</a:t>
            </a:r>
            <a:r>
              <a:rPr lang="zh-CN" altLang="en-US" dirty="0"/>
              <a:t>语句导入该模块。</a:t>
            </a:r>
          </a:p>
          <a:p>
            <a:pPr lvl="1" algn="just">
              <a:lnSpc>
                <a:spcPct val="150000"/>
              </a:lnSpc>
              <a:spcBef>
                <a:spcPts val="0"/>
              </a:spcBef>
            </a:pPr>
            <a:r>
              <a:rPr lang="en-US" altLang="zh-CN" sz="1800" dirty="0" err="1"/>
              <a:t>json</a:t>
            </a:r>
            <a:r>
              <a:rPr lang="zh-CN" altLang="en-US" sz="1800" dirty="0"/>
              <a:t>模块的</a:t>
            </a:r>
            <a:r>
              <a:rPr lang="en-US" altLang="zh-CN" sz="1800" dirty="0">
                <a:solidFill>
                  <a:srgbClr val="7030A0"/>
                </a:solidFill>
              </a:rPr>
              <a:t>dump</a:t>
            </a:r>
            <a:r>
              <a:rPr lang="zh-CN" altLang="en-US" sz="1800" dirty="0">
                <a:solidFill>
                  <a:srgbClr val="FF0000"/>
                </a:solidFill>
              </a:rPr>
              <a:t>方法和</a:t>
            </a:r>
            <a:r>
              <a:rPr lang="en-US" altLang="zh-CN" sz="1800" dirty="0">
                <a:solidFill>
                  <a:srgbClr val="FF0000"/>
                </a:solidFill>
              </a:rPr>
              <a:t>dumps</a:t>
            </a:r>
            <a:r>
              <a:rPr lang="zh-CN" altLang="en-US" sz="1800" dirty="0">
                <a:solidFill>
                  <a:srgbClr val="FF0000"/>
                </a:solidFill>
              </a:rPr>
              <a:t>方法将</a:t>
            </a:r>
            <a:r>
              <a:rPr lang="en-US" altLang="zh-CN" sz="1800" dirty="0">
                <a:solidFill>
                  <a:srgbClr val="FF0000"/>
                </a:solidFill>
              </a:rPr>
              <a:t>Python</a:t>
            </a:r>
            <a:r>
              <a:rPr lang="zh-CN" altLang="en-US" sz="1800" dirty="0">
                <a:solidFill>
                  <a:srgbClr val="FF0000"/>
                </a:solidFill>
              </a:rPr>
              <a:t>对象序列化</a:t>
            </a:r>
            <a:r>
              <a:rPr lang="zh-CN" altLang="en-US" sz="1800" dirty="0"/>
              <a:t>（编码）为</a:t>
            </a:r>
            <a:r>
              <a:rPr lang="en-US" altLang="zh-CN" sz="1800" dirty="0"/>
              <a:t>JSON</a:t>
            </a:r>
            <a:r>
              <a:rPr lang="zh-CN" altLang="en-US" sz="1800" dirty="0"/>
              <a:t>格式字符串，</a:t>
            </a:r>
            <a:endParaRPr lang="en-US" altLang="zh-CN" sz="1800" dirty="0"/>
          </a:p>
          <a:p>
            <a:pPr lvl="1" algn="just">
              <a:lnSpc>
                <a:spcPct val="150000"/>
              </a:lnSpc>
              <a:spcBef>
                <a:spcPts val="0"/>
              </a:spcBef>
            </a:pPr>
            <a:r>
              <a:rPr lang="en-US" altLang="zh-CN" sz="1800" dirty="0">
                <a:solidFill>
                  <a:srgbClr val="7030A0"/>
                </a:solidFill>
              </a:rPr>
              <a:t>load</a:t>
            </a:r>
            <a:r>
              <a:rPr lang="zh-CN" altLang="en-US" sz="1800" dirty="0">
                <a:solidFill>
                  <a:srgbClr val="FF0000"/>
                </a:solidFill>
              </a:rPr>
              <a:t>方法和</a:t>
            </a:r>
            <a:r>
              <a:rPr lang="en-US" altLang="zh-CN" sz="1800" dirty="0">
                <a:solidFill>
                  <a:srgbClr val="FF0000"/>
                </a:solidFill>
              </a:rPr>
              <a:t>loads</a:t>
            </a:r>
            <a:r>
              <a:rPr lang="zh-CN" altLang="en-US" sz="1800" dirty="0">
                <a:solidFill>
                  <a:srgbClr val="FF0000"/>
                </a:solidFill>
              </a:rPr>
              <a:t>方法将</a:t>
            </a:r>
            <a:r>
              <a:rPr lang="en-US" altLang="zh-CN" sz="1800" dirty="0">
                <a:solidFill>
                  <a:srgbClr val="FF0000"/>
                </a:solidFill>
              </a:rPr>
              <a:t>JSON</a:t>
            </a:r>
            <a:r>
              <a:rPr lang="zh-CN" altLang="en-US" sz="1800" dirty="0">
                <a:solidFill>
                  <a:srgbClr val="FF0000"/>
                </a:solidFill>
              </a:rPr>
              <a:t>格式反序列化</a:t>
            </a:r>
            <a:r>
              <a:rPr lang="zh-CN" altLang="en-US" sz="1800" dirty="0"/>
              <a:t>（解码）为</a:t>
            </a:r>
            <a:r>
              <a:rPr lang="en-US" altLang="zh-CN" sz="1800" dirty="0"/>
              <a:t>Python</a:t>
            </a:r>
            <a:r>
              <a:rPr lang="zh-CN" altLang="en-US" sz="1800" dirty="0"/>
              <a:t>对象。</a:t>
            </a:r>
            <a:endParaRPr lang="en-US" altLang="zh-CN" sz="1800" dirty="0"/>
          </a:p>
          <a:p>
            <a:pPr lvl="1" algn="just">
              <a:lnSpc>
                <a:spcPct val="150000"/>
              </a:lnSpc>
              <a:spcBef>
                <a:spcPts val="0"/>
              </a:spcBef>
            </a:pPr>
            <a:r>
              <a:rPr lang="zh-CN" altLang="en-US" sz="1800" dirty="0"/>
              <a:t>另外，</a:t>
            </a:r>
            <a:r>
              <a:rPr lang="en-US" altLang="zh-CN" sz="1800" dirty="0"/>
              <a:t>json</a:t>
            </a:r>
            <a:r>
              <a:rPr lang="zh-CN" altLang="en-US" sz="1800" dirty="0"/>
              <a:t>模块还提供了编码器类</a:t>
            </a:r>
            <a:r>
              <a:rPr lang="en-US" altLang="zh-CN" sz="1800" dirty="0" err="1"/>
              <a:t>JSONDecoder</a:t>
            </a:r>
            <a:r>
              <a:rPr lang="zh-CN" altLang="en-US" sz="1800" dirty="0"/>
              <a:t>和解码器类</a:t>
            </a:r>
            <a:r>
              <a:rPr lang="en-US" altLang="zh-CN" sz="1800" dirty="0" err="1"/>
              <a:t>JSONEncoder</a:t>
            </a:r>
            <a:r>
              <a:rPr lang="zh-CN" altLang="en-US" sz="1800" dirty="0"/>
              <a:t>，支持自定义的编码和解码操作。下面对上述四个方法和两个类进行介绍。</a:t>
            </a:r>
          </a:p>
          <a:p>
            <a:pPr marL="0" indent="0" algn="just">
              <a:lnSpc>
                <a:spcPct val="150000"/>
              </a:lnSpc>
              <a:buNone/>
            </a:pP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9.5 json</a:t>
            </a:r>
            <a:r>
              <a:rPr lang="zh-CN" altLang="en-US" dirty="0"/>
              <a:t>文件读写</a:t>
            </a:r>
          </a:p>
        </p:txBody>
      </p:sp>
      <p:pic>
        <p:nvPicPr>
          <p:cNvPr id="2" name="Picture 1">
            <a:extLst>
              <a:ext uri="{FF2B5EF4-FFF2-40B4-BE49-F238E27FC236}">
                <a16:creationId xmlns:a16="http://schemas.microsoft.com/office/drawing/2014/main" id="{8893329C-FB73-D72E-6E63-1C04E4A6501A}"/>
              </a:ext>
            </a:extLst>
          </p:cNvPr>
          <p:cNvPicPr>
            <a:picLocks noChangeAspect="1"/>
          </p:cNvPicPr>
          <p:nvPr/>
        </p:nvPicPr>
        <p:blipFill>
          <a:blip r:embed="rId3"/>
          <a:stretch>
            <a:fillRect/>
          </a:stretch>
        </p:blipFill>
        <p:spPr>
          <a:xfrm>
            <a:off x="1104141" y="3975315"/>
            <a:ext cx="2044700" cy="10033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71ED2209-BC77-7831-07A0-0D9186D37599}"/>
              </a:ext>
            </a:extLst>
          </p:cNvPr>
          <p:cNvPicPr>
            <a:picLocks noChangeAspect="1"/>
          </p:cNvPicPr>
          <p:nvPr/>
        </p:nvPicPr>
        <p:blipFill>
          <a:blip r:embed="rId4"/>
          <a:stretch>
            <a:fillRect/>
          </a:stretch>
        </p:blipFill>
        <p:spPr>
          <a:xfrm>
            <a:off x="3501253" y="3883631"/>
            <a:ext cx="3349261" cy="1498353"/>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B16797EC-009B-EDDD-04FB-F35213975FF0}"/>
              </a:ext>
            </a:extLst>
          </p:cNvPr>
          <p:cNvPicPr>
            <a:picLocks noChangeAspect="1"/>
          </p:cNvPicPr>
          <p:nvPr/>
        </p:nvPicPr>
        <p:blipFill>
          <a:blip r:embed="rId5"/>
          <a:stretch>
            <a:fillRect/>
          </a:stretch>
        </p:blipFill>
        <p:spPr>
          <a:xfrm>
            <a:off x="3501253" y="5381984"/>
            <a:ext cx="4646154" cy="651530"/>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6DD91239-CBBE-AA1A-42C0-6126CEC7E7E8}"/>
              </a:ext>
            </a:extLst>
          </p:cNvPr>
          <p:cNvSpPr txBox="1"/>
          <p:nvPr/>
        </p:nvSpPr>
        <p:spPr>
          <a:xfrm>
            <a:off x="3588251" y="6141856"/>
            <a:ext cx="3531740" cy="369332"/>
          </a:xfrm>
          <a:prstGeom prst="rect">
            <a:avLst/>
          </a:prstGeom>
          <a:noFill/>
        </p:spPr>
        <p:txBody>
          <a:bodyPr wrap="square">
            <a:spAutoFit/>
          </a:bodyPr>
          <a:lstStyle/>
          <a:p>
            <a:r>
              <a:rPr lang="en-US" b="0" i="0" dirty="0">
                <a:solidFill>
                  <a:srgbClr val="0432FF"/>
                </a:solidFill>
                <a:effectLst/>
                <a:latin typeface="source sans pro" panose="020B0503030403020204" pitchFamily="34" charset="0"/>
              </a:rPr>
              <a:t>create a file called </a:t>
            </a:r>
            <a:r>
              <a:rPr lang="en-US" dirty="0" err="1">
                <a:solidFill>
                  <a:srgbClr val="7030A0"/>
                </a:solidFill>
              </a:rPr>
              <a:t>data_file.json</a:t>
            </a:r>
            <a:endParaRPr lang="zh-CN" altLang="en-US" dirty="0">
              <a:solidFill>
                <a:srgbClr val="7030A0"/>
              </a:solidFill>
            </a:endParaRPr>
          </a:p>
        </p:txBody>
      </p:sp>
      <p:pic>
        <p:nvPicPr>
          <p:cNvPr id="8" name="Picture 7">
            <a:extLst>
              <a:ext uri="{FF2B5EF4-FFF2-40B4-BE49-F238E27FC236}">
                <a16:creationId xmlns:a16="http://schemas.microsoft.com/office/drawing/2014/main" id="{287E4391-9E3F-5EB5-D45D-B84C6209B0E0}"/>
              </a:ext>
            </a:extLst>
          </p:cNvPr>
          <p:cNvPicPr>
            <a:picLocks noChangeAspect="1"/>
          </p:cNvPicPr>
          <p:nvPr/>
        </p:nvPicPr>
        <p:blipFill>
          <a:blip r:embed="rId6"/>
          <a:stretch>
            <a:fillRect/>
          </a:stretch>
        </p:blipFill>
        <p:spPr>
          <a:xfrm>
            <a:off x="7939082" y="4395828"/>
            <a:ext cx="3323465" cy="501435"/>
          </a:xfrm>
          <a:prstGeom prst="rect">
            <a:avLst/>
          </a:prstGeom>
          <a:effectLst>
            <a:outerShdw blurRad="63500" sx="102000" sy="102000" algn="ctr" rotWithShape="0">
              <a:prstClr val="black">
                <a:alpha val="40000"/>
              </a:prstClr>
            </a:outerShdw>
          </a:effectLst>
        </p:spPr>
      </p:pic>
      <p:sp>
        <p:nvSpPr>
          <p:cNvPr id="11" name="TextBox 10">
            <a:extLst>
              <a:ext uri="{FF2B5EF4-FFF2-40B4-BE49-F238E27FC236}">
                <a16:creationId xmlns:a16="http://schemas.microsoft.com/office/drawing/2014/main" id="{6846FEEE-DEC1-7D56-CFB4-191A40F7A445}"/>
              </a:ext>
            </a:extLst>
          </p:cNvPr>
          <p:cNvSpPr txBox="1"/>
          <p:nvPr/>
        </p:nvSpPr>
        <p:spPr>
          <a:xfrm>
            <a:off x="7879410" y="4016063"/>
            <a:ext cx="3855377" cy="369332"/>
          </a:xfrm>
          <a:prstGeom prst="rect">
            <a:avLst/>
          </a:prstGeom>
          <a:noFill/>
        </p:spPr>
        <p:txBody>
          <a:bodyPr wrap="square">
            <a:spAutoFit/>
          </a:bodyPr>
          <a:lstStyle/>
          <a:p>
            <a:r>
              <a:rPr lang="en-US" b="0" i="0" dirty="0">
                <a:solidFill>
                  <a:srgbClr val="0432FF"/>
                </a:solidFill>
                <a:effectLst/>
                <a:latin typeface="source sans pro" panose="020B0503030403020204" pitchFamily="34" charset="0"/>
              </a:rPr>
              <a:t>write it to a native Python </a:t>
            </a:r>
            <a:r>
              <a:rPr lang="en-US" dirty="0">
                <a:solidFill>
                  <a:srgbClr val="7030A0"/>
                </a:solidFill>
              </a:rPr>
              <a:t>str</a:t>
            </a:r>
            <a:r>
              <a:rPr lang="en-US" b="0" i="0" dirty="0">
                <a:solidFill>
                  <a:srgbClr val="222222"/>
                </a:solidFill>
                <a:effectLst/>
                <a:latin typeface="source sans pro" panose="020B0503030403020204" pitchFamily="34" charset="0"/>
              </a:rPr>
              <a:t> </a:t>
            </a:r>
            <a:r>
              <a:rPr lang="en-US" b="0" i="0" dirty="0">
                <a:solidFill>
                  <a:srgbClr val="0432FF"/>
                </a:solidFill>
                <a:effectLst/>
                <a:latin typeface="source sans pro" panose="020B0503030403020204" pitchFamily="34" charset="0"/>
              </a:rPr>
              <a:t>object</a:t>
            </a:r>
            <a:r>
              <a:rPr lang="en-US" b="0" i="0" dirty="0">
                <a:solidFill>
                  <a:srgbClr val="222222"/>
                </a:solidFill>
                <a:effectLst/>
                <a:latin typeface="source sans pro" panose="020B0503030403020204" pitchFamily="34" charset="0"/>
              </a:rPr>
              <a:t>.</a:t>
            </a:r>
            <a:endParaRPr lang="zh-CN" altLang="en-US" dirty="0"/>
          </a:p>
        </p:txBody>
      </p:sp>
    </p:spTree>
    <p:extLst>
      <p:ext uri="{BB962C8B-B14F-4D97-AF65-F5344CB8AC3E}">
        <p14:creationId xmlns:p14="http://schemas.microsoft.com/office/powerpoint/2010/main" val="319867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9.5.1 </a:t>
            </a:r>
            <a:r>
              <a:rPr lang="en-US" altLang="zh-CN" dirty="0" err="1">
                <a:solidFill>
                  <a:srgbClr val="0432FF"/>
                </a:solidFill>
                <a:latin typeface="Microsoft YaHei" panose="020B0503020204020204" pitchFamily="34" charset="-122"/>
                <a:ea typeface="Microsoft YaHei" panose="020B0503020204020204" pitchFamily="34" charset="-122"/>
              </a:rPr>
              <a:t>json.dump</a:t>
            </a:r>
            <a:r>
              <a:rPr lang="en-US" altLang="zh-CN" dirty="0">
                <a:solidFill>
                  <a:srgbClr val="0432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方法</a:t>
            </a:r>
          </a:p>
        </p:txBody>
      </p:sp>
      <p:sp>
        <p:nvSpPr>
          <p:cNvPr id="5" name="TextBox 4">
            <a:extLst>
              <a:ext uri="{FF2B5EF4-FFF2-40B4-BE49-F238E27FC236}">
                <a16:creationId xmlns:a16="http://schemas.microsoft.com/office/drawing/2014/main" id="{9881F645-69A9-EE07-FAB2-625887472E10}"/>
              </a:ext>
            </a:extLst>
          </p:cNvPr>
          <p:cNvSpPr txBox="1"/>
          <p:nvPr/>
        </p:nvSpPr>
        <p:spPr>
          <a:xfrm>
            <a:off x="1395045" y="1441159"/>
            <a:ext cx="8850923"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调用格式为：</a:t>
            </a:r>
            <a:r>
              <a:rPr lang="en-US" b="1" i="0" dirty="0" err="1">
                <a:solidFill>
                  <a:srgbClr val="0432FF"/>
                </a:solidFill>
                <a:effectLst/>
                <a:latin typeface="Courier New" panose="02070309020205020404" pitchFamily="49" charset="0"/>
              </a:rPr>
              <a:t>json.dump</a:t>
            </a:r>
            <a:r>
              <a:rPr lang="en-US" b="1" i="0" dirty="0">
                <a:solidFill>
                  <a:srgbClr val="0432FF"/>
                </a:solidFill>
                <a:effectLst/>
                <a:latin typeface="Courier New" panose="02070309020205020404" pitchFamily="49" charset="0"/>
              </a:rPr>
              <a:t>(</a:t>
            </a:r>
            <a:r>
              <a:rPr lang="en-US" b="1" i="0" dirty="0" err="1">
                <a:solidFill>
                  <a:srgbClr val="0432FF"/>
                </a:solidFill>
                <a:effectLst/>
                <a:latin typeface="Courier New" panose="02070309020205020404" pitchFamily="49" charset="0"/>
              </a:rPr>
              <a:t>dict_obj</a:t>
            </a:r>
            <a:r>
              <a:rPr lang="en-US" b="1" i="0" dirty="0">
                <a:solidFill>
                  <a:srgbClr val="0432FF"/>
                </a:solidFill>
                <a:effectLst/>
                <a:latin typeface="Courier New" panose="02070309020205020404" pitchFamily="49" charset="0"/>
              </a:rPr>
              <a:t>, </a:t>
            </a:r>
            <a:r>
              <a:rPr lang="en-US" b="1" i="0" dirty="0" err="1">
                <a:solidFill>
                  <a:srgbClr val="0432FF"/>
                </a:solidFill>
                <a:effectLst/>
                <a:latin typeface="Courier New" panose="02070309020205020404" pitchFamily="49" charset="0"/>
              </a:rPr>
              <a:t>file_obj</a:t>
            </a:r>
            <a:r>
              <a:rPr lang="en-US" b="1" i="0" dirty="0">
                <a:solidFill>
                  <a:srgbClr val="0432FF"/>
                </a:solidFill>
                <a:effectLst/>
                <a:latin typeface="Courier New" panose="02070309020205020404" pitchFamily="49" charset="0"/>
              </a:rPr>
              <a:t>, </a:t>
            </a:r>
            <a:r>
              <a:rPr lang="en-US" b="1" i="0" dirty="0" err="1">
                <a:solidFill>
                  <a:srgbClr val="0432FF"/>
                </a:solidFill>
                <a:effectLst/>
                <a:latin typeface="Courier New" panose="02070309020205020404" pitchFamily="49" charset="0"/>
              </a:rPr>
              <a:t>ensure_ascii</a:t>
            </a:r>
            <a:r>
              <a:rPr lang="en-US" b="1" i="0" dirty="0">
                <a:solidFill>
                  <a:srgbClr val="0432FF"/>
                </a:solidFill>
                <a:effectLst/>
                <a:latin typeface="Courier New" panose="02070309020205020404" pitchFamily="49" charset="0"/>
              </a:rPr>
              <a:t>=True)</a:t>
            </a:r>
            <a:endParaRPr lang="zh-CN" altLang="en-US" b="1" dirty="0">
              <a:solidFill>
                <a:srgbClr val="0432FF"/>
              </a:solidFill>
            </a:endParaRPr>
          </a:p>
        </p:txBody>
      </p:sp>
      <p:sp>
        <p:nvSpPr>
          <p:cNvPr id="7" name="TextBox 6">
            <a:extLst>
              <a:ext uri="{FF2B5EF4-FFF2-40B4-BE49-F238E27FC236}">
                <a16:creationId xmlns:a16="http://schemas.microsoft.com/office/drawing/2014/main" id="{A50DBA90-69B5-A522-1772-7A56234DB8F2}"/>
              </a:ext>
            </a:extLst>
          </p:cNvPr>
          <p:cNvSpPr txBox="1"/>
          <p:nvPr/>
        </p:nvSpPr>
        <p:spPr>
          <a:xfrm>
            <a:off x="1289539" y="2154688"/>
            <a:ext cx="9390184" cy="33777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该方法用于将 </a:t>
            </a:r>
            <a:r>
              <a:rPr lang="en-US" sz="1800" b="0" i="0" dirty="0">
                <a:solidFill>
                  <a:srgbClr val="262625"/>
                </a:solidFill>
                <a:effectLst/>
                <a:latin typeface="Times New Roman" panose="02020603050405020304" pitchFamily="18" charset="0"/>
              </a:rPr>
              <a:t>Python </a:t>
            </a:r>
            <a:r>
              <a:rPr lang="zh-CN" altLang="en-US" sz="1800" b="0" i="0" dirty="0">
                <a:solidFill>
                  <a:srgbClr val="262625"/>
                </a:solidFill>
                <a:effectLst/>
                <a:latin typeface="Times New Roman" panose="02020603050405020304" pitchFamily="18" charset="0"/>
              </a:rPr>
              <a:t>字典对象</a:t>
            </a:r>
            <a:r>
              <a:rPr lang="en-US" sz="1800" b="0" i="0" dirty="0" err="1">
                <a:solidFill>
                  <a:srgbClr val="6E6B5E"/>
                </a:solidFill>
                <a:effectLst/>
                <a:latin typeface="Courier New" panose="02070309020205020404" pitchFamily="49" charset="0"/>
              </a:rPr>
              <a:t>dict_obj</a:t>
            </a:r>
            <a:r>
              <a:rPr lang="zh-CN" altLang="en-US" sz="1800" b="0" i="0" dirty="0">
                <a:solidFill>
                  <a:srgbClr val="262625"/>
                </a:solidFill>
                <a:effectLst/>
                <a:latin typeface="Times New Roman" panose="02020603050405020304" pitchFamily="18" charset="0"/>
              </a:rPr>
              <a:t>序列化为 </a:t>
            </a:r>
            <a:r>
              <a:rPr lang="en-US" sz="1800" b="0" i="0" dirty="0">
                <a:solidFill>
                  <a:srgbClr val="262625"/>
                </a:solidFill>
                <a:effectLst/>
                <a:latin typeface="Times New Roman" panose="02020603050405020304" pitchFamily="18" charset="0"/>
              </a:rPr>
              <a:t>JSON </a:t>
            </a:r>
            <a:r>
              <a:rPr lang="zh-CN" altLang="en-US" sz="1800" b="0" i="0" dirty="0">
                <a:solidFill>
                  <a:srgbClr val="262625"/>
                </a:solidFill>
                <a:effectLst/>
                <a:latin typeface="Times New Roman" panose="02020603050405020304" pitchFamily="18" charset="0"/>
              </a:rPr>
              <a:t>格式，并写入到文件对象</a:t>
            </a:r>
            <a:r>
              <a:rPr lang="en-US" sz="1800" b="0" i="0" dirty="0" err="1">
                <a:solidFill>
                  <a:srgbClr val="6E6B5E"/>
                </a:solidFill>
                <a:effectLst/>
                <a:latin typeface="Courier New" panose="02070309020205020404" pitchFamily="49" charset="0"/>
              </a:rPr>
              <a:t>file_obj</a:t>
            </a:r>
            <a:r>
              <a:rPr lang="zh-CN" altLang="en-US" sz="1800" b="0" i="0" dirty="0">
                <a:solidFill>
                  <a:srgbClr val="262625"/>
                </a:solidFill>
                <a:effectLst/>
                <a:latin typeface="Times New Roman" panose="02020603050405020304" pitchFamily="18" charset="0"/>
              </a:rPr>
              <a:t>中。</a:t>
            </a:r>
            <a:endParaRPr lang="en-US" altLang="zh-CN" sz="1800" b="0" i="0" dirty="0">
              <a:solidFill>
                <a:srgbClr val="262625"/>
              </a:solidFill>
              <a:effectLst/>
              <a:latin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参数</a:t>
            </a:r>
            <a:r>
              <a:rPr lang="en-US" sz="1800" b="0" i="0" dirty="0" err="1">
                <a:solidFill>
                  <a:srgbClr val="6E6B5E"/>
                </a:solidFill>
                <a:effectLst/>
                <a:latin typeface="Courier New" panose="02070309020205020404" pitchFamily="49" charset="0"/>
              </a:rPr>
              <a:t>ensure_ascii</a:t>
            </a:r>
            <a:r>
              <a:rPr lang="zh-CN" altLang="en-US" sz="1800" b="0" i="0" dirty="0">
                <a:solidFill>
                  <a:srgbClr val="262625"/>
                </a:solidFill>
                <a:effectLst/>
                <a:latin typeface="Times New Roman" panose="02020603050405020304" pitchFamily="18" charset="0"/>
              </a:rPr>
              <a:t>设定写入字符串的编码方式，默认值为</a:t>
            </a:r>
            <a:r>
              <a:rPr lang="en-US" sz="1800" b="0" i="0" dirty="0">
                <a:solidFill>
                  <a:srgbClr val="6E6B5E"/>
                </a:solidFill>
                <a:effectLst/>
                <a:latin typeface="Courier New" panose="02070309020205020404" pitchFamily="49" charset="0"/>
              </a:rPr>
              <a:t>True</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表示将所有非 </a:t>
            </a:r>
            <a:r>
              <a:rPr lang="en-US" sz="1800" b="0" i="0" dirty="0">
                <a:solidFill>
                  <a:srgbClr val="262625"/>
                </a:solidFill>
                <a:effectLst/>
                <a:latin typeface="Times New Roman" panose="02020603050405020304" pitchFamily="18" charset="0"/>
              </a:rPr>
              <a:t>ASCII </a:t>
            </a:r>
            <a:r>
              <a:rPr lang="zh-CN" altLang="en-US" sz="1800" b="0" i="0" dirty="0">
                <a:solidFill>
                  <a:srgbClr val="262625"/>
                </a:solidFill>
                <a:effectLst/>
                <a:latin typeface="Times New Roman" panose="02020603050405020304" pitchFamily="18" charset="0"/>
              </a:rPr>
              <a:t>字符（例如汉字）转换为 </a:t>
            </a:r>
            <a:r>
              <a:rPr lang="en-US" sz="1800" b="0" i="0" dirty="0">
                <a:solidFill>
                  <a:srgbClr val="262625"/>
                </a:solidFill>
                <a:effectLst/>
                <a:latin typeface="Times New Roman" panose="02020603050405020304" pitchFamily="18" charset="0"/>
              </a:rPr>
              <a:t>Unicode </a:t>
            </a:r>
            <a:r>
              <a:rPr lang="zh-CN" altLang="en-US" sz="1800" b="0" i="0" dirty="0">
                <a:solidFill>
                  <a:srgbClr val="262625"/>
                </a:solidFill>
                <a:effectLst/>
                <a:latin typeface="Times New Roman" panose="02020603050405020304" pitchFamily="18" charset="0"/>
              </a:rPr>
              <a:t>转义序列（如 </a:t>
            </a:r>
            <a:r>
              <a:rPr lang="en-US" altLang="zh-CN" sz="1800" b="0" i="0" dirty="0">
                <a:solidFill>
                  <a:srgbClr val="6E6B5E"/>
                </a:solidFill>
                <a:effectLst/>
                <a:latin typeface="Courier New" panose="02070309020205020404" pitchFamily="49" charset="0"/>
              </a:rPr>
              <a:t>\</a:t>
            </a:r>
            <a:r>
              <a:rPr lang="en-US" sz="1800" b="0" i="0" dirty="0">
                <a:solidFill>
                  <a:srgbClr val="6E6B5E"/>
                </a:solidFill>
                <a:effectLst/>
                <a:latin typeface="Courier New" panose="02070309020205020404" pitchFamily="49" charset="0"/>
              </a:rPr>
              <a:t>u4f60\u597d</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如果设置为 </a:t>
            </a:r>
            <a:r>
              <a:rPr lang="en-US" sz="1800" b="0" i="0" dirty="0">
                <a:solidFill>
                  <a:srgbClr val="262625"/>
                </a:solidFill>
                <a:effectLst/>
                <a:latin typeface="Times New Roman" panose="02020603050405020304" pitchFamily="18" charset="0"/>
              </a:rPr>
              <a:t>False，</a:t>
            </a:r>
            <a:r>
              <a:rPr lang="zh-CN" altLang="en-US" sz="1800" b="0" i="0" dirty="0">
                <a:solidFill>
                  <a:srgbClr val="262625"/>
                </a:solidFill>
                <a:effectLst/>
                <a:latin typeface="Times New Roman" panose="02020603050405020304" pitchFamily="18" charset="0"/>
              </a:rPr>
              <a:t>则允许直接输出非 </a:t>
            </a:r>
            <a:r>
              <a:rPr lang="en-US" sz="1800" b="0" i="0" dirty="0">
                <a:solidFill>
                  <a:srgbClr val="262625"/>
                </a:solidFill>
                <a:effectLst/>
                <a:latin typeface="Times New Roman" panose="02020603050405020304" pitchFamily="18" charset="0"/>
              </a:rPr>
              <a:t>ASCII </a:t>
            </a:r>
            <a:r>
              <a:rPr lang="zh-CN" altLang="en-US" sz="1800" b="0" i="0" dirty="0">
                <a:solidFill>
                  <a:srgbClr val="262625"/>
                </a:solidFill>
                <a:effectLst/>
                <a:latin typeface="Times New Roman" panose="02020603050405020304" pitchFamily="18" charset="0"/>
              </a:rPr>
              <a:t>字符，从而更易于阅读和调试。</a:t>
            </a:r>
          </a:p>
          <a:p>
            <a:pPr marL="285750" indent="-285750" algn="just">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此外，</a:t>
            </a:r>
            <a:r>
              <a:rPr lang="en-US" sz="1800" b="0" i="0" dirty="0" err="1">
                <a:solidFill>
                  <a:srgbClr val="6E6B5E"/>
                </a:solidFill>
                <a:effectLst/>
                <a:latin typeface="Courier New" panose="02070309020205020404" pitchFamily="49" charset="0"/>
              </a:rPr>
              <a:t>json.dump</a:t>
            </a:r>
            <a:r>
              <a:rPr lang="en-US" sz="1800" b="0" i="0" dirty="0">
                <a:solidFill>
                  <a:srgbClr val="6E6B5E"/>
                </a:solidFill>
                <a:effectLst/>
                <a:latin typeface="Courier New" panose="02070309020205020404" pitchFamily="49" charset="0"/>
              </a:rPr>
              <a:t>()</a:t>
            </a:r>
            <a:r>
              <a:rPr lang="zh-CN" altLang="en-US" sz="1800" b="0" i="0" dirty="0">
                <a:solidFill>
                  <a:srgbClr val="262625"/>
                </a:solidFill>
                <a:effectLst/>
                <a:latin typeface="Times New Roman" panose="02020603050405020304" pitchFamily="18" charset="0"/>
              </a:rPr>
              <a:t>函数输出的是字符串类型的数据，而不是字节对象。</a:t>
            </a:r>
            <a:endParaRPr lang="en-US" altLang="zh-CN" sz="1800" b="0" i="0" dirty="0">
              <a:solidFill>
                <a:srgbClr val="262625"/>
              </a:solidFill>
              <a:effectLst/>
              <a:latin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b="0" i="0" dirty="0">
                <a:solidFill>
                  <a:srgbClr val="262625"/>
                </a:solidFill>
                <a:effectLst/>
                <a:latin typeface="Times New Roman" panose="02020603050405020304" pitchFamily="18" charset="0"/>
              </a:rPr>
              <a:t>因此，</a:t>
            </a:r>
            <a:r>
              <a:rPr lang="en-US" sz="1800" b="0" i="0" dirty="0" err="1">
                <a:solidFill>
                  <a:srgbClr val="6E6B5E"/>
                </a:solidFill>
                <a:effectLst/>
                <a:latin typeface="Courier New" panose="02070309020205020404" pitchFamily="49" charset="0"/>
              </a:rPr>
              <a:t>file_obj</a:t>
            </a:r>
            <a:r>
              <a:rPr lang="zh-CN" altLang="en-US" sz="1800" b="0" i="0" dirty="0">
                <a:solidFill>
                  <a:srgbClr val="262625"/>
                </a:solidFill>
                <a:effectLst/>
                <a:latin typeface="Times New Roman" panose="02020603050405020304" pitchFamily="18" charset="0"/>
              </a:rPr>
              <a:t>必须是一个支持字符串输入的文件对象，需要以文本模式（如</a:t>
            </a:r>
            <a:r>
              <a:rPr lang="en-US" altLang="zh-CN" sz="1800" b="0" i="0" dirty="0">
                <a:solidFill>
                  <a:srgbClr val="6E6B5E"/>
                </a:solidFill>
                <a:effectLst/>
                <a:latin typeface="Courier New" panose="02070309020205020404" pitchFamily="49" charset="0"/>
              </a:rPr>
              <a:t>'</a:t>
            </a:r>
            <a:r>
              <a:rPr lang="en-US" sz="1800" b="0" i="0" dirty="0">
                <a:solidFill>
                  <a:srgbClr val="6E6B5E"/>
                </a:solidFill>
                <a:effectLst/>
                <a:latin typeface="Courier New" panose="02070309020205020404" pitchFamily="49" charset="0"/>
              </a:rPr>
              <a:t>w'</a:t>
            </a:r>
            <a:r>
              <a:rPr lang="zh-CN" altLang="en-US" sz="1800" b="0" i="0" dirty="0">
                <a:solidFill>
                  <a:srgbClr val="262625"/>
                </a:solidFill>
                <a:effectLst/>
                <a:latin typeface="Times New Roman" panose="02020603050405020304" pitchFamily="18" charset="0"/>
              </a:rPr>
              <a:t>或</a:t>
            </a:r>
            <a:r>
              <a:rPr lang="en-US" altLang="zh-CN" sz="1800" b="0" i="0" dirty="0">
                <a:solidFill>
                  <a:srgbClr val="6E6B5E"/>
                </a:solidFill>
                <a:effectLst/>
                <a:latin typeface="Courier New" panose="02070309020205020404" pitchFamily="49" charset="0"/>
              </a:rPr>
              <a:t>'</a:t>
            </a:r>
            <a:r>
              <a:rPr lang="en-US" sz="1800" b="0" i="0" dirty="0">
                <a:solidFill>
                  <a:srgbClr val="6E6B5E"/>
                </a:solidFill>
                <a:effectLst/>
                <a:latin typeface="Courier New" panose="02070309020205020404" pitchFamily="49" charset="0"/>
              </a:rPr>
              <a:t>w+'</a:t>
            </a:r>
            <a:r>
              <a:rPr lang="en-US"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打开，这样才能支持</a:t>
            </a:r>
            <a:r>
              <a:rPr lang="en-US" sz="1800" b="0" i="0" dirty="0">
                <a:solidFill>
                  <a:srgbClr val="6E6B5E"/>
                </a:solidFill>
                <a:effectLst/>
                <a:latin typeface="Courier New" panose="02070309020205020404" pitchFamily="49" charset="0"/>
              </a:rPr>
              <a:t>write()</a:t>
            </a:r>
            <a:r>
              <a:rPr lang="zh-CN" altLang="en-US" sz="1800" b="0" i="0" dirty="0">
                <a:solidFill>
                  <a:srgbClr val="262625"/>
                </a:solidFill>
                <a:effectLst/>
                <a:latin typeface="Times New Roman" panose="02020603050405020304" pitchFamily="18" charset="0"/>
              </a:rPr>
              <a:t>方法接受字符串输入。</a:t>
            </a:r>
          </a:p>
        </p:txBody>
      </p:sp>
    </p:spTree>
    <p:extLst>
      <p:ext uri="{BB962C8B-B14F-4D97-AF65-F5344CB8AC3E}">
        <p14:creationId xmlns:p14="http://schemas.microsoft.com/office/powerpoint/2010/main" val="159232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950172" y="1502203"/>
            <a:ext cx="9982200" cy="455552"/>
          </a:xfrm>
          <a:prstGeom prst="rect">
            <a:avLst/>
          </a:prstGeom>
        </p:spPr>
        <p:txBody>
          <a:bodyPr>
            <a:normAutofit fontScale="550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2900" dirty="0"/>
              <a:t>该方法能够将</a:t>
            </a:r>
            <a:r>
              <a:rPr lang="en-US" altLang="zh-CN" sz="2900" dirty="0"/>
              <a:t>obj</a:t>
            </a:r>
            <a:r>
              <a:rPr lang="zh-CN" altLang="en-US" sz="2900" dirty="0"/>
              <a:t>序列化成</a:t>
            </a:r>
            <a:r>
              <a:rPr lang="en-US" altLang="zh-CN" sz="2900" dirty="0"/>
              <a:t>JSON</a:t>
            </a:r>
            <a:r>
              <a:rPr lang="zh-CN" altLang="en-US" sz="2900" dirty="0"/>
              <a:t>格式的字符串并返回，其参数的含义与</a:t>
            </a:r>
            <a:r>
              <a:rPr lang="en-US" altLang="zh-CN" sz="2900" dirty="0"/>
              <a:t>dump()</a:t>
            </a:r>
            <a:r>
              <a:rPr lang="zh-CN" altLang="en-US" sz="2900" dirty="0"/>
              <a:t>中的相同。使用示例如下：</a:t>
            </a:r>
            <a:endParaRPr lang="zh-CN" altLang="en-US" sz="2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9.5.1 </a:t>
            </a:r>
            <a:r>
              <a:rPr lang="en-US" altLang="zh-CN" dirty="0" err="1">
                <a:solidFill>
                  <a:srgbClr val="0432FF"/>
                </a:solidFill>
                <a:latin typeface="Microsoft YaHei" panose="020B0503020204020204" pitchFamily="34" charset="-122"/>
                <a:ea typeface="Microsoft YaHei" panose="020B0503020204020204" pitchFamily="34" charset="-122"/>
              </a:rPr>
              <a:t>json.dump</a:t>
            </a:r>
            <a:r>
              <a:rPr lang="en-US" altLang="zh-CN" dirty="0">
                <a:solidFill>
                  <a:srgbClr val="0432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方法</a:t>
            </a:r>
          </a:p>
        </p:txBody>
      </p:sp>
      <p:pic>
        <p:nvPicPr>
          <p:cNvPr id="2" name="Picture 1">
            <a:extLst>
              <a:ext uri="{FF2B5EF4-FFF2-40B4-BE49-F238E27FC236}">
                <a16:creationId xmlns:a16="http://schemas.microsoft.com/office/drawing/2014/main" id="{7AF758C5-DB76-28E1-D99B-8282A2B01DE6}"/>
              </a:ext>
            </a:extLst>
          </p:cNvPr>
          <p:cNvPicPr>
            <a:picLocks noChangeAspect="1"/>
          </p:cNvPicPr>
          <p:nvPr/>
        </p:nvPicPr>
        <p:blipFill>
          <a:blip r:embed="rId3"/>
          <a:stretch>
            <a:fillRect/>
          </a:stretch>
        </p:blipFill>
        <p:spPr>
          <a:xfrm>
            <a:off x="1410928" y="2362996"/>
            <a:ext cx="6007100" cy="3365500"/>
          </a:xfrm>
          <a:prstGeom prst="rect">
            <a:avLst/>
          </a:prstGeom>
        </p:spPr>
      </p:pic>
      <p:grpSp>
        <p:nvGrpSpPr>
          <p:cNvPr id="11" name="组合 10">
            <a:extLst>
              <a:ext uri="{FF2B5EF4-FFF2-40B4-BE49-F238E27FC236}">
                <a16:creationId xmlns:a16="http://schemas.microsoft.com/office/drawing/2014/main" id="{1B9F83D5-8FE1-4C90-8663-C5C44006DB97}"/>
              </a:ext>
            </a:extLst>
          </p:cNvPr>
          <p:cNvGrpSpPr/>
          <p:nvPr/>
        </p:nvGrpSpPr>
        <p:grpSpPr>
          <a:xfrm>
            <a:off x="8282106" y="3994710"/>
            <a:ext cx="2498966" cy="905536"/>
            <a:chOff x="12132176" y="2839228"/>
            <a:chExt cx="4144285" cy="2351314"/>
          </a:xfr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8100000" scaled="1"/>
            <a:tileRect/>
          </a:gradFill>
        </p:grpSpPr>
        <p:sp>
          <p:nvSpPr>
            <p:cNvPr id="12" name="对话气泡: 椭圆形 11">
              <a:extLst>
                <a:ext uri="{FF2B5EF4-FFF2-40B4-BE49-F238E27FC236}">
                  <a16:creationId xmlns:a16="http://schemas.microsoft.com/office/drawing/2014/main" id="{DB5795CE-169D-428B-A33C-B598FBE99678}"/>
                </a:ext>
              </a:extLst>
            </p:cNvPr>
            <p:cNvSpPr/>
            <p:nvPr/>
          </p:nvSpPr>
          <p:spPr>
            <a:xfrm>
              <a:off x="12132176" y="2839228"/>
              <a:ext cx="4144285" cy="2351314"/>
            </a:xfrm>
            <a:prstGeom prst="wedgeEllipseCallout">
              <a:avLst>
                <a:gd name="adj1" fmla="val -89197"/>
                <a:gd name="adj2" fmla="val -53661"/>
              </a:avLst>
            </a:prstGeom>
            <a:grp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3" name="文本框 12">
              <a:extLst>
                <a:ext uri="{FF2B5EF4-FFF2-40B4-BE49-F238E27FC236}">
                  <a16:creationId xmlns:a16="http://schemas.microsoft.com/office/drawing/2014/main" id="{9C214BF0-C3C5-4BB0-AEF2-0FB83FF96B34}"/>
                </a:ext>
              </a:extLst>
            </p:cNvPr>
            <p:cNvSpPr txBox="1"/>
            <p:nvPr/>
          </p:nvSpPr>
          <p:spPr>
            <a:xfrm>
              <a:off x="12533854" y="3548409"/>
              <a:ext cx="3088491" cy="879089"/>
            </a:xfrm>
            <a:prstGeom prst="rect">
              <a:avLst/>
            </a:prstGeom>
            <a:grpFill/>
          </p:spPr>
          <p:txBody>
            <a:bodyPr wrap="square" rtlCol="0">
              <a:spAutoFit/>
            </a:bodyPr>
            <a:lstStyle/>
            <a:p>
              <a:r>
                <a:rPr lang="zh-CN" altLang="en-US" sz="1600" b="1" dirty="0">
                  <a:solidFill>
                    <a:schemeClr val="accent6">
                      <a:lumMod val="50000"/>
                    </a:schemeClr>
                  </a:solidFill>
                  <a:latin typeface="Consolas" panose="020B0609020204030204" pitchFamily="49" charset="0"/>
                </a:rPr>
                <a:t>序列化一个对象</a:t>
              </a:r>
              <a:endParaRPr lang="en-US" altLang="zh-CN" sz="1600" b="1" dirty="0">
                <a:solidFill>
                  <a:schemeClr val="accent6">
                    <a:lumMod val="50000"/>
                  </a:schemeClr>
                </a:solidFill>
                <a:latin typeface="Consolas" panose="020B0609020204030204" pitchFamily="49" charset="0"/>
              </a:endParaRPr>
            </a:p>
          </p:txBody>
        </p:sp>
      </p:grpSp>
    </p:spTree>
    <p:extLst>
      <p:ext uri="{BB962C8B-B14F-4D97-AF65-F5344CB8AC3E}">
        <p14:creationId xmlns:p14="http://schemas.microsoft.com/office/powerpoint/2010/main" val="346902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C666-4429-F74E-CA1B-A33CEEB88BC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CC0F74D-CE43-2335-9323-B3BBC1DB8F1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9.5.2 </a:t>
            </a:r>
            <a:r>
              <a:rPr lang="en-US" altLang="zh-CN" dirty="0" err="1">
                <a:solidFill>
                  <a:srgbClr val="0432FF"/>
                </a:solidFill>
                <a:latin typeface="Microsoft YaHei" panose="020B0503020204020204" pitchFamily="34" charset="-122"/>
                <a:ea typeface="Microsoft YaHei" panose="020B0503020204020204" pitchFamily="34" charset="-122"/>
              </a:rPr>
              <a:t>json.dumps</a:t>
            </a:r>
            <a:r>
              <a:rPr lang="en-US" altLang="zh-CN" dirty="0">
                <a:solidFill>
                  <a:srgbClr val="0432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方法</a:t>
            </a:r>
          </a:p>
        </p:txBody>
      </p:sp>
      <p:sp>
        <p:nvSpPr>
          <p:cNvPr id="4" name="TextBox 3">
            <a:extLst>
              <a:ext uri="{FF2B5EF4-FFF2-40B4-BE49-F238E27FC236}">
                <a16:creationId xmlns:a16="http://schemas.microsoft.com/office/drawing/2014/main" id="{E35DA585-FF2A-A6D5-F2EE-B18C7A88B2D4}"/>
              </a:ext>
            </a:extLst>
          </p:cNvPr>
          <p:cNvSpPr txBox="1"/>
          <p:nvPr/>
        </p:nvSpPr>
        <p:spPr>
          <a:xfrm>
            <a:off x="1664676" y="1429435"/>
            <a:ext cx="7373815"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调用格式为：</a:t>
            </a:r>
            <a:r>
              <a:rPr lang="en-US" b="1" i="0" dirty="0" err="1">
                <a:solidFill>
                  <a:srgbClr val="0432FF"/>
                </a:solidFill>
                <a:effectLst/>
                <a:latin typeface="Courier New" panose="02070309020205020404" pitchFamily="49" charset="0"/>
              </a:rPr>
              <a:t>json.dumps</a:t>
            </a:r>
            <a:r>
              <a:rPr lang="en-US" b="1" i="0" dirty="0">
                <a:solidFill>
                  <a:srgbClr val="0432FF"/>
                </a:solidFill>
                <a:effectLst/>
                <a:latin typeface="Courier New" panose="02070309020205020404" pitchFamily="49" charset="0"/>
              </a:rPr>
              <a:t>(data, </a:t>
            </a:r>
            <a:r>
              <a:rPr lang="en-US" b="1" i="0" dirty="0" err="1">
                <a:solidFill>
                  <a:srgbClr val="0432FF"/>
                </a:solidFill>
                <a:effectLst/>
                <a:latin typeface="Courier New" panose="02070309020205020404" pitchFamily="49" charset="0"/>
              </a:rPr>
              <a:t>ensure_ascii</a:t>
            </a:r>
            <a:r>
              <a:rPr lang="en-US" b="1" i="0" dirty="0">
                <a:solidFill>
                  <a:srgbClr val="0432FF"/>
                </a:solidFill>
                <a:effectLst/>
                <a:latin typeface="Courier New" panose="02070309020205020404" pitchFamily="49" charset="0"/>
              </a:rPr>
              <a:t>=True)</a:t>
            </a:r>
            <a:endParaRPr lang="zh-CN" altLang="en-US" b="1" dirty="0">
              <a:solidFill>
                <a:srgbClr val="0432FF"/>
              </a:solidFill>
            </a:endParaRPr>
          </a:p>
        </p:txBody>
      </p:sp>
      <p:sp>
        <p:nvSpPr>
          <p:cNvPr id="6" name="TextBox 5">
            <a:extLst>
              <a:ext uri="{FF2B5EF4-FFF2-40B4-BE49-F238E27FC236}">
                <a16:creationId xmlns:a16="http://schemas.microsoft.com/office/drawing/2014/main" id="{DD34A8DE-AABA-7184-7025-4722EB718CBE}"/>
              </a:ext>
            </a:extLst>
          </p:cNvPr>
          <p:cNvSpPr txBox="1"/>
          <p:nvPr/>
        </p:nvSpPr>
        <p:spPr>
          <a:xfrm>
            <a:off x="1464625" y="1914435"/>
            <a:ext cx="9261232" cy="12802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该方法用于将 </a:t>
            </a:r>
            <a:r>
              <a:rPr lang="en-US" b="0" i="0" dirty="0">
                <a:solidFill>
                  <a:srgbClr val="262625"/>
                </a:solidFill>
                <a:effectLst/>
                <a:latin typeface="Times New Roman" panose="02020603050405020304" pitchFamily="18" charset="0"/>
              </a:rPr>
              <a:t>Python </a:t>
            </a:r>
            <a:r>
              <a:rPr lang="zh-CN" altLang="en-US" b="0" i="0" dirty="0">
                <a:solidFill>
                  <a:srgbClr val="262625"/>
                </a:solidFill>
                <a:effectLst/>
                <a:latin typeface="Times New Roman" panose="02020603050405020304" pitchFamily="18" charset="0"/>
              </a:rPr>
              <a:t>对象（如字典、列表等）转换为 </a:t>
            </a:r>
            <a:r>
              <a:rPr lang="en-US" b="0" i="0" dirty="0">
                <a:solidFill>
                  <a:srgbClr val="262625"/>
                </a:solidFill>
                <a:effectLst/>
                <a:latin typeface="Times New Roman" panose="02020603050405020304" pitchFamily="18" charset="0"/>
              </a:rPr>
              <a:t>JSON </a:t>
            </a:r>
            <a:r>
              <a:rPr lang="zh-CN" altLang="en-US" b="0" i="0" dirty="0">
                <a:solidFill>
                  <a:srgbClr val="262625"/>
                </a:solidFill>
                <a:effectLst/>
                <a:latin typeface="Times New Roman" panose="02020603050405020304" pitchFamily="18" charset="0"/>
              </a:rPr>
              <a:t>格式的字符串。</a:t>
            </a:r>
            <a:endParaRPr lang="en-US" altLang="zh-CN" b="0" i="0" dirty="0">
              <a:solidFill>
                <a:srgbClr val="262625"/>
              </a:solidFill>
              <a:effectLst/>
              <a:latin typeface="Times New Roman" panose="02020603050405020304" pitchFamily="18" charset="0"/>
            </a:endParaRPr>
          </a:p>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与</a:t>
            </a:r>
            <a:r>
              <a:rPr lang="en-US" b="0" i="0" dirty="0" err="1">
                <a:solidFill>
                  <a:srgbClr val="6E6B5E"/>
                </a:solidFill>
                <a:effectLst/>
                <a:latin typeface="Courier New" panose="02070309020205020404" pitchFamily="49" charset="0"/>
              </a:rPr>
              <a:t>json.dump</a:t>
            </a:r>
            <a:r>
              <a:rPr lang="en-US" b="0" i="0" dirty="0">
                <a:solidFill>
                  <a:srgbClr val="6E6B5E"/>
                </a:solidFill>
                <a:effectLst/>
                <a:latin typeface="Courier New" panose="02070309020205020404" pitchFamily="49" charset="0"/>
              </a:rPr>
              <a:t>()</a:t>
            </a:r>
            <a:r>
              <a:rPr lang="zh-CN" altLang="en-US" b="0" i="0" dirty="0">
                <a:solidFill>
                  <a:srgbClr val="262625"/>
                </a:solidFill>
                <a:effectLst/>
                <a:latin typeface="Times New Roman" panose="02020603050405020304" pitchFamily="18" charset="0"/>
              </a:rPr>
              <a:t>不同，</a:t>
            </a:r>
            <a:r>
              <a:rPr lang="en-US" b="0" i="0" dirty="0" err="1">
                <a:solidFill>
                  <a:srgbClr val="6E6B5E"/>
                </a:solidFill>
                <a:effectLst/>
                <a:latin typeface="Courier New" panose="02070309020205020404" pitchFamily="49" charset="0"/>
              </a:rPr>
              <a:t>json.dumps</a:t>
            </a:r>
            <a:r>
              <a:rPr lang="en-US" b="0" i="0" dirty="0">
                <a:solidFill>
                  <a:srgbClr val="6E6B5E"/>
                </a:solidFill>
                <a:effectLst/>
                <a:latin typeface="Courier New" panose="02070309020205020404" pitchFamily="49" charset="0"/>
              </a:rPr>
              <a:t>()</a:t>
            </a:r>
            <a:r>
              <a:rPr lang="zh-CN" altLang="en-US" b="0" i="0" dirty="0">
                <a:solidFill>
                  <a:srgbClr val="262625"/>
                </a:solidFill>
                <a:effectLst/>
                <a:latin typeface="Times New Roman" panose="02020603050405020304" pitchFamily="18" charset="0"/>
              </a:rPr>
              <a:t>方法返回的是 </a:t>
            </a:r>
            <a:r>
              <a:rPr lang="en-US" b="0" i="0" dirty="0">
                <a:solidFill>
                  <a:srgbClr val="262625"/>
                </a:solidFill>
                <a:effectLst/>
                <a:latin typeface="Times New Roman" panose="02020603050405020304" pitchFamily="18" charset="0"/>
              </a:rPr>
              <a:t>JSON </a:t>
            </a:r>
            <a:r>
              <a:rPr lang="zh-CN" altLang="en-US" b="0" i="0" dirty="0">
                <a:solidFill>
                  <a:srgbClr val="262625"/>
                </a:solidFill>
                <a:effectLst/>
                <a:latin typeface="Times New Roman" panose="02020603050405020304" pitchFamily="18" charset="0"/>
              </a:rPr>
              <a:t>格式的字符串，而不是将其写入文件。</a:t>
            </a:r>
            <a:endParaRPr lang="zh-CN" altLang="en-US" dirty="0"/>
          </a:p>
        </p:txBody>
      </p:sp>
      <p:pic>
        <p:nvPicPr>
          <p:cNvPr id="7" name="Picture 6">
            <a:extLst>
              <a:ext uri="{FF2B5EF4-FFF2-40B4-BE49-F238E27FC236}">
                <a16:creationId xmlns:a16="http://schemas.microsoft.com/office/drawing/2014/main" id="{46D6054C-45BE-C554-429E-2E83B32CF2B3}"/>
              </a:ext>
            </a:extLst>
          </p:cNvPr>
          <p:cNvPicPr>
            <a:picLocks noChangeAspect="1"/>
          </p:cNvPicPr>
          <p:nvPr/>
        </p:nvPicPr>
        <p:blipFill>
          <a:blip r:embed="rId3"/>
          <a:stretch>
            <a:fillRect/>
          </a:stretch>
        </p:blipFill>
        <p:spPr>
          <a:xfrm>
            <a:off x="3474427" y="3194722"/>
            <a:ext cx="5829300" cy="2895600"/>
          </a:xfrm>
          <a:prstGeom prst="rect">
            <a:avLst/>
          </a:prstGeom>
        </p:spPr>
      </p:pic>
    </p:spTree>
    <p:extLst>
      <p:ext uri="{BB962C8B-B14F-4D97-AF65-F5344CB8AC3E}">
        <p14:creationId xmlns:p14="http://schemas.microsoft.com/office/powerpoint/2010/main" val="70439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9.5.3 </a:t>
            </a:r>
            <a:r>
              <a:rPr lang="en-US" altLang="zh-CN" dirty="0" err="1">
                <a:solidFill>
                  <a:srgbClr val="0432FF"/>
                </a:solidFill>
                <a:latin typeface="Microsoft YaHei" panose="020B0503020204020204" pitchFamily="34" charset="-122"/>
                <a:ea typeface="Microsoft YaHei" panose="020B0503020204020204" pitchFamily="34" charset="-122"/>
              </a:rPr>
              <a:t>json.load</a:t>
            </a:r>
            <a:r>
              <a:rPr lang="en-US" altLang="zh-CN" dirty="0">
                <a:solidFill>
                  <a:srgbClr val="0432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方法</a:t>
            </a:r>
          </a:p>
        </p:txBody>
      </p:sp>
      <p:sp>
        <p:nvSpPr>
          <p:cNvPr id="2" name="矩形 1">
            <a:extLst>
              <a:ext uri="{FF2B5EF4-FFF2-40B4-BE49-F238E27FC236}">
                <a16:creationId xmlns:a16="http://schemas.microsoft.com/office/drawing/2014/main" id="{28CD08BB-2DE1-4B5F-8425-BB91902C766B}"/>
              </a:ext>
            </a:extLst>
          </p:cNvPr>
          <p:cNvSpPr/>
          <p:nvPr/>
        </p:nvSpPr>
        <p:spPr>
          <a:xfrm>
            <a:off x="834510" y="2590977"/>
            <a:ext cx="4780844" cy="211929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该方法将一个支持 </a:t>
            </a:r>
            <a:r>
              <a:rPr lang="en-US" altLang="zh-CN" dirty="0"/>
              <a:t>.read()</a:t>
            </a:r>
            <a:r>
              <a:rPr lang="zh-CN" altLang="en-US" dirty="0"/>
              <a:t>方法并包含一个</a:t>
            </a:r>
            <a:r>
              <a:rPr lang="en-US" altLang="zh-CN" dirty="0"/>
              <a:t>JSON</a:t>
            </a:r>
            <a:r>
              <a:rPr lang="zh-CN" altLang="en-US" dirty="0"/>
              <a:t>文档的文本文件或者二进制文件的</a:t>
            </a:r>
            <a:r>
              <a:rPr lang="en-US" altLang="zh-CN" dirty="0" err="1"/>
              <a:t>fp</a:t>
            </a:r>
            <a:r>
              <a:rPr lang="zh-CN" altLang="en-US" dirty="0"/>
              <a:t>反序列化为一个</a:t>
            </a:r>
            <a:r>
              <a:rPr lang="en-US" altLang="zh-CN" dirty="0"/>
              <a:t>Python</a:t>
            </a:r>
            <a:r>
              <a:rPr lang="zh-CN" altLang="en-US" dirty="0"/>
              <a:t>对象。</a:t>
            </a:r>
            <a:endParaRPr lang="en-US" altLang="zh-CN" dirty="0"/>
          </a:p>
          <a:p>
            <a:pPr marL="285750" indent="-285750">
              <a:lnSpc>
                <a:spcPct val="150000"/>
              </a:lnSpc>
              <a:buFont typeface="Arial" panose="020B0604020202020204" pitchFamily="34" charset="0"/>
              <a:buChar char="•"/>
            </a:pPr>
            <a:r>
              <a:rPr lang="zh-CN" altLang="en-US" dirty="0"/>
              <a:t>如果要反序列化的数据不是有效的</a:t>
            </a:r>
            <a:r>
              <a:rPr lang="en-US" altLang="zh-CN" dirty="0"/>
              <a:t>JSON</a:t>
            </a:r>
            <a:r>
              <a:rPr lang="zh-CN" altLang="en-US" dirty="0"/>
              <a:t>文档，则会引发</a:t>
            </a:r>
            <a:r>
              <a:rPr lang="en-US" altLang="zh-CN" dirty="0" err="1"/>
              <a:t>JSONDecoderError</a:t>
            </a:r>
            <a:r>
              <a:rPr lang="zh-CN" altLang="en-US" dirty="0"/>
              <a:t>。</a:t>
            </a:r>
          </a:p>
        </p:txBody>
      </p:sp>
      <p:pic>
        <p:nvPicPr>
          <p:cNvPr id="3" name="Picture 2">
            <a:extLst>
              <a:ext uri="{FF2B5EF4-FFF2-40B4-BE49-F238E27FC236}">
                <a16:creationId xmlns:a16="http://schemas.microsoft.com/office/drawing/2014/main" id="{A3AD658D-BC99-E4CA-016A-0C935E7F693D}"/>
              </a:ext>
            </a:extLst>
          </p:cNvPr>
          <p:cNvPicPr>
            <a:picLocks noChangeAspect="1"/>
          </p:cNvPicPr>
          <p:nvPr/>
        </p:nvPicPr>
        <p:blipFill>
          <a:blip r:embed="rId3"/>
          <a:stretch>
            <a:fillRect/>
          </a:stretch>
        </p:blipFill>
        <p:spPr>
          <a:xfrm>
            <a:off x="5734617" y="2452099"/>
            <a:ext cx="6057900" cy="334010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B0A2C6F2-E4C1-1D7C-23B3-2FEE1A6B1C49}"/>
              </a:ext>
            </a:extLst>
          </p:cNvPr>
          <p:cNvSpPr txBox="1"/>
          <p:nvPr/>
        </p:nvSpPr>
        <p:spPr>
          <a:xfrm>
            <a:off x="1104141" y="1520426"/>
            <a:ext cx="6931638"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调用格式为：</a:t>
            </a:r>
            <a:r>
              <a:rPr lang="en-US" b="1" i="0" dirty="0" err="1">
                <a:solidFill>
                  <a:srgbClr val="0432FF"/>
                </a:solidFill>
                <a:effectLst/>
                <a:latin typeface="Courier New" panose="02070309020205020404" pitchFamily="49" charset="0"/>
              </a:rPr>
              <a:t>json.dumps</a:t>
            </a:r>
            <a:r>
              <a:rPr lang="en-US" b="1" i="0" dirty="0">
                <a:solidFill>
                  <a:srgbClr val="0432FF"/>
                </a:solidFill>
                <a:effectLst/>
                <a:latin typeface="Courier New" panose="02070309020205020404" pitchFamily="49" charset="0"/>
              </a:rPr>
              <a:t>(data, </a:t>
            </a:r>
            <a:r>
              <a:rPr lang="en-US" b="1" i="0" dirty="0" err="1">
                <a:solidFill>
                  <a:srgbClr val="0432FF"/>
                </a:solidFill>
                <a:effectLst/>
                <a:latin typeface="Courier New" panose="02070309020205020404" pitchFamily="49" charset="0"/>
              </a:rPr>
              <a:t>ensure_ascii</a:t>
            </a:r>
            <a:r>
              <a:rPr lang="en-US" b="1" i="0" dirty="0">
                <a:solidFill>
                  <a:srgbClr val="0432FF"/>
                </a:solidFill>
                <a:effectLst/>
                <a:latin typeface="Courier New" panose="02070309020205020404" pitchFamily="49" charset="0"/>
              </a:rPr>
              <a:t>=True)</a:t>
            </a:r>
            <a:endParaRPr lang="zh-CN" altLang="en-US" b="1" dirty="0">
              <a:solidFill>
                <a:srgbClr val="0432FF"/>
              </a:solidFill>
            </a:endParaRPr>
          </a:p>
        </p:txBody>
      </p:sp>
    </p:spTree>
    <p:extLst>
      <p:ext uri="{BB962C8B-B14F-4D97-AF65-F5344CB8AC3E}">
        <p14:creationId xmlns:p14="http://schemas.microsoft.com/office/powerpoint/2010/main" val="3628111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718567"/>
            <a:ext cx="9982200" cy="92647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lvl="1">
              <a:lnSpc>
                <a:spcPct val="150000"/>
              </a:lnSpc>
              <a:spcBef>
                <a:spcPts val="0"/>
              </a:spcBef>
            </a:pPr>
            <a:r>
              <a:rPr lang="zh-CN" altLang="en-US" sz="1900" dirty="0"/>
              <a:t>该方法将</a:t>
            </a:r>
            <a:r>
              <a:rPr lang="en-US" altLang="zh-CN" sz="1900" dirty="0"/>
              <a:t>s</a:t>
            </a:r>
            <a:r>
              <a:rPr lang="zh-CN" altLang="en-US" sz="1900" dirty="0"/>
              <a:t>反序列化为</a:t>
            </a:r>
            <a:r>
              <a:rPr lang="en-US" altLang="zh-CN" sz="1900" dirty="0"/>
              <a:t>Python</a:t>
            </a:r>
            <a:r>
              <a:rPr lang="zh-CN" altLang="en-US" sz="1900" dirty="0"/>
              <a:t>对象，</a:t>
            </a:r>
            <a:r>
              <a:rPr lang="en-US" altLang="zh-CN" sz="1900" dirty="0"/>
              <a:t>s</a:t>
            </a:r>
            <a:r>
              <a:rPr lang="zh-CN" altLang="en-US" sz="1900" dirty="0"/>
              <a:t>可为一个包含</a:t>
            </a:r>
            <a:r>
              <a:rPr lang="en-US" altLang="zh-CN" sz="1900" dirty="0"/>
              <a:t>JSON</a:t>
            </a:r>
            <a:r>
              <a:rPr lang="zh-CN" altLang="en-US" sz="1900" dirty="0"/>
              <a:t>文档的字符串、字节对象或字节数组。其他参数与在</a:t>
            </a:r>
            <a:r>
              <a:rPr lang="en-US" altLang="zh-CN" sz="1900" dirty="0"/>
              <a:t>load()</a:t>
            </a:r>
            <a:r>
              <a:rPr lang="zh-CN" altLang="en-US" sz="1900" dirty="0"/>
              <a:t>中的含义相同。使用示例如下：</a:t>
            </a:r>
            <a:endParaRPr lang="zh-CN" altLang="en-US" sz="22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9.5.4 </a:t>
            </a:r>
            <a:r>
              <a:rPr lang="en-US" altLang="zh-CN" dirty="0" err="1">
                <a:solidFill>
                  <a:srgbClr val="0432FF"/>
                </a:solidFill>
                <a:latin typeface="Microsoft YaHei" panose="020B0503020204020204" pitchFamily="34" charset="-122"/>
                <a:ea typeface="Microsoft YaHei" panose="020B0503020204020204" pitchFamily="34" charset="-122"/>
              </a:rPr>
              <a:t>json.loads</a:t>
            </a:r>
            <a:r>
              <a:rPr lang="en-US" altLang="zh-CN" dirty="0">
                <a:solidFill>
                  <a:srgbClr val="0432FF"/>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方法</a:t>
            </a:r>
          </a:p>
        </p:txBody>
      </p:sp>
      <p:grpSp>
        <p:nvGrpSpPr>
          <p:cNvPr id="8" name="组合 7">
            <a:extLst>
              <a:ext uri="{FF2B5EF4-FFF2-40B4-BE49-F238E27FC236}">
                <a16:creationId xmlns:a16="http://schemas.microsoft.com/office/drawing/2014/main" id="{94DD6D9A-6A06-4C23-82E5-67E3629AF05B}"/>
              </a:ext>
            </a:extLst>
          </p:cNvPr>
          <p:cNvGrpSpPr/>
          <p:nvPr/>
        </p:nvGrpSpPr>
        <p:grpSpPr>
          <a:xfrm>
            <a:off x="7952952" y="4337060"/>
            <a:ext cx="3477685" cy="1415363"/>
            <a:chOff x="12132176" y="2839228"/>
            <a:chExt cx="4144285" cy="2351314"/>
          </a:xfr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0800000" scaled="1"/>
            <a:tileRect/>
          </a:gradFill>
        </p:grpSpPr>
        <p:sp>
          <p:nvSpPr>
            <p:cNvPr id="10" name="对话气泡: 椭圆形 9">
              <a:extLst>
                <a:ext uri="{FF2B5EF4-FFF2-40B4-BE49-F238E27FC236}">
                  <a16:creationId xmlns:a16="http://schemas.microsoft.com/office/drawing/2014/main" id="{12B16B4A-9D93-4687-9C5D-7F123D967EB0}"/>
                </a:ext>
              </a:extLst>
            </p:cNvPr>
            <p:cNvSpPr/>
            <p:nvPr/>
          </p:nvSpPr>
          <p:spPr>
            <a:xfrm>
              <a:off x="12132176" y="2839228"/>
              <a:ext cx="4144285" cy="2351314"/>
            </a:xfrm>
            <a:prstGeom prst="wedgeEllipseCallout">
              <a:avLst>
                <a:gd name="adj1" fmla="val -59384"/>
                <a:gd name="adj2" fmla="val -73197"/>
              </a:avLst>
            </a:prstGeom>
            <a:grp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1" name="文本框 10">
              <a:extLst>
                <a:ext uri="{FF2B5EF4-FFF2-40B4-BE49-F238E27FC236}">
                  <a16:creationId xmlns:a16="http://schemas.microsoft.com/office/drawing/2014/main" id="{2DBFD6A3-BA3B-4DE1-B279-396A73F50858}"/>
                </a:ext>
              </a:extLst>
            </p:cNvPr>
            <p:cNvSpPr txBox="1"/>
            <p:nvPr/>
          </p:nvSpPr>
          <p:spPr>
            <a:xfrm>
              <a:off x="12533853" y="3548412"/>
              <a:ext cx="3601617" cy="971475"/>
            </a:xfrm>
            <a:prstGeom prst="rect">
              <a:avLst/>
            </a:prstGeom>
            <a:grpFill/>
            <a:ln>
              <a:noFill/>
            </a:ln>
          </p:spPr>
          <p:txBody>
            <a:bodyPr wrap="square" rtlCol="0">
              <a:spAutoFit/>
            </a:bodyPr>
            <a:lstStyle/>
            <a:p>
              <a:r>
                <a:rPr lang="zh-CN" altLang="en-US" sz="1600" b="1" dirty="0">
                  <a:solidFill>
                    <a:schemeClr val="accent6">
                      <a:lumMod val="50000"/>
                    </a:schemeClr>
                  </a:solidFill>
                  <a:latin typeface="Consolas" panose="020B0609020204030204" pitchFamily="49" charset="0"/>
                </a:rPr>
                <a:t>将</a:t>
              </a:r>
              <a:r>
                <a:rPr lang="en-US" altLang="zh-CN" sz="1600" b="1" dirty="0">
                  <a:solidFill>
                    <a:schemeClr val="accent6">
                      <a:lumMod val="50000"/>
                    </a:schemeClr>
                  </a:solidFill>
                  <a:latin typeface="Consolas" panose="020B0609020204030204" pitchFamily="49" charset="0"/>
                </a:rPr>
                <a:t>JSON</a:t>
              </a:r>
              <a:r>
                <a:rPr lang="zh-CN" altLang="en-US" sz="1600" b="1" dirty="0">
                  <a:solidFill>
                    <a:schemeClr val="accent6">
                      <a:lumMod val="50000"/>
                    </a:schemeClr>
                  </a:solidFill>
                  <a:latin typeface="Consolas" panose="020B0609020204030204" pitchFamily="49" charset="0"/>
                </a:rPr>
                <a:t>格式反序列化（解码）为</a:t>
              </a:r>
              <a:r>
                <a:rPr lang="en-US" altLang="zh-CN" sz="1600" b="1" dirty="0">
                  <a:solidFill>
                    <a:schemeClr val="accent6">
                      <a:lumMod val="50000"/>
                    </a:schemeClr>
                  </a:solidFill>
                  <a:latin typeface="Consolas" panose="020B0609020204030204" pitchFamily="49" charset="0"/>
                </a:rPr>
                <a:t>Python</a:t>
              </a:r>
              <a:r>
                <a:rPr lang="zh-CN" altLang="en-US" sz="1600" b="1" dirty="0">
                  <a:solidFill>
                    <a:schemeClr val="accent6">
                      <a:lumMod val="50000"/>
                    </a:schemeClr>
                  </a:solidFill>
                  <a:latin typeface="Consolas" panose="020B0609020204030204" pitchFamily="49" charset="0"/>
                </a:rPr>
                <a:t>对象</a:t>
              </a:r>
            </a:p>
          </p:txBody>
        </p:sp>
      </p:grpSp>
      <p:pic>
        <p:nvPicPr>
          <p:cNvPr id="3" name="Picture 2">
            <a:extLst>
              <a:ext uri="{FF2B5EF4-FFF2-40B4-BE49-F238E27FC236}">
                <a16:creationId xmlns:a16="http://schemas.microsoft.com/office/drawing/2014/main" id="{B5E9AB81-579E-8B1E-C9E1-CA13AB3E99D0}"/>
              </a:ext>
            </a:extLst>
          </p:cNvPr>
          <p:cNvPicPr>
            <a:picLocks noChangeAspect="1"/>
          </p:cNvPicPr>
          <p:nvPr/>
        </p:nvPicPr>
        <p:blipFill>
          <a:blip r:embed="rId3"/>
          <a:stretch>
            <a:fillRect/>
          </a:stretch>
        </p:blipFill>
        <p:spPr>
          <a:xfrm>
            <a:off x="1691597" y="3139154"/>
            <a:ext cx="5829300" cy="2882900"/>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F0D3D95D-61BC-1B5F-A146-6E7D351536CF}"/>
              </a:ext>
            </a:extLst>
          </p:cNvPr>
          <p:cNvSpPr txBox="1"/>
          <p:nvPr/>
        </p:nvSpPr>
        <p:spPr>
          <a:xfrm>
            <a:off x="1307666" y="1385582"/>
            <a:ext cx="6096000"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调用格式为：</a:t>
            </a:r>
            <a:r>
              <a:rPr lang="en-US" b="1" i="0" dirty="0" err="1">
                <a:solidFill>
                  <a:srgbClr val="0432FF"/>
                </a:solidFill>
                <a:effectLst/>
                <a:latin typeface="Courier New" panose="02070309020205020404" pitchFamily="49" charset="0"/>
              </a:rPr>
              <a:t>json.loads</a:t>
            </a:r>
            <a:r>
              <a:rPr lang="en-US" b="1" i="0" dirty="0">
                <a:solidFill>
                  <a:srgbClr val="0432FF"/>
                </a:solidFill>
                <a:effectLst/>
                <a:latin typeface="Courier New" panose="02070309020205020404" pitchFamily="49" charset="0"/>
              </a:rPr>
              <a:t>(</a:t>
            </a:r>
            <a:r>
              <a:rPr lang="en-US" b="1" i="0" dirty="0" err="1">
                <a:solidFill>
                  <a:srgbClr val="0432FF"/>
                </a:solidFill>
                <a:effectLst/>
                <a:latin typeface="Courier New" panose="02070309020205020404" pitchFamily="49" charset="0"/>
              </a:rPr>
              <a:t>json_str</a:t>
            </a:r>
            <a:r>
              <a:rPr lang="en-US" b="1" i="0" dirty="0">
                <a:solidFill>
                  <a:srgbClr val="0432FF"/>
                </a:solidFill>
                <a:effectLst/>
                <a:latin typeface="Courier New" panose="02070309020205020404" pitchFamily="49" charset="0"/>
              </a:rPr>
              <a:t>)</a:t>
            </a:r>
            <a:endParaRPr lang="zh-CN" altLang="en-US" b="1" dirty="0">
              <a:solidFill>
                <a:srgbClr val="0432FF"/>
              </a:solidFill>
            </a:endParaRPr>
          </a:p>
        </p:txBody>
      </p:sp>
    </p:spTree>
    <p:extLst>
      <p:ext uri="{BB962C8B-B14F-4D97-AF65-F5344CB8AC3E}">
        <p14:creationId xmlns:p14="http://schemas.microsoft.com/office/powerpoint/2010/main" val="180071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04D600-2E86-4E69-1AEA-56DA2BA1827F}"/>
              </a:ext>
            </a:extLst>
          </p:cNvPr>
          <p:cNvPicPr>
            <a:picLocks noChangeAspect="1"/>
          </p:cNvPicPr>
          <p:nvPr/>
        </p:nvPicPr>
        <p:blipFill>
          <a:blip r:embed="rId2"/>
          <a:stretch>
            <a:fillRect/>
          </a:stretch>
        </p:blipFill>
        <p:spPr>
          <a:xfrm>
            <a:off x="448559" y="378077"/>
            <a:ext cx="4962561" cy="2392979"/>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1D2F4A27-26AD-DA0B-8C6E-DE4E89857EF9}"/>
              </a:ext>
            </a:extLst>
          </p:cNvPr>
          <p:cNvPicPr>
            <a:picLocks noChangeAspect="1"/>
          </p:cNvPicPr>
          <p:nvPr/>
        </p:nvPicPr>
        <p:blipFill>
          <a:blip r:embed="rId3"/>
          <a:stretch>
            <a:fillRect/>
          </a:stretch>
        </p:blipFill>
        <p:spPr>
          <a:xfrm>
            <a:off x="448559" y="3131356"/>
            <a:ext cx="4700936" cy="1654729"/>
          </a:xfrm>
          <a:prstGeom prst="rect">
            <a:avLst/>
          </a:prstGeom>
        </p:spPr>
      </p:pic>
      <p:sp>
        <p:nvSpPr>
          <p:cNvPr id="5" name="TextBox 4">
            <a:extLst>
              <a:ext uri="{FF2B5EF4-FFF2-40B4-BE49-F238E27FC236}">
                <a16:creationId xmlns:a16="http://schemas.microsoft.com/office/drawing/2014/main" id="{AE98B139-E3AA-F79B-E375-DC3D53314CEB}"/>
              </a:ext>
            </a:extLst>
          </p:cNvPr>
          <p:cNvSpPr txBox="1"/>
          <p:nvPr/>
        </p:nvSpPr>
        <p:spPr>
          <a:xfrm>
            <a:off x="448559" y="2781929"/>
            <a:ext cx="3213315" cy="338554"/>
          </a:xfrm>
          <a:prstGeom prst="rect">
            <a:avLst/>
          </a:prstGeom>
          <a:noFill/>
        </p:spPr>
        <p:txBody>
          <a:bodyPr wrap="square">
            <a:spAutoFit/>
          </a:bodyPr>
          <a:lstStyle/>
          <a:p>
            <a:r>
              <a:rPr lang="en-US" sz="1600" dirty="0" err="1">
                <a:solidFill>
                  <a:srgbClr val="0432FF"/>
                </a:solidFill>
              </a:rPr>
              <a:t>horoscope_data.json</a:t>
            </a:r>
            <a:r>
              <a:rPr lang="en-US" sz="1600" b="0" i="0" dirty="0">
                <a:solidFill>
                  <a:srgbClr val="0432FF"/>
                </a:solidFill>
                <a:effectLst/>
                <a:latin typeface="Lato" panose="020F0502020204030204" pitchFamily="34" charset="0"/>
              </a:rPr>
              <a:t> </a:t>
            </a:r>
            <a:r>
              <a:rPr lang="en-US" sz="1600" b="0" i="0" dirty="0">
                <a:solidFill>
                  <a:srgbClr val="0A0A23"/>
                </a:solidFill>
                <a:effectLst/>
                <a:latin typeface="Lato" panose="020F0502020204030204" pitchFamily="34" charset="0"/>
              </a:rPr>
              <a:t>file</a:t>
            </a:r>
            <a:endParaRPr lang="zh-CN" altLang="en-US" sz="1600" dirty="0"/>
          </a:p>
        </p:txBody>
      </p:sp>
      <p:pic>
        <p:nvPicPr>
          <p:cNvPr id="6" name="Picture 5">
            <a:extLst>
              <a:ext uri="{FF2B5EF4-FFF2-40B4-BE49-F238E27FC236}">
                <a16:creationId xmlns:a16="http://schemas.microsoft.com/office/drawing/2014/main" id="{6501FBFD-1FD2-798B-9474-3907D76D3072}"/>
              </a:ext>
            </a:extLst>
          </p:cNvPr>
          <p:cNvPicPr>
            <a:picLocks noChangeAspect="1"/>
          </p:cNvPicPr>
          <p:nvPr/>
        </p:nvPicPr>
        <p:blipFill>
          <a:blip r:embed="rId4"/>
          <a:stretch>
            <a:fillRect/>
          </a:stretch>
        </p:blipFill>
        <p:spPr>
          <a:xfrm>
            <a:off x="2044941" y="4334408"/>
            <a:ext cx="4138967" cy="2392979"/>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499E065F-CA93-63C3-DB6F-7CF1737C7FB2}"/>
              </a:ext>
            </a:extLst>
          </p:cNvPr>
          <p:cNvPicPr>
            <a:picLocks noChangeAspect="1"/>
          </p:cNvPicPr>
          <p:nvPr/>
        </p:nvPicPr>
        <p:blipFill>
          <a:blip r:embed="rId5"/>
          <a:stretch>
            <a:fillRect/>
          </a:stretch>
        </p:blipFill>
        <p:spPr>
          <a:xfrm>
            <a:off x="6745877" y="364175"/>
            <a:ext cx="4799698" cy="5267719"/>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E1F61D9F-5145-48F6-3393-25AC24FD7D99}"/>
              </a:ext>
            </a:extLst>
          </p:cNvPr>
          <p:cNvPicPr>
            <a:picLocks noChangeAspect="1"/>
          </p:cNvPicPr>
          <p:nvPr/>
        </p:nvPicPr>
        <p:blipFill>
          <a:blip r:embed="rId6"/>
          <a:stretch>
            <a:fillRect/>
          </a:stretch>
        </p:blipFill>
        <p:spPr>
          <a:xfrm>
            <a:off x="6745877" y="6012735"/>
            <a:ext cx="3452531" cy="481090"/>
          </a:xfrm>
          <a:prstGeom prst="rect">
            <a:avLst/>
          </a:prstGeom>
          <a:effectLst>
            <a:outerShdw blurRad="63500" sx="102000" sy="102000" algn="ctr" rotWithShape="0">
              <a:prstClr val="black">
                <a:alpha val="40000"/>
              </a:prstClr>
            </a:outerShdw>
          </a:effectLst>
        </p:spPr>
      </p:pic>
      <p:sp>
        <p:nvSpPr>
          <p:cNvPr id="11" name="TextBox 10">
            <a:extLst>
              <a:ext uri="{FF2B5EF4-FFF2-40B4-BE49-F238E27FC236}">
                <a16:creationId xmlns:a16="http://schemas.microsoft.com/office/drawing/2014/main" id="{389CDD0B-2B20-5B08-4108-77FC14057E73}"/>
              </a:ext>
            </a:extLst>
          </p:cNvPr>
          <p:cNvSpPr txBox="1"/>
          <p:nvPr/>
        </p:nvSpPr>
        <p:spPr>
          <a:xfrm>
            <a:off x="6717807" y="5674181"/>
            <a:ext cx="2869059" cy="338554"/>
          </a:xfrm>
          <a:prstGeom prst="rect">
            <a:avLst/>
          </a:prstGeom>
          <a:noFill/>
        </p:spPr>
        <p:txBody>
          <a:bodyPr wrap="square">
            <a:spAutoFit/>
          </a:bodyPr>
          <a:lstStyle/>
          <a:p>
            <a:r>
              <a:rPr lang="en-US" sz="1600" b="0" i="0" dirty="0">
                <a:solidFill>
                  <a:srgbClr val="0432FF"/>
                </a:solidFill>
                <a:effectLst/>
                <a:latin typeface="Lato" panose="020F0502020204030203" pitchFamily="34" charset="0"/>
              </a:rPr>
              <a:t>The output will be:</a:t>
            </a:r>
            <a:endParaRPr lang="zh-CN" altLang="en-US" sz="1600" dirty="0">
              <a:solidFill>
                <a:srgbClr val="0432FF"/>
              </a:solidFill>
            </a:endParaRPr>
          </a:p>
        </p:txBody>
      </p:sp>
    </p:spTree>
    <p:extLst>
      <p:ext uri="{BB962C8B-B14F-4D97-AF65-F5344CB8AC3E}">
        <p14:creationId xmlns:p14="http://schemas.microsoft.com/office/powerpoint/2010/main" val="42371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par>
                                <p:cTn id="18" presetID="3" presetClass="entr" presetSubtype="1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b="1" dirty="0">
                <a:latin typeface="Microsoft YaHei" panose="020B0503020204020204" pitchFamily="34" charset="-122"/>
                <a:ea typeface="Microsoft YaHei" panose="020B0503020204020204" pitchFamily="34" charset="-122"/>
              </a:rPr>
              <a:t>9.6 </a:t>
            </a:r>
            <a:r>
              <a:rPr lang="en-US" altLang="zh-CN" b="1" dirty="0" err="1">
                <a:latin typeface="Microsoft YaHei" panose="020B0503020204020204" pitchFamily="34" charset="-122"/>
                <a:ea typeface="Microsoft YaHei" panose="020B0503020204020204" pitchFamily="34" charset="-122"/>
              </a:rPr>
              <a:t>sql</a:t>
            </a:r>
            <a:r>
              <a:rPr lang="zh-CN" altLang="en-US" b="1" dirty="0">
                <a:latin typeface="Microsoft YaHei" panose="020B0503020204020204" pitchFamily="34" charset="-122"/>
                <a:ea typeface="Microsoft YaHei" panose="020B0503020204020204" pitchFamily="34" charset="-122"/>
              </a:rPr>
              <a:t>文件读写</a:t>
            </a:r>
            <a:r>
              <a:rPr lang="en-US" altLang="zh-CN" b="1" dirty="0">
                <a:latin typeface="Microsoft YaHei" panose="020B0503020204020204" pitchFamily="34" charset="-122"/>
                <a:ea typeface="Microsoft YaHei" panose="020B0503020204020204" pitchFamily="34" charset="-122"/>
              </a:rPr>
              <a:t>(SL)</a:t>
            </a:r>
            <a:endParaRPr lang="en-US"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87111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atabase Management System | What Is DBMS | Types Of DBMS">
            <a:extLst>
              <a:ext uri="{FF2B5EF4-FFF2-40B4-BE49-F238E27FC236}">
                <a16:creationId xmlns:a16="http://schemas.microsoft.com/office/drawing/2014/main" id="{E70FE87F-8FF9-E397-A8ED-5A4A26461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05" y="391289"/>
            <a:ext cx="5827550" cy="290540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descr="Introduction to Database Systems">
            <a:extLst>
              <a:ext uri="{FF2B5EF4-FFF2-40B4-BE49-F238E27FC236}">
                <a16:creationId xmlns:a16="http://schemas.microsoft.com/office/drawing/2014/main" id="{273164D8-52FA-3A7A-9BA8-380618189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950" y="391289"/>
            <a:ext cx="4694732" cy="2948757"/>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E99FDB9-9C0C-2F4D-8E87-808822CE8C48}"/>
              </a:ext>
            </a:extLst>
          </p:cNvPr>
          <p:cNvSpPr txBox="1"/>
          <p:nvPr/>
        </p:nvSpPr>
        <p:spPr>
          <a:xfrm>
            <a:off x="435505" y="3423248"/>
            <a:ext cx="6459280" cy="11553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b="0" i="0" dirty="0">
                <a:solidFill>
                  <a:schemeClr val="tx2">
                    <a:lumMod val="65000"/>
                    <a:lumOff val="35000"/>
                  </a:schemeClr>
                </a:solidFill>
                <a:effectLst/>
                <a:latin typeface="Open Sans" panose="020B0606030504020204" pitchFamily="34" charset="0"/>
              </a:rPr>
              <a:t>如果需要</a:t>
            </a:r>
            <a:r>
              <a:rPr lang="zh-CN" altLang="en-US" sz="1600" b="0" i="0" dirty="0">
                <a:solidFill>
                  <a:srgbClr val="0432FF"/>
                </a:solidFill>
                <a:effectLst/>
                <a:latin typeface="Open Sans" panose="020B0606030504020204" pitchFamily="34" charset="0"/>
              </a:rPr>
              <a:t>一个简单的数据库</a:t>
            </a:r>
            <a:r>
              <a:rPr lang="zh-CN" altLang="en-US" sz="1600" b="0" i="0" dirty="0">
                <a:solidFill>
                  <a:schemeClr val="tx2">
                    <a:lumMod val="65000"/>
                    <a:lumOff val="35000"/>
                  </a:schemeClr>
                </a:solidFill>
                <a:effectLst/>
                <a:latin typeface="Open Sans" panose="020B0606030504020204" pitchFamily="34" charset="0"/>
              </a:rPr>
              <a:t>来在应用程序中本地管理数据怎么办？</a:t>
            </a:r>
            <a:endParaRPr lang="en-US" altLang="zh-CN" sz="1600" b="0" i="0" dirty="0">
              <a:solidFill>
                <a:schemeClr val="tx2">
                  <a:lumMod val="65000"/>
                  <a:lumOff val="35000"/>
                </a:schemeClr>
              </a:solidFill>
              <a:effectLst/>
              <a:latin typeface="Open Sans" panose="020B0606030504020204" pitchFamily="34" charset="0"/>
            </a:endParaRPr>
          </a:p>
          <a:p>
            <a:pPr marL="285750" indent="-285750">
              <a:lnSpc>
                <a:spcPct val="150000"/>
              </a:lnSpc>
              <a:buFont typeface="Arial" panose="020B0604020202020204" pitchFamily="34" charset="0"/>
              <a:buChar char="•"/>
            </a:pPr>
            <a:r>
              <a:rPr lang="zh-CN" altLang="en-US" sz="1600" b="0" i="0" dirty="0">
                <a:solidFill>
                  <a:schemeClr val="tx2">
                    <a:lumMod val="65000"/>
                    <a:lumOff val="35000"/>
                  </a:schemeClr>
                </a:solidFill>
                <a:effectLst/>
                <a:latin typeface="Open Sans" panose="020B0606030504020204" pitchFamily="34" charset="0"/>
              </a:rPr>
              <a:t>如果</a:t>
            </a:r>
            <a:r>
              <a:rPr lang="zh-CN" altLang="en-US" sz="1600" b="0" i="0" dirty="0">
                <a:solidFill>
                  <a:srgbClr val="0432FF"/>
                </a:solidFill>
                <a:effectLst/>
                <a:latin typeface="Open Sans" panose="020B0606030504020204" pitchFamily="34" charset="0"/>
              </a:rPr>
              <a:t>不需要通过网络管理</a:t>
            </a:r>
            <a:r>
              <a:rPr lang="zh-CN" altLang="en-US" sz="1600" b="0" i="0" dirty="0">
                <a:solidFill>
                  <a:schemeClr val="tx2">
                    <a:lumMod val="65000"/>
                    <a:lumOff val="35000"/>
                  </a:schemeClr>
                </a:solidFill>
                <a:effectLst/>
                <a:latin typeface="Open Sans" panose="020B0606030504020204" pitchFamily="34" charset="0"/>
              </a:rPr>
              <a:t>远程数据怎么办？</a:t>
            </a:r>
            <a:endParaRPr lang="en-US" altLang="zh-CN" sz="1600" b="0" i="0" dirty="0">
              <a:solidFill>
                <a:schemeClr val="tx2">
                  <a:lumMod val="65000"/>
                  <a:lumOff val="35000"/>
                </a:schemeClr>
              </a:solidFill>
              <a:effectLst/>
              <a:latin typeface="Open Sans" panose="020B0606030504020204" pitchFamily="34" charset="0"/>
            </a:endParaRPr>
          </a:p>
          <a:p>
            <a:pPr marL="285750" indent="-285750">
              <a:lnSpc>
                <a:spcPct val="150000"/>
              </a:lnSpc>
              <a:buFont typeface="Arial" panose="020B0604020202020204" pitchFamily="34" charset="0"/>
              <a:buChar char="•"/>
            </a:pPr>
            <a:r>
              <a:rPr lang="zh-CN" altLang="en-US" sz="1600" b="0" i="0" dirty="0">
                <a:solidFill>
                  <a:schemeClr val="tx2">
                    <a:lumMod val="65000"/>
                    <a:lumOff val="35000"/>
                  </a:schemeClr>
                </a:solidFill>
                <a:effectLst/>
                <a:latin typeface="Open Sans" panose="020B0606030504020204" pitchFamily="34" charset="0"/>
              </a:rPr>
              <a:t>如果</a:t>
            </a:r>
            <a:r>
              <a:rPr lang="zh-CN" altLang="en-US" sz="1600" b="0" i="0" dirty="0">
                <a:solidFill>
                  <a:srgbClr val="0432FF"/>
                </a:solidFill>
                <a:effectLst/>
                <a:latin typeface="Open Sans" panose="020B0606030504020204" pitchFamily="34" charset="0"/>
              </a:rPr>
              <a:t>没有大量客户端</a:t>
            </a:r>
            <a:r>
              <a:rPr lang="zh-CN" altLang="en-US" sz="1600" b="0" i="0" dirty="0">
                <a:solidFill>
                  <a:schemeClr val="tx2">
                    <a:lumMod val="65000"/>
                    <a:lumOff val="35000"/>
                  </a:schemeClr>
                </a:solidFill>
                <a:effectLst/>
                <a:latin typeface="Open Sans" panose="020B0606030504020204" pitchFamily="34" charset="0"/>
              </a:rPr>
              <a:t>同时写入数据库怎么办？</a:t>
            </a:r>
            <a:endParaRPr kumimoji="1" lang="zh-CN" altLang="en-US" sz="1600" dirty="0">
              <a:solidFill>
                <a:schemeClr val="tx2">
                  <a:lumMod val="65000"/>
                  <a:lumOff val="35000"/>
                </a:schemeClr>
              </a:solidFill>
            </a:endParaRPr>
          </a:p>
        </p:txBody>
      </p:sp>
      <p:sp>
        <p:nvSpPr>
          <p:cNvPr id="3" name="TextBox 2">
            <a:extLst>
              <a:ext uri="{FF2B5EF4-FFF2-40B4-BE49-F238E27FC236}">
                <a16:creationId xmlns:a16="http://schemas.microsoft.com/office/drawing/2014/main" id="{4EE0742E-3EF9-33E4-CD09-014C7116BD24}"/>
              </a:ext>
            </a:extLst>
          </p:cNvPr>
          <p:cNvSpPr txBox="1"/>
          <p:nvPr/>
        </p:nvSpPr>
        <p:spPr>
          <a:xfrm>
            <a:off x="3665145" y="4705186"/>
            <a:ext cx="6933308" cy="1897314"/>
          </a:xfrm>
          <a:prstGeom prst="rect">
            <a:avLst/>
          </a:prstGeom>
          <a:noFill/>
        </p:spPr>
        <p:txBody>
          <a:bodyPr wrap="none" rtlCol="0">
            <a:spAutoFit/>
          </a:bodyPr>
          <a:lstStyle/>
          <a:p>
            <a:pPr>
              <a:lnSpc>
                <a:spcPct val="150000"/>
              </a:lnSpc>
            </a:pPr>
            <a:r>
              <a:rPr lang="en-US" sz="1600" b="0" i="0" dirty="0">
                <a:solidFill>
                  <a:srgbClr val="C00000"/>
                </a:solidFill>
                <a:effectLst/>
                <a:latin typeface="Open Sans" panose="020B0606030504020204" pitchFamily="34" charset="0"/>
              </a:rPr>
              <a:t>SQLite </a:t>
            </a:r>
            <a:r>
              <a:rPr lang="zh-CN" altLang="en-US" sz="1600" b="0" i="0" dirty="0">
                <a:solidFill>
                  <a:srgbClr val="C00000"/>
                </a:solidFill>
                <a:effectLst/>
                <a:latin typeface="Open Sans" panose="020B0606030504020204" pitchFamily="34" charset="0"/>
              </a:rPr>
              <a:t>是一个进程内库</a:t>
            </a:r>
            <a:endParaRPr lang="en-US" altLang="zh-CN" sz="1600" b="0" i="0" dirty="0">
              <a:solidFill>
                <a:srgbClr val="C00000"/>
              </a:solidFill>
              <a:effectLst/>
              <a:latin typeface="Open Sans" panose="020B0606030504020204" pitchFamily="34" charset="0"/>
            </a:endParaRPr>
          </a:p>
          <a:p>
            <a:pPr marL="285750" indent="-285750">
              <a:lnSpc>
                <a:spcPct val="150000"/>
              </a:lnSpc>
              <a:buFont typeface="Arial" panose="020B0604020202020204" pitchFamily="34" charset="0"/>
              <a:buChar char="•"/>
            </a:pPr>
            <a:r>
              <a:rPr lang="zh-CN" altLang="en-US" sz="1600" b="0" i="0" dirty="0">
                <a:effectLst/>
                <a:latin typeface="Open Sans" panose="020B0606030504020204" pitchFamily="34" charset="0"/>
              </a:rPr>
              <a:t>它实现了</a:t>
            </a:r>
            <a:r>
              <a:rPr lang="zh-CN" altLang="en-US" sz="1600" b="0" i="0" dirty="0">
                <a:solidFill>
                  <a:srgbClr val="0432FF"/>
                </a:solidFill>
                <a:effectLst/>
                <a:latin typeface="Open Sans" panose="020B0606030504020204" pitchFamily="34" charset="0"/>
              </a:rPr>
              <a:t>独立、无服务器、零配置</a:t>
            </a:r>
            <a:r>
              <a:rPr lang="zh-CN" altLang="en-US" sz="1600" b="0" i="0" dirty="0">
                <a:effectLst/>
                <a:latin typeface="Open Sans" panose="020B0606030504020204" pitchFamily="34" charset="0"/>
              </a:rPr>
              <a:t>、事务性 </a:t>
            </a:r>
            <a:r>
              <a:rPr lang="en-US" sz="1600" b="0" i="0" dirty="0">
                <a:effectLst/>
                <a:latin typeface="Open Sans" panose="020B0606030504020204" pitchFamily="34" charset="0"/>
              </a:rPr>
              <a:t>SQL </a:t>
            </a:r>
            <a:r>
              <a:rPr lang="zh-CN" altLang="en-US" sz="1600" b="0" i="0" dirty="0">
                <a:effectLst/>
                <a:latin typeface="Open Sans" panose="020B0606030504020204" pitchFamily="34" charset="0"/>
              </a:rPr>
              <a:t>数据库引擎。</a:t>
            </a:r>
            <a:endParaRPr lang="en-US" altLang="zh-CN" sz="1600" b="0" i="0" dirty="0">
              <a:effectLst/>
              <a:latin typeface="Open Sans" panose="020B0606030504020204" pitchFamily="34" charset="0"/>
            </a:endParaRPr>
          </a:p>
          <a:p>
            <a:pPr marL="285750" indent="-285750">
              <a:lnSpc>
                <a:spcPct val="150000"/>
              </a:lnSpc>
              <a:buFont typeface="Arial" panose="020B0604020202020204" pitchFamily="34" charset="0"/>
              <a:buChar char="•"/>
            </a:pPr>
            <a:r>
              <a:rPr lang="zh-CN" altLang="en-US" sz="1600" b="0" i="0" dirty="0">
                <a:effectLst/>
                <a:latin typeface="Open Sans" panose="020B0606030504020204" pitchFamily="34" charset="0"/>
              </a:rPr>
              <a:t>它是</a:t>
            </a:r>
            <a:r>
              <a:rPr lang="zh-CN" altLang="en-US" sz="1600" b="0" i="0" dirty="0">
                <a:solidFill>
                  <a:srgbClr val="0432FF"/>
                </a:solidFill>
                <a:effectLst/>
                <a:latin typeface="Open Sans" panose="020B0606030504020204" pitchFamily="34" charset="0"/>
              </a:rPr>
              <a:t>开源</a:t>
            </a:r>
            <a:r>
              <a:rPr lang="zh-CN" altLang="en-US" sz="1600" b="0" i="0" dirty="0">
                <a:effectLst/>
                <a:latin typeface="Open Sans" panose="020B0606030504020204" pitchFamily="34" charset="0"/>
              </a:rPr>
              <a:t>的。该库</a:t>
            </a:r>
            <a:r>
              <a:rPr lang="zh-CN" altLang="en-US" sz="1600" b="0" i="0" dirty="0">
                <a:solidFill>
                  <a:srgbClr val="0432FF"/>
                </a:solidFill>
                <a:effectLst/>
                <a:latin typeface="Open Sans" panose="020B0606030504020204" pitchFamily="34" charset="0"/>
              </a:rPr>
              <a:t>结构紧凑</a:t>
            </a:r>
            <a:r>
              <a:rPr lang="zh-CN" altLang="en-US" sz="1600" b="0" i="0" dirty="0">
                <a:effectLst/>
                <a:latin typeface="Open Sans" panose="020B0606030504020204" pitchFamily="34" charset="0"/>
              </a:rPr>
              <a:t>，在启用所有功能的情况下仅使用 </a:t>
            </a:r>
            <a:r>
              <a:rPr lang="en-US" altLang="zh-CN" sz="1600" b="0" i="0" dirty="0">
                <a:effectLst/>
                <a:latin typeface="Open Sans" panose="020B0606030504020204" pitchFamily="34" charset="0"/>
              </a:rPr>
              <a:t>600</a:t>
            </a:r>
            <a:r>
              <a:rPr lang="en-US" sz="1600" b="0" i="0" dirty="0">
                <a:effectLst/>
                <a:latin typeface="Open Sans" panose="020B0606030504020204" pitchFamily="34" charset="0"/>
              </a:rPr>
              <a:t>KiB。</a:t>
            </a:r>
          </a:p>
          <a:p>
            <a:pPr marL="285750" indent="-285750">
              <a:lnSpc>
                <a:spcPct val="150000"/>
              </a:lnSpc>
              <a:buFont typeface="Arial" panose="020B0604020202020204" pitchFamily="34" charset="0"/>
              <a:buChar char="•"/>
            </a:pPr>
            <a:r>
              <a:rPr lang="zh-CN" altLang="en-US" sz="1600" b="0" i="0" dirty="0">
                <a:effectLst/>
                <a:latin typeface="Open Sans" panose="020B0606030504020204" pitchFamily="34" charset="0"/>
              </a:rPr>
              <a:t>它甚至可以在</a:t>
            </a:r>
            <a:r>
              <a:rPr lang="zh-CN" altLang="en-US" sz="1600" b="0" i="0" dirty="0">
                <a:solidFill>
                  <a:srgbClr val="0432FF"/>
                </a:solidFill>
                <a:effectLst/>
                <a:latin typeface="Open Sans" panose="020B0606030504020204" pitchFamily="34" charset="0"/>
              </a:rPr>
              <a:t>低内存环境中工作</a:t>
            </a:r>
            <a:r>
              <a:rPr lang="zh-CN" altLang="en-US" sz="1600" b="0" i="0" dirty="0">
                <a:effectLst/>
                <a:latin typeface="Open Sans" panose="020B0606030504020204" pitchFamily="34" charset="0"/>
              </a:rPr>
              <a:t>，但会牺牲一些性能。</a:t>
            </a:r>
            <a:endParaRPr lang="en-US" altLang="zh-CN" sz="1600" b="0" i="0" dirty="0">
              <a:effectLst/>
              <a:latin typeface="Open Sans" panose="020B0606030504020204" pitchFamily="34" charset="0"/>
            </a:endParaRPr>
          </a:p>
          <a:p>
            <a:pPr marL="285750" indent="-285750">
              <a:lnSpc>
                <a:spcPct val="150000"/>
              </a:lnSpc>
              <a:buFont typeface="Arial" panose="020B0604020202020204" pitchFamily="34" charset="0"/>
              <a:buChar char="•"/>
            </a:pPr>
            <a:r>
              <a:rPr lang="zh-CN" altLang="en-US" sz="1600" b="0" i="0" dirty="0">
                <a:effectLst/>
                <a:latin typeface="Open Sans" panose="020B0606030504020204" pitchFamily="34" charset="0"/>
              </a:rPr>
              <a:t>它甚至</a:t>
            </a:r>
            <a:r>
              <a:rPr lang="zh-CN" altLang="en-US" sz="1600" b="0" i="0" dirty="0">
                <a:solidFill>
                  <a:srgbClr val="0432FF"/>
                </a:solidFill>
                <a:effectLst/>
                <a:latin typeface="Open Sans" panose="020B0606030504020204" pitchFamily="34" charset="0"/>
              </a:rPr>
              <a:t>比直接文件系统 </a:t>
            </a:r>
            <a:r>
              <a:rPr lang="en-US" sz="1600" b="0" i="0" dirty="0">
                <a:solidFill>
                  <a:srgbClr val="0432FF"/>
                </a:solidFill>
                <a:effectLst/>
                <a:latin typeface="Open Sans" panose="020B0606030504020204" pitchFamily="34" charset="0"/>
              </a:rPr>
              <a:t>I/O </a:t>
            </a:r>
            <a:r>
              <a:rPr lang="zh-CN" altLang="en-US" sz="1600" b="0" i="0" dirty="0">
                <a:solidFill>
                  <a:srgbClr val="0432FF"/>
                </a:solidFill>
                <a:effectLst/>
                <a:latin typeface="Open Sans" panose="020B0606030504020204" pitchFamily="34" charset="0"/>
              </a:rPr>
              <a:t>还要快</a:t>
            </a:r>
            <a:r>
              <a:rPr lang="zh-CN" altLang="en-US" sz="1600" b="0" i="0" dirty="0">
                <a:effectLst/>
                <a:latin typeface="Open Sans" panose="020B0606030504020204" pitchFamily="34" charset="0"/>
              </a:rPr>
              <a:t>。</a:t>
            </a:r>
            <a:r>
              <a:rPr lang="zh-CN" altLang="en-US" sz="1600" b="0" i="0" dirty="0">
                <a:solidFill>
                  <a:srgbClr val="C00000"/>
                </a:solidFill>
                <a:effectLst/>
                <a:latin typeface="Open Sans" panose="020B0606030504020204" pitchFamily="34" charset="0"/>
              </a:rPr>
              <a:t>数据库存储为单个文件</a:t>
            </a:r>
            <a:r>
              <a:rPr lang="zh-CN" altLang="en-US" sz="1600" b="0" i="0" dirty="0">
                <a:effectLst/>
                <a:latin typeface="Open Sans" panose="020B0606030504020204" pitchFamily="34" charset="0"/>
              </a:rPr>
              <a:t>。</a:t>
            </a:r>
            <a:endParaRPr kumimoji="1" lang="zh-CN" altLang="en-US" sz="1600" dirty="0"/>
          </a:p>
        </p:txBody>
      </p:sp>
      <p:pic>
        <p:nvPicPr>
          <p:cNvPr id="1036" name="Picture 12">
            <a:extLst>
              <a:ext uri="{FF2B5EF4-FFF2-40B4-BE49-F238E27FC236}">
                <a16:creationId xmlns:a16="http://schemas.microsoft.com/office/drawing/2014/main" id="{88D4AC87-4129-C668-4B27-CE6EDF3CA7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3479" y="5066650"/>
            <a:ext cx="2123596" cy="100622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A24DEB5-281C-FDBF-7C95-3490903B3A5A}"/>
              </a:ext>
            </a:extLst>
          </p:cNvPr>
          <p:cNvGrpSpPr/>
          <p:nvPr/>
        </p:nvGrpSpPr>
        <p:grpSpPr>
          <a:xfrm>
            <a:off x="3443666" y="1712166"/>
            <a:ext cx="7918016" cy="3338963"/>
            <a:chOff x="3474564" y="2969044"/>
            <a:chExt cx="7918016" cy="3338963"/>
          </a:xfrm>
          <a:effectLst>
            <a:outerShdw blurRad="63500" sx="102000" sy="102000" algn="ctr" rotWithShape="0">
              <a:prstClr val="black">
                <a:alpha val="40000"/>
              </a:prstClr>
            </a:outerShdw>
          </a:effectLst>
        </p:grpSpPr>
        <p:pic>
          <p:nvPicPr>
            <p:cNvPr id="1038" name="Picture 14" descr="SQLite doesn't need a server and database is just a file. Source: Kreibich 2010, sec. 1.1.">
              <a:extLst>
                <a:ext uri="{FF2B5EF4-FFF2-40B4-BE49-F238E27FC236}">
                  <a16:creationId xmlns:a16="http://schemas.microsoft.com/office/drawing/2014/main" id="{8113E8ED-C6A3-AC7D-EF4C-1EF6E936D4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4564" y="2969044"/>
              <a:ext cx="7918016" cy="30527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4077AA5-67C9-3B2F-F227-4159C4802B18}"/>
                </a:ext>
              </a:extLst>
            </p:cNvPr>
            <p:cNvSpPr txBox="1"/>
            <p:nvPr/>
          </p:nvSpPr>
          <p:spPr>
            <a:xfrm>
              <a:off x="6494986" y="6000230"/>
              <a:ext cx="4866696" cy="307777"/>
            </a:xfrm>
            <a:prstGeom prst="rect">
              <a:avLst/>
            </a:prstGeom>
            <a:noFill/>
          </p:spPr>
          <p:txBody>
            <a:bodyPr wrap="square">
              <a:spAutoFit/>
            </a:bodyPr>
            <a:lstStyle/>
            <a:p>
              <a:r>
                <a:rPr lang="en-US" sz="1400" b="0" i="0" dirty="0">
                  <a:solidFill>
                    <a:srgbClr val="0432FF"/>
                  </a:solidFill>
                  <a:effectLst/>
                  <a:latin typeface="Open Sans" panose="020B0606030504020204" pitchFamily="34" charset="0"/>
                </a:rPr>
                <a:t>SQLite doesn't need a server and database is just a file. </a:t>
              </a:r>
              <a:endParaRPr lang="zh-CN" altLang="en-US" sz="1400" dirty="0">
                <a:solidFill>
                  <a:srgbClr val="0432FF"/>
                </a:solidFill>
              </a:endParaRPr>
            </a:p>
          </p:txBody>
        </p:sp>
      </p:grpSp>
    </p:spTree>
    <p:extLst>
      <p:ext uri="{BB962C8B-B14F-4D97-AF65-F5344CB8AC3E}">
        <p14:creationId xmlns:p14="http://schemas.microsoft.com/office/powerpoint/2010/main" val="142294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checkerboard(across)">
                                      <p:cBhvr>
                                        <p:cTn id="7" dur="500"/>
                                        <p:tgtEl>
                                          <p:spTgt spid="103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par>
                                <p:cTn id="18" presetID="3" presetClass="entr" presetSubtype="10" fill="hold" nodeType="withEffect">
                                  <p:stCondLst>
                                    <p:cond delay="0"/>
                                  </p:stCondLst>
                                  <p:childTnLst>
                                    <p:set>
                                      <p:cBhvr>
                                        <p:cTn id="19" dur="1" fill="hold">
                                          <p:stCondLst>
                                            <p:cond delay="0"/>
                                          </p:stCondLst>
                                        </p:cTn>
                                        <p:tgtEl>
                                          <p:spTgt spid="1036"/>
                                        </p:tgtEl>
                                        <p:attrNameLst>
                                          <p:attrName>style.visibility</p:attrName>
                                        </p:attrNameLst>
                                      </p:cBhvr>
                                      <p:to>
                                        <p:strVal val="visible"/>
                                      </p:to>
                                    </p:set>
                                    <p:animEffect transition="in" filter="blinds(horizontal)">
                                      <p:cBhvr>
                                        <p:cTn id="20" dur="500"/>
                                        <p:tgtEl>
                                          <p:spTgt spid="103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438338"/>
            <a:ext cx="9982200" cy="2676462"/>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由于</a:t>
            </a:r>
            <a:r>
              <a:rPr lang="en-US" altLang="zh-CN" sz="1800" dirty="0"/>
              <a:t>MySQL</a:t>
            </a:r>
            <a:r>
              <a:rPr lang="zh-CN" altLang="en-US" sz="1800" dirty="0"/>
              <a:t>服务器以独立的进程运行，并通过网络对外服务，所以，需要支持</a:t>
            </a:r>
            <a:r>
              <a:rPr lang="en-US" altLang="zh-CN" sz="1800" dirty="0"/>
              <a:t>Python</a:t>
            </a:r>
            <a:r>
              <a:rPr lang="zh-CN" altLang="en-US" sz="1800" dirty="0"/>
              <a:t>的</a:t>
            </a:r>
            <a:r>
              <a:rPr lang="en-US" altLang="zh-CN" sz="1800" dirty="0"/>
              <a:t>MySQL</a:t>
            </a:r>
            <a:r>
              <a:rPr lang="zh-CN" altLang="en-US" sz="1800" dirty="0"/>
              <a:t>驱动来连接到</a:t>
            </a:r>
            <a:r>
              <a:rPr lang="en-US" altLang="zh-CN" sz="1800" dirty="0"/>
              <a:t>MySQL</a:t>
            </a:r>
            <a:r>
              <a:rPr lang="zh-CN" altLang="en-US" sz="1800" dirty="0"/>
              <a:t>服务器。可以通过</a:t>
            </a:r>
            <a:r>
              <a:rPr lang="en-US" altLang="zh-CN" sz="1800" dirty="0"/>
              <a:t>Python</a:t>
            </a:r>
            <a:r>
              <a:rPr lang="zh-CN" altLang="en-US" sz="1800" dirty="0"/>
              <a:t>包管理工具</a:t>
            </a:r>
            <a:r>
              <a:rPr lang="en-US" altLang="zh-CN" sz="1800" dirty="0"/>
              <a:t>pip</a:t>
            </a:r>
            <a:r>
              <a:rPr lang="zh-CN" altLang="en-US" sz="1800" dirty="0"/>
              <a:t>进行安装，使用命令</a:t>
            </a:r>
            <a:endParaRPr lang="en-US" altLang="zh-CN" sz="1800" dirty="0"/>
          </a:p>
          <a:p>
            <a:pPr marL="0" indent="0" algn="just">
              <a:lnSpc>
                <a:spcPct val="150000"/>
              </a:lnSpc>
              <a:spcBef>
                <a:spcPts val="0"/>
              </a:spcBef>
              <a:buNone/>
            </a:pPr>
            <a:endParaRPr lang="en-US" altLang="zh-CN" sz="1800" dirty="0"/>
          </a:p>
          <a:p>
            <a:pPr marL="0" indent="0" algn="just">
              <a:lnSpc>
                <a:spcPct val="150000"/>
              </a:lnSpc>
              <a:spcBef>
                <a:spcPts val="0"/>
              </a:spcBef>
              <a:buNone/>
            </a:pPr>
            <a:r>
              <a:rPr lang="en-US" altLang="zh-CN" sz="1800" dirty="0">
                <a:solidFill>
                  <a:srgbClr val="FF0000"/>
                </a:solidFill>
              </a:rPr>
              <a:t>    pip3 install </a:t>
            </a:r>
            <a:r>
              <a:rPr lang="en-US" altLang="zh-CN" sz="1800" dirty="0" err="1">
                <a:solidFill>
                  <a:srgbClr val="FF0000"/>
                </a:solidFill>
              </a:rPr>
              <a:t>PyMySQL</a:t>
            </a:r>
            <a:endParaRPr lang="zh-CN" altLang="en-US" sz="1800" dirty="0">
              <a:solidFill>
                <a:srgbClr val="FF0000"/>
              </a:solidFill>
            </a:endParaRPr>
          </a:p>
          <a:p>
            <a:pPr marL="0" indent="0" algn="just">
              <a:lnSpc>
                <a:spcPct val="150000"/>
              </a:lnSpc>
              <a:spcBef>
                <a:spcPts val="0"/>
              </a:spcBef>
              <a:buNone/>
            </a:pPr>
            <a:r>
              <a:rPr lang="zh-CN" altLang="en-US" sz="1800" dirty="0"/>
              <a:t>    为测试是否成功安装</a:t>
            </a:r>
            <a:r>
              <a:rPr lang="en-US" altLang="zh-CN" sz="1800" dirty="0" err="1"/>
              <a:t>PyMySQL</a:t>
            </a:r>
            <a:r>
              <a:rPr lang="zh-CN" altLang="en-US" sz="1800" dirty="0"/>
              <a:t>，</a:t>
            </a:r>
            <a:endParaRPr lang="en-US" altLang="zh-CN" sz="1800" dirty="0"/>
          </a:p>
          <a:p>
            <a:pPr marL="0" indent="0" algn="just">
              <a:lnSpc>
                <a:spcPct val="150000"/>
              </a:lnSpc>
              <a:spcBef>
                <a:spcPts val="0"/>
              </a:spcBef>
              <a:buNone/>
            </a:pPr>
            <a:r>
              <a:rPr lang="zh-CN" altLang="en-US" sz="1800" dirty="0"/>
              <a:t>可以创建一个</a:t>
            </a:r>
            <a:r>
              <a:rPr lang="en-US" altLang="zh-CN" sz="1800" dirty="0"/>
              <a:t>python</a:t>
            </a:r>
            <a:r>
              <a:rPr lang="zh-CN" altLang="en-US" sz="1800" dirty="0"/>
              <a:t>文件，代码为：</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p>
        </p:txBody>
      </p:sp>
      <p:graphicFrame>
        <p:nvGraphicFramePr>
          <p:cNvPr id="5" name="表格 5">
            <a:extLst>
              <a:ext uri="{FF2B5EF4-FFF2-40B4-BE49-F238E27FC236}">
                <a16:creationId xmlns:a16="http://schemas.microsoft.com/office/drawing/2014/main" id="{ED73BBC1-C7FE-4051-81A5-2859A5E40891}"/>
              </a:ext>
            </a:extLst>
          </p:cNvPr>
          <p:cNvGraphicFramePr>
            <a:graphicFrameLocks noGrp="1"/>
          </p:cNvGraphicFramePr>
          <p:nvPr>
            <p:extLst>
              <p:ext uri="{D42A27DB-BD31-4B8C-83A1-F6EECF244321}">
                <p14:modId xmlns:p14="http://schemas.microsoft.com/office/powerpoint/2010/main" val="4192378344"/>
              </p:ext>
            </p:extLst>
          </p:nvPr>
        </p:nvGraphicFramePr>
        <p:xfrm>
          <a:off x="1137743" y="4233565"/>
          <a:ext cx="1995876" cy="423778"/>
        </p:xfrm>
        <a:graphic>
          <a:graphicData uri="http://schemas.openxmlformats.org/drawingml/2006/table">
            <a:tbl>
              <a:tblPr firstRow="1" bandRow="1">
                <a:tableStyleId>{5C22544A-7EE6-4342-B048-85BDC9FD1C3A}</a:tableStyleId>
              </a:tblPr>
              <a:tblGrid>
                <a:gridCol w="1995876">
                  <a:extLst>
                    <a:ext uri="{9D8B030D-6E8A-4147-A177-3AD203B41FA5}">
                      <a16:colId xmlns:a16="http://schemas.microsoft.com/office/drawing/2014/main" val="1478211251"/>
                    </a:ext>
                  </a:extLst>
                </a:gridCol>
              </a:tblGrid>
              <a:tr h="423778">
                <a:tc>
                  <a:txBody>
                    <a:bodyPr/>
                    <a:lstStyle/>
                    <a:p>
                      <a:r>
                        <a:rPr lang="en-US" altLang="zh-CN" sz="1800" b="1" kern="1200" dirty="0">
                          <a:solidFill>
                            <a:schemeClr val="lt1"/>
                          </a:solidFill>
                          <a:effectLst/>
                          <a:latin typeface="+mn-lt"/>
                          <a:ea typeface="+mn-ea"/>
                          <a:cs typeface="+mn-cs"/>
                        </a:rPr>
                        <a:t>import </a:t>
                      </a:r>
                      <a:r>
                        <a:rPr lang="en-US" altLang="zh-CN" sz="1800" b="1" kern="1200" dirty="0" err="1">
                          <a:solidFill>
                            <a:schemeClr val="lt1"/>
                          </a:solidFill>
                          <a:effectLst/>
                          <a:latin typeface="+mn-lt"/>
                          <a:ea typeface="+mn-ea"/>
                          <a:cs typeface="+mn-cs"/>
                        </a:rPr>
                        <a:t>pymysql</a:t>
                      </a:r>
                      <a:endParaRPr lang="zh-CN" altLang="en-US" sz="1400" b="1" kern="1200" dirty="0">
                        <a:solidFill>
                          <a:schemeClr val="lt1"/>
                        </a:solidFill>
                        <a:effectLst/>
                        <a:latin typeface="Consolas" panose="020B0609020204030204" pitchFamily="49" charset="0"/>
                        <a:ea typeface="+mn-ea"/>
                        <a:cs typeface="+mn-cs"/>
                      </a:endParaRPr>
                    </a:p>
                  </a:txBody>
                  <a:tcPr/>
                </a:tc>
                <a:extLst>
                  <a:ext uri="{0D108BD9-81ED-4DB2-BD59-A6C34878D82A}">
                    <a16:rowId xmlns:a16="http://schemas.microsoft.com/office/drawing/2014/main" val="3026568749"/>
                  </a:ext>
                </a:extLst>
              </a:tr>
            </a:tbl>
          </a:graphicData>
        </a:graphic>
      </p:graphicFrame>
      <p:sp>
        <p:nvSpPr>
          <p:cNvPr id="7" name="Content Placeholder 13">
            <a:extLst>
              <a:ext uri="{FF2B5EF4-FFF2-40B4-BE49-F238E27FC236}">
                <a16:creationId xmlns:a16="http://schemas.microsoft.com/office/drawing/2014/main" id="{D63FBE7C-FCDD-41AA-8C82-D3E4E7B49DF7}"/>
              </a:ext>
            </a:extLst>
          </p:cNvPr>
          <p:cNvSpPr txBox="1">
            <a:spLocks/>
          </p:cNvSpPr>
          <p:nvPr/>
        </p:nvSpPr>
        <p:spPr>
          <a:xfrm>
            <a:off x="1137743" y="4847200"/>
            <a:ext cx="4389754" cy="1144923"/>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800" dirty="0"/>
              <a:t>若执行代码后运行未出现任何错误，则表示安装成功。</a:t>
            </a:r>
            <a:endParaRPr lang="zh-CN" altLang="en-US" dirty="0"/>
          </a:p>
        </p:txBody>
      </p:sp>
      <p:sp>
        <p:nvSpPr>
          <p:cNvPr id="3" name="TextBox 2">
            <a:extLst>
              <a:ext uri="{FF2B5EF4-FFF2-40B4-BE49-F238E27FC236}">
                <a16:creationId xmlns:a16="http://schemas.microsoft.com/office/drawing/2014/main" id="{326FEB20-30FE-F36A-E489-FB71323E94DF}"/>
              </a:ext>
            </a:extLst>
          </p:cNvPr>
          <p:cNvSpPr txBox="1"/>
          <p:nvPr/>
        </p:nvSpPr>
        <p:spPr>
          <a:xfrm>
            <a:off x="5441451" y="2462304"/>
            <a:ext cx="6096000" cy="369332"/>
          </a:xfrm>
          <a:prstGeom prst="rect">
            <a:avLst/>
          </a:prstGeom>
          <a:noFill/>
        </p:spPr>
        <p:txBody>
          <a:bodyPr wrap="square">
            <a:spAutoFit/>
          </a:bodyPr>
          <a:lstStyle/>
          <a:p>
            <a:pPr algn="l"/>
            <a:r>
              <a:rPr lang="en-US" b="1" i="0" dirty="0">
                <a:solidFill>
                  <a:srgbClr val="333333"/>
                </a:solidFill>
                <a:effectLst/>
                <a:latin typeface="Inter-Bold"/>
              </a:rPr>
              <a:t>Python MySQL Database Connection using </a:t>
            </a:r>
            <a:r>
              <a:rPr lang="en-US" b="1" i="0" dirty="0">
                <a:solidFill>
                  <a:srgbClr val="0432FF"/>
                </a:solidFill>
                <a:effectLst/>
                <a:latin typeface="Inter-Bold"/>
              </a:rPr>
              <a:t>MySQL Connector</a:t>
            </a:r>
          </a:p>
        </p:txBody>
      </p:sp>
      <p:pic>
        <p:nvPicPr>
          <p:cNvPr id="4100" name="Picture 4" descr="MySQL database connection in Python">
            <a:extLst>
              <a:ext uri="{FF2B5EF4-FFF2-40B4-BE49-F238E27FC236}">
                <a16:creationId xmlns:a16="http://schemas.microsoft.com/office/drawing/2014/main" id="{69DF6756-7201-DEC7-6FFF-C30F736BE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830" y="2831636"/>
            <a:ext cx="6149621" cy="3695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24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p>
        </p:txBody>
      </p:sp>
      <p:sp>
        <p:nvSpPr>
          <p:cNvPr id="7" name="Content Placeholder 13">
            <a:extLst>
              <a:ext uri="{FF2B5EF4-FFF2-40B4-BE49-F238E27FC236}">
                <a16:creationId xmlns:a16="http://schemas.microsoft.com/office/drawing/2014/main" id="{D63FBE7C-FCDD-41AA-8C82-D3E4E7B49DF7}"/>
              </a:ext>
            </a:extLst>
          </p:cNvPr>
          <p:cNvSpPr txBox="1">
            <a:spLocks/>
          </p:cNvSpPr>
          <p:nvPr/>
        </p:nvSpPr>
        <p:spPr>
          <a:xfrm>
            <a:off x="1104900" y="1797786"/>
            <a:ext cx="9982200" cy="3546373"/>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t>    python</a:t>
            </a:r>
            <a:r>
              <a:rPr lang="zh-CN" altLang="en-US" sz="1800" dirty="0"/>
              <a:t>对</a:t>
            </a:r>
            <a:r>
              <a:rPr lang="en-US" altLang="zh-CN" sz="1800" dirty="0" err="1"/>
              <a:t>sql</a:t>
            </a:r>
            <a:r>
              <a:rPr lang="zh-CN" altLang="en-US" sz="1800" dirty="0"/>
              <a:t>文件的读写主要通过应用程序编程接口（</a:t>
            </a:r>
            <a:r>
              <a:rPr lang="en-US" altLang="zh-CN" sz="1800" dirty="0"/>
              <a:t>API</a:t>
            </a:r>
            <a:r>
              <a:rPr lang="zh-CN" altLang="en-US" sz="1800" dirty="0"/>
              <a:t>）进行，</a:t>
            </a:r>
            <a:r>
              <a:rPr lang="en-US" altLang="zh-CN" sz="1800" dirty="0"/>
              <a:t>DB-API</a:t>
            </a:r>
            <a:r>
              <a:rPr lang="zh-CN" altLang="en-US" sz="1800" dirty="0"/>
              <a:t>接口是</a:t>
            </a:r>
            <a:r>
              <a:rPr lang="en-US" altLang="zh-CN" sz="1800" dirty="0"/>
              <a:t>python</a:t>
            </a:r>
            <a:r>
              <a:rPr lang="zh-CN" altLang="en-US" sz="1800" dirty="0"/>
              <a:t>中访问关系型数据库的标准</a:t>
            </a:r>
            <a:r>
              <a:rPr lang="en-US" altLang="zh-CN" sz="1800" dirty="0"/>
              <a:t>API</a:t>
            </a:r>
            <a:r>
              <a:rPr lang="zh-CN" altLang="en-US" sz="1800" dirty="0"/>
              <a:t>，其主要函数为：</a:t>
            </a:r>
          </a:p>
          <a:p>
            <a:pPr algn="just">
              <a:lnSpc>
                <a:spcPct val="150000"/>
              </a:lnSpc>
              <a:spcBef>
                <a:spcPts val="0"/>
              </a:spcBef>
            </a:pPr>
            <a:r>
              <a:rPr lang="en-US" altLang="zh-CN" sz="1800" dirty="0">
                <a:solidFill>
                  <a:srgbClr val="FF0000"/>
                </a:solidFill>
              </a:rPr>
              <a:t>connect()</a:t>
            </a:r>
            <a:r>
              <a:rPr lang="zh-CN" altLang="en-US" sz="1800" dirty="0">
                <a:solidFill>
                  <a:srgbClr val="FF0000"/>
                </a:solidFill>
              </a:rPr>
              <a:t>：连接数据库，参数包含用户名、密码、服务器地址</a:t>
            </a:r>
            <a:r>
              <a:rPr lang="zh-CN" altLang="en-US" sz="1800" dirty="0"/>
              <a:t>等，具体为</a:t>
            </a:r>
            <a:r>
              <a:rPr lang="en-US" altLang="zh-CN" sz="1800" dirty="0" err="1"/>
              <a:t>pymysql.connect</a:t>
            </a:r>
            <a:r>
              <a:rPr lang="en-US" altLang="zh-CN" sz="1800" dirty="0"/>
              <a:t>(host=“</a:t>
            </a:r>
            <a:r>
              <a:rPr lang="zh-CN" altLang="en-US" sz="1800" dirty="0"/>
              <a:t>数据库地址”</a:t>
            </a:r>
            <a:r>
              <a:rPr lang="en-US" altLang="zh-CN" sz="1800" dirty="0"/>
              <a:t>, user=“</a:t>
            </a:r>
            <a:r>
              <a:rPr lang="zh-CN" altLang="en-US" sz="1800" dirty="0"/>
              <a:t>用户名”</a:t>
            </a:r>
            <a:r>
              <a:rPr lang="en-US" altLang="zh-CN" sz="1800" dirty="0"/>
              <a:t>,password=“</a:t>
            </a:r>
            <a:r>
              <a:rPr lang="zh-CN" altLang="en-US" sz="1800" dirty="0"/>
              <a:t>密码”</a:t>
            </a:r>
            <a:r>
              <a:rPr lang="en-US" altLang="zh-CN" sz="1800" dirty="0"/>
              <a:t>,database=“</a:t>
            </a:r>
            <a:r>
              <a:rPr lang="zh-CN" altLang="en-US" sz="1800" dirty="0"/>
              <a:t>数据库名”</a:t>
            </a:r>
            <a:r>
              <a:rPr lang="en-US" altLang="zh-CN" sz="1800" dirty="0"/>
              <a:t>,charset=“utf8”)</a:t>
            </a:r>
            <a:r>
              <a:rPr lang="zh-CN" altLang="en-US" sz="1800" dirty="0"/>
              <a:t>；</a:t>
            </a:r>
          </a:p>
          <a:p>
            <a:pPr algn="just">
              <a:lnSpc>
                <a:spcPct val="150000"/>
              </a:lnSpc>
              <a:spcBef>
                <a:spcPts val="0"/>
              </a:spcBef>
            </a:pPr>
            <a:r>
              <a:rPr lang="en-US" altLang="zh-CN" sz="1800" dirty="0">
                <a:solidFill>
                  <a:srgbClr val="FF0000"/>
                </a:solidFill>
              </a:rPr>
              <a:t>cursor()</a:t>
            </a:r>
            <a:r>
              <a:rPr lang="zh-CN" altLang="en-US" sz="1800" dirty="0"/>
              <a:t>：创建一个</a:t>
            </a:r>
            <a:r>
              <a:rPr lang="en-US" altLang="zh-CN" sz="1800" dirty="0"/>
              <a:t>cursor</a:t>
            </a:r>
            <a:r>
              <a:rPr lang="zh-CN" altLang="en-US" sz="1800" dirty="0"/>
              <a:t>对象来管理查询；</a:t>
            </a:r>
          </a:p>
          <a:p>
            <a:pPr algn="just">
              <a:lnSpc>
                <a:spcPct val="150000"/>
              </a:lnSpc>
              <a:spcBef>
                <a:spcPts val="0"/>
              </a:spcBef>
            </a:pPr>
            <a:r>
              <a:rPr lang="en-US" altLang="zh-CN" sz="1800" dirty="0">
                <a:solidFill>
                  <a:srgbClr val="FF0000"/>
                </a:solidFill>
              </a:rPr>
              <a:t>execute()</a:t>
            </a:r>
            <a:r>
              <a:rPr lang="zh-CN" altLang="en-US" sz="1800" dirty="0">
                <a:solidFill>
                  <a:srgbClr val="FF0000"/>
                </a:solidFill>
              </a:rPr>
              <a:t>、</a:t>
            </a:r>
            <a:r>
              <a:rPr lang="en-US" altLang="zh-CN" sz="1800" dirty="0" err="1">
                <a:solidFill>
                  <a:srgbClr val="FF0000"/>
                </a:solidFill>
              </a:rPr>
              <a:t>executemany</a:t>
            </a:r>
            <a:r>
              <a:rPr lang="en-US" altLang="zh-CN" sz="1800" dirty="0">
                <a:solidFill>
                  <a:srgbClr val="FF0000"/>
                </a:solidFill>
              </a:rPr>
              <a:t>()</a:t>
            </a:r>
            <a:r>
              <a:rPr lang="zh-CN" altLang="en-US" sz="1800" dirty="0">
                <a:solidFill>
                  <a:srgbClr val="FF0000"/>
                </a:solidFill>
              </a:rPr>
              <a:t>：对数据库执行一个或多个</a:t>
            </a:r>
            <a:r>
              <a:rPr lang="en-US" altLang="zh-CN" sz="1800" dirty="0">
                <a:solidFill>
                  <a:srgbClr val="FF0000"/>
                </a:solidFill>
              </a:rPr>
              <a:t>SQL</a:t>
            </a:r>
            <a:r>
              <a:rPr lang="zh-CN" altLang="en-US" sz="1800" dirty="0">
                <a:solidFill>
                  <a:srgbClr val="FF0000"/>
                </a:solidFill>
              </a:rPr>
              <a:t>命令；</a:t>
            </a:r>
          </a:p>
          <a:p>
            <a:pPr algn="just">
              <a:lnSpc>
                <a:spcPct val="150000"/>
              </a:lnSpc>
              <a:spcBef>
                <a:spcPts val="0"/>
              </a:spcBef>
            </a:pPr>
            <a:r>
              <a:rPr lang="en-US" altLang="zh-CN" sz="1800" dirty="0" err="1">
                <a:solidFill>
                  <a:srgbClr val="FF0000"/>
                </a:solidFill>
              </a:rPr>
              <a:t>fetchone</a:t>
            </a:r>
            <a:r>
              <a:rPr lang="en-US" altLang="zh-CN" sz="1800" dirty="0">
                <a:solidFill>
                  <a:srgbClr val="FF0000"/>
                </a:solidFill>
              </a:rPr>
              <a:t>()</a:t>
            </a:r>
            <a:r>
              <a:rPr lang="zh-CN" altLang="en-US" sz="1800" dirty="0">
                <a:solidFill>
                  <a:srgbClr val="FF0000"/>
                </a:solidFill>
              </a:rPr>
              <a:t>、</a:t>
            </a:r>
            <a:r>
              <a:rPr lang="en-US" altLang="zh-CN" sz="1800" dirty="0" err="1">
                <a:solidFill>
                  <a:srgbClr val="FF0000"/>
                </a:solidFill>
              </a:rPr>
              <a:t>fetchmany</a:t>
            </a:r>
            <a:r>
              <a:rPr lang="en-US" altLang="zh-CN" sz="1800" dirty="0">
                <a:solidFill>
                  <a:srgbClr val="FF0000"/>
                </a:solidFill>
              </a:rPr>
              <a:t>()</a:t>
            </a:r>
            <a:r>
              <a:rPr lang="zh-CN" altLang="en-US" sz="1800" dirty="0">
                <a:solidFill>
                  <a:srgbClr val="FF0000"/>
                </a:solidFill>
              </a:rPr>
              <a:t>、</a:t>
            </a:r>
            <a:r>
              <a:rPr lang="en-US" altLang="zh-CN" sz="1800" dirty="0" err="1">
                <a:solidFill>
                  <a:srgbClr val="FF0000"/>
                </a:solidFill>
              </a:rPr>
              <a:t>fetchall</a:t>
            </a:r>
            <a:r>
              <a:rPr lang="en-US" altLang="zh-CN" sz="1800" dirty="0">
                <a:solidFill>
                  <a:srgbClr val="FF0000"/>
                </a:solidFill>
              </a:rPr>
              <a:t>()</a:t>
            </a:r>
            <a:r>
              <a:rPr lang="zh-CN" altLang="en-US" sz="1800" dirty="0">
                <a:solidFill>
                  <a:srgbClr val="FF0000"/>
                </a:solidFill>
              </a:rPr>
              <a:t>：得到</a:t>
            </a:r>
            <a:r>
              <a:rPr lang="en-US" altLang="zh-CN" sz="1800" dirty="0">
                <a:solidFill>
                  <a:srgbClr val="FF0000"/>
                </a:solidFill>
              </a:rPr>
              <a:t>execute</a:t>
            </a:r>
            <a:r>
              <a:rPr lang="zh-CN" altLang="en-US" sz="1800" dirty="0">
                <a:solidFill>
                  <a:srgbClr val="FF0000"/>
                </a:solidFill>
              </a:rPr>
              <a:t>之后的结果</a:t>
            </a:r>
            <a:r>
              <a:rPr lang="zh-CN" altLang="en-US" sz="1800" dirty="0"/>
              <a:t>。</a:t>
            </a:r>
          </a:p>
        </p:txBody>
      </p:sp>
    </p:spTree>
    <p:extLst>
      <p:ext uri="{BB962C8B-B14F-4D97-AF65-F5344CB8AC3E}">
        <p14:creationId xmlns:p14="http://schemas.microsoft.com/office/powerpoint/2010/main" val="2874586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37741" y="1697811"/>
            <a:ext cx="9982200" cy="3462377"/>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2100" dirty="0"/>
              <a:t>通过</a:t>
            </a:r>
            <a:r>
              <a:rPr lang="en-US" altLang="zh-CN" sz="2100" dirty="0" err="1"/>
              <a:t>pymysql</a:t>
            </a:r>
            <a:r>
              <a:rPr lang="zh-CN" altLang="en-US" sz="2100" dirty="0"/>
              <a:t>第三方库可以使用</a:t>
            </a:r>
            <a:r>
              <a:rPr lang="en-US" altLang="zh-CN" sz="2100" dirty="0" err="1"/>
              <a:t>sql</a:t>
            </a:r>
            <a:r>
              <a:rPr lang="zh-CN" altLang="en-US" sz="2100" dirty="0"/>
              <a:t>语句向在数据库中创建一张新的数据库和新的表格，具体创建表格的</a:t>
            </a:r>
            <a:r>
              <a:rPr lang="en-US" altLang="zh-CN" sz="2100" dirty="0" err="1"/>
              <a:t>sql</a:t>
            </a:r>
            <a:r>
              <a:rPr lang="zh-CN" altLang="en-US" sz="2100" dirty="0"/>
              <a:t>语句为：</a:t>
            </a:r>
          </a:p>
          <a:p>
            <a:pPr marL="0" indent="0" algn="just">
              <a:lnSpc>
                <a:spcPct val="150000"/>
              </a:lnSpc>
              <a:spcBef>
                <a:spcPts val="0"/>
              </a:spcBef>
              <a:buNone/>
            </a:pPr>
            <a:r>
              <a:rPr lang="en-US" altLang="zh-CN" sz="2100" dirty="0">
                <a:solidFill>
                  <a:srgbClr val="0432FF"/>
                </a:solidFill>
              </a:rPr>
              <a:t>CREATE TABLE </a:t>
            </a:r>
            <a:r>
              <a:rPr lang="zh-CN" altLang="en-US" sz="2100" dirty="0">
                <a:solidFill>
                  <a:srgbClr val="0432FF"/>
                </a:solidFill>
              </a:rPr>
              <a:t>表名称</a:t>
            </a:r>
          </a:p>
          <a:p>
            <a:pPr marL="0" indent="0" algn="just">
              <a:lnSpc>
                <a:spcPct val="150000"/>
              </a:lnSpc>
              <a:spcBef>
                <a:spcPts val="0"/>
              </a:spcBef>
              <a:buNone/>
            </a:pPr>
            <a:r>
              <a:rPr lang="en-US" altLang="zh-CN" sz="2100" dirty="0">
                <a:solidFill>
                  <a:srgbClr val="0432FF"/>
                </a:solidFill>
              </a:rPr>
              <a:t>(</a:t>
            </a:r>
          </a:p>
          <a:p>
            <a:pPr marL="457200" lvl="1" indent="0" algn="just">
              <a:lnSpc>
                <a:spcPct val="150000"/>
              </a:lnSpc>
              <a:spcBef>
                <a:spcPts val="0"/>
              </a:spcBef>
              <a:buNone/>
            </a:pPr>
            <a:r>
              <a:rPr lang="zh-CN" altLang="en-US" sz="1700" dirty="0">
                <a:solidFill>
                  <a:srgbClr val="C00000"/>
                </a:solidFill>
              </a:rPr>
              <a:t>列名称</a:t>
            </a:r>
            <a:r>
              <a:rPr lang="en-US" altLang="zh-CN" sz="1700" dirty="0">
                <a:solidFill>
                  <a:srgbClr val="C00000"/>
                </a:solidFill>
              </a:rPr>
              <a:t>1 </a:t>
            </a:r>
            <a:r>
              <a:rPr lang="zh-CN" altLang="en-US" sz="1700" dirty="0">
                <a:solidFill>
                  <a:srgbClr val="C00000"/>
                </a:solidFill>
              </a:rPr>
              <a:t>数据类型</a:t>
            </a:r>
            <a:r>
              <a:rPr lang="en-US" altLang="zh-CN" sz="1700" dirty="0">
                <a:solidFill>
                  <a:srgbClr val="C00000"/>
                </a:solidFill>
              </a:rPr>
              <a:t>,</a:t>
            </a:r>
          </a:p>
          <a:p>
            <a:pPr marL="457200" lvl="1" indent="0" algn="just">
              <a:lnSpc>
                <a:spcPct val="150000"/>
              </a:lnSpc>
              <a:spcBef>
                <a:spcPts val="0"/>
              </a:spcBef>
              <a:buNone/>
            </a:pPr>
            <a:r>
              <a:rPr lang="zh-CN" altLang="en-US" sz="1700" dirty="0">
                <a:solidFill>
                  <a:srgbClr val="C00000"/>
                </a:solidFill>
              </a:rPr>
              <a:t>列名称</a:t>
            </a:r>
            <a:r>
              <a:rPr lang="en-US" altLang="zh-CN" sz="1700" dirty="0">
                <a:solidFill>
                  <a:srgbClr val="C00000"/>
                </a:solidFill>
              </a:rPr>
              <a:t>2 </a:t>
            </a:r>
            <a:r>
              <a:rPr lang="zh-CN" altLang="en-US" sz="1700" dirty="0">
                <a:solidFill>
                  <a:srgbClr val="C00000"/>
                </a:solidFill>
              </a:rPr>
              <a:t>数据类型</a:t>
            </a:r>
            <a:r>
              <a:rPr lang="en-US" altLang="zh-CN" sz="1700" dirty="0">
                <a:solidFill>
                  <a:srgbClr val="C00000"/>
                </a:solidFill>
              </a:rPr>
              <a:t>,</a:t>
            </a:r>
          </a:p>
          <a:p>
            <a:pPr marL="457200" lvl="1" indent="0" algn="just">
              <a:lnSpc>
                <a:spcPct val="150000"/>
              </a:lnSpc>
              <a:spcBef>
                <a:spcPts val="0"/>
              </a:spcBef>
              <a:buNone/>
            </a:pPr>
            <a:r>
              <a:rPr lang="zh-CN" altLang="en-US" sz="1700" dirty="0">
                <a:solidFill>
                  <a:srgbClr val="C00000"/>
                </a:solidFill>
              </a:rPr>
              <a:t>列名称</a:t>
            </a:r>
            <a:r>
              <a:rPr lang="en-US" altLang="zh-CN" sz="1700" dirty="0">
                <a:solidFill>
                  <a:srgbClr val="C00000"/>
                </a:solidFill>
              </a:rPr>
              <a:t>3 </a:t>
            </a:r>
            <a:r>
              <a:rPr lang="zh-CN" altLang="en-US" sz="1700" dirty="0">
                <a:solidFill>
                  <a:srgbClr val="C00000"/>
                </a:solidFill>
              </a:rPr>
              <a:t>数据类型</a:t>
            </a:r>
            <a:r>
              <a:rPr lang="en-US" altLang="zh-CN" sz="1700" dirty="0">
                <a:solidFill>
                  <a:srgbClr val="C00000"/>
                </a:solidFill>
              </a:rPr>
              <a:t>,</a:t>
            </a:r>
          </a:p>
          <a:p>
            <a:pPr marL="457200" lvl="1" indent="0" algn="just">
              <a:lnSpc>
                <a:spcPct val="150000"/>
              </a:lnSpc>
              <a:spcBef>
                <a:spcPts val="0"/>
              </a:spcBef>
              <a:buNone/>
            </a:pPr>
            <a:r>
              <a:rPr lang="en-US" altLang="zh-CN" sz="1700" dirty="0">
                <a:solidFill>
                  <a:srgbClr val="C00000"/>
                </a:solidFill>
              </a:rPr>
              <a:t>....</a:t>
            </a:r>
          </a:p>
          <a:p>
            <a:pPr marL="0" indent="0" algn="just">
              <a:lnSpc>
                <a:spcPct val="150000"/>
              </a:lnSpc>
              <a:spcBef>
                <a:spcPts val="0"/>
              </a:spcBef>
              <a:buNone/>
            </a:pPr>
            <a:r>
              <a:rPr lang="en-US" altLang="zh-CN" sz="2100" dirty="0">
                <a:solidFill>
                  <a:srgbClr val="0432FF"/>
                </a:solidFill>
              </a:rPr>
              <a:t>)</a:t>
            </a:r>
            <a:endParaRPr lang="en-US" altLang="zh-CN" sz="2200" dirty="0">
              <a:solidFill>
                <a:srgbClr val="0432FF"/>
              </a:solidFill>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9.6.1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创建操作</a:t>
            </a:r>
          </a:p>
        </p:txBody>
      </p:sp>
      <p:pic>
        <p:nvPicPr>
          <p:cNvPr id="2" name="图片 1">
            <a:extLst>
              <a:ext uri="{FF2B5EF4-FFF2-40B4-BE49-F238E27FC236}">
                <a16:creationId xmlns:a16="http://schemas.microsoft.com/office/drawing/2014/main" id="{E7152277-4C2C-4FF6-806C-A12D74436A29}"/>
              </a:ext>
            </a:extLst>
          </p:cNvPr>
          <p:cNvPicPr>
            <a:picLocks noChangeAspect="1"/>
          </p:cNvPicPr>
          <p:nvPr/>
        </p:nvPicPr>
        <p:blipFill>
          <a:blip r:embed="rId3"/>
          <a:stretch>
            <a:fillRect/>
          </a:stretch>
        </p:blipFill>
        <p:spPr>
          <a:xfrm>
            <a:off x="4122780" y="3241431"/>
            <a:ext cx="6931479" cy="2661557"/>
          </a:xfrm>
          <a:prstGeom prst="rect">
            <a:avLst/>
          </a:prstGeom>
        </p:spPr>
      </p:pic>
    </p:spTree>
    <p:extLst>
      <p:ext uri="{BB962C8B-B14F-4D97-AF65-F5344CB8AC3E}">
        <p14:creationId xmlns:p14="http://schemas.microsoft.com/office/powerpoint/2010/main" val="38940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904020" y="1366667"/>
            <a:ext cx="8008031" cy="112739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800" dirty="0"/>
              <a:t>使用创建语句时需要借助</a:t>
            </a:r>
            <a:r>
              <a:rPr lang="en-US" altLang="zh-CN" sz="1800" dirty="0"/>
              <a:t>execute()</a:t>
            </a:r>
            <a:r>
              <a:rPr lang="zh-CN" altLang="en-US" sz="1800" dirty="0"/>
              <a:t>对数据库执行，如在创建一个名为</a:t>
            </a:r>
            <a:r>
              <a:rPr lang="en-US" sz="1600" b="0" dirty="0">
                <a:solidFill>
                  <a:srgbClr val="000000"/>
                </a:solidFill>
                <a:effectLst/>
                <a:latin typeface="Menlo" panose="020B0609030804020204" pitchFamily="49" charset="0"/>
              </a:rPr>
              <a:t>student</a:t>
            </a:r>
            <a:r>
              <a:rPr lang="zh-CN" altLang="en-US" sz="1800" dirty="0"/>
              <a:t>的数据库。</a:t>
            </a:r>
            <a:endParaRPr lang="en-US" altLang="zh-CN" sz="22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9.6.1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创建操作</a:t>
            </a:r>
          </a:p>
        </p:txBody>
      </p:sp>
      <p:pic>
        <p:nvPicPr>
          <p:cNvPr id="2" name="Picture 1">
            <a:extLst>
              <a:ext uri="{FF2B5EF4-FFF2-40B4-BE49-F238E27FC236}">
                <a16:creationId xmlns:a16="http://schemas.microsoft.com/office/drawing/2014/main" id="{F6D470DE-901D-FEE2-2A47-D9C7EFD44737}"/>
              </a:ext>
            </a:extLst>
          </p:cNvPr>
          <p:cNvPicPr>
            <a:picLocks noChangeAspect="1"/>
          </p:cNvPicPr>
          <p:nvPr/>
        </p:nvPicPr>
        <p:blipFill>
          <a:blip r:embed="rId3"/>
          <a:stretch>
            <a:fillRect/>
          </a:stretch>
        </p:blipFill>
        <p:spPr>
          <a:xfrm>
            <a:off x="838200" y="2494059"/>
            <a:ext cx="7772400" cy="3437584"/>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AB9CE188-D082-0937-68A6-48BE639B3D8E}"/>
              </a:ext>
            </a:extLst>
          </p:cNvPr>
          <p:cNvPicPr>
            <a:picLocks noChangeAspect="1"/>
          </p:cNvPicPr>
          <p:nvPr/>
        </p:nvPicPr>
        <p:blipFill>
          <a:blip r:embed="rId4"/>
          <a:stretch>
            <a:fillRect/>
          </a:stretch>
        </p:blipFill>
        <p:spPr>
          <a:xfrm>
            <a:off x="8912051" y="2166657"/>
            <a:ext cx="2743200" cy="4064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30320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80D50-BECF-517F-CEC0-D7066553334C}"/>
              </a:ext>
            </a:extLst>
          </p:cNvPr>
          <p:cNvSpPr txBox="1"/>
          <p:nvPr/>
        </p:nvSpPr>
        <p:spPr>
          <a:xfrm>
            <a:off x="1117190" y="682896"/>
            <a:ext cx="8719984" cy="302070"/>
          </a:xfrm>
          <a:prstGeom prst="rect">
            <a:avLst/>
          </a:prstGeom>
          <a:noFill/>
        </p:spPr>
        <p:txBody>
          <a:bodyPr wrap="square">
            <a:spAutoFit/>
          </a:bodyPr>
          <a:lstStyle/>
          <a:p>
            <a:pPr>
              <a:lnSpc>
                <a:spcPts val="1575"/>
              </a:lnSpc>
            </a:pPr>
            <a:r>
              <a:rPr lang="zh-CN" altLang="en-US" b="1" dirty="0">
                <a:solidFill>
                  <a:srgbClr val="800000"/>
                </a:solidFill>
                <a:effectLst/>
                <a:latin typeface="Menlo" panose="020B0609030804020204" pitchFamily="49" charset="0"/>
              </a:rPr>
              <a:t>上面创建的</a:t>
            </a:r>
            <a:r>
              <a:rPr lang="en-US" b="1" dirty="0">
                <a:solidFill>
                  <a:srgbClr val="800000"/>
                </a:solidFill>
                <a:effectLst/>
                <a:latin typeface="Menlo" panose="020B0609030804020204" pitchFamily="49" charset="0"/>
              </a:rPr>
              <a:t>student</a:t>
            </a:r>
            <a:r>
              <a:rPr lang="zh-CN" altLang="en-US" b="1" dirty="0">
                <a:solidFill>
                  <a:srgbClr val="800000"/>
                </a:solidFill>
                <a:effectLst/>
                <a:latin typeface="Menlo" panose="020B0609030804020204" pitchFamily="49" charset="0"/>
              </a:rPr>
              <a:t>数据库中没有任何一张表，因此向其中添加</a:t>
            </a:r>
            <a:r>
              <a:rPr lang="en-US" b="1" dirty="0" err="1">
                <a:solidFill>
                  <a:srgbClr val="800000"/>
                </a:solidFill>
                <a:effectLst/>
                <a:latin typeface="Menlo" panose="020B0609030804020204" pitchFamily="49" charset="0"/>
              </a:rPr>
              <a:t>stu_info</a:t>
            </a:r>
            <a:r>
              <a:rPr lang="zh-CN" altLang="en-US" b="1" dirty="0">
                <a:solidFill>
                  <a:srgbClr val="800000"/>
                </a:solidFill>
                <a:effectLst/>
                <a:latin typeface="Menlo" panose="020B0609030804020204" pitchFamily="49" charset="0"/>
              </a:rPr>
              <a:t>表</a:t>
            </a:r>
            <a:endParaRPr lang="zh-CN" altLang="en-US" b="0" dirty="0">
              <a:solidFill>
                <a:srgbClr val="000000"/>
              </a:solidFill>
              <a:effectLst/>
              <a:latin typeface="Menlo" panose="020B0609030804020204" pitchFamily="49" charset="0"/>
            </a:endParaRPr>
          </a:p>
        </p:txBody>
      </p:sp>
      <p:pic>
        <p:nvPicPr>
          <p:cNvPr id="4" name="Picture 3">
            <a:extLst>
              <a:ext uri="{FF2B5EF4-FFF2-40B4-BE49-F238E27FC236}">
                <a16:creationId xmlns:a16="http://schemas.microsoft.com/office/drawing/2014/main" id="{7E1EE979-2352-FD9F-0F54-D36A5027EB15}"/>
              </a:ext>
            </a:extLst>
          </p:cNvPr>
          <p:cNvPicPr>
            <a:picLocks noChangeAspect="1"/>
          </p:cNvPicPr>
          <p:nvPr/>
        </p:nvPicPr>
        <p:blipFill>
          <a:blip r:embed="rId2"/>
          <a:stretch>
            <a:fillRect/>
          </a:stretch>
        </p:blipFill>
        <p:spPr>
          <a:xfrm>
            <a:off x="848081" y="1306972"/>
            <a:ext cx="7772400" cy="3742609"/>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07B5E249-EEF9-D737-F2C0-65B569F8B116}"/>
              </a:ext>
            </a:extLst>
          </p:cNvPr>
          <p:cNvPicPr>
            <a:picLocks noChangeAspect="1"/>
          </p:cNvPicPr>
          <p:nvPr/>
        </p:nvPicPr>
        <p:blipFill>
          <a:blip r:embed="rId3"/>
          <a:stretch>
            <a:fillRect/>
          </a:stretch>
        </p:blipFill>
        <p:spPr>
          <a:xfrm>
            <a:off x="5196349" y="2978115"/>
            <a:ext cx="6147570" cy="298904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96018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446804" y="1277063"/>
            <a:ext cx="5320533" cy="1489581"/>
          </a:xfrm>
          <a:prstGeom prst="rect">
            <a:avLst/>
          </a:prstGeom>
        </p:spPr>
        <p:txBody>
          <a:bodyPr>
            <a:normAutofit fontScale="925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通过</a:t>
            </a:r>
            <a:r>
              <a:rPr lang="en-US" altLang="zh-CN" sz="1800" dirty="0" err="1"/>
              <a:t>pymysql</a:t>
            </a:r>
            <a:r>
              <a:rPr lang="zh-CN" altLang="en-US" sz="1800" dirty="0"/>
              <a:t>第三方库可以使用</a:t>
            </a:r>
            <a:r>
              <a:rPr lang="en-US" altLang="zh-CN" sz="1800" dirty="0" err="1"/>
              <a:t>sql</a:t>
            </a:r>
            <a:r>
              <a:rPr lang="zh-CN" altLang="en-US" sz="1800" dirty="0"/>
              <a:t>语句向数据库表中插入记录，具体的</a:t>
            </a:r>
            <a:r>
              <a:rPr lang="en-US" altLang="zh-CN" sz="1800" dirty="0" err="1"/>
              <a:t>sql</a:t>
            </a:r>
            <a:r>
              <a:rPr lang="zh-CN" altLang="en-US" sz="1800" dirty="0"/>
              <a:t>语法为：</a:t>
            </a:r>
          </a:p>
          <a:p>
            <a:pPr marL="0" indent="0" algn="just">
              <a:lnSpc>
                <a:spcPct val="150000"/>
              </a:lnSpc>
              <a:spcBef>
                <a:spcPts val="0"/>
              </a:spcBef>
              <a:buNone/>
            </a:pPr>
            <a:r>
              <a:rPr lang="en-US" altLang="zh-CN" sz="1800" dirty="0">
                <a:solidFill>
                  <a:srgbClr val="FF0000"/>
                </a:solidFill>
              </a:rPr>
              <a:t>    INSERT INTO </a:t>
            </a:r>
            <a:r>
              <a:rPr lang="zh-CN" altLang="en-US" sz="1800" dirty="0">
                <a:solidFill>
                  <a:srgbClr val="FF0000"/>
                </a:solidFill>
              </a:rPr>
              <a:t>表名称 </a:t>
            </a:r>
            <a:r>
              <a:rPr lang="en-US" altLang="zh-CN" sz="1800" dirty="0">
                <a:solidFill>
                  <a:srgbClr val="FF0000"/>
                </a:solidFill>
              </a:rPr>
              <a:t>VALUES (</a:t>
            </a:r>
            <a:r>
              <a:rPr lang="zh-CN" altLang="en-US" sz="1800" dirty="0">
                <a:solidFill>
                  <a:srgbClr val="FF0000"/>
                </a:solidFill>
              </a:rPr>
              <a:t>值</a:t>
            </a:r>
            <a:r>
              <a:rPr lang="en-US" altLang="zh-CN" sz="1800" dirty="0">
                <a:solidFill>
                  <a:srgbClr val="FF0000"/>
                </a:solidFill>
              </a:rPr>
              <a:t>1, </a:t>
            </a:r>
            <a:r>
              <a:rPr lang="zh-CN" altLang="en-US" sz="1800" dirty="0">
                <a:solidFill>
                  <a:srgbClr val="FF0000"/>
                </a:solidFill>
              </a:rPr>
              <a:t>值</a:t>
            </a:r>
            <a:r>
              <a:rPr lang="en-US" altLang="zh-CN" sz="1800" dirty="0">
                <a:solidFill>
                  <a:srgbClr val="FF0000"/>
                </a:solidFill>
              </a:rPr>
              <a:t>2,....)</a:t>
            </a:r>
          </a:p>
          <a:p>
            <a:pPr marL="0" indent="0" algn="just">
              <a:lnSpc>
                <a:spcPct val="150000"/>
              </a:lnSpc>
              <a:spcBef>
                <a:spcPts val="0"/>
              </a:spcBef>
              <a:buNone/>
            </a:pPr>
            <a:r>
              <a:rPr lang="zh-CN" altLang="en-US" sz="1800" dirty="0"/>
              <a:t>    插入语法也需借助</a:t>
            </a:r>
            <a:r>
              <a:rPr lang="en-US" altLang="zh-CN" sz="1800" dirty="0"/>
              <a:t>execute()</a:t>
            </a:r>
            <a:r>
              <a:rPr lang="zh-CN" altLang="en-US" sz="1800" dirty="0"/>
              <a:t>对数据库执行</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9.6.2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插入操作</a:t>
            </a:r>
          </a:p>
        </p:txBody>
      </p:sp>
      <p:pic>
        <p:nvPicPr>
          <p:cNvPr id="2" name="Picture 1">
            <a:extLst>
              <a:ext uri="{FF2B5EF4-FFF2-40B4-BE49-F238E27FC236}">
                <a16:creationId xmlns:a16="http://schemas.microsoft.com/office/drawing/2014/main" id="{7A8B74AC-119A-274A-5989-88947B235794}"/>
              </a:ext>
            </a:extLst>
          </p:cNvPr>
          <p:cNvPicPr>
            <a:picLocks noChangeAspect="1"/>
          </p:cNvPicPr>
          <p:nvPr/>
        </p:nvPicPr>
        <p:blipFill>
          <a:blip r:embed="rId3"/>
          <a:stretch>
            <a:fillRect/>
          </a:stretch>
        </p:blipFill>
        <p:spPr>
          <a:xfrm>
            <a:off x="962619" y="2946745"/>
            <a:ext cx="7772400" cy="342367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D0DF40E7-D8A1-975F-FE84-E01C78BE278F}"/>
              </a:ext>
            </a:extLst>
          </p:cNvPr>
          <p:cNvPicPr>
            <a:picLocks noChangeAspect="1"/>
          </p:cNvPicPr>
          <p:nvPr/>
        </p:nvPicPr>
        <p:blipFill>
          <a:blip r:embed="rId4"/>
          <a:stretch>
            <a:fillRect/>
          </a:stretch>
        </p:blipFill>
        <p:spPr>
          <a:xfrm>
            <a:off x="5685275" y="976459"/>
            <a:ext cx="6424663" cy="267694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0274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E6889E-09AD-ABF6-7399-B5A72C9988B3}"/>
              </a:ext>
            </a:extLst>
          </p:cNvPr>
          <p:cNvPicPr>
            <a:picLocks noChangeAspect="1"/>
          </p:cNvPicPr>
          <p:nvPr/>
        </p:nvPicPr>
        <p:blipFill>
          <a:blip r:embed="rId2"/>
          <a:stretch>
            <a:fillRect/>
          </a:stretch>
        </p:blipFill>
        <p:spPr>
          <a:xfrm>
            <a:off x="661219" y="791727"/>
            <a:ext cx="7772400" cy="3622728"/>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78B3961C-5B33-9D96-6811-292FD11D1689}"/>
              </a:ext>
            </a:extLst>
          </p:cNvPr>
          <p:cNvPicPr>
            <a:picLocks noChangeAspect="1"/>
          </p:cNvPicPr>
          <p:nvPr/>
        </p:nvPicPr>
        <p:blipFill>
          <a:blip r:embed="rId3"/>
          <a:stretch>
            <a:fillRect/>
          </a:stretch>
        </p:blipFill>
        <p:spPr>
          <a:xfrm>
            <a:off x="5174629" y="3561736"/>
            <a:ext cx="6172412" cy="227596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3961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E8674A-3A3D-2F4A-9059-3628B048108A}"/>
              </a:ext>
            </a:extLst>
          </p:cNvPr>
          <p:cNvPicPr>
            <a:picLocks noChangeAspect="1"/>
          </p:cNvPicPr>
          <p:nvPr/>
        </p:nvPicPr>
        <p:blipFill>
          <a:blip r:embed="rId2"/>
          <a:stretch>
            <a:fillRect/>
          </a:stretch>
        </p:blipFill>
        <p:spPr>
          <a:xfrm>
            <a:off x="602226" y="412524"/>
            <a:ext cx="7772400" cy="4558113"/>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D5742C72-FB4D-F3AF-50F2-5282ACE1025B}"/>
              </a:ext>
            </a:extLst>
          </p:cNvPr>
          <p:cNvPicPr>
            <a:picLocks noChangeAspect="1"/>
          </p:cNvPicPr>
          <p:nvPr/>
        </p:nvPicPr>
        <p:blipFill>
          <a:blip r:embed="rId3"/>
          <a:stretch>
            <a:fillRect/>
          </a:stretch>
        </p:blipFill>
        <p:spPr>
          <a:xfrm>
            <a:off x="5331264" y="3638468"/>
            <a:ext cx="6258510" cy="266433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7069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077379"/>
            <a:ext cx="9982200" cy="270324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600" dirty="0">
                <a:latin typeface="宋体" panose="02010600030101010101" pitchFamily="2" charset="-122"/>
                <a:ea typeface="宋体" panose="02010600030101010101" pitchFamily="2" charset="-122"/>
              </a:rPr>
              <a:t>    </a:t>
            </a:r>
            <a:r>
              <a:rPr lang="zh-CN" altLang="en-US" sz="1800" dirty="0"/>
              <a:t>除了向表中插入记录以外，</a:t>
            </a:r>
            <a:r>
              <a:rPr lang="en-US" altLang="zh-CN" sz="1800" dirty="0"/>
              <a:t>python</a:t>
            </a:r>
            <a:r>
              <a:rPr lang="zh-CN" altLang="en-US" sz="1800" dirty="0"/>
              <a:t>也可以查询表中的信息。</a:t>
            </a:r>
            <a:r>
              <a:rPr lang="en-US" altLang="zh-CN" sz="1800" dirty="0"/>
              <a:t>Python</a:t>
            </a:r>
            <a:r>
              <a:rPr lang="zh-CN" altLang="en-US" sz="1800" dirty="0"/>
              <a:t>查询</a:t>
            </a:r>
            <a:r>
              <a:rPr lang="en-US" altLang="zh-CN" sz="1800" dirty="0" err="1"/>
              <a:t>Mysql</a:t>
            </a:r>
            <a:r>
              <a:rPr lang="zh-CN" altLang="en-US" sz="1800" dirty="0"/>
              <a:t>一般使用 </a:t>
            </a:r>
            <a:r>
              <a:rPr lang="en-US" altLang="zh-CN" sz="1800" dirty="0" err="1"/>
              <a:t>fetchone</a:t>
            </a:r>
            <a:r>
              <a:rPr lang="en-US" altLang="zh-CN" sz="1800" dirty="0"/>
              <a:t>() </a:t>
            </a:r>
            <a:r>
              <a:rPr lang="zh-CN" altLang="en-US" sz="1800" dirty="0"/>
              <a:t>方法获取单条数据</a:t>
            </a:r>
            <a:r>
              <a:rPr lang="en-US" altLang="zh-CN" sz="1800" dirty="0"/>
              <a:t>, </a:t>
            </a:r>
            <a:r>
              <a:rPr lang="zh-CN" altLang="en-US" sz="1800" dirty="0"/>
              <a:t>使用</a:t>
            </a:r>
            <a:r>
              <a:rPr lang="en-US" altLang="zh-CN" sz="1800" dirty="0" err="1"/>
              <a:t>fetchall</a:t>
            </a:r>
            <a:r>
              <a:rPr lang="en-US" altLang="zh-CN" sz="1800" dirty="0"/>
              <a:t>() </a:t>
            </a:r>
            <a:r>
              <a:rPr lang="zh-CN" altLang="en-US" sz="1800" dirty="0"/>
              <a:t>方法获取多条数据。</a:t>
            </a:r>
          </a:p>
          <a:p>
            <a:pPr lvl="1" algn="just">
              <a:lnSpc>
                <a:spcPct val="150000"/>
              </a:lnSpc>
              <a:spcBef>
                <a:spcPts val="0"/>
              </a:spcBef>
            </a:pPr>
            <a:r>
              <a:rPr lang="en-US" altLang="zh-CN" sz="1800" dirty="0" err="1">
                <a:solidFill>
                  <a:srgbClr val="FF0000"/>
                </a:solidFill>
              </a:rPr>
              <a:t>fetchone</a:t>
            </a:r>
            <a:r>
              <a:rPr lang="en-US" altLang="zh-CN" sz="1800" dirty="0">
                <a:solidFill>
                  <a:srgbClr val="FF0000"/>
                </a:solidFill>
              </a:rPr>
              <a:t>()</a:t>
            </a:r>
            <a:r>
              <a:rPr lang="zh-CN" altLang="en-US" sz="1800" dirty="0"/>
              <a:t>：该方法获取下一个查询结果集，结果集是一个对象</a:t>
            </a:r>
          </a:p>
          <a:p>
            <a:pPr lvl="1" algn="just">
              <a:lnSpc>
                <a:spcPct val="150000"/>
              </a:lnSpc>
              <a:spcBef>
                <a:spcPts val="0"/>
              </a:spcBef>
            </a:pPr>
            <a:r>
              <a:rPr lang="en-US" altLang="zh-CN" sz="1800" dirty="0" err="1">
                <a:solidFill>
                  <a:srgbClr val="FF0000"/>
                </a:solidFill>
              </a:rPr>
              <a:t>fetchall</a:t>
            </a:r>
            <a:r>
              <a:rPr lang="en-US" altLang="zh-CN" sz="1800" dirty="0">
                <a:solidFill>
                  <a:srgbClr val="FF0000"/>
                </a:solidFill>
              </a:rPr>
              <a:t>()</a:t>
            </a:r>
            <a:r>
              <a:rPr lang="zh-CN" altLang="en-US" sz="1800" dirty="0"/>
              <a:t>：接收全部的返回结果行</a:t>
            </a:r>
            <a:r>
              <a:rPr lang="en-US" altLang="zh-CN" sz="1800" dirty="0"/>
              <a:t>.</a:t>
            </a:r>
          </a:p>
          <a:p>
            <a:pPr lvl="1" algn="just">
              <a:lnSpc>
                <a:spcPct val="150000"/>
              </a:lnSpc>
              <a:spcBef>
                <a:spcPts val="0"/>
              </a:spcBef>
            </a:pPr>
            <a:r>
              <a:rPr lang="en-US" altLang="zh-CN" sz="1800" dirty="0" err="1">
                <a:solidFill>
                  <a:srgbClr val="FF0000"/>
                </a:solidFill>
              </a:rPr>
              <a:t>rowcount</a:t>
            </a:r>
            <a:r>
              <a:rPr lang="zh-CN" altLang="en-US" sz="1800" dirty="0"/>
              <a:t>：这是一个只读属性，并返回执行</a:t>
            </a:r>
            <a:r>
              <a:rPr lang="en-US" altLang="zh-CN" sz="1800" dirty="0"/>
              <a:t>execute()</a:t>
            </a:r>
            <a:r>
              <a:rPr lang="zh-CN" altLang="en-US" sz="1800" dirty="0"/>
              <a:t>方法后影响的行数。</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9.6.3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查询操作</a:t>
            </a:r>
          </a:p>
        </p:txBody>
      </p:sp>
    </p:spTree>
    <p:extLst>
      <p:ext uri="{BB962C8B-B14F-4D97-AF65-F5344CB8AC3E}">
        <p14:creationId xmlns:p14="http://schemas.microsoft.com/office/powerpoint/2010/main" val="178340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37741" y="1499937"/>
            <a:ext cx="5883545"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200" dirty="0"/>
              <a:t>3.</a:t>
            </a:r>
            <a:r>
              <a:rPr lang="zh-CN" altLang="en-US" sz="2200" dirty="0"/>
              <a:t>查询操作</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9.6.3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查询操作</a:t>
            </a:r>
          </a:p>
        </p:txBody>
      </p:sp>
      <p:pic>
        <p:nvPicPr>
          <p:cNvPr id="2" name="Picture 1">
            <a:extLst>
              <a:ext uri="{FF2B5EF4-FFF2-40B4-BE49-F238E27FC236}">
                <a16:creationId xmlns:a16="http://schemas.microsoft.com/office/drawing/2014/main" id="{8A93D349-CDE9-3928-7F58-FEF1B492926A}"/>
              </a:ext>
            </a:extLst>
          </p:cNvPr>
          <p:cNvPicPr>
            <a:picLocks noChangeAspect="1"/>
          </p:cNvPicPr>
          <p:nvPr/>
        </p:nvPicPr>
        <p:blipFill>
          <a:blip r:embed="rId3"/>
          <a:stretch>
            <a:fillRect/>
          </a:stretch>
        </p:blipFill>
        <p:spPr>
          <a:xfrm>
            <a:off x="513736" y="1225204"/>
            <a:ext cx="7772400" cy="5351488"/>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F9A62CA5-DEB3-F737-38A9-03A053E15A40}"/>
              </a:ext>
            </a:extLst>
          </p:cNvPr>
          <p:cNvPicPr>
            <a:picLocks noChangeAspect="1"/>
          </p:cNvPicPr>
          <p:nvPr/>
        </p:nvPicPr>
        <p:blipFill>
          <a:blip r:embed="rId4"/>
          <a:stretch>
            <a:fillRect/>
          </a:stretch>
        </p:blipFill>
        <p:spPr>
          <a:xfrm>
            <a:off x="8566150" y="3740560"/>
            <a:ext cx="2374900" cy="1943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8573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185378"/>
            <a:ext cx="8649738" cy="1017767"/>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t>Python</a:t>
            </a:r>
            <a:r>
              <a:rPr lang="zh-CN" altLang="en-US" sz="1800" dirty="0"/>
              <a:t>可以对数据库进行更新，用于更新数据表的的数据，具体的</a:t>
            </a:r>
            <a:r>
              <a:rPr lang="en-US" altLang="zh-CN" sz="1800" dirty="0" err="1"/>
              <a:t>sql</a:t>
            </a:r>
            <a:r>
              <a:rPr lang="zh-CN" altLang="en-US" sz="1800" dirty="0"/>
              <a:t>语法为：</a:t>
            </a:r>
          </a:p>
          <a:p>
            <a:pPr marL="0" indent="0" algn="just">
              <a:lnSpc>
                <a:spcPct val="150000"/>
              </a:lnSpc>
              <a:spcBef>
                <a:spcPts val="0"/>
              </a:spcBef>
              <a:buNone/>
            </a:pPr>
            <a:r>
              <a:rPr lang="en-US" altLang="zh-CN" sz="1800" dirty="0"/>
              <a:t>    </a:t>
            </a:r>
            <a:r>
              <a:rPr lang="en-US" altLang="zh-CN" sz="1800" dirty="0">
                <a:solidFill>
                  <a:srgbClr val="FF0000"/>
                </a:solidFill>
              </a:rPr>
              <a:t>UPDATE </a:t>
            </a:r>
            <a:r>
              <a:rPr lang="zh-CN" altLang="en-US" sz="1800" dirty="0">
                <a:solidFill>
                  <a:srgbClr val="FF0000"/>
                </a:solidFill>
              </a:rPr>
              <a:t>表名称 </a:t>
            </a:r>
            <a:r>
              <a:rPr lang="en-US" altLang="zh-CN" sz="1800" dirty="0">
                <a:solidFill>
                  <a:srgbClr val="FF0000"/>
                </a:solidFill>
              </a:rPr>
              <a:t>SET </a:t>
            </a:r>
            <a:r>
              <a:rPr lang="zh-CN" altLang="en-US" sz="1800" dirty="0">
                <a:solidFill>
                  <a:srgbClr val="FF0000"/>
                </a:solidFill>
              </a:rPr>
              <a:t>列名称 </a:t>
            </a:r>
            <a:r>
              <a:rPr lang="en-US" altLang="zh-CN" sz="1800" dirty="0">
                <a:solidFill>
                  <a:srgbClr val="FF0000"/>
                </a:solidFill>
              </a:rPr>
              <a:t>= </a:t>
            </a:r>
            <a:r>
              <a:rPr lang="zh-CN" altLang="en-US" sz="1800" dirty="0">
                <a:solidFill>
                  <a:srgbClr val="FF0000"/>
                </a:solidFill>
              </a:rPr>
              <a:t>新值 </a:t>
            </a:r>
            <a:r>
              <a:rPr lang="en-US" altLang="zh-CN" sz="1800" dirty="0">
                <a:solidFill>
                  <a:srgbClr val="FF0000"/>
                </a:solidFill>
              </a:rPr>
              <a:t>WHERE </a:t>
            </a:r>
            <a:r>
              <a:rPr lang="zh-CN" altLang="en-US" sz="1800" dirty="0">
                <a:solidFill>
                  <a:srgbClr val="FF0000"/>
                </a:solidFill>
              </a:rPr>
              <a:t>列名称 </a:t>
            </a:r>
            <a:r>
              <a:rPr lang="en-US" altLang="zh-CN" sz="1800" dirty="0">
                <a:solidFill>
                  <a:srgbClr val="FF0000"/>
                </a:solidFill>
              </a:rPr>
              <a:t>= </a:t>
            </a:r>
            <a:r>
              <a:rPr lang="zh-CN" altLang="en-US" sz="1800" dirty="0">
                <a:solidFill>
                  <a:srgbClr val="FF0000"/>
                </a:solidFill>
              </a:rPr>
              <a:t>某值</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9.6.4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修改操作</a:t>
            </a:r>
          </a:p>
        </p:txBody>
      </p:sp>
      <p:pic>
        <p:nvPicPr>
          <p:cNvPr id="2" name="Picture 1">
            <a:extLst>
              <a:ext uri="{FF2B5EF4-FFF2-40B4-BE49-F238E27FC236}">
                <a16:creationId xmlns:a16="http://schemas.microsoft.com/office/drawing/2014/main" id="{1224BE39-B4D0-0AB6-BFF1-B40A9DBBCDBE}"/>
              </a:ext>
            </a:extLst>
          </p:cNvPr>
          <p:cNvPicPr>
            <a:picLocks noChangeAspect="1"/>
          </p:cNvPicPr>
          <p:nvPr/>
        </p:nvPicPr>
        <p:blipFill>
          <a:blip r:embed="rId3"/>
          <a:stretch>
            <a:fillRect/>
          </a:stretch>
        </p:blipFill>
        <p:spPr>
          <a:xfrm>
            <a:off x="696057" y="2115715"/>
            <a:ext cx="7772400" cy="4315989"/>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07AB2AB8-B978-1FCE-F13B-AB1E1892EF23}"/>
              </a:ext>
            </a:extLst>
          </p:cNvPr>
          <p:cNvPicPr>
            <a:picLocks noChangeAspect="1"/>
          </p:cNvPicPr>
          <p:nvPr/>
        </p:nvPicPr>
        <p:blipFill>
          <a:blip r:embed="rId4"/>
          <a:stretch>
            <a:fillRect/>
          </a:stretch>
        </p:blipFill>
        <p:spPr>
          <a:xfrm>
            <a:off x="5869008" y="4273709"/>
            <a:ext cx="6019516" cy="251511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6848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302282" y="1276790"/>
            <a:ext cx="9585917" cy="919333"/>
          </a:xfrm>
          <a:prstGeom prst="rect">
            <a:avLst/>
          </a:prstGeom>
        </p:spPr>
        <p:txBody>
          <a:bodyPr>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t>Python</a:t>
            </a:r>
            <a:r>
              <a:rPr lang="zh-CN" altLang="en-US" sz="1800" dirty="0"/>
              <a:t>可以对数据库进行删除，用于删除数据表中的某个或某些记录，具体的</a:t>
            </a:r>
            <a:r>
              <a:rPr lang="en-US" altLang="zh-CN" sz="1800" dirty="0" err="1"/>
              <a:t>sql</a:t>
            </a:r>
            <a:r>
              <a:rPr lang="zh-CN" altLang="en-US" sz="1800" dirty="0"/>
              <a:t>语法为：</a:t>
            </a:r>
          </a:p>
          <a:p>
            <a:pPr marL="0" indent="0" algn="just">
              <a:lnSpc>
                <a:spcPct val="150000"/>
              </a:lnSpc>
              <a:spcBef>
                <a:spcPts val="0"/>
              </a:spcBef>
              <a:buNone/>
            </a:pPr>
            <a:r>
              <a:rPr lang="en-US" altLang="zh-CN" sz="1800" dirty="0"/>
              <a:t>    </a:t>
            </a:r>
            <a:r>
              <a:rPr lang="en-US" altLang="zh-CN" sz="1800" dirty="0">
                <a:solidFill>
                  <a:srgbClr val="FF0000"/>
                </a:solidFill>
              </a:rPr>
              <a:t>DELETE FROM </a:t>
            </a:r>
            <a:r>
              <a:rPr lang="zh-CN" altLang="en-US" sz="1800" dirty="0">
                <a:solidFill>
                  <a:srgbClr val="FF0000"/>
                </a:solidFill>
              </a:rPr>
              <a:t>表名称 </a:t>
            </a:r>
            <a:r>
              <a:rPr lang="en-US" altLang="zh-CN" sz="1800" dirty="0">
                <a:solidFill>
                  <a:srgbClr val="FF0000"/>
                </a:solidFill>
              </a:rPr>
              <a:t>WHERE </a:t>
            </a:r>
            <a:r>
              <a:rPr lang="zh-CN" altLang="en-US" sz="1800" dirty="0">
                <a:solidFill>
                  <a:srgbClr val="FF0000"/>
                </a:solidFill>
              </a:rPr>
              <a:t>列名称 </a:t>
            </a:r>
            <a:r>
              <a:rPr lang="en-US" altLang="zh-CN" sz="1800" dirty="0">
                <a:solidFill>
                  <a:srgbClr val="FF0000"/>
                </a:solidFill>
              </a:rPr>
              <a:t>= </a:t>
            </a:r>
            <a:r>
              <a:rPr lang="zh-CN" altLang="en-US" sz="1800" dirty="0">
                <a:solidFill>
                  <a:srgbClr val="FF0000"/>
                </a:solidFill>
              </a:rPr>
              <a:t>值</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latin typeface="Microsoft YaHei" panose="020B0503020204020204" pitchFamily="34" charset="-122"/>
                <a:ea typeface="Microsoft YaHei" panose="020B0503020204020204" pitchFamily="34" charset="-122"/>
              </a:rPr>
              <a:t>9.6.5 </a:t>
            </a:r>
            <a:r>
              <a:rPr lang="en-US" altLang="zh-CN" dirty="0" err="1">
                <a:latin typeface="Microsoft YaHei" panose="020B0503020204020204" pitchFamily="34" charset="-122"/>
                <a:ea typeface="Microsoft YaHei" panose="020B0503020204020204" pitchFamily="34" charset="-122"/>
              </a:rPr>
              <a:t>sql</a:t>
            </a:r>
            <a:r>
              <a:rPr lang="zh-CN" altLang="en-US" dirty="0">
                <a:latin typeface="Microsoft YaHei" panose="020B0503020204020204" pitchFamily="34" charset="-122"/>
                <a:ea typeface="Microsoft YaHei" panose="020B0503020204020204" pitchFamily="34" charset="-122"/>
              </a:rPr>
              <a:t>文件读写</a:t>
            </a:r>
            <a:r>
              <a:rPr lang="en-US" altLang="zh-CN" dirty="0">
                <a:latin typeface="Microsoft YaHei" panose="020B0503020204020204" pitchFamily="34" charset="-122"/>
                <a:ea typeface="Microsoft YaHei" panose="020B0503020204020204" pitchFamily="34" charset="-122"/>
              </a:rPr>
              <a:t>: </a:t>
            </a:r>
            <a:r>
              <a:rPr lang="zh-CN" altLang="en-US" dirty="0">
                <a:solidFill>
                  <a:srgbClr val="0432FF"/>
                </a:solidFill>
                <a:latin typeface="Microsoft YaHei" panose="020B0503020204020204" pitchFamily="34" charset="-122"/>
                <a:ea typeface="Microsoft YaHei" panose="020B0503020204020204" pitchFamily="34" charset="-122"/>
              </a:rPr>
              <a:t>删除操作</a:t>
            </a:r>
          </a:p>
        </p:txBody>
      </p:sp>
      <p:pic>
        <p:nvPicPr>
          <p:cNvPr id="2" name="Picture 1">
            <a:extLst>
              <a:ext uri="{FF2B5EF4-FFF2-40B4-BE49-F238E27FC236}">
                <a16:creationId xmlns:a16="http://schemas.microsoft.com/office/drawing/2014/main" id="{0B91F7E2-A25F-9AA0-CF29-08899EB2A63C}"/>
              </a:ext>
            </a:extLst>
          </p:cNvPr>
          <p:cNvPicPr>
            <a:picLocks noChangeAspect="1"/>
          </p:cNvPicPr>
          <p:nvPr/>
        </p:nvPicPr>
        <p:blipFill>
          <a:blip r:embed="rId3"/>
          <a:stretch>
            <a:fillRect/>
          </a:stretch>
        </p:blipFill>
        <p:spPr>
          <a:xfrm>
            <a:off x="800761" y="2239812"/>
            <a:ext cx="7772400" cy="3949611"/>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E680B254-41A4-ADC3-4856-558FBD1666FF}"/>
              </a:ext>
            </a:extLst>
          </p:cNvPr>
          <p:cNvPicPr>
            <a:picLocks noChangeAspect="1"/>
          </p:cNvPicPr>
          <p:nvPr/>
        </p:nvPicPr>
        <p:blipFill>
          <a:blip r:embed="rId4"/>
          <a:stretch>
            <a:fillRect/>
          </a:stretch>
        </p:blipFill>
        <p:spPr>
          <a:xfrm>
            <a:off x="6095240" y="4214617"/>
            <a:ext cx="5593829" cy="228688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3131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72833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2.xml><?xml version="1.0" encoding="utf-8"?>
<ds:datastoreItem xmlns:ds="http://schemas.openxmlformats.org/officeDocument/2006/customXml" ds:itemID="{BDBAFF00-647E-4627-9B6C-A5CDC1F3220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 ds:uri="http://purl.org/dc/terms/"/>
  </ds:schemaRefs>
</ds:datastoreItem>
</file>

<file path=customXml/itemProps3.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5478</TotalTime>
  <Words>6676</Words>
  <Application>Microsoft Macintosh PowerPoint</Application>
  <PresentationFormat>Widescreen</PresentationFormat>
  <Paragraphs>403</Paragraphs>
  <Slides>71</Slides>
  <Notes>60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71</vt:i4>
      </vt:variant>
    </vt:vector>
  </HeadingPairs>
  <TitlesOfParts>
    <vt:vector size="88" baseType="lpstr">
      <vt:lpstr>euclid_circular_a</vt:lpstr>
      <vt:lpstr>Inter-Bold</vt:lpstr>
      <vt:lpstr>Microsoft YaHei</vt:lpstr>
      <vt:lpstr>宋体</vt:lpstr>
      <vt:lpstr>Arial</vt:lpstr>
      <vt:lpstr>Consolas</vt:lpstr>
      <vt:lpstr>Courier New</vt:lpstr>
      <vt:lpstr>Euphemia</vt:lpstr>
      <vt:lpstr>Lato</vt:lpstr>
      <vt:lpstr>Menlo</vt:lpstr>
      <vt:lpstr>Nunito</vt:lpstr>
      <vt:lpstr>Open Sans</vt:lpstr>
      <vt:lpstr>Plantagenet Cherokee</vt:lpstr>
      <vt:lpstr>source sans pro</vt:lpstr>
      <vt:lpstr>Times New Roman</vt:lpstr>
      <vt:lpstr>Wingdings</vt:lpstr>
      <vt:lpstr>Academic Literature 16x9</vt:lpstr>
      <vt:lpstr>第9章 文件读写</vt:lpstr>
      <vt:lpstr>教学内容</vt:lpstr>
      <vt:lpstr> 9.1 文件数据读写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9.2 txt文件读写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9.3 csv文件读写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Reading CSV Files With Pandas</vt:lpstr>
      <vt:lpstr>9.4 xls与xlsx文件读写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Reading Excel File using Pandas</vt:lpstr>
      <vt:lpstr>9.5 json文件读写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9.6 sql文件读写(SL)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
  <cp:lastModifiedBy>Hao Fan</cp:lastModifiedBy>
  <cp:revision>1466</cp:revision>
  <dcterms:created xsi:type="dcterms:W3CDTF">2014-04-17T22:28:38Z</dcterms:created>
  <dcterms:modified xsi:type="dcterms:W3CDTF">2026-02-26T07:23:38Z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