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57"/>
  </p:notesMasterIdLst>
  <p:handoutMasterIdLst>
    <p:handoutMasterId r:id="rId58"/>
  </p:handoutMasterIdLst>
  <p:sldIdLst>
    <p:sldId id="256" r:id="rId5"/>
    <p:sldId id="257" r:id="rId6"/>
    <p:sldId id="304" r:id="rId7"/>
    <p:sldId id="263" r:id="rId8"/>
    <p:sldId id="305" r:id="rId9"/>
    <p:sldId id="293" r:id="rId10"/>
    <p:sldId id="292" r:id="rId11"/>
    <p:sldId id="294" r:id="rId12"/>
    <p:sldId id="273" r:id="rId13"/>
    <p:sldId id="272" r:id="rId14"/>
    <p:sldId id="274" r:id="rId15"/>
    <p:sldId id="306" r:id="rId16"/>
    <p:sldId id="275" r:id="rId17"/>
    <p:sldId id="286" r:id="rId18"/>
    <p:sldId id="307" r:id="rId19"/>
    <p:sldId id="276" r:id="rId20"/>
    <p:sldId id="287" r:id="rId21"/>
    <p:sldId id="350" r:id="rId22"/>
    <p:sldId id="277" r:id="rId23"/>
    <p:sldId id="288" r:id="rId24"/>
    <p:sldId id="351" r:id="rId25"/>
    <p:sldId id="355" r:id="rId26"/>
    <p:sldId id="356" r:id="rId27"/>
    <p:sldId id="357" r:id="rId28"/>
    <p:sldId id="358" r:id="rId29"/>
    <p:sldId id="280" r:id="rId30"/>
    <p:sldId id="279" r:id="rId31"/>
    <p:sldId id="289" r:id="rId32"/>
    <p:sldId id="359" r:id="rId33"/>
    <p:sldId id="281" r:id="rId34"/>
    <p:sldId id="283" r:id="rId35"/>
    <p:sldId id="360" r:id="rId36"/>
    <p:sldId id="282" r:id="rId37"/>
    <p:sldId id="291" r:id="rId38"/>
    <p:sldId id="361" r:id="rId39"/>
    <p:sldId id="284" r:id="rId40"/>
    <p:sldId id="285" r:id="rId41"/>
    <p:sldId id="295" r:id="rId42"/>
    <p:sldId id="308" r:id="rId43"/>
    <p:sldId id="309" r:id="rId44"/>
    <p:sldId id="310" r:id="rId45"/>
    <p:sldId id="311" r:id="rId46"/>
    <p:sldId id="296" r:id="rId47"/>
    <p:sldId id="298" r:id="rId48"/>
    <p:sldId id="297" r:id="rId49"/>
    <p:sldId id="299" r:id="rId50"/>
    <p:sldId id="300" r:id="rId51"/>
    <p:sldId id="301" r:id="rId52"/>
    <p:sldId id="347" r:id="rId53"/>
    <p:sldId id="348" r:id="rId54"/>
    <p:sldId id="349" r:id="rId55"/>
    <p:sldId id="346" r:id="rId56"/>
  </p:sldIdLst>
  <p:sldSz cx="12192000" cy="6858000"/>
  <p:notesSz cx="6858000" cy="9144000"/>
  <p:custDataLst>
    <p:tags r:id="rId5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78" autoAdjust="0"/>
    <p:restoredTop sz="83356" autoAdjust="0"/>
  </p:normalViewPr>
  <p:slideViewPr>
    <p:cSldViewPr snapToGrid="0" showGuides="1">
      <p:cViewPr varScale="1">
        <p:scale>
          <a:sx n="101" d="100"/>
          <a:sy n="101" d="100"/>
        </p:scale>
        <p:origin x="216" y="272"/>
      </p:cViewPr>
      <p:guideLst>
        <p:guide orient="horz" pos="2122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gs" Target="tags/tag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2/26/26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cs typeface="Arial" panose="020B0604020202020204" pitchFamily="34" charset="0"/>
              </a:rPr>
              <a:t>NOTE: </a:t>
            </a:r>
            <a:r>
              <a:rPr lang="en-US" sz="1200" dirty="0">
                <a:cs typeface="Arial" panose="020B0604020202020204" pitchFamily="34" charset="0"/>
              </a:rPr>
              <a:t>Want a different image on this slide? Select the picture and delete it. Now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t>38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52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11" name="Picture 10" title="Ribbon tab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16510" y="150927"/>
            <a:ext cx="965037" cy="968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11" name="Picture Placeholder 10" title="An empty placeholder to add an image. Click on the placeholder and select the image that you wish to add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10" name="Picture 9" title="Ribbon tab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 title="Ribbon tab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16510" y="150927"/>
            <a:ext cx="965037" cy="9684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 title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 level</a:t>
            </a:r>
          </a:p>
          <a:p>
            <a:pPr lvl="6"/>
            <a:r>
              <a:t>Seventh level</a:t>
            </a:r>
          </a:p>
          <a:p>
            <a:pPr lvl="7"/>
            <a:r>
              <a:t>Eighth level</a:t>
            </a:r>
          </a:p>
          <a:p>
            <a:pPr lvl="8"/>
            <a:r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616510" y="150927"/>
            <a:ext cx="965037" cy="96844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第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章</a:t>
            </a:r>
            <a:b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程序控制结构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Picture Placeholder 3" title="Open book on table, blurred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副标题 1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/>
              <a:t>Python</a:t>
            </a:r>
            <a:r>
              <a:rPr lang="zh-TW" altLang="en-US" sz="2000" dirty="0"/>
              <a:t>课程组</a:t>
            </a:r>
            <a:endParaRPr lang="en-US" altLang="zh-TW" sz="2000" dirty="0"/>
          </a:p>
          <a:p>
            <a:pPr algn="r">
              <a:lnSpc>
                <a:spcPct val="150000"/>
              </a:lnSpc>
            </a:pPr>
            <a:r>
              <a:rPr lang="zh-TW" altLang="en-US" sz="2000" dirty="0"/>
              <a:t>武汉大学信息管理学院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/>
              <a:t>教学内容</a:t>
            </a:r>
            <a:endParaRPr lang="en-US" sz="3600" b="1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982337"/>
            <a:ext cx="9982200" cy="4572000"/>
          </a:xfrm>
        </p:spPr>
        <p:txBody>
          <a:bodyPr>
            <a:normAutofit/>
          </a:bodyPr>
          <a:lstStyle/>
          <a:p>
            <a:r>
              <a:rPr lang="en-US" sz="3200" dirty="0"/>
              <a:t>3.1 </a:t>
            </a:r>
            <a:r>
              <a:rPr lang="zh-CN" altLang="en-US" sz="3200" dirty="0"/>
              <a:t>控制结构概述</a:t>
            </a:r>
            <a:endParaRPr lang="en-US" altLang="zh-CN" sz="3200" dirty="0"/>
          </a:p>
          <a:p>
            <a:r>
              <a:rPr lang="en-US" sz="3200" dirty="0"/>
              <a:t>3.2 </a:t>
            </a:r>
            <a:r>
              <a:rPr lang="zh-CN" altLang="en-US" sz="3200" dirty="0"/>
              <a:t>顺序结构</a:t>
            </a:r>
            <a:endParaRPr lang="en-US" sz="3200" dirty="0"/>
          </a:p>
          <a:p>
            <a:r>
              <a:rPr lang="en-US" sz="3200" dirty="0"/>
              <a:t>3.3 </a:t>
            </a:r>
            <a:r>
              <a:rPr lang="zh-CN" altLang="en-US" sz="3200" dirty="0"/>
              <a:t>选择结构</a:t>
            </a:r>
            <a:endParaRPr lang="en-US" sz="3200" dirty="0"/>
          </a:p>
          <a:p>
            <a:r>
              <a:rPr lang="en-US" sz="3200" dirty="0"/>
              <a:t>3.4 </a:t>
            </a:r>
            <a:r>
              <a:rPr lang="zh-CN" altLang="en-US" sz="3200" dirty="0"/>
              <a:t>循环结构</a:t>
            </a:r>
            <a:endParaRPr lang="en-US" altLang="zh-CN" sz="3200" dirty="0"/>
          </a:p>
          <a:p>
            <a:r>
              <a:rPr lang="en-US" sz="3200" dirty="0"/>
              <a:t>3.5 </a:t>
            </a:r>
            <a:r>
              <a:rPr lang="zh-CN" altLang="en-US" sz="3200" dirty="0"/>
              <a:t>异常处理</a:t>
            </a:r>
            <a:endParaRPr lang="en-US" sz="3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26788E-B88C-E78F-8EE7-28CD0465D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067" y="1884800"/>
            <a:ext cx="6127809" cy="38820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7517" y="2750961"/>
            <a:ext cx="10071099" cy="1684150"/>
          </a:xfrm>
        </p:spPr>
        <p:txBody>
          <a:bodyPr/>
          <a:lstStyle/>
          <a:p>
            <a:r>
              <a:rPr lang="en-US" b="1" dirty="0"/>
              <a:t>3.1 </a:t>
            </a:r>
            <a:r>
              <a:rPr lang="zh-CN" altLang="en-US" b="1" dirty="0"/>
              <a:t>控制结构概述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3.1 </a:t>
            </a:r>
            <a:r>
              <a:rPr lang="zh-CN" altLang="en-US" b="1" dirty="0"/>
              <a:t>控制结构概述</a:t>
            </a:r>
            <a:endParaRPr 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04900" y="3331554"/>
            <a:ext cx="2216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基本元素：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04900" y="1532059"/>
            <a:ext cx="9286009" cy="1113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程序流程图</a:t>
            </a:r>
            <a:r>
              <a:rPr lang="zh-CN" altLang="en-US" sz="2400" dirty="0"/>
              <a:t>又称程序框图，是用</a:t>
            </a:r>
            <a:r>
              <a:rPr lang="zh-CN" altLang="en-US" sz="2400" dirty="0">
                <a:solidFill>
                  <a:srgbClr val="FF0000"/>
                </a:solidFill>
              </a:rPr>
              <a:t>统一规定</a:t>
            </a:r>
            <a:r>
              <a:rPr lang="zh-CN" altLang="en-US" sz="2400" dirty="0"/>
              <a:t>的标准符号</a:t>
            </a:r>
            <a:r>
              <a:rPr lang="zh-CN" altLang="en-US" sz="2400" dirty="0">
                <a:solidFill>
                  <a:srgbClr val="FF0000"/>
                </a:solidFill>
              </a:rPr>
              <a:t>描述程序运行</a:t>
            </a:r>
            <a:r>
              <a:rPr lang="zh-CN" altLang="en-US" sz="2400" dirty="0"/>
              <a:t>具体步骤的图形表示。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628" y="3331554"/>
            <a:ext cx="7505700" cy="3133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3.1 </a:t>
            </a:r>
            <a:r>
              <a:rPr lang="zh-CN" altLang="en-US" b="1" dirty="0"/>
              <a:t>控制结构概述</a:t>
            </a:r>
            <a:endParaRPr lang="en-US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466" y="1935740"/>
            <a:ext cx="1476375" cy="43719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17964" y="1935740"/>
            <a:ext cx="1454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例如：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402745" y="3287845"/>
            <a:ext cx="4682837" cy="1667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输入：圆的半径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处理：计算圆的面积 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 = </a:t>
            </a:r>
            <a:r>
              <a:rPr lang="el-GR" altLang="zh-CN" sz="2400" dirty="0">
                <a:latin typeface="Consolas" panose="020B0609020204030204" pitchFamily="49" charset="0"/>
                <a:ea typeface="宋体" panose="02010600030101010101" pitchFamily="2" charset="-122"/>
              </a:rPr>
              <a:t>π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*R*R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输出：圆的面积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3.1 </a:t>
            </a:r>
            <a:r>
              <a:rPr lang="zh-CN" altLang="en-US" b="1" dirty="0"/>
              <a:t>控制结构概述</a:t>
            </a:r>
            <a:endParaRPr lang="en-US" b="1" dirty="0"/>
          </a:p>
        </p:txBody>
      </p:sp>
      <p:sp>
        <p:nvSpPr>
          <p:cNvPr id="3" name="矩形 2"/>
          <p:cNvSpPr/>
          <p:nvPr/>
        </p:nvSpPr>
        <p:spPr>
          <a:xfrm>
            <a:off x="1104900" y="1502960"/>
            <a:ext cx="10010721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程序由三种基本结构组成：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顺序结构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/>
              <a:t>程序按语句编写的顺序从上至下逐一执行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选择结构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/>
              <a:t>根据表达式的结果选择不同的语句执行</a:t>
            </a:r>
            <a:endParaRPr lang="en-US" altLang="zh-CN" sz="24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循环结构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/>
              <a:t>在程序执行过程中需要反复执行某段功能的流程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• </a:t>
            </a:r>
            <a:r>
              <a:rPr lang="zh-CN" altLang="zh-CN" sz="2400" dirty="0"/>
              <a:t>顺序结构是程序中的基础，但实际应用中绝大部分的问题都要</a:t>
            </a:r>
            <a:r>
              <a:rPr lang="zh-CN" altLang="en-US" sz="2400" dirty="0"/>
              <a:t>其</a:t>
            </a:r>
            <a:r>
              <a:rPr lang="zh-CN" altLang="zh-CN" sz="2400" dirty="0"/>
              <a:t>与选择结构和循环结构相结合。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• </a:t>
            </a:r>
            <a:r>
              <a:rPr lang="zh-CN" altLang="zh-CN" sz="2400" dirty="0"/>
              <a:t>选择和循环结构中有一个或多个分支供程序运行选择，相比较顺序结构更复杂。</a:t>
            </a:r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7517" y="2750961"/>
            <a:ext cx="10071099" cy="1684150"/>
          </a:xfrm>
        </p:spPr>
        <p:txBody>
          <a:bodyPr/>
          <a:lstStyle/>
          <a:p>
            <a:r>
              <a:rPr lang="en-US" b="1" dirty="0"/>
              <a:t>3.2 </a:t>
            </a:r>
            <a:r>
              <a:rPr lang="zh-CN" altLang="en-US" b="1" dirty="0"/>
              <a:t>顺序结构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3.2 </a:t>
            </a:r>
            <a:r>
              <a:rPr lang="zh-CN" altLang="en-US" b="1" dirty="0"/>
              <a:t>顺序结构</a:t>
            </a:r>
            <a:endParaRPr lang="en-US" b="1" dirty="0"/>
          </a:p>
        </p:txBody>
      </p:sp>
      <p:sp>
        <p:nvSpPr>
          <p:cNvPr id="4" name="矩形 3"/>
          <p:cNvSpPr/>
          <p:nvPr/>
        </p:nvSpPr>
        <p:spPr>
          <a:xfrm>
            <a:off x="1338756" y="1648329"/>
            <a:ext cx="859856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顺序结构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程序的语句是按照其出现的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先后顺序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来执行的程序结构，是结构化程序中最简单的结构。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3047241" y="3785490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import math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r = 2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 = </a:t>
            </a:r>
            <a:r>
              <a:rPr lang="en-US" altLang="zh-CN" sz="24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math.pi</a:t>
            </a:r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 R * R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1993231" y="3323825"/>
            <a:ext cx="950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例如：</a:t>
            </a:r>
          </a:p>
        </p:txBody>
      </p:sp>
      <p:sp>
        <p:nvSpPr>
          <p:cNvPr id="2" name="椭圆形标注 1"/>
          <p:cNvSpPr/>
          <p:nvPr/>
        </p:nvSpPr>
        <p:spPr>
          <a:xfrm>
            <a:off x="4862946" y="5597236"/>
            <a:ext cx="1814946" cy="845127"/>
          </a:xfrm>
          <a:prstGeom prst="wedgeEllipseCallout">
            <a:avLst>
              <a:gd name="adj1" fmla="val -42262"/>
              <a:gd name="adj2" fmla="val -62090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043055" y="5819744"/>
            <a:ext cx="1454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pi</a:t>
            </a:r>
            <a:r>
              <a:rPr lang="zh-CN" altLang="en-US" sz="2000" dirty="0"/>
              <a:t>为圆周率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7517" y="2750961"/>
            <a:ext cx="10071099" cy="1684150"/>
          </a:xfrm>
        </p:spPr>
        <p:txBody>
          <a:bodyPr/>
          <a:lstStyle/>
          <a:p>
            <a:r>
              <a:rPr lang="en-US" b="1" dirty="0"/>
              <a:t>3.3 </a:t>
            </a:r>
            <a:r>
              <a:rPr lang="zh-CN" altLang="en-US" b="1" dirty="0"/>
              <a:t>选择结构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3.3.1 </a:t>
            </a:r>
            <a:r>
              <a:rPr lang="zh-CN" altLang="en-US" b="1" dirty="0"/>
              <a:t>条件表达式</a:t>
            </a:r>
            <a:endParaRPr lang="en-US" b="1" dirty="0"/>
          </a:p>
        </p:txBody>
      </p:sp>
      <p:sp>
        <p:nvSpPr>
          <p:cNvPr id="4" name="矩形 3"/>
          <p:cNvSpPr/>
          <p:nvPr/>
        </p:nvSpPr>
        <p:spPr>
          <a:xfrm>
            <a:off x="1330033" y="1736873"/>
            <a:ext cx="8800555" cy="1113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• </a:t>
            </a:r>
            <a:r>
              <a:rPr lang="zh-CN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条件表达式是由</a:t>
            </a:r>
            <a:r>
              <a:rPr lang="zh-CN" altLang="zh-CN" sz="24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条件运算符</a:t>
            </a:r>
            <a:r>
              <a:rPr lang="zh-CN" altLang="zh-CN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构成，可以让程序选择是否执行特定的代码块</a:t>
            </a:r>
            <a:r>
              <a:rPr lang="zh-CN" altLang="en-US" sz="24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2066302" y="3140428"/>
            <a:ext cx="805787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•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False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None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、各种类型的</a:t>
            </a:r>
            <a:r>
              <a:rPr lang="en-US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（包括浮点数、复数等）、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空数据</a:t>
            </a:r>
            <a:r>
              <a:rPr lang="zh-CN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（空字符串、空列表、空元组、空集合、空字典等）都被视为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假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其他各种值视为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真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lang="zh-CN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标准真值为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True</a:t>
            </a:r>
            <a:r>
              <a:rPr lang="zh-CN" altLang="zh-CN" sz="2400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False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3.3.2 </a:t>
            </a:r>
            <a:r>
              <a:rPr lang="zh-CN" altLang="en-US" b="1" dirty="0"/>
              <a:t>单分支结构</a:t>
            </a:r>
            <a:endParaRPr lang="en-US" b="1" dirty="0"/>
          </a:p>
        </p:txBody>
      </p:sp>
      <p:pic>
        <p:nvPicPr>
          <p:cNvPr id="4" name="图片 3" descr="图片包含 物体, 悬挂工具&#10;&#10;描述已自动生成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0208" y="1702427"/>
            <a:ext cx="2429048" cy="472711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325595" y="2311658"/>
            <a:ext cx="554021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26797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基本语法格式：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26797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24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表达式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&gt;: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26797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  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语句块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922012" y="4350920"/>
            <a:ext cx="5128185" cy="1405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说明：</a:t>
            </a:r>
            <a:r>
              <a:rPr lang="zh-CN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表达式为真时，执行后面的语句块；反之，结果为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假</a:t>
            </a:r>
            <a:r>
              <a:rPr lang="zh-CN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时，则跳过语句块而执行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if</a:t>
            </a:r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</a:t>
            </a:r>
            <a:r>
              <a:rPr lang="zh-CN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之后的程序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3.3.2 </a:t>
            </a:r>
            <a:r>
              <a:rPr lang="zh-CN" altLang="en-US" b="1" dirty="0"/>
              <a:t>单分支结构</a:t>
            </a:r>
            <a:endParaRPr 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3855053" y="2920999"/>
            <a:ext cx="30895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 = 1</a:t>
            </a:r>
          </a:p>
          <a:p>
            <a:r>
              <a:rPr lang="en-US" altLang="zh-CN" sz="2400" b="1" dirty="0"/>
              <a:t>b = 2</a:t>
            </a:r>
          </a:p>
          <a:p>
            <a:r>
              <a:rPr lang="en-US" altLang="zh-CN" sz="2400" b="1" dirty="0">
                <a:solidFill>
                  <a:srgbClr val="FF0000"/>
                </a:solidFill>
              </a:rPr>
              <a:t>if a &lt; b:</a:t>
            </a:r>
          </a:p>
          <a:p>
            <a:r>
              <a:rPr lang="en-US" altLang="zh-CN" sz="2400" b="1" dirty="0"/>
              <a:t>    </a:t>
            </a:r>
            <a:r>
              <a:rPr lang="en-US" altLang="zh-CN" sz="2400" b="1" dirty="0" err="1"/>
              <a:t>a,b</a:t>
            </a:r>
            <a:r>
              <a:rPr lang="en-US" altLang="zh-CN" sz="2400" b="1" dirty="0"/>
              <a:t> = </a:t>
            </a:r>
            <a:r>
              <a:rPr lang="en-US" altLang="zh-CN" sz="2400" b="1" dirty="0" err="1"/>
              <a:t>b,a</a:t>
            </a:r>
            <a:endParaRPr lang="en-US" altLang="zh-CN" sz="2400" b="1" dirty="0"/>
          </a:p>
          <a:p>
            <a:r>
              <a:rPr lang="en-US" altLang="zh-CN" sz="2400" b="1" dirty="0"/>
              <a:t>print(</a:t>
            </a:r>
            <a:r>
              <a:rPr lang="en-US" altLang="zh-CN" sz="2400" b="1" dirty="0" err="1"/>
              <a:t>a,b</a:t>
            </a:r>
            <a:r>
              <a:rPr lang="en-US" altLang="zh-CN" sz="2400" b="1" dirty="0"/>
              <a:t>)</a:t>
            </a:r>
            <a:endParaRPr lang="zh-CN" altLang="en-US" sz="2400" b="1" dirty="0"/>
          </a:p>
        </p:txBody>
      </p:sp>
      <p:sp>
        <p:nvSpPr>
          <p:cNvPr id="6" name="矩形 5"/>
          <p:cNvSpPr/>
          <p:nvPr/>
        </p:nvSpPr>
        <p:spPr>
          <a:xfrm>
            <a:off x="3599131" y="2920999"/>
            <a:ext cx="3288323" cy="20925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773349" y="2003317"/>
            <a:ext cx="9416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示例</a:t>
            </a:r>
            <a:r>
              <a:rPr lang="en-US" altLang="zh-CN" sz="2000" dirty="0"/>
              <a:t>1</a:t>
            </a:r>
            <a:r>
              <a:rPr lang="zh-CN" altLang="en-US" sz="2000" dirty="0"/>
              <a:t>：</a:t>
            </a:r>
          </a:p>
        </p:txBody>
      </p:sp>
      <p:sp>
        <p:nvSpPr>
          <p:cNvPr id="9" name="椭圆形标注 8"/>
          <p:cNvSpPr/>
          <p:nvPr/>
        </p:nvSpPr>
        <p:spPr>
          <a:xfrm>
            <a:off x="7341031" y="3514966"/>
            <a:ext cx="3174570" cy="2234670"/>
          </a:xfrm>
          <a:prstGeom prst="wedgeEllipseCallout">
            <a:avLst>
              <a:gd name="adj1" fmla="val -69999"/>
              <a:gd name="adj2" fmla="val -7331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1 &lt; 2</a:t>
            </a:r>
            <a:r>
              <a:rPr lang="zh-CN" altLang="en-US" sz="2400" dirty="0">
                <a:solidFill>
                  <a:schemeClr val="tx1"/>
                </a:solidFill>
              </a:rPr>
              <a:t>为真，所以</a:t>
            </a:r>
            <a:r>
              <a:rPr lang="en-US" altLang="zh-CN" sz="2400" dirty="0" err="1">
                <a:solidFill>
                  <a:schemeClr val="tx1"/>
                </a:solidFill>
              </a:rPr>
              <a:t>a,b</a:t>
            </a:r>
            <a:r>
              <a:rPr lang="zh-CN" altLang="en-US" sz="2400" dirty="0">
                <a:solidFill>
                  <a:schemeClr val="tx1"/>
                </a:solidFill>
              </a:rPr>
              <a:t>的值互换并打印输出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3.3.3 </a:t>
            </a:r>
            <a:r>
              <a:rPr lang="zh-CN" altLang="en-US" b="1" dirty="0"/>
              <a:t>二分支结构</a:t>
            </a:r>
            <a:endParaRPr lang="en-US" b="1" dirty="0"/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726500"/>
            <a:ext cx="3770382" cy="456045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455623" y="2399378"/>
            <a:ext cx="5315011" cy="26184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267970" algn="just">
              <a:lnSpc>
                <a:spcPct val="114000"/>
              </a:lnSpc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基本格式：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267970" algn="just">
              <a:lnSpc>
                <a:spcPct val="114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24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表达式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&gt;: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indent="267970" algn="just">
              <a:lnSpc>
                <a:spcPct val="114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   	    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语句块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1&gt;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267970" algn="just">
              <a:lnSpc>
                <a:spcPct val="114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else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indent="267970" algn="just">
              <a:lnSpc>
                <a:spcPct val="114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语句块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2&gt;</a:t>
            </a:r>
          </a:p>
          <a:p>
            <a:pPr marL="533400" indent="267970" algn="just">
              <a:lnSpc>
                <a:spcPct val="114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2026" y="4765922"/>
            <a:ext cx="6381820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26797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589391" y="5057476"/>
            <a:ext cx="5335925" cy="943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说明：</a:t>
            </a:r>
            <a:r>
              <a:rPr lang="zh-CN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表达式为真时，则执行后面的语句块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。反之，结果为假，则跳过语句块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执行语句</a:t>
            </a:r>
            <a:r>
              <a:rPr lang="en-US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3.3.3 </a:t>
            </a:r>
            <a:r>
              <a:rPr lang="zh-CN" altLang="en-US" b="1" dirty="0"/>
              <a:t>二分支结构</a:t>
            </a:r>
            <a:endParaRPr lang="en-US" b="1" dirty="0"/>
          </a:p>
        </p:txBody>
      </p:sp>
      <p:sp>
        <p:nvSpPr>
          <p:cNvPr id="8" name="矩形 7"/>
          <p:cNvSpPr/>
          <p:nvPr/>
        </p:nvSpPr>
        <p:spPr>
          <a:xfrm>
            <a:off x="3285946" y="2966357"/>
            <a:ext cx="6096000" cy="26765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/>
              <a:t>a = input('请输入一个数:')</a:t>
            </a:r>
          </a:p>
          <a:p>
            <a:r>
              <a:rPr lang="zh-CN" altLang="en-US" sz="2800" b="1" dirty="0">
                <a:solidFill>
                  <a:srgbClr val="FF0000"/>
                </a:solidFill>
              </a:rPr>
              <a:t>if a &gt; </a:t>
            </a:r>
            <a:r>
              <a:rPr lang="en-US" altLang="zh-CN" sz="2800" b="1" dirty="0">
                <a:solidFill>
                  <a:srgbClr val="FF0000"/>
                </a:solidFill>
              </a:rPr>
              <a:t>0</a:t>
            </a:r>
            <a:r>
              <a:rPr lang="zh-CN" altLang="en-US" sz="2800" b="1" dirty="0">
                <a:solidFill>
                  <a:srgbClr val="FF0000"/>
                </a:solidFill>
              </a:rPr>
              <a:t>:</a:t>
            </a:r>
          </a:p>
          <a:p>
            <a:r>
              <a:rPr lang="zh-CN" altLang="en-US" sz="2800" b="1" dirty="0"/>
              <a:t>    </a:t>
            </a:r>
            <a:r>
              <a:rPr lang="en-US" altLang="zh-CN" sz="2800" b="1" dirty="0"/>
              <a:t>b = a</a:t>
            </a:r>
            <a:endParaRPr lang="zh-CN" altLang="en-US" sz="2800" b="1" dirty="0"/>
          </a:p>
          <a:p>
            <a:r>
              <a:rPr lang="zh-CN" altLang="en-US" sz="2800" b="1" dirty="0">
                <a:solidFill>
                  <a:srgbClr val="FF0000"/>
                </a:solidFill>
              </a:rPr>
              <a:t>else:</a:t>
            </a:r>
          </a:p>
          <a:p>
            <a:r>
              <a:rPr lang="zh-CN" altLang="en-US" sz="2800" b="1" dirty="0"/>
              <a:t>    </a:t>
            </a:r>
            <a:r>
              <a:rPr lang="en-US" altLang="zh-CN" sz="2800" b="1" dirty="0"/>
              <a:t>b = -a</a:t>
            </a:r>
          </a:p>
          <a:p>
            <a:r>
              <a:rPr lang="zh-CN" altLang="en-US" sz="2800" b="1" dirty="0"/>
              <a:t>print(b）</a:t>
            </a:r>
          </a:p>
        </p:txBody>
      </p:sp>
      <p:sp>
        <p:nvSpPr>
          <p:cNvPr id="7" name="矩形 6"/>
          <p:cNvSpPr/>
          <p:nvPr/>
        </p:nvSpPr>
        <p:spPr>
          <a:xfrm>
            <a:off x="3010547" y="2966358"/>
            <a:ext cx="5225923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04900" y="1838927"/>
            <a:ext cx="43620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示例</a:t>
            </a: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实现数值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绝对值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运算</a:t>
            </a:r>
            <a:endParaRPr lang="zh-CN" altLang="en-US" sz="2400" dirty="0"/>
          </a:p>
        </p:txBody>
      </p:sp>
      <p:sp>
        <p:nvSpPr>
          <p:cNvPr id="11" name="云形标注 10"/>
          <p:cNvSpPr/>
          <p:nvPr/>
        </p:nvSpPr>
        <p:spPr>
          <a:xfrm>
            <a:off x="8565357" y="1838927"/>
            <a:ext cx="2520225" cy="1513873"/>
          </a:xfrm>
          <a:prstGeom prst="cloudCallout">
            <a:avLst>
              <a:gd name="adj1" fmla="val -36523"/>
              <a:gd name="adj2" fmla="val 85227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只有二选一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3.3.3 </a:t>
            </a:r>
            <a:r>
              <a:rPr lang="zh-CN" altLang="en-US" b="1" dirty="0"/>
              <a:t>二分支结构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1718835" y="1760567"/>
            <a:ext cx="8769056" cy="13960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267970" algn="just">
              <a:lnSpc>
                <a:spcPct val="114000"/>
              </a:lnSpc>
              <a:spcAft>
                <a:spcPts val="0"/>
              </a:spcAft>
            </a:pPr>
            <a:r>
              <a:rPr lang="zh-CN" altLang="en-US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形式二：</a:t>
            </a:r>
            <a:endParaRPr lang="en-US" altLang="zh-CN" sz="2400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267970" algn="just">
              <a:lnSpc>
                <a:spcPct val="114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	exp1 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条件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exp2</a:t>
            </a:r>
          </a:p>
          <a:p>
            <a:pPr marL="266700" indent="26797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/>
              <a:t>当条件表达式为</a:t>
            </a:r>
            <a:r>
              <a:rPr lang="en-US" altLang="zh-CN" sz="2000" dirty="0"/>
              <a:t>True</a:t>
            </a:r>
            <a:r>
              <a:rPr lang="zh-CN" altLang="zh-CN" sz="2000" dirty="0"/>
              <a:t>时，该表达式的值为</a:t>
            </a:r>
            <a:r>
              <a:rPr lang="en-US" altLang="zh-CN" sz="2000" dirty="0"/>
              <a:t>exp1</a:t>
            </a:r>
            <a:r>
              <a:rPr lang="zh-CN" altLang="zh-CN" sz="2000" dirty="0"/>
              <a:t>，否则表达式的值为</a:t>
            </a:r>
            <a:r>
              <a:rPr lang="en-US" altLang="zh-CN" sz="2000" dirty="0"/>
              <a:t>exp2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2026" y="4765922"/>
            <a:ext cx="6381820" cy="583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26797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56101" y="3917217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 = </a:t>
            </a:r>
            <a:r>
              <a:rPr lang="en-US" altLang="zh-CN" sz="2400" kern="10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sz="24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(input('</a:t>
            </a:r>
            <a:r>
              <a:rPr lang="zh-CN" altLang="zh-CN" sz="24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请输入一个数</a:t>
            </a:r>
            <a:r>
              <a:rPr lang="en-US" altLang="zh-CN" sz="24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:'))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 = a </a:t>
            </a:r>
            <a:r>
              <a:rPr lang="en-US" altLang="zh-CN" sz="2400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24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 &gt; 0 </a:t>
            </a:r>
            <a:r>
              <a:rPr lang="en-US" altLang="zh-CN" sz="2400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sz="24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-a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print(b)</a:t>
            </a:r>
            <a:endParaRPr lang="zh-CN" altLang="en-US" sz="2400" dirty="0"/>
          </a:p>
        </p:txBody>
      </p:sp>
      <p:sp>
        <p:nvSpPr>
          <p:cNvPr id="8" name="矩形 7"/>
          <p:cNvSpPr/>
          <p:nvPr/>
        </p:nvSpPr>
        <p:spPr>
          <a:xfrm>
            <a:off x="4455615" y="3917217"/>
            <a:ext cx="5156462" cy="16974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云形标注 8"/>
          <p:cNvSpPr/>
          <p:nvPr/>
        </p:nvSpPr>
        <p:spPr>
          <a:xfrm>
            <a:off x="583193" y="3725127"/>
            <a:ext cx="2520225" cy="1524000"/>
          </a:xfrm>
          <a:prstGeom prst="cloudCallout">
            <a:avLst>
              <a:gd name="adj1" fmla="val 26147"/>
              <a:gd name="adj2" fmla="val -79318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适合处理特殊值的情况</a:t>
            </a:r>
          </a:p>
        </p:txBody>
      </p:sp>
      <p:sp>
        <p:nvSpPr>
          <p:cNvPr id="11" name="矩形 10"/>
          <p:cNvSpPr/>
          <p:nvPr/>
        </p:nvSpPr>
        <p:spPr>
          <a:xfrm>
            <a:off x="3824673" y="3327802"/>
            <a:ext cx="12618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示例</a:t>
            </a: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3.3.4 </a:t>
            </a:r>
            <a:r>
              <a:rPr lang="zh-CN" altLang="en-US" b="1" dirty="0"/>
              <a:t>多分支结构</a:t>
            </a:r>
            <a:endParaRPr lang="en-US" b="1" dirty="0"/>
          </a:p>
        </p:txBody>
      </p:sp>
      <p:pic>
        <p:nvPicPr>
          <p:cNvPr id="6" name="图片 5" descr="图片包含 文字&#10;&#10;描述已自动生成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308" y="1582615"/>
            <a:ext cx="6617678" cy="511712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32000" y="1677509"/>
            <a:ext cx="6096000" cy="446109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基本语法格式为：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72009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24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表达式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1&gt;: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indent="72009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语句块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1&gt;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72009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elif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表达式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2&gt;: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indent="72009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语句块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2&gt;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2130" indent="720090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72009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indent="72009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语句块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n&gt;</a:t>
            </a:r>
          </a:p>
        </p:txBody>
      </p:sp>
      <p:sp>
        <p:nvSpPr>
          <p:cNvPr id="8" name="标注: 弯曲线形 1"/>
          <p:cNvSpPr/>
          <p:nvPr/>
        </p:nvSpPr>
        <p:spPr>
          <a:xfrm>
            <a:off x="2883447" y="4502727"/>
            <a:ext cx="2381280" cy="955516"/>
          </a:xfrm>
          <a:prstGeom prst="borderCallout2">
            <a:avLst>
              <a:gd name="adj1" fmla="val 47413"/>
              <a:gd name="adj2" fmla="val -41"/>
              <a:gd name="adj3" fmla="val 103229"/>
              <a:gd name="adj4" fmla="val -34285"/>
              <a:gd name="adj5" fmla="val 103949"/>
              <a:gd name="adj6" fmla="val -54885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14000"/>
              </a:lnSpc>
            </a:pP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若所有的表达式都判断为假，则执行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else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语句。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3.3.4 </a:t>
            </a:r>
            <a:r>
              <a:rPr lang="zh-CN" altLang="en-US" b="1" dirty="0"/>
              <a:t>多分支结构</a:t>
            </a:r>
            <a:endParaRPr lang="en-US" b="1" dirty="0"/>
          </a:p>
        </p:txBody>
      </p:sp>
      <p:sp>
        <p:nvSpPr>
          <p:cNvPr id="4" name="矩形 3"/>
          <p:cNvSpPr/>
          <p:nvPr/>
        </p:nvSpPr>
        <p:spPr>
          <a:xfrm>
            <a:off x="982895" y="1381245"/>
            <a:ext cx="4826962" cy="583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dirty="0"/>
              <a:t>示例</a:t>
            </a:r>
            <a:r>
              <a:rPr lang="en-US" altLang="zh-CN" sz="2400" dirty="0"/>
              <a:t>4:</a:t>
            </a:r>
            <a:r>
              <a:rPr lang="zh-CN" altLang="en-US" sz="2400" dirty="0"/>
              <a:t>将</a:t>
            </a:r>
            <a:r>
              <a:rPr lang="zh-CN" altLang="zh-CN" sz="2400" dirty="0"/>
              <a:t>百分制成绩转换成等级制</a:t>
            </a:r>
            <a:endParaRPr lang="zh-CN" altLang="zh-CN" sz="32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7BEA0D-2678-835A-1150-D72E891F1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850" y="2028361"/>
            <a:ext cx="5716893" cy="4326720"/>
          </a:xfrm>
          <a:prstGeom prst="rect">
            <a:avLst/>
          </a:prstGeom>
        </p:spPr>
      </p:pic>
      <p:pic>
        <p:nvPicPr>
          <p:cNvPr id="5" name="图片 1">
            <a:extLst>
              <a:ext uri="{FF2B5EF4-FFF2-40B4-BE49-F238E27FC236}">
                <a16:creationId xmlns:a16="http://schemas.microsoft.com/office/drawing/2014/main" id="{65A68AD1-2B90-F7BB-19C7-83D7ED9B1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294" y="2478605"/>
            <a:ext cx="5273497" cy="32250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3.3.4 </a:t>
            </a:r>
            <a:r>
              <a:rPr lang="zh-CN" altLang="en-US" b="1" dirty="0"/>
              <a:t>多分支结构</a:t>
            </a:r>
            <a:endParaRPr lang="en-US" b="1" dirty="0"/>
          </a:p>
        </p:txBody>
      </p:sp>
      <p:sp>
        <p:nvSpPr>
          <p:cNvPr id="7" name="矩形 6"/>
          <p:cNvSpPr/>
          <p:nvPr/>
        </p:nvSpPr>
        <p:spPr>
          <a:xfrm>
            <a:off x="1104900" y="1964055"/>
            <a:ext cx="5283708" cy="47434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000" b="1" dirty="0"/>
              <a:t>score = int(input('Please enter your score:')) </a:t>
            </a:r>
          </a:p>
          <a:p>
            <a:r>
              <a:rPr lang="zh-CN" altLang="en-US" sz="2000" b="1" dirty="0">
                <a:solidFill>
                  <a:srgbClr val="FF0000"/>
                </a:solidFill>
              </a:rPr>
              <a:t>if score &lt;= 100 and score &gt;= 90:</a:t>
            </a:r>
          </a:p>
          <a:p>
            <a:r>
              <a:rPr lang="zh-CN" altLang="en-US" sz="2000" b="1" dirty="0"/>
              <a:t>     print('the result is A')</a:t>
            </a:r>
          </a:p>
          <a:p>
            <a:r>
              <a:rPr lang="zh-CN" altLang="en-US" sz="2000" b="1" dirty="0">
                <a:solidFill>
                  <a:srgbClr val="FF0000"/>
                </a:solidFill>
              </a:rPr>
              <a:t>elif score &lt; 90 and score &gt;= 80:</a:t>
            </a:r>
          </a:p>
          <a:p>
            <a:r>
              <a:rPr lang="zh-CN" altLang="en-US" sz="2000" b="1" dirty="0"/>
              <a:t>    print('the result is B')</a:t>
            </a:r>
          </a:p>
          <a:p>
            <a:r>
              <a:rPr lang="zh-CN" altLang="en-US" sz="2000" b="1" dirty="0">
                <a:solidFill>
                  <a:srgbClr val="FF0000"/>
                </a:solidFill>
              </a:rPr>
              <a:t>elif score &lt; 80 and score &gt;= 70:</a:t>
            </a:r>
          </a:p>
          <a:p>
            <a:r>
              <a:rPr lang="zh-CN" altLang="en-US" sz="2000" b="1" dirty="0"/>
              <a:t>    print('the result is C')</a:t>
            </a:r>
          </a:p>
          <a:p>
            <a:r>
              <a:rPr lang="zh-CN" altLang="en-US" sz="2000" b="1" dirty="0">
                <a:solidFill>
                  <a:srgbClr val="FF0000"/>
                </a:solidFill>
              </a:rPr>
              <a:t>elif score &lt; 70 and score &gt;= 60:</a:t>
            </a:r>
          </a:p>
          <a:p>
            <a:r>
              <a:rPr lang="zh-CN" altLang="en-US" sz="2000" b="1" dirty="0"/>
              <a:t>    print('the result is D')</a:t>
            </a:r>
          </a:p>
          <a:p>
            <a:r>
              <a:rPr lang="zh-CN" altLang="en-US" sz="2000" b="1" dirty="0">
                <a:solidFill>
                  <a:srgbClr val="FF0000"/>
                </a:solidFill>
              </a:rPr>
              <a:t>elif score &lt; 60 and score &gt;= 0:</a:t>
            </a:r>
          </a:p>
          <a:p>
            <a:r>
              <a:rPr lang="zh-CN" altLang="en-US" sz="2000" b="1" dirty="0"/>
              <a:t>    print('you fail to pass the test')</a:t>
            </a:r>
          </a:p>
          <a:p>
            <a:r>
              <a:rPr lang="zh-CN" altLang="en-US" sz="2000" b="1" dirty="0">
                <a:solidFill>
                  <a:srgbClr val="FF0000"/>
                </a:solidFill>
              </a:rPr>
              <a:t>else:</a:t>
            </a:r>
          </a:p>
          <a:p>
            <a:r>
              <a:rPr lang="zh-CN" altLang="en-US" sz="2000" b="1" dirty="0"/>
              <a:t>    print('the score is wrong')</a:t>
            </a:r>
          </a:p>
        </p:txBody>
      </p:sp>
      <p:sp>
        <p:nvSpPr>
          <p:cNvPr id="4" name="矩形 3"/>
          <p:cNvSpPr/>
          <p:nvPr/>
        </p:nvSpPr>
        <p:spPr>
          <a:xfrm>
            <a:off x="982894" y="1381245"/>
            <a:ext cx="6771218" cy="585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dirty="0"/>
              <a:t>示例</a:t>
            </a:r>
            <a:r>
              <a:rPr lang="en-US" altLang="zh-CN" sz="2400" dirty="0"/>
              <a:t>4:</a:t>
            </a:r>
            <a:r>
              <a:rPr lang="zh-CN" altLang="en-US" sz="2400" dirty="0"/>
              <a:t>将</a:t>
            </a:r>
            <a:r>
              <a:rPr lang="zh-CN" altLang="zh-CN" sz="2400" dirty="0"/>
              <a:t>百分制成绩转换成等级制</a:t>
            </a:r>
            <a:r>
              <a:rPr lang="zh-CN" altLang="en-US" sz="2400" dirty="0">
                <a:solidFill>
                  <a:srgbClr val="0432FF"/>
                </a:solidFill>
              </a:rPr>
              <a:t>（不同思路）</a:t>
            </a:r>
            <a:endParaRPr lang="zh-CN" altLang="zh-CN" sz="3200" kern="100" dirty="0">
              <a:solidFill>
                <a:srgbClr val="0432FF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AC45440-2E6A-EDCE-4DCC-2305B28D8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791" y="1964055"/>
            <a:ext cx="4370349" cy="39932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3.3.5 </a:t>
            </a:r>
            <a:r>
              <a:rPr lang="zh-CN" altLang="en-US" b="1" dirty="0"/>
              <a:t>嵌套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1647960" y="1595644"/>
            <a:ext cx="83359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嵌套：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将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if </a:t>
            </a:r>
            <a:r>
              <a:rPr lang="zh-CN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语句放在其它</a:t>
            </a:r>
            <a:r>
              <a:rPr lang="en-US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if </a:t>
            </a:r>
            <a:r>
              <a:rPr lang="zh-CN" altLang="zh-CN" sz="2400" dirty="0">
                <a:ea typeface="宋体" panose="02010600030101010101" pitchFamily="2" charset="-122"/>
                <a:cs typeface="Times New Roman" panose="02020603050405020304" pitchFamily="18" charset="0"/>
              </a:rPr>
              <a:t>语句块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中（循环结构也能嵌套）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2659341" y="2479791"/>
            <a:ext cx="6096000" cy="40208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just">
              <a:lnSpc>
                <a:spcPct val="1140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2800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表达式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1&gt;:</a:t>
            </a:r>
          </a:p>
          <a:p>
            <a:pPr marL="457200" lvl="1" indent="266700" algn="just">
              <a:lnSpc>
                <a:spcPct val="114000"/>
              </a:lnSpc>
              <a:spcAft>
                <a:spcPts val="0"/>
              </a:spcAft>
            </a:pPr>
            <a:r>
              <a:rPr lang="en-US" altLang="zh-CN" sz="28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语句块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1&gt;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lnSpc>
                <a:spcPct val="1140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if</a:t>
            </a:r>
            <a:r>
              <a:rPr lang="en-US" altLang="zh-CN" sz="2800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表达式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2&gt;:</a:t>
            </a:r>
          </a:p>
          <a:p>
            <a:pPr marL="723900" lvl="1" indent="266700" algn="just">
              <a:lnSpc>
                <a:spcPct val="114000"/>
              </a:lnSpc>
              <a:spcAft>
                <a:spcPts val="0"/>
              </a:spcAft>
            </a:pP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语句块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2&gt;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lnSpc>
                <a:spcPct val="1140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else</a:t>
            </a:r>
            <a:r>
              <a:rPr lang="en-US" altLang="zh-CN" sz="28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indent="266700" algn="just">
              <a:lnSpc>
                <a:spcPct val="114000"/>
              </a:lnSpc>
              <a:spcAft>
                <a:spcPts val="0"/>
              </a:spcAft>
            </a:pPr>
            <a:r>
              <a:rPr lang="en-US" altLang="zh-CN" sz="28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&lt;</a:t>
            </a:r>
            <a:r>
              <a:rPr lang="zh-CN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语句块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3&gt;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140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sz="28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266700" algn="just">
              <a:lnSpc>
                <a:spcPct val="114000"/>
              </a:lnSpc>
              <a:spcAft>
                <a:spcPts val="0"/>
              </a:spcAft>
            </a:pPr>
            <a:r>
              <a:rPr lang="en-US" altLang="zh-CN" sz="28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语句块</a:t>
            </a:r>
            <a:r>
              <a:rPr lang="en-US" altLang="zh-CN" sz="28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4&gt;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47960" y="2479791"/>
            <a:ext cx="1011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例如：</a:t>
            </a:r>
          </a:p>
        </p:txBody>
      </p:sp>
      <p:sp>
        <p:nvSpPr>
          <p:cNvPr id="8" name="云形标注 7"/>
          <p:cNvSpPr/>
          <p:nvPr/>
        </p:nvSpPr>
        <p:spPr>
          <a:xfrm>
            <a:off x="6345382" y="2710623"/>
            <a:ext cx="4172164" cy="1832355"/>
          </a:xfrm>
          <a:prstGeom prst="cloudCallout">
            <a:avLst>
              <a:gd name="adj1" fmla="val -29550"/>
              <a:gd name="adj2" fmla="val 78422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三种形式的选择结构可以互相嵌套，注意每个语句要与</a:t>
            </a:r>
            <a:r>
              <a:rPr lang="zh-CN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同级语句缩进保持一致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3.3.5 </a:t>
            </a:r>
            <a:r>
              <a:rPr lang="zh-CN" altLang="en-US" b="1" dirty="0"/>
              <a:t>嵌套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1104900" y="1609326"/>
            <a:ext cx="43620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示例</a:t>
            </a:r>
            <a:r>
              <a:rPr lang="en-US" altLang="zh-CN" sz="2400" dirty="0"/>
              <a:t>5</a:t>
            </a:r>
            <a:r>
              <a:rPr lang="zh-CN" altLang="en-US" sz="2400" dirty="0"/>
              <a:t>：</a:t>
            </a:r>
            <a:r>
              <a:rPr lang="zh-CN" altLang="zh-CN" sz="2400" dirty="0"/>
              <a:t>判断学生考试是否过关</a:t>
            </a:r>
            <a:endParaRPr lang="zh-CN" alt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CD89F1-AD58-CBFD-FF81-8784A6923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76" y="2229486"/>
            <a:ext cx="6184271" cy="38299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9341127-12BC-8C92-8BFC-16CFC3D26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944" y="1377678"/>
            <a:ext cx="4876479" cy="51724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</a:t>
            </a:r>
            <a:r>
              <a:rPr lang="en-US" altLang="zh-CN" b="1" dirty="0"/>
              <a:t>6</a:t>
            </a:r>
            <a:r>
              <a:rPr lang="en-US" b="1" dirty="0"/>
              <a:t> if</a:t>
            </a:r>
            <a:r>
              <a:rPr lang="zh-CN" altLang="en-US" b="1" dirty="0"/>
              <a:t>语句的等价形式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1104900" y="1609326"/>
            <a:ext cx="72100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示例：</a:t>
            </a:r>
            <a:r>
              <a:rPr lang="zh-CN" altLang="zh-CN" sz="2400" dirty="0"/>
              <a:t>判断</a:t>
            </a:r>
            <a:r>
              <a:rPr lang="zh-CN" altLang="en-US" sz="2400" dirty="0"/>
              <a:t>分数等级 </a:t>
            </a:r>
            <a:r>
              <a:rPr lang="en-US" altLang="zh-CN" sz="2400" dirty="0"/>
              <a:t>if </a:t>
            </a:r>
            <a:r>
              <a:rPr lang="zh-CN" altLang="en-US" sz="2400" dirty="0"/>
              <a:t>和 </a:t>
            </a:r>
            <a:r>
              <a:rPr lang="en-US" altLang="zh-CN" sz="2400" dirty="0"/>
              <a:t>if else</a:t>
            </a:r>
            <a:r>
              <a:rPr lang="zh-CN" altLang="en-US" sz="2400" dirty="0">
                <a:solidFill>
                  <a:srgbClr val="0432FF"/>
                </a:solidFill>
              </a:rPr>
              <a:t>（不同结构）</a:t>
            </a:r>
            <a:endParaRPr lang="zh-CN" altLang="en-US" sz="3200" dirty="0">
              <a:solidFill>
                <a:srgbClr val="0432FF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69385" y="2070991"/>
            <a:ext cx="472852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score = eval(input("</a:t>
            </a:r>
            <a:r>
              <a:rPr lang="zh-CN" altLang="zh-CN" sz="2000" dirty="0"/>
              <a:t>请输入一个分数：</a:t>
            </a:r>
            <a:r>
              <a:rPr lang="en-US" altLang="zh-CN" sz="2000" dirty="0"/>
              <a:t>"))</a:t>
            </a:r>
            <a:endParaRPr lang="zh-CN" altLang="zh-CN" sz="2000" dirty="0"/>
          </a:p>
          <a:p>
            <a:r>
              <a:rPr lang="en-US" altLang="zh-CN" sz="2000" dirty="0"/>
              <a:t>if 100 &gt;= score &gt;= 85:</a:t>
            </a:r>
            <a:endParaRPr lang="zh-CN" altLang="zh-CN" sz="2000" dirty="0"/>
          </a:p>
          <a:p>
            <a:r>
              <a:rPr lang="en-US" altLang="zh-CN" sz="2000" dirty="0"/>
              <a:t>    print("A")</a:t>
            </a:r>
            <a:endParaRPr lang="zh-CN" altLang="zh-CN" sz="2000" dirty="0"/>
          </a:p>
          <a:p>
            <a:r>
              <a:rPr lang="en-US" altLang="zh-CN" sz="2000" dirty="0"/>
              <a:t>if 85 &gt; score &gt;= 60:</a:t>
            </a:r>
            <a:endParaRPr lang="zh-CN" altLang="zh-CN" sz="2000" dirty="0"/>
          </a:p>
          <a:p>
            <a:r>
              <a:rPr lang="en-US" altLang="zh-CN" sz="2000" dirty="0"/>
              <a:t>    print("B")</a:t>
            </a:r>
            <a:endParaRPr lang="zh-CN" altLang="zh-CN" sz="2000" dirty="0"/>
          </a:p>
          <a:p>
            <a:r>
              <a:rPr lang="en-US" altLang="zh-CN" sz="2000" dirty="0"/>
              <a:t>if 60 &gt; score &gt;= 0:</a:t>
            </a:r>
            <a:endParaRPr lang="zh-CN" altLang="zh-CN" sz="2000" dirty="0"/>
          </a:p>
          <a:p>
            <a:r>
              <a:rPr lang="en-US" altLang="zh-CN" sz="2000" dirty="0"/>
              <a:t>    print("C")</a:t>
            </a:r>
            <a:endParaRPr lang="zh-CN" altLang="zh-CN" sz="2000" dirty="0"/>
          </a:p>
          <a:p>
            <a:r>
              <a:rPr lang="en-US" altLang="zh-CN" sz="2000" dirty="0"/>
              <a:t>if score &gt; 100:</a:t>
            </a:r>
            <a:endParaRPr lang="zh-CN" altLang="zh-CN" sz="2000" dirty="0"/>
          </a:p>
          <a:p>
            <a:r>
              <a:rPr lang="en-US" altLang="zh-CN" sz="2000" dirty="0"/>
              <a:t>    print("</a:t>
            </a:r>
            <a:r>
              <a:rPr lang="zh-CN" altLang="zh-CN" sz="2000" dirty="0"/>
              <a:t>输入错误！</a:t>
            </a:r>
            <a:r>
              <a:rPr lang="en-US" altLang="zh-CN" sz="2000" dirty="0"/>
              <a:t>")</a:t>
            </a:r>
            <a:endParaRPr lang="zh-CN" altLang="zh-CN" sz="2000" dirty="0"/>
          </a:p>
        </p:txBody>
      </p:sp>
      <p:sp>
        <p:nvSpPr>
          <p:cNvPr id="7" name="矩形 6"/>
          <p:cNvSpPr/>
          <p:nvPr/>
        </p:nvSpPr>
        <p:spPr>
          <a:xfrm>
            <a:off x="828628" y="2070991"/>
            <a:ext cx="4855984" cy="42715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912" y="2048581"/>
            <a:ext cx="5400969" cy="431634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684614" y="2272595"/>
            <a:ext cx="5078752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score = eval(input("</a:t>
            </a:r>
            <a:r>
              <a:rPr lang="zh-CN" altLang="en-US" sz="2000" dirty="0"/>
              <a:t>请输入一个分数：</a:t>
            </a:r>
            <a:r>
              <a:rPr lang="en-US" altLang="zh-CN" sz="2000" dirty="0"/>
              <a:t>"))</a:t>
            </a:r>
          </a:p>
          <a:p>
            <a:r>
              <a:rPr lang="en-US" altLang="zh-CN" sz="2000" dirty="0"/>
              <a:t>if 100 &gt;= score &gt;= 85:</a:t>
            </a:r>
          </a:p>
          <a:p>
            <a:r>
              <a:rPr lang="en-US" altLang="zh-CN" sz="2000" dirty="0"/>
              <a:t>    print("A")</a:t>
            </a:r>
          </a:p>
          <a:p>
            <a:r>
              <a:rPr lang="en-US" altLang="zh-CN" sz="2000" dirty="0"/>
              <a:t>else:</a:t>
            </a:r>
          </a:p>
          <a:p>
            <a:r>
              <a:rPr lang="en-US" altLang="zh-CN" sz="2000" dirty="0"/>
              <a:t>    if 85&gt; score &gt;= 60:</a:t>
            </a:r>
          </a:p>
          <a:p>
            <a:r>
              <a:rPr lang="en-US" altLang="zh-CN" sz="2000" dirty="0"/>
              <a:t>        print("B")</a:t>
            </a:r>
          </a:p>
          <a:p>
            <a:r>
              <a:rPr lang="en-US" altLang="zh-CN" sz="2000" dirty="0"/>
              <a:t>    else:</a:t>
            </a:r>
          </a:p>
          <a:p>
            <a:r>
              <a:rPr lang="en-US" altLang="zh-CN" sz="2000" dirty="0"/>
              <a:t>        if 60&gt; score &gt;= 0:</a:t>
            </a:r>
          </a:p>
          <a:p>
            <a:r>
              <a:rPr lang="en-US" altLang="zh-CN" sz="2000" dirty="0"/>
              <a:t>            print("C")</a:t>
            </a:r>
          </a:p>
          <a:p>
            <a:r>
              <a:rPr lang="en-US" altLang="zh-CN" sz="2000" dirty="0"/>
              <a:t>        else:</a:t>
            </a:r>
          </a:p>
          <a:p>
            <a:r>
              <a:rPr lang="en-US" altLang="zh-CN" sz="2000" dirty="0"/>
              <a:t>            if score &gt; 100:</a:t>
            </a:r>
          </a:p>
          <a:p>
            <a:r>
              <a:rPr lang="en-US" altLang="zh-CN" sz="2000" dirty="0"/>
              <a:t>	         print("</a:t>
            </a:r>
            <a:r>
              <a:rPr lang="zh-CN" altLang="en-US" sz="2000" dirty="0"/>
              <a:t>输入错误！</a:t>
            </a:r>
            <a:r>
              <a:rPr lang="en-US" altLang="zh-CN" sz="2000" dirty="0"/>
              <a:t>")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3.3.7 Venn</a:t>
            </a:r>
            <a:r>
              <a:rPr lang="zh-CN" altLang="en-US" b="1" dirty="0"/>
              <a:t>图和判断条件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1104900" y="1609326"/>
            <a:ext cx="5054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示例：</a:t>
            </a:r>
            <a:r>
              <a:rPr lang="zh-CN" altLang="zh-CN" sz="2400" dirty="0"/>
              <a:t>判断</a:t>
            </a:r>
            <a:r>
              <a:rPr lang="zh-CN" altLang="en-US" sz="2400" dirty="0"/>
              <a:t>分数等级 </a:t>
            </a:r>
            <a:r>
              <a:rPr lang="en-US" altLang="zh-CN" sz="2400" dirty="0"/>
              <a:t>if else </a:t>
            </a:r>
            <a:r>
              <a:rPr lang="zh-CN" altLang="en-US" sz="2400" dirty="0"/>
              <a:t>和 </a:t>
            </a:r>
            <a:r>
              <a:rPr lang="en-US" altLang="zh-CN" sz="2400" dirty="0" err="1"/>
              <a:t>elif</a:t>
            </a:r>
            <a:endParaRPr lang="zh-CN" altLang="en-US" sz="3200" dirty="0"/>
          </a:p>
        </p:txBody>
      </p:sp>
      <p:sp>
        <p:nvSpPr>
          <p:cNvPr id="4" name="矩形 3"/>
          <p:cNvSpPr/>
          <p:nvPr/>
        </p:nvSpPr>
        <p:spPr>
          <a:xfrm>
            <a:off x="1104900" y="2070991"/>
            <a:ext cx="462682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score = int(input("</a:t>
            </a:r>
            <a:r>
              <a:rPr lang="zh-CN" altLang="en-US" sz="2000" dirty="0"/>
              <a:t>请输入一个分数：</a:t>
            </a:r>
            <a:r>
              <a:rPr lang="en-US" altLang="zh-CN" sz="2000" dirty="0"/>
              <a:t>"))</a:t>
            </a:r>
          </a:p>
          <a:p>
            <a:r>
              <a:rPr lang="en-US" altLang="zh-CN" sz="2000" dirty="0"/>
              <a:t>if 100 &gt;= score &gt;= 85:</a:t>
            </a:r>
          </a:p>
          <a:p>
            <a:r>
              <a:rPr lang="en-US" altLang="zh-CN" sz="2000" dirty="0"/>
              <a:t>    print("A")</a:t>
            </a:r>
          </a:p>
          <a:p>
            <a:r>
              <a:rPr lang="en-US" altLang="zh-CN" sz="2000" dirty="0" err="1"/>
              <a:t>elif</a:t>
            </a:r>
            <a:r>
              <a:rPr lang="en-US" altLang="zh-CN" sz="2000" dirty="0"/>
              <a:t> 85 &gt; score &gt;= 60:</a:t>
            </a:r>
          </a:p>
          <a:p>
            <a:r>
              <a:rPr lang="en-US" altLang="zh-CN" sz="2000" dirty="0"/>
              <a:t>    print("B")</a:t>
            </a:r>
          </a:p>
          <a:p>
            <a:r>
              <a:rPr lang="en-US" altLang="zh-CN" sz="2000" dirty="0" err="1"/>
              <a:t>elif</a:t>
            </a:r>
            <a:r>
              <a:rPr lang="en-US" altLang="zh-CN" sz="2000" dirty="0"/>
              <a:t> 60&gt; score &gt;= 0:</a:t>
            </a:r>
          </a:p>
          <a:p>
            <a:r>
              <a:rPr lang="en-US" altLang="zh-CN" sz="2000" dirty="0"/>
              <a:t>    print("C")</a:t>
            </a:r>
          </a:p>
          <a:p>
            <a:r>
              <a:rPr lang="en-US" altLang="zh-CN" sz="2000" dirty="0"/>
              <a:t>else:</a:t>
            </a:r>
          </a:p>
          <a:p>
            <a:r>
              <a:rPr lang="en-US" altLang="zh-CN" sz="2000" dirty="0"/>
              <a:t>    print("</a:t>
            </a:r>
            <a:r>
              <a:rPr lang="zh-CN" altLang="en-US" sz="2000" dirty="0"/>
              <a:t>输入错误！</a:t>
            </a:r>
            <a:r>
              <a:rPr lang="en-US" altLang="zh-CN" sz="2000" dirty="0"/>
              <a:t>")</a:t>
            </a:r>
            <a:endParaRPr lang="zh-CN" altLang="zh-CN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463" y="2414932"/>
            <a:ext cx="4858000" cy="31878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</a:t>
            </a:r>
            <a:r>
              <a:rPr lang="en-US" altLang="zh-CN" b="1" dirty="0"/>
              <a:t>7</a:t>
            </a:r>
            <a:r>
              <a:rPr lang="en-US" b="1" dirty="0"/>
              <a:t> </a:t>
            </a:r>
            <a:r>
              <a:rPr lang="en-US" altLang="zh-CN" b="1" dirty="0"/>
              <a:t>Venn</a:t>
            </a:r>
            <a:r>
              <a:rPr lang="zh-CN" altLang="en-US" b="1" dirty="0"/>
              <a:t>图和判断条件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1104900" y="1609326"/>
            <a:ext cx="5054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示例：</a:t>
            </a:r>
            <a:r>
              <a:rPr lang="zh-CN" altLang="zh-CN" sz="2400" dirty="0"/>
              <a:t>判断</a:t>
            </a:r>
            <a:r>
              <a:rPr lang="zh-CN" altLang="en-US" sz="2400" dirty="0"/>
              <a:t>分数等级 </a:t>
            </a:r>
            <a:r>
              <a:rPr lang="en-US" altLang="zh-CN" sz="2400" dirty="0"/>
              <a:t>if else </a:t>
            </a:r>
            <a:r>
              <a:rPr lang="zh-CN" altLang="en-US" sz="2400" dirty="0"/>
              <a:t>和 </a:t>
            </a:r>
            <a:r>
              <a:rPr lang="en-US" altLang="zh-CN" sz="2400" dirty="0" err="1"/>
              <a:t>elif</a:t>
            </a:r>
            <a:endParaRPr lang="zh-CN" altLang="en-US" sz="3200" dirty="0"/>
          </a:p>
        </p:txBody>
      </p:sp>
      <p:sp>
        <p:nvSpPr>
          <p:cNvPr id="4" name="矩形 3"/>
          <p:cNvSpPr/>
          <p:nvPr/>
        </p:nvSpPr>
        <p:spPr>
          <a:xfrm>
            <a:off x="1104900" y="2070991"/>
            <a:ext cx="462682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score = int(input("</a:t>
            </a:r>
            <a:r>
              <a:rPr lang="zh-CN" altLang="en-US" sz="2000" dirty="0"/>
              <a:t>请输入一个分数：</a:t>
            </a:r>
            <a:r>
              <a:rPr lang="en-US" altLang="zh-CN" sz="2000" dirty="0"/>
              <a:t>"))</a:t>
            </a:r>
          </a:p>
          <a:p>
            <a:r>
              <a:rPr lang="en-US" altLang="zh-CN" sz="2000" dirty="0"/>
              <a:t>if 100 &gt;= score &gt;= 0:</a:t>
            </a:r>
          </a:p>
          <a:p>
            <a:r>
              <a:rPr lang="en-US" altLang="zh-CN" sz="2000" dirty="0"/>
              <a:t>    if 100 &gt;= score &gt;= 85:</a:t>
            </a:r>
          </a:p>
          <a:p>
            <a:r>
              <a:rPr lang="en-US" altLang="zh-CN" sz="2000" dirty="0"/>
              <a:t>        print("A")</a:t>
            </a:r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elif</a:t>
            </a:r>
            <a:r>
              <a:rPr lang="en-US" altLang="zh-CN" sz="2000" dirty="0"/>
              <a:t> 85 &gt; score &gt;= 60:</a:t>
            </a:r>
          </a:p>
          <a:p>
            <a:r>
              <a:rPr lang="en-US" altLang="zh-CN" sz="2000" dirty="0"/>
              <a:t>        print("B")</a:t>
            </a:r>
          </a:p>
          <a:p>
            <a:r>
              <a:rPr lang="en-US" altLang="zh-CN" sz="2000" dirty="0"/>
              <a:t>    else:</a:t>
            </a:r>
          </a:p>
          <a:p>
            <a:r>
              <a:rPr lang="en-US" altLang="zh-CN" sz="2000" dirty="0"/>
              <a:t>        print("C")</a:t>
            </a:r>
          </a:p>
          <a:p>
            <a:r>
              <a:rPr lang="en-US" altLang="zh-CN" sz="2000" dirty="0"/>
              <a:t>else:</a:t>
            </a:r>
          </a:p>
          <a:p>
            <a:r>
              <a:rPr lang="en-US" altLang="zh-CN" sz="2000" dirty="0"/>
              <a:t>    print("</a:t>
            </a:r>
            <a:r>
              <a:rPr lang="zh-CN" altLang="en-US" sz="2000" dirty="0"/>
              <a:t>输入错误！</a:t>
            </a:r>
            <a:r>
              <a:rPr lang="en-US" altLang="zh-CN" sz="2000" dirty="0"/>
              <a:t>")</a:t>
            </a:r>
            <a:endParaRPr lang="zh-CN" altLang="zh-CN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536" y="2709512"/>
            <a:ext cx="5366026" cy="311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</a:t>
            </a:r>
            <a:r>
              <a:rPr lang="en-US" altLang="zh-CN" b="1" dirty="0"/>
              <a:t>7</a:t>
            </a:r>
            <a:r>
              <a:rPr lang="en-US" b="1" dirty="0"/>
              <a:t> </a:t>
            </a:r>
            <a:r>
              <a:rPr lang="en-US" altLang="zh-CN" b="1" dirty="0"/>
              <a:t>Venn</a:t>
            </a:r>
            <a:r>
              <a:rPr lang="zh-CN" altLang="en-US" b="1" dirty="0"/>
              <a:t>图和判断条件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1104900" y="1609326"/>
            <a:ext cx="5054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示例：</a:t>
            </a:r>
            <a:r>
              <a:rPr lang="zh-CN" altLang="zh-CN" sz="2400" dirty="0"/>
              <a:t>判断</a:t>
            </a:r>
            <a:r>
              <a:rPr lang="zh-CN" altLang="en-US" sz="2400" dirty="0"/>
              <a:t>分数等级 </a:t>
            </a:r>
            <a:r>
              <a:rPr lang="en-US" altLang="zh-CN" sz="2400" dirty="0"/>
              <a:t>if else </a:t>
            </a:r>
            <a:r>
              <a:rPr lang="zh-CN" altLang="en-US" sz="2400" dirty="0"/>
              <a:t>和 </a:t>
            </a:r>
            <a:r>
              <a:rPr lang="en-US" altLang="zh-CN" sz="2400" dirty="0" err="1"/>
              <a:t>elif</a:t>
            </a:r>
            <a:endParaRPr lang="zh-CN" altLang="en-US" sz="3200" dirty="0"/>
          </a:p>
        </p:txBody>
      </p:sp>
      <p:sp>
        <p:nvSpPr>
          <p:cNvPr id="4" name="矩形 3"/>
          <p:cNvSpPr/>
          <p:nvPr/>
        </p:nvSpPr>
        <p:spPr>
          <a:xfrm>
            <a:off x="1104900" y="2070991"/>
            <a:ext cx="462682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score = int(input("</a:t>
            </a:r>
            <a:r>
              <a:rPr lang="zh-CN" altLang="en-US" sz="2000" dirty="0"/>
              <a:t>请输入一个分数：</a:t>
            </a:r>
            <a:r>
              <a:rPr lang="en-US" altLang="zh-CN" sz="2000" dirty="0"/>
              <a:t>"))</a:t>
            </a:r>
          </a:p>
          <a:p>
            <a:r>
              <a:rPr lang="en-US" altLang="zh-CN" sz="2000" dirty="0"/>
              <a:t>if 100 &gt;= score &gt;= 0:</a:t>
            </a:r>
          </a:p>
          <a:p>
            <a:r>
              <a:rPr lang="en-US" altLang="zh-CN" sz="2000" dirty="0"/>
              <a:t>    if score &gt;= 85:</a:t>
            </a:r>
          </a:p>
          <a:p>
            <a:r>
              <a:rPr lang="en-US" altLang="zh-CN" sz="2000" dirty="0"/>
              <a:t>        print("A")</a:t>
            </a:r>
          </a:p>
          <a:p>
            <a:r>
              <a:rPr lang="en-US" altLang="zh-CN" sz="2000" dirty="0"/>
              <a:t>    </a:t>
            </a:r>
            <a:r>
              <a:rPr lang="en-US" altLang="zh-CN" sz="2000" dirty="0" err="1"/>
              <a:t>elif</a:t>
            </a:r>
            <a:r>
              <a:rPr lang="en-US" altLang="zh-CN" sz="2000" dirty="0"/>
              <a:t> score &gt;= 60:</a:t>
            </a:r>
          </a:p>
          <a:p>
            <a:r>
              <a:rPr lang="en-US" altLang="zh-CN" sz="2000" dirty="0"/>
              <a:t>        print("B")</a:t>
            </a:r>
          </a:p>
          <a:p>
            <a:r>
              <a:rPr lang="en-US" altLang="zh-CN" sz="2000" dirty="0"/>
              <a:t>    else:</a:t>
            </a:r>
          </a:p>
          <a:p>
            <a:r>
              <a:rPr lang="en-US" altLang="zh-CN" sz="2000" dirty="0"/>
              <a:t>        print("C")</a:t>
            </a:r>
          </a:p>
          <a:p>
            <a:r>
              <a:rPr lang="en-US" altLang="zh-CN" sz="2000" dirty="0"/>
              <a:t>else:</a:t>
            </a:r>
          </a:p>
          <a:p>
            <a:r>
              <a:rPr lang="en-US" altLang="zh-CN" sz="2000" dirty="0"/>
              <a:t>    print("</a:t>
            </a:r>
            <a:r>
              <a:rPr lang="zh-CN" altLang="en-US" sz="2000" dirty="0"/>
              <a:t>输入错误！</a:t>
            </a:r>
            <a:r>
              <a:rPr lang="en-US" altLang="zh-CN" sz="2000" dirty="0"/>
              <a:t>")</a:t>
            </a:r>
            <a:endParaRPr lang="zh-CN" altLang="zh-CN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726" y="2363800"/>
            <a:ext cx="5181866" cy="40261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3.3.</a:t>
            </a:r>
            <a:r>
              <a:rPr lang="en-US" altLang="zh-CN" b="1" dirty="0"/>
              <a:t>7</a:t>
            </a:r>
            <a:r>
              <a:rPr lang="en-US" b="1" dirty="0"/>
              <a:t> Venn</a:t>
            </a:r>
            <a:r>
              <a:rPr lang="zh-CN" altLang="en-US" b="1" dirty="0"/>
              <a:t>图和判断条件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1104900" y="1609326"/>
            <a:ext cx="5054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示例：</a:t>
            </a:r>
            <a:r>
              <a:rPr lang="zh-CN" altLang="zh-CN" sz="2400" dirty="0"/>
              <a:t>判断</a:t>
            </a:r>
            <a:r>
              <a:rPr lang="zh-CN" altLang="en-US" sz="2400" dirty="0"/>
              <a:t>分数等级 </a:t>
            </a:r>
            <a:r>
              <a:rPr lang="en-US" altLang="zh-CN" sz="2400" dirty="0"/>
              <a:t>if else </a:t>
            </a:r>
            <a:r>
              <a:rPr lang="zh-CN" altLang="en-US" sz="2400" dirty="0"/>
              <a:t>和 </a:t>
            </a:r>
            <a:r>
              <a:rPr lang="en-US" altLang="zh-CN" sz="2400" dirty="0" err="1"/>
              <a:t>elif</a:t>
            </a:r>
            <a:endParaRPr lang="zh-CN" altLang="en-US" sz="3200" dirty="0"/>
          </a:p>
        </p:txBody>
      </p:sp>
      <p:sp>
        <p:nvSpPr>
          <p:cNvPr id="4" name="矩形 3"/>
          <p:cNvSpPr/>
          <p:nvPr/>
        </p:nvSpPr>
        <p:spPr>
          <a:xfrm>
            <a:off x="1104900" y="2070991"/>
            <a:ext cx="462682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000" dirty="0"/>
          </a:p>
          <a:p>
            <a:r>
              <a:rPr lang="en-US" altLang="zh-CN" sz="2000" dirty="0"/>
              <a:t>score = int(input("</a:t>
            </a:r>
            <a:r>
              <a:rPr lang="zh-CN" altLang="en-US" sz="2000" dirty="0"/>
              <a:t>请输入一个分数：</a:t>
            </a:r>
            <a:r>
              <a:rPr lang="en-US" altLang="zh-CN" sz="2000" dirty="0"/>
              <a:t>"))</a:t>
            </a:r>
          </a:p>
          <a:p>
            <a:r>
              <a:rPr lang="en-US" altLang="zh-CN" sz="2000" dirty="0"/>
              <a:t>if 100 &gt;= score &gt;= 85:</a:t>
            </a:r>
          </a:p>
          <a:p>
            <a:r>
              <a:rPr lang="en-US" altLang="zh-CN" sz="2000" dirty="0"/>
              <a:t>    print("A")</a:t>
            </a:r>
          </a:p>
          <a:p>
            <a:r>
              <a:rPr lang="en-US" altLang="zh-CN" sz="2000" dirty="0" err="1"/>
              <a:t>elif</a:t>
            </a:r>
            <a:r>
              <a:rPr lang="en-US" altLang="zh-CN" sz="2000" dirty="0"/>
              <a:t> score &gt;= 60:</a:t>
            </a:r>
          </a:p>
          <a:p>
            <a:r>
              <a:rPr lang="en-US" altLang="zh-CN" sz="2000" dirty="0"/>
              <a:t>    print("B")</a:t>
            </a:r>
          </a:p>
          <a:p>
            <a:r>
              <a:rPr lang="en-US" altLang="zh-CN" sz="2000" dirty="0" err="1"/>
              <a:t>elif</a:t>
            </a:r>
            <a:r>
              <a:rPr lang="en-US" altLang="zh-CN" sz="2000" dirty="0"/>
              <a:t> score &gt;= 0:</a:t>
            </a:r>
          </a:p>
          <a:p>
            <a:r>
              <a:rPr lang="en-US" altLang="zh-CN" sz="2000" dirty="0"/>
              <a:t>    print("C")</a:t>
            </a:r>
          </a:p>
          <a:p>
            <a:r>
              <a:rPr lang="en-US" altLang="zh-CN" sz="2000" dirty="0"/>
              <a:t>else:</a:t>
            </a:r>
          </a:p>
          <a:p>
            <a:r>
              <a:rPr lang="en-US" altLang="zh-CN" sz="2000" dirty="0"/>
              <a:t>    print("</a:t>
            </a:r>
            <a:r>
              <a:rPr lang="zh-CN" altLang="en-US" sz="2000" dirty="0"/>
              <a:t>输入错误！</a:t>
            </a:r>
            <a:r>
              <a:rPr lang="en-US" altLang="zh-CN" sz="2000" dirty="0"/>
              <a:t>")</a:t>
            </a:r>
            <a:endParaRPr lang="zh-CN" altLang="zh-CN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488" y="2800141"/>
            <a:ext cx="6737696" cy="40578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7517" y="2750961"/>
            <a:ext cx="10071099" cy="1684150"/>
          </a:xfrm>
        </p:spPr>
        <p:txBody>
          <a:bodyPr/>
          <a:lstStyle/>
          <a:p>
            <a:r>
              <a:rPr lang="en-US" b="1" dirty="0"/>
              <a:t>3.4 </a:t>
            </a:r>
            <a:r>
              <a:rPr lang="zh-CN" altLang="en-US" b="1" dirty="0"/>
              <a:t>循环结构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3.4.1 </a:t>
            </a:r>
            <a:r>
              <a:rPr lang="en-US" altLang="zh-CN" b="1" dirty="0"/>
              <a:t>while</a:t>
            </a:r>
            <a:r>
              <a:rPr lang="zh-CN" altLang="en-US" b="1" dirty="0"/>
              <a:t>循环</a:t>
            </a:r>
            <a:endParaRPr lang="en-US" b="1" dirty="0"/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946" y="1686790"/>
            <a:ext cx="2704697" cy="46308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690554" y="3640016"/>
            <a:ext cx="4230032" cy="15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基本语法格式：</a:t>
            </a:r>
            <a:endParaRPr lang="en-US" altLang="zh-CN" sz="2400" dirty="0"/>
          </a:p>
          <a:p>
            <a:pPr indent="720090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while</a:t>
            </a:r>
            <a:r>
              <a:rPr lang="en-US" altLang="zh-CN" sz="2400" b="1" dirty="0"/>
              <a:t> &lt;</a:t>
            </a:r>
            <a:r>
              <a:rPr lang="zh-CN" altLang="zh-CN" sz="2400" b="1" dirty="0"/>
              <a:t>条件表达式</a:t>
            </a:r>
            <a:r>
              <a:rPr lang="en-US" altLang="zh-CN" sz="2400" b="1" dirty="0"/>
              <a:t>&gt;</a:t>
            </a:r>
            <a:r>
              <a:rPr lang="zh-CN" altLang="zh-CN" sz="2400" b="1" dirty="0"/>
              <a:t>：</a:t>
            </a:r>
            <a:endParaRPr lang="zh-CN" altLang="zh-CN" sz="2400" dirty="0"/>
          </a:p>
          <a:p>
            <a:pPr indent="720090">
              <a:lnSpc>
                <a:spcPct val="150000"/>
              </a:lnSpc>
            </a:pPr>
            <a:r>
              <a:rPr lang="en-US" altLang="zh-CN" sz="2400" b="1" dirty="0"/>
              <a:t>	     &lt;</a:t>
            </a:r>
            <a:r>
              <a:rPr lang="zh-CN" altLang="zh-CN" sz="2400" b="1" dirty="0"/>
              <a:t>循环语句块</a:t>
            </a:r>
            <a:r>
              <a:rPr lang="en-US" altLang="zh-CN" sz="2400" b="1" dirty="0"/>
              <a:t>&gt;</a:t>
            </a:r>
          </a:p>
        </p:txBody>
      </p:sp>
      <p:sp>
        <p:nvSpPr>
          <p:cNvPr id="5" name="矩形 4"/>
          <p:cNvSpPr/>
          <p:nvPr/>
        </p:nvSpPr>
        <p:spPr>
          <a:xfrm>
            <a:off x="4989582" y="2007525"/>
            <a:ext cx="6096000" cy="11449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while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循环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是无限循环，</a:t>
            </a:r>
            <a:r>
              <a:rPr lang="zh-CN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只要条件为真，会一直反复执行语句中的代码块，直到最终判断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while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条件为不成立</a:t>
            </a:r>
            <a:r>
              <a:rPr lang="zh-CN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，即为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False</a:t>
            </a:r>
            <a:r>
              <a:rPr lang="zh-CN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时，该循环才终止。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F2FB8D-24CE-C17F-8F9F-EDF655A59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132" y="2753807"/>
            <a:ext cx="6881125" cy="341103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3.4.1 </a:t>
            </a:r>
            <a:r>
              <a:rPr lang="en-US" altLang="zh-CN" b="1" dirty="0"/>
              <a:t>while</a:t>
            </a:r>
            <a:r>
              <a:rPr lang="zh-CN" altLang="en-US" b="1" dirty="0"/>
              <a:t>循环</a:t>
            </a:r>
            <a:endParaRPr lang="en-US" b="1" dirty="0"/>
          </a:p>
        </p:txBody>
      </p:sp>
      <p:sp>
        <p:nvSpPr>
          <p:cNvPr id="6" name="矩形 5"/>
          <p:cNvSpPr/>
          <p:nvPr/>
        </p:nvSpPr>
        <p:spPr>
          <a:xfrm>
            <a:off x="1390678" y="1752348"/>
            <a:ext cx="81868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示例</a:t>
            </a:r>
            <a:r>
              <a:rPr lang="en-US" altLang="zh-CN" sz="2400" dirty="0"/>
              <a:t>6</a:t>
            </a:r>
            <a:r>
              <a:rPr lang="zh-CN" altLang="en-US" sz="2400" dirty="0"/>
              <a:t>：利用</a:t>
            </a:r>
            <a:r>
              <a:rPr lang="en-US" altLang="zh-CN" sz="2400" dirty="0"/>
              <a:t>while</a:t>
            </a:r>
            <a:r>
              <a:rPr lang="zh-CN" altLang="en-US" sz="2400" dirty="0"/>
              <a:t>循环求</a:t>
            </a:r>
            <a:r>
              <a:rPr lang="en-US" altLang="zh-CN" sz="2400" dirty="0"/>
              <a:t>1</a:t>
            </a:r>
            <a:r>
              <a:rPr lang="zh-CN" altLang="zh-CN" sz="2400" dirty="0"/>
              <a:t>到</a:t>
            </a:r>
            <a:r>
              <a:rPr lang="en-US" altLang="zh-CN" sz="2400" dirty="0"/>
              <a:t>100</a:t>
            </a:r>
            <a:r>
              <a:rPr lang="zh-CN" altLang="zh-CN" sz="2400" dirty="0"/>
              <a:t>之间所有整数的累加之和</a:t>
            </a:r>
            <a:r>
              <a:rPr lang="zh-CN" altLang="en-US" sz="2400" dirty="0"/>
              <a:t>：</a:t>
            </a:r>
            <a:endParaRPr lang="zh-CN" altLang="en-US" sz="2800" b="1" i="1" dirty="0">
              <a:solidFill>
                <a:srgbClr val="0070C0"/>
              </a:solidFill>
            </a:endParaRPr>
          </a:p>
        </p:txBody>
      </p:sp>
      <p:sp>
        <p:nvSpPr>
          <p:cNvPr id="7" name="云形标注 6"/>
          <p:cNvSpPr/>
          <p:nvPr/>
        </p:nvSpPr>
        <p:spPr>
          <a:xfrm>
            <a:off x="8493474" y="2693208"/>
            <a:ext cx="2964873" cy="1111119"/>
          </a:xfrm>
          <a:prstGeom prst="cloudCallout">
            <a:avLst>
              <a:gd name="adj1" fmla="val -51980"/>
              <a:gd name="adj2" fmla="val 77175"/>
            </a:avLst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8100000" scaled="1"/>
            <a:tileRect/>
          </a:gradFill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number</a:t>
            </a:r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为多少时循环结束？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9B206-E62B-15A6-971B-6E8069A23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while-else</a:t>
            </a:r>
            <a:endParaRPr kumimoji="1"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929113-9344-AEBF-2F8E-AF47BE30F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655" y="1618047"/>
            <a:ext cx="6948690" cy="397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9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3.4.2 </a:t>
            </a:r>
            <a:r>
              <a:rPr lang="en-US" altLang="zh-CN" b="1" dirty="0"/>
              <a:t>for</a:t>
            </a:r>
            <a:r>
              <a:rPr lang="zh-CN" altLang="en-US" b="1" dirty="0"/>
              <a:t>循环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5234094" y="3699165"/>
            <a:ext cx="5589758" cy="1691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基本语法格式：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72009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2400" b="1" kern="1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循环变量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 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遍历对象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&gt;: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3400" indent="72009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循环体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8" name="矩形 7"/>
          <p:cNvSpPr/>
          <p:nvPr/>
        </p:nvSpPr>
        <p:spPr>
          <a:xfrm>
            <a:off x="5379522" y="1708391"/>
            <a:ext cx="5298902" cy="141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循环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遍历循环，可以用于遍历一个迭代对象的所有元素</a:t>
            </a:r>
            <a:r>
              <a:rPr lang="zh-CN" altLang="en-US" sz="2000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</a:t>
            </a: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迭代一次</a:t>
            </a:r>
            <a:r>
              <a:rPr lang="zh-CN" altLang="zh-CN" sz="20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元素都要执行一次循环体中的语句块</a:t>
            </a:r>
            <a:r>
              <a:rPr lang="zh-CN" altLang="zh-CN" sz="2000" dirty="0"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360430-54F1-022B-132F-E63CF1E01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42" y="1842151"/>
            <a:ext cx="4275854" cy="39648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9B0DBA-8310-FD2D-98BA-B4E4F7D7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700" y="2816996"/>
            <a:ext cx="6471398" cy="302774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969789" y="2064941"/>
            <a:ext cx="7022309" cy="578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示例</a:t>
            </a:r>
            <a:r>
              <a:rPr lang="en-US" altLang="zh-CN" sz="2400" dirty="0"/>
              <a:t>7</a:t>
            </a:r>
            <a:r>
              <a:rPr lang="zh-CN" altLang="en-US" sz="2400" dirty="0"/>
              <a:t>：实现</a:t>
            </a:r>
            <a:r>
              <a:rPr lang="en-US" altLang="zh-CN" sz="2400" dirty="0"/>
              <a:t>1</a:t>
            </a:r>
            <a:r>
              <a:rPr lang="zh-CN" altLang="zh-CN" sz="2400" dirty="0"/>
              <a:t>到</a:t>
            </a:r>
            <a:r>
              <a:rPr lang="en-US" altLang="zh-CN" sz="2400" dirty="0"/>
              <a:t>100</a:t>
            </a:r>
            <a:r>
              <a:rPr lang="zh-CN" altLang="zh-CN" sz="2400" dirty="0"/>
              <a:t>之间所有整数的累加</a:t>
            </a:r>
            <a:r>
              <a:rPr lang="zh-CN" altLang="en-US" sz="2400" dirty="0"/>
              <a:t>求和</a:t>
            </a:r>
            <a:endParaRPr lang="zh-CN" altLang="en-US" sz="2800" b="1" i="1" dirty="0">
              <a:solidFill>
                <a:srgbClr val="0070C0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3.4.2 </a:t>
            </a:r>
            <a:r>
              <a:rPr lang="en-US" altLang="zh-CN" b="1" dirty="0"/>
              <a:t>for</a:t>
            </a:r>
            <a:r>
              <a:rPr lang="zh-CN" altLang="en-US" b="1" dirty="0"/>
              <a:t>循环</a:t>
            </a:r>
            <a:endParaRPr lang="en-US" b="1" dirty="0"/>
          </a:p>
        </p:txBody>
      </p:sp>
      <p:sp>
        <p:nvSpPr>
          <p:cNvPr id="7" name="云形标注 6"/>
          <p:cNvSpPr/>
          <p:nvPr/>
        </p:nvSpPr>
        <p:spPr>
          <a:xfrm>
            <a:off x="8292513" y="2632420"/>
            <a:ext cx="2964873" cy="1111119"/>
          </a:xfrm>
          <a:prstGeom prst="cloudCallout">
            <a:avLst>
              <a:gd name="adj1" fmla="val -57752"/>
              <a:gd name="adj2" fmla="val 89812"/>
            </a:avLst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chemeClr val="tx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两种累加求和有何区别？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7F345-E168-4C45-BE08-A69147F53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循环嵌套</a:t>
            </a:r>
            <a:endParaRPr kumimoji="1"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093C91-017F-8351-87E0-857D4B93F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376" y="1500659"/>
            <a:ext cx="8507247" cy="438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36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3.4.3 </a:t>
            </a:r>
            <a:r>
              <a:rPr lang="en-US" altLang="zh-CN" b="1" dirty="0"/>
              <a:t>break</a:t>
            </a:r>
            <a:r>
              <a:rPr lang="zh-CN" altLang="en-US" b="1" dirty="0"/>
              <a:t>和</a:t>
            </a:r>
            <a:r>
              <a:rPr lang="en-US" altLang="zh-CN" b="1" dirty="0"/>
              <a:t>continue</a:t>
            </a:r>
            <a:r>
              <a:rPr lang="zh-CN" altLang="en-US" b="1" dirty="0"/>
              <a:t>语句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1104900" y="1678862"/>
            <a:ext cx="8939645" cy="1776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•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循环结构有两个保留字：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break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continue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，用来辅助程序执行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14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•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break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语句用于终止循环语句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，一旦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break</a:t>
            </a:r>
            <a:r>
              <a:rPr lang="zh-CN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语句被执行，就会强行终止循环体的执行，跳出整个循环语句，不再返回到循环语句的条件判断部分。</a:t>
            </a:r>
            <a:endParaRPr lang="zh-CN" altLang="en-US" sz="2400" dirty="0"/>
          </a:p>
        </p:txBody>
      </p:sp>
      <p:sp>
        <p:nvSpPr>
          <p:cNvPr id="10" name="云形标注 9"/>
          <p:cNvSpPr/>
          <p:nvPr/>
        </p:nvSpPr>
        <p:spPr>
          <a:xfrm>
            <a:off x="7406612" y="4402608"/>
            <a:ext cx="3020291" cy="1250323"/>
          </a:xfrm>
          <a:prstGeom prst="cloudCallout">
            <a:avLst>
              <a:gd name="adj1" fmla="val -51642"/>
              <a:gd name="adj2" fmla="val 80398"/>
            </a:avLst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遇到“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”就停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78BE3B-3B7E-4E5D-24D6-DA16C16E2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749" y="3960946"/>
            <a:ext cx="5094374" cy="23964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3.4.3 </a:t>
            </a:r>
            <a:r>
              <a:rPr lang="en-US" altLang="zh-CN" b="1" dirty="0"/>
              <a:t>break</a:t>
            </a:r>
            <a:r>
              <a:rPr lang="zh-CN" altLang="en-US" b="1" dirty="0"/>
              <a:t>和</a:t>
            </a:r>
            <a:r>
              <a:rPr lang="en-US" altLang="zh-CN" b="1" dirty="0"/>
              <a:t>continue</a:t>
            </a:r>
            <a:r>
              <a:rPr lang="zh-CN" altLang="en-US" b="1" dirty="0"/>
              <a:t>语句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969249" y="1695462"/>
            <a:ext cx="8939645" cy="1113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• 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continue</a:t>
            </a:r>
            <a:r>
              <a:rPr lang="zh-CN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</a:t>
            </a:r>
            <a:r>
              <a:rPr lang="zh-CN" altLang="zh-CN" sz="2400" dirty="0">
                <a:solidFill>
                  <a:srgbClr val="FF0000"/>
                </a:solidFill>
              </a:rPr>
              <a:t>只是中断本次循环的执行</a:t>
            </a:r>
            <a:r>
              <a:rPr lang="zh-CN" altLang="zh-CN" sz="2400" dirty="0"/>
              <a:t>，在跳出本次循环之后，仍然回到循环的判断条件之处，继续执行下一轮循环。</a:t>
            </a:r>
            <a:endParaRPr lang="zh-CN" altLang="en-US" sz="2400" dirty="0"/>
          </a:p>
        </p:txBody>
      </p:sp>
      <p:sp>
        <p:nvSpPr>
          <p:cNvPr id="9" name="云形标注 9">
            <a:extLst>
              <a:ext uri="{FF2B5EF4-FFF2-40B4-BE49-F238E27FC236}">
                <a16:creationId xmlns:a16="http://schemas.microsoft.com/office/drawing/2014/main" id="{861656BE-3E00-D870-ACA0-9272ABB7B810}"/>
              </a:ext>
            </a:extLst>
          </p:cNvPr>
          <p:cNvSpPr/>
          <p:nvPr/>
        </p:nvSpPr>
        <p:spPr>
          <a:xfrm>
            <a:off x="8359653" y="3266136"/>
            <a:ext cx="2725929" cy="1250323"/>
          </a:xfrm>
          <a:prstGeom prst="cloudCallout">
            <a:avLst>
              <a:gd name="adj1" fmla="val -51642"/>
              <a:gd name="adj2" fmla="val 80398"/>
            </a:avLst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遇到“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h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”跳过去</a:t>
            </a:r>
            <a:endParaRPr lang="zh-CN" altLang="en-US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7581BD-9277-B1C5-F28B-2CEE17BAC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627" y="3196262"/>
            <a:ext cx="5366888" cy="2640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AD93F0B-0A82-5D44-B182-AFDCD49B5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05" y="360062"/>
            <a:ext cx="6684748" cy="3136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ADC2DB-6F63-80E1-A196-EDC582C80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142" y="2838279"/>
            <a:ext cx="5946946" cy="365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6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7517" y="2750961"/>
            <a:ext cx="10071099" cy="1684150"/>
          </a:xfrm>
        </p:spPr>
        <p:txBody>
          <a:bodyPr/>
          <a:lstStyle/>
          <a:p>
            <a:r>
              <a:rPr lang="en-US" b="1" dirty="0"/>
              <a:t>3.5 </a:t>
            </a:r>
            <a:r>
              <a:rPr lang="zh-CN" altLang="en-US" b="1" dirty="0"/>
              <a:t>异常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3.5.1 </a:t>
            </a:r>
            <a:r>
              <a:rPr lang="zh-CN" altLang="en-US" b="1" dirty="0"/>
              <a:t>异常概述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1683755" y="1503883"/>
            <a:ext cx="9980682" cy="45616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• </a:t>
            </a:r>
            <a:r>
              <a:rPr lang="zh-CN" altLang="zh-CN" sz="2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异常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是指程序在执行过程中引发的错误事件，该事件</a:t>
            </a: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会影响程序的正常执行。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• </a:t>
            </a:r>
            <a:r>
              <a:rPr lang="zh-CN" altLang="en-US" sz="2400" b="1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错误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：从软件层面来说，是语法或逻辑上的错误。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• 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异常产生</a:t>
            </a:r>
            <a:r>
              <a:rPr lang="zh-CN" altLang="en-US" sz="2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原因</a:t>
            </a:r>
            <a:r>
              <a:rPr lang="zh-CN" altLang="en-US" sz="24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除数为零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：试图对零进行除法运算；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超出数组下标范围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：访问不存在的列表或数组元素；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文件不存在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：试图打开不存在的文件；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数据格式错误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：例如输入字符串时需要数字，却输入了非数字内容；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网络无法连接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：程序试图进行网络请求时网络不可达等。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3.5.1 </a:t>
            </a:r>
            <a:r>
              <a:rPr lang="zh-CN" altLang="en-US" b="1" dirty="0"/>
              <a:t>异常标志结构</a:t>
            </a:r>
            <a:endParaRPr lang="en-US" b="1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151" y="2579888"/>
            <a:ext cx="7811826" cy="169822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858151" y="2845096"/>
            <a:ext cx="1810675" cy="354841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2189410" y="3022516"/>
            <a:ext cx="668741" cy="54591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938551" y="3568426"/>
            <a:ext cx="2044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异常回溯标志</a:t>
            </a:r>
          </a:p>
        </p:txBody>
      </p:sp>
      <p:sp>
        <p:nvSpPr>
          <p:cNvPr id="15" name="矩形 14"/>
          <p:cNvSpPr/>
          <p:nvPr/>
        </p:nvSpPr>
        <p:spPr>
          <a:xfrm>
            <a:off x="3181221" y="3199937"/>
            <a:ext cx="3298280" cy="354841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849398" y="3143532"/>
            <a:ext cx="1149482" cy="467649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858150" y="3900637"/>
            <a:ext cx="1810675" cy="354841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830361" y="3896144"/>
            <a:ext cx="4355874" cy="354841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/>
          <p:nvPr/>
        </p:nvCxnSpPr>
        <p:spPr>
          <a:xfrm flipH="1">
            <a:off x="5173035" y="2151502"/>
            <a:ext cx="771026" cy="10213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4993102" y="1678256"/>
            <a:ext cx="2265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异常文件路径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487919" y="1668352"/>
            <a:ext cx="3234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异常发生的代码行数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3019687" y="5167131"/>
            <a:ext cx="18106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异常类型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944060" y="5167131"/>
            <a:ext cx="20548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异常内容提示</a:t>
            </a: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3633763" y="4278111"/>
            <a:ext cx="0" cy="83737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6881135" y="4278110"/>
            <a:ext cx="0" cy="83737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>
            <a:off x="7487919" y="2123714"/>
            <a:ext cx="771026" cy="102130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3.5.1 </a:t>
            </a:r>
            <a:r>
              <a:rPr lang="zh-CN" altLang="en-US" b="1" dirty="0"/>
              <a:t>异常概述</a:t>
            </a:r>
            <a:endParaRPr 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04900" y="1620982"/>
            <a:ext cx="3893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常见异常：</a:t>
            </a: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1104900" y="2299634"/>
            <a:ext cx="529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ZeroDivisionError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除数为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274" y="3138054"/>
            <a:ext cx="9895717" cy="23899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3.5.1 </a:t>
            </a:r>
            <a:r>
              <a:rPr lang="zh-CN" altLang="en-US" b="1" dirty="0"/>
              <a:t>异常概述</a:t>
            </a:r>
            <a:endParaRPr 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04900" y="1620982"/>
            <a:ext cx="3893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常见异常：</a:t>
            </a: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1104900" y="2299634"/>
            <a:ext cx="529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NameError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zh-CN" sz="2400" dirty="0"/>
              <a:t>未声明或初始化对象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3209119"/>
            <a:ext cx="10368375" cy="245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3.5.1 </a:t>
            </a:r>
            <a:r>
              <a:rPr lang="zh-CN" altLang="en-US" b="1" dirty="0"/>
              <a:t>异常概述</a:t>
            </a:r>
            <a:endParaRPr 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04900" y="1620982"/>
            <a:ext cx="3893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常见异常：</a:t>
            </a: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1104900" y="2299634"/>
            <a:ext cx="5295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IndexError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索引超出范围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944" y="3209119"/>
            <a:ext cx="8963347" cy="25820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b="1" dirty="0"/>
              <a:t>3.5.1 </a:t>
            </a:r>
            <a:r>
              <a:rPr lang="zh-CN" altLang="en-US" b="1" dirty="0"/>
              <a:t>异常概述</a:t>
            </a:r>
            <a:endParaRPr 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04900" y="1620982"/>
            <a:ext cx="3893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常见异常：</a:t>
            </a: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1104900" y="2299634"/>
            <a:ext cx="52959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2400" dirty="0" err="1">
                <a:latin typeface="宋体" panose="02010600030101010101" pitchFamily="2" charset="-122"/>
                <a:ea typeface="宋体" panose="02010600030101010101" pitchFamily="2" charset="-122"/>
              </a:rPr>
              <a:t>IndentationError：</a:t>
            </a:r>
            <a:r>
              <a:rPr lang="zh-CN" altLang="en-US" sz="2400" dirty="0"/>
              <a:t>缩进错误</a:t>
            </a:r>
            <a:endParaRPr lang="zh-CN" altLang="en-US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408" y="3209119"/>
            <a:ext cx="8442726" cy="26925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3.5.2 </a:t>
            </a:r>
            <a:r>
              <a:rPr lang="zh-CN" altLang="en-US" b="1" dirty="0"/>
              <a:t>异常处理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1104900" y="1836592"/>
            <a:ext cx="9321421" cy="5133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en-US" altLang="zh-CN" sz="2400" b="1" dirty="0">
                <a:solidFill>
                  <a:srgbClr val="FF0000"/>
                </a:solidFill>
              </a:rPr>
              <a:t>try-except</a:t>
            </a:r>
            <a:r>
              <a:rPr lang="zh-CN" altLang="zh-CN" sz="2400" b="1" dirty="0">
                <a:solidFill>
                  <a:srgbClr val="FF0000"/>
                </a:solidFill>
              </a:rPr>
              <a:t>语句</a:t>
            </a:r>
            <a:r>
              <a:rPr lang="zh-CN" altLang="en-US" sz="2400" dirty="0"/>
              <a:t>：</a:t>
            </a:r>
          </a:p>
        </p:txBody>
      </p:sp>
      <p:sp>
        <p:nvSpPr>
          <p:cNvPr id="5" name="矩形 4"/>
          <p:cNvSpPr/>
          <p:nvPr/>
        </p:nvSpPr>
        <p:spPr>
          <a:xfrm>
            <a:off x="2471536" y="2495055"/>
            <a:ext cx="6096000" cy="390709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66700"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基本语法格式为：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72009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try:</a:t>
            </a:r>
            <a:endParaRPr lang="zh-CN" altLang="zh-CN" sz="2400" kern="10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2130" indent="72009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语句块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72009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except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异常类型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1&gt;: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2130" indent="72009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异常处理语句块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1&gt;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72009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except</a:t>
            </a: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异常类型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2&gt;: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532130" indent="72009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异常处理语句块</a:t>
            </a:r>
            <a:r>
              <a:rPr lang="en-US" altLang="zh-CN" sz="24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2&gt;</a:t>
            </a:r>
            <a:endParaRPr lang="zh-CN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标注: 弯曲线形 1"/>
          <p:cNvSpPr/>
          <p:nvPr/>
        </p:nvSpPr>
        <p:spPr>
          <a:xfrm>
            <a:off x="928255" y="3363855"/>
            <a:ext cx="1861461" cy="504119"/>
          </a:xfrm>
          <a:prstGeom prst="borderCallout2">
            <a:avLst>
              <a:gd name="adj1" fmla="val 47413"/>
              <a:gd name="adj2" fmla="val 101598"/>
              <a:gd name="adj3" fmla="val 125506"/>
              <a:gd name="adj4" fmla="val 134184"/>
              <a:gd name="adj5" fmla="val 123226"/>
              <a:gd name="adj6" fmla="val 15576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产生异常的代码</a:t>
            </a:r>
            <a:endParaRPr lang="zh-CN" altLang="zh-CN" sz="2400" b="1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注: 弯曲线形 1"/>
          <p:cNvSpPr/>
          <p:nvPr/>
        </p:nvSpPr>
        <p:spPr>
          <a:xfrm>
            <a:off x="1104900" y="4484714"/>
            <a:ext cx="1684816" cy="504119"/>
          </a:xfrm>
          <a:prstGeom prst="borderCallout2">
            <a:avLst>
              <a:gd name="adj1" fmla="val 47413"/>
              <a:gd name="adj2" fmla="val 101598"/>
              <a:gd name="adj3" fmla="val 125506"/>
              <a:gd name="adj4" fmla="val 134184"/>
              <a:gd name="adj5" fmla="val 123226"/>
              <a:gd name="adj6" fmla="val 159875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异常处理代码</a:t>
            </a:r>
            <a:endParaRPr lang="zh-CN" altLang="zh-CN" sz="2400" b="1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标注: 弯曲线形 1"/>
          <p:cNvSpPr/>
          <p:nvPr/>
        </p:nvSpPr>
        <p:spPr>
          <a:xfrm>
            <a:off x="1162794" y="5539265"/>
            <a:ext cx="1684816" cy="504119"/>
          </a:xfrm>
          <a:prstGeom prst="borderCallout2">
            <a:avLst>
              <a:gd name="adj1" fmla="val 47413"/>
              <a:gd name="adj2" fmla="val 101598"/>
              <a:gd name="adj3" fmla="val 125506"/>
              <a:gd name="adj4" fmla="val 134184"/>
              <a:gd name="adj5" fmla="val 123226"/>
              <a:gd name="adj6" fmla="val 15576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异常处理代码</a:t>
            </a:r>
            <a:endParaRPr lang="zh-CN" altLang="zh-CN" sz="2400" b="1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3.5.2 </a:t>
            </a:r>
            <a:r>
              <a:rPr lang="zh-CN" altLang="en-US" b="1" dirty="0"/>
              <a:t>异常处理</a:t>
            </a:r>
            <a:endParaRPr lang="en-US" b="1" dirty="0"/>
          </a:p>
        </p:txBody>
      </p:sp>
      <p:sp>
        <p:nvSpPr>
          <p:cNvPr id="4" name="矩形 3"/>
          <p:cNvSpPr/>
          <p:nvPr/>
        </p:nvSpPr>
        <p:spPr>
          <a:xfrm>
            <a:off x="3205861" y="1686278"/>
            <a:ext cx="6096000" cy="27084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try:</a:t>
            </a:r>
            <a:endParaRPr lang="zh-CN" altLang="zh-CN" sz="2800" b="1" kern="10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a = 100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b = </a:t>
            </a:r>
            <a:r>
              <a:rPr lang="en-US" altLang="zh-CN" sz="2000" kern="1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(input("</a:t>
            </a:r>
            <a:r>
              <a:rPr lang="zh-CN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请输入一个数：</a:t>
            </a: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"))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print(a/b)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except(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ZeroDivisionError</a:t>
            </a:r>
            <a:r>
              <a:rPr lang="en-US" altLang="zh-CN" sz="2000" b="1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):</a:t>
            </a:r>
            <a:endParaRPr lang="zh-CN" altLang="zh-CN" sz="2800" b="1" kern="10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print("</a:t>
            </a:r>
            <a:r>
              <a:rPr lang="zh-CN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输入的数据不符合要求，程序出错！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")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1381991" y="1731671"/>
            <a:ext cx="1291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示例</a:t>
            </a:r>
            <a:r>
              <a:rPr lang="en-US" altLang="zh-CN" sz="2400" dirty="0"/>
              <a:t>10</a:t>
            </a:r>
            <a:r>
              <a:rPr lang="zh-CN" altLang="en-US" sz="2400" dirty="0"/>
              <a:t>：</a:t>
            </a:r>
          </a:p>
        </p:txBody>
      </p:sp>
      <p:sp>
        <p:nvSpPr>
          <p:cNvPr id="2" name="矩形 1"/>
          <p:cNvSpPr/>
          <p:nvPr/>
        </p:nvSpPr>
        <p:spPr>
          <a:xfrm>
            <a:off x="3671989" y="4633398"/>
            <a:ext cx="6096000" cy="212280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l">
              <a:lnSpc>
                <a:spcPct val="110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第一次执行结果：</a:t>
            </a:r>
          </a:p>
          <a:p>
            <a:pPr indent="228600" algn="l">
              <a:lnSpc>
                <a:spcPct val="110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请输入一个数：3</a:t>
            </a:r>
          </a:p>
          <a:p>
            <a:pPr indent="228600" algn="l">
              <a:lnSpc>
                <a:spcPct val="110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33.333333333333336</a:t>
            </a:r>
          </a:p>
          <a:p>
            <a:pPr indent="266700" algn="l">
              <a:lnSpc>
                <a:spcPct val="110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第二次执行结果：</a:t>
            </a:r>
          </a:p>
          <a:p>
            <a:pPr indent="228600" algn="l">
              <a:lnSpc>
                <a:spcPct val="110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请输入一个数：0</a:t>
            </a:r>
          </a:p>
          <a:p>
            <a:pPr indent="228600" algn="l">
              <a:lnSpc>
                <a:spcPct val="110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输入的数据不符合要求，程序出错！</a:t>
            </a:r>
          </a:p>
        </p:txBody>
      </p:sp>
      <p:sp>
        <p:nvSpPr>
          <p:cNvPr id="6" name="矩形 5"/>
          <p:cNvSpPr/>
          <p:nvPr/>
        </p:nvSpPr>
        <p:spPr>
          <a:xfrm>
            <a:off x="3205861" y="1731671"/>
            <a:ext cx="6125984" cy="26663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注: 弯曲线形 1"/>
          <p:cNvSpPr/>
          <p:nvPr/>
        </p:nvSpPr>
        <p:spPr>
          <a:xfrm>
            <a:off x="764731" y="3979075"/>
            <a:ext cx="2050472" cy="762273"/>
          </a:xfrm>
          <a:prstGeom prst="borderCallout2">
            <a:avLst>
              <a:gd name="adj1" fmla="val 47413"/>
              <a:gd name="adj2" fmla="val 101598"/>
              <a:gd name="adj3" fmla="val 125506"/>
              <a:gd name="adj4" fmla="val 134184"/>
              <a:gd name="adj5" fmla="val 123226"/>
              <a:gd name="adj6" fmla="val 155763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第一次执行除数不为</a:t>
            </a:r>
            <a:r>
              <a:rPr lang="en-US" altLang="zh-CN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0</a:t>
            </a:r>
            <a:r>
              <a:rPr lang="zh-CN" altLang="en-US" kern="1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，正常执行</a:t>
            </a:r>
            <a:endParaRPr lang="zh-CN" altLang="zh-CN" sz="2400" b="1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3.5.2 </a:t>
            </a:r>
            <a:r>
              <a:rPr lang="zh-CN" altLang="en-US" b="1" dirty="0"/>
              <a:t>异常处理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1442797" y="1797671"/>
            <a:ext cx="8369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try-except-else</a:t>
            </a:r>
            <a:r>
              <a:rPr lang="zh-CN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语句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3716740" y="2575493"/>
            <a:ext cx="6096000" cy="383733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66700" algn="just">
              <a:lnSpc>
                <a:spcPct val="114000"/>
              </a:lnSpc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基本语法格式为：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720090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try:</a:t>
            </a:r>
            <a:endParaRPr lang="zh-CN" altLang="zh-CN" sz="2400" dirty="0">
              <a:solidFill>
                <a:srgbClr val="FF0000"/>
              </a:solidFill>
            </a:endParaRPr>
          </a:p>
          <a:p>
            <a:pPr indent="720090">
              <a:lnSpc>
                <a:spcPct val="150000"/>
              </a:lnSpc>
            </a:pPr>
            <a:r>
              <a:rPr lang="en-US" altLang="zh-CN" sz="2400" b="1" dirty="0"/>
              <a:t>    &lt;</a:t>
            </a:r>
            <a:r>
              <a:rPr lang="zh-CN" altLang="zh-CN" sz="2400" b="1" dirty="0"/>
              <a:t>语句块</a:t>
            </a:r>
            <a:r>
              <a:rPr lang="en-US" altLang="zh-CN" sz="2400" b="1" dirty="0"/>
              <a:t>1&gt;</a:t>
            </a:r>
            <a:endParaRPr lang="zh-CN" altLang="zh-CN" sz="2400" dirty="0"/>
          </a:p>
          <a:p>
            <a:pPr indent="720090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except&lt;</a:t>
            </a:r>
            <a:r>
              <a:rPr lang="zh-CN" altLang="zh-CN" sz="2400" b="1" dirty="0">
                <a:solidFill>
                  <a:srgbClr val="FF0000"/>
                </a:solidFill>
              </a:rPr>
              <a:t>异常类型</a:t>
            </a:r>
            <a:r>
              <a:rPr lang="en-US" altLang="zh-CN" sz="2400" b="1" dirty="0">
                <a:solidFill>
                  <a:srgbClr val="FF0000"/>
                </a:solidFill>
              </a:rPr>
              <a:t>&gt;:</a:t>
            </a:r>
            <a:endParaRPr lang="zh-CN" altLang="zh-CN" sz="2400" b="1" dirty="0">
              <a:solidFill>
                <a:srgbClr val="FF0000"/>
              </a:solidFill>
            </a:endParaRPr>
          </a:p>
          <a:p>
            <a:pPr indent="720090">
              <a:lnSpc>
                <a:spcPct val="150000"/>
              </a:lnSpc>
            </a:pPr>
            <a:r>
              <a:rPr lang="en-US" altLang="zh-CN" sz="2400" b="1" dirty="0"/>
              <a:t>    &lt;</a:t>
            </a:r>
            <a:r>
              <a:rPr lang="zh-CN" altLang="zh-CN" sz="2400" b="1" dirty="0"/>
              <a:t>异常处理语句块</a:t>
            </a:r>
            <a:r>
              <a:rPr lang="en-US" altLang="zh-CN" sz="2400" b="1" dirty="0"/>
              <a:t>&gt;</a:t>
            </a:r>
            <a:endParaRPr lang="zh-CN" altLang="zh-CN" sz="2400" dirty="0"/>
          </a:p>
          <a:p>
            <a:pPr indent="720090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else:</a:t>
            </a:r>
            <a:endParaRPr lang="zh-CN" altLang="zh-CN" sz="2400" b="1" dirty="0">
              <a:solidFill>
                <a:srgbClr val="FF0000"/>
              </a:solidFill>
            </a:endParaRPr>
          </a:p>
          <a:p>
            <a:pPr indent="720090">
              <a:lnSpc>
                <a:spcPct val="150000"/>
              </a:lnSpc>
            </a:pPr>
            <a:r>
              <a:rPr lang="en-US" altLang="zh-CN" sz="2400" b="1" dirty="0"/>
              <a:t>    &lt;</a:t>
            </a:r>
            <a:r>
              <a:rPr lang="zh-CN" altLang="zh-CN" sz="2400" b="1" dirty="0"/>
              <a:t>语句块</a:t>
            </a:r>
            <a:r>
              <a:rPr lang="en-US" altLang="zh-CN" sz="2400" b="1" dirty="0"/>
              <a:t>2&gt;</a:t>
            </a:r>
            <a:endParaRPr lang="en-US" altLang="zh-CN" sz="32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椭圆形标注 5"/>
          <p:cNvSpPr/>
          <p:nvPr/>
        </p:nvSpPr>
        <p:spPr>
          <a:xfrm>
            <a:off x="734291" y="4018512"/>
            <a:ext cx="3269673" cy="1508760"/>
          </a:xfrm>
          <a:prstGeom prst="wedgeEllipseCallout">
            <a:avLst>
              <a:gd name="adj1" fmla="val 57955"/>
              <a:gd name="adj2" fmla="val 54303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2000" dirty="0">
                <a:solidFill>
                  <a:schemeClr val="tx1"/>
                </a:solidFill>
              </a:rPr>
              <a:t>当</a:t>
            </a:r>
            <a:r>
              <a:rPr lang="en-US" altLang="zh-CN" sz="2000" dirty="0">
                <a:solidFill>
                  <a:schemeClr val="tx1"/>
                </a:solidFill>
              </a:rPr>
              <a:t>try</a:t>
            </a:r>
            <a:r>
              <a:rPr lang="zh-CN" altLang="zh-CN" sz="2000" dirty="0">
                <a:solidFill>
                  <a:schemeClr val="tx1"/>
                </a:solidFill>
              </a:rPr>
              <a:t>语句块</a:t>
            </a:r>
            <a:r>
              <a:rPr lang="zh-CN" altLang="zh-CN" sz="2000" b="1" dirty="0">
                <a:solidFill>
                  <a:srgbClr val="FF0000"/>
                </a:solidFill>
              </a:rPr>
              <a:t>没有异常时执行</a:t>
            </a:r>
            <a:r>
              <a:rPr lang="en-US" altLang="zh-CN" sz="2000" b="1" dirty="0">
                <a:solidFill>
                  <a:srgbClr val="FF0000"/>
                </a:solidFill>
              </a:rPr>
              <a:t>else</a:t>
            </a:r>
            <a:r>
              <a:rPr lang="zh-CN" altLang="zh-CN" sz="2000" b="1" dirty="0">
                <a:solidFill>
                  <a:srgbClr val="FF0000"/>
                </a:solidFill>
              </a:rPr>
              <a:t>语句块</a:t>
            </a:r>
            <a:r>
              <a:rPr lang="zh-CN" altLang="zh-CN" sz="2000" dirty="0">
                <a:solidFill>
                  <a:schemeClr val="tx1"/>
                </a:solidFill>
              </a:rPr>
              <a:t>，当出现异常时则不被执行。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3.5.2 </a:t>
            </a:r>
            <a:r>
              <a:rPr lang="zh-CN" altLang="en-US" b="1" dirty="0"/>
              <a:t>异常处理</a:t>
            </a:r>
            <a:endParaRPr lang="en-US" b="1" dirty="0"/>
          </a:p>
        </p:txBody>
      </p:sp>
      <p:sp>
        <p:nvSpPr>
          <p:cNvPr id="4" name="矩形 3"/>
          <p:cNvSpPr/>
          <p:nvPr/>
        </p:nvSpPr>
        <p:spPr>
          <a:xfrm>
            <a:off x="2089399" y="2191565"/>
            <a:ext cx="6096000" cy="360098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try:</a:t>
            </a:r>
            <a:endParaRPr lang="zh-CN" altLang="zh-CN" sz="2800" b="1" kern="10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a = 100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b = </a:t>
            </a:r>
            <a:r>
              <a:rPr lang="en-US" altLang="zh-CN" sz="2000" kern="10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eval</a:t>
            </a: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(input("</a:t>
            </a:r>
            <a:r>
              <a:rPr lang="zh-CN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请输入一个数：</a:t>
            </a: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"))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print('%d/%d = %.2f'%(</a:t>
            </a:r>
            <a:r>
              <a:rPr lang="en-US" altLang="zh-CN" sz="2000" kern="10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a,b,a</a:t>
            </a: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/b))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except(</a:t>
            </a:r>
            <a:r>
              <a:rPr lang="en-US" altLang="zh-CN" sz="2000" b="1" kern="10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ZeroDivisionError</a:t>
            </a:r>
            <a:r>
              <a:rPr lang="en-US" altLang="zh-CN" sz="2000" b="1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as e:</a:t>
            </a:r>
            <a:endParaRPr lang="zh-CN" altLang="zh-CN" sz="2800" b="1" kern="10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kern="1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print(e)</a:t>
            </a:r>
            <a:endParaRPr lang="zh-CN" altLang="zh-CN" sz="28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else:</a:t>
            </a:r>
            <a:endParaRPr lang="zh-CN" altLang="zh-CN" sz="2800" b="1" kern="100" dirty="0">
              <a:solidFill>
                <a:srgbClr val="FF0000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print('</a:t>
            </a:r>
            <a:r>
              <a:rPr lang="zh-CN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程序运行完成</a:t>
            </a:r>
            <a:r>
              <a:rPr lang="en-US" altLang="zh-CN" sz="200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')</a:t>
            </a:r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1104900" y="1542571"/>
            <a:ext cx="1125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示例</a:t>
            </a:r>
            <a:r>
              <a:rPr lang="en-US" altLang="zh-CN" sz="2400" dirty="0"/>
              <a:t>11</a:t>
            </a:r>
            <a:r>
              <a:rPr lang="zh-CN" altLang="en-US" sz="2400" dirty="0"/>
              <a:t>：</a:t>
            </a:r>
          </a:p>
        </p:txBody>
      </p:sp>
      <p:sp>
        <p:nvSpPr>
          <p:cNvPr id="2" name="矩形 1"/>
          <p:cNvSpPr/>
          <p:nvPr/>
        </p:nvSpPr>
        <p:spPr>
          <a:xfrm>
            <a:off x="8037582" y="3369423"/>
            <a:ext cx="6096000" cy="22148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zh-CN" altLang="en-US" sz="2000" b="1" kern="1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执行结果：</a:t>
            </a:r>
            <a:endParaRPr lang="en-US" altLang="zh-CN" sz="2000" b="1" kern="100" dirty="0">
              <a:solidFill>
                <a:schemeClr val="tx1"/>
              </a:solidFill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请输入一个数：</a:t>
            </a: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0</a:t>
            </a:r>
            <a:endParaRPr lang="en-US" altLang="zh-CN" sz="2000" b="1" kern="100" dirty="0">
              <a:solidFill>
                <a:srgbClr val="0070C0"/>
              </a:solidFill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division by zero</a:t>
            </a:r>
          </a:p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zh-CN" altLang="zh-CN" sz="2000" b="1" kern="100" dirty="0">
                <a:solidFill>
                  <a:schemeClr val="tx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请输入一个数：</a:t>
            </a: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10</a:t>
            </a:r>
            <a:endParaRPr lang="en-US" altLang="zh-CN" sz="2000" b="1" kern="100" dirty="0">
              <a:solidFill>
                <a:srgbClr val="0070C0"/>
              </a:solidFill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100/10 = 10.00</a:t>
            </a:r>
            <a:endParaRPr lang="en-US" altLang="zh-CN" sz="2000" b="1" kern="100" dirty="0">
              <a:solidFill>
                <a:srgbClr val="0070C0"/>
              </a:solidFill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28600" algn="just">
              <a:lnSpc>
                <a:spcPct val="115000"/>
              </a:lnSpc>
              <a:spcAft>
                <a:spcPts val="0"/>
              </a:spcAft>
            </a:pPr>
            <a:r>
              <a:rPr lang="en-US" altLang="zh-CN" sz="2000" b="1" kern="100" dirty="0">
                <a:solidFill>
                  <a:srgbClr val="0070C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程序运行完成</a:t>
            </a:r>
          </a:p>
        </p:txBody>
      </p:sp>
      <p:sp>
        <p:nvSpPr>
          <p:cNvPr id="6" name="矩形 5"/>
          <p:cNvSpPr/>
          <p:nvPr/>
        </p:nvSpPr>
        <p:spPr>
          <a:xfrm>
            <a:off x="1863229" y="2293198"/>
            <a:ext cx="6075944" cy="36605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3.5.2 </a:t>
            </a:r>
            <a:r>
              <a:rPr lang="zh-CN" altLang="en-US" b="1" dirty="0"/>
              <a:t>异常处理</a:t>
            </a:r>
            <a:endParaRPr lang="en-US" b="1" dirty="0"/>
          </a:p>
        </p:txBody>
      </p:sp>
      <p:sp>
        <p:nvSpPr>
          <p:cNvPr id="2" name="矩形 1"/>
          <p:cNvSpPr/>
          <p:nvPr/>
        </p:nvSpPr>
        <p:spPr>
          <a:xfrm>
            <a:off x="1442797" y="1797671"/>
            <a:ext cx="8369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try-except-finally</a:t>
            </a:r>
            <a:r>
              <a:rPr lang="zh-CN" altLang="zh-CN" sz="2400" b="1" dirty="0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语句</a:t>
            </a:r>
            <a:r>
              <a:rPr lang="zh-CN" altLang="en-US" sz="2400" dirty="0"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4410760" y="2508496"/>
            <a:ext cx="6096000" cy="38814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66700" algn="just">
              <a:lnSpc>
                <a:spcPct val="114000"/>
              </a:lnSpc>
              <a:spcAft>
                <a:spcPts val="0"/>
              </a:spcAft>
            </a:pPr>
            <a:r>
              <a:rPr lang="zh-CN" altLang="en-US" sz="24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基本语法格式为：</a:t>
            </a:r>
            <a:endParaRPr lang="en-US" altLang="zh-CN" sz="24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720090">
              <a:lnSpc>
                <a:spcPct val="114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try:</a:t>
            </a:r>
            <a:endParaRPr lang="zh-CN" altLang="zh-CN" sz="2400" dirty="0">
              <a:solidFill>
                <a:srgbClr val="FF0000"/>
              </a:solidFill>
            </a:endParaRPr>
          </a:p>
          <a:p>
            <a:pPr indent="720090">
              <a:lnSpc>
                <a:spcPct val="114000"/>
              </a:lnSpc>
            </a:pPr>
            <a:r>
              <a:rPr lang="en-US" altLang="zh-CN" sz="2400" b="1" dirty="0"/>
              <a:t>    &lt;</a:t>
            </a:r>
            <a:r>
              <a:rPr lang="zh-CN" altLang="zh-CN" sz="2400" b="1" dirty="0"/>
              <a:t>语句块</a:t>
            </a:r>
            <a:r>
              <a:rPr lang="en-US" altLang="zh-CN" sz="2400" b="1" dirty="0"/>
              <a:t>1&gt;</a:t>
            </a:r>
            <a:endParaRPr lang="zh-CN" altLang="zh-CN" sz="2400" dirty="0"/>
          </a:p>
          <a:p>
            <a:pPr indent="720090">
              <a:lnSpc>
                <a:spcPct val="114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except&lt;</a:t>
            </a:r>
            <a:r>
              <a:rPr lang="zh-CN" altLang="zh-CN" sz="2400" b="1" dirty="0">
                <a:solidFill>
                  <a:srgbClr val="FF0000"/>
                </a:solidFill>
              </a:rPr>
              <a:t>异常类型</a:t>
            </a:r>
            <a:r>
              <a:rPr lang="en-US" altLang="zh-CN" sz="2400" b="1" dirty="0">
                <a:solidFill>
                  <a:srgbClr val="FF0000"/>
                </a:solidFill>
              </a:rPr>
              <a:t>&gt;:</a:t>
            </a:r>
            <a:endParaRPr lang="zh-CN" altLang="zh-CN" sz="2400" dirty="0">
              <a:solidFill>
                <a:srgbClr val="FF0000"/>
              </a:solidFill>
            </a:endParaRPr>
          </a:p>
          <a:p>
            <a:pPr indent="720090">
              <a:lnSpc>
                <a:spcPct val="114000"/>
              </a:lnSpc>
            </a:pPr>
            <a:r>
              <a:rPr lang="en-US" altLang="zh-CN" sz="2400" b="1" dirty="0"/>
              <a:t>    &lt;</a:t>
            </a:r>
            <a:r>
              <a:rPr lang="zh-CN" altLang="zh-CN" sz="2400" b="1" dirty="0"/>
              <a:t>异常处理语句块</a:t>
            </a:r>
            <a:r>
              <a:rPr lang="en-US" altLang="zh-CN" sz="2400" b="1" dirty="0"/>
              <a:t>&gt;</a:t>
            </a:r>
            <a:endParaRPr lang="zh-CN" altLang="zh-CN" sz="2400" dirty="0"/>
          </a:p>
          <a:p>
            <a:pPr indent="720090">
              <a:lnSpc>
                <a:spcPct val="114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else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indent="720090">
              <a:lnSpc>
                <a:spcPct val="114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   </a:t>
            </a:r>
            <a:r>
              <a:rPr lang="en-US" altLang="zh-CN" sz="2400" b="1" dirty="0"/>
              <a:t> &lt;</a:t>
            </a:r>
            <a:r>
              <a:rPr lang="zh-CN" altLang="en-US" sz="2400" b="1" dirty="0"/>
              <a:t>语句块</a:t>
            </a:r>
            <a:r>
              <a:rPr lang="en-US" altLang="zh-CN" sz="2400" b="1" dirty="0"/>
              <a:t>2&gt;</a:t>
            </a:r>
          </a:p>
          <a:p>
            <a:pPr indent="720090">
              <a:lnSpc>
                <a:spcPct val="114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finally:</a:t>
            </a:r>
            <a:endParaRPr lang="zh-CN" altLang="zh-CN" sz="2400" dirty="0">
              <a:solidFill>
                <a:srgbClr val="FF0000"/>
              </a:solidFill>
            </a:endParaRPr>
          </a:p>
          <a:p>
            <a:pPr indent="720090">
              <a:lnSpc>
                <a:spcPct val="114000"/>
              </a:lnSpc>
            </a:pPr>
            <a:r>
              <a:rPr lang="en-US" altLang="zh-CN" sz="2400" b="1" dirty="0"/>
              <a:t>    &lt;</a:t>
            </a:r>
            <a:r>
              <a:rPr lang="zh-CN" altLang="zh-CN" sz="2400" b="1" dirty="0"/>
              <a:t>语句块</a:t>
            </a:r>
            <a:r>
              <a:rPr lang="en-US" altLang="zh-CN" sz="2400" b="1" dirty="0"/>
              <a:t>3&gt;</a:t>
            </a:r>
            <a:endParaRPr lang="zh-CN" altLang="zh-CN" sz="2400" dirty="0"/>
          </a:p>
        </p:txBody>
      </p:sp>
      <p:sp>
        <p:nvSpPr>
          <p:cNvPr id="6" name="椭圆形标注 5"/>
          <p:cNvSpPr/>
          <p:nvPr/>
        </p:nvSpPr>
        <p:spPr>
          <a:xfrm>
            <a:off x="1288473" y="3949240"/>
            <a:ext cx="3269673" cy="1508760"/>
          </a:xfrm>
          <a:prstGeom prst="wedgeEllipseCallout">
            <a:avLst>
              <a:gd name="adj1" fmla="val 57955"/>
              <a:gd name="adj2" fmla="val 54303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zh-CN" sz="2000" dirty="0">
                <a:solidFill>
                  <a:schemeClr val="tx1"/>
                </a:solidFill>
              </a:rPr>
              <a:t>无论</a:t>
            </a:r>
            <a:r>
              <a:rPr lang="en-US" altLang="zh-CN" sz="2000" dirty="0">
                <a:solidFill>
                  <a:schemeClr val="tx1"/>
                </a:solidFill>
              </a:rPr>
              <a:t>try</a:t>
            </a:r>
            <a:r>
              <a:rPr lang="zh-CN" altLang="zh-CN" sz="2000" dirty="0">
                <a:solidFill>
                  <a:schemeClr val="tx1"/>
                </a:solidFill>
              </a:rPr>
              <a:t>语句中是否产生异常，</a:t>
            </a:r>
            <a:r>
              <a:rPr lang="en-US" altLang="zh-CN" sz="2000" b="1" dirty="0">
                <a:solidFill>
                  <a:srgbClr val="FF0000"/>
                </a:solidFill>
              </a:rPr>
              <a:t>finally</a:t>
            </a:r>
            <a:r>
              <a:rPr lang="zh-CN" altLang="zh-CN" sz="2000" b="1" dirty="0">
                <a:solidFill>
                  <a:srgbClr val="FF0000"/>
                </a:solidFill>
              </a:rPr>
              <a:t>语句中的代码都会执行</a:t>
            </a:r>
            <a:r>
              <a:rPr lang="zh-CN" altLang="zh-CN" sz="2000" dirty="0">
                <a:solidFill>
                  <a:schemeClr val="tx1"/>
                </a:solidFill>
              </a:rPr>
              <a:t>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3.5.2 </a:t>
            </a:r>
            <a:r>
              <a:rPr lang="zh-CN" altLang="en-US" b="1" dirty="0"/>
              <a:t>异常处理</a:t>
            </a:r>
            <a:r>
              <a:rPr lang="en-US" altLang="zh-CN" b="1" dirty="0"/>
              <a:t>-</a:t>
            </a:r>
            <a:r>
              <a:rPr lang="zh-CN" altLang="en-US" b="1" dirty="0"/>
              <a:t>示例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C87072-29CD-7312-F5ED-D9C5925F4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394" y="1392709"/>
            <a:ext cx="6096009" cy="50822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104858-FFEB-FEEA-528E-C192EC52F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411" y="3923270"/>
            <a:ext cx="3317171" cy="2551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程序案例</a:t>
            </a:r>
            <a:r>
              <a:rPr lang="zh-CN" altLang="en-US" b="1" dirty="0"/>
              <a:t>：</a:t>
            </a:r>
            <a:r>
              <a:rPr lang="en-US" altLang="zh-CN" b="1" dirty="0"/>
              <a:t>π</a:t>
            </a:r>
            <a:r>
              <a:rPr lang="zh-CN" altLang="zh-CN" b="1" dirty="0"/>
              <a:t>的计算</a:t>
            </a:r>
            <a:endParaRPr kumimoji="1" lang="zh-CN" altLang="en-US" dirty="0"/>
          </a:p>
        </p:txBody>
      </p:sp>
      <p:sp>
        <p:nvSpPr>
          <p:cNvPr id="3" name="Rectangle 2"/>
          <p:cNvSpPr/>
          <p:nvPr/>
        </p:nvSpPr>
        <p:spPr>
          <a:xfrm>
            <a:off x="1328928" y="1380512"/>
            <a:ext cx="9668256" cy="2120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</a:rPr>
              <a:t>π（圆周率）是一个无理数，即无限不循环小数。精确求解圆周率π是几何学、物理学和很多工程学科的关键。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对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π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的精确求解</a:t>
            </a:r>
            <a:r>
              <a:rPr lang="en-US" altLang="en-US" dirty="0" err="1">
                <a:latin typeface="微软雅黑" panose="020B0503020204020204" charset="-122"/>
                <a:ea typeface="微软雅黑" panose="020B0503020204020204" charset="-122"/>
              </a:rPr>
              <a:t>曾经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是数学历史上一直难以解决的问题之一，因为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π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无法用任何精确公式表示，在电子计算机出现以前，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π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只能通过一些近似公式的求解得到，直到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1948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年，人类才以人工计算方式得到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π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808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位精确小数。</a:t>
            </a:r>
            <a:endParaRPr lang="en-US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67712" y="3937338"/>
            <a:ext cx="8132064" cy="2119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</a:rPr>
              <a:t>随着计算机的出现，数学家找到了</a:t>
            </a:r>
            <a:r>
              <a:rPr lang="en-US" altLang="zh-CN" dirty="0" err="1">
                <a:latin typeface="微软雅黑" panose="020B0503020204020204" charset="-122"/>
                <a:ea typeface="微软雅黑" panose="020B0503020204020204" charset="-122"/>
              </a:rPr>
              <a:t>另类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求解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π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altLang="en-US" dirty="0" err="1">
                <a:latin typeface="微软雅黑" panose="020B0503020204020204" charset="-122"/>
                <a:ea typeface="微软雅黑" panose="020B0503020204020204" charset="-122"/>
              </a:rPr>
              <a:t>另类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方法：</a:t>
            </a:r>
            <a:r>
              <a:rPr lang="en-US" altLang="en-US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蒙特卡罗（</a:t>
            </a:r>
            <a:r>
              <a:rPr lang="en-US" altLang="zh-CN" dirty="0" err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Monte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Carlo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方法，又称随机抽样或统计试验方法。当所要求解的问题是某种事件出现的概率，或者是某个随机变量的期望值时，它们可以通过某种</a:t>
            </a:r>
            <a:r>
              <a:rPr lang="en-US" altLang="en-US" dirty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试验</a:t>
            </a:r>
            <a:r>
              <a:rPr lang="en-US" altLang="en-US" dirty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的方法，得到这种事件出现的频率，或者这个随机变数的平均值，并用它们作为问题的解。这</a:t>
            </a:r>
            <a:r>
              <a:rPr lang="en-US" altLang="en-US" dirty="0" err="1">
                <a:latin typeface="微软雅黑" panose="020B0503020204020204" charset="-122"/>
                <a:ea typeface="微软雅黑" panose="020B0503020204020204" charset="-122"/>
              </a:rPr>
              <a:t>就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是蒙特卡罗方法的基本思想。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</a:rPr>
              <a:t>蒙特卡罗方法</a:t>
            </a:r>
            <a:endParaRPr kumimoji="1" lang="zh-CN" altLang="en-US" dirty="0"/>
          </a:p>
        </p:txBody>
      </p:sp>
      <p:sp>
        <p:nvSpPr>
          <p:cNvPr id="3" name="Rectangle 2"/>
          <p:cNvSpPr/>
          <p:nvPr/>
        </p:nvSpPr>
        <p:spPr>
          <a:xfrm>
            <a:off x="1360805" y="1255357"/>
            <a:ext cx="6904418" cy="17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</a:rPr>
              <a:t>应用蒙特卡罗方法求解π的基本步骤如下：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zh-CN" dirty="0">
                <a:latin typeface="微软雅黑" panose="020B0503020204020204" charset="-122"/>
                <a:ea typeface="微软雅黑" panose="020B0503020204020204" charset="-122"/>
              </a:rPr>
              <a:t>随机向</a:t>
            </a:r>
            <a:r>
              <a:rPr lang="en-US" altLang="en-US" dirty="0" err="1">
                <a:latin typeface="微软雅黑" panose="020B0503020204020204" charset="-122"/>
                <a:ea typeface="微软雅黑" panose="020B0503020204020204" charset="-122"/>
              </a:rPr>
              <a:t>单位正方形和圆结构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en-US" dirty="0" err="1">
                <a:latin typeface="微软雅黑" panose="020B0503020204020204" charset="-122"/>
                <a:ea typeface="微软雅黑" panose="020B0503020204020204" charset="-122"/>
              </a:rPr>
              <a:t>抛洒大量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飞镖</a:t>
            </a:r>
            <a:r>
              <a:rPr lang="en-US" altLang="en-US" dirty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点</a:t>
            </a:r>
          </a:p>
          <a:p>
            <a:pPr marL="742950" lvl="1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计算每个点到圆心的距离从而判断该点在圆内或者圆外</a:t>
            </a:r>
          </a:p>
          <a:p>
            <a:pPr marL="742950" lvl="1" indent="-28575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用圆内的点数除以总点数就是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π/4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值。</a:t>
            </a:r>
          </a:p>
        </p:txBody>
      </p:sp>
      <p:pic>
        <p:nvPicPr>
          <p:cNvPr id="4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3107" y="3042955"/>
            <a:ext cx="3368675" cy="304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223" y="3042955"/>
            <a:ext cx="3240088" cy="304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4636770" y="6120064"/>
            <a:ext cx="31813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计算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π</a:t>
            </a:r>
            <a:r>
              <a:rPr lang="zh-CN" altLang="zh-CN" sz="180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使用的正方形和圆结构 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8265223" y="6118476"/>
            <a:ext cx="3551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80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计算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π</a:t>
            </a:r>
            <a:r>
              <a:rPr lang="zh-CN" altLang="zh-CN" sz="180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使用的</a:t>
            </a:r>
            <a:r>
              <a:rPr lang="en-US" altLang="zh-CN" sz="180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1/4</a:t>
            </a:r>
            <a:r>
              <a:rPr lang="zh-CN" altLang="zh-CN" sz="180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区域和抛点过程 </a:t>
            </a:r>
            <a:endParaRPr lang="zh-CN" altLang="en-US" sz="180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9716" y="3420444"/>
            <a:ext cx="3763391" cy="2534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随机点数量越大，越充分覆盖整个图形，计算得到的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π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值越精确。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dirty="0">
                <a:solidFill>
                  <a:srgbClr val="0432FF"/>
                </a:solidFill>
                <a:latin typeface="微软雅黑" panose="020B0503020204020204" charset="-122"/>
                <a:ea typeface="微软雅黑" panose="020B0503020204020204" charset="-122"/>
              </a:rPr>
              <a:t>实际上，这个方法的思想是利用离散点值表示图形的面积，通过面积比例来求解</a:t>
            </a:r>
            <a:r>
              <a:rPr lang="en-US" altLang="zh-CN" dirty="0">
                <a:solidFill>
                  <a:srgbClr val="0432FF"/>
                </a:solidFill>
                <a:latin typeface="微软雅黑" panose="020B0503020204020204" charset="-122"/>
                <a:ea typeface="微软雅黑" panose="020B0503020204020204" charset="-122"/>
              </a:rPr>
              <a:t>π</a:t>
            </a:r>
            <a:r>
              <a:rPr lang="zh-CN" altLang="en-US" dirty="0">
                <a:solidFill>
                  <a:srgbClr val="0432FF"/>
                </a:solidFill>
                <a:latin typeface="微软雅黑" panose="020B0503020204020204" charset="-122"/>
                <a:ea typeface="微软雅黑" panose="020B0503020204020204" charset="-122"/>
              </a:rPr>
              <a:t>值。 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代码实现</a:t>
            </a:r>
            <a:endParaRPr kumimoji="1" lang="zh-CN" altLang="en-US" dirty="0"/>
          </a:p>
        </p:txBody>
      </p:sp>
      <p:sp>
        <p:nvSpPr>
          <p:cNvPr id="3" name="Rectangle 2"/>
          <p:cNvSpPr/>
          <p:nvPr/>
        </p:nvSpPr>
        <p:spPr>
          <a:xfrm>
            <a:off x="487680" y="1373309"/>
            <a:ext cx="5495926" cy="4198842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</a:t>
            </a:r>
            <a:r>
              <a:rPr lang="en-US" altLang="zh-CN" b="1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CalPi.py</a:t>
            </a:r>
            <a:endParaRPr lang="zh-CN" altLang="zh-CN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from random import random</a:t>
            </a:r>
            <a:endParaRPr lang="zh-CN" altLang="zh-CN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from math import sqrt</a:t>
            </a:r>
            <a:endParaRPr lang="zh-CN" altLang="zh-CN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from time import </a:t>
            </a:r>
            <a:r>
              <a:rPr lang="en-US" altLang="zh-CN" b="1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process_time</a:t>
            </a:r>
            <a:endParaRPr lang="en-US" altLang="zh-CN" b="1" dirty="0">
              <a:latin typeface="Courier New" panose="020703090202050204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DARTS = 10000</a:t>
            </a:r>
            <a:endParaRPr lang="zh-CN" altLang="zh-CN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hits = 0.0</a:t>
            </a:r>
            <a:endParaRPr lang="zh-CN" altLang="zh-CN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 </a:t>
            </a:r>
            <a:r>
              <a:rPr lang="en-US" altLang="zh-CN" b="1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in range(1, DARTS+1):</a:t>
            </a:r>
            <a:endParaRPr lang="zh-CN" altLang="zh-CN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x, y = random(), random()</a:t>
            </a:r>
            <a:endParaRPr lang="zh-CN" altLang="zh-CN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dist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sqrt(x ** 2 + y ** 2)</a:t>
            </a:r>
            <a:endParaRPr lang="zh-CN" altLang="zh-CN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if </a:t>
            </a:r>
            <a:r>
              <a:rPr lang="en-US" altLang="zh-CN" b="1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dist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&lt;= 1.0:</a:t>
            </a:r>
            <a:endParaRPr lang="zh-CN" altLang="zh-CN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hits = hits + 1</a:t>
            </a:r>
            <a:endParaRPr lang="zh-CN" altLang="zh-CN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pi = 4 * (hits/DARTS)</a:t>
            </a:r>
            <a:endParaRPr lang="zh-CN" altLang="zh-CN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print("Pi</a:t>
            </a:r>
            <a:r>
              <a:rPr lang="zh-CN" altLang="zh-CN" b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值是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{}.".format(pi))</a:t>
            </a:r>
            <a:endParaRPr lang="zh-CN" altLang="zh-CN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print("</a:t>
            </a:r>
            <a:r>
              <a:rPr lang="zh-CN" altLang="en-US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运行时间是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: {:5.5}s"\</a:t>
            </a:r>
          </a:p>
          <a:p>
            <a:pPr lvl="0" algn="just" fontAlgn="base">
              <a:lnSpc>
                <a:spcPts val="2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.format(</a:t>
            </a:r>
            <a:r>
              <a:rPr lang="en-US" altLang="zh-CN" b="1" dirty="0" err="1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process_time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()))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63168" y="5657914"/>
          <a:ext cx="3103563" cy="763587"/>
        </p:xfrm>
        <a:graphic>
          <a:graphicData uri="http://schemas.openxmlformats.org/drawingml/2006/table">
            <a:tbl>
              <a:tblPr/>
              <a:tblGrid>
                <a:gridCol w="31035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35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D:\&gt;python3 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Calpi.py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Pi</a:t>
                      </a: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值是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3.144.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运行时间是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: 0.016477s</a:t>
                      </a:r>
                      <a:endParaRPr kumimoji="0" lang="zh-CN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dpi="0" rotWithShape="0">
                      <a:blip r:embed="rId2"/>
                      <a:srcRect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表格 3"/>
          <p:cNvGraphicFramePr>
            <a:graphicFrameLocks noGrp="1"/>
          </p:cNvGraphicFramePr>
          <p:nvPr/>
        </p:nvGraphicFramePr>
        <p:xfrm>
          <a:off x="6248208" y="1524548"/>
          <a:ext cx="5495925" cy="3417888"/>
        </p:xfrm>
        <a:graphic>
          <a:graphicData uri="http://schemas.openxmlformats.org/drawingml/2006/table">
            <a:tbl>
              <a:tblPr/>
              <a:tblGrid>
                <a:gridCol w="172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DARTS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π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运行时间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3.109375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0.011s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3.138671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0.012s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3.150390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0.014s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3.143554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0.018s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3.141357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0.030s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3.147827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0.049s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3.141967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0.116s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18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3.144577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0.363s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3.1426696777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1.255s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9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3.1416978836</a:t>
                      </a: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40.13s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7140384" y="5042509"/>
            <a:ext cx="3711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不同</a:t>
            </a:r>
            <a:r>
              <a:rPr lang="zh-CN" altLang="zh-CN" sz="1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抛点数</a:t>
            </a: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产生的</a:t>
            </a:r>
            <a:r>
              <a:rPr lang="zh-CN" altLang="zh-CN" sz="1800" dirty="0">
                <a:solidFill>
                  <a:srgbClr val="0432FF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精度</a:t>
            </a: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和</a:t>
            </a:r>
            <a:r>
              <a:rPr lang="zh-CN" altLang="zh-CN" sz="1800" dirty="0">
                <a:solidFill>
                  <a:srgbClr val="0432FF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运行时间 </a:t>
            </a:r>
            <a:endParaRPr lang="zh-CN" altLang="en-US" sz="1800" dirty="0">
              <a:solidFill>
                <a:srgbClr val="0432FF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br>
              <a:rPr lang="en-US" altLang="zh-CN" dirty="0"/>
            </a:br>
            <a:r>
              <a:rPr lang="en-US" altLang="zh-CN" dirty="0"/>
              <a:t>——The end——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U3NTIwYjMzNWI5YjAwNGIwZDVmZjljNTFiODI0NmIifQ=="/>
</p:tagLst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BAFF00-647E-4627-9B6C-A5CDC1F32200}">
  <ds:schemaRefs/>
</ds:datastoreItem>
</file>

<file path=customXml/itemProps2.xml><?xml version="1.0" encoding="utf-8"?>
<ds:datastoreItem xmlns:ds="http://schemas.openxmlformats.org/officeDocument/2006/customXml" ds:itemID="{2DDC6030-8312-4894-9236-1E15DA4F39C5}">
  <ds:schemaRefs/>
</ds:datastoreItem>
</file>

<file path=customXml/itemProps3.xml><?xml version="1.0" encoding="utf-8"?>
<ds:datastoreItem xmlns:ds="http://schemas.openxmlformats.org/officeDocument/2006/customXml" ds:itemID="{5400D5F3-AA73-4EC6-BCD9-0DC3E330E5B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2769</Words>
  <Application>Microsoft Macintosh PowerPoint</Application>
  <PresentationFormat>Widescreen</PresentationFormat>
  <Paragraphs>395</Paragraphs>
  <Slides>52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6" baseType="lpstr">
      <vt:lpstr>等线</vt:lpstr>
      <vt:lpstr>楷体</vt:lpstr>
      <vt:lpstr>微软雅黑</vt:lpstr>
      <vt:lpstr>微软雅黑</vt:lpstr>
      <vt:lpstr>宋体</vt:lpstr>
      <vt:lpstr>Arial</vt:lpstr>
      <vt:lpstr>Calibri</vt:lpstr>
      <vt:lpstr>Consolas</vt:lpstr>
      <vt:lpstr>Courier New</vt:lpstr>
      <vt:lpstr>Euphemia</vt:lpstr>
      <vt:lpstr>Plantagenet Cherokee</vt:lpstr>
      <vt:lpstr>Times New Roman</vt:lpstr>
      <vt:lpstr>Wingdings</vt:lpstr>
      <vt:lpstr>Academic Literature 16x9</vt:lpstr>
      <vt:lpstr>第4章 程序控制结构</vt:lpstr>
      <vt:lpstr>教学内容</vt:lpstr>
      <vt:lpstr>3.1 控制结构概述</vt:lpstr>
      <vt:lpstr>3.1 控制结构概述</vt:lpstr>
      <vt:lpstr>3.1 控制结构概述</vt:lpstr>
      <vt:lpstr>3.1 控制结构概述</vt:lpstr>
      <vt:lpstr>3.2 顺序结构</vt:lpstr>
      <vt:lpstr>3.2 顺序结构</vt:lpstr>
      <vt:lpstr>3.3 选择结构</vt:lpstr>
      <vt:lpstr>3.3.1 条件表达式</vt:lpstr>
      <vt:lpstr>3.3.2 单分支结构</vt:lpstr>
      <vt:lpstr>3.3.2 单分支结构</vt:lpstr>
      <vt:lpstr>3.3.3 二分支结构</vt:lpstr>
      <vt:lpstr>3.3.3 二分支结构</vt:lpstr>
      <vt:lpstr>3.3.3 二分支结构</vt:lpstr>
      <vt:lpstr>3.3.4 多分支结构</vt:lpstr>
      <vt:lpstr>3.3.4 多分支结构</vt:lpstr>
      <vt:lpstr>3.3.4 多分支结构</vt:lpstr>
      <vt:lpstr>3.3.5 嵌套</vt:lpstr>
      <vt:lpstr>3.3.5 嵌套</vt:lpstr>
      <vt:lpstr>3.3.6 if语句的等价形式</vt:lpstr>
      <vt:lpstr>3.3.7 Venn图和判断条件</vt:lpstr>
      <vt:lpstr>3.3.7 Venn图和判断条件</vt:lpstr>
      <vt:lpstr>3.3.7 Venn图和判断条件</vt:lpstr>
      <vt:lpstr>3.3.7 Venn图和判断条件</vt:lpstr>
      <vt:lpstr>3.4 循环结构</vt:lpstr>
      <vt:lpstr>3.4.1 while循环</vt:lpstr>
      <vt:lpstr>3.4.1 while循环</vt:lpstr>
      <vt:lpstr>while-else</vt:lpstr>
      <vt:lpstr>3.4.2 for循环</vt:lpstr>
      <vt:lpstr>3.4.2 for循环</vt:lpstr>
      <vt:lpstr>循环嵌套</vt:lpstr>
      <vt:lpstr>3.4.3 break和continue语句</vt:lpstr>
      <vt:lpstr>3.4.3 break和continue语句</vt:lpstr>
      <vt:lpstr>PowerPoint Presentation</vt:lpstr>
      <vt:lpstr>3.5 异常</vt:lpstr>
      <vt:lpstr>3.5.1 异常概述</vt:lpstr>
      <vt:lpstr>3.5.1 异常标志结构</vt:lpstr>
      <vt:lpstr>3.5.1 异常概述</vt:lpstr>
      <vt:lpstr>3.5.1 异常概述</vt:lpstr>
      <vt:lpstr>3.5.1 异常概述</vt:lpstr>
      <vt:lpstr>3.5.1 异常概述</vt:lpstr>
      <vt:lpstr>3.5.2 异常处理</vt:lpstr>
      <vt:lpstr>3.5.2 异常处理</vt:lpstr>
      <vt:lpstr>3.5.2 异常处理</vt:lpstr>
      <vt:lpstr>3.5.2 异常处理</vt:lpstr>
      <vt:lpstr>3.5.2 异常处理</vt:lpstr>
      <vt:lpstr>3.5.2 异常处理-示例</vt:lpstr>
      <vt:lpstr>程序案例：π的计算</vt:lpstr>
      <vt:lpstr>蒙特卡罗方法</vt:lpstr>
      <vt:lpstr>代码实现</vt:lpstr>
      <vt:lpstr> ——The end——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Picture Layout</dc:title>
  <dc:creator/>
  <cp:lastModifiedBy>Hao Fan</cp:lastModifiedBy>
  <cp:revision>145</cp:revision>
  <cp:lastPrinted>2020-03-05T02:11:00Z</cp:lastPrinted>
  <dcterms:created xsi:type="dcterms:W3CDTF">2014-04-17T22:28:00Z</dcterms:created>
  <dcterms:modified xsi:type="dcterms:W3CDTF">2026-02-26T06:50:30Z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CV">
    <vt:lpwstr>AB5DB422F3ED45B3BB1E56B8A1006BB0_12</vt:lpwstr>
  </property>
  <property fmtid="{D5CDD505-2E9C-101B-9397-08002B2CF9AE}" pid="4" name="KSOProductBuildVer">
    <vt:lpwstr>2052-12.1.0.15990</vt:lpwstr>
  </property>
</Properties>
</file>