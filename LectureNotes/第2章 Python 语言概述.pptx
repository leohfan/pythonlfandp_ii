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321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2" r:id="rId46"/>
    <p:sldId id="325" r:id="rId47"/>
    <p:sldId id="326" r:id="rId48"/>
    <p:sldId id="327" r:id="rId49"/>
    <p:sldId id="328" r:id="rId50"/>
    <p:sldId id="324" r:id="rId51"/>
    <p:sldId id="323" r:id="rId52"/>
    <p:sldId id="320" r:id="rId5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Euphemi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ECD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0D3"/>
          </a:solidFill>
        </a:fill>
      </a:tcStyle>
    </a:wholeTbl>
    <a:band2H>
      <a:tcTxStyle/>
      <a:tcStyle>
        <a:tcBdr/>
        <a:fill>
          <a:solidFill>
            <a:srgbClr val="E9E9E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1E0DE"/>
          </a:solidFill>
        </a:fill>
      </a:tcStyle>
    </a:wholeTbl>
    <a:band2H>
      <a:tcTxStyle/>
      <a:tcStyle>
        <a:tcBdr/>
        <a:fill>
          <a:solidFill>
            <a:srgbClr val="F1F0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ECD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>
              <a:alpha val="20000"/>
            </a:schemeClr>
          </a:solidFill>
        </a:fill>
      </a:tcStyle>
    </a:firstCol>
    <a:la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1pPr>
    <a:lvl2pPr indent="228600"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2pPr>
    <a:lvl3pPr indent="457200"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3pPr>
    <a:lvl4pPr indent="685800"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4pPr>
    <a:lvl5pPr indent="914400"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5pPr>
    <a:lvl6pPr indent="1143000"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6pPr>
    <a:lvl7pPr indent="1371600"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7pPr>
    <a:lvl8pPr indent="1600200"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8pPr>
    <a:lvl9pPr indent="1828800" latinLnBrk="0">
      <a:defRPr sz="1200">
        <a:solidFill>
          <a:schemeClr val="accent1"/>
        </a:solidFill>
        <a:latin typeface="+mj-lt"/>
        <a:ea typeface="+mj-ea"/>
        <a:cs typeface="+mj-cs"/>
        <a:sym typeface="Euphemi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7" name="Shape 1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NOTE: Want a different image on this slide? Select the picture and delete it. Now click the Pictures icon in the placeholder to insert your own image.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131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/>
          <p:nvPr/>
        </p:nvSpPr>
        <p:spPr>
          <a:xfrm>
            <a:off x="0" y="5778124"/>
            <a:ext cx="12192000" cy="107987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Rectangle 7"/>
          <p:cNvSpPr/>
          <p:nvPr/>
        </p:nvSpPr>
        <p:spPr>
          <a:xfrm>
            <a:off x="0" y="-1"/>
            <a:ext cx="12192000" cy="107987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1104900" y="2292094"/>
            <a:ext cx="10096500" cy="2219692"/>
          </a:xfrm>
          <a:prstGeom prst="rect">
            <a:avLst/>
          </a:prstGeom>
        </p:spPr>
        <p:txBody>
          <a:bodyPr anchor="ctr"/>
          <a:lstStyle>
            <a:lvl1pPr>
              <a:defRPr sz="4400" cap="all"/>
            </a:lvl1pPr>
          </a:lstStyle>
          <a:p>
            <a:r>
              <a:t>Title Text</a:t>
            </a:r>
          </a:p>
        </p:txBody>
      </p:sp>
      <p:sp>
        <p:nvSpPr>
          <p:cNvPr id="1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4897" y="4511783"/>
            <a:ext cx="10096502" cy="9555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800"/>
            </a:lvl1pPr>
            <a:lvl2pPr marL="0" indent="457200">
              <a:spcBef>
                <a:spcPts val="0"/>
              </a:spcBef>
              <a:buSzTx/>
              <a:buNone/>
              <a:defRPr sz="1800"/>
            </a:lvl2pPr>
            <a:lvl3pPr marL="0" indent="914400">
              <a:spcBef>
                <a:spcPts val="0"/>
              </a:spcBef>
              <a:buSzTx/>
              <a:buNone/>
              <a:defRPr sz="1800"/>
            </a:lvl3pPr>
            <a:lvl4pPr marL="0" indent="1371600">
              <a:spcBef>
                <a:spcPts val="0"/>
              </a:spcBef>
              <a:buSzTx/>
              <a:buNone/>
              <a:defRPr sz="1800"/>
            </a:lvl4pPr>
            <a:lvl5pPr marL="0" indent="1828800">
              <a:spcBef>
                <a:spcPts val="0"/>
              </a:spcBef>
              <a:buSz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0" name="Ribbon tabPicture 10" descr="Ribbon tab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445" y="0"/>
            <a:ext cx="1747524" cy="2292095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12"/>
          <p:cNvGrpSpPr/>
          <p:nvPr/>
        </p:nvGrpSpPr>
        <p:grpSpPr>
          <a:xfrm>
            <a:off x="-1" y="5646780"/>
            <a:ext cx="12192001" cy="63126"/>
            <a:chOff x="0" y="0"/>
            <a:chExt cx="12192000" cy="63124"/>
          </a:xfrm>
        </p:grpSpPr>
        <p:sp>
          <p:nvSpPr>
            <p:cNvPr id="37" name="Straight Connector 16"/>
            <p:cNvSpPr/>
            <p:nvPr/>
          </p:nvSpPr>
          <p:spPr>
            <a:xfrm flipH="1" flipV="1">
              <a:off x="0" y="0"/>
              <a:ext cx="12192000" cy="1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" name="Straight Connector 17"/>
            <p:cNvSpPr/>
            <p:nvPr/>
          </p:nvSpPr>
          <p:spPr>
            <a:xfrm flipH="1" flipV="1">
              <a:off x="0" y="63124"/>
              <a:ext cx="12192000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42" name="Group 13"/>
          <p:cNvGrpSpPr/>
          <p:nvPr/>
        </p:nvGrpSpPr>
        <p:grpSpPr>
          <a:xfrm>
            <a:off x="0" y="1142999"/>
            <a:ext cx="12192000" cy="63126"/>
            <a:chOff x="0" y="0"/>
            <a:chExt cx="12192000" cy="63124"/>
          </a:xfrm>
        </p:grpSpPr>
        <p:sp>
          <p:nvSpPr>
            <p:cNvPr id="40" name="Straight Connector 14"/>
            <p:cNvSpPr/>
            <p:nvPr/>
          </p:nvSpPr>
          <p:spPr>
            <a:xfrm>
              <a:off x="0" y="63124"/>
              <a:ext cx="12192000" cy="1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" name="Straight Connector 15"/>
            <p:cNvSpPr/>
            <p:nvPr/>
          </p:nvSpPr>
          <p:spPr>
            <a:xfrm>
              <a:off x="0" y="-1"/>
              <a:ext cx="12192000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" name="Rectangle 6"/>
          <p:cNvSpPr/>
          <p:nvPr/>
        </p:nvSpPr>
        <p:spPr>
          <a:xfrm>
            <a:off x="0" y="5778124"/>
            <a:ext cx="12192000" cy="107987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" name="Rectangle 7"/>
          <p:cNvSpPr/>
          <p:nvPr/>
        </p:nvSpPr>
        <p:spPr>
          <a:xfrm>
            <a:off x="0" y="-1"/>
            <a:ext cx="12192000" cy="107987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1104900" y="2292094"/>
            <a:ext cx="5734050" cy="2219692"/>
          </a:xfrm>
          <a:prstGeom prst="rect">
            <a:avLst/>
          </a:prstGeom>
        </p:spPr>
        <p:txBody>
          <a:bodyPr anchor="ctr"/>
          <a:lstStyle>
            <a:lvl1pPr>
              <a:defRPr sz="4400" cap="all"/>
            </a:lvl1pPr>
          </a:lstStyle>
          <a:p>
            <a:r>
              <a:t>Title Text</a:t>
            </a:r>
          </a:p>
        </p:txBody>
      </p:sp>
      <p:sp>
        <p:nvSpPr>
          <p:cNvPr id="46" name="An empty placeholder to add an image. Click on the placeholder and select the image that you wish to addPicture Placeholder 10"/>
          <p:cNvSpPr>
            <a:spLocks noGrp="1"/>
          </p:cNvSpPr>
          <p:nvPr>
            <p:ph type="pic" sz="half" idx="21"/>
          </p:nvPr>
        </p:nvSpPr>
        <p:spPr>
          <a:xfrm>
            <a:off x="6981063" y="1310656"/>
            <a:ext cx="5210937" cy="42086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4900" y="4511783"/>
            <a:ext cx="5734050" cy="9555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800"/>
            </a:lvl1pPr>
            <a:lvl2pPr marL="0" indent="457200">
              <a:spcBef>
                <a:spcPts val="0"/>
              </a:spcBef>
              <a:buSzTx/>
              <a:buNone/>
              <a:defRPr sz="1800"/>
            </a:lvl2pPr>
            <a:lvl3pPr marL="0" indent="914400">
              <a:spcBef>
                <a:spcPts val="0"/>
              </a:spcBef>
              <a:buSzTx/>
              <a:buNone/>
              <a:defRPr sz="1800"/>
            </a:lvl3pPr>
            <a:lvl4pPr marL="0" indent="1371600">
              <a:spcBef>
                <a:spcPts val="0"/>
              </a:spcBef>
              <a:buSzTx/>
              <a:buNone/>
              <a:defRPr sz="1800"/>
            </a:lvl4pPr>
            <a:lvl5pPr marL="0" indent="1828800">
              <a:spcBef>
                <a:spcPts val="0"/>
              </a:spcBef>
              <a:buSz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8" name="Ribbon tabPicture 9" descr="Ribbon tab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0"/>
            <a:ext cx="1747524" cy="2292095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7"/>
          <p:cNvGrpSpPr/>
          <p:nvPr/>
        </p:nvGrpSpPr>
        <p:grpSpPr>
          <a:xfrm>
            <a:off x="-1" y="2514599"/>
            <a:ext cx="12192001" cy="3195307"/>
            <a:chOff x="0" y="0"/>
            <a:chExt cx="12192000" cy="3195305"/>
          </a:xfrm>
        </p:grpSpPr>
        <p:grpSp>
          <p:nvGrpSpPr>
            <p:cNvPr id="58" name="Group 8"/>
            <p:cNvGrpSpPr/>
            <p:nvPr/>
          </p:nvGrpSpPr>
          <p:grpSpPr>
            <a:xfrm>
              <a:off x="0" y="0"/>
              <a:ext cx="12192001" cy="63125"/>
              <a:chOff x="0" y="0"/>
              <a:chExt cx="12192000" cy="63124"/>
            </a:xfrm>
          </p:grpSpPr>
          <p:sp>
            <p:nvSpPr>
              <p:cNvPr id="56" name="Straight Connector 13"/>
              <p:cNvSpPr/>
              <p:nvPr/>
            </p:nvSpPr>
            <p:spPr>
              <a:xfrm>
                <a:off x="0" y="63124"/>
                <a:ext cx="12192000" cy="1"/>
              </a:xfrm>
              <a:prstGeom prst="line">
                <a:avLst/>
              </a:prstGeom>
              <a:noFill/>
              <a:ln w="381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7" name="Straight Connector 14"/>
              <p:cNvSpPr/>
              <p:nvPr/>
            </p:nvSpPr>
            <p:spPr>
              <a:xfrm>
                <a:off x="0" y="-1"/>
                <a:ext cx="12192000" cy="1"/>
              </a:xfrm>
              <a:prstGeom prst="lin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59" name="Rectangle 9"/>
            <p:cNvSpPr/>
            <p:nvPr/>
          </p:nvSpPr>
          <p:spPr>
            <a:xfrm>
              <a:off x="0" y="126250"/>
              <a:ext cx="12192001" cy="294153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62" name="Group 10"/>
            <p:cNvGrpSpPr/>
            <p:nvPr/>
          </p:nvGrpSpPr>
          <p:grpSpPr>
            <a:xfrm>
              <a:off x="0" y="3132180"/>
              <a:ext cx="12192000" cy="63126"/>
              <a:chOff x="0" y="0"/>
              <a:chExt cx="12192000" cy="63124"/>
            </a:xfrm>
          </p:grpSpPr>
          <p:sp>
            <p:nvSpPr>
              <p:cNvPr id="60" name="Straight Connector 11"/>
              <p:cNvSpPr/>
              <p:nvPr/>
            </p:nvSpPr>
            <p:spPr>
              <a:xfrm flipH="1" flipV="1">
                <a:off x="0" y="0"/>
                <a:ext cx="12192000" cy="1"/>
              </a:xfrm>
              <a:prstGeom prst="line">
                <a:avLst/>
              </a:prstGeom>
              <a:noFill/>
              <a:ln w="381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Straight Connector 12"/>
              <p:cNvSpPr/>
              <p:nvPr/>
            </p:nvSpPr>
            <p:spPr>
              <a:xfrm flipH="1" flipV="1">
                <a:off x="0" y="63124"/>
                <a:ext cx="12192000" cy="1"/>
              </a:xfrm>
              <a:prstGeom prst="lin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1104899" y="2971806"/>
            <a:ext cx="10071100" cy="1684150"/>
          </a:xfrm>
          <a:prstGeom prst="rect">
            <a:avLst/>
          </a:prstGeom>
        </p:spPr>
        <p:txBody>
          <a:bodyPr anchor="ctr"/>
          <a:lstStyle>
            <a:lvl1pPr>
              <a:defRPr sz="4400" cap="all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4899" y="4655956"/>
            <a:ext cx="10071100" cy="50975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FFFFFF"/>
                </a:solidFill>
              </a:defRPr>
            </a:lvl1pPr>
            <a:lvl2pPr marL="0" indent="457200">
              <a:spcBef>
                <a:spcPts val="0"/>
              </a:spcBef>
              <a:buSzTx/>
              <a:buNone/>
              <a:defRPr sz="1600">
                <a:solidFill>
                  <a:srgbClr val="FFFFFF"/>
                </a:solidFill>
              </a:defRPr>
            </a:lvl2pPr>
            <a:lvl3pPr marL="0" indent="914400">
              <a:spcBef>
                <a:spcPts val="0"/>
              </a:spcBef>
              <a:buSzTx/>
              <a:buNone/>
              <a:defRPr sz="1600">
                <a:solidFill>
                  <a:srgbClr val="FFFFFF"/>
                </a:solidFill>
              </a:defRPr>
            </a:lvl3pPr>
            <a:lvl4pPr marL="0" indent="1371600">
              <a:spcBef>
                <a:spcPts val="0"/>
              </a:spcBef>
              <a:buSzTx/>
              <a:buNone/>
              <a:defRPr sz="1600">
                <a:solidFill>
                  <a:srgbClr val="FFFFFF"/>
                </a:solidFill>
              </a:defRPr>
            </a:lvl4pPr>
            <a:lvl5pPr marL="0" indent="1828800">
              <a:spcBef>
                <a:spcPts val="0"/>
              </a:spcBef>
              <a:buSzTx/>
              <a:buNone/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66" name="Ribbon tabPicture 6" descr="Ribbon tab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0"/>
            <a:ext cx="1783189" cy="2971807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14"/>
          <p:cNvGrpSpPr/>
          <p:nvPr/>
        </p:nvGrpSpPr>
        <p:grpSpPr>
          <a:xfrm>
            <a:off x="1103375" y="1220470"/>
            <a:ext cx="9985249" cy="84404"/>
            <a:chOff x="0" y="0"/>
            <a:chExt cx="9985247" cy="84402"/>
          </a:xfrm>
        </p:grpSpPr>
        <p:sp>
          <p:nvSpPr>
            <p:cNvPr id="74" name="Straight Connector 12"/>
            <p:cNvSpPr/>
            <p:nvPr/>
          </p:nvSpPr>
          <p:spPr>
            <a:xfrm flipH="1" flipV="1">
              <a:off x="0" y="0"/>
              <a:ext cx="9985248" cy="1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Straight Connector 13"/>
            <p:cNvSpPr/>
            <p:nvPr/>
          </p:nvSpPr>
          <p:spPr>
            <a:xfrm flipH="1" flipV="1">
              <a:off x="0" y="84402"/>
              <a:ext cx="9985248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7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8" cy="968447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04900" y="1600200"/>
            <a:ext cx="4914900" cy="4571999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14"/>
          <p:cNvGrpSpPr/>
          <p:nvPr/>
        </p:nvGrpSpPr>
        <p:grpSpPr>
          <a:xfrm>
            <a:off x="1103375" y="1220470"/>
            <a:ext cx="9985249" cy="84404"/>
            <a:chOff x="0" y="0"/>
            <a:chExt cx="9985247" cy="84402"/>
          </a:xfrm>
        </p:grpSpPr>
        <p:sp>
          <p:nvSpPr>
            <p:cNvPr id="87" name="Straight Connector 12"/>
            <p:cNvSpPr/>
            <p:nvPr/>
          </p:nvSpPr>
          <p:spPr>
            <a:xfrm flipH="1" flipV="1">
              <a:off x="0" y="0"/>
              <a:ext cx="9985248" cy="1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Straight Connector 13"/>
            <p:cNvSpPr/>
            <p:nvPr/>
          </p:nvSpPr>
          <p:spPr>
            <a:xfrm flipH="1" flipV="1">
              <a:off x="0" y="84402"/>
              <a:ext cx="9985248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8" cy="96844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4900" y="1600200"/>
            <a:ext cx="4919472" cy="82391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SzTx/>
              <a:buNone/>
              <a:defRPr sz="2400"/>
            </a:lvl1pPr>
            <a:lvl2pPr marL="0" indent="457200">
              <a:spcBef>
                <a:spcPts val="0"/>
              </a:spcBef>
              <a:buSzTx/>
              <a:buNone/>
              <a:defRPr sz="2400"/>
            </a:lvl2pPr>
            <a:lvl3pPr marL="0" indent="914400">
              <a:spcBef>
                <a:spcPts val="0"/>
              </a:spcBef>
              <a:buSzTx/>
              <a:buNone/>
              <a:defRPr sz="2400"/>
            </a:lvl3pPr>
            <a:lvl4pPr marL="0" indent="1371600">
              <a:spcBef>
                <a:spcPts val="0"/>
              </a:spcBef>
              <a:buSzTx/>
              <a:buNone/>
              <a:defRPr sz="2400"/>
            </a:lvl4pPr>
            <a:lvl5pPr marL="0" indent="182880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66110" y="1600200"/>
            <a:ext cx="4919472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0"/>
              </a:spcBef>
              <a:buSzTx/>
              <a:buNone/>
              <a:defRPr sz="2400"/>
            </a:pPr>
            <a:endParaRPr/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4"/>
          <p:cNvGrpSpPr/>
          <p:nvPr/>
        </p:nvGrpSpPr>
        <p:grpSpPr>
          <a:xfrm>
            <a:off x="1103375" y="1220470"/>
            <a:ext cx="9985249" cy="84404"/>
            <a:chOff x="0" y="0"/>
            <a:chExt cx="9985247" cy="84402"/>
          </a:xfrm>
        </p:grpSpPr>
        <p:sp>
          <p:nvSpPr>
            <p:cNvPr id="101" name="Straight Connector 12"/>
            <p:cNvSpPr/>
            <p:nvPr/>
          </p:nvSpPr>
          <p:spPr>
            <a:xfrm flipH="1" flipV="1">
              <a:off x="0" y="0"/>
              <a:ext cx="9985248" cy="1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Straight Connector 13"/>
            <p:cNvSpPr/>
            <p:nvPr/>
          </p:nvSpPr>
          <p:spPr>
            <a:xfrm flipH="1" flipV="1">
              <a:off x="0" y="84402"/>
              <a:ext cx="9985248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4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8" cy="968447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8" cy="968447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4"/>
          <p:cNvGrpSpPr/>
          <p:nvPr/>
        </p:nvGrpSpPr>
        <p:grpSpPr>
          <a:xfrm>
            <a:off x="1103375" y="1220470"/>
            <a:ext cx="9985249" cy="84404"/>
            <a:chOff x="0" y="0"/>
            <a:chExt cx="9985247" cy="84402"/>
          </a:xfrm>
        </p:grpSpPr>
        <p:sp>
          <p:nvSpPr>
            <p:cNvPr id="121" name="Straight Connector 12"/>
            <p:cNvSpPr/>
            <p:nvPr/>
          </p:nvSpPr>
          <p:spPr>
            <a:xfrm flipH="1" flipV="1">
              <a:off x="0" y="0"/>
              <a:ext cx="9985248" cy="1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Straight Connector 13"/>
            <p:cNvSpPr/>
            <p:nvPr/>
          </p:nvSpPr>
          <p:spPr>
            <a:xfrm flipH="1" flipV="1">
              <a:off x="0" y="84402"/>
              <a:ext cx="9985248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24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8" cy="968447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2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641847" y="1600199"/>
            <a:ext cx="5445253" cy="4572002"/>
          </a:xfrm>
          <a:prstGeom prst="rect">
            <a:avLst/>
          </a:prstGeom>
        </p:spPr>
        <p:txBody>
          <a:bodyPr/>
          <a:lstStyle>
            <a:lvl3pPr marL="1200150" indent="-285750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7" name="Text Placeholder 3"/>
          <p:cNvSpPr>
            <a:spLocks noGrp="1"/>
          </p:cNvSpPr>
          <p:nvPr>
            <p:ph type="body" sz="half" idx="21"/>
          </p:nvPr>
        </p:nvSpPr>
        <p:spPr>
          <a:xfrm>
            <a:off x="1104900" y="1600200"/>
            <a:ext cx="4384548" cy="45720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  <a:defRPr sz="1800"/>
            </a:pPr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4"/>
          <p:cNvGrpSpPr/>
          <p:nvPr/>
        </p:nvGrpSpPr>
        <p:grpSpPr>
          <a:xfrm>
            <a:off x="1103375" y="1220470"/>
            <a:ext cx="9985249" cy="84404"/>
            <a:chOff x="0" y="0"/>
            <a:chExt cx="9985247" cy="84402"/>
          </a:xfrm>
        </p:grpSpPr>
        <p:sp>
          <p:nvSpPr>
            <p:cNvPr id="135" name="Straight Connector 12"/>
            <p:cNvSpPr/>
            <p:nvPr/>
          </p:nvSpPr>
          <p:spPr>
            <a:xfrm flipH="1" flipV="1">
              <a:off x="0" y="0"/>
              <a:ext cx="9985248" cy="1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6" name="Straight Connector 13"/>
            <p:cNvSpPr/>
            <p:nvPr/>
          </p:nvSpPr>
          <p:spPr>
            <a:xfrm flipH="1" flipV="1">
              <a:off x="0" y="84402"/>
              <a:ext cx="9985248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8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8" cy="96844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40" name="An empty placeholder to add an image. Click on the placeholder and select the image that you wish to addPicture Placeholder 2"/>
          <p:cNvSpPr>
            <a:spLocks noGrp="1"/>
          </p:cNvSpPr>
          <p:nvPr>
            <p:ph type="pic" sz="half" idx="21"/>
          </p:nvPr>
        </p:nvSpPr>
        <p:spPr>
          <a:xfrm>
            <a:off x="4654670" y="1600199"/>
            <a:ext cx="6430914" cy="4572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4900" y="1600200"/>
            <a:ext cx="3396997" cy="457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SzTx/>
              <a:buNone/>
              <a:defRPr sz="1800"/>
            </a:lvl1pPr>
            <a:lvl2pPr marL="0" indent="457200">
              <a:spcBef>
                <a:spcPts val="1200"/>
              </a:spcBef>
              <a:buSzTx/>
              <a:buNone/>
              <a:defRPr sz="1800"/>
            </a:lvl2pPr>
            <a:lvl3pPr marL="0" indent="914400">
              <a:spcBef>
                <a:spcPts val="1200"/>
              </a:spcBef>
              <a:buSzTx/>
              <a:buNone/>
              <a:defRPr sz="1800"/>
            </a:lvl3pPr>
            <a:lvl4pPr marL="0" indent="1371600">
              <a:spcBef>
                <a:spcPts val="1200"/>
              </a:spcBef>
              <a:buSzTx/>
              <a:buNone/>
              <a:defRPr sz="1800"/>
            </a:lvl4pPr>
            <a:lvl5pPr marL="0" indent="1828800">
              <a:spcBef>
                <a:spcPts val="1200"/>
              </a:spcBef>
              <a:buSz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4"/>
          <p:cNvGrpSpPr/>
          <p:nvPr/>
        </p:nvGrpSpPr>
        <p:grpSpPr>
          <a:xfrm>
            <a:off x="1103375" y="1220470"/>
            <a:ext cx="9985249" cy="84404"/>
            <a:chOff x="0" y="0"/>
            <a:chExt cx="9985247" cy="84402"/>
          </a:xfrm>
        </p:grpSpPr>
        <p:sp>
          <p:nvSpPr>
            <p:cNvPr id="2" name="Straight Connector 12"/>
            <p:cNvSpPr/>
            <p:nvPr/>
          </p:nvSpPr>
          <p:spPr>
            <a:xfrm flipH="1" flipV="1">
              <a:off x="0" y="0"/>
              <a:ext cx="9985248" cy="1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" name="Straight Connector 13"/>
            <p:cNvSpPr/>
            <p:nvPr/>
          </p:nvSpPr>
          <p:spPr>
            <a:xfrm flipH="1" flipV="1">
              <a:off x="0" y="84402"/>
              <a:ext cx="9985248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5" name="Picture 9" descr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6510" y="150927"/>
            <a:ext cx="965038" cy="96844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104900" y="76200"/>
            <a:ext cx="9980683" cy="1096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8" name="Picture 7" descr="Pictur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6510" y="150927"/>
            <a:ext cx="965038" cy="968447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3367" y="6450014"/>
            <a:ext cx="182216" cy="1778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200">
                <a:solidFill>
                  <a:srgbClr val="3D3632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chemeClr val="accent1"/>
          </a:solidFill>
          <a:uFillTx/>
          <a:latin typeface="Plantagenet Cherokee"/>
          <a:ea typeface="Plantagenet Cherokee"/>
          <a:cs typeface="Plantagenet Cherokee"/>
          <a:sym typeface="Plantagenet Cherokee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1pPr>
      <a:lvl2pPr marL="742950" marR="0" indent="-285750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2pPr>
      <a:lvl3pPr marL="1240971" marR="0" indent="-326571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3pPr>
      <a:lvl4pPr marL="1698171" marR="0" indent="-326571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4pPr>
      <a:lvl5pPr marL="2155371" marR="0" indent="-326571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5pPr>
      <a:lvl6pPr marL="2612571" marR="0" indent="-326571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6pPr>
      <a:lvl7pPr marL="3069771" marR="0" indent="-326571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7pPr>
      <a:lvl8pPr marL="3526971" marR="0" indent="-326571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8pPr>
      <a:lvl9pPr marL="3984171" marR="0" indent="-326571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▪"/>
        <a:tabLst/>
        <a:defRPr sz="2000" b="0" i="0" u="none" strike="noStrike" cap="none" spc="0" baseline="0">
          <a:solidFill>
            <a:schemeClr val="accent1"/>
          </a:solidFill>
          <a:uFillTx/>
          <a:latin typeface="+mj-lt"/>
          <a:ea typeface="+mj-ea"/>
          <a:cs typeface="+mj-cs"/>
          <a:sym typeface="Euphem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Euphem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5"/>
          <p:cNvSpPr txBox="1">
            <a:spLocks noGrp="1"/>
          </p:cNvSpPr>
          <p:nvPr>
            <p:ph type="title"/>
          </p:nvPr>
        </p:nvSpPr>
        <p:spPr>
          <a:xfrm>
            <a:off x="1104900" y="2165970"/>
            <a:ext cx="5734050" cy="221969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dirty="0">
                <a:latin typeface="+mn-lt"/>
                <a:ea typeface="+mn-ea"/>
                <a:cs typeface="+mn-cs"/>
                <a:sym typeface="Helvetica"/>
              </a:rPr>
              <a:t>第</a:t>
            </a:r>
            <a:r>
              <a:rPr dirty="0"/>
              <a:t>1</a:t>
            </a:r>
            <a:r>
              <a:rPr dirty="0">
                <a:latin typeface="+mn-lt"/>
                <a:ea typeface="+mn-ea"/>
                <a:cs typeface="+mn-cs"/>
                <a:sym typeface="Helvetica"/>
              </a:rPr>
              <a:t>讲 </a:t>
            </a:r>
            <a:br>
              <a:rPr dirty="0">
                <a:latin typeface="+mn-lt"/>
                <a:ea typeface="+mn-ea"/>
                <a:cs typeface="+mn-cs"/>
                <a:sym typeface="Helvetica"/>
              </a:rPr>
            </a:br>
            <a:r>
              <a:rPr dirty="0" err="1"/>
              <a:t>Python</a:t>
            </a:r>
            <a:r>
              <a:rPr dirty="0" err="1">
                <a:latin typeface="+mn-lt"/>
                <a:ea typeface="+mn-ea"/>
                <a:cs typeface="+mn-cs"/>
                <a:sym typeface="Helvetica"/>
              </a:rPr>
              <a:t>概述</a:t>
            </a:r>
            <a:endParaRPr dirty="0">
              <a:latin typeface="+mn-lt"/>
              <a:ea typeface="+mn-ea"/>
              <a:cs typeface="+mn-cs"/>
              <a:sym typeface="Helvetica"/>
            </a:endParaRPr>
          </a:p>
        </p:txBody>
      </p:sp>
      <p:grpSp>
        <p:nvGrpSpPr>
          <p:cNvPr id="154" name="Open book on table, blurred books in backgroundPicture Placeholder 3"/>
          <p:cNvGrpSpPr/>
          <p:nvPr/>
        </p:nvGrpSpPr>
        <p:grpSpPr>
          <a:xfrm>
            <a:off x="6981063" y="1310656"/>
            <a:ext cx="5210937" cy="4208605"/>
            <a:chOff x="0" y="0"/>
            <a:chExt cx="5210936" cy="4208603"/>
          </a:xfrm>
        </p:grpSpPr>
        <p:sp>
          <p:nvSpPr>
            <p:cNvPr id="152" name="Rectangle"/>
            <p:cNvSpPr/>
            <p:nvPr/>
          </p:nvSpPr>
          <p:spPr>
            <a:xfrm>
              <a:off x="0" y="0"/>
              <a:ext cx="5210937" cy="4208604"/>
            </a:xfrm>
            <a:prstGeom prst="rect">
              <a:avLst/>
            </a:prstGeom>
            <a:solidFill>
              <a:srgbClr val="DEDAD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53" name="image4.jpeg" descr="image4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210937" cy="42086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5" name="副标题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r">
              <a:lnSpc>
                <a:spcPct val="150000"/>
              </a:lnSpc>
              <a:defRPr sz="2000"/>
            </a:pPr>
            <a:r>
              <a:t>Python课程组</a:t>
            </a:r>
          </a:p>
          <a:p>
            <a:pPr algn="r">
              <a:lnSpc>
                <a:spcPct val="150000"/>
              </a:lnSpc>
              <a:defRPr sz="2000"/>
            </a:pPr>
            <a:r>
              <a:t>武汉大学信息管理学院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2"/>
          <p:cNvSpPr txBox="1">
            <a:spLocks noGrp="1"/>
          </p:cNvSpPr>
          <p:nvPr>
            <p:ph type="title"/>
          </p:nvPr>
        </p:nvSpPr>
        <p:spPr>
          <a:xfrm>
            <a:off x="1104899" y="76199"/>
            <a:ext cx="9980684" cy="1096964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Plantagenet Cherokee"/>
                <a:ea typeface="Plantagenet Cherokee"/>
                <a:cs typeface="Plantagenet Cherokee"/>
                <a:sym typeface="Plantagenet Cherokee"/>
              </a:defRPr>
            </a:pPr>
            <a:r>
              <a:rPr b="1">
                <a:latin typeface="+mn-lt"/>
                <a:ea typeface="+mn-ea"/>
                <a:cs typeface="+mn-cs"/>
                <a:sym typeface="Helvetica"/>
              </a:rPr>
              <a:t>教学内容</a:t>
            </a:r>
          </a:p>
        </p:txBody>
      </p:sp>
      <p:sp>
        <p:nvSpPr>
          <p:cNvPr id="160" name="Content Placeholder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2.1 </a:t>
            </a:r>
            <a:r>
              <a:rPr dirty="0" err="1"/>
              <a:t>Python语言的产生与发展</a:t>
            </a:r>
            <a:endParaRPr dirty="0"/>
          </a:p>
          <a:p>
            <a:r>
              <a:rPr lang="en-US" dirty="0"/>
              <a:t>2.2 </a:t>
            </a:r>
            <a:r>
              <a:rPr dirty="0" err="1"/>
              <a:t>Python的安装与运行</a:t>
            </a:r>
            <a:endParaRPr dirty="0"/>
          </a:p>
          <a:p>
            <a:r>
              <a:rPr lang="en-US" dirty="0"/>
              <a:t>2.3 </a:t>
            </a:r>
            <a:r>
              <a:rPr dirty="0"/>
              <a:t>Jupyter </a:t>
            </a:r>
            <a:r>
              <a:rPr dirty="0" err="1"/>
              <a:t>Notebook的安装和使用</a:t>
            </a:r>
            <a:endParaRPr dirty="0"/>
          </a:p>
          <a:p>
            <a:r>
              <a:rPr lang="en-US" dirty="0"/>
              <a:t>2.4 </a:t>
            </a:r>
            <a:r>
              <a:rPr dirty="0"/>
              <a:t>Python </a:t>
            </a:r>
            <a:r>
              <a:rPr dirty="0" err="1"/>
              <a:t>第三方库的安装与使用</a:t>
            </a:r>
            <a:endParaRPr dirty="0"/>
          </a:p>
          <a:p>
            <a:r>
              <a:rPr lang="en-US" dirty="0"/>
              <a:t>2.5 </a:t>
            </a:r>
            <a:r>
              <a:rPr dirty="0" err="1"/>
              <a:t>Python的集成开发环境</a:t>
            </a:r>
            <a:endParaRPr dirty="0"/>
          </a:p>
        </p:txBody>
      </p:sp>
      <p:pic>
        <p:nvPicPr>
          <p:cNvPr id="161" name="Closeup of books on shelvesPicture Placeholder 4" descr="Closeup of books on shelvesPicture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410" y="1600200"/>
            <a:ext cx="5214172" cy="38380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itle 1"/>
          <p:cNvSpPr txBox="1">
            <a:spLocks noGrp="1"/>
          </p:cNvSpPr>
          <p:nvPr>
            <p:ph type="ctrTitle"/>
          </p:nvPr>
        </p:nvSpPr>
        <p:spPr>
          <a:xfrm>
            <a:off x="1104900" y="2292094"/>
            <a:ext cx="10096500" cy="1734475"/>
          </a:xfrm>
          <a:prstGeom prst="rect">
            <a:avLst/>
          </a:prstGeom>
        </p:spPr>
        <p:txBody>
          <a:bodyPr/>
          <a:lstStyle/>
          <a:p>
            <a:pPr algn="ctr"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</a:t>
            </a:r>
            <a:r>
              <a:rPr lang="en-US" dirty="0"/>
              <a:t>2.1</a:t>
            </a:r>
            <a:r>
              <a:rPr dirty="0"/>
              <a:t> </a:t>
            </a:r>
            <a:r>
              <a:rPr dirty="0" err="1"/>
              <a:t>Python语言的产生与发展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1"/>
          <p:cNvSpPr txBox="1">
            <a:spLocks noGrp="1"/>
          </p:cNvSpPr>
          <p:nvPr>
            <p:ph type="title"/>
          </p:nvPr>
        </p:nvSpPr>
        <p:spPr>
          <a:xfrm>
            <a:off x="1105658" y="-1"/>
            <a:ext cx="9980684" cy="10969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2.1</a:t>
            </a:r>
            <a:r>
              <a:rPr dirty="0"/>
              <a:t> </a:t>
            </a:r>
            <a:r>
              <a:rPr dirty="0" err="1"/>
              <a:t>Python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语言的产生与发展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243" name="Content Placeholder 13"/>
          <p:cNvSpPr txBox="1"/>
          <p:nvPr/>
        </p:nvSpPr>
        <p:spPr>
          <a:xfrm>
            <a:off x="1007991" y="1587500"/>
            <a:ext cx="9890761" cy="565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365760">
              <a:spcBef>
                <a:spcPts val="700"/>
              </a:spcBef>
            </a:pPr>
            <a:r>
              <a:rPr lang="zh-CN" sz="2000" noProof="0">
                <a:solidFill>
                  <a:srgbClr val="002060"/>
                </a:solidFill>
                <a:latin typeface="宋体"/>
                <a:ea typeface="宋体"/>
                <a:cs typeface="宋体"/>
                <a:sym typeface="宋体"/>
              </a:rPr>
              <a:t>创始人：</a:t>
            </a:r>
            <a:r>
              <a:rPr lang="zh-CN" noProof="0">
                <a:solidFill>
                  <a:srgbClr val="7030A0"/>
                </a:solidFill>
              </a:rPr>
              <a:t>Guido van Rossum</a:t>
            </a:r>
            <a:r>
              <a:rPr lang="zh-CN" noProof="0">
                <a:latin typeface="宋体"/>
                <a:ea typeface="宋体"/>
                <a:cs typeface="宋体"/>
                <a:sym typeface="宋体"/>
              </a:rPr>
              <a:t>（</a:t>
            </a:r>
            <a:r>
              <a:rPr lang="zh-CN" noProof="0"/>
              <a:t>1956.01.31</a:t>
            </a:r>
            <a:r>
              <a:rPr lang="zh-CN" noProof="0">
                <a:latin typeface="宋体"/>
                <a:ea typeface="宋体"/>
                <a:cs typeface="宋体"/>
                <a:sym typeface="宋体"/>
              </a:rPr>
              <a:t>－）</a:t>
            </a:r>
          </a:p>
          <a:p>
            <a:pPr defTabSz="365760">
              <a:spcBef>
                <a:spcPts val="7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endParaRPr lang="zh-CN" noProof="0"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244" name="矩形 4"/>
          <p:cNvSpPr txBox="1"/>
          <p:nvPr/>
        </p:nvSpPr>
        <p:spPr>
          <a:xfrm>
            <a:off x="2103081" y="2793292"/>
            <a:ext cx="1662669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400"/>
            </a:pPr>
            <a:r>
              <a:t>1989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</a:p>
          <a:p>
            <a:pPr algn="ctr">
              <a:defRPr sz="2400"/>
            </a:pPr>
            <a:r>
              <a:t>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创立</a:t>
            </a:r>
          </a:p>
        </p:txBody>
      </p:sp>
      <p:sp>
        <p:nvSpPr>
          <p:cNvPr id="245" name="直接箭头连接符 10"/>
          <p:cNvSpPr/>
          <p:nvPr/>
        </p:nvSpPr>
        <p:spPr>
          <a:xfrm>
            <a:off x="1684416" y="3765074"/>
            <a:ext cx="8566486" cy="1"/>
          </a:xfrm>
          <a:prstGeom prst="line">
            <a:avLst/>
          </a:prstGeom>
          <a:ln w="57150" cap="rnd">
            <a:solidFill>
              <a:schemeClr val="accent1">
                <a:alpha val="80000"/>
              </a:schemeClr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6" name="矩形 14"/>
          <p:cNvSpPr txBox="1"/>
          <p:nvPr/>
        </p:nvSpPr>
        <p:spPr>
          <a:xfrm>
            <a:off x="3422161" y="3978413"/>
            <a:ext cx="1328153" cy="1348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400"/>
            </a:pPr>
            <a:r>
              <a:rPr lang="zh-CN" noProof="0" dirty="0"/>
              <a:t>1991年</a:t>
            </a:r>
          </a:p>
          <a:p>
            <a:pPr algn="ctr">
              <a:defRPr sz="2400"/>
            </a:pPr>
            <a:r>
              <a:rPr lang="zh-CN" noProof="0" dirty="0"/>
              <a:t>首个公开</a:t>
            </a:r>
          </a:p>
          <a:p>
            <a:pPr algn="ctr">
              <a:defRPr sz="2400"/>
            </a:pPr>
            <a:r>
              <a:rPr lang="zh-CN" noProof="0" dirty="0"/>
              <a:t>发行版本</a:t>
            </a:r>
          </a:p>
        </p:txBody>
      </p:sp>
      <p:sp>
        <p:nvSpPr>
          <p:cNvPr id="247" name="椭圆 15"/>
          <p:cNvSpPr/>
          <p:nvPr/>
        </p:nvSpPr>
        <p:spPr>
          <a:xfrm>
            <a:off x="2804792" y="3646775"/>
            <a:ext cx="259245" cy="233673"/>
          </a:xfrm>
          <a:prstGeom prst="ellipse">
            <a:avLst/>
          </a:prstGeom>
          <a:solidFill>
            <a:srgbClr val="9D8F88"/>
          </a:solidFill>
          <a:ln w="48000">
            <a:solidFill>
              <a:srgbClr val="9D8F8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/>
          </a:p>
        </p:txBody>
      </p:sp>
      <p:sp>
        <p:nvSpPr>
          <p:cNvPr id="248" name="椭圆 16"/>
          <p:cNvSpPr/>
          <p:nvPr/>
        </p:nvSpPr>
        <p:spPr>
          <a:xfrm>
            <a:off x="3956615" y="3648702"/>
            <a:ext cx="259245" cy="233673"/>
          </a:xfrm>
          <a:prstGeom prst="ellipse">
            <a:avLst/>
          </a:prstGeom>
          <a:solidFill>
            <a:srgbClr val="9D8F88"/>
          </a:solidFill>
          <a:ln w="48000">
            <a:solidFill>
              <a:srgbClr val="9D8F8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/>
          </a:p>
        </p:txBody>
      </p:sp>
      <p:sp>
        <p:nvSpPr>
          <p:cNvPr id="249" name="椭圆 17"/>
          <p:cNvSpPr/>
          <p:nvPr/>
        </p:nvSpPr>
        <p:spPr>
          <a:xfrm>
            <a:off x="5108437" y="3651757"/>
            <a:ext cx="259245" cy="233673"/>
          </a:xfrm>
          <a:prstGeom prst="ellipse">
            <a:avLst/>
          </a:prstGeom>
          <a:solidFill>
            <a:srgbClr val="002060"/>
          </a:solidFill>
          <a:ln w="480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/>
          </a:p>
        </p:txBody>
      </p:sp>
      <p:sp>
        <p:nvSpPr>
          <p:cNvPr id="250" name="矩形 18"/>
          <p:cNvSpPr txBox="1"/>
          <p:nvPr/>
        </p:nvSpPr>
        <p:spPr>
          <a:xfrm>
            <a:off x="4295815" y="2793292"/>
            <a:ext cx="1884489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400"/>
            </a:pPr>
            <a:r>
              <a:rPr dirty="0"/>
              <a:t>2001年</a:t>
            </a:r>
          </a:p>
          <a:p>
            <a:pPr algn="ctr">
              <a:defRPr sz="2400"/>
            </a:pPr>
            <a:r>
              <a:rPr dirty="0"/>
              <a:t>Python</a:t>
            </a:r>
            <a:r>
              <a:rPr lang="en-US" dirty="0"/>
              <a:t> </a:t>
            </a:r>
            <a:r>
              <a:rPr dirty="0"/>
              <a:t>2.0.1</a:t>
            </a:r>
          </a:p>
        </p:txBody>
      </p:sp>
      <p:sp>
        <p:nvSpPr>
          <p:cNvPr id="251" name="椭圆 19"/>
          <p:cNvSpPr/>
          <p:nvPr/>
        </p:nvSpPr>
        <p:spPr>
          <a:xfrm>
            <a:off x="6260258" y="3646775"/>
            <a:ext cx="259245" cy="233673"/>
          </a:xfrm>
          <a:prstGeom prst="ellipse">
            <a:avLst/>
          </a:prstGeom>
          <a:solidFill>
            <a:srgbClr val="5C4E3A"/>
          </a:solidFill>
          <a:ln w="48000">
            <a:solidFill>
              <a:srgbClr val="5C4E3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/>
          </a:p>
        </p:txBody>
      </p:sp>
      <p:sp>
        <p:nvSpPr>
          <p:cNvPr id="252" name="矩形 20"/>
          <p:cNvSpPr txBox="1"/>
          <p:nvPr/>
        </p:nvSpPr>
        <p:spPr>
          <a:xfrm>
            <a:off x="5447637" y="4021229"/>
            <a:ext cx="1884489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400"/>
            </a:pPr>
            <a:r>
              <a:rPr dirty="0"/>
              <a:t>2008年</a:t>
            </a:r>
          </a:p>
          <a:p>
            <a:pPr algn="ctr">
              <a:defRPr sz="2400"/>
            </a:pPr>
            <a:r>
              <a:rPr dirty="0"/>
              <a:t>Python</a:t>
            </a:r>
            <a:r>
              <a:rPr lang="en-US" dirty="0"/>
              <a:t> </a:t>
            </a:r>
            <a:r>
              <a:rPr dirty="0"/>
              <a:t>3.0.0</a:t>
            </a:r>
          </a:p>
        </p:txBody>
      </p:sp>
      <p:sp>
        <p:nvSpPr>
          <p:cNvPr id="253" name="椭圆 22"/>
          <p:cNvSpPr/>
          <p:nvPr/>
        </p:nvSpPr>
        <p:spPr>
          <a:xfrm>
            <a:off x="7412080" y="3653220"/>
            <a:ext cx="259245" cy="233673"/>
          </a:xfrm>
          <a:prstGeom prst="ellipse">
            <a:avLst/>
          </a:prstGeom>
          <a:solidFill>
            <a:srgbClr val="5C4E3A"/>
          </a:solidFill>
          <a:ln w="48000">
            <a:solidFill>
              <a:srgbClr val="5C4E3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/>
          </a:p>
        </p:txBody>
      </p:sp>
      <p:sp>
        <p:nvSpPr>
          <p:cNvPr id="254" name="椭圆 23"/>
          <p:cNvSpPr/>
          <p:nvPr/>
        </p:nvSpPr>
        <p:spPr>
          <a:xfrm>
            <a:off x="8563901" y="3648237"/>
            <a:ext cx="259245" cy="233673"/>
          </a:xfrm>
          <a:prstGeom prst="ellipse">
            <a:avLst/>
          </a:prstGeom>
          <a:solidFill>
            <a:srgbClr val="002060"/>
          </a:solidFill>
          <a:ln w="480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/>
          </a:p>
        </p:txBody>
      </p:sp>
      <p:sp>
        <p:nvSpPr>
          <p:cNvPr id="255" name="矩形 24"/>
          <p:cNvSpPr txBox="1"/>
          <p:nvPr/>
        </p:nvSpPr>
        <p:spPr>
          <a:xfrm>
            <a:off x="7873106" y="3993762"/>
            <a:ext cx="1640833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400"/>
            </a:pPr>
            <a:r>
              <a:rPr lang="zh-CN" noProof="0" dirty="0"/>
              <a:t>2020年</a:t>
            </a:r>
          </a:p>
          <a:p>
            <a:pPr algn="ctr">
              <a:defRPr sz="2400"/>
            </a:pPr>
            <a:r>
              <a:rPr lang="zh-CN" noProof="0" dirty="0"/>
              <a:t>Python 2.7</a:t>
            </a:r>
          </a:p>
          <a:p>
            <a:pPr algn="ctr">
              <a:defRPr sz="2400"/>
            </a:pPr>
            <a:r>
              <a:rPr lang="zh-CN" noProof="0" dirty="0">
                <a:solidFill>
                  <a:srgbClr val="C00000"/>
                </a:solidFill>
              </a:rPr>
              <a:t>停止维护</a:t>
            </a:r>
          </a:p>
        </p:txBody>
      </p:sp>
      <p:sp>
        <p:nvSpPr>
          <p:cNvPr id="256" name="矩形 25"/>
          <p:cNvSpPr txBox="1"/>
          <p:nvPr/>
        </p:nvSpPr>
        <p:spPr>
          <a:xfrm>
            <a:off x="6599460" y="2818704"/>
            <a:ext cx="1884489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400"/>
            </a:pPr>
            <a:r>
              <a:rPr dirty="0"/>
              <a:t>2019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年</a:t>
            </a:r>
          </a:p>
          <a:p>
            <a:pPr algn="ctr">
              <a:defRPr sz="2400"/>
            </a:pPr>
            <a:r>
              <a:rPr dirty="0"/>
              <a:t>Python</a:t>
            </a:r>
            <a:r>
              <a:rPr lang="en-US" dirty="0"/>
              <a:t> </a:t>
            </a:r>
            <a:r>
              <a:rPr dirty="0"/>
              <a:t>3.8.1</a:t>
            </a:r>
          </a:p>
        </p:txBody>
      </p:sp>
      <p:sp>
        <p:nvSpPr>
          <p:cNvPr id="17" name="椭圆 17">
            <a:extLst>
              <a:ext uri="{FF2B5EF4-FFF2-40B4-BE49-F238E27FC236}">
                <a16:creationId xmlns:a16="http://schemas.microsoft.com/office/drawing/2014/main" id="{C4CD068E-F176-2242-8F1A-EADADC169216}"/>
              </a:ext>
            </a:extLst>
          </p:cNvPr>
          <p:cNvSpPr/>
          <p:nvPr/>
        </p:nvSpPr>
        <p:spPr>
          <a:xfrm>
            <a:off x="9715722" y="3653220"/>
            <a:ext cx="259245" cy="233673"/>
          </a:xfrm>
          <a:prstGeom prst="ellipse">
            <a:avLst/>
          </a:prstGeom>
          <a:solidFill>
            <a:srgbClr val="0432FF"/>
          </a:solidFill>
          <a:ln w="48000">
            <a:solidFill>
              <a:srgbClr val="0432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dirty="0">
              <a:highlight>
                <a:srgbClr val="FFFF00"/>
              </a:highlight>
            </a:endParaRPr>
          </a:p>
        </p:txBody>
      </p:sp>
      <p:sp>
        <p:nvSpPr>
          <p:cNvPr id="18" name="矩形 24">
            <a:extLst>
              <a:ext uri="{FF2B5EF4-FFF2-40B4-BE49-F238E27FC236}">
                <a16:creationId xmlns:a16="http://schemas.microsoft.com/office/drawing/2014/main" id="{F45B3FEF-E7F0-7440-B0E8-87C10838B798}"/>
              </a:ext>
            </a:extLst>
          </p:cNvPr>
          <p:cNvSpPr txBox="1"/>
          <p:nvPr/>
        </p:nvSpPr>
        <p:spPr>
          <a:xfrm>
            <a:off x="8942957" y="2793292"/>
            <a:ext cx="2064025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400"/>
            </a:pPr>
            <a:r>
              <a:rPr dirty="0">
                <a:solidFill>
                  <a:srgbClr val="002060"/>
                </a:solidFill>
              </a:rPr>
              <a:t>202</a:t>
            </a:r>
            <a:r>
              <a:rPr lang="en-US" altLang="zh-CN" dirty="0">
                <a:solidFill>
                  <a:srgbClr val="002060"/>
                </a:solidFill>
              </a:rPr>
              <a:t>5</a:t>
            </a:r>
            <a:r>
              <a:rPr dirty="0">
                <a:solidFill>
                  <a:srgbClr val="002060"/>
                </a:solidFill>
              </a:rPr>
              <a:t>年</a:t>
            </a:r>
            <a:r>
              <a:rPr lang="en-US" altLang="zh-CN" dirty="0">
                <a:solidFill>
                  <a:srgbClr val="002060"/>
                </a:solidFill>
              </a:rPr>
              <a:t>1</a:t>
            </a:r>
            <a:r>
              <a:rPr lang="en-US" dirty="0">
                <a:solidFill>
                  <a:srgbClr val="002060"/>
                </a:solidFill>
              </a:rPr>
              <a:t>2月</a:t>
            </a:r>
            <a:endParaRPr dirty="0">
              <a:solidFill>
                <a:srgbClr val="002060"/>
              </a:solidFill>
            </a:endParaRPr>
          </a:p>
          <a:p>
            <a:pPr algn="ctr">
              <a:defRPr sz="2400"/>
            </a:pPr>
            <a:r>
              <a:rPr dirty="0">
                <a:solidFill>
                  <a:srgbClr val="0432FF"/>
                </a:solidFill>
              </a:rPr>
              <a:t>Python</a:t>
            </a:r>
            <a:r>
              <a:rPr lang="en-US" dirty="0">
                <a:solidFill>
                  <a:srgbClr val="0432FF"/>
                </a:solidFill>
              </a:rPr>
              <a:t> 3</a:t>
            </a:r>
            <a:r>
              <a:rPr dirty="0">
                <a:solidFill>
                  <a:srgbClr val="0432FF"/>
                </a:solidFill>
              </a:rPr>
              <a:t>.</a:t>
            </a:r>
            <a:r>
              <a:rPr lang="en-US" dirty="0">
                <a:solidFill>
                  <a:srgbClr val="0432FF"/>
                </a:solidFill>
              </a:rPr>
              <a:t>1</a:t>
            </a:r>
            <a:r>
              <a:rPr lang="en-US" altLang="zh-CN" dirty="0">
                <a:solidFill>
                  <a:srgbClr val="0432FF"/>
                </a:solidFill>
              </a:rPr>
              <a:t>4</a:t>
            </a:r>
            <a:r>
              <a:rPr lang="en-US" dirty="0">
                <a:solidFill>
                  <a:srgbClr val="0432FF"/>
                </a:solidFill>
              </a:rPr>
              <a:t>.2</a:t>
            </a:r>
            <a:endParaRPr dirty="0">
              <a:solidFill>
                <a:srgbClr val="0432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B2B18B-A20C-0343-D8F2-936764CFD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25"/>
          <a:stretch>
            <a:fillRect/>
          </a:stretch>
        </p:blipFill>
        <p:spPr>
          <a:xfrm>
            <a:off x="8693522" y="1927912"/>
            <a:ext cx="2735295" cy="865380"/>
          </a:xfrm>
          <a:prstGeom prst="rect">
            <a:avLst/>
          </a:prstGeom>
          <a:solidFill>
            <a:srgbClr val="005493"/>
          </a:solidFill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 txBox="1">
            <a:spLocks noGrp="1"/>
          </p:cNvSpPr>
          <p:nvPr>
            <p:ph type="title"/>
          </p:nvPr>
        </p:nvSpPr>
        <p:spPr>
          <a:xfrm>
            <a:off x="1105658" y="-1"/>
            <a:ext cx="9980684" cy="109696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US" dirty="0"/>
              <a:t>2.1</a:t>
            </a:r>
            <a:r>
              <a:rPr dirty="0"/>
              <a:t> </a:t>
            </a:r>
            <a:r>
              <a:rPr dirty="0" err="1"/>
              <a:t>Python语言的产生与发展</a:t>
            </a:r>
            <a:endParaRPr dirty="0"/>
          </a:p>
        </p:txBody>
      </p:sp>
      <p:sp>
        <p:nvSpPr>
          <p:cNvPr id="259" name="Content Placeholder 13"/>
          <p:cNvSpPr txBox="1"/>
          <p:nvPr/>
        </p:nvSpPr>
        <p:spPr>
          <a:xfrm>
            <a:off x="1708885" y="1904998"/>
            <a:ext cx="2703410" cy="565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t>Python语言的</a:t>
            </a:r>
            <a:r>
              <a:rPr>
                <a:solidFill>
                  <a:srgbClr val="942193"/>
                </a:solidFill>
              </a:rPr>
              <a:t>优点</a:t>
            </a:r>
          </a:p>
        </p:txBody>
      </p:sp>
      <p:sp>
        <p:nvSpPr>
          <p:cNvPr id="260" name="Content Placeholder 13"/>
          <p:cNvSpPr txBox="1"/>
          <p:nvPr/>
        </p:nvSpPr>
        <p:spPr>
          <a:xfrm>
            <a:off x="1708885" y="2707020"/>
            <a:ext cx="2703410" cy="2554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简单易学</a:t>
            </a:r>
          </a:p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免费开源</a:t>
            </a:r>
          </a:p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可移植</a:t>
            </a:r>
          </a:p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可扩展</a:t>
            </a:r>
          </a:p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面向过程&amp;面向对象</a:t>
            </a:r>
          </a:p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…</a:t>
            </a:r>
          </a:p>
        </p:txBody>
      </p:sp>
      <p:sp>
        <p:nvSpPr>
          <p:cNvPr id="261" name="Content Placeholder 13"/>
          <p:cNvSpPr txBox="1"/>
          <p:nvPr/>
        </p:nvSpPr>
        <p:spPr>
          <a:xfrm>
            <a:off x="6555606" y="1904998"/>
            <a:ext cx="2703410" cy="565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t>Python语言的</a:t>
            </a:r>
            <a:r>
              <a:rPr>
                <a:solidFill>
                  <a:srgbClr val="942193"/>
                </a:solidFill>
              </a:rPr>
              <a:t>缺点</a:t>
            </a:r>
          </a:p>
        </p:txBody>
      </p:sp>
      <p:sp>
        <p:nvSpPr>
          <p:cNvPr id="262" name="Content Placeholder 13"/>
          <p:cNvSpPr txBox="1"/>
          <p:nvPr/>
        </p:nvSpPr>
        <p:spPr>
          <a:xfrm>
            <a:off x="6555606" y="2707020"/>
            <a:ext cx="2703410" cy="22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运行速度较慢</a:t>
            </a:r>
          </a:p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代码不能加密</a:t>
            </a:r>
          </a:p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限制并发</a:t>
            </a:r>
          </a:p>
          <a:p>
            <a:pPr marL="228600" indent="-228600">
              <a:lnSpc>
                <a:spcPts val="15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 txBox="1">
            <a:spLocks noGrp="1"/>
          </p:cNvSpPr>
          <p:nvPr>
            <p:ph type="title"/>
          </p:nvPr>
        </p:nvSpPr>
        <p:spPr>
          <a:xfrm>
            <a:off x="1104899" y="76199"/>
            <a:ext cx="9980684" cy="1096964"/>
          </a:xfrm>
          <a:prstGeom prst="rect">
            <a:avLst/>
          </a:prstGeom>
        </p:spPr>
        <p:txBody>
          <a:bodyPr/>
          <a:lstStyle/>
          <a:p>
            <a:r>
              <a:t>C Vs Java Vs Python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语言的</a:t>
            </a:r>
            <a:r>
              <a:t>Hello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程序 </a:t>
            </a:r>
          </a:p>
        </p:txBody>
      </p:sp>
      <p:sp>
        <p:nvSpPr>
          <p:cNvPr id="265" name="Rectangle 2"/>
          <p:cNvSpPr/>
          <p:nvPr/>
        </p:nvSpPr>
        <p:spPr>
          <a:xfrm>
            <a:off x="2984500" y="1605184"/>
            <a:ext cx="3625597" cy="1920241"/>
          </a:xfrm>
          <a:prstGeom prst="rect">
            <a:avLst/>
          </a:prstGeom>
          <a:solidFill>
            <a:srgbClr val="EEEDE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#include &lt;stdio.h&gt;</a:t>
            </a:r>
          </a:p>
          <a:p>
            <a:pPr>
              <a:defRPr sz="2000"/>
            </a:pPr>
            <a:r>
              <a:t>int main(void)</a:t>
            </a:r>
          </a:p>
          <a:p>
            <a:pPr>
              <a:defRPr sz="2000"/>
            </a:pPr>
            <a:r>
              <a:t>{</a:t>
            </a:r>
          </a:p>
          <a:p>
            <a:pPr>
              <a:defRPr sz="2000"/>
            </a:pPr>
            <a:r>
              <a:t>    printf("Hello World\n");</a:t>
            </a:r>
          </a:p>
          <a:p>
            <a:pPr>
              <a:defRPr sz="2000"/>
            </a:pPr>
            <a:r>
              <a:t>    return 0;</a:t>
            </a:r>
          </a:p>
          <a:p>
            <a:pPr>
              <a:defRPr sz="2000"/>
            </a:pPr>
            <a:r>
              <a:t>}</a:t>
            </a:r>
          </a:p>
        </p:txBody>
      </p:sp>
      <p:graphicFrame>
        <p:nvGraphicFramePr>
          <p:cNvPr id="266" name="表格 2"/>
          <p:cNvGraphicFramePr/>
          <p:nvPr/>
        </p:nvGraphicFramePr>
        <p:xfrm>
          <a:off x="7282306" y="4032377"/>
          <a:ext cx="3428365" cy="78867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28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defRPr sz="1800" b="1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&gt;&gt;&gt;print("Hello World")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defRPr sz="18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Hello World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B050"/>
                      </a:solidFill>
                    </a:lnL>
                    <a:lnR w="12700">
                      <a:solidFill>
                        <a:srgbClr val="00B050"/>
                      </a:solidFill>
                    </a:lnR>
                    <a:lnT w="12700">
                      <a:solidFill>
                        <a:srgbClr val="00B050"/>
                      </a:solidFill>
                    </a:lnT>
                    <a:lnB w="12700">
                      <a:solidFill>
                        <a:srgbClr val="00B050"/>
                      </a:solidFill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7" name="Rectangle 4"/>
          <p:cNvSpPr/>
          <p:nvPr/>
        </p:nvSpPr>
        <p:spPr>
          <a:xfrm>
            <a:off x="1104899" y="3957446"/>
            <a:ext cx="5576318" cy="1920241"/>
          </a:xfrm>
          <a:prstGeom prst="rect">
            <a:avLst/>
          </a:prstGeom>
          <a:solidFill>
            <a:srgbClr val="EEEDE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class HelloWorld{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        public static void main(String[] arr){</a:t>
            </a:r>
          </a:p>
          <a:p>
            <a:pPr>
              <a:defRPr sz="2000"/>
            </a:pPr>
            <a:r>
              <a:t>            System.out.print(“Hello World!");</a:t>
            </a:r>
          </a:p>
          <a:p>
            <a:pPr>
              <a:defRPr sz="2000"/>
            </a:pPr>
            <a:r>
              <a:t>        }</a:t>
            </a:r>
          </a:p>
          <a:p>
            <a:pPr>
              <a:defRPr sz="2000"/>
            </a:pPr>
            <a:r>
              <a:t>}</a:t>
            </a:r>
          </a:p>
        </p:txBody>
      </p:sp>
      <p:sp>
        <p:nvSpPr>
          <p:cNvPr id="268" name="Java语言"/>
          <p:cNvSpPr txBox="1"/>
          <p:nvPr/>
        </p:nvSpPr>
        <p:spPr>
          <a:xfrm>
            <a:off x="1109905" y="3459479"/>
            <a:ext cx="1069887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942193"/>
                </a:solidFill>
              </a:defRPr>
            </a:lvl1pPr>
          </a:lstStyle>
          <a:p>
            <a:r>
              <a:t>Java语言</a:t>
            </a:r>
          </a:p>
        </p:txBody>
      </p:sp>
      <p:sp>
        <p:nvSpPr>
          <p:cNvPr id="269" name="C语言"/>
          <p:cNvSpPr txBox="1"/>
          <p:nvPr/>
        </p:nvSpPr>
        <p:spPr>
          <a:xfrm>
            <a:off x="1935405" y="2360834"/>
            <a:ext cx="72642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942193"/>
                </a:solidFill>
              </a:defRPr>
            </a:lvl1pPr>
          </a:lstStyle>
          <a:p>
            <a:r>
              <a:t>C语言</a:t>
            </a:r>
          </a:p>
        </p:txBody>
      </p:sp>
      <p:sp>
        <p:nvSpPr>
          <p:cNvPr id="270" name="Python语言"/>
          <p:cNvSpPr txBox="1"/>
          <p:nvPr/>
        </p:nvSpPr>
        <p:spPr>
          <a:xfrm>
            <a:off x="7256705" y="3478529"/>
            <a:ext cx="133599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0433FF"/>
                </a:solidFill>
              </a:defRPr>
            </a:lvl1pPr>
          </a:lstStyle>
          <a:p>
            <a:r>
              <a:t>Python语言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1"/>
          <p:cNvSpPr txBox="1">
            <a:spLocks noGrp="1"/>
          </p:cNvSpPr>
          <p:nvPr>
            <p:ph type="title"/>
          </p:nvPr>
        </p:nvSpPr>
        <p:spPr>
          <a:xfrm>
            <a:off x="1104899" y="76199"/>
            <a:ext cx="9980684" cy="1096964"/>
          </a:xfrm>
          <a:prstGeom prst="rect">
            <a:avLst/>
          </a:prstGeom>
        </p:spPr>
        <p:txBody>
          <a:bodyPr/>
          <a:lstStyle/>
          <a:p>
            <a:r>
              <a:t>Python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代码案例</a:t>
            </a:r>
          </a:p>
        </p:txBody>
      </p:sp>
      <p:sp>
        <p:nvSpPr>
          <p:cNvPr id="273" name="Rectangle 2"/>
          <p:cNvSpPr/>
          <p:nvPr/>
        </p:nvSpPr>
        <p:spPr>
          <a:xfrm>
            <a:off x="2346959" y="1763933"/>
            <a:ext cx="7498082" cy="871970"/>
          </a:xfrm>
          <a:prstGeom prst="rect">
            <a:avLst/>
          </a:prstGeom>
          <a:solidFill>
            <a:srgbClr val="DEDAD7"/>
          </a:solidFill>
          <a:ln>
            <a:solidFill>
              <a:srgbClr val="92D05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sum = 99999 * 99999</a:t>
            </a:r>
          </a:p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print(sum)</a:t>
            </a:r>
          </a:p>
        </p:txBody>
      </p:sp>
      <p:sp>
        <p:nvSpPr>
          <p:cNvPr id="274" name="Rectangle 3"/>
          <p:cNvSpPr/>
          <p:nvPr/>
        </p:nvSpPr>
        <p:spPr>
          <a:xfrm>
            <a:off x="2346959" y="2952105"/>
            <a:ext cx="7498082" cy="1702967"/>
          </a:xfrm>
          <a:prstGeom prst="rect">
            <a:avLst/>
          </a:prstGeom>
          <a:solidFill>
            <a:srgbClr val="DEDAD7"/>
          </a:solidFill>
          <a:ln>
            <a:solidFill>
              <a:srgbClr val="92D05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months="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JanFebMarAprMayJunJulAugSepOctNovDec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</a:p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 = 4</a:t>
            </a:r>
          </a:p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monthAbbrev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= months[(n-1)*3:(n-1)*3+3]</a:t>
            </a:r>
          </a:p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monthAbbrev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75" name="Rectangle 4"/>
          <p:cNvSpPr/>
          <p:nvPr/>
        </p:nvSpPr>
        <p:spPr>
          <a:xfrm>
            <a:off x="2346959" y="4906557"/>
            <a:ext cx="7498082" cy="1287468"/>
          </a:xfrm>
          <a:prstGeom prst="rect">
            <a:avLst/>
          </a:prstGeom>
          <a:solidFill>
            <a:srgbClr val="DEDAD7"/>
          </a:solidFill>
          <a:ln>
            <a:solidFill>
              <a:srgbClr val="92D05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from random import random</a:t>
            </a:r>
          </a:p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rnd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= random()*10</a:t>
            </a:r>
          </a:p>
          <a:p>
            <a:pPr>
              <a:lnSpc>
                <a:spcPct val="150000"/>
              </a:lnSpc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rnd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 1"/>
          <p:cNvSpPr txBox="1">
            <a:spLocks noGrp="1"/>
          </p:cNvSpPr>
          <p:nvPr>
            <p:ph type="title"/>
          </p:nvPr>
        </p:nvSpPr>
        <p:spPr>
          <a:xfrm>
            <a:off x="1105658" y="368967"/>
            <a:ext cx="4878048" cy="727996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US" dirty="0"/>
              <a:t>2.1</a:t>
            </a:r>
            <a:r>
              <a:rPr dirty="0"/>
              <a:t> </a:t>
            </a:r>
            <a:r>
              <a:rPr dirty="0" err="1"/>
              <a:t>Python语言的产生与发展</a:t>
            </a:r>
            <a:endParaRPr dirty="0"/>
          </a:p>
        </p:txBody>
      </p:sp>
      <p:sp>
        <p:nvSpPr>
          <p:cNvPr id="279" name="矩形 2"/>
          <p:cNvSpPr txBox="1"/>
          <p:nvPr/>
        </p:nvSpPr>
        <p:spPr>
          <a:xfrm>
            <a:off x="3913662" y="6288978"/>
            <a:ext cx="4580739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>
                <a:solidFill>
                  <a:srgbClr val="0432FF"/>
                </a:solidFill>
              </a:rPr>
              <a:t>TIOBE公布的20</a:t>
            </a:r>
            <a:r>
              <a:rPr lang="en-US" dirty="0">
                <a:solidFill>
                  <a:srgbClr val="0432FF"/>
                </a:solidFill>
              </a:rPr>
              <a:t>24</a:t>
            </a:r>
            <a:r>
              <a:rPr dirty="0">
                <a:solidFill>
                  <a:srgbClr val="0432FF"/>
                </a:solidFill>
              </a:rPr>
              <a:t>年</a:t>
            </a:r>
            <a:r>
              <a:rPr lang="en-US" dirty="0">
                <a:solidFill>
                  <a:srgbClr val="0432FF"/>
                </a:solidFill>
              </a:rPr>
              <a:t>10</a:t>
            </a:r>
            <a:r>
              <a:rPr dirty="0">
                <a:solidFill>
                  <a:srgbClr val="0432FF"/>
                </a:solidFill>
              </a:rPr>
              <a:t>月编程语言排行榜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254805-887E-91E7-0ECC-1542AA9D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94" y="1255084"/>
            <a:ext cx="6615223" cy="503389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itle 1"/>
          <p:cNvSpPr txBox="1">
            <a:spLocks noGrp="1"/>
          </p:cNvSpPr>
          <p:nvPr>
            <p:ph type="title"/>
          </p:nvPr>
        </p:nvSpPr>
        <p:spPr>
          <a:xfrm>
            <a:off x="1105658" y="368967"/>
            <a:ext cx="4878048" cy="727996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US" dirty="0"/>
              <a:t>2.1</a:t>
            </a:r>
            <a:r>
              <a:rPr dirty="0"/>
              <a:t> </a:t>
            </a:r>
            <a:r>
              <a:rPr dirty="0" err="1"/>
              <a:t>Python语言的产生与发展</a:t>
            </a:r>
            <a:endParaRPr dirty="0"/>
          </a:p>
        </p:txBody>
      </p:sp>
      <p:sp>
        <p:nvSpPr>
          <p:cNvPr id="283" name="矩形 3"/>
          <p:cNvSpPr txBox="1"/>
          <p:nvPr/>
        </p:nvSpPr>
        <p:spPr>
          <a:xfrm>
            <a:off x="4055322" y="5878917"/>
            <a:ext cx="4708979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Python语言TIOBE指数走势（2002-202</a:t>
            </a:r>
            <a:r>
              <a:rPr lang="en-US" altLang="zh-CN" dirty="0"/>
              <a:t>4</a:t>
            </a:r>
            <a:r>
              <a:rPr dirty="0"/>
              <a:t>）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A4C37-8F9A-DD47-03CA-DD81B82B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86" y="1530035"/>
            <a:ext cx="11731827" cy="41177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itle 1"/>
          <p:cNvSpPr txBox="1">
            <a:spLocks noGrp="1"/>
          </p:cNvSpPr>
          <p:nvPr>
            <p:ph type="ctrTitle"/>
          </p:nvPr>
        </p:nvSpPr>
        <p:spPr>
          <a:xfrm>
            <a:off x="1104900" y="2292094"/>
            <a:ext cx="10096500" cy="1734475"/>
          </a:xfrm>
          <a:prstGeom prst="rect">
            <a:avLst/>
          </a:prstGeom>
        </p:spPr>
        <p:txBody>
          <a:bodyPr/>
          <a:lstStyle/>
          <a:p>
            <a:pPr algn="ctr"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</a:t>
            </a:r>
            <a:r>
              <a:rPr lang="en-US" dirty="0"/>
              <a:t>2.2</a:t>
            </a:r>
            <a:r>
              <a:rPr dirty="0"/>
              <a:t> </a:t>
            </a:r>
            <a:r>
              <a:rPr dirty="0" err="1"/>
              <a:t>Python的安装与运行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1968C8-3115-2DB0-880F-7C15C5DE4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29" y="1173163"/>
            <a:ext cx="8310938" cy="5754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02E5E7-F0FE-4E47-BF06-AB2D4307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下载最新版本的</a:t>
            </a:r>
            <a:r>
              <a:rPr kumimoji="1" lang="en-US" altLang="zh-CN" dirty="0"/>
              <a:t>Python</a:t>
            </a:r>
            <a:endParaRPr kumimoji="1" lang="zh-CN" alt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8C1CB3-A204-594F-B37C-4A49DAF84F93}"/>
              </a:ext>
            </a:extLst>
          </p:cNvPr>
          <p:cNvSpPr/>
          <p:nvPr/>
        </p:nvSpPr>
        <p:spPr>
          <a:xfrm>
            <a:off x="3415792" y="5421085"/>
            <a:ext cx="1875400" cy="1236569"/>
          </a:xfrm>
          <a:prstGeom prst="ellipse">
            <a:avLst/>
          </a:prstGeom>
          <a:noFill/>
          <a:ln w="48000" cap="flat">
            <a:solidFill>
              <a:srgbClr val="C0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Euphemia"/>
            </a:endParaRPr>
          </a:p>
        </p:txBody>
      </p:sp>
    </p:spTree>
    <p:extLst>
      <p:ext uri="{BB962C8B-B14F-4D97-AF65-F5344CB8AC3E}">
        <p14:creationId xmlns:p14="http://schemas.microsoft.com/office/powerpoint/2010/main" val="17528389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itle 1"/>
          <p:cNvSpPr txBox="1">
            <a:spLocks noGrp="1"/>
          </p:cNvSpPr>
          <p:nvPr>
            <p:ph type="title"/>
          </p:nvPr>
        </p:nvSpPr>
        <p:spPr>
          <a:xfrm>
            <a:off x="1105658" y="-1"/>
            <a:ext cx="9980684" cy="109696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US" dirty="0"/>
              <a:t>2.2</a:t>
            </a:r>
            <a:r>
              <a:rPr dirty="0"/>
              <a:t> </a:t>
            </a:r>
            <a:r>
              <a:rPr dirty="0" err="1"/>
              <a:t>Python的安装与运行</a:t>
            </a:r>
            <a:endParaRPr dirty="0"/>
          </a:p>
        </p:txBody>
      </p:sp>
      <p:sp>
        <p:nvSpPr>
          <p:cNvPr id="288" name="Content Placeholder 13"/>
          <p:cNvSpPr txBox="1"/>
          <p:nvPr/>
        </p:nvSpPr>
        <p:spPr>
          <a:xfrm>
            <a:off x="1176779" y="1554493"/>
            <a:ext cx="4202674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800"/>
              </a:spcBef>
              <a:defRPr sz="2400">
                <a:solidFill>
                  <a:srgbClr val="0433FF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在Windows系统中安装Python</a:t>
            </a:r>
          </a:p>
        </p:txBody>
      </p:sp>
      <p:sp>
        <p:nvSpPr>
          <p:cNvPr id="289" name="Content Placeholder 13"/>
          <p:cNvSpPr txBox="1"/>
          <p:nvPr/>
        </p:nvSpPr>
        <p:spPr>
          <a:xfrm>
            <a:off x="1570479" y="2314654"/>
            <a:ext cx="9889242" cy="2228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000"/>
            </a:pPr>
            <a:r>
              <a:t>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）检查系统是否已安装</a:t>
            </a:r>
            <a:r>
              <a:t>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终端窗口输入</a:t>
            </a:r>
            <a:r>
              <a:t>“python”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命令</a:t>
            </a:r>
          </a:p>
          <a:p>
            <a:pPr>
              <a:spcBef>
                <a:spcPts val="1800"/>
              </a:spcBef>
              <a:defRPr sz="2000"/>
            </a:pPr>
            <a:r>
              <a:t>2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）若未安装，官网下载</a:t>
            </a:r>
            <a:r>
              <a:t>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指定版本并匹配电脑属性的安装程序</a:t>
            </a:r>
          </a:p>
          <a:p>
            <a:pPr>
              <a:spcBef>
                <a:spcPts val="1800"/>
              </a:spcBef>
              <a:defRPr sz="2000"/>
            </a:pPr>
            <a:r>
              <a:t>3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）运行安装程序，按照提示逐步安装并配置系统环境（</a:t>
            </a:r>
            <a:r>
              <a:t>Path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>
              <a:spcBef>
                <a:spcPts val="1800"/>
              </a:spcBef>
              <a:defRPr sz="2000"/>
            </a:pPr>
            <a:r>
              <a:t>4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）安装完成后，终端窗口输入</a:t>
            </a:r>
            <a:r>
              <a:t>“python”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命令，检查是否安装成功</a:t>
            </a:r>
          </a:p>
        </p:txBody>
      </p:sp>
      <p:pic>
        <p:nvPicPr>
          <p:cNvPr id="290" name="图片 7" descr="图片 7"/>
          <p:cNvPicPr>
            <a:picLocks noChangeAspect="1"/>
          </p:cNvPicPr>
          <p:nvPr/>
        </p:nvPicPr>
        <p:blipFill>
          <a:blip r:embed="rId2"/>
          <a:srcRect r="1137"/>
          <a:stretch>
            <a:fillRect/>
          </a:stretch>
        </p:blipFill>
        <p:spPr>
          <a:xfrm>
            <a:off x="2041280" y="4710664"/>
            <a:ext cx="8109436" cy="14615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itle 1"/>
          <p:cNvSpPr txBox="1">
            <a:spLocks noGrp="1"/>
          </p:cNvSpPr>
          <p:nvPr>
            <p:ph type="title"/>
          </p:nvPr>
        </p:nvSpPr>
        <p:spPr>
          <a:xfrm>
            <a:off x="1105658" y="-1"/>
            <a:ext cx="9980684" cy="109696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US" dirty="0"/>
              <a:t>2.2</a:t>
            </a:r>
            <a:r>
              <a:rPr dirty="0"/>
              <a:t> </a:t>
            </a:r>
            <a:r>
              <a:rPr dirty="0" err="1"/>
              <a:t>Python的安装与运行</a:t>
            </a:r>
            <a:endParaRPr dirty="0"/>
          </a:p>
        </p:txBody>
      </p:sp>
      <p:sp>
        <p:nvSpPr>
          <p:cNvPr id="293" name="Content Placeholder 13"/>
          <p:cNvSpPr txBox="1"/>
          <p:nvPr/>
        </p:nvSpPr>
        <p:spPr>
          <a:xfrm>
            <a:off x="1105658" y="1288670"/>
            <a:ext cx="4558808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800"/>
              </a:spcBef>
              <a:defRPr sz="2400">
                <a:solidFill>
                  <a:srgbClr val="0433FF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在macOS系统中安装Python</a:t>
            </a:r>
          </a:p>
        </p:txBody>
      </p:sp>
      <p:sp>
        <p:nvSpPr>
          <p:cNvPr id="294" name="Content Placeholder 13"/>
          <p:cNvSpPr txBox="1"/>
          <p:nvPr/>
        </p:nvSpPr>
        <p:spPr>
          <a:xfrm>
            <a:off x="1448557" y="1830668"/>
            <a:ext cx="9889243" cy="2400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1）大多数macOS系统都默认安装了Python，检查系统已安装Python的版本： </a:t>
            </a:r>
            <a:endParaRPr sz="2000" dirty="0"/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     </a:t>
            </a:r>
            <a:r>
              <a:rPr dirty="0" err="1"/>
              <a:t>Terminal会话窗口输入“python”命令查看版本</a:t>
            </a:r>
            <a:endParaRPr dirty="0"/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2）“Ctrl+D”或者执行命令exit()退出Python2.7并返回到Terminal窗口，执行命令“python3”</a:t>
            </a:r>
            <a:endParaRPr sz="2000" dirty="0"/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3）如果系统中尚未安装Python 3，就需要下载Python的Mac OS </a:t>
            </a:r>
            <a:r>
              <a:rPr dirty="0" err="1"/>
              <a:t>X安装程序，按提示信息安装</a:t>
            </a:r>
            <a:endParaRPr dirty="0"/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4）安装完毕以后，在Terminal会话窗口输入“python3 --</a:t>
            </a:r>
            <a:r>
              <a:rPr dirty="0" err="1"/>
              <a:t>version”命令，检查是否安装成功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C10DD-A85A-C4E7-7A02-FD75C3CF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978" y="4615997"/>
            <a:ext cx="7772400" cy="1906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itle 1"/>
          <p:cNvSpPr txBox="1">
            <a:spLocks noGrp="1"/>
          </p:cNvSpPr>
          <p:nvPr>
            <p:ph type="title"/>
          </p:nvPr>
        </p:nvSpPr>
        <p:spPr>
          <a:xfrm>
            <a:off x="1105658" y="-1"/>
            <a:ext cx="9980684" cy="109696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US" dirty="0"/>
              <a:t>2.2</a:t>
            </a:r>
            <a:r>
              <a:rPr dirty="0"/>
              <a:t> </a:t>
            </a:r>
            <a:r>
              <a:rPr dirty="0" err="1"/>
              <a:t>Python的安装与运行</a:t>
            </a:r>
            <a:endParaRPr dirty="0"/>
          </a:p>
        </p:txBody>
      </p:sp>
      <p:sp>
        <p:nvSpPr>
          <p:cNvPr id="298" name="Content Placeholder 13"/>
          <p:cNvSpPr txBox="1"/>
          <p:nvPr/>
        </p:nvSpPr>
        <p:spPr>
          <a:xfrm>
            <a:off x="1164078" y="1428382"/>
            <a:ext cx="4164174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800"/>
              </a:spcBef>
              <a:defRPr sz="2400">
                <a:solidFill>
                  <a:srgbClr val="0433FF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在Linux系统中安装Python</a:t>
            </a:r>
          </a:p>
        </p:txBody>
      </p:sp>
      <p:sp>
        <p:nvSpPr>
          <p:cNvPr id="299" name="Content Placeholder 13"/>
          <p:cNvSpPr txBox="1"/>
          <p:nvPr/>
        </p:nvSpPr>
        <p:spPr>
          <a:xfrm>
            <a:off x="1380738" y="2062431"/>
            <a:ext cx="9889243" cy="3182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1）几乎所有Linux系统都默认安装了Python，系统自带的Python版本是Python 2.7</a:t>
            </a:r>
            <a:endParaRPr sz="2000"/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   打开终端窗口，并执行python --version命令，从输出内容可以看出Python 2的版本号</a:t>
            </a:r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2）“Ctrl+D”或者执行命令exit()退出Python2.7并返回到Terminal窗口，执行命令“python3”</a:t>
            </a:r>
            <a:endParaRPr sz="2000"/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3）如果系统中尚未安装Python 3，就需要下载Python的Mac OS X安装程序，按提示信息安装</a:t>
            </a:r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4）安装完毕以后，在Terminal会话窗口输入“python3 --version”命令，检查是否安装成功</a:t>
            </a:r>
          </a:p>
        </p:txBody>
      </p:sp>
      <p:pic>
        <p:nvPicPr>
          <p:cNvPr id="300" name="图片 7" descr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46" y="4868183"/>
            <a:ext cx="8375227" cy="15107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itle 1"/>
          <p:cNvSpPr txBox="1">
            <a:spLocks noGrp="1"/>
          </p:cNvSpPr>
          <p:nvPr>
            <p:ph type="title"/>
          </p:nvPr>
        </p:nvSpPr>
        <p:spPr>
          <a:xfrm>
            <a:off x="1105658" y="-1"/>
            <a:ext cx="9980684" cy="109696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US" dirty="0"/>
              <a:t>2.2</a:t>
            </a:r>
            <a:r>
              <a:rPr dirty="0"/>
              <a:t> </a:t>
            </a:r>
            <a:r>
              <a:rPr dirty="0" err="1"/>
              <a:t>Python的安装与运行</a:t>
            </a:r>
            <a:endParaRPr dirty="0"/>
          </a:p>
        </p:txBody>
      </p:sp>
      <p:sp>
        <p:nvSpPr>
          <p:cNvPr id="303" name="Content Placeholder 13"/>
          <p:cNvSpPr txBox="1"/>
          <p:nvPr/>
        </p:nvSpPr>
        <p:spPr>
          <a:xfrm>
            <a:off x="1176777" y="1428382"/>
            <a:ext cx="4016585" cy="468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768095">
              <a:lnSpc>
                <a:spcPct val="90000"/>
              </a:lnSpc>
              <a:spcBef>
                <a:spcPts val="1500"/>
              </a:spcBef>
              <a:defRPr sz="2184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交互式运行</a:t>
            </a:r>
          </a:p>
        </p:txBody>
      </p:sp>
      <p:sp>
        <p:nvSpPr>
          <p:cNvPr id="304" name="Content Placeholder 13"/>
          <p:cNvSpPr txBox="1"/>
          <p:nvPr/>
        </p:nvSpPr>
        <p:spPr>
          <a:xfrm>
            <a:off x="1221863" y="2013533"/>
            <a:ext cx="5299955" cy="280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000">
                <a:solidFill>
                  <a:srgbClr val="942193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1）使用IDLE</a:t>
            </a:r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endParaRPr/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endParaRPr/>
          </a:p>
          <a:p>
            <a:pPr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endParaRPr/>
          </a:p>
          <a:p>
            <a:pPr>
              <a:spcBef>
                <a:spcPts val="1800"/>
              </a:spcBef>
              <a:defRPr sz="2000">
                <a:solidFill>
                  <a:srgbClr val="942193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2）使用系统终端</a:t>
            </a:r>
          </a:p>
        </p:txBody>
      </p:sp>
      <p:pic>
        <p:nvPicPr>
          <p:cNvPr id="305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158" y="2544445"/>
            <a:ext cx="5274310" cy="1388111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矩形 3"/>
          <p:cNvSpPr txBox="1"/>
          <p:nvPr/>
        </p:nvSpPr>
        <p:spPr>
          <a:xfrm>
            <a:off x="7632505" y="3221932"/>
            <a:ext cx="4119317" cy="176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50000"/>
              </a:lnSpc>
              <a:defRPr sz="2400">
                <a:solidFill>
                  <a:srgbClr val="0433FF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特点：</a:t>
            </a:r>
          </a:p>
          <a:p>
            <a:pPr algn="just">
              <a:lnSpc>
                <a:spcPct val="150000"/>
              </a:lnSpc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t>实验测试效果较好但代码无法保存。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BBBC8A-6AAE-7A29-D086-62F9C376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39" y="4821077"/>
            <a:ext cx="6572814" cy="1733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itle 1"/>
          <p:cNvSpPr txBox="1">
            <a:spLocks noGrp="1"/>
          </p:cNvSpPr>
          <p:nvPr>
            <p:ph type="title"/>
          </p:nvPr>
        </p:nvSpPr>
        <p:spPr>
          <a:xfrm>
            <a:off x="1105658" y="-1"/>
            <a:ext cx="9980684" cy="109696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US" dirty="0"/>
              <a:t>2.2</a:t>
            </a:r>
            <a:r>
              <a:rPr dirty="0"/>
              <a:t> </a:t>
            </a:r>
            <a:r>
              <a:rPr dirty="0" err="1"/>
              <a:t>Python的安装与运行</a:t>
            </a:r>
            <a:endParaRPr dirty="0"/>
          </a:p>
        </p:txBody>
      </p:sp>
      <p:sp>
        <p:nvSpPr>
          <p:cNvPr id="310" name="Content Placeholder 13"/>
          <p:cNvSpPr txBox="1"/>
          <p:nvPr/>
        </p:nvSpPr>
        <p:spPr>
          <a:xfrm>
            <a:off x="1150619" y="1428382"/>
            <a:ext cx="3327534" cy="1014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942193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Python文件</a:t>
            </a:r>
          </a:p>
        </p:txBody>
      </p:sp>
      <p:sp>
        <p:nvSpPr>
          <p:cNvPr id="311" name="矩形 2"/>
          <p:cNvSpPr txBox="1"/>
          <p:nvPr/>
        </p:nvSpPr>
        <p:spPr>
          <a:xfrm>
            <a:off x="1366519" y="2083447"/>
            <a:ext cx="9889243" cy="206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indent="266700" algn="just">
              <a:lnSpc>
                <a:spcPct val="150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例如：</a:t>
            </a:r>
          </a:p>
          <a:p>
            <a:pPr marL="467226" indent="-200526" algn="just">
              <a:lnSpc>
                <a:spcPct val="150000"/>
              </a:lnSpc>
              <a:buSzPct val="60000"/>
              <a:buBlip>
                <a:blip r:embed="rId2"/>
              </a:buBlip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首先在</a:t>
            </a:r>
            <a:r>
              <a:t>E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盘中新建文本文件并命名为</a:t>
            </a:r>
            <a:r>
              <a:t>test.py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，在其中输入代码</a:t>
            </a:r>
            <a:r>
              <a:t>“print(3+4)”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</a:t>
            </a:r>
          </a:p>
          <a:p>
            <a:pPr marL="467226" indent="-200526" algn="just">
              <a:lnSpc>
                <a:spcPct val="150000"/>
              </a:lnSpc>
              <a:buSzPct val="60000"/>
              <a:buBlip>
                <a:blip r:embed="rId2"/>
              </a:buBlip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保存文件并确保文件的扩展名为</a:t>
            </a:r>
            <a:r>
              <a:t>“.py”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；</a:t>
            </a:r>
          </a:p>
          <a:p>
            <a:pPr marL="467226" indent="-200526" algn="just">
              <a:lnSpc>
                <a:spcPct val="150000"/>
              </a:lnSpc>
              <a:buSzPct val="60000"/>
              <a:buBlip>
                <a:blip r:embed="rId2"/>
              </a:buBlip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然后，打开终端窗口，输入命令</a:t>
            </a:r>
            <a:r>
              <a:t>“python E:\test.py”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并按</a:t>
            </a:r>
            <a:r>
              <a:t>Enter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键</a:t>
            </a:r>
          </a:p>
        </p:txBody>
      </p:sp>
      <p:sp>
        <p:nvSpPr>
          <p:cNvPr id="313" name="矩形 3"/>
          <p:cNvSpPr txBox="1"/>
          <p:nvPr/>
        </p:nvSpPr>
        <p:spPr>
          <a:xfrm>
            <a:off x="8444230" y="5044431"/>
            <a:ext cx="284734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solidFill>
                  <a:srgbClr val="0433FF"/>
                </a:solidFill>
              </a:rPr>
              <a:t>特点：</a:t>
            </a:r>
            <a:r>
              <a:t>可以永久保存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6494A6-D7E4-21E6-7F65-30EFE60B9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519" y="4411261"/>
            <a:ext cx="6789911" cy="1454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itle 1"/>
          <p:cNvSpPr txBox="1">
            <a:spLocks noGrp="1"/>
          </p:cNvSpPr>
          <p:nvPr>
            <p:ph type="ctrTitle"/>
          </p:nvPr>
        </p:nvSpPr>
        <p:spPr>
          <a:xfrm>
            <a:off x="688807" y="2561763"/>
            <a:ext cx="10814386" cy="1734474"/>
          </a:xfrm>
          <a:prstGeom prst="rect">
            <a:avLst/>
          </a:prstGeom>
        </p:spPr>
        <p:txBody>
          <a:bodyPr/>
          <a:lstStyle/>
          <a:p>
            <a:pPr algn="ctr"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</a:t>
            </a:r>
            <a:r>
              <a:rPr lang="en-US" dirty="0">
                <a:latin typeface="Plantagenet Cherokee"/>
                <a:ea typeface="Plantagenet Cherokee"/>
                <a:cs typeface="Plantagenet Cherokee"/>
                <a:sym typeface="Plantagenet Cherokee"/>
              </a:rPr>
              <a:t>2.3</a:t>
            </a:r>
            <a:r>
              <a:rPr dirty="0">
                <a:latin typeface="Plantagenet Cherokee"/>
                <a:ea typeface="Plantagenet Cherokee"/>
                <a:cs typeface="Plantagenet Cherokee"/>
                <a:sym typeface="Plantagenet Cherokee"/>
              </a:rPr>
              <a:t> </a:t>
            </a:r>
            <a:r>
              <a:rPr dirty="0" err="1">
                <a:latin typeface="Plantagenet Cherokee"/>
                <a:ea typeface="Plantagenet Cherokee"/>
                <a:cs typeface="Plantagenet Cherokee"/>
                <a:sym typeface="Plantagenet Cherokee"/>
              </a:rPr>
              <a:t>JuPyter</a:t>
            </a:r>
            <a:r>
              <a:rPr dirty="0">
                <a:latin typeface="Plantagenet Cherokee"/>
                <a:ea typeface="Plantagenet Cherokee"/>
                <a:cs typeface="Plantagenet Cherokee"/>
                <a:sym typeface="Plantagenet Cherokee"/>
              </a:rPr>
              <a:t> </a:t>
            </a:r>
            <a:r>
              <a:rPr dirty="0" err="1">
                <a:latin typeface="Plantagenet Cherokee"/>
                <a:ea typeface="Plantagenet Cherokee"/>
                <a:cs typeface="Plantagenet Cherokee"/>
                <a:sym typeface="Plantagenet Cherokee"/>
              </a:rPr>
              <a:t>Notebook</a:t>
            </a:r>
            <a:r>
              <a:rPr dirty="0" err="1"/>
              <a:t>的安装与使用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的安装与使用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318" name="Content Placeholder 13"/>
          <p:cNvSpPr txBox="1"/>
          <p:nvPr/>
        </p:nvSpPr>
        <p:spPr>
          <a:xfrm>
            <a:off x="1150619" y="1423734"/>
            <a:ext cx="9889244" cy="205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Jupyter Notebook</a:t>
            </a:r>
            <a:r>
              <a:t>一个开源Web应用程序，它提供了一个环境，允许用户创建和共享代码和文档，可以其中记录代码、运行代码、显示结果、可视化数据并查看输出，而无需离开环境。</a:t>
            </a:r>
            <a:r>
              <a:rPr>
                <a:solidFill>
                  <a:srgbClr val="0433FF"/>
                </a:solidFill>
              </a:rPr>
              <a:t>Jupyter Notebook</a:t>
            </a:r>
            <a:r>
              <a:t>是以网页形式打开的应用程序，可以在网页页面中直接编写程序和运行代码，而代码的运行结果也会直接在代码块下显示。</a:t>
            </a:r>
          </a:p>
        </p:txBody>
      </p:sp>
      <p:grpSp>
        <p:nvGrpSpPr>
          <p:cNvPr id="321" name="组合 12"/>
          <p:cNvGrpSpPr/>
          <p:nvPr/>
        </p:nvGrpSpPr>
        <p:grpSpPr>
          <a:xfrm>
            <a:off x="1104899" y="4252462"/>
            <a:ext cx="1017474" cy="1017473"/>
            <a:chOff x="0" y="0"/>
            <a:chExt cx="1017472" cy="1017472"/>
          </a:xfrm>
        </p:grpSpPr>
        <p:sp>
          <p:nvSpPr>
            <p:cNvPr id="319" name="Step 1 title椭圆 14"/>
            <p:cNvSpPr/>
            <p:nvPr/>
          </p:nvSpPr>
          <p:spPr>
            <a:xfrm>
              <a:off x="-1" y="-1"/>
              <a:ext cx="1017474" cy="1017474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71000">
                  <a:schemeClr val="accent1"/>
                </a:gs>
                <a:gs pos="100000">
                  <a:schemeClr val="accent1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0" name="椭圆 4"/>
            <p:cNvSpPr txBox="1"/>
            <p:nvPr/>
          </p:nvSpPr>
          <p:spPr>
            <a:xfrm>
              <a:off x="149005" y="299185"/>
              <a:ext cx="719462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889000">
                <a:lnSpc>
                  <a:spcPct val="90000"/>
                </a:lnSpc>
                <a:spcBef>
                  <a:spcPts val="1000"/>
                </a:spcBef>
                <a:defRPr sz="2400" b="1">
                  <a:solidFill>
                    <a:srgbClr val="FF7E79"/>
                  </a:solidFill>
                  <a:latin typeface="宋体"/>
                  <a:ea typeface="宋体"/>
                  <a:cs typeface="宋体"/>
                  <a:sym typeface="宋体"/>
                </a:defRPr>
              </a:lvl1pPr>
            </a:lstStyle>
            <a:p>
              <a:r>
                <a:t>特点</a:t>
              </a:r>
            </a:p>
          </p:txBody>
        </p:sp>
      </p:grpSp>
      <p:sp>
        <p:nvSpPr>
          <p:cNvPr id="322" name="文本框 3"/>
          <p:cNvSpPr txBox="1"/>
          <p:nvPr/>
        </p:nvSpPr>
        <p:spPr>
          <a:xfrm>
            <a:off x="2317855" y="3596937"/>
            <a:ext cx="9211548" cy="258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595959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在浏览器中编辑代码时，具有</a:t>
            </a:r>
            <a:r>
              <a:rPr>
                <a:solidFill>
                  <a:srgbClr val="942193"/>
                </a:solidFill>
              </a:rPr>
              <a:t>自动语法</a:t>
            </a:r>
            <a:r>
              <a:t>高亮、缩进、tab补全的功能；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595959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具有在浏览器中</a:t>
            </a:r>
            <a:r>
              <a:rPr>
                <a:solidFill>
                  <a:srgbClr val="942193"/>
                </a:solidFill>
              </a:rPr>
              <a:t>执行代码</a:t>
            </a:r>
            <a:r>
              <a:t>的能力，同时在代码块下方展示计算结果；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595959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使用多媒体表示（如HTML、LaTeX、PNG、SVG等）</a:t>
            </a:r>
            <a:r>
              <a:rPr>
                <a:solidFill>
                  <a:srgbClr val="942193"/>
                </a:solidFill>
              </a:rPr>
              <a:t>显示计算结果</a:t>
            </a:r>
            <a:r>
              <a:t>。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595959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支持</a:t>
            </a:r>
            <a:r>
              <a:rPr>
                <a:solidFill>
                  <a:srgbClr val="942193"/>
                </a:solidFill>
              </a:rPr>
              <a:t>Markdown</a:t>
            </a:r>
            <a:r>
              <a:t>标记语言的语法，可以为代码提供注释而不是仅仅使用纯文本；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595959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t>支持使用</a:t>
            </a:r>
            <a:r>
              <a:rPr>
                <a:solidFill>
                  <a:srgbClr val="942193"/>
                </a:solidFill>
              </a:rPr>
              <a:t>LaTeX</a:t>
            </a:r>
            <a:r>
              <a:t>编写数学公式，并由MathJax进行及时呈现。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25" name="Content Placeholder 13"/>
          <p:cNvSpPr txBox="1"/>
          <p:nvPr/>
        </p:nvSpPr>
        <p:spPr>
          <a:xfrm>
            <a:off x="1245580" y="1285052"/>
            <a:ext cx="9889244" cy="4595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t>Jupyter Notebook的安装</a:t>
            </a:r>
          </a:p>
          <a:p>
            <a:pPr marL="685800" lvl="1" indent="-228600"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使用</a:t>
            </a:r>
            <a:r>
              <a:rPr b="1">
                <a:solidFill>
                  <a:srgbClr val="0433FF"/>
                </a:solidFill>
                <a:latin typeface="+mj-lt"/>
                <a:ea typeface="+mj-ea"/>
                <a:cs typeface="+mj-cs"/>
                <a:sym typeface="Euphemia"/>
              </a:rPr>
              <a:t>Anaconda</a:t>
            </a:r>
          </a:p>
          <a:p>
            <a:pPr marL="685800" lvl="1" indent="-228600"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使用</a:t>
            </a:r>
            <a:r>
              <a:rPr b="1">
                <a:solidFill>
                  <a:srgbClr val="0433FF"/>
                </a:solidFill>
                <a:latin typeface="+mj-lt"/>
                <a:ea typeface="+mj-ea"/>
                <a:cs typeface="+mj-cs"/>
                <a:sym typeface="Euphemia"/>
              </a:rPr>
              <a:t>pip</a:t>
            </a:r>
          </a:p>
          <a:p>
            <a:pPr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pip是Python包管理工具，该工具提供了对Python包的查找、下载、安装、卸载的功能，在Python 3.4+以上版本的系统中都自带了pip工具，可以通过“pip --version”命令来判断是否已安装pip。</a:t>
            </a:r>
          </a:p>
          <a:p>
            <a:pPr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用pip安装Jupyter Notebook的命令如下，在终端命令行中输入：</a:t>
            </a:r>
          </a:p>
        </p:txBody>
      </p:sp>
      <p:graphicFrame>
        <p:nvGraphicFramePr>
          <p:cNvPr id="326" name="表格 5"/>
          <p:cNvGraphicFramePr/>
          <p:nvPr/>
        </p:nvGraphicFramePr>
        <p:xfrm>
          <a:off x="1486569" y="4982166"/>
          <a:ext cx="9407266" cy="770533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9407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0533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  <a:sym typeface="宋体"/>
                        </a:defRPr>
                      </a:pPr>
                      <a:r>
                        <a:t>python3 -m pip install --upgrade pip     #更新pip工具</a:t>
                      </a:r>
                    </a:p>
                    <a:p>
                      <a:pPr algn="l">
                        <a:defRPr sz="2000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  <a:sym typeface="宋体"/>
                        </a:defRPr>
                      </a:pPr>
                      <a:r>
                        <a:t>python3 -m pip install jupyter</a:t>
                      </a:r>
                    </a:p>
                  </a:txBody>
                  <a:tcPr marL="45720" marR="45720" horzOverflow="overflow">
                    <a:lnB w="3810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F47B4-82C8-AB4E-934F-5EE9C9669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746" y="3429000"/>
            <a:ext cx="6710110" cy="3147844"/>
          </a:xfrm>
          <a:prstGeom prst="rect">
            <a:avLst/>
          </a:prstGeom>
        </p:spPr>
      </p:pic>
      <p:sp>
        <p:nvSpPr>
          <p:cNvPr id="328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29" name="Content Placeholder 13"/>
          <p:cNvSpPr txBox="1"/>
          <p:nvPr/>
        </p:nvSpPr>
        <p:spPr>
          <a:xfrm>
            <a:off x="1152138" y="1398069"/>
            <a:ext cx="9889243" cy="2795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t>Jupyter Notebook的启动</a:t>
            </a:r>
          </a:p>
          <a:p>
            <a:pPr algn="just"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可以通过点击Jupyter Notebook图标启动，还可以通过系统的终端窗口启动。</a:t>
            </a:r>
          </a:p>
        </p:txBody>
      </p:sp>
      <p:sp>
        <p:nvSpPr>
          <p:cNvPr id="331" name="矩形 3"/>
          <p:cNvSpPr txBox="1"/>
          <p:nvPr/>
        </p:nvSpPr>
        <p:spPr>
          <a:xfrm>
            <a:off x="1044697" y="3330032"/>
            <a:ext cx="4339049" cy="240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20000"/>
              </a:lnSpc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    运行以上命令，就会在终端窗口打开一个Jupyter Notebook的服务器，同时系统默认的浏览器中会同步启动Jupyter网页应用。浏览器地址栏中默认显示为：http://localhost:8888 其中，“localhost”指的是本机，“8888”是端口号</a:t>
            </a:r>
          </a:p>
        </p:txBody>
      </p:sp>
      <p:graphicFrame>
        <p:nvGraphicFramePr>
          <p:cNvPr id="332" name="表格 5"/>
          <p:cNvGraphicFramePr/>
          <p:nvPr/>
        </p:nvGraphicFramePr>
        <p:xfrm>
          <a:off x="3796258" y="2600089"/>
          <a:ext cx="5091113" cy="391767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91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1767">
                <a:tc>
                  <a:txBody>
                    <a:bodyPr/>
                    <a:lstStyle/>
                    <a:p>
                      <a:pPr algn="just">
                        <a:lnSpc>
                          <a:spcPts val="19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jupyter notebook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DC32489-4735-3249-B8F0-D9AE81B8E9A2}"/>
              </a:ext>
            </a:extLst>
          </p:cNvPr>
          <p:cNvSpPr/>
          <p:nvPr/>
        </p:nvSpPr>
        <p:spPr>
          <a:xfrm>
            <a:off x="7055775" y="3576421"/>
            <a:ext cx="1683026" cy="556591"/>
          </a:xfrm>
          <a:prstGeom prst="ellipse">
            <a:avLst/>
          </a:prstGeom>
          <a:noFill/>
          <a:ln w="48000" cap="flat">
            <a:solidFill>
              <a:srgbClr val="0432FF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Euphem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35" name="Content Placeholder 13"/>
          <p:cNvSpPr txBox="1"/>
          <p:nvPr/>
        </p:nvSpPr>
        <p:spPr>
          <a:xfrm>
            <a:off x="1151379" y="1428383"/>
            <a:ext cx="9889242" cy="4870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 defTabSz="877823">
              <a:spcBef>
                <a:spcPts val="1700"/>
              </a:spcBef>
              <a:defRPr sz="1727"/>
            </a:pPr>
            <a:r>
              <a:t> </a:t>
            </a:r>
            <a:r>
              <a:rPr sz="2304">
                <a:latin typeface="宋体"/>
                <a:ea typeface="宋体"/>
                <a:cs typeface="宋体"/>
                <a:sym typeface="宋体"/>
              </a:rPr>
              <a:t>注意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</a:p>
          <a:p>
            <a:pPr marL="219455" indent="-219455" algn="just" defTabSz="877823">
              <a:spcBef>
                <a:spcPts val="1700"/>
              </a:spcBef>
              <a:buSzPct val="100000"/>
              <a:buChar char="▪"/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在启动Jupyter Notebook服务器、进行网页应用操作的过程中，必须保持终端窗口的服务器程序的运行，不能关闭终端窗口。否则就会断开网页应用与本地服务器程序的链接，用户就无法在Jupyter网页应用中进行任何操作。</a:t>
            </a:r>
          </a:p>
          <a:p>
            <a:pPr marL="219455" indent="-219455" algn="just" defTabSz="877823">
              <a:spcBef>
                <a:spcPts val="1700"/>
              </a:spcBef>
              <a:buSzPct val="100000"/>
              <a:buChar char="▪"/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如果用户同时启动了多个Jupyter网页应用，重复使用“8888”的默认端口号会引起冲突。用户可以自定义端口号来启动Jupyter Notebook。</a:t>
            </a:r>
          </a:p>
          <a:p>
            <a:pPr defTabSz="877823">
              <a:spcBef>
                <a:spcPts val="1700"/>
              </a:spcBef>
              <a:defRPr sz="1727">
                <a:latin typeface="宋体"/>
                <a:ea typeface="宋体"/>
                <a:cs typeface="宋体"/>
                <a:sym typeface="宋体"/>
              </a:defRPr>
            </a:pPr>
            <a:endParaRPr/>
          </a:p>
          <a:p>
            <a:pPr defTabSz="877823">
              <a:spcBef>
                <a:spcPts val="1700"/>
              </a:spcBef>
              <a:defRPr sz="1727">
                <a:latin typeface="宋体"/>
                <a:ea typeface="宋体"/>
                <a:cs typeface="宋体"/>
                <a:sym typeface="宋体"/>
              </a:defRPr>
            </a:pPr>
            <a:r>
              <a:t>    </a:t>
            </a:r>
            <a:r>
              <a:rPr sz="1919"/>
              <a:t>其中，“&lt;port_number&gt;”是自定义端口号，直接以数字的形式写在命令当中，数字两边不加尖括号“&lt;&gt;”，如“jupyter notebook --port 9999”，即在服务器的“9999”号端口启动Jupyter网页应用</a:t>
            </a:r>
            <a:r>
              <a:t>。</a:t>
            </a:r>
            <a:endParaRPr sz="1919"/>
          </a:p>
        </p:txBody>
      </p:sp>
      <p:graphicFrame>
        <p:nvGraphicFramePr>
          <p:cNvPr id="336" name="表格 2"/>
          <p:cNvGraphicFramePr/>
          <p:nvPr>
            <p:extLst>
              <p:ext uri="{D42A27DB-BD31-4B8C-83A1-F6EECF244321}">
                <p14:modId xmlns:p14="http://schemas.microsoft.com/office/powerpoint/2010/main" val="3071991396"/>
              </p:ext>
            </p:extLst>
          </p:nvPr>
        </p:nvGraphicFramePr>
        <p:xfrm>
          <a:off x="3198320" y="3863779"/>
          <a:ext cx="5795360" cy="37538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79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386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9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jupyter notebook --port &lt;</a:t>
                      </a:r>
                      <a:r>
                        <a:rPr dirty="0" err="1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port_number</a:t>
                      </a:r>
                      <a:r>
                        <a:rPr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39" name="Content Placeholder 13"/>
          <p:cNvSpPr txBox="1"/>
          <p:nvPr/>
        </p:nvSpPr>
        <p:spPr>
          <a:xfrm>
            <a:off x="1151378" y="1405970"/>
            <a:ext cx="9889243" cy="1459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lnSpc>
                <a:spcPct val="170000"/>
              </a:lnSpc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执行完Jupyter Notebook服务器的启动命令之后，系统默认的浏览器会进入到Jupyter网页应用的主页面</a:t>
            </a:r>
          </a:p>
        </p:txBody>
      </p:sp>
      <p:pic>
        <p:nvPicPr>
          <p:cNvPr id="340" name="Picture 24" descr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710" y="2486601"/>
            <a:ext cx="7708180" cy="3871892"/>
          </a:xfrm>
          <a:prstGeom prst="rect">
            <a:avLst/>
          </a:prstGeom>
          <a:ln w="12700">
            <a:miter lim="400000"/>
          </a:ln>
        </p:spPr>
      </p:pic>
      <p:sp>
        <p:nvSpPr>
          <p:cNvPr id="341" name="矩形 5"/>
          <p:cNvSpPr txBox="1"/>
          <p:nvPr/>
        </p:nvSpPr>
        <p:spPr>
          <a:xfrm>
            <a:off x="846578" y="2630587"/>
            <a:ext cx="3093454" cy="3888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indent="266700" algn="just">
              <a:lnSpc>
                <a:spcPct val="150000"/>
              </a:lnSpc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   主页面是当前文件夹的文件管理界面，默认的文件夹为用户启动Jupyter服务器时所在的文件夹。用户可以根据自身需要，点击文件夹列表中的文件或者文件夹，设置Jupyter笔记本文档的存放路径。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44" name="矩形 5"/>
          <p:cNvSpPr txBox="1"/>
          <p:nvPr/>
        </p:nvSpPr>
        <p:spPr>
          <a:xfrm>
            <a:off x="1151378" y="1629621"/>
            <a:ext cx="9889243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indent="266700" algn="just">
              <a:lnSpc>
                <a:spcPct val="150000"/>
              </a:lnSpc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如果需要显示Jupyter的当前操作路径，可以在网页应用的单元格中输入下面的命令，按“Ctrl+Enter”组合键快捷运行，其结果显示当前默认的文件存储路径。</a:t>
            </a:r>
          </a:p>
        </p:txBody>
      </p:sp>
      <p:pic>
        <p:nvPicPr>
          <p:cNvPr id="345" name="Picture 38" descr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0" y="3829189"/>
            <a:ext cx="7145988" cy="24657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346" name="表格 2"/>
          <p:cNvGraphicFramePr/>
          <p:nvPr/>
        </p:nvGraphicFramePr>
        <p:xfrm>
          <a:off x="2654300" y="2867993"/>
          <a:ext cx="7145988" cy="6985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145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9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import os</a:t>
                      </a:r>
                    </a:p>
                    <a:p>
                      <a:pPr indent="127000" algn="just">
                        <a:lnSpc>
                          <a:spcPts val="19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print(os.path.abspath('.'))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49" name="Content Placeholder 13"/>
          <p:cNvSpPr txBox="1"/>
          <p:nvPr/>
        </p:nvSpPr>
        <p:spPr>
          <a:xfrm>
            <a:off x="1011679" y="1405970"/>
            <a:ext cx="9890760" cy="513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868680">
              <a:lnSpc>
                <a:spcPct val="120000"/>
              </a:lnSpc>
              <a:defRPr sz="2090">
                <a:latin typeface="宋体"/>
                <a:ea typeface="宋体"/>
                <a:cs typeface="宋体"/>
                <a:sym typeface="宋体"/>
              </a:defRPr>
            </a:pPr>
            <a:r>
              <a:t>更改Jupyter笔记本文件的默认存储位置：</a:t>
            </a:r>
          </a:p>
          <a:p>
            <a:pPr defTabSz="868680">
              <a:lnSpc>
                <a:spcPct val="120000"/>
              </a:lnSpc>
              <a:spcBef>
                <a:spcPts val="1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①   在终端窗口中</a:t>
            </a:r>
            <a:r>
              <a:rPr b="1">
                <a:solidFill>
                  <a:srgbClr val="0433FF"/>
                </a:solidFill>
                <a:latin typeface="+mj-lt"/>
                <a:ea typeface="+mj-ea"/>
                <a:cs typeface="+mj-cs"/>
                <a:sym typeface="Euphemia"/>
              </a:rPr>
              <a:t>输入“jupyter notebook --generate-config”命令</a:t>
            </a:r>
            <a:r>
              <a:t>，会得到一行提示信息：</a:t>
            </a:r>
            <a:r>
              <a:rPr sz="1710"/>
              <a:t>“</a:t>
            </a:r>
            <a:r>
              <a:rPr sz="1710">
                <a:solidFill>
                  <a:srgbClr val="009051"/>
                </a:solidFill>
                <a:latin typeface="Consolas"/>
                <a:ea typeface="Consolas"/>
                <a:cs typeface="Consolas"/>
                <a:sym typeface="Consolas"/>
              </a:rPr>
              <a:t>Writing default config to:  C:\Users\Administrator\.jupyter\ jupyter_notebook_config.py</a:t>
            </a:r>
            <a:r>
              <a:rPr sz="1710"/>
              <a:t>”</a:t>
            </a:r>
            <a:r>
              <a:t>，表示在默认路径下创建了Jupyter的配置文件“</a:t>
            </a:r>
            <a:r>
              <a:rPr>
                <a:solidFill>
                  <a:srgbClr val="942193"/>
                </a:solidFill>
                <a:latin typeface="Consolas"/>
                <a:ea typeface="Consolas"/>
                <a:cs typeface="Consolas"/>
                <a:sym typeface="Consolas"/>
              </a:rPr>
              <a:t>jupyter_notebook_config.py</a:t>
            </a:r>
            <a:r>
              <a:t>”</a:t>
            </a:r>
            <a:endParaRPr sz="2090"/>
          </a:p>
          <a:p>
            <a:pPr defTabSz="868680">
              <a:lnSpc>
                <a:spcPct val="120000"/>
              </a:lnSpc>
              <a:spcBef>
                <a:spcPts val="9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②  </a:t>
            </a:r>
            <a:r>
              <a:rPr b="1">
                <a:solidFill>
                  <a:srgbClr val="0433FF"/>
                </a:solidFill>
                <a:latin typeface="+mj-lt"/>
                <a:ea typeface="+mj-ea"/>
                <a:cs typeface="+mj-cs"/>
                <a:sym typeface="Euphemia"/>
              </a:rPr>
              <a:t> 用记事本或者其他文本编辑软件打开配置文件</a:t>
            </a:r>
            <a:r>
              <a:t>，并在配置文件中找到如下字符串：“</a:t>
            </a:r>
            <a:r>
              <a:rPr>
                <a:solidFill>
                  <a:srgbClr val="009051"/>
                </a:solidFill>
                <a:latin typeface="Consolas"/>
                <a:ea typeface="Consolas"/>
                <a:cs typeface="Consolas"/>
                <a:sym typeface="Consolas"/>
              </a:rPr>
              <a:t>#c.NotebookApp.notebook_dir = </a:t>
            </a:r>
            <a:r>
              <a:t>”，删除该行代码前面的“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t>”号。然后，在该行代码的“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t>”后面填写用户指定的Jupyter笔记本文件存储位置，例如：“</a:t>
            </a:r>
            <a:r>
              <a:rPr>
                <a:solidFill>
                  <a:srgbClr val="009051"/>
                </a:solidFill>
                <a:latin typeface="Consolas"/>
                <a:ea typeface="Consolas"/>
                <a:cs typeface="Consolas"/>
                <a:sym typeface="Consolas"/>
              </a:rPr>
              <a:t>c.NotebookApp.notebook_dir = ‘D:\Code\jupyter-notebook’</a:t>
            </a:r>
            <a:r>
              <a:t> ”</a:t>
            </a:r>
            <a:endParaRPr sz="2090"/>
          </a:p>
          <a:p>
            <a:pPr defTabSz="868680">
              <a:lnSpc>
                <a:spcPct val="120000"/>
              </a:lnSpc>
              <a:spcBef>
                <a:spcPts val="9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③   </a:t>
            </a:r>
            <a:r>
              <a:rPr b="1">
                <a:solidFill>
                  <a:srgbClr val="0433FF"/>
                </a:solidFill>
                <a:latin typeface="+mj-lt"/>
                <a:ea typeface="+mj-ea"/>
                <a:cs typeface="+mj-cs"/>
                <a:sym typeface="Euphemia"/>
              </a:rPr>
              <a:t>重新启动Jupyter Notebook</a:t>
            </a:r>
            <a:r>
              <a:t>，此时网页应用的工作目录已经更改为用户指定的目录。如果需要，用户可以编辑和修改配置文件，重新指定工作目录，而不需要再次创建配置文件。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52" name="Content Placeholder 13"/>
          <p:cNvSpPr txBox="1"/>
          <p:nvPr/>
        </p:nvSpPr>
        <p:spPr>
          <a:xfrm>
            <a:off x="1152137" y="1600200"/>
            <a:ext cx="9889244" cy="4595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t>Jupyter Notebook的基本使用</a:t>
            </a:r>
          </a:p>
          <a:p>
            <a:pPr marL="228600" indent="-228600"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Jupyter网页应用的主页面</a:t>
            </a:r>
          </a:p>
          <a:p>
            <a:pPr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endParaRPr/>
          </a:p>
          <a:p>
            <a:pPr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endParaRPr/>
          </a:p>
          <a:p>
            <a:pPr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11CC12-62A7-A2E5-E857-C5D9CF96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17443"/>
            <a:ext cx="7772400" cy="3377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56" name="Content Placeholder 13"/>
          <p:cNvSpPr txBox="1"/>
          <p:nvPr/>
        </p:nvSpPr>
        <p:spPr>
          <a:xfrm>
            <a:off x="1151378" y="1405970"/>
            <a:ext cx="9889244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228600" indent="-228600"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笔记本文档</a:t>
            </a:r>
          </a:p>
        </p:txBody>
      </p:sp>
      <p:pic>
        <p:nvPicPr>
          <p:cNvPr id="357" name="Picture 29" descr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076" y="1433146"/>
            <a:ext cx="6801326" cy="2358222"/>
          </a:xfrm>
          <a:prstGeom prst="rect">
            <a:avLst/>
          </a:prstGeom>
          <a:ln>
            <a:solidFill>
              <a:srgbClr val="5B9BD5"/>
            </a:solidFill>
          </a:ln>
        </p:spPr>
      </p:pic>
      <p:pic>
        <p:nvPicPr>
          <p:cNvPr id="358" name="Picture 34" descr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298" y="3924412"/>
            <a:ext cx="6806939" cy="23580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59" name="Code方式"/>
          <p:cNvSpPr txBox="1"/>
          <p:nvPr/>
        </p:nvSpPr>
        <p:spPr>
          <a:xfrm>
            <a:off x="2364935" y="2481579"/>
            <a:ext cx="128993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spcBef>
                <a:spcPts val="10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Code方式</a:t>
            </a:r>
          </a:p>
        </p:txBody>
      </p:sp>
      <p:sp>
        <p:nvSpPr>
          <p:cNvPr id="360" name="Markdown方式"/>
          <p:cNvSpPr txBox="1"/>
          <p:nvPr/>
        </p:nvSpPr>
        <p:spPr>
          <a:xfrm>
            <a:off x="1889405" y="4880008"/>
            <a:ext cx="178379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spcBef>
                <a:spcPts val="15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Markdown方式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 2.3 </a:t>
            </a:r>
            <a:r>
              <a:rPr dirty="0"/>
              <a:t> Jupyter </a:t>
            </a:r>
            <a:r>
              <a:rPr dirty="0" err="1"/>
              <a:t>Notebook的安装与使用</a:t>
            </a:r>
            <a:endParaRPr dirty="0"/>
          </a:p>
        </p:txBody>
      </p:sp>
      <p:sp>
        <p:nvSpPr>
          <p:cNvPr id="363" name="Content Placeholder 13"/>
          <p:cNvSpPr txBox="1"/>
          <p:nvPr/>
        </p:nvSpPr>
        <p:spPr>
          <a:xfrm>
            <a:off x="1074375" y="1600200"/>
            <a:ext cx="9889244" cy="4595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228600" indent="-228600"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Running标签与Clusters标签页面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endParaRPr/>
          </a:p>
        </p:txBody>
      </p:sp>
      <p:pic>
        <p:nvPicPr>
          <p:cNvPr id="364" name="Picture 42" descr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07" y="2374951"/>
            <a:ext cx="9829801" cy="36449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itle 1"/>
          <p:cNvSpPr txBox="1">
            <a:spLocks noGrp="1"/>
          </p:cNvSpPr>
          <p:nvPr>
            <p:ph type="ctrTitle"/>
          </p:nvPr>
        </p:nvSpPr>
        <p:spPr>
          <a:xfrm>
            <a:off x="688807" y="2561763"/>
            <a:ext cx="10814386" cy="1734474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 </a:t>
            </a:r>
            <a:r>
              <a:rPr lang="en-CN" dirty="0"/>
              <a:t> 2.4 </a:t>
            </a:r>
            <a:r>
              <a:rPr dirty="0"/>
              <a:t> </a:t>
            </a:r>
            <a:r>
              <a:rPr dirty="0" err="1"/>
              <a:t>Python</a:t>
            </a:r>
            <a:r>
              <a:rPr dirty="0" err="1">
                <a:latin typeface="+mn-lt"/>
                <a:ea typeface="+mn-ea"/>
                <a:cs typeface="+mn-cs"/>
                <a:sym typeface="Helvetica"/>
              </a:rPr>
              <a:t>第三方库的安装与使用</a:t>
            </a:r>
            <a:endParaRPr dirty="0"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</a:t>
            </a:r>
            <a:r>
              <a:rPr dirty="0" err="1">
                <a:latin typeface="+mn-lt"/>
                <a:ea typeface="+mn-ea"/>
                <a:cs typeface="+mn-cs"/>
                <a:sym typeface="Helvetica"/>
              </a:rPr>
              <a:t>第三方库的安装与使用</a:t>
            </a:r>
            <a:endParaRPr dirty="0"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69" name="Content Placeholder 13"/>
          <p:cNvSpPr txBox="1"/>
          <p:nvPr/>
        </p:nvSpPr>
        <p:spPr>
          <a:xfrm>
            <a:off x="1150619" y="1600200"/>
            <a:ext cx="9889243" cy="4336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 defTabSz="877823">
              <a:lnSpc>
                <a:spcPct val="150000"/>
              </a:lnSpc>
              <a:spcBef>
                <a:spcPts val="1700"/>
              </a:spcBef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    </a:t>
            </a:r>
            <a:r>
              <a:rPr sz="2112"/>
              <a:t>Python库是具有相关功能模块的程序的集合，是Python语言的主要特色之一。Python的库有三种，即具有强大功能的标准库、第三方库以及用户自定义模块。</a:t>
            </a:r>
          </a:p>
          <a:p>
            <a:pPr marL="219455" indent="-219455" algn="just" defTabSz="877823">
              <a:lnSpc>
                <a:spcPct val="150000"/>
              </a:lnSpc>
              <a:spcBef>
                <a:spcPts val="1700"/>
              </a:spcBef>
              <a:buSzPct val="100000"/>
              <a:buChar char="▪"/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标准库：</a:t>
            </a:r>
          </a:p>
          <a:p>
            <a:pPr marL="658368" lvl="1" indent="-219455" algn="just" defTabSz="877823">
              <a:lnSpc>
                <a:spcPct val="120000"/>
              </a:lnSpc>
              <a:buSzPct val="100000"/>
              <a:buChar char="✓"/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datetime，为日期和时间处理同时提供了简单和复杂的方法。</a:t>
            </a:r>
          </a:p>
          <a:p>
            <a:pPr marL="658368" lvl="1" indent="-219455" algn="just" defTabSz="877823">
              <a:lnSpc>
                <a:spcPct val="120000"/>
              </a:lnSpc>
              <a:buSzPct val="100000"/>
              <a:buChar char="✓"/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random，提供了生成随机数的工具。</a:t>
            </a:r>
          </a:p>
          <a:p>
            <a:pPr marL="658368" lvl="1" indent="-219455" algn="just" defTabSz="877823">
              <a:lnSpc>
                <a:spcPct val="120000"/>
              </a:lnSpc>
              <a:buSzPct val="100000"/>
              <a:buChar char="✓"/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math，为浮点运算提供了对底层C函数库的访问。</a:t>
            </a:r>
          </a:p>
          <a:p>
            <a:pPr marL="658368" lvl="1" indent="-219455" algn="just" defTabSz="877823">
              <a:lnSpc>
                <a:spcPct val="120000"/>
              </a:lnSpc>
              <a:buSzPct val="100000"/>
              <a:buChar char="✓"/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sys，定义的是一些和系统相关信息的模块，包括工具脚本经常调用的命令行参数。这些命令行参数以链表形式存储于sys模块的argv变量中。</a:t>
            </a:r>
          </a:p>
          <a:p>
            <a:pPr marL="658368" lvl="1" indent="-219455" algn="just" defTabSz="877823">
              <a:lnSpc>
                <a:spcPct val="120000"/>
              </a:lnSpc>
              <a:buSzPct val="100000"/>
              <a:buChar char="✓"/>
              <a:defRPr sz="1919">
                <a:latin typeface="宋体"/>
                <a:ea typeface="宋体"/>
                <a:cs typeface="宋体"/>
                <a:sym typeface="宋体"/>
              </a:defRPr>
            </a:pPr>
            <a:r>
              <a:t>os，包含数百个与操作系统相关联的函数，有路径操作、进程管理、环境参数等。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372" name="Content Placeholder 13"/>
          <p:cNvSpPr txBox="1"/>
          <p:nvPr/>
        </p:nvSpPr>
        <p:spPr>
          <a:xfrm>
            <a:off x="1152137" y="1600200"/>
            <a:ext cx="9889244" cy="4319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第三方库：世界范围内的Python开发人员提供的软件工具包即第三方库。访问Python库索引网址（https://pypi.org/），用户可以查看这些第三方库，并了解安装第三方库的方法</a:t>
            </a:r>
            <a:r>
              <a:rPr sz="1800"/>
              <a:t>。</a:t>
            </a:r>
          </a:p>
        </p:txBody>
      </p:sp>
      <p:pic>
        <p:nvPicPr>
          <p:cNvPr id="373" name="图片 2" descr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59" y="2954146"/>
            <a:ext cx="6207670" cy="32180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376" name="Content Placeholder 13"/>
          <p:cNvSpPr txBox="1"/>
          <p:nvPr/>
        </p:nvSpPr>
        <p:spPr>
          <a:xfrm>
            <a:off x="1151378" y="1712491"/>
            <a:ext cx="9889243" cy="1146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    </a:t>
            </a:r>
            <a:r>
              <a:rPr sz="2000"/>
              <a:t>常见的第三方库有matplotlib、NumPy、Pandas等等，可以提供绘制数据图形、进行数据转换和数据分析等功能。安装Python的第三方库（包）一般有三种方式：</a:t>
            </a:r>
          </a:p>
        </p:txBody>
      </p:sp>
      <p:sp>
        <p:nvSpPr>
          <p:cNvPr id="377" name="矩形 2"/>
          <p:cNvSpPr txBox="1"/>
          <p:nvPr/>
        </p:nvSpPr>
        <p:spPr>
          <a:xfrm>
            <a:off x="3748238" y="2889457"/>
            <a:ext cx="6004561" cy="153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500"/>
              </a:spcBef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使用pip命令在终端命令行窗口安装</a:t>
            </a:r>
          </a:p>
          <a:p>
            <a:pPr>
              <a:spcBef>
                <a:spcPts val="1500"/>
              </a:spcBef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借助包管理工具安装</a:t>
            </a:r>
          </a:p>
          <a:p>
            <a:pPr>
              <a:spcBef>
                <a:spcPts val="1500"/>
              </a:spcBef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下载源代码后安装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4EDE4A-179E-E11F-4F3F-41FAABA3F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05" y="2172099"/>
            <a:ext cx="9013390" cy="4070933"/>
          </a:xfrm>
          <a:prstGeom prst="rect">
            <a:avLst/>
          </a:prstGeom>
        </p:spPr>
      </p:pic>
      <p:sp>
        <p:nvSpPr>
          <p:cNvPr id="379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380" name="Content Placeholder 13"/>
          <p:cNvSpPr txBox="1"/>
          <p:nvPr/>
        </p:nvSpPr>
        <p:spPr>
          <a:xfrm>
            <a:off x="1151378" y="1630122"/>
            <a:ext cx="9890002" cy="4319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在系统终端窗口输入命令“pip -- help”可以查看pip命令的参数及其用法：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729E51-C31C-254E-9131-95DA7D46E70E}"/>
              </a:ext>
            </a:extLst>
          </p:cNvPr>
          <p:cNvSpPr/>
          <p:nvPr/>
        </p:nvSpPr>
        <p:spPr>
          <a:xfrm>
            <a:off x="3768490" y="2487020"/>
            <a:ext cx="1364973" cy="486145"/>
          </a:xfrm>
          <a:prstGeom prst="ellipse">
            <a:avLst/>
          </a:prstGeom>
          <a:noFill/>
          <a:ln w="48000" cap="flat">
            <a:solidFill>
              <a:srgbClr val="0432FF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Euphem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384" name="Content Placeholder 13"/>
          <p:cNvSpPr txBox="1"/>
          <p:nvPr/>
        </p:nvSpPr>
        <p:spPr>
          <a:xfrm>
            <a:off x="4472095" y="1687872"/>
            <a:ext cx="3437466" cy="642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常用的pip命令的含义和用法</a:t>
            </a:r>
          </a:p>
        </p:txBody>
      </p:sp>
      <p:graphicFrame>
        <p:nvGraphicFramePr>
          <p:cNvPr id="385" name="表格 3"/>
          <p:cNvGraphicFramePr/>
          <p:nvPr/>
        </p:nvGraphicFramePr>
        <p:xfrm>
          <a:off x="1389112" y="2483025"/>
          <a:ext cx="9134374" cy="30480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552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614">
                <a:tc>
                  <a:txBody>
                    <a:bodyPr/>
                    <a:lstStyle/>
                    <a:p>
                      <a:pPr indent="266700" algn="ctr">
                        <a:defRPr sz="2000" b="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pip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命令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defRPr sz="2000" b="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含义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 list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查看已经安装的库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2000" b="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pip install + &lt;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库名</a:t>
                      </a:r>
                      <a:r>
                        <a:t>&gt;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安装库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2000" b="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pip uninstall + &lt;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库名</a:t>
                      </a:r>
                      <a:r>
                        <a:t>&gt;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卸载已经安装的库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2000" b="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pip install -U&lt;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库名</a:t>
                      </a:r>
                      <a:r>
                        <a:t>&gt;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对某个模块或库的版本进行升级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2000" b="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pip show -f &lt;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库名</a:t>
                      </a:r>
                      <a:r>
                        <a:t>&gt;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显示库所在的目录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 freeze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查看当前已安装的包及其版本号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 list -o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查看当前可升级的包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 show pip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查看当前</a:t>
                      </a:r>
                      <a:r>
                        <a:t>pip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版本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614">
                <a:tc>
                  <a:txBody>
                    <a:bodyPr/>
                    <a:lstStyle/>
                    <a:p>
                      <a:pPr indent="266700"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 -m pip install --upgrade pip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实现对</a:t>
                      </a:r>
                      <a:r>
                        <a:t>pip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的升级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CC114B-1FA0-B80E-7A86-8B9048168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014" y="3429000"/>
            <a:ext cx="8709972" cy="3052403"/>
          </a:xfrm>
          <a:prstGeom prst="rect">
            <a:avLst/>
          </a:prstGeom>
        </p:spPr>
      </p:pic>
      <p:sp>
        <p:nvSpPr>
          <p:cNvPr id="387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388" name="Content Placeholder 13"/>
          <p:cNvSpPr txBox="1"/>
          <p:nvPr/>
        </p:nvSpPr>
        <p:spPr>
          <a:xfrm>
            <a:off x="1150619" y="1476116"/>
            <a:ext cx="9889243" cy="4389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rPr lang="zh-CN" noProof="0"/>
              <a:t>安装第三方库</a:t>
            </a:r>
          </a:p>
          <a:p>
            <a:pPr marL="228600" indent="-228600" algn="just">
              <a:lnSpc>
                <a:spcPct val="150000"/>
              </a:lnSpc>
              <a:spcBef>
                <a:spcPts val="1800"/>
              </a:spcBef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lang="zh-CN" noProof="0" dirty="0"/>
              <a:t>在安装第三方库前通过pip show pip命令查看当前pip版本，如版本过低，则安装第三方库时可能报错，因此需要先可以升级pip程序。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DA2EA3-52B4-E343-B588-876296F44D18}"/>
              </a:ext>
            </a:extLst>
          </p:cNvPr>
          <p:cNvSpPr/>
          <p:nvPr/>
        </p:nvSpPr>
        <p:spPr>
          <a:xfrm>
            <a:off x="3882108" y="3670802"/>
            <a:ext cx="3809609" cy="556591"/>
          </a:xfrm>
          <a:prstGeom prst="ellipse">
            <a:avLst/>
          </a:prstGeom>
          <a:noFill/>
          <a:ln w="48000" cap="flat">
            <a:solidFill>
              <a:srgbClr val="0432FF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Euphem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392" name="Content Placeholder 13"/>
          <p:cNvSpPr txBox="1"/>
          <p:nvPr/>
        </p:nvSpPr>
        <p:spPr>
          <a:xfrm>
            <a:off x="1152137" y="1600736"/>
            <a:ext cx="9889244" cy="1013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198881" indent="-198881" algn="just" defTabSz="795527">
              <a:lnSpc>
                <a:spcPct val="150000"/>
              </a:lnSpc>
              <a:spcBef>
                <a:spcPts val="1500"/>
              </a:spcBef>
              <a:buSzPct val="100000"/>
              <a:buChar char="▪"/>
              <a:defRPr sz="1740">
                <a:latin typeface="宋体"/>
                <a:ea typeface="宋体"/>
                <a:cs typeface="宋体"/>
                <a:sym typeface="宋体"/>
              </a:defRPr>
            </a:pPr>
            <a:r>
              <a:t>通过pip 指令进行安装，以安装xlwt包为例，其命令如下。</a:t>
            </a:r>
          </a:p>
        </p:txBody>
      </p:sp>
      <p:sp>
        <p:nvSpPr>
          <p:cNvPr id="393" name="Content Placeholder 13"/>
          <p:cNvSpPr txBox="1"/>
          <p:nvPr/>
        </p:nvSpPr>
        <p:spPr>
          <a:xfrm>
            <a:off x="1152137" y="2952057"/>
            <a:ext cx="9889244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如果该xlwt包已经安装，系统会出现“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Requirement already satisfied: xlwt</a:t>
            </a:r>
            <a:r>
              <a:t>” ，并指明该软件包的安装路径。如果是新安装软件，则会出现下载进度提示，并自动化安装完毕。</a:t>
            </a:r>
          </a:p>
        </p:txBody>
      </p:sp>
      <p:pic>
        <p:nvPicPr>
          <p:cNvPr id="394" name="图片 8" descr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585" y="4465898"/>
            <a:ext cx="7784830" cy="1984278"/>
          </a:xfrm>
          <a:prstGeom prst="rect">
            <a:avLst/>
          </a:prstGeom>
          <a:ln>
            <a:solidFill>
              <a:srgbClr val="FFFFF3"/>
            </a:solidFill>
          </a:ln>
        </p:spPr>
      </p:pic>
      <p:graphicFrame>
        <p:nvGraphicFramePr>
          <p:cNvPr id="395" name="表格 2"/>
          <p:cNvGraphicFramePr/>
          <p:nvPr/>
        </p:nvGraphicFramePr>
        <p:xfrm>
          <a:off x="2502568" y="2377201"/>
          <a:ext cx="6420050" cy="379087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42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087">
                <a:tc>
                  <a:txBody>
                    <a:bodyPr/>
                    <a:lstStyle/>
                    <a:p>
                      <a:pPr indent="266700" algn="l">
                        <a:lnSpc>
                          <a:spcPts val="19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pip install xlwt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06AE543-7D78-E948-A949-7F3263B80086}"/>
              </a:ext>
            </a:extLst>
          </p:cNvPr>
          <p:cNvSpPr/>
          <p:nvPr/>
        </p:nvSpPr>
        <p:spPr>
          <a:xfrm>
            <a:off x="3935897" y="4623150"/>
            <a:ext cx="1683026" cy="556591"/>
          </a:xfrm>
          <a:prstGeom prst="ellipse">
            <a:avLst/>
          </a:prstGeom>
          <a:noFill/>
          <a:ln w="48000" cap="flat">
            <a:solidFill>
              <a:schemeClr val="bg1">
                <a:lumMod val="50000"/>
              </a:schemeClr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Euphem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398" name="Content Placeholder 13"/>
          <p:cNvSpPr txBox="1"/>
          <p:nvPr/>
        </p:nvSpPr>
        <p:spPr>
          <a:xfrm>
            <a:off x="1152137" y="1911385"/>
            <a:ext cx="9889244" cy="386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>
              <a:lnSpc>
                <a:spcPct val="150000"/>
              </a:lnSpc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引入第三方库有两种方式：全局引入与局部引入。</a:t>
            </a:r>
          </a:p>
          <a:p>
            <a:pPr marL="228600" indent="-228600" algn="just">
              <a:lnSpc>
                <a:spcPct val="150000"/>
              </a:lnSpc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全局引入</a:t>
            </a:r>
          </a:p>
          <a:p>
            <a:pPr algn="just">
              <a:lnSpc>
                <a:spcPct val="150000"/>
              </a:lnSpc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被引用的第三方库中全部的函数和变量对该程序可见，用法为：</a:t>
            </a:r>
          </a:p>
          <a:p>
            <a:pPr algn="just">
              <a:lnSpc>
                <a:spcPct val="150000"/>
              </a:lnSpc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① </a:t>
            </a:r>
            <a:r>
              <a:rPr b="1">
                <a:solidFill>
                  <a:srgbClr val="0433FF"/>
                </a:solidFill>
                <a:latin typeface="+mj-lt"/>
                <a:ea typeface="+mj-ea"/>
                <a:cs typeface="+mj-cs"/>
                <a:sym typeface="Euphemia"/>
              </a:rPr>
              <a:t>import + &lt;第三方库名&gt;</a:t>
            </a:r>
            <a:r>
              <a:t>，例如：</a:t>
            </a:r>
            <a:r>
              <a:rPr>
                <a:solidFill>
                  <a:srgbClr val="942193"/>
                </a:solidFill>
                <a:latin typeface="Consolas"/>
                <a:ea typeface="Consolas"/>
                <a:cs typeface="Consolas"/>
                <a:sym typeface="Consolas"/>
              </a:rPr>
              <a:t>import numpy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algn="just">
              <a:lnSpc>
                <a:spcPct val="150000"/>
              </a:lnSpc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② </a:t>
            </a:r>
            <a:r>
              <a:rPr b="1">
                <a:solidFill>
                  <a:srgbClr val="0433FF"/>
                </a:solidFill>
                <a:latin typeface="+mj-lt"/>
                <a:ea typeface="+mj-ea"/>
                <a:cs typeface="+mj-cs"/>
                <a:sym typeface="Euphemia"/>
              </a:rPr>
              <a:t>from + &lt;第三方库名&gt; import *</a:t>
            </a:r>
            <a:r>
              <a:t>，例如：</a:t>
            </a:r>
            <a:r>
              <a:rPr>
                <a:solidFill>
                  <a:srgbClr val="942193"/>
                </a:solidFill>
                <a:latin typeface="Consolas"/>
                <a:ea typeface="Consolas"/>
                <a:cs typeface="Consolas"/>
                <a:sym typeface="Consolas"/>
              </a:rPr>
              <a:t>from numpy import </a:t>
            </a:r>
            <a:r>
              <a:rPr>
                <a:solidFill>
                  <a:srgbClr val="942193"/>
                </a:solidFill>
              </a:rPr>
              <a:t>*</a:t>
            </a:r>
          </a:p>
        </p:txBody>
      </p:sp>
      <p:sp>
        <p:nvSpPr>
          <p:cNvPr id="399" name="矩形 2"/>
          <p:cNvSpPr txBox="1"/>
          <p:nvPr/>
        </p:nvSpPr>
        <p:spPr>
          <a:xfrm>
            <a:off x="1152137" y="4449778"/>
            <a:ext cx="9889244" cy="1546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</a:t>
            </a:r>
            <a:r>
              <a:rPr b="0">
                <a:latin typeface="宋体"/>
                <a:ea typeface="宋体"/>
                <a:cs typeface="宋体"/>
                <a:sym typeface="宋体"/>
              </a:rPr>
              <a:t>两者的区别在于调用其内容的方法有所不同</a:t>
            </a:r>
          </a:p>
          <a:p>
            <a:pPr algn="just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以调用</a:t>
            </a:r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库中的</a:t>
            </a:r>
            <a:r>
              <a:t>random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模块为例，使用第一种方式引入</a:t>
            </a:r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时，程序中需要要用</a:t>
            </a:r>
            <a:r>
              <a:t>numpy.random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（注意加上</a:t>
            </a:r>
            <a:r>
              <a:t>numpy.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）来调用</a:t>
            </a:r>
            <a:r>
              <a:t>random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模块；而采用第二种方式引入时，可以直接输入</a:t>
            </a:r>
            <a:r>
              <a:t>random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即可。</a:t>
            </a:r>
          </a:p>
        </p:txBody>
      </p:sp>
      <p:sp>
        <p:nvSpPr>
          <p:cNvPr id="400" name="矩形 3"/>
          <p:cNvSpPr txBox="1"/>
          <p:nvPr/>
        </p:nvSpPr>
        <p:spPr>
          <a:xfrm>
            <a:off x="1150619" y="1378819"/>
            <a:ext cx="3120558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50000"/>
              </a:lnSpc>
              <a:defRPr sz="24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使用第三方库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403" name="Content Placeholder 13"/>
          <p:cNvSpPr txBox="1"/>
          <p:nvPr/>
        </p:nvSpPr>
        <p:spPr>
          <a:xfrm>
            <a:off x="1258015" y="1329698"/>
            <a:ext cx="9352861" cy="1980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169163" indent="-169163" algn="just" defTabSz="676655">
              <a:lnSpc>
                <a:spcPct val="150000"/>
              </a:lnSpc>
              <a:buSzPct val="100000"/>
              <a:buChar char="▪"/>
              <a:defRPr sz="1480">
                <a:latin typeface="宋体"/>
                <a:ea typeface="宋体"/>
                <a:cs typeface="宋体"/>
                <a:sym typeface="宋体"/>
              </a:defRPr>
            </a:pPr>
            <a:r>
              <a:rPr sz="1600" b="1" dirty="0" err="1">
                <a:solidFill>
                  <a:srgbClr val="0432FF"/>
                </a:solidFill>
              </a:rPr>
              <a:t>局部引入</a:t>
            </a:r>
            <a:endParaRPr sz="1600" b="1" dirty="0">
              <a:solidFill>
                <a:srgbClr val="0432FF"/>
              </a:solidFill>
            </a:endParaRPr>
          </a:p>
          <a:p>
            <a:pPr algn="just" defTabSz="676655">
              <a:lnSpc>
                <a:spcPct val="150000"/>
              </a:lnSpc>
              <a:defRPr sz="148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   </a:t>
            </a:r>
            <a:r>
              <a:rPr dirty="0" err="1"/>
              <a:t>引入方式为：from</a:t>
            </a:r>
            <a:r>
              <a:rPr dirty="0"/>
              <a:t> &lt;</a:t>
            </a:r>
            <a:r>
              <a:rPr dirty="0" err="1"/>
              <a:t>第三方库名</a:t>
            </a:r>
            <a:r>
              <a:rPr dirty="0"/>
              <a:t>&gt; import &lt;</a:t>
            </a:r>
            <a:r>
              <a:rPr dirty="0" err="1"/>
              <a:t>函数名</a:t>
            </a:r>
            <a:r>
              <a:rPr dirty="0"/>
              <a:t>/</a:t>
            </a:r>
            <a:r>
              <a:rPr dirty="0" err="1"/>
              <a:t>模块名</a:t>
            </a:r>
            <a:r>
              <a:rPr dirty="0"/>
              <a:t>&gt;。</a:t>
            </a:r>
          </a:p>
          <a:p>
            <a:pPr algn="just" defTabSz="676655">
              <a:lnSpc>
                <a:spcPct val="150000"/>
              </a:lnSpc>
              <a:defRPr sz="148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   采用这种引入方式，调用被引入的函数时，可以直接使用函数名而无须在前面加上包的名字。但是，如果出现了在不同的包中有同名的函数模块时，就会出现方法命名重复的情况，此时就需要把包的名字添加到函数模块之前加以明确</a:t>
            </a:r>
            <a:r>
              <a:rPr lang="en-CN" dirty="0"/>
              <a:t>。</a:t>
            </a:r>
            <a:endParaRPr dirty="0"/>
          </a:p>
        </p:txBody>
      </p:sp>
      <p:sp>
        <p:nvSpPr>
          <p:cNvPr id="404" name="矩形 3"/>
          <p:cNvSpPr txBox="1"/>
          <p:nvPr/>
        </p:nvSpPr>
        <p:spPr>
          <a:xfrm>
            <a:off x="8510100" y="3648485"/>
            <a:ext cx="2100776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indent="266700" algn="just"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3</a:t>
            </a:r>
          </a:p>
          <a:p>
            <a:pPr indent="266700" algn="just"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[[7 2]</a:t>
            </a:r>
          </a:p>
          <a:p>
            <a:pPr indent="266700" algn="just"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 [5 7]</a:t>
            </a:r>
          </a:p>
          <a:p>
            <a:pPr indent="266700" algn="just"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 [3 5]]</a:t>
            </a:r>
          </a:p>
          <a:p>
            <a:pPr indent="266700" algn="just"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2</a:t>
            </a:r>
          </a:p>
        </p:txBody>
      </p:sp>
      <p:graphicFrame>
        <p:nvGraphicFramePr>
          <p:cNvPr id="405" name="表格 2"/>
          <p:cNvGraphicFramePr/>
          <p:nvPr/>
        </p:nvGraphicFramePr>
        <p:xfrm>
          <a:off x="1732278" y="3548155"/>
          <a:ext cx="5000625" cy="177984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2212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from numpy import random</a:t>
                      </a:r>
                    </a:p>
                    <a:p>
                      <a:pPr algn="just">
                        <a:lnSpc>
                          <a:spcPct val="1500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print(random.randint(1,8))</a:t>
                      </a:r>
                    </a:p>
                    <a:p>
                      <a:pPr algn="just">
                        <a:lnSpc>
                          <a:spcPct val="1500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print(random.randint(1,8,(3,2)))</a:t>
                      </a:r>
                    </a:p>
                    <a:p>
                      <a:pPr algn="just">
                        <a:lnSpc>
                          <a:spcPct val="1500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print(random.randint(1,8))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6" name="文本框 7"/>
          <p:cNvSpPr txBox="1"/>
          <p:nvPr/>
        </p:nvSpPr>
        <p:spPr>
          <a:xfrm>
            <a:off x="6929251" y="4169185"/>
            <a:ext cx="139085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/>
            </a:lvl1pPr>
          </a:lstStyle>
          <a:p>
            <a:r>
              <a:t>运行结果为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2.4</a:t>
            </a:r>
            <a:r>
              <a:rPr dirty="0"/>
              <a:t> </a:t>
            </a:r>
            <a:r>
              <a:rPr dirty="0" err="1"/>
              <a:t>Python第三方库的安装与使用</a:t>
            </a:r>
            <a:endParaRPr dirty="0"/>
          </a:p>
        </p:txBody>
      </p:sp>
      <p:sp>
        <p:nvSpPr>
          <p:cNvPr id="409" name="Content Placeholder 13"/>
          <p:cNvSpPr txBox="1"/>
          <p:nvPr/>
        </p:nvSpPr>
        <p:spPr>
          <a:xfrm>
            <a:off x="1152137" y="1600200"/>
            <a:ext cx="9889244" cy="2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228600" indent="-228600" algn="just">
              <a:lnSpc>
                <a:spcPct val="150000"/>
              </a:lnSpc>
              <a:buSzPct val="100000"/>
              <a:buChar char="▪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使用别名引入：</a:t>
            </a:r>
          </a:p>
          <a:p>
            <a:pPr algn="just">
              <a:lnSpc>
                <a:spcPct val="150000"/>
              </a:lnSpc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用户可以使用别名进行包的引入，引用方式为：</a:t>
            </a:r>
          </a:p>
          <a:p>
            <a:pPr algn="ctr">
              <a:lnSpc>
                <a:spcPct val="150000"/>
              </a:lnSpc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</a:t>
            </a:r>
            <a:r>
              <a:rPr b="1">
                <a:solidFill>
                  <a:srgbClr val="0433FF"/>
                </a:solidFill>
                <a:latin typeface="+mj-lt"/>
                <a:ea typeface="+mj-ea"/>
                <a:cs typeface="+mj-cs"/>
                <a:sym typeface="Euphemia"/>
              </a:rPr>
              <a:t>import &lt;第三方库名&gt; as &lt;别名&gt;</a:t>
            </a:r>
          </a:p>
        </p:txBody>
      </p:sp>
      <p:graphicFrame>
        <p:nvGraphicFramePr>
          <p:cNvPr id="410" name="表格 2"/>
          <p:cNvGraphicFramePr/>
          <p:nvPr/>
        </p:nvGraphicFramePr>
        <p:xfrm>
          <a:off x="1751797" y="3278433"/>
          <a:ext cx="7197129" cy="131813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197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96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import numpy as np</a:t>
                      </a:r>
                    </a:p>
                    <a:p>
                      <a:pPr algn="just">
                        <a:lnSpc>
                          <a:spcPct val="1500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print(np.random.randint(1,8,(3,2)))</a:t>
                      </a:r>
                    </a:p>
                    <a:p>
                      <a:pPr algn="just">
                        <a:lnSpc>
                          <a:spcPct val="150000"/>
                        </a:lnSpc>
                        <a:defRPr sz="20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#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在</a:t>
                      </a:r>
                      <a:r>
                        <a:t>1-8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的整数中随机创建</a:t>
                      </a:r>
                      <a:r>
                        <a:t>3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行</a:t>
                      </a:r>
                      <a:r>
                        <a:t>2</a:t>
                      </a:r>
                      <a:r>
                        <a:rPr>
                          <a:latin typeface="宋体"/>
                          <a:ea typeface="宋体"/>
                          <a:cs typeface="宋体"/>
                          <a:sym typeface="宋体"/>
                        </a:rPr>
                        <a:t>列的数组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1" name="矩形 3"/>
          <p:cNvSpPr txBox="1"/>
          <p:nvPr/>
        </p:nvSpPr>
        <p:spPr>
          <a:xfrm>
            <a:off x="1797517" y="4835166"/>
            <a:ext cx="6004561" cy="823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ts val="1900"/>
              </a:lnSpc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 [[4 3]</a:t>
            </a:r>
          </a:p>
          <a:p>
            <a:pPr algn="just">
              <a:lnSpc>
                <a:spcPts val="1900"/>
              </a:lnSpc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 [2 7]</a:t>
            </a:r>
          </a:p>
          <a:p>
            <a:pPr algn="just">
              <a:lnSpc>
                <a:spcPts val="1900"/>
              </a:lnSpc>
              <a:defRPr>
                <a:latin typeface="Consolas"/>
                <a:ea typeface="Consolas"/>
                <a:cs typeface="Consolas"/>
                <a:sym typeface="Consolas"/>
              </a:defRPr>
            </a:pPr>
            <a:r>
              <a:t> [6 7]]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itle 1"/>
          <p:cNvSpPr txBox="1">
            <a:spLocks noGrp="1"/>
          </p:cNvSpPr>
          <p:nvPr>
            <p:ph type="ctrTitle"/>
          </p:nvPr>
        </p:nvSpPr>
        <p:spPr>
          <a:xfrm>
            <a:off x="688807" y="2561763"/>
            <a:ext cx="10814386" cy="1734474"/>
          </a:xfrm>
          <a:prstGeom prst="rect">
            <a:avLst/>
          </a:prstGeom>
        </p:spPr>
        <p:txBody>
          <a:bodyPr/>
          <a:lstStyle/>
          <a:p>
            <a:pPr algn="ctr"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</a:t>
            </a:r>
            <a:r>
              <a:rPr lang="en-CN" dirty="0"/>
              <a:t>2.5</a:t>
            </a:r>
            <a:r>
              <a:rPr dirty="0">
                <a:latin typeface="Plantagenet Cherokee"/>
                <a:ea typeface="Plantagenet Cherokee"/>
                <a:cs typeface="Plantagenet Cherokee"/>
                <a:sym typeface="Plantagenet Cherokee"/>
              </a:rPr>
              <a:t> </a:t>
            </a:r>
            <a:r>
              <a:rPr dirty="0" err="1">
                <a:latin typeface="Plantagenet Cherokee"/>
                <a:ea typeface="Plantagenet Cherokee"/>
                <a:cs typeface="Plantagenet Cherokee"/>
                <a:sym typeface="Plantagenet Cherokee"/>
              </a:rPr>
              <a:t>Python</a:t>
            </a:r>
            <a:r>
              <a:rPr dirty="0" err="1"/>
              <a:t>的集成开发环境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2.5</a:t>
            </a:r>
            <a:r>
              <a:rPr dirty="0"/>
              <a:t> </a:t>
            </a:r>
            <a:r>
              <a:rPr dirty="0" err="1"/>
              <a:t>Python的集成开发环境</a:t>
            </a:r>
            <a:endParaRPr dirty="0"/>
          </a:p>
        </p:txBody>
      </p:sp>
      <p:sp>
        <p:nvSpPr>
          <p:cNvPr id="416" name="Content Placeholder 13"/>
          <p:cNvSpPr txBox="1"/>
          <p:nvPr/>
        </p:nvSpPr>
        <p:spPr>
          <a:xfrm>
            <a:off x="1151378" y="1404725"/>
            <a:ext cx="9889243" cy="318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集成开发环境（IDE，Integrated Development Environment）是用于提供程序开发环境的应用程序。IDE集成了众多专门为软件开发而设计的工具，一般包括代码编辑器、编译器、调试器和图形用户界面等工具，集成了代码编写功能、分析功能、编译功能、调试功能等一体化的开发软件服务套件。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702A8A-7C1E-F65E-5D10-2F8A6975F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868" y="3429000"/>
            <a:ext cx="8864264" cy="2934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2.5</a:t>
            </a:r>
            <a:r>
              <a:rPr dirty="0"/>
              <a:t> </a:t>
            </a:r>
            <a:r>
              <a:rPr dirty="0" err="1"/>
              <a:t>Python的集成开发环境</a:t>
            </a:r>
            <a:endParaRPr dirty="0"/>
          </a:p>
        </p:txBody>
      </p:sp>
      <p:sp>
        <p:nvSpPr>
          <p:cNvPr id="420" name="Content Placeholder 13"/>
          <p:cNvSpPr txBox="1"/>
          <p:nvPr/>
        </p:nvSpPr>
        <p:spPr>
          <a:xfrm>
            <a:off x="1152137" y="1436569"/>
            <a:ext cx="9889244" cy="2306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spcBef>
                <a:spcPts val="1800"/>
              </a:spcBef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t>（1）IDLE</a:t>
            </a:r>
            <a:endParaRPr sz="2000"/>
          </a:p>
          <a:p>
            <a:pPr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    IDLE（http://docs.python.org/3/library/idle.html）是唯一一个Python标准发行版中包含的Python IDE。它是采用Python的图形界面库Tkinter开发的，操作界面较为简单，主要以纯文本输入代码的方式为主，不适用于大型的程序开发和软件项目。</a:t>
            </a:r>
          </a:p>
        </p:txBody>
      </p:sp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61" y="3217243"/>
            <a:ext cx="6757819" cy="27432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2.5</a:t>
            </a:r>
            <a:r>
              <a:rPr dirty="0"/>
              <a:t> </a:t>
            </a:r>
            <a:r>
              <a:rPr dirty="0" err="1"/>
              <a:t>Python的集成开发环境</a:t>
            </a:r>
            <a:endParaRPr dirty="0"/>
          </a:p>
        </p:txBody>
      </p:sp>
      <p:sp>
        <p:nvSpPr>
          <p:cNvPr id="424" name="Content Placeholder 13"/>
          <p:cNvSpPr txBox="1"/>
          <p:nvPr/>
        </p:nvSpPr>
        <p:spPr>
          <a:xfrm>
            <a:off x="1152137" y="1361538"/>
            <a:ext cx="9889244" cy="1954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795527">
              <a:spcBef>
                <a:spcPts val="1500"/>
              </a:spcBef>
              <a:defRPr sz="2088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（2）PyCharm</a:t>
            </a:r>
          </a:p>
          <a:p>
            <a:pPr algn="just" defTabSz="795527">
              <a:defRPr sz="174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   </a:t>
            </a:r>
            <a:r>
              <a:rPr dirty="0" err="1"/>
              <a:t>PyCharm（http</a:t>
            </a:r>
            <a:r>
              <a:rPr dirty="0"/>
              <a:t>://</a:t>
            </a:r>
            <a:r>
              <a:rPr dirty="0" err="1"/>
              <a:t>www.jetbrains.com</a:t>
            </a:r>
            <a:r>
              <a:rPr dirty="0"/>
              <a:t>/</a:t>
            </a:r>
            <a:r>
              <a:rPr dirty="0" err="1"/>
              <a:t>pycharm</a:t>
            </a:r>
            <a:r>
              <a:rPr dirty="0"/>
              <a:t>/）</a:t>
            </a:r>
            <a:r>
              <a:rPr dirty="0" err="1"/>
              <a:t>是由JetBrains开发的Python</a:t>
            </a:r>
            <a:r>
              <a:rPr dirty="0"/>
              <a:t> IDE，具有一般IDE的功能，如代码调试、语法高亮、Project管理、代码跳转、智能提示、自动补充、单元测试、版本控制等。此外，PyCharm还提供了一些高级功能，可以用于支持Django框架下的专业Web开发、Google App </a:t>
            </a:r>
            <a:r>
              <a:rPr dirty="0" err="1"/>
              <a:t>Engine、IronPython</a:t>
            </a:r>
            <a:r>
              <a:rPr dirty="0"/>
              <a:t>。</a:t>
            </a:r>
          </a:p>
          <a:p>
            <a:pPr algn="just" defTabSz="795527">
              <a:defRPr sz="1566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   </a:t>
            </a:r>
          </a:p>
        </p:txBody>
      </p:sp>
      <p:pic>
        <p:nvPicPr>
          <p:cNvPr id="42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09" y="3248525"/>
            <a:ext cx="5171892" cy="3074036"/>
          </a:xfrm>
          <a:prstGeom prst="rect">
            <a:avLst/>
          </a:prstGeom>
          <a:ln w="12700">
            <a:miter lim="400000"/>
          </a:ln>
        </p:spPr>
      </p:pic>
      <p:sp>
        <p:nvSpPr>
          <p:cNvPr id="426" name="Content Placeholder 13"/>
          <p:cNvSpPr txBox="1"/>
          <p:nvPr/>
        </p:nvSpPr>
        <p:spPr>
          <a:xfrm>
            <a:off x="7251832" y="3980134"/>
            <a:ext cx="3789548" cy="2478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228600" indent="-228600" algn="just">
              <a:lnSpc>
                <a:spcPct val="120000"/>
              </a:lnSpc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协助代码编辑</a:t>
            </a:r>
            <a:endParaRPr dirty="0"/>
          </a:p>
          <a:p>
            <a:pPr marL="228600" indent="-228600" algn="just">
              <a:lnSpc>
                <a:spcPct val="120000"/>
              </a:lnSpc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支持代码分析</a:t>
            </a:r>
            <a:endParaRPr dirty="0"/>
          </a:p>
          <a:p>
            <a:pPr marL="228600" indent="-228600" algn="just">
              <a:lnSpc>
                <a:spcPct val="120000"/>
              </a:lnSpc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程序管理与框架重构</a:t>
            </a:r>
            <a:endParaRPr dirty="0"/>
          </a:p>
          <a:p>
            <a:pPr marL="228600" indent="-228600" algn="just">
              <a:lnSpc>
                <a:spcPct val="120000"/>
              </a:lnSpc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支持Django</a:t>
            </a:r>
            <a:endParaRPr dirty="0"/>
          </a:p>
          <a:p>
            <a:pPr marL="228600" indent="-228600" algn="just">
              <a:lnSpc>
                <a:spcPct val="120000"/>
              </a:lnSpc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图形页面调试器</a:t>
            </a:r>
            <a:endParaRPr dirty="0"/>
          </a:p>
        </p:txBody>
      </p:sp>
      <p:sp>
        <p:nvSpPr>
          <p:cNvPr id="427" name="矩形 6"/>
          <p:cNvSpPr txBox="1"/>
          <p:nvPr/>
        </p:nvSpPr>
        <p:spPr>
          <a:xfrm>
            <a:off x="7051661" y="3455468"/>
            <a:ext cx="3894668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Pycharm的主要功能</a:t>
            </a:r>
            <a:r>
              <a:rPr sz="1800" dirty="0"/>
              <a:t>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2.5</a:t>
            </a:r>
            <a:r>
              <a:rPr dirty="0"/>
              <a:t> </a:t>
            </a:r>
            <a:r>
              <a:rPr dirty="0" err="1"/>
              <a:t>Python的集成开发环境</a:t>
            </a:r>
            <a:endParaRPr dirty="0"/>
          </a:p>
        </p:txBody>
      </p:sp>
      <p:sp>
        <p:nvSpPr>
          <p:cNvPr id="430" name="Content Placeholder 13"/>
          <p:cNvSpPr txBox="1"/>
          <p:nvPr/>
        </p:nvSpPr>
        <p:spPr>
          <a:xfrm>
            <a:off x="1150619" y="1600200"/>
            <a:ext cx="9889244" cy="1400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841247">
              <a:spcBef>
                <a:spcPts val="1600"/>
              </a:spcBef>
              <a:defRPr sz="2208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（3）Sublime Text</a:t>
            </a:r>
          </a:p>
          <a:p>
            <a:pPr algn="just" defTabSz="841247">
              <a:defRPr sz="184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   Sublime Text在支持Python代码编辑的同时可以兼容所有平台，并且其丰富的插件扩展了语法和编辑功能，通过安装使用插件，可以支持用户的前端工作。</a:t>
            </a:r>
          </a:p>
          <a:p>
            <a:pPr algn="just" defTabSz="841247">
              <a:defRPr sz="1656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    </a:t>
            </a:r>
          </a:p>
        </p:txBody>
      </p:sp>
      <p:pic>
        <p:nvPicPr>
          <p:cNvPr id="431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180" y="3000675"/>
            <a:ext cx="5245099" cy="2761224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文本框 5"/>
          <p:cNvSpPr txBox="1"/>
          <p:nvPr/>
        </p:nvSpPr>
        <p:spPr>
          <a:xfrm>
            <a:off x="7199894" y="3857323"/>
            <a:ext cx="23164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Char char="✓"/>
              <a:defRPr sz="2000"/>
            </a:pPr>
            <a:r>
              <a:rPr dirty="0" err="1">
                <a:latin typeface="SimSun" panose="02010600030101010101" pitchFamily="2" charset="-122"/>
                <a:ea typeface="SimSun" panose="02010600030101010101" pitchFamily="2" charset="-122"/>
              </a:rPr>
              <a:t>GOTO功能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buSzPct val="100000"/>
              <a:buChar char="✓"/>
              <a:defRPr sz="2000"/>
            </a:pPr>
            <a:r>
              <a:rPr dirty="0" err="1">
                <a:latin typeface="SimSun" panose="02010600030101010101" pitchFamily="2" charset="-122"/>
                <a:ea typeface="SimSun" panose="02010600030101010101" pitchFamily="2" charset="-122"/>
              </a:rPr>
              <a:t>多重选择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buSzPct val="100000"/>
              <a:buChar char="✓"/>
              <a:defRPr sz="2000"/>
            </a:pPr>
            <a:r>
              <a:rPr dirty="0" err="1">
                <a:latin typeface="SimSun" panose="02010600030101010101" pitchFamily="2" charset="-122"/>
                <a:ea typeface="SimSun" panose="02010600030101010101" pitchFamily="2" charset="-122"/>
              </a:rPr>
              <a:t>命令面板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buSzPct val="100000"/>
              <a:buChar char="✓"/>
              <a:defRPr sz="2000"/>
            </a:pPr>
            <a:r>
              <a:rPr dirty="0" err="1">
                <a:latin typeface="SimSun" panose="02010600030101010101" pitchFamily="2" charset="-122"/>
                <a:ea typeface="SimSun" panose="02010600030101010101" pitchFamily="2" charset="-122"/>
              </a:rPr>
              <a:t>分割编辑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buSzPct val="100000"/>
              <a:buChar char="✓"/>
              <a:defRPr sz="2000"/>
            </a:pPr>
            <a:r>
              <a:rPr dirty="0" err="1">
                <a:latin typeface="SimSun" panose="02010600030101010101" pitchFamily="2" charset="-122"/>
                <a:ea typeface="SimSun" panose="02010600030101010101" pitchFamily="2" charset="-122"/>
              </a:rPr>
              <a:t>编码协助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33" name="矩形 6"/>
          <p:cNvSpPr txBox="1"/>
          <p:nvPr/>
        </p:nvSpPr>
        <p:spPr>
          <a:xfrm>
            <a:off x="6811096" y="3198166"/>
            <a:ext cx="3894668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rPr lang="en-US" altLang="zh-CN" dirty="0"/>
              <a:t>Sublime</a:t>
            </a:r>
            <a:r>
              <a:rPr lang="zh-CN" altLang="en-US" dirty="0"/>
              <a:t> </a:t>
            </a:r>
            <a:r>
              <a:rPr lang="en-US" altLang="zh-CN" dirty="0" err="1"/>
              <a:t>Text</a:t>
            </a:r>
            <a:r>
              <a:rPr dirty="0" err="1"/>
              <a:t>的主要功能</a:t>
            </a:r>
            <a:r>
              <a:rPr sz="1800" dirty="0"/>
              <a:t>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 dirty="0"/>
              <a:t>2.5</a:t>
            </a:r>
            <a:r>
              <a:rPr dirty="0"/>
              <a:t> </a:t>
            </a:r>
            <a:r>
              <a:rPr dirty="0" err="1"/>
              <a:t>Python的集成开发环境</a:t>
            </a:r>
            <a:endParaRPr dirty="0"/>
          </a:p>
        </p:txBody>
      </p:sp>
      <p:sp>
        <p:nvSpPr>
          <p:cNvPr id="436" name="Content Placeholder 13"/>
          <p:cNvSpPr txBox="1"/>
          <p:nvPr/>
        </p:nvSpPr>
        <p:spPr>
          <a:xfrm>
            <a:off x="1238004" y="1600200"/>
            <a:ext cx="9889244" cy="1518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841247">
              <a:spcBef>
                <a:spcPts val="1600"/>
              </a:spcBef>
              <a:defRPr sz="2208">
                <a:latin typeface="宋体"/>
                <a:ea typeface="宋体"/>
                <a:cs typeface="宋体"/>
                <a:sym typeface="宋体"/>
              </a:defRPr>
            </a:pPr>
            <a:r>
              <a:rPr sz="2208" dirty="0">
                <a:latin typeface="宋体"/>
                <a:ea typeface="宋体"/>
              </a:rPr>
              <a:t>（4）Eclipse</a:t>
            </a:r>
          </a:p>
          <a:p>
            <a:pPr algn="just" defTabSz="731520">
              <a:defRPr sz="1440">
                <a:latin typeface="宋体"/>
                <a:ea typeface="宋体"/>
                <a:cs typeface="宋体"/>
                <a:sym typeface="宋体"/>
              </a:defRPr>
            </a:pPr>
            <a:r>
              <a:rPr sz="1840" dirty="0">
                <a:latin typeface="宋体"/>
                <a:ea typeface="宋体"/>
              </a:rPr>
              <a:t>    </a:t>
            </a:r>
            <a:r>
              <a:rPr sz="1840" dirty="0" err="1">
                <a:latin typeface="宋体"/>
                <a:ea typeface="宋体"/>
              </a:rPr>
              <a:t>Eclipse只是一个框架和一组服务，通过插件组件构建开发环境，例如通过C</a:t>
            </a:r>
            <a:r>
              <a:rPr sz="1840" dirty="0">
                <a:latin typeface="宋体"/>
                <a:ea typeface="宋体"/>
              </a:rPr>
              <a:t>/C++、COBOL、PHP、Android等编程语言的插件可以提供不同语言的集成开发环境。在安装PyDev插件后，用户可以把Eclipse当作Python的IDE使用。</a:t>
            </a:r>
          </a:p>
        </p:txBody>
      </p:sp>
      <p:sp>
        <p:nvSpPr>
          <p:cNvPr id="437" name="矩形 2"/>
          <p:cNvSpPr txBox="1"/>
          <p:nvPr/>
        </p:nvSpPr>
        <p:spPr>
          <a:xfrm>
            <a:off x="7155581" y="3991359"/>
            <a:ext cx="2462464" cy="146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语法错误提示</a:t>
            </a:r>
            <a:endParaRPr dirty="0"/>
          </a:p>
          <a:p>
            <a:pPr marL="285750" indent="-285750"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源代码编辑助手</a:t>
            </a:r>
            <a:endParaRPr dirty="0"/>
          </a:p>
          <a:p>
            <a:pPr marL="285750" indent="-285750"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运行和调试</a:t>
            </a:r>
            <a:endParaRPr dirty="0"/>
          </a:p>
          <a:p>
            <a:pPr marL="285750" indent="-285750">
              <a:buSzPct val="100000"/>
              <a:buChar char="✓"/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...</a:t>
            </a:r>
          </a:p>
        </p:txBody>
      </p:sp>
      <p:sp>
        <p:nvSpPr>
          <p:cNvPr id="438" name="矩形 4"/>
          <p:cNvSpPr txBox="1"/>
          <p:nvPr/>
        </p:nvSpPr>
        <p:spPr>
          <a:xfrm>
            <a:off x="6983688" y="3429000"/>
            <a:ext cx="2610555" cy="510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PyDev插件的功能</a:t>
            </a:r>
            <a:r>
              <a:rPr dirty="0"/>
              <a:t>:</a:t>
            </a:r>
          </a:p>
        </p:txBody>
      </p:sp>
      <p:pic>
        <p:nvPicPr>
          <p:cNvPr id="439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59" y="3250064"/>
            <a:ext cx="5274311" cy="25473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itle 1"/>
          <p:cNvSpPr txBox="1">
            <a:spLocks noGrp="1"/>
          </p:cNvSpPr>
          <p:nvPr>
            <p:ph type="title"/>
          </p:nvPr>
        </p:nvSpPr>
        <p:spPr>
          <a:xfrm>
            <a:off x="1105658" y="454207"/>
            <a:ext cx="9980684" cy="64275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lang="en-CN"/>
              <a:t>2.5</a:t>
            </a:r>
            <a:r>
              <a:t> </a:t>
            </a:r>
            <a:r>
              <a:rPr dirty="0" err="1"/>
              <a:t>Python的集成开发环境</a:t>
            </a:r>
            <a:endParaRPr dirty="0"/>
          </a:p>
        </p:txBody>
      </p:sp>
      <p:sp>
        <p:nvSpPr>
          <p:cNvPr id="430" name="Content Placeholder 13"/>
          <p:cNvSpPr txBox="1"/>
          <p:nvPr/>
        </p:nvSpPr>
        <p:spPr>
          <a:xfrm>
            <a:off x="1186180" y="1525890"/>
            <a:ext cx="9632995" cy="1400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841247">
              <a:spcBef>
                <a:spcPts val="1600"/>
              </a:spcBef>
              <a:defRPr sz="2208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（</a:t>
            </a:r>
            <a:r>
              <a:rPr lang="en-US" altLang="zh-CN" dirty="0"/>
              <a:t>5</a:t>
            </a:r>
            <a:r>
              <a:rPr dirty="0"/>
              <a:t>）</a:t>
            </a:r>
            <a:r>
              <a:rPr lang="en" altLang="zh-CN" dirty="0"/>
              <a:t>Visual Studio Code</a:t>
            </a:r>
            <a:endParaRPr lang="en" dirty="0"/>
          </a:p>
          <a:p>
            <a:pPr algn="just" defTabSz="841247">
              <a:defRPr sz="1840">
                <a:latin typeface="宋体"/>
                <a:ea typeface="宋体"/>
                <a:cs typeface="宋体"/>
                <a:sym typeface="宋体"/>
              </a:defRPr>
            </a:pPr>
            <a:r>
              <a:rPr lang="en" dirty="0"/>
              <a:t>    Visual Studio </a:t>
            </a:r>
            <a:r>
              <a:rPr lang="en" dirty="0" err="1"/>
              <a:t>Code（VSCode</a:t>
            </a:r>
            <a:r>
              <a:rPr lang="en" dirty="0"/>
              <a:t>）</a:t>
            </a:r>
            <a:r>
              <a:rPr lang="zh-CN" altLang="en-US" dirty="0"/>
              <a:t>是一款由</a:t>
            </a:r>
            <a:r>
              <a:rPr lang="en" dirty="0"/>
              <a:t>Microsoft</a:t>
            </a:r>
            <a:r>
              <a:rPr lang="zh-CN" altLang="en-US" dirty="0"/>
              <a:t>开发的免费开源的集成开发环境（</a:t>
            </a:r>
            <a:r>
              <a:rPr lang="en" dirty="0"/>
              <a:t>IDE）。</a:t>
            </a:r>
            <a:r>
              <a:rPr lang="zh-CN" altLang="en-US" dirty="0"/>
              <a:t>它支持多种编程语言，拥有强大的代码编辑和调试功能。</a:t>
            </a:r>
            <a:r>
              <a:rPr lang="en" dirty="0" err="1"/>
              <a:t>VSCode</a:t>
            </a:r>
            <a:r>
              <a:rPr lang="zh-CN" altLang="en-US" dirty="0"/>
              <a:t>还具有丰富的插件系统，允许用户根据自己的需求扩展和定制编辑环境。    </a:t>
            </a:r>
          </a:p>
        </p:txBody>
      </p:sp>
      <p:sp>
        <p:nvSpPr>
          <p:cNvPr id="432" name="文本框 5"/>
          <p:cNvSpPr txBox="1"/>
          <p:nvPr/>
        </p:nvSpPr>
        <p:spPr>
          <a:xfrm>
            <a:off x="7178874" y="3694666"/>
            <a:ext cx="2837485" cy="2067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342900" indent="-342900">
              <a:spcBef>
                <a:spcPts val="200"/>
              </a:spcBef>
              <a:buSzPct val="100000"/>
              <a:buChar char="✓"/>
              <a:defRPr sz="2000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强大的代码编辑器</a:t>
            </a:r>
          </a:p>
          <a:p>
            <a:pPr marL="342900" indent="-342900">
              <a:spcBef>
                <a:spcPts val="200"/>
              </a:spcBef>
              <a:buSzPct val="100000"/>
              <a:buChar char="✓"/>
              <a:defRPr sz="2000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全面的调试支持</a:t>
            </a:r>
          </a:p>
          <a:p>
            <a:pPr marL="342900" indent="-342900">
              <a:spcBef>
                <a:spcPts val="200"/>
              </a:spcBef>
              <a:buSzPct val="100000"/>
              <a:buChar char="✓"/>
              <a:defRPr sz="2000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丰富的扩展系统</a:t>
            </a:r>
          </a:p>
          <a:p>
            <a:pPr marL="342900" indent="-342900">
              <a:spcBef>
                <a:spcPts val="200"/>
              </a:spcBef>
              <a:buSzPct val="100000"/>
              <a:buChar char="✓"/>
              <a:defRPr sz="2000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集成的版本控制</a:t>
            </a:r>
          </a:p>
          <a:p>
            <a:pPr marL="342900" indent="-342900">
              <a:spcBef>
                <a:spcPts val="200"/>
              </a:spcBef>
              <a:buSzPct val="100000"/>
              <a:buChar char="✓"/>
              <a:defRPr sz="2000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智能代码导航</a:t>
            </a:r>
          </a:p>
          <a:p>
            <a:pPr marL="342900" indent="-342900">
              <a:spcBef>
                <a:spcPts val="200"/>
              </a:spcBef>
              <a:buSzPct val="100000"/>
              <a:buChar char="✓"/>
              <a:defRPr sz="2000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多平台支持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33" name="矩形 6"/>
          <p:cNvSpPr txBox="1"/>
          <p:nvPr/>
        </p:nvSpPr>
        <p:spPr>
          <a:xfrm>
            <a:off x="6924507" y="3198167"/>
            <a:ext cx="3894668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宋体"/>
                <a:ea typeface="宋体"/>
                <a:cs typeface="宋体"/>
                <a:sym typeface="宋体"/>
              </a:defRPr>
            </a:pPr>
            <a:r>
              <a:rPr lang="en-US" altLang="zh-CN" dirty="0" err="1"/>
              <a:t>VSCode</a:t>
            </a:r>
            <a:r>
              <a:rPr dirty="0" err="1"/>
              <a:t>的主要功能</a:t>
            </a:r>
            <a:r>
              <a:rPr sz="1800" dirty="0"/>
              <a:t>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7552DB-A713-254E-AFBE-DB0A35682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180" y="3004120"/>
            <a:ext cx="5120027" cy="321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1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4C77-C197-F6A6-63E5-BCFEF438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Visual Studio Code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C54D1-3524-A155-4620-82E975C83DA1}"/>
              </a:ext>
            </a:extLst>
          </p:cNvPr>
          <p:cNvSpPr txBox="1"/>
          <p:nvPr/>
        </p:nvSpPr>
        <p:spPr>
          <a:xfrm>
            <a:off x="1104900" y="1442428"/>
            <a:ext cx="237788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dirty="0"/>
              <a:t>界面概述与基本设置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CFA67-BC9F-E222-CAE0-591FFCC28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811760"/>
            <a:ext cx="9531724" cy="431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21168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7B370-89B8-2B6F-30B1-E4AE6BDFB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C3EC-6890-7657-915F-C29E1875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Visual Studio Code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46681-F72B-29E8-1998-1C01D823F3C5}"/>
              </a:ext>
            </a:extLst>
          </p:cNvPr>
          <p:cNvSpPr txBox="1"/>
          <p:nvPr/>
        </p:nvSpPr>
        <p:spPr>
          <a:xfrm>
            <a:off x="1104899" y="1442428"/>
            <a:ext cx="271406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VS Code </a:t>
            </a:r>
            <a:r>
              <a:rPr lang="zh-CN" altLang="en-US" b="1" dirty="0"/>
              <a:t>文件编辑界面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DD8FB-4EBC-D237-C124-C9CED94E6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670" y="1811760"/>
            <a:ext cx="8722660" cy="454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16006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FE15-A5E0-6308-AACF-4735B332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D6FD-0BAB-5AAB-DFC0-311E72248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Visual Studio Code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9B41F-671B-5CAD-7D8D-0D0DE6AC1122}"/>
              </a:ext>
            </a:extLst>
          </p:cNvPr>
          <p:cNvSpPr txBox="1"/>
          <p:nvPr/>
        </p:nvSpPr>
        <p:spPr>
          <a:xfrm>
            <a:off x="1104899" y="1442428"/>
            <a:ext cx="271406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VS Code</a:t>
            </a:r>
            <a:r>
              <a:rPr lang="zh-CN" altLang="en-US" b="1" dirty="0"/>
              <a:t>颜色主题设置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7E4F73-C331-7F94-AA82-57625D4F6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47" y="1811760"/>
            <a:ext cx="8736106" cy="454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7561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7CA7B-B068-1876-AB34-A9BF5D8A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3555-13E3-272C-1410-AD1D18EB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Visual Studio Code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8EE93-3CCD-F68D-0F60-E103CCC2F607}"/>
              </a:ext>
            </a:extLst>
          </p:cNvPr>
          <p:cNvSpPr txBox="1"/>
          <p:nvPr/>
        </p:nvSpPr>
        <p:spPr>
          <a:xfrm>
            <a:off x="1104899" y="1442428"/>
            <a:ext cx="271406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VS Code </a:t>
            </a:r>
            <a:r>
              <a:rPr lang="zh-CN" altLang="en-US" b="1" dirty="0"/>
              <a:t>插件安装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809E4-5771-E45C-5C53-862DA39CF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99" y="1811760"/>
            <a:ext cx="8763001" cy="457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47620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23831B-B987-1488-837D-B420C0181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160" y="-33391"/>
            <a:ext cx="7772400" cy="6710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DC5009-A4FD-2B63-F21E-D58D46F0D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710532"/>
            <a:ext cx="7772400" cy="671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469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826103-405F-03C6-0DE8-D1EB52925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02" y="624681"/>
            <a:ext cx="9636305" cy="64720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3AC9A8-F258-ED93-533A-E6F757CEB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094" y="136132"/>
            <a:ext cx="2679197" cy="65857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DE102C4-4451-7669-49A0-8A66E477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3" cy="649941"/>
          </a:xfrm>
        </p:spPr>
        <p:txBody>
          <a:bodyPr/>
          <a:lstStyle/>
          <a:p>
            <a:r>
              <a:rPr lang="en-US" dirty="0"/>
              <a:t>Jupyter</a:t>
            </a:r>
            <a:r>
              <a:rPr lang="zh-CN" altLang="en-US" dirty="0"/>
              <a:t> 插件使用</a:t>
            </a:r>
          </a:p>
        </p:txBody>
      </p:sp>
    </p:spTree>
    <p:extLst>
      <p:ext uri="{BB962C8B-B14F-4D97-AF65-F5344CB8AC3E}">
        <p14:creationId xmlns:p14="http://schemas.microsoft.com/office/powerpoint/2010/main" val="8262158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itle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  <a:br/>
            <a:r>
              <a:t>——The end——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 16x9">
      <a:dk1>
        <a:srgbClr val="514843"/>
      </a:dk1>
      <a:lt1>
        <a:srgbClr val="FFFFF3"/>
      </a:lt1>
      <a:dk2>
        <a:srgbClr val="A7A7A7"/>
      </a:dk2>
      <a:lt2>
        <a:srgbClr val="53535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0000FF"/>
      </a:hlink>
      <a:folHlink>
        <a:srgbClr val="FF00FF"/>
      </a:folHlink>
    </a:clrScheme>
    <a:fontScheme name="Academic Literature 16x9">
      <a:majorFont>
        <a:latin typeface="Euphemia"/>
        <a:ea typeface="Euphemia"/>
        <a:cs typeface="Euphemia"/>
      </a:majorFont>
      <a:minorFont>
        <a:latin typeface="Helvetica"/>
        <a:ea typeface="Helvetica"/>
        <a:cs typeface="Helvetica"/>
      </a:minorFont>
    </a:fontScheme>
    <a:fmtScheme name="Academic Literature 16x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50800" dist="25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480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Euphem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48000" cap="flat">
          <a:solidFill>
            <a:schemeClr val="accent1"/>
          </a:solidFill>
          <a:prstDash val="solid"/>
          <a:round/>
        </a:ln>
        <a:effectLst>
          <a:outerShdw blurRad="50800" dist="25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Euphem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Academic Literature 16x9">
  <a:themeElements>
    <a:clrScheme name="Academic Literature 16x9">
      <a:dk1>
        <a:srgbClr val="514843"/>
      </a:dk1>
      <a:lt1>
        <a:srgbClr val="0E3951"/>
      </a:lt1>
      <a:dk2>
        <a:srgbClr val="A7A7A7"/>
      </a:dk2>
      <a:lt2>
        <a:srgbClr val="53535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0000FF"/>
      </a:hlink>
      <a:folHlink>
        <a:srgbClr val="FF00FF"/>
      </a:folHlink>
    </a:clrScheme>
    <a:fontScheme name="Academic Literature 16x9">
      <a:majorFont>
        <a:latin typeface="Euphemia"/>
        <a:ea typeface="Euphemia"/>
        <a:cs typeface="Euphemia"/>
      </a:majorFont>
      <a:minorFont>
        <a:latin typeface="Helvetica"/>
        <a:ea typeface="Helvetica"/>
        <a:cs typeface="Helvetica"/>
      </a:minorFont>
    </a:fontScheme>
    <a:fmtScheme name="Academic Literature 16x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50800" dist="25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480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Euphem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48000" cap="flat">
          <a:solidFill>
            <a:schemeClr val="accent1"/>
          </a:solidFill>
          <a:prstDash val="solid"/>
          <a:round/>
        </a:ln>
        <a:effectLst>
          <a:outerShdw blurRad="50800" dist="25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Euphem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1866</Words>
  <Application>Microsoft Macintosh PowerPoint</Application>
  <PresentationFormat>Widescreen</PresentationFormat>
  <Paragraphs>298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SimSun</vt:lpstr>
      <vt:lpstr>SimSun</vt:lpstr>
      <vt:lpstr>Arial</vt:lpstr>
      <vt:lpstr>Calibri</vt:lpstr>
      <vt:lpstr>Consolas</vt:lpstr>
      <vt:lpstr>Euphemia</vt:lpstr>
      <vt:lpstr>Plantagenet Cherokee</vt:lpstr>
      <vt:lpstr>Times New Roman</vt:lpstr>
      <vt:lpstr>Academic Literature 16x9</vt:lpstr>
      <vt:lpstr>第1讲  Python概述</vt:lpstr>
      <vt:lpstr>教学内容</vt:lpstr>
      <vt:lpstr> 2.1 Python语言的产生与发展</vt:lpstr>
      <vt:lpstr>2.1 Python语言的产生与发展</vt:lpstr>
      <vt:lpstr>2.1 Python语言的产生与发展</vt:lpstr>
      <vt:lpstr>C Vs Java Vs Python语言的Hello程序 </vt:lpstr>
      <vt:lpstr>Python代码案例</vt:lpstr>
      <vt:lpstr>2.1 Python语言的产生与发展</vt:lpstr>
      <vt:lpstr>2.1 Python语言的产生与发展</vt:lpstr>
      <vt:lpstr> 2.2 Python的安装与运行</vt:lpstr>
      <vt:lpstr>下载最新版本的Python</vt:lpstr>
      <vt:lpstr>2.2 Python的安装与运行</vt:lpstr>
      <vt:lpstr>2.2 Python的安装与运行</vt:lpstr>
      <vt:lpstr>2.2 Python的安装与运行</vt:lpstr>
      <vt:lpstr>2.2 Python的安装与运行</vt:lpstr>
      <vt:lpstr>2.2 Python的安装与运行</vt:lpstr>
      <vt:lpstr> 2.3 JuPyter Notebook的安装与使用</vt:lpstr>
      <vt:lpstr> 2.3  Jupyter Notebook的安装与使用</vt:lpstr>
      <vt:lpstr> 2.3  Jupyter Notebook的安装与使用</vt:lpstr>
      <vt:lpstr> 2.3  Jupyter Notebook的安装与使用</vt:lpstr>
      <vt:lpstr> 2.3  Jupyter Notebook的安装与使用</vt:lpstr>
      <vt:lpstr> 2.3  Jupyter Notebook的安装与使用</vt:lpstr>
      <vt:lpstr> 2.3  Jupyter Notebook的安装与使用</vt:lpstr>
      <vt:lpstr> 2.3  Jupyter Notebook的安装与使用</vt:lpstr>
      <vt:lpstr> 2.3  Jupyter Notebook的安装与使用</vt:lpstr>
      <vt:lpstr> 2.3  Jupyter Notebook的安装与使用</vt:lpstr>
      <vt:lpstr> 2.3  Jupyter Notebook的安装与使用</vt:lpstr>
      <vt:lpstr>  2.4  Python第三方库的安装与使用</vt:lpstr>
      <vt:lpstr>2.4 Python第三方库的安装与使用</vt:lpstr>
      <vt:lpstr>2.4 Python第三方库的安装与使用</vt:lpstr>
      <vt:lpstr>2.4 Python第三方库的安装与使用</vt:lpstr>
      <vt:lpstr>2.4 Python第三方库的安装与使用</vt:lpstr>
      <vt:lpstr>2.4 Python第三方库的安装与使用</vt:lpstr>
      <vt:lpstr>2.4 Python第三方库的安装与使用</vt:lpstr>
      <vt:lpstr>2.4 Python第三方库的安装与使用</vt:lpstr>
      <vt:lpstr>2.4 Python第三方库的安装与使用</vt:lpstr>
      <vt:lpstr>2.4 Python第三方库的安装与使用</vt:lpstr>
      <vt:lpstr>2.4 Python第三方库的安装与使用</vt:lpstr>
      <vt:lpstr> 2.5 Python的集成开发环境</vt:lpstr>
      <vt:lpstr>2.5 Python的集成开发环境</vt:lpstr>
      <vt:lpstr>2.5 Python的集成开发环境</vt:lpstr>
      <vt:lpstr>2.5 Python的集成开发环境</vt:lpstr>
      <vt:lpstr>2.5 Python的集成开发环境</vt:lpstr>
      <vt:lpstr>2.5 Python的集成开发环境</vt:lpstr>
      <vt:lpstr>2.5 Python的集成开发环境</vt:lpstr>
      <vt:lpstr>Visual Studio Code</vt:lpstr>
      <vt:lpstr>Visual Studio Code</vt:lpstr>
      <vt:lpstr>Visual Studio Code</vt:lpstr>
      <vt:lpstr>Visual Studio Code</vt:lpstr>
      <vt:lpstr>PowerPoint Presentation</vt:lpstr>
      <vt:lpstr>Jupyter 插件使用</vt:lpstr>
      <vt:lpstr> ——The end——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第1讲  Python语言概述</dc:title>
  <cp:lastModifiedBy>Hao Fan</cp:lastModifiedBy>
  <cp:revision>41</cp:revision>
  <dcterms:modified xsi:type="dcterms:W3CDTF">2026-02-26T06:43:30Z</dcterms:modified>
</cp:coreProperties>
</file>