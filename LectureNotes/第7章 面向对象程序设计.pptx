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1"/>
  </p:notesMasterIdLst>
  <p:handoutMasterIdLst>
    <p:handoutMasterId r:id="rId92"/>
  </p:handoutMasterIdLst>
  <p:sldIdLst>
    <p:sldId id="256" r:id="rId5"/>
    <p:sldId id="257" r:id="rId6"/>
    <p:sldId id="295" r:id="rId7"/>
    <p:sldId id="327" r:id="rId8"/>
    <p:sldId id="328" r:id="rId9"/>
    <p:sldId id="384" r:id="rId10"/>
    <p:sldId id="329" r:id="rId11"/>
    <p:sldId id="331" r:id="rId12"/>
    <p:sldId id="382" r:id="rId13"/>
    <p:sldId id="332" r:id="rId14"/>
    <p:sldId id="336" r:id="rId15"/>
    <p:sldId id="337" r:id="rId16"/>
    <p:sldId id="340" r:id="rId17"/>
    <p:sldId id="341" r:id="rId18"/>
    <p:sldId id="383" r:id="rId19"/>
    <p:sldId id="349" r:id="rId20"/>
    <p:sldId id="350" r:id="rId21"/>
    <p:sldId id="347" r:id="rId22"/>
    <p:sldId id="296" r:id="rId23"/>
    <p:sldId id="298" r:id="rId24"/>
    <p:sldId id="299" r:id="rId25"/>
    <p:sldId id="304" r:id="rId26"/>
    <p:sldId id="305" r:id="rId27"/>
    <p:sldId id="308" r:id="rId28"/>
    <p:sldId id="385" r:id="rId29"/>
    <p:sldId id="386" r:id="rId30"/>
    <p:sldId id="387" r:id="rId31"/>
    <p:sldId id="388" r:id="rId32"/>
    <p:sldId id="389" r:id="rId33"/>
    <p:sldId id="306" r:id="rId34"/>
    <p:sldId id="307" r:id="rId35"/>
    <p:sldId id="309" r:id="rId36"/>
    <p:sldId id="312" r:id="rId37"/>
    <p:sldId id="314" r:id="rId38"/>
    <p:sldId id="259" r:id="rId39"/>
    <p:sldId id="261" r:id="rId40"/>
    <p:sldId id="316" r:id="rId41"/>
    <p:sldId id="317" r:id="rId42"/>
    <p:sldId id="300" r:id="rId43"/>
    <p:sldId id="318" r:id="rId44"/>
    <p:sldId id="301" r:id="rId45"/>
    <p:sldId id="319" r:id="rId46"/>
    <p:sldId id="283" r:id="rId47"/>
    <p:sldId id="281" r:id="rId48"/>
    <p:sldId id="302" r:id="rId49"/>
    <p:sldId id="320" r:id="rId50"/>
    <p:sldId id="321" r:id="rId51"/>
    <p:sldId id="303" r:id="rId52"/>
    <p:sldId id="390" r:id="rId53"/>
    <p:sldId id="392" r:id="rId54"/>
    <p:sldId id="393" r:id="rId55"/>
    <p:sldId id="394" r:id="rId56"/>
    <p:sldId id="406" r:id="rId57"/>
    <p:sldId id="404" r:id="rId58"/>
    <p:sldId id="407" r:id="rId59"/>
    <p:sldId id="408" r:id="rId60"/>
    <p:sldId id="409" r:id="rId61"/>
    <p:sldId id="410" r:id="rId62"/>
    <p:sldId id="403" r:id="rId63"/>
    <p:sldId id="411" r:id="rId64"/>
    <p:sldId id="412" r:id="rId65"/>
    <p:sldId id="413" r:id="rId66"/>
    <p:sldId id="414" r:id="rId67"/>
    <p:sldId id="415" r:id="rId68"/>
    <p:sldId id="416" r:id="rId69"/>
    <p:sldId id="417" r:id="rId70"/>
    <p:sldId id="418" r:id="rId71"/>
    <p:sldId id="419" r:id="rId72"/>
    <p:sldId id="420" r:id="rId73"/>
    <p:sldId id="421" r:id="rId74"/>
    <p:sldId id="422" r:id="rId75"/>
    <p:sldId id="423" r:id="rId76"/>
    <p:sldId id="424" r:id="rId77"/>
    <p:sldId id="395" r:id="rId78"/>
    <p:sldId id="396" r:id="rId79"/>
    <p:sldId id="397" r:id="rId80"/>
    <p:sldId id="425" r:id="rId81"/>
    <p:sldId id="398" r:id="rId82"/>
    <p:sldId id="399" r:id="rId83"/>
    <p:sldId id="400" r:id="rId84"/>
    <p:sldId id="401" r:id="rId85"/>
    <p:sldId id="402" r:id="rId86"/>
    <p:sldId id="426" r:id="rId87"/>
    <p:sldId id="427" r:id="rId88"/>
    <p:sldId id="428" r:id="rId89"/>
    <p:sldId id="346"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5" userDrawn="1">
          <p15:clr>
            <a:srgbClr val="A4A3A4"/>
          </p15:clr>
        </p15:guide>
        <p15:guide id="2" pos="411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FF9300"/>
    <a:srgbClr val="00F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97" autoAdjust="0"/>
    <p:restoredTop sz="92260" autoAdjust="0"/>
  </p:normalViewPr>
  <p:slideViewPr>
    <p:cSldViewPr snapToGrid="0" showGuides="1">
      <p:cViewPr varScale="1">
        <p:scale>
          <a:sx n="117" d="100"/>
          <a:sy n="117" d="100"/>
        </p:scale>
        <p:origin x="336" y="168"/>
      </p:cViewPr>
      <p:guideLst>
        <p:guide orient="horz" pos="2115"/>
        <p:guide pos="4112"/>
      </p:guideLst>
    </p:cSldViewPr>
  </p:slideViewPr>
  <p:notesTextViewPr>
    <p:cViewPr>
      <p:scale>
        <a:sx n="1" d="1"/>
        <a:sy n="1" d="1"/>
      </p:scale>
      <p:origin x="0" y="0"/>
    </p:cViewPr>
  </p:notesTextViewPr>
  <p:notesViewPr>
    <p:cSldViewPr snapToGrid="0" showGuides="1">
      <p:cViewPr varScale="1">
        <p:scale>
          <a:sx n="92" d="100"/>
          <a:sy n="92" d="100"/>
        </p:scale>
        <p:origin x="3732" y="10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theme" Target="theme/theme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handoutMaster" Target="handoutMasters/handoutMaster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2/26/26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2/26/26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cs typeface="Arial" pitchFamily="34" charset="0"/>
              </a:rPr>
              <a:t>NOTE: </a:t>
            </a:r>
            <a:r>
              <a:rPr lang="en-US" sz="1200" dirty="0">
                <a:cs typeface="Arial" pitchFamily="34" charset="0"/>
              </a:rPr>
              <a:t>Want a different image on this slide? Select the picture and delete it. Now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205551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a:t>
            </a:fld>
            <a:endParaRPr lang="en-US"/>
          </a:p>
        </p:txBody>
      </p:sp>
    </p:spTree>
    <p:extLst>
      <p:ext uri="{BB962C8B-B14F-4D97-AF65-F5344CB8AC3E}">
        <p14:creationId xmlns:p14="http://schemas.microsoft.com/office/powerpoint/2010/main" val="3796805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a:t>
            </a:fld>
            <a:endParaRPr lang="en-US"/>
          </a:p>
        </p:txBody>
      </p:sp>
    </p:spTree>
    <p:extLst>
      <p:ext uri="{BB962C8B-B14F-4D97-AF65-F5344CB8AC3E}">
        <p14:creationId xmlns:p14="http://schemas.microsoft.com/office/powerpoint/2010/main" val="20589600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18</a:t>
            </a:fld>
            <a:endParaRPr lang="en-US"/>
          </a:p>
        </p:txBody>
      </p:sp>
    </p:spTree>
    <p:extLst>
      <p:ext uri="{BB962C8B-B14F-4D97-AF65-F5344CB8AC3E}">
        <p14:creationId xmlns:p14="http://schemas.microsoft.com/office/powerpoint/2010/main" val="1750695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35</a:t>
            </a:fld>
            <a:endParaRPr lang="en-US"/>
          </a:p>
        </p:txBody>
      </p:sp>
    </p:spTree>
    <p:extLst>
      <p:ext uri="{BB962C8B-B14F-4D97-AF65-F5344CB8AC3E}">
        <p14:creationId xmlns:p14="http://schemas.microsoft.com/office/powerpoint/2010/main" val="9178643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36</a:t>
            </a:fld>
            <a:endParaRPr lang="en-US"/>
          </a:p>
        </p:txBody>
      </p:sp>
    </p:spTree>
    <p:extLst>
      <p:ext uri="{BB962C8B-B14F-4D97-AF65-F5344CB8AC3E}">
        <p14:creationId xmlns:p14="http://schemas.microsoft.com/office/powerpoint/2010/main" val="9374763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39</a:t>
            </a:fld>
            <a:endParaRPr lang="en-US"/>
          </a:p>
        </p:txBody>
      </p:sp>
    </p:spTree>
    <p:extLst>
      <p:ext uri="{BB962C8B-B14F-4D97-AF65-F5344CB8AC3E}">
        <p14:creationId xmlns:p14="http://schemas.microsoft.com/office/powerpoint/2010/main" val="1114822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40</a:t>
            </a:fld>
            <a:endParaRPr lang="en-US"/>
          </a:p>
        </p:txBody>
      </p:sp>
    </p:spTree>
    <p:extLst>
      <p:ext uri="{BB962C8B-B14F-4D97-AF65-F5344CB8AC3E}">
        <p14:creationId xmlns:p14="http://schemas.microsoft.com/office/powerpoint/2010/main" val="23699510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41</a:t>
            </a:fld>
            <a:endParaRPr lang="en-US"/>
          </a:p>
        </p:txBody>
      </p:sp>
    </p:spTree>
    <p:extLst>
      <p:ext uri="{BB962C8B-B14F-4D97-AF65-F5344CB8AC3E}">
        <p14:creationId xmlns:p14="http://schemas.microsoft.com/office/powerpoint/2010/main" val="18279154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42</a:t>
            </a:fld>
            <a:endParaRPr lang="en-US"/>
          </a:p>
        </p:txBody>
      </p:sp>
    </p:spTree>
    <p:extLst>
      <p:ext uri="{BB962C8B-B14F-4D97-AF65-F5344CB8AC3E}">
        <p14:creationId xmlns:p14="http://schemas.microsoft.com/office/powerpoint/2010/main" val="19057286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43</a:t>
            </a:fld>
            <a:endParaRPr lang="en-US"/>
          </a:p>
        </p:txBody>
      </p:sp>
    </p:spTree>
    <p:extLst>
      <p:ext uri="{BB962C8B-B14F-4D97-AF65-F5344CB8AC3E}">
        <p14:creationId xmlns:p14="http://schemas.microsoft.com/office/powerpoint/2010/main" val="3513435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49</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56</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63</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72</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79</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86</a:t>
            </a:fld>
            <a:endParaRPr lang="en-US"/>
          </a:p>
        </p:txBody>
      </p:sp>
    </p:spTree>
    <p:extLst>
      <p:ext uri="{BB962C8B-B14F-4D97-AF65-F5344CB8AC3E}">
        <p14:creationId xmlns:p14="http://schemas.microsoft.com/office/powerpoint/2010/main" val="125126629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t>Click to edit Master title style</a:t>
            </a: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11" name="Picture 10" title="Ribbon tab"/>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8" name="Picture 7">
            <a:extLst>
              <a:ext uri="{FF2B5EF4-FFF2-40B4-BE49-F238E27FC236}">
                <a16:creationId xmlns:a16="http://schemas.microsoft.com/office/drawing/2014/main" id="{D7BD9AE7-B410-0F41-9CF1-7EB2080B6841}"/>
              </a:ext>
            </a:extLst>
          </p:cNvPr>
          <p:cNvPicPr>
            <a:picLocks noChangeAspect="1"/>
          </p:cNvPicPr>
          <p:nvPr userDrawn="1"/>
        </p:nvPicPr>
        <p:blipFill>
          <a:blip r:embed="rId2"/>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t>Click to edit Master title style</a:t>
            </a:r>
          </a:p>
        </p:txBody>
      </p:sp>
      <p:sp>
        <p:nvSpPr>
          <p:cNvPr id="11" name="Picture Placeholder 10" title="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pic>
        <p:nvPicPr>
          <p:cNvPr id="10" name="Picture 9" title="Ribbon tab"/>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t>Click to edit Master title style</a:t>
            </a: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7" name="Picture 6" title="Ribbon tab"/>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p:cNvSpPr>
            <a:spLocks noGrp="1"/>
          </p:cNvSpPr>
          <p:nvPr>
            <p:ph type="dt" sz="half" idx="10"/>
          </p:nvPr>
        </p:nvSpPr>
        <p:spPr/>
        <p:txBody>
          <a:bodyPr/>
          <a:lstStyle/>
          <a:p>
            <a:fld id="{402B9795-92DC-40DC-A1CA-9A4B349D7824}" type="datetimeFigureOut">
              <a:rPr lang="en-US" smtClean="0"/>
              <a:t>2/26/26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sz="half" idx="10"/>
          </p:nvPr>
        </p:nvSpPr>
        <p:spPr/>
        <p:txBody>
          <a:bodyPr/>
          <a:lstStyle/>
          <a:p>
            <a:fld id="{402B9795-92DC-40DC-A1CA-9A4B349D7824}" type="datetimeFigureOut">
              <a:rPr lang="en-US" smtClean="0"/>
              <a:t>2/26/26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smtClean="0"/>
              <a:t>2/26/26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pic>
        <p:nvPicPr>
          <p:cNvPr id="5" name="Picture 4">
            <a:extLst>
              <a:ext uri="{FF2B5EF4-FFF2-40B4-BE49-F238E27FC236}">
                <a16:creationId xmlns:a16="http://schemas.microsoft.com/office/drawing/2014/main" id="{460E5311-D21D-0F4C-8247-28A53E0B0DC2}"/>
              </a:ext>
            </a:extLst>
          </p:cNvPr>
          <p:cNvPicPr>
            <a:picLocks noChangeAspect="1"/>
          </p:cNvPicPr>
          <p:nvPr userDrawn="1"/>
        </p:nvPicPr>
        <p:blipFill>
          <a:blip r:embed="rId2"/>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t>Click to edit Master title style</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t>Click to edit Master title style</a:t>
            </a:r>
          </a:p>
        </p:txBody>
      </p:sp>
      <p:sp>
        <p:nvSpPr>
          <p:cNvPr id="3" name="Picture Placeholder 2" title="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t>Click to edit Master title style</a:t>
            </a: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t>Click to edit Master title style</a:t>
            </a: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t>Click to edit Master text styles</a:t>
            </a:r>
          </a:p>
          <a:p>
            <a:pPr lvl="1"/>
            <a:r>
              <a:t>Second level</a:t>
            </a:r>
          </a:p>
          <a:p>
            <a:pPr lvl="2"/>
            <a:r>
              <a:t>Third level</a:t>
            </a:r>
          </a:p>
          <a:p>
            <a:pPr lvl="3"/>
            <a:r>
              <a:t>Fourth level</a:t>
            </a:r>
          </a:p>
          <a:p>
            <a:pPr lvl="4"/>
            <a:r>
              <a:t>Fifth level</a:t>
            </a:r>
          </a:p>
          <a:p>
            <a:pPr lvl="5"/>
            <a:r>
              <a:t>Sixth level</a:t>
            </a:r>
          </a:p>
          <a:p>
            <a:pPr lvl="6"/>
            <a:r>
              <a:t>Seventh level</a:t>
            </a:r>
          </a:p>
          <a:p>
            <a:pPr lvl="7"/>
            <a:r>
              <a:t>Eighth level</a:t>
            </a:r>
          </a:p>
          <a:p>
            <a:pPr lvl="8"/>
            <a:r>
              <a:t>Ninth level</a:t>
            </a: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a:solidFill>
                  <a:schemeClr val="tx1">
                    <a:lumMod val="75000"/>
                  </a:schemeClr>
                </a:solidFill>
              </a:defRPr>
            </a:lvl1pPr>
          </a:lstStyle>
          <a:p>
            <a:fld id="{402B9795-92DC-40DC-A1CA-9A4B349D7824}" type="datetimeFigureOut">
              <a:rPr lang="en-US" smtClean="0"/>
              <a:pPr/>
              <a:t>2/26/26</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a:extLst>
              <a:ext uri="{FF2B5EF4-FFF2-40B4-BE49-F238E27FC236}">
                <a16:creationId xmlns:a16="http://schemas.microsoft.com/office/drawing/2014/main" id="{1FD7FC35-76A9-A241-ACA0-06E04C76B338}"/>
              </a:ext>
            </a:extLst>
          </p:cNvPr>
          <p:cNvPicPr>
            <a:picLocks noChangeAspect="1"/>
          </p:cNvPicPr>
          <p:nvPr userDrawn="1"/>
        </p:nvPicPr>
        <p:blipFill>
          <a:blip r:embed="rId14"/>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42.png"/></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7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7.xml"/><Relationship Id="rId4" Type="http://schemas.openxmlformats.org/officeDocument/2006/relationships/image" Target="../media/image86.png"/></Relationships>
</file>

<file path=ppt/slides/_rels/slide7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3" Type="http://schemas.openxmlformats.org/officeDocument/2006/relationships/hyperlink" Target="https://rszalski.github.io/magicmethods/" TargetMode="External"/><Relationship Id="rId2" Type="http://schemas.openxmlformats.org/officeDocument/2006/relationships/hyperlink" Target="https://realpython.com/python-magic-methods/" TargetMode="External"/><Relationship Id="rId1" Type="http://schemas.openxmlformats.org/officeDocument/2006/relationships/slideLayout" Target="../slideLayouts/slideLayout7.xml"/><Relationship Id="rId5" Type="http://schemas.openxmlformats.org/officeDocument/2006/relationships/image" Target="../media/image100.png"/><Relationship Id="rId4" Type="http://schemas.openxmlformats.org/officeDocument/2006/relationships/image" Target="../media/image99.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910937" y="2305112"/>
            <a:ext cx="5734050" cy="2219691"/>
          </a:xfrm>
        </p:spPr>
        <p:txBody>
          <a:bodyPr anchor="ctr"/>
          <a:lstStyle/>
          <a:p>
            <a:r>
              <a:rPr lang="zh-CN" altLang="en-US" b="1" dirty="0">
                <a:latin typeface="Microsoft YaHei" panose="020B0503020204020204" pitchFamily="34" charset="-122"/>
                <a:ea typeface="Microsoft YaHei" panose="020B0503020204020204" pitchFamily="34" charset="-122"/>
              </a:rPr>
              <a:t>第</a:t>
            </a:r>
            <a:r>
              <a:rPr lang="en-US" altLang="zh-CN" dirty="0">
                <a:latin typeface="Microsoft YaHei" panose="020B0503020204020204" pitchFamily="34" charset="-122"/>
                <a:ea typeface="Microsoft YaHei" panose="020B0503020204020204" pitchFamily="34" charset="-122"/>
              </a:rPr>
              <a:t>7</a:t>
            </a:r>
            <a:r>
              <a:rPr lang="zh-CN" altLang="en-US" b="1" dirty="0">
                <a:latin typeface="Microsoft YaHei" panose="020B0503020204020204" pitchFamily="34" charset="-122"/>
                <a:ea typeface="Microsoft YaHei" panose="020B0503020204020204" pitchFamily="34" charset="-122"/>
              </a:rPr>
              <a:t>章</a:t>
            </a:r>
            <a:br>
              <a:rPr lang="en-US" altLang="zh-CN" dirty="0">
                <a:latin typeface="Microsoft YaHei" panose="020B0503020204020204" pitchFamily="34" charset="-122"/>
                <a:ea typeface="Microsoft YaHei" panose="020B0503020204020204" pitchFamily="34" charset="-122"/>
              </a:rPr>
            </a:br>
            <a:r>
              <a:rPr lang="zh-CN" altLang="en-US" dirty="0">
                <a:latin typeface="Microsoft YaHei" panose="020B0503020204020204" pitchFamily="34" charset="-122"/>
                <a:ea typeface="Microsoft YaHei" panose="020B0503020204020204" pitchFamily="34" charset="-122"/>
              </a:rPr>
              <a:t>面向对象程序设计</a:t>
            </a:r>
            <a:endParaRPr lang="en-US" dirty="0">
              <a:latin typeface="Microsoft YaHei" panose="020B0503020204020204" pitchFamily="34" charset="-122"/>
              <a:ea typeface="Microsoft YaHei" panose="020B0503020204020204" pitchFamily="34" charset="-122"/>
            </a:endParaRPr>
          </a:p>
        </p:txBody>
      </p:sp>
      <p:pic>
        <p:nvPicPr>
          <p:cNvPr id="4" name="Picture Placeholder 3" title="Open book on table, blurred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a:stretch>
            <a:fillRect/>
          </a:stretch>
        </p:blipFill>
        <p:spPr/>
      </p:pic>
      <p:sp>
        <p:nvSpPr>
          <p:cNvPr id="5" name="副标题 1">
            <a:extLst>
              <a:ext uri="{FF2B5EF4-FFF2-40B4-BE49-F238E27FC236}">
                <a16:creationId xmlns:a16="http://schemas.microsoft.com/office/drawing/2014/main" id="{5D2DB8A7-2511-E64C-8D7D-2ADD713A2430}"/>
              </a:ext>
            </a:extLst>
          </p:cNvPr>
          <p:cNvSpPr>
            <a:spLocks noGrp="1"/>
          </p:cNvSpPr>
          <p:nvPr>
            <p:ph type="subTitle" idx="1"/>
          </p:nvPr>
        </p:nvSpPr>
        <p:spPr>
          <a:xfrm>
            <a:off x="1104900" y="4511784"/>
            <a:ext cx="5734050" cy="955565"/>
          </a:xfrm>
        </p:spPr>
        <p:txBody>
          <a:bodyPr>
            <a:normAutofit/>
          </a:bodyPr>
          <a:lstStyle/>
          <a:p>
            <a:pPr algn="r">
              <a:lnSpc>
                <a:spcPct val="150000"/>
              </a:lnSpc>
            </a:pPr>
            <a:r>
              <a:rPr lang="en-US" altLang="zh-CN" sz="2000" dirty="0"/>
              <a:t>Python</a:t>
            </a:r>
            <a:r>
              <a:rPr lang="zh-TW" altLang="en-US" sz="2000" dirty="0"/>
              <a:t>课程组</a:t>
            </a:r>
            <a:endParaRPr lang="en-US" altLang="zh-TW" sz="2000" dirty="0"/>
          </a:p>
          <a:p>
            <a:pPr algn="r">
              <a:lnSpc>
                <a:spcPct val="150000"/>
              </a:lnSpc>
            </a:pPr>
            <a:r>
              <a:rPr lang="zh-TW" altLang="en-US" sz="2000" dirty="0"/>
              <a:t>武汉大学信息管理学院</a:t>
            </a:r>
            <a:endParaRPr lang="zh-CN" altLang="en-US" sz="2000" dirty="0"/>
          </a:p>
        </p:txBody>
      </p:sp>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r>
              <a:rPr lang="zh-CN" altLang="en-US" sz="3600" b="1" dirty="0"/>
              <a:t>教学内容</a:t>
            </a:r>
            <a:endParaRPr lang="en-US" sz="3600" b="1" dirty="0"/>
          </a:p>
        </p:txBody>
      </p:sp>
      <p:sp>
        <p:nvSpPr>
          <p:cNvPr id="14" name="Content Placeholder 13"/>
          <p:cNvSpPr>
            <a:spLocks noGrp="1"/>
          </p:cNvSpPr>
          <p:nvPr>
            <p:ph idx="1"/>
          </p:nvPr>
        </p:nvSpPr>
        <p:spPr/>
        <p:txBody>
          <a:bodyPr/>
          <a:lstStyle/>
          <a:p>
            <a:r>
              <a:rPr lang="en-US" altLang="zh-CN" sz="3200" dirty="0"/>
              <a:t>7.1 </a:t>
            </a:r>
            <a:r>
              <a:rPr lang="zh-CN" altLang="en-US" sz="3200" dirty="0"/>
              <a:t>面向对象编程介绍</a:t>
            </a:r>
            <a:endParaRPr lang="en-US" altLang="zh-CN" sz="3200" dirty="0"/>
          </a:p>
          <a:p>
            <a:r>
              <a:rPr lang="en-US" altLang="zh-CN" sz="3200" dirty="0"/>
              <a:t>7.2</a:t>
            </a:r>
            <a:r>
              <a:rPr lang="en-US" sz="3200" dirty="0"/>
              <a:t> </a:t>
            </a:r>
            <a:r>
              <a:rPr lang="en-US" altLang="zh-CN" sz="3200" dirty="0"/>
              <a:t>Python</a:t>
            </a:r>
            <a:r>
              <a:rPr lang="zh-CN" altLang="en-US" sz="3200" dirty="0"/>
              <a:t>中的类</a:t>
            </a:r>
            <a:endParaRPr lang="en-US" sz="3200" dirty="0"/>
          </a:p>
          <a:p>
            <a:r>
              <a:rPr lang="en-US" altLang="zh-CN" sz="3200" dirty="0"/>
              <a:t>7.3 </a:t>
            </a:r>
            <a:r>
              <a:rPr lang="zh-CN" altLang="en-US" sz="3200" dirty="0"/>
              <a:t>继承和多态</a:t>
            </a:r>
            <a:endParaRPr lang="en-US" altLang="zh-CN" sz="3200" dirty="0"/>
          </a:p>
          <a:p>
            <a:r>
              <a:rPr lang="en-US" sz="3200" dirty="0"/>
              <a:t>7.4 </a:t>
            </a:r>
            <a:r>
              <a:rPr lang="zh-CN" altLang="en-US" sz="3200" dirty="0"/>
              <a:t>抽象类与接口</a:t>
            </a:r>
            <a:endParaRPr lang="en-US" altLang="zh-CN" sz="3200" dirty="0"/>
          </a:p>
          <a:p>
            <a:r>
              <a:rPr lang="en-US" altLang="zh-CN" sz="3200" dirty="0"/>
              <a:t>7.5 </a:t>
            </a:r>
            <a:r>
              <a:rPr lang="zh-CN" altLang="en-US" sz="3200" spc="190" dirty="0">
                <a:ln w="12700" cap="flat" cmpd="sng">
                  <a:solidFill>
                    <a:srgbClr val="514843">
                      <a:alpha val="100000"/>
                    </a:srgbClr>
                  </a:solidFill>
                  <a:prstDash val="solid"/>
                  <a:miter lim="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特殊方法和属性</a:t>
            </a:r>
            <a:endParaRPr lang="en-US" altLang="zh-CN" sz="3200" dirty="0"/>
          </a:p>
        </p:txBody>
      </p:sp>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7517" y="2750961"/>
            <a:ext cx="10071099" cy="1684150"/>
          </a:xfrm>
        </p:spPr>
        <p:txBody>
          <a:bodyPr/>
          <a:lstStyle/>
          <a:p>
            <a:r>
              <a:rPr lang="en-US" altLang="zh-CN" b="1" dirty="0"/>
              <a:t>7.1</a:t>
            </a:r>
            <a:r>
              <a:rPr lang="en-US" b="1" dirty="0"/>
              <a:t> </a:t>
            </a:r>
            <a:r>
              <a:rPr lang="zh-CN" altLang="en-US" b="1" dirty="0"/>
              <a:t>面向对象编程介绍</a:t>
            </a:r>
            <a:endParaRPr lang="en-US" b="1" dirty="0"/>
          </a:p>
        </p:txBody>
      </p:sp>
    </p:spTree>
    <p:extLst>
      <p:ext uri="{BB962C8B-B14F-4D97-AF65-F5344CB8AC3E}">
        <p14:creationId xmlns:p14="http://schemas.microsoft.com/office/powerpoint/2010/main" val="2652811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25CFCEDA-1F6B-5B6E-9D4D-451B10FC1BE1}"/>
              </a:ext>
            </a:extLst>
          </p:cNvPr>
          <p:cNvSpPr>
            <a:spLocks noGrp="1"/>
          </p:cNvSpPr>
          <p:nvPr>
            <p:ph type="sldNum" sz="quarter" idx="12"/>
          </p:nvPr>
        </p:nvSpPr>
        <p:spPr/>
        <p:txBody>
          <a:bodyPr/>
          <a:lstStyle/>
          <a:p>
            <a:fld id="{EDFBB927-8655-D14A-95E5-8087B5CF22D6}" type="slidenum">
              <a:rPr lang="en-US" altLang="zh-CN"/>
              <a:pPr/>
              <a:t>4</a:t>
            </a:fld>
            <a:endParaRPr lang="en-US" altLang="zh-CN"/>
          </a:p>
        </p:txBody>
      </p:sp>
      <p:sp>
        <p:nvSpPr>
          <p:cNvPr id="260098" name="Rectangle 2">
            <a:extLst>
              <a:ext uri="{FF2B5EF4-FFF2-40B4-BE49-F238E27FC236}">
                <a16:creationId xmlns:a16="http://schemas.microsoft.com/office/drawing/2014/main" id="{0CB5C8FC-D851-5A07-DA1E-15E6BBA09E35}"/>
              </a:ext>
            </a:extLst>
          </p:cNvPr>
          <p:cNvSpPr>
            <a:spLocks noGrp="1" noChangeArrowheads="1"/>
          </p:cNvSpPr>
          <p:nvPr>
            <p:ph type="title"/>
          </p:nvPr>
        </p:nvSpPr>
        <p:spPr/>
        <p:txBody>
          <a:bodyPr/>
          <a:lstStyle/>
          <a:p>
            <a:r>
              <a:rPr lang="en-US" altLang="zh-CN" sz="3200" dirty="0"/>
              <a:t>1 </a:t>
            </a:r>
            <a:r>
              <a:rPr lang="zh-CN" altLang="en-US" sz="3200" dirty="0"/>
              <a:t>基本概念</a:t>
            </a:r>
          </a:p>
        </p:txBody>
      </p:sp>
      <p:sp>
        <p:nvSpPr>
          <p:cNvPr id="260099" name="Rectangle 3">
            <a:extLst>
              <a:ext uri="{FF2B5EF4-FFF2-40B4-BE49-F238E27FC236}">
                <a16:creationId xmlns:a16="http://schemas.microsoft.com/office/drawing/2014/main" id="{ACFAE325-DE4E-2774-65C9-06062E42E7BC}"/>
              </a:ext>
            </a:extLst>
          </p:cNvPr>
          <p:cNvSpPr>
            <a:spLocks noGrp="1" noChangeArrowheads="1"/>
          </p:cNvSpPr>
          <p:nvPr>
            <p:ph type="body" idx="1"/>
          </p:nvPr>
        </p:nvSpPr>
        <p:spPr>
          <a:xfrm>
            <a:off x="1570235" y="1554100"/>
            <a:ext cx="8745020" cy="4421312"/>
          </a:xfrm>
        </p:spPr>
        <p:txBody>
          <a:bodyPr/>
          <a:lstStyle/>
          <a:p>
            <a:pPr marL="609600" indent="-609600">
              <a:lnSpc>
                <a:spcPct val="150000"/>
              </a:lnSpc>
              <a:buSzPct val="90000"/>
            </a:pPr>
            <a:r>
              <a:rPr lang="zh-CN" altLang="en-US" dirty="0"/>
              <a:t>什么是编程语言</a:t>
            </a:r>
            <a:r>
              <a:rPr lang="en-US" altLang="zh-CN" dirty="0"/>
              <a:t>?</a:t>
            </a:r>
          </a:p>
          <a:p>
            <a:pPr marL="990600" lvl="1" indent="-533400">
              <a:lnSpc>
                <a:spcPct val="150000"/>
              </a:lnSpc>
              <a:buSzPct val="90000"/>
            </a:pPr>
            <a:r>
              <a:rPr lang="zh-CN" altLang="en-US" dirty="0"/>
              <a:t>人和计算机进行交流的工具和手段</a:t>
            </a:r>
          </a:p>
          <a:p>
            <a:pPr marL="609600" indent="-609600">
              <a:lnSpc>
                <a:spcPct val="150000"/>
              </a:lnSpc>
              <a:buSzPct val="90000"/>
            </a:pPr>
            <a:r>
              <a:rPr lang="zh-CN" altLang="en-US" dirty="0"/>
              <a:t>编程语言的发展</a:t>
            </a:r>
          </a:p>
          <a:p>
            <a:pPr marL="990600" lvl="1" indent="-533400">
              <a:lnSpc>
                <a:spcPct val="150000"/>
              </a:lnSpc>
              <a:buSzPct val="90000"/>
            </a:pPr>
            <a:r>
              <a:rPr lang="zh-CN" altLang="en-US" dirty="0"/>
              <a:t>机器语言</a:t>
            </a:r>
            <a:r>
              <a:rPr lang="en-US" altLang="zh-CN" dirty="0"/>
              <a:t>: 0101001</a:t>
            </a:r>
          </a:p>
          <a:p>
            <a:pPr marL="990600" lvl="1" indent="-533400">
              <a:lnSpc>
                <a:spcPct val="150000"/>
              </a:lnSpc>
              <a:buSzPct val="90000"/>
            </a:pPr>
            <a:r>
              <a:rPr lang="zh-CN" altLang="en-US" dirty="0"/>
              <a:t>汇编语言</a:t>
            </a:r>
            <a:r>
              <a:rPr lang="en-US" altLang="zh-CN" dirty="0"/>
              <a:t>: mov, push, add, call</a:t>
            </a:r>
          </a:p>
          <a:p>
            <a:pPr marL="990600" lvl="1" indent="-533400">
              <a:lnSpc>
                <a:spcPct val="150000"/>
              </a:lnSpc>
              <a:buSzPct val="90000"/>
            </a:pPr>
            <a:r>
              <a:rPr lang="zh-CN" altLang="en-US" dirty="0"/>
              <a:t>第三代语言</a:t>
            </a:r>
            <a:r>
              <a:rPr lang="en-US" altLang="zh-CN" dirty="0"/>
              <a:t>: </a:t>
            </a:r>
            <a:r>
              <a:rPr lang="zh-CN" altLang="en-US" dirty="0"/>
              <a:t>高级语言</a:t>
            </a:r>
            <a:r>
              <a:rPr lang="en-US" altLang="zh-CN" dirty="0"/>
              <a:t>,</a:t>
            </a:r>
            <a:r>
              <a:rPr lang="zh-CN" altLang="en-US" dirty="0"/>
              <a:t>以</a:t>
            </a:r>
            <a:r>
              <a:rPr lang="en-US" altLang="zh-CN" dirty="0"/>
              <a:t>C</a:t>
            </a:r>
            <a:r>
              <a:rPr lang="zh-CN" altLang="en-US" dirty="0"/>
              <a:t>语言为代表</a:t>
            </a:r>
            <a:r>
              <a:rPr lang="en-US" altLang="zh-CN" dirty="0"/>
              <a:t>,</a:t>
            </a:r>
            <a:r>
              <a:rPr lang="zh-CN" altLang="en-US" dirty="0"/>
              <a:t>过程式编程语言</a:t>
            </a:r>
            <a:r>
              <a:rPr lang="en-US" altLang="zh-CN" dirty="0"/>
              <a:t>(Procedural Programming Language)</a:t>
            </a:r>
          </a:p>
          <a:p>
            <a:pPr marL="990600" lvl="1" indent="-533400">
              <a:lnSpc>
                <a:spcPct val="150000"/>
              </a:lnSpc>
              <a:buSzPct val="90000"/>
            </a:pPr>
            <a:r>
              <a:rPr lang="zh-CN" altLang="en-US" dirty="0"/>
              <a:t>第四代语言</a:t>
            </a:r>
            <a:r>
              <a:rPr lang="en-US" altLang="zh-CN" dirty="0"/>
              <a:t>: </a:t>
            </a:r>
            <a:r>
              <a:rPr lang="zh-CN" altLang="en-US" dirty="0"/>
              <a:t>非过程化</a:t>
            </a:r>
            <a:r>
              <a:rPr lang="en-US" altLang="zh-CN" dirty="0"/>
              <a:t>/</a:t>
            </a:r>
            <a:r>
              <a:rPr lang="zh-CN" altLang="en-US" dirty="0"/>
              <a:t>面向对象的编程语言</a:t>
            </a:r>
          </a:p>
          <a:p>
            <a:pPr marL="990600" lvl="1" indent="-533400">
              <a:lnSpc>
                <a:spcPct val="150000"/>
              </a:lnSpc>
              <a:buSzPct val="90000"/>
            </a:pPr>
            <a:r>
              <a:rPr lang="zh-CN" altLang="en-US" dirty="0"/>
              <a:t>语言的发展</a:t>
            </a:r>
            <a:r>
              <a:rPr lang="en-US" altLang="zh-CN" dirty="0"/>
              <a:t>: </a:t>
            </a:r>
            <a:r>
              <a:rPr lang="zh-CN" altLang="en-US" dirty="0"/>
              <a:t>抽象的过程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260099">
                                            <p:txEl>
                                              <p:pRg st="0" end="0"/>
                                            </p:txEl>
                                          </p:spTgt>
                                        </p:tgtEl>
                                        <p:attrNameLst>
                                          <p:attrName>style.visibility</p:attrName>
                                        </p:attrNameLst>
                                      </p:cBhvr>
                                      <p:to>
                                        <p:strVal val="visible"/>
                                      </p:to>
                                    </p:set>
                                    <p:animEffect transition="in" filter="barn(outHorizontal)">
                                      <p:cBhvr>
                                        <p:cTn id="7" dur="500"/>
                                        <p:tgtEl>
                                          <p:spTgt spid="2600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260099">
                                            <p:txEl>
                                              <p:pRg st="1" end="1"/>
                                            </p:txEl>
                                          </p:spTgt>
                                        </p:tgtEl>
                                        <p:attrNameLst>
                                          <p:attrName>style.visibility</p:attrName>
                                        </p:attrNameLst>
                                      </p:cBhvr>
                                      <p:to>
                                        <p:strVal val="visible"/>
                                      </p:to>
                                    </p:set>
                                    <p:animEffect transition="in" filter="barn(outHorizontal)">
                                      <p:cBhvr>
                                        <p:cTn id="12" dur="500"/>
                                        <p:tgtEl>
                                          <p:spTgt spid="2600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nodeType="clickEffect">
                                  <p:stCondLst>
                                    <p:cond delay="0"/>
                                  </p:stCondLst>
                                  <p:childTnLst>
                                    <p:set>
                                      <p:cBhvr>
                                        <p:cTn id="16" dur="1" fill="hold">
                                          <p:stCondLst>
                                            <p:cond delay="0"/>
                                          </p:stCondLst>
                                        </p:cTn>
                                        <p:tgtEl>
                                          <p:spTgt spid="260099">
                                            <p:txEl>
                                              <p:pRg st="2" end="2"/>
                                            </p:txEl>
                                          </p:spTgt>
                                        </p:tgtEl>
                                        <p:attrNameLst>
                                          <p:attrName>style.visibility</p:attrName>
                                        </p:attrNameLst>
                                      </p:cBhvr>
                                      <p:to>
                                        <p:strVal val="visible"/>
                                      </p:to>
                                    </p:set>
                                    <p:animEffect transition="in" filter="barn(outHorizontal)">
                                      <p:cBhvr>
                                        <p:cTn id="17" dur="500"/>
                                        <p:tgtEl>
                                          <p:spTgt spid="2600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260099">
                                            <p:txEl>
                                              <p:pRg st="3" end="3"/>
                                            </p:txEl>
                                          </p:spTgt>
                                        </p:tgtEl>
                                        <p:attrNameLst>
                                          <p:attrName>style.visibility</p:attrName>
                                        </p:attrNameLst>
                                      </p:cBhvr>
                                      <p:to>
                                        <p:strVal val="visible"/>
                                      </p:to>
                                    </p:set>
                                    <p:animEffect transition="in" filter="barn(outHorizontal)">
                                      <p:cBhvr>
                                        <p:cTn id="22" dur="500"/>
                                        <p:tgtEl>
                                          <p:spTgt spid="26009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nodeType="clickEffect">
                                  <p:stCondLst>
                                    <p:cond delay="0"/>
                                  </p:stCondLst>
                                  <p:childTnLst>
                                    <p:set>
                                      <p:cBhvr>
                                        <p:cTn id="26" dur="1" fill="hold">
                                          <p:stCondLst>
                                            <p:cond delay="0"/>
                                          </p:stCondLst>
                                        </p:cTn>
                                        <p:tgtEl>
                                          <p:spTgt spid="260099">
                                            <p:txEl>
                                              <p:pRg st="4" end="4"/>
                                            </p:txEl>
                                          </p:spTgt>
                                        </p:tgtEl>
                                        <p:attrNameLst>
                                          <p:attrName>style.visibility</p:attrName>
                                        </p:attrNameLst>
                                      </p:cBhvr>
                                      <p:to>
                                        <p:strVal val="visible"/>
                                      </p:to>
                                    </p:set>
                                    <p:animEffect transition="in" filter="barn(outHorizontal)">
                                      <p:cBhvr>
                                        <p:cTn id="27" dur="500"/>
                                        <p:tgtEl>
                                          <p:spTgt spid="26009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nodeType="clickEffect">
                                  <p:stCondLst>
                                    <p:cond delay="0"/>
                                  </p:stCondLst>
                                  <p:childTnLst>
                                    <p:set>
                                      <p:cBhvr>
                                        <p:cTn id="31" dur="1" fill="hold">
                                          <p:stCondLst>
                                            <p:cond delay="0"/>
                                          </p:stCondLst>
                                        </p:cTn>
                                        <p:tgtEl>
                                          <p:spTgt spid="260099">
                                            <p:txEl>
                                              <p:pRg st="5" end="5"/>
                                            </p:txEl>
                                          </p:spTgt>
                                        </p:tgtEl>
                                        <p:attrNameLst>
                                          <p:attrName>style.visibility</p:attrName>
                                        </p:attrNameLst>
                                      </p:cBhvr>
                                      <p:to>
                                        <p:strVal val="visible"/>
                                      </p:to>
                                    </p:set>
                                    <p:animEffect transition="in" filter="barn(outHorizontal)">
                                      <p:cBhvr>
                                        <p:cTn id="32" dur="500"/>
                                        <p:tgtEl>
                                          <p:spTgt spid="26009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nodeType="clickEffect">
                                  <p:stCondLst>
                                    <p:cond delay="0"/>
                                  </p:stCondLst>
                                  <p:childTnLst>
                                    <p:set>
                                      <p:cBhvr>
                                        <p:cTn id="36" dur="1" fill="hold">
                                          <p:stCondLst>
                                            <p:cond delay="0"/>
                                          </p:stCondLst>
                                        </p:cTn>
                                        <p:tgtEl>
                                          <p:spTgt spid="260099">
                                            <p:txEl>
                                              <p:pRg st="6" end="6"/>
                                            </p:txEl>
                                          </p:spTgt>
                                        </p:tgtEl>
                                        <p:attrNameLst>
                                          <p:attrName>style.visibility</p:attrName>
                                        </p:attrNameLst>
                                      </p:cBhvr>
                                      <p:to>
                                        <p:strVal val="visible"/>
                                      </p:to>
                                    </p:set>
                                    <p:animEffect transition="in" filter="barn(outHorizontal)">
                                      <p:cBhvr>
                                        <p:cTn id="37" dur="500"/>
                                        <p:tgtEl>
                                          <p:spTgt spid="26009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42" fill="hold" nodeType="clickEffect">
                                  <p:stCondLst>
                                    <p:cond delay="0"/>
                                  </p:stCondLst>
                                  <p:childTnLst>
                                    <p:set>
                                      <p:cBhvr>
                                        <p:cTn id="41" dur="1" fill="hold">
                                          <p:stCondLst>
                                            <p:cond delay="0"/>
                                          </p:stCondLst>
                                        </p:cTn>
                                        <p:tgtEl>
                                          <p:spTgt spid="260099">
                                            <p:txEl>
                                              <p:pRg st="7" end="7"/>
                                            </p:txEl>
                                          </p:spTgt>
                                        </p:tgtEl>
                                        <p:attrNameLst>
                                          <p:attrName>style.visibility</p:attrName>
                                        </p:attrNameLst>
                                      </p:cBhvr>
                                      <p:to>
                                        <p:strVal val="visible"/>
                                      </p:to>
                                    </p:set>
                                    <p:animEffect transition="in" filter="barn(outHorizontal)">
                                      <p:cBhvr>
                                        <p:cTn id="42" dur="500"/>
                                        <p:tgtEl>
                                          <p:spTgt spid="26009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099" grpId="0" build="p" bldLvl="2"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6B71A37-9558-D39D-2C55-62E9617FDB79}"/>
              </a:ext>
            </a:extLst>
          </p:cNvPr>
          <p:cNvSpPr>
            <a:spLocks noGrp="1"/>
          </p:cNvSpPr>
          <p:nvPr>
            <p:ph type="sldNum" sz="quarter" idx="12"/>
          </p:nvPr>
        </p:nvSpPr>
        <p:spPr/>
        <p:txBody>
          <a:bodyPr/>
          <a:lstStyle/>
          <a:p>
            <a:fld id="{3BDCDF07-6388-734C-8282-8C4DCE87FE7C}" type="slidenum">
              <a:rPr lang="en-US" altLang="zh-CN"/>
              <a:pPr/>
              <a:t>5</a:t>
            </a:fld>
            <a:endParaRPr lang="en-US" altLang="zh-CN"/>
          </a:p>
        </p:txBody>
      </p:sp>
      <p:sp>
        <p:nvSpPr>
          <p:cNvPr id="261123" name="Rectangle 3">
            <a:extLst>
              <a:ext uri="{FF2B5EF4-FFF2-40B4-BE49-F238E27FC236}">
                <a16:creationId xmlns:a16="http://schemas.microsoft.com/office/drawing/2014/main" id="{EA7F22C1-FEEF-FDB6-0625-50C81E331088}"/>
              </a:ext>
            </a:extLst>
          </p:cNvPr>
          <p:cNvSpPr>
            <a:spLocks noGrp="1" noChangeArrowheads="1"/>
          </p:cNvSpPr>
          <p:nvPr>
            <p:ph type="body" idx="1"/>
          </p:nvPr>
        </p:nvSpPr>
        <p:spPr>
          <a:xfrm>
            <a:off x="1248127" y="1484689"/>
            <a:ext cx="9374188" cy="3305026"/>
          </a:xfrm>
        </p:spPr>
        <p:txBody>
          <a:bodyPr>
            <a:normAutofit fontScale="85000" lnSpcReduction="20000"/>
          </a:bodyPr>
          <a:lstStyle/>
          <a:p>
            <a:pPr marL="609600" indent="-609600">
              <a:buSzPct val="90000"/>
            </a:pPr>
            <a:r>
              <a:rPr lang="zh-CN" altLang="en-US" sz="2400" dirty="0"/>
              <a:t>面向对象</a:t>
            </a:r>
            <a:r>
              <a:rPr lang="en-US" altLang="zh-CN" sz="2400" dirty="0"/>
              <a:t>(</a:t>
            </a:r>
            <a:r>
              <a:rPr lang="en-US" altLang="zh-CN" sz="2400" dirty="0">
                <a:solidFill>
                  <a:srgbClr val="0432FF"/>
                </a:solidFill>
              </a:rPr>
              <a:t>Object Oriented-OO</a:t>
            </a:r>
            <a:r>
              <a:rPr lang="en-US" altLang="zh-CN" sz="2400" dirty="0"/>
              <a:t>) </a:t>
            </a:r>
          </a:p>
          <a:p>
            <a:pPr marL="990600" lvl="1" indent="-533400">
              <a:lnSpc>
                <a:spcPct val="150000"/>
              </a:lnSpc>
              <a:buSzPct val="90000"/>
            </a:pPr>
            <a:r>
              <a:rPr lang="zh-CN" altLang="en-US" sz="1800" dirty="0"/>
              <a:t>面向对象编程</a:t>
            </a:r>
            <a:r>
              <a:rPr lang="en-US" altLang="zh-CN" sz="1800" dirty="0"/>
              <a:t>(Object Oriented Programming-OOP)</a:t>
            </a:r>
          </a:p>
          <a:p>
            <a:pPr marL="990600" lvl="1" indent="-533400">
              <a:lnSpc>
                <a:spcPct val="150000"/>
              </a:lnSpc>
              <a:buSzPct val="90000"/>
            </a:pPr>
            <a:r>
              <a:rPr lang="zh-CN" altLang="en-US" sz="1800" dirty="0"/>
              <a:t>面向对象是一种</a:t>
            </a:r>
            <a:r>
              <a:rPr lang="zh-CN" altLang="en-US" sz="1800" dirty="0">
                <a:solidFill>
                  <a:srgbClr val="C00000"/>
                </a:solidFill>
              </a:rPr>
              <a:t>软件开发的方法</a:t>
            </a:r>
            <a:r>
              <a:rPr lang="zh-CN" altLang="en-US" sz="1800" dirty="0"/>
              <a:t>，“面向对象的分析与设计”</a:t>
            </a:r>
            <a:r>
              <a:rPr lang="en-US" altLang="zh-CN" sz="1800" dirty="0"/>
              <a:t>(OOA&amp;OOD—</a:t>
            </a:r>
            <a:r>
              <a:rPr lang="zh-CN" altLang="en-US" sz="1800" dirty="0"/>
              <a:t>研究生课程</a:t>
            </a:r>
            <a:r>
              <a:rPr lang="en-US" altLang="zh-CN" sz="1800" dirty="0"/>
              <a:t>)</a:t>
            </a:r>
          </a:p>
          <a:p>
            <a:pPr marL="990600" lvl="1" indent="-533400">
              <a:lnSpc>
                <a:spcPct val="150000"/>
              </a:lnSpc>
              <a:buSzPct val="90000"/>
            </a:pPr>
            <a:r>
              <a:rPr lang="zh-CN" altLang="en-US" sz="1800" dirty="0"/>
              <a:t>第一个面向对象的语言</a:t>
            </a:r>
            <a:r>
              <a:rPr lang="en-US" altLang="zh-CN" sz="1800" dirty="0"/>
              <a:t>: Simula-67</a:t>
            </a:r>
          </a:p>
          <a:p>
            <a:pPr marL="990600" lvl="1" indent="-533400">
              <a:lnSpc>
                <a:spcPct val="150000"/>
              </a:lnSpc>
              <a:buSzPct val="90000"/>
            </a:pPr>
            <a:r>
              <a:rPr lang="zh-CN" altLang="en-US" sz="1800" dirty="0"/>
              <a:t>第一个成功的面向对象编程语言</a:t>
            </a:r>
            <a:r>
              <a:rPr lang="en-US" altLang="zh-CN" sz="1800" dirty="0"/>
              <a:t>: Smalltalk</a:t>
            </a:r>
          </a:p>
          <a:p>
            <a:pPr marL="990600" lvl="1" indent="-533400">
              <a:lnSpc>
                <a:spcPct val="150000"/>
              </a:lnSpc>
              <a:buSzPct val="90000"/>
            </a:pPr>
            <a:r>
              <a:rPr lang="en-US" altLang="zh-CN" sz="1800" dirty="0">
                <a:solidFill>
                  <a:srgbClr val="0432FF"/>
                </a:solidFill>
              </a:rPr>
              <a:t>C++, JAVA, C#, PERL</a:t>
            </a:r>
            <a:r>
              <a:rPr lang="zh-CN" altLang="en-US" sz="1800" dirty="0"/>
              <a:t>等</a:t>
            </a:r>
          </a:p>
          <a:p>
            <a:pPr marL="1447800" lvl="2" indent="-533400">
              <a:lnSpc>
                <a:spcPct val="150000"/>
              </a:lnSpc>
              <a:buSzPct val="90000"/>
              <a:buFont typeface="Wingdings" pitchFamily="2" charset="2"/>
              <a:buAutoNum type="arabicPeriod"/>
            </a:pPr>
            <a:r>
              <a:rPr lang="zh-CN" altLang="en-US" sz="1600" dirty="0"/>
              <a:t>用客观世界中描述事物的方法来描述程序中要解决的问题</a:t>
            </a:r>
          </a:p>
          <a:p>
            <a:pPr marL="1447800" lvl="2" indent="-533400">
              <a:lnSpc>
                <a:spcPct val="150000"/>
              </a:lnSpc>
              <a:buSzPct val="90000"/>
              <a:buFont typeface="Wingdings" pitchFamily="2" charset="2"/>
              <a:buAutoNum type="arabicPeriod"/>
            </a:pPr>
            <a:r>
              <a:rPr lang="zh-CN" altLang="en-US" sz="1600" dirty="0"/>
              <a:t>万事万物都是对象</a:t>
            </a:r>
          </a:p>
          <a:p>
            <a:pPr marL="1447800" lvl="2" indent="-533400">
              <a:lnSpc>
                <a:spcPct val="150000"/>
              </a:lnSpc>
              <a:buSzPct val="90000"/>
              <a:buFont typeface="Wingdings" pitchFamily="2" charset="2"/>
              <a:buAutoNum type="arabicPeriod"/>
            </a:pPr>
            <a:r>
              <a:rPr lang="zh-CN" altLang="en-US" sz="1600" dirty="0"/>
              <a:t>程序便是成堆的对象，彼此通过消息的传递，请求其他对象进行工作 </a:t>
            </a:r>
          </a:p>
        </p:txBody>
      </p:sp>
      <p:sp>
        <p:nvSpPr>
          <p:cNvPr id="261125" name="Rectangle 5">
            <a:extLst>
              <a:ext uri="{FF2B5EF4-FFF2-40B4-BE49-F238E27FC236}">
                <a16:creationId xmlns:a16="http://schemas.microsoft.com/office/drawing/2014/main" id="{EBB2E7A7-4A66-EB45-CA90-7C9E7631AFDF}"/>
              </a:ext>
            </a:extLst>
          </p:cNvPr>
          <p:cNvSpPr>
            <a:spLocks noGrp="1" noChangeArrowheads="1"/>
          </p:cNvSpPr>
          <p:nvPr>
            <p:ph type="title"/>
          </p:nvPr>
        </p:nvSpPr>
        <p:spPr>
          <a:noFill/>
          <a:ln/>
        </p:spPr>
        <p:txBody>
          <a:bodyPr/>
          <a:lstStyle/>
          <a:p>
            <a:r>
              <a:rPr lang="en-US" altLang="zh-CN" sz="3200" dirty="0"/>
              <a:t>2 </a:t>
            </a:r>
            <a:r>
              <a:rPr lang="zh-CN" altLang="en-US" sz="3200" dirty="0"/>
              <a:t>基本概念 </a:t>
            </a:r>
            <a:r>
              <a:rPr lang="en-US" altLang="zh-CN" sz="3200" dirty="0"/>
              <a:t>(</a:t>
            </a:r>
            <a:r>
              <a:rPr lang="zh-CN" altLang="en-US" sz="3200" dirty="0"/>
              <a:t>续</a:t>
            </a:r>
            <a:r>
              <a:rPr lang="en-US" altLang="zh-CN" sz="3200" dirty="0"/>
              <a:t>)</a:t>
            </a:r>
          </a:p>
        </p:txBody>
      </p:sp>
      <p:sp>
        <p:nvSpPr>
          <p:cNvPr id="4" name="TextBox 3">
            <a:extLst>
              <a:ext uri="{FF2B5EF4-FFF2-40B4-BE49-F238E27FC236}">
                <a16:creationId xmlns:a16="http://schemas.microsoft.com/office/drawing/2014/main" id="{6DD1F809-7B50-DD16-0284-F216DB3835FB}"/>
              </a:ext>
            </a:extLst>
          </p:cNvPr>
          <p:cNvSpPr txBox="1"/>
          <p:nvPr/>
        </p:nvSpPr>
        <p:spPr>
          <a:xfrm>
            <a:off x="1248127" y="4789716"/>
            <a:ext cx="8784772" cy="864789"/>
          </a:xfrm>
          <a:prstGeom prst="rect">
            <a:avLst/>
          </a:prstGeom>
          <a:noFill/>
        </p:spPr>
        <p:txBody>
          <a:bodyPr wrap="square">
            <a:spAutoFit/>
          </a:bodyPr>
          <a:lstStyle/>
          <a:p>
            <a:pPr>
              <a:lnSpc>
                <a:spcPct val="150000"/>
              </a:lnSpc>
            </a:pPr>
            <a:r>
              <a:rPr lang="zh-CN" altLang="en-US" b="0" i="0" dirty="0">
                <a:solidFill>
                  <a:srgbClr val="262625"/>
                </a:solidFill>
                <a:effectLst/>
                <a:latin typeface="Times New Roman" panose="02020603050405020304" pitchFamily="18" charset="0"/>
              </a:rPr>
              <a:t>两种编程思想的</a:t>
            </a:r>
            <a:r>
              <a:rPr lang="zh-CN" altLang="en-US" b="0" i="0" dirty="0">
                <a:solidFill>
                  <a:srgbClr val="C00000"/>
                </a:solidFill>
                <a:effectLst/>
                <a:latin typeface="Times New Roman" panose="02020603050405020304" pitchFamily="18" charset="0"/>
              </a:rPr>
              <a:t>核心区别在于</a:t>
            </a:r>
            <a:r>
              <a:rPr lang="zh-CN" altLang="en-US" b="0" i="0" dirty="0">
                <a:solidFill>
                  <a:srgbClr val="262625"/>
                </a:solidFill>
                <a:effectLst/>
                <a:latin typeface="Times New Roman" panose="02020603050405020304" pitchFamily="18" charset="0"/>
              </a:rPr>
              <a:t>：</a:t>
            </a:r>
            <a:r>
              <a:rPr lang="zh-CN" altLang="en-US" b="0" i="0" dirty="0">
                <a:solidFill>
                  <a:srgbClr val="0432FF"/>
                </a:solidFill>
                <a:effectLst/>
                <a:latin typeface="Times New Roman" panose="02020603050405020304" pitchFamily="18" charset="0"/>
              </a:rPr>
              <a:t>面向过程</a:t>
            </a:r>
            <a:r>
              <a:rPr lang="zh-CN" altLang="en-US" b="0" i="0" dirty="0">
                <a:solidFill>
                  <a:srgbClr val="262625"/>
                </a:solidFill>
                <a:effectLst/>
                <a:latin typeface="Times New Roman" panose="02020603050405020304" pitchFamily="18" charset="0"/>
              </a:rPr>
              <a:t>专注于描述问题解决的步骤和流程，而</a:t>
            </a:r>
            <a:r>
              <a:rPr lang="zh-CN" altLang="en-US" b="0" i="0" dirty="0">
                <a:solidFill>
                  <a:srgbClr val="0432FF"/>
                </a:solidFill>
                <a:effectLst/>
                <a:latin typeface="Times New Roman" panose="02020603050405020304" pitchFamily="18" charset="0"/>
              </a:rPr>
              <a:t>面向对象</a:t>
            </a:r>
            <a:r>
              <a:rPr lang="zh-CN" altLang="en-US" b="0" i="0" dirty="0">
                <a:solidFill>
                  <a:srgbClr val="262625"/>
                </a:solidFill>
                <a:effectLst/>
                <a:latin typeface="Times New Roman" panose="02020603050405020304" pitchFamily="18" charset="0"/>
              </a:rPr>
              <a:t>关注具体事物（对象）在这些步骤中的行为。</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C81062-9139-8AE0-C591-5B7D472B389E}"/>
              </a:ext>
            </a:extLst>
          </p:cNvPr>
          <p:cNvSpPr txBox="1"/>
          <p:nvPr/>
        </p:nvSpPr>
        <p:spPr>
          <a:xfrm>
            <a:off x="642257" y="403162"/>
            <a:ext cx="4408714" cy="400110"/>
          </a:xfrm>
          <a:prstGeom prst="rect">
            <a:avLst/>
          </a:prstGeom>
          <a:noFill/>
        </p:spPr>
        <p:txBody>
          <a:bodyPr wrap="square">
            <a:spAutoFit/>
          </a:bodyPr>
          <a:lstStyle/>
          <a:p>
            <a:r>
              <a:rPr lang="zh-CN" altLang="en-US" sz="2000" b="0" i="0" dirty="0">
                <a:solidFill>
                  <a:srgbClr val="7030A0"/>
                </a:solidFill>
                <a:effectLst/>
                <a:latin typeface="Microsoft YaHei" panose="020B0503020204020204" pitchFamily="34" charset="-122"/>
                <a:ea typeface="Microsoft YaHei" panose="020B0503020204020204" pitchFamily="34" charset="-122"/>
              </a:rPr>
              <a:t>问：要把大象装进冰箱，该怎么做？  </a:t>
            </a:r>
            <a:endParaRPr lang="zh-CN" altLang="en-US" sz="2000" dirty="0">
              <a:solidFill>
                <a:srgbClr val="7030A0"/>
              </a:solidFill>
              <a:latin typeface="Microsoft YaHei" panose="020B0503020204020204" pitchFamily="34" charset="-122"/>
              <a:ea typeface="Microsoft YaHei" panose="020B0503020204020204" pitchFamily="34" charset="-122"/>
            </a:endParaRPr>
          </a:p>
        </p:txBody>
      </p:sp>
      <p:pic>
        <p:nvPicPr>
          <p:cNvPr id="4" name="Picture 3">
            <a:extLst>
              <a:ext uri="{FF2B5EF4-FFF2-40B4-BE49-F238E27FC236}">
                <a16:creationId xmlns:a16="http://schemas.microsoft.com/office/drawing/2014/main" id="{1EA6A0F8-A429-9E53-E095-ABC62DC01E8A}"/>
              </a:ext>
            </a:extLst>
          </p:cNvPr>
          <p:cNvPicPr>
            <a:picLocks noChangeAspect="1"/>
          </p:cNvPicPr>
          <p:nvPr/>
        </p:nvPicPr>
        <p:blipFill>
          <a:blip r:embed="rId2"/>
          <a:stretch>
            <a:fillRect/>
          </a:stretch>
        </p:blipFill>
        <p:spPr>
          <a:xfrm>
            <a:off x="889000" y="1136650"/>
            <a:ext cx="3556000" cy="4889500"/>
          </a:xfrm>
          <a:prstGeom prst="rect">
            <a:avLst/>
          </a:prstGeom>
          <a:effectLst>
            <a:outerShdw blurRad="63500" sx="102000" sy="102000" algn="ctr" rotWithShape="0">
              <a:prstClr val="black">
                <a:alpha val="40000"/>
              </a:prstClr>
            </a:outerShdw>
          </a:effectLst>
        </p:spPr>
      </p:pic>
      <p:sp>
        <p:nvSpPr>
          <p:cNvPr id="8" name="TextBox 7">
            <a:extLst>
              <a:ext uri="{FF2B5EF4-FFF2-40B4-BE49-F238E27FC236}">
                <a16:creationId xmlns:a16="http://schemas.microsoft.com/office/drawing/2014/main" id="{8B31A819-3C16-47F7-1111-62354F3128C3}"/>
              </a:ext>
            </a:extLst>
          </p:cNvPr>
          <p:cNvSpPr txBox="1"/>
          <p:nvPr/>
        </p:nvSpPr>
        <p:spPr>
          <a:xfrm>
            <a:off x="4953000" y="772494"/>
            <a:ext cx="6096000" cy="1280287"/>
          </a:xfrm>
          <a:prstGeom prst="rect">
            <a:avLst/>
          </a:prstGeom>
          <a:noFill/>
        </p:spPr>
        <p:txBody>
          <a:bodyPr wrap="square">
            <a:spAutoFit/>
          </a:bodyPr>
          <a:lstStyle/>
          <a:p>
            <a:pPr>
              <a:lnSpc>
                <a:spcPct val="150000"/>
              </a:lnSpc>
            </a:pPr>
            <a:r>
              <a:rPr lang="zh-CN" altLang="en-US" b="0" i="0" dirty="0">
                <a:solidFill>
                  <a:srgbClr val="262625"/>
                </a:solidFill>
                <a:effectLst/>
                <a:latin typeface="Times New Roman" panose="02020603050405020304" pitchFamily="18" charset="0"/>
              </a:rPr>
              <a:t>面向对象的编程思想首先关注问题中的</a:t>
            </a:r>
            <a:r>
              <a:rPr lang="zh-CN" altLang="en-US" b="1" i="0" dirty="0">
                <a:solidFill>
                  <a:srgbClr val="FF0000"/>
                </a:solidFill>
                <a:effectLst/>
                <a:latin typeface="Times New Roman" panose="02020603050405020304" pitchFamily="18" charset="0"/>
              </a:rPr>
              <a:t>关键对象</a:t>
            </a:r>
            <a:r>
              <a:rPr lang="zh-CN" altLang="en-US" b="0" i="0" dirty="0">
                <a:solidFill>
                  <a:srgbClr val="262625"/>
                </a:solidFill>
                <a:effectLst/>
                <a:latin typeface="Times New Roman" panose="02020603050405020304" pitchFamily="18" charset="0"/>
              </a:rPr>
              <a:t>，通过抽象出对象的属性和方法，</a:t>
            </a:r>
            <a:r>
              <a:rPr lang="zh-CN" altLang="en-US" b="1" i="0" dirty="0">
                <a:solidFill>
                  <a:srgbClr val="FF0000"/>
                </a:solidFill>
                <a:effectLst/>
                <a:latin typeface="Times New Roman" panose="02020603050405020304" pitchFamily="18" charset="0"/>
              </a:rPr>
              <a:t>构建解决方案</a:t>
            </a:r>
            <a:r>
              <a:rPr lang="zh-CN" altLang="en-US" b="0" i="0" dirty="0">
                <a:solidFill>
                  <a:srgbClr val="262625"/>
                </a:solidFill>
                <a:effectLst/>
                <a:latin typeface="Times New Roman" panose="02020603050405020304" pitchFamily="18" charset="0"/>
              </a:rPr>
              <a:t>。接着，将具有相同属性和行为的对象进一步抽象为类。</a:t>
            </a:r>
            <a:endParaRPr lang="zh-CN" altLang="en-US" dirty="0"/>
          </a:p>
        </p:txBody>
      </p:sp>
      <p:pic>
        <p:nvPicPr>
          <p:cNvPr id="9" name="Picture 8">
            <a:extLst>
              <a:ext uri="{FF2B5EF4-FFF2-40B4-BE49-F238E27FC236}">
                <a16:creationId xmlns:a16="http://schemas.microsoft.com/office/drawing/2014/main" id="{90D711CD-BD9A-DED7-92A8-1440491B83F4}"/>
              </a:ext>
            </a:extLst>
          </p:cNvPr>
          <p:cNvPicPr>
            <a:picLocks noChangeAspect="1"/>
          </p:cNvPicPr>
          <p:nvPr/>
        </p:nvPicPr>
        <p:blipFill>
          <a:blip r:embed="rId3"/>
          <a:stretch>
            <a:fillRect/>
          </a:stretch>
        </p:blipFill>
        <p:spPr>
          <a:xfrm>
            <a:off x="5746750" y="2174938"/>
            <a:ext cx="4508500" cy="42799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318333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B96E5D22-1724-58CC-1334-CC76A53B0671}"/>
              </a:ext>
            </a:extLst>
          </p:cNvPr>
          <p:cNvSpPr>
            <a:spLocks noGrp="1"/>
          </p:cNvSpPr>
          <p:nvPr>
            <p:ph type="sldNum" sz="quarter" idx="12"/>
          </p:nvPr>
        </p:nvSpPr>
        <p:spPr/>
        <p:txBody>
          <a:bodyPr/>
          <a:lstStyle/>
          <a:p>
            <a:fld id="{1167CEEF-4D0D-804A-8A8E-F88624F68BFA}" type="slidenum">
              <a:rPr lang="en-US" altLang="zh-CN"/>
              <a:pPr/>
              <a:t>7</a:t>
            </a:fld>
            <a:endParaRPr lang="en-US" altLang="zh-CN"/>
          </a:p>
        </p:txBody>
      </p:sp>
      <p:sp>
        <p:nvSpPr>
          <p:cNvPr id="262147" name="Rectangle 3">
            <a:extLst>
              <a:ext uri="{FF2B5EF4-FFF2-40B4-BE49-F238E27FC236}">
                <a16:creationId xmlns:a16="http://schemas.microsoft.com/office/drawing/2014/main" id="{A6DF3DC1-04DE-3147-84A7-9D50D3AD86E6}"/>
              </a:ext>
            </a:extLst>
          </p:cNvPr>
          <p:cNvSpPr>
            <a:spLocks noGrp="1" noChangeArrowheads="1"/>
          </p:cNvSpPr>
          <p:nvPr>
            <p:ph type="body" idx="1"/>
          </p:nvPr>
        </p:nvSpPr>
        <p:spPr>
          <a:xfrm>
            <a:off x="1885156" y="1586965"/>
            <a:ext cx="8421688" cy="4296310"/>
          </a:xfrm>
        </p:spPr>
        <p:txBody>
          <a:bodyPr>
            <a:normAutofit/>
          </a:bodyPr>
          <a:lstStyle/>
          <a:p>
            <a:pPr marL="609600" indent="-609600">
              <a:buSzPct val="90000"/>
            </a:pPr>
            <a:r>
              <a:rPr lang="zh-CN" altLang="en-US" sz="2400" dirty="0"/>
              <a:t>五个基本概念</a:t>
            </a:r>
          </a:p>
          <a:p>
            <a:pPr marL="990600" lvl="1" indent="-533400">
              <a:lnSpc>
                <a:spcPct val="150000"/>
              </a:lnSpc>
              <a:buSzPct val="90000"/>
              <a:buFont typeface="Wingdings" pitchFamily="2" charset="2"/>
              <a:buAutoNum type="arabicPeriod"/>
            </a:pPr>
            <a:r>
              <a:rPr lang="zh-CN" altLang="en-US" sz="2000" dirty="0"/>
              <a:t>对象</a:t>
            </a:r>
            <a:r>
              <a:rPr lang="en-US" altLang="zh-CN" sz="2000" dirty="0"/>
              <a:t> (</a:t>
            </a:r>
            <a:r>
              <a:rPr lang="en-US" altLang="zh-CN" sz="2000" dirty="0">
                <a:solidFill>
                  <a:srgbClr val="C00000"/>
                </a:solidFill>
              </a:rPr>
              <a:t>Objects</a:t>
            </a:r>
            <a:r>
              <a:rPr lang="en-US" altLang="zh-CN" sz="2000" dirty="0"/>
              <a:t>)</a:t>
            </a:r>
            <a:endParaRPr lang="zh-CN" altLang="en-US" sz="2000" dirty="0"/>
          </a:p>
          <a:p>
            <a:pPr marL="990600" lvl="1" indent="-533400">
              <a:lnSpc>
                <a:spcPct val="150000"/>
              </a:lnSpc>
              <a:buSzPct val="90000"/>
              <a:buFont typeface="Wingdings" pitchFamily="2" charset="2"/>
              <a:buAutoNum type="arabicPeriod"/>
            </a:pPr>
            <a:r>
              <a:rPr lang="zh-CN" altLang="en-US" sz="2000" dirty="0"/>
              <a:t>类</a:t>
            </a:r>
            <a:r>
              <a:rPr lang="en-US" altLang="zh-CN" sz="2000" dirty="0"/>
              <a:t> </a:t>
            </a:r>
            <a:r>
              <a:rPr lang="en-US" altLang="zh-CN" sz="1800" dirty="0">
                <a:solidFill>
                  <a:srgbClr val="333333"/>
                </a:solidFill>
                <a:latin typeface="Menlo" panose="020B0609030804020204" pitchFamily="49" charset="0"/>
              </a:rPr>
              <a:t>(</a:t>
            </a:r>
            <a:r>
              <a:rPr lang="en-US" altLang="zh-CN" sz="1800" dirty="0">
                <a:solidFill>
                  <a:srgbClr val="C00000"/>
                </a:solidFill>
                <a:latin typeface="Menlo" panose="020B0609030804020204" pitchFamily="49" charset="0"/>
              </a:rPr>
              <a:t>Classes</a:t>
            </a:r>
            <a:r>
              <a:rPr lang="en-US" altLang="zh-CN" sz="1800" dirty="0">
                <a:solidFill>
                  <a:srgbClr val="333333"/>
                </a:solidFill>
                <a:latin typeface="Menlo" panose="020B0609030804020204" pitchFamily="49" charset="0"/>
              </a:rPr>
              <a:t>)</a:t>
            </a:r>
            <a:endParaRPr lang="zh-CN" altLang="en-US" sz="1800" dirty="0">
              <a:solidFill>
                <a:srgbClr val="333333"/>
              </a:solidFill>
              <a:latin typeface="Menlo" panose="020B0609030804020204" pitchFamily="49" charset="0"/>
            </a:endParaRPr>
          </a:p>
          <a:p>
            <a:pPr marL="990600" lvl="1" indent="-533400">
              <a:lnSpc>
                <a:spcPct val="150000"/>
              </a:lnSpc>
              <a:buSzPct val="90000"/>
              <a:buFont typeface="Wingdings" pitchFamily="2" charset="2"/>
              <a:buAutoNum type="arabicPeriod"/>
            </a:pPr>
            <a:r>
              <a:rPr lang="zh-CN" altLang="en-US" sz="2000" dirty="0"/>
              <a:t>封装性</a:t>
            </a:r>
            <a:r>
              <a:rPr lang="en-US" altLang="zh-CN" sz="2000" dirty="0"/>
              <a:t> (</a:t>
            </a:r>
            <a:r>
              <a:rPr lang="en-US" altLang="zh-CN" sz="2000" dirty="0">
                <a:solidFill>
                  <a:srgbClr val="C00000"/>
                </a:solidFill>
              </a:rPr>
              <a:t>Encapsulation</a:t>
            </a:r>
            <a:r>
              <a:rPr lang="en-US" altLang="zh-CN" sz="2000" dirty="0"/>
              <a:t>)</a:t>
            </a:r>
            <a:endParaRPr lang="zh-CN" altLang="en-US" sz="2000" dirty="0"/>
          </a:p>
          <a:p>
            <a:pPr marL="990600" lvl="1" indent="-533400">
              <a:lnSpc>
                <a:spcPct val="150000"/>
              </a:lnSpc>
              <a:buSzPct val="90000"/>
              <a:buFont typeface="Wingdings" pitchFamily="2" charset="2"/>
              <a:buAutoNum type="arabicPeriod"/>
            </a:pPr>
            <a:r>
              <a:rPr lang="zh-CN" altLang="en-US" sz="2000" dirty="0"/>
              <a:t>继承性</a:t>
            </a:r>
            <a:r>
              <a:rPr lang="en-US" altLang="zh-CN" sz="2000" dirty="0"/>
              <a:t> (</a:t>
            </a:r>
            <a:r>
              <a:rPr lang="en-US" altLang="zh-CN" sz="2000" dirty="0">
                <a:solidFill>
                  <a:srgbClr val="C00000"/>
                </a:solidFill>
              </a:rPr>
              <a:t>Inheritance</a:t>
            </a:r>
            <a:r>
              <a:rPr lang="en-US" altLang="zh-CN" sz="2000" dirty="0"/>
              <a:t>)</a:t>
            </a:r>
            <a:endParaRPr lang="zh-CN" altLang="en-US" sz="2000" dirty="0"/>
          </a:p>
          <a:p>
            <a:pPr marL="990600" lvl="1" indent="-533400">
              <a:lnSpc>
                <a:spcPct val="150000"/>
              </a:lnSpc>
              <a:buSzPct val="90000"/>
              <a:buFont typeface="Wingdings" pitchFamily="2" charset="2"/>
              <a:buAutoNum type="arabicPeriod"/>
            </a:pPr>
            <a:r>
              <a:rPr lang="zh-CN" altLang="en-US" sz="2000" dirty="0"/>
              <a:t>多态性</a:t>
            </a:r>
            <a:r>
              <a:rPr lang="en-US" altLang="zh-CN" sz="2000" dirty="0"/>
              <a:t> (</a:t>
            </a:r>
            <a:r>
              <a:rPr lang="en-US" altLang="zh-CN" sz="2000" dirty="0">
                <a:solidFill>
                  <a:srgbClr val="C00000"/>
                </a:solidFill>
              </a:rPr>
              <a:t>Polymorphism</a:t>
            </a:r>
            <a:r>
              <a:rPr lang="en-US" altLang="zh-CN" sz="2000" dirty="0"/>
              <a:t>)</a:t>
            </a:r>
          </a:p>
          <a:p>
            <a:pPr marL="990600" lvl="1" indent="-533400">
              <a:lnSpc>
                <a:spcPct val="150000"/>
              </a:lnSpc>
              <a:buSzPct val="90000"/>
              <a:buFont typeface="Wingdings" pitchFamily="2" charset="2"/>
              <a:buAutoNum type="arabicPeriod"/>
            </a:pPr>
            <a:r>
              <a:rPr lang="zh-CN" altLang="en-US" sz="2000" dirty="0">
                <a:solidFill>
                  <a:srgbClr val="7030A0"/>
                </a:solidFill>
              </a:rPr>
              <a:t>抽象性</a:t>
            </a:r>
            <a:r>
              <a:rPr lang="en-US" altLang="zh-CN" sz="2000" dirty="0">
                <a:solidFill>
                  <a:srgbClr val="7030A0"/>
                </a:solidFill>
              </a:rPr>
              <a:t> (Abstraction)</a:t>
            </a:r>
            <a:endParaRPr lang="zh-CN" altLang="en-US" sz="1800" dirty="0">
              <a:solidFill>
                <a:srgbClr val="7030A0"/>
              </a:solidFill>
            </a:endParaRPr>
          </a:p>
        </p:txBody>
      </p:sp>
      <p:sp>
        <p:nvSpPr>
          <p:cNvPr id="262149" name="Rectangle 5">
            <a:extLst>
              <a:ext uri="{FF2B5EF4-FFF2-40B4-BE49-F238E27FC236}">
                <a16:creationId xmlns:a16="http://schemas.microsoft.com/office/drawing/2014/main" id="{F9B85652-E2D2-31A9-45E0-A466D971840B}"/>
              </a:ext>
            </a:extLst>
          </p:cNvPr>
          <p:cNvSpPr>
            <a:spLocks noGrp="1" noChangeArrowheads="1"/>
          </p:cNvSpPr>
          <p:nvPr>
            <p:ph type="title"/>
          </p:nvPr>
        </p:nvSpPr>
        <p:spPr>
          <a:noFill/>
          <a:ln/>
        </p:spPr>
        <p:txBody>
          <a:bodyPr/>
          <a:lstStyle/>
          <a:p>
            <a:r>
              <a:rPr lang="en-US" altLang="zh-CN" sz="3200" dirty="0"/>
              <a:t>3 </a:t>
            </a:r>
            <a:r>
              <a:rPr lang="zh-CN" altLang="en-US" sz="3200" dirty="0"/>
              <a:t>基本概念 </a:t>
            </a:r>
            <a:r>
              <a:rPr lang="en-US" altLang="zh-CN" sz="3200" dirty="0"/>
              <a:t>(</a:t>
            </a:r>
            <a:r>
              <a:rPr lang="zh-CN" altLang="en-US" sz="3200" dirty="0"/>
              <a:t>续</a:t>
            </a:r>
            <a:r>
              <a:rPr lang="en-US" altLang="zh-CN" sz="3200" dirty="0"/>
              <a:t>)</a:t>
            </a:r>
          </a:p>
        </p:txBody>
      </p:sp>
      <p:pic>
        <p:nvPicPr>
          <p:cNvPr id="1026" name="Picture 2" descr="features of OOPs">
            <a:extLst>
              <a:ext uri="{FF2B5EF4-FFF2-40B4-BE49-F238E27FC236}">
                <a16:creationId xmlns:a16="http://schemas.microsoft.com/office/drawing/2014/main" id="{90C1DA96-2CDC-2EA4-936E-D8C728A855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2402" y="1828799"/>
            <a:ext cx="4955067" cy="3646038"/>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8312C8B-5E90-3190-154A-D3AF3125734C}"/>
              </a:ext>
            </a:extLst>
          </p:cNvPr>
          <p:cNvSpPr>
            <a:spLocks noGrp="1"/>
          </p:cNvSpPr>
          <p:nvPr>
            <p:ph type="sldNum" sz="quarter" idx="12"/>
          </p:nvPr>
        </p:nvSpPr>
        <p:spPr/>
        <p:txBody>
          <a:bodyPr/>
          <a:lstStyle/>
          <a:p>
            <a:fld id="{68655747-F361-C24E-A060-847F34C3ECDF}" type="slidenum">
              <a:rPr lang="en-US" altLang="zh-CN"/>
              <a:pPr/>
              <a:t>8</a:t>
            </a:fld>
            <a:endParaRPr lang="en-US" altLang="zh-CN"/>
          </a:p>
        </p:txBody>
      </p:sp>
      <p:sp>
        <p:nvSpPr>
          <p:cNvPr id="264195" name="Rectangle 3">
            <a:extLst>
              <a:ext uri="{FF2B5EF4-FFF2-40B4-BE49-F238E27FC236}">
                <a16:creationId xmlns:a16="http://schemas.microsoft.com/office/drawing/2014/main" id="{71A253E6-F2F2-FC20-8083-C8E9E5648860}"/>
              </a:ext>
            </a:extLst>
          </p:cNvPr>
          <p:cNvSpPr>
            <a:spLocks noGrp="1" noChangeArrowheads="1"/>
          </p:cNvSpPr>
          <p:nvPr>
            <p:ph type="body" idx="1"/>
          </p:nvPr>
        </p:nvSpPr>
        <p:spPr>
          <a:xfrm>
            <a:off x="1498314" y="1712360"/>
            <a:ext cx="8497888" cy="4298022"/>
          </a:xfrm>
        </p:spPr>
        <p:txBody>
          <a:bodyPr>
            <a:normAutofit lnSpcReduction="10000"/>
          </a:bodyPr>
          <a:lstStyle/>
          <a:p>
            <a:pPr marL="609600" indent="-609600">
              <a:lnSpc>
                <a:spcPct val="150000"/>
              </a:lnSpc>
              <a:buSzPct val="90000"/>
              <a:buFont typeface="Wingdings" pitchFamily="2" charset="2"/>
              <a:buAutoNum type="arabicPeriod"/>
            </a:pPr>
            <a:r>
              <a:rPr lang="zh-CN" altLang="en-US" dirty="0"/>
              <a:t>对象 </a:t>
            </a:r>
            <a:r>
              <a:rPr lang="en-US" altLang="zh-CN" dirty="0"/>
              <a:t>(object)</a:t>
            </a:r>
          </a:p>
          <a:p>
            <a:pPr marL="990600" lvl="1" indent="-533400">
              <a:lnSpc>
                <a:spcPct val="150000"/>
              </a:lnSpc>
              <a:buSzPct val="90000"/>
            </a:pPr>
            <a:r>
              <a:rPr lang="zh-CN" altLang="en-US" dirty="0"/>
              <a:t>状态</a:t>
            </a:r>
            <a:r>
              <a:rPr lang="zh-CN" altLang="en-US" dirty="0">
                <a:sym typeface="Wingdings" pitchFamily="2" charset="2"/>
              </a:rPr>
              <a:t></a:t>
            </a:r>
            <a:r>
              <a:rPr lang="zh-CN" altLang="en-US" dirty="0"/>
              <a:t>变量</a:t>
            </a:r>
            <a:r>
              <a:rPr lang="en-US" altLang="zh-CN" dirty="0"/>
              <a:t>(variables)</a:t>
            </a:r>
          </a:p>
          <a:p>
            <a:pPr marL="990600" lvl="1" indent="-533400">
              <a:lnSpc>
                <a:spcPct val="150000"/>
              </a:lnSpc>
              <a:buSzPct val="90000"/>
            </a:pPr>
            <a:r>
              <a:rPr lang="zh-CN" altLang="en-US" dirty="0"/>
              <a:t>行为</a:t>
            </a:r>
            <a:r>
              <a:rPr lang="zh-CN" altLang="en-US" dirty="0">
                <a:sym typeface="Wingdings" pitchFamily="2" charset="2"/>
              </a:rPr>
              <a:t></a:t>
            </a:r>
            <a:r>
              <a:rPr lang="zh-CN" altLang="en-US" dirty="0"/>
              <a:t>方法</a:t>
            </a:r>
            <a:r>
              <a:rPr lang="en-US" altLang="zh-CN" dirty="0"/>
              <a:t>(method)</a:t>
            </a:r>
          </a:p>
          <a:p>
            <a:pPr marL="990600" lvl="1" indent="-533400">
              <a:lnSpc>
                <a:spcPct val="150000"/>
              </a:lnSpc>
              <a:buSzPct val="90000"/>
            </a:pPr>
            <a:r>
              <a:rPr lang="zh-CN" altLang="en-US" dirty="0"/>
              <a:t>对象就是变量和相关方法的软件集合</a:t>
            </a:r>
            <a:endParaRPr lang="en-US" altLang="zh-CN" dirty="0"/>
          </a:p>
          <a:p>
            <a:pPr marL="990600" lvl="1" indent="-533400">
              <a:lnSpc>
                <a:spcPct val="150000"/>
              </a:lnSpc>
              <a:buSzPct val="90000"/>
            </a:pPr>
            <a:r>
              <a:rPr lang="en-US" altLang="zh-CN" dirty="0">
                <a:solidFill>
                  <a:srgbClr val="C00000"/>
                </a:solidFill>
              </a:rPr>
              <a:t>Everything is an object.</a:t>
            </a:r>
            <a:endParaRPr lang="zh-CN" altLang="en-US" dirty="0">
              <a:solidFill>
                <a:srgbClr val="C00000"/>
              </a:solidFill>
            </a:endParaRPr>
          </a:p>
          <a:p>
            <a:pPr marL="990600" lvl="1" indent="-533400">
              <a:lnSpc>
                <a:spcPct val="150000"/>
              </a:lnSpc>
              <a:buSzPct val="90000"/>
            </a:pPr>
            <a:r>
              <a:rPr lang="zh-CN" altLang="en-US" dirty="0"/>
              <a:t>一个对象可以由其他对象组合而成，窗口</a:t>
            </a:r>
            <a:r>
              <a:rPr lang="en-US" altLang="zh-CN" dirty="0"/>
              <a:t>(</a:t>
            </a:r>
            <a:r>
              <a:rPr lang="zh-CN" altLang="en-US" dirty="0"/>
              <a:t>按钮，菜单条，文本框，状态栏等</a:t>
            </a:r>
            <a:r>
              <a:rPr lang="en-US" altLang="zh-CN" dirty="0"/>
              <a:t>)</a:t>
            </a:r>
          </a:p>
          <a:p>
            <a:pPr marL="990600" lvl="1" indent="-533400">
              <a:lnSpc>
                <a:spcPct val="150000"/>
              </a:lnSpc>
              <a:buSzPct val="90000"/>
            </a:pPr>
            <a:r>
              <a:rPr lang="zh-CN" altLang="en-US" dirty="0"/>
              <a:t>程序就是对象的集合，对象之间相互交互和通信完成任务</a:t>
            </a:r>
          </a:p>
          <a:p>
            <a:pPr marL="990600" lvl="1" indent="-533400">
              <a:lnSpc>
                <a:spcPct val="150000"/>
              </a:lnSpc>
              <a:buSzPct val="90000"/>
            </a:pPr>
            <a:r>
              <a:rPr lang="zh-CN" altLang="en-US" dirty="0"/>
              <a:t>搭积木</a:t>
            </a:r>
          </a:p>
          <a:p>
            <a:pPr marL="990600" lvl="1" indent="-533400">
              <a:lnSpc>
                <a:spcPct val="150000"/>
              </a:lnSpc>
              <a:buSzPct val="90000"/>
            </a:pPr>
            <a:r>
              <a:rPr lang="en-US" altLang="zh-CN" dirty="0"/>
              <a:t>A program is a bunch of objects telling each other what to do by sending messages</a:t>
            </a:r>
          </a:p>
        </p:txBody>
      </p:sp>
      <p:sp>
        <p:nvSpPr>
          <p:cNvPr id="264197" name="Rectangle 5">
            <a:extLst>
              <a:ext uri="{FF2B5EF4-FFF2-40B4-BE49-F238E27FC236}">
                <a16:creationId xmlns:a16="http://schemas.microsoft.com/office/drawing/2014/main" id="{5E436BDA-623B-EC32-835A-7A06BB902E72}"/>
              </a:ext>
            </a:extLst>
          </p:cNvPr>
          <p:cNvSpPr>
            <a:spLocks noGrp="1" noChangeArrowheads="1"/>
          </p:cNvSpPr>
          <p:nvPr>
            <p:ph type="title"/>
          </p:nvPr>
        </p:nvSpPr>
        <p:spPr>
          <a:noFill/>
          <a:ln/>
        </p:spPr>
        <p:txBody>
          <a:bodyPr/>
          <a:lstStyle/>
          <a:p>
            <a:r>
              <a:rPr lang="en-US" altLang="zh-CN" dirty="0"/>
              <a:t>3</a:t>
            </a:r>
            <a:r>
              <a:rPr lang="en-GB" altLang="zh-CN" dirty="0"/>
              <a:t>.1 </a:t>
            </a:r>
            <a:r>
              <a:rPr lang="zh-CN" altLang="en-GB" dirty="0"/>
              <a:t>对象 </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669BDBB0-DFB8-D727-40F7-74B2E6D0D743}"/>
              </a:ext>
            </a:extLst>
          </p:cNvPr>
          <p:cNvSpPr>
            <a:spLocks noGrp="1"/>
          </p:cNvSpPr>
          <p:nvPr>
            <p:ph type="sldNum" sz="quarter" idx="12"/>
          </p:nvPr>
        </p:nvSpPr>
        <p:spPr/>
        <p:txBody>
          <a:bodyPr/>
          <a:lstStyle/>
          <a:p>
            <a:fld id="{685FBAFC-3A51-8440-AE3A-BCE106F94F36}" type="slidenum">
              <a:rPr lang="en-US" altLang="zh-CN"/>
              <a:pPr/>
              <a:t>9</a:t>
            </a:fld>
            <a:endParaRPr lang="en-US" altLang="zh-CN"/>
          </a:p>
        </p:txBody>
      </p:sp>
      <p:sp>
        <p:nvSpPr>
          <p:cNvPr id="316418" name="Rectangle 2">
            <a:extLst>
              <a:ext uri="{FF2B5EF4-FFF2-40B4-BE49-F238E27FC236}">
                <a16:creationId xmlns:a16="http://schemas.microsoft.com/office/drawing/2014/main" id="{AB318685-8138-E13F-B0E9-4FB53B36E6C0}"/>
              </a:ext>
            </a:extLst>
          </p:cNvPr>
          <p:cNvSpPr>
            <a:spLocks noGrp="1" noChangeArrowheads="1"/>
          </p:cNvSpPr>
          <p:nvPr>
            <p:ph type="body" idx="1"/>
          </p:nvPr>
        </p:nvSpPr>
        <p:spPr>
          <a:xfrm>
            <a:off x="1846297" y="1673134"/>
            <a:ext cx="8497888" cy="4529191"/>
          </a:xfrm>
        </p:spPr>
        <p:txBody>
          <a:bodyPr/>
          <a:lstStyle/>
          <a:p>
            <a:pPr marL="609600" indent="-609600">
              <a:lnSpc>
                <a:spcPct val="150000"/>
              </a:lnSpc>
              <a:buSzPct val="90000"/>
              <a:buFont typeface="Wingdings" pitchFamily="2" charset="2"/>
              <a:buAutoNum type="arabicPeriod" startAt="2"/>
            </a:pPr>
            <a:r>
              <a:rPr lang="zh-CN" altLang="en-US" dirty="0"/>
              <a:t>类 </a:t>
            </a:r>
            <a:r>
              <a:rPr lang="en-US" altLang="zh-CN" dirty="0"/>
              <a:t>(class)</a:t>
            </a:r>
          </a:p>
          <a:p>
            <a:pPr marL="990600" lvl="1" indent="-533400">
              <a:lnSpc>
                <a:spcPct val="150000"/>
              </a:lnSpc>
              <a:buSzPct val="90000"/>
            </a:pPr>
            <a:r>
              <a:rPr lang="zh-CN" altLang="en-US" dirty="0"/>
              <a:t>亚里士多德</a:t>
            </a:r>
            <a:r>
              <a:rPr lang="en-US" altLang="zh-CN" dirty="0"/>
              <a:t>: the class of fishes and the class of birds</a:t>
            </a:r>
          </a:p>
          <a:p>
            <a:pPr marL="990600" lvl="1" indent="-533400">
              <a:lnSpc>
                <a:spcPct val="150000"/>
              </a:lnSpc>
              <a:buSzPct val="90000"/>
            </a:pPr>
            <a:r>
              <a:rPr lang="zh-CN" altLang="en-US" dirty="0"/>
              <a:t>现实世界中，存在很多同类的对象，很多桌子、书、自行车</a:t>
            </a:r>
          </a:p>
          <a:p>
            <a:pPr marL="990600" lvl="1" indent="-533400">
              <a:lnSpc>
                <a:spcPct val="150000"/>
              </a:lnSpc>
              <a:buSzPct val="90000"/>
            </a:pPr>
            <a:r>
              <a:rPr lang="zh-CN" altLang="en-US" dirty="0"/>
              <a:t>一种原型，一种抽象，一种共性，一个模板</a:t>
            </a:r>
          </a:p>
          <a:p>
            <a:pPr marL="990600" lvl="1" indent="-533400">
              <a:lnSpc>
                <a:spcPct val="150000"/>
              </a:lnSpc>
              <a:buSzPct val="90000"/>
            </a:pPr>
            <a:r>
              <a:rPr lang="en-US" altLang="zh-CN" dirty="0">
                <a:solidFill>
                  <a:srgbClr val="C00000"/>
                </a:solidFill>
              </a:rPr>
              <a:t>Every object has a type</a:t>
            </a:r>
          </a:p>
          <a:p>
            <a:pPr marL="990600" lvl="1" indent="-533400">
              <a:lnSpc>
                <a:spcPct val="150000"/>
              </a:lnSpc>
              <a:buSzPct val="90000"/>
            </a:pPr>
            <a:r>
              <a:rPr lang="zh-CN" altLang="en-US" dirty="0"/>
              <a:t>实例</a:t>
            </a:r>
            <a:r>
              <a:rPr lang="en-US" altLang="zh-CN" dirty="0"/>
              <a:t>(instance)</a:t>
            </a:r>
            <a:r>
              <a:rPr lang="zh-CN" altLang="en-US" dirty="0"/>
              <a:t>，某类对象的一个特定实体，类是对象的一个抽象</a:t>
            </a:r>
          </a:p>
          <a:p>
            <a:pPr marL="990600" lvl="1" indent="-533400">
              <a:lnSpc>
                <a:spcPct val="150000"/>
              </a:lnSpc>
              <a:buSzPct val="90000"/>
            </a:pPr>
            <a:r>
              <a:rPr lang="zh-CN" altLang="en-US" dirty="0"/>
              <a:t>表格</a:t>
            </a:r>
            <a:r>
              <a:rPr lang="en-US" altLang="zh-CN" dirty="0"/>
              <a:t>(</a:t>
            </a:r>
            <a:r>
              <a:rPr lang="zh-CN" altLang="en-US" dirty="0"/>
              <a:t>类</a:t>
            </a:r>
            <a:r>
              <a:rPr lang="en-US" altLang="zh-CN" dirty="0"/>
              <a:t>) </a:t>
            </a:r>
            <a:r>
              <a:rPr lang="zh-CN" altLang="en-US" dirty="0"/>
              <a:t>填入不同的个人信息</a:t>
            </a:r>
            <a:r>
              <a:rPr lang="zh-CN" altLang="en-US" dirty="0">
                <a:sym typeface="Wingdings" pitchFamily="2" charset="2"/>
              </a:rPr>
              <a:t></a:t>
            </a:r>
            <a:r>
              <a:rPr lang="zh-CN" altLang="en-US" dirty="0"/>
              <a:t>不同的对象</a:t>
            </a:r>
          </a:p>
        </p:txBody>
      </p:sp>
      <p:sp>
        <p:nvSpPr>
          <p:cNvPr id="316419" name="Rectangle 3">
            <a:extLst>
              <a:ext uri="{FF2B5EF4-FFF2-40B4-BE49-F238E27FC236}">
                <a16:creationId xmlns:a16="http://schemas.microsoft.com/office/drawing/2014/main" id="{EBDF4FB3-E743-59B7-7830-4EE799BF19A4}"/>
              </a:ext>
            </a:extLst>
          </p:cNvPr>
          <p:cNvSpPr>
            <a:spLocks noGrp="1" noChangeArrowheads="1"/>
          </p:cNvSpPr>
          <p:nvPr>
            <p:ph type="title"/>
          </p:nvPr>
        </p:nvSpPr>
        <p:spPr>
          <a:noFill/>
          <a:ln/>
        </p:spPr>
        <p:txBody>
          <a:bodyPr/>
          <a:lstStyle/>
          <a:p>
            <a:r>
              <a:rPr lang="en-US" altLang="zh-CN" dirty="0"/>
              <a:t>3</a:t>
            </a:r>
            <a:r>
              <a:rPr lang="en-GB" altLang="zh-CN" dirty="0"/>
              <a:t>.2 </a:t>
            </a:r>
            <a:r>
              <a:rPr lang="zh-CN" altLang="en-GB" dirty="0"/>
              <a:t>类</a:t>
            </a:r>
            <a:endParaRPr lang="zh-CN" altLang="en-US" dirty="0"/>
          </a:p>
        </p:txBody>
      </p:sp>
      <p:pic>
        <p:nvPicPr>
          <p:cNvPr id="2050" name="Picture 2" descr="class and object in OOPs">
            <a:extLst>
              <a:ext uri="{FF2B5EF4-FFF2-40B4-BE49-F238E27FC236}">
                <a16:creationId xmlns:a16="http://schemas.microsoft.com/office/drawing/2014/main" id="{5E07DCEA-981C-4118-CCEE-CA9696EF80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7726" y="4844572"/>
            <a:ext cx="2539409" cy="956511"/>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22F5C8E8-E266-2B03-DF5B-FB2DC3BFB0C2}"/>
              </a:ext>
            </a:extLst>
          </p:cNvPr>
          <p:cNvSpPr>
            <a:spLocks noGrp="1"/>
          </p:cNvSpPr>
          <p:nvPr>
            <p:ph type="sldNum" sz="quarter" idx="12"/>
          </p:nvPr>
        </p:nvSpPr>
        <p:spPr/>
        <p:txBody>
          <a:bodyPr/>
          <a:lstStyle/>
          <a:p>
            <a:fld id="{5B8E6E1D-025E-A644-ABB4-48FB4DC486AC}" type="slidenum">
              <a:rPr lang="en-US" altLang="zh-CN"/>
              <a:pPr/>
              <a:t>10</a:t>
            </a:fld>
            <a:endParaRPr lang="en-US" altLang="zh-CN"/>
          </a:p>
        </p:txBody>
      </p:sp>
      <p:sp>
        <p:nvSpPr>
          <p:cNvPr id="265219" name="Rectangle 3">
            <a:extLst>
              <a:ext uri="{FF2B5EF4-FFF2-40B4-BE49-F238E27FC236}">
                <a16:creationId xmlns:a16="http://schemas.microsoft.com/office/drawing/2014/main" id="{7514735D-FADF-CDA5-CBCC-753737BB6C24}"/>
              </a:ext>
            </a:extLst>
          </p:cNvPr>
          <p:cNvSpPr>
            <a:spLocks noGrp="1" noChangeArrowheads="1"/>
          </p:cNvSpPr>
          <p:nvPr>
            <p:ph type="body" idx="1"/>
          </p:nvPr>
        </p:nvSpPr>
        <p:spPr>
          <a:xfrm>
            <a:off x="1361629" y="1491239"/>
            <a:ext cx="8574088" cy="4780052"/>
          </a:xfrm>
        </p:spPr>
        <p:txBody>
          <a:bodyPr>
            <a:normAutofit/>
          </a:bodyPr>
          <a:lstStyle/>
          <a:p>
            <a:pPr marL="609600" indent="-609600">
              <a:buSzPct val="90000"/>
              <a:buFont typeface="Wingdings" pitchFamily="2" charset="2"/>
              <a:buAutoNum type="arabicPeriod" startAt="3"/>
            </a:pPr>
            <a:r>
              <a:rPr lang="zh-CN" altLang="en-US" sz="2400" dirty="0"/>
              <a:t>封装性</a:t>
            </a:r>
          </a:p>
          <a:p>
            <a:pPr marL="990600" lvl="1" indent="-533400">
              <a:lnSpc>
                <a:spcPct val="100000"/>
              </a:lnSpc>
              <a:buSzPct val="90000"/>
            </a:pPr>
            <a:r>
              <a:rPr lang="zh-CN" altLang="en-US" sz="1800" dirty="0"/>
              <a:t>对象本身的数据得到保护</a:t>
            </a:r>
            <a:r>
              <a:rPr lang="en-US" altLang="zh-CN" sz="1800" dirty="0"/>
              <a:t>/</a:t>
            </a:r>
            <a:r>
              <a:rPr lang="zh-CN" altLang="en-US" sz="1800" dirty="0"/>
              <a:t>隐藏</a:t>
            </a:r>
          </a:p>
          <a:p>
            <a:pPr marL="990600" lvl="1" indent="-533400">
              <a:lnSpc>
                <a:spcPct val="100000"/>
              </a:lnSpc>
              <a:buSzPct val="90000"/>
            </a:pPr>
            <a:r>
              <a:rPr lang="zh-CN" altLang="en-US" sz="1800" dirty="0"/>
              <a:t>其他对象</a:t>
            </a:r>
            <a:r>
              <a:rPr lang="zh-CN" altLang="en-US" sz="1800" dirty="0">
                <a:solidFill>
                  <a:srgbClr val="C00000"/>
                </a:solidFill>
              </a:rPr>
              <a:t>仅仅需要知道对该对象的访问方法</a:t>
            </a:r>
            <a:r>
              <a:rPr lang="en-US" altLang="zh-CN" sz="1800" dirty="0"/>
              <a:t>(</a:t>
            </a:r>
            <a:r>
              <a:rPr lang="zh-CN" altLang="en-US" sz="1800" dirty="0"/>
              <a:t>接口</a:t>
            </a:r>
            <a:r>
              <a:rPr lang="en-US" altLang="zh-CN" sz="1800" dirty="0"/>
              <a:t>/interface)</a:t>
            </a:r>
            <a:r>
              <a:rPr lang="zh-CN" altLang="en-US" sz="1800" dirty="0"/>
              <a:t>即可</a:t>
            </a:r>
          </a:p>
          <a:p>
            <a:pPr marL="990600" lvl="1" indent="-533400">
              <a:lnSpc>
                <a:spcPct val="100000"/>
              </a:lnSpc>
              <a:buSzPct val="90000"/>
            </a:pPr>
            <a:r>
              <a:rPr lang="zh-CN" altLang="en-US" sz="1800" dirty="0"/>
              <a:t>好处</a:t>
            </a:r>
          </a:p>
          <a:p>
            <a:pPr marL="1371600" lvl="2" indent="-457200">
              <a:lnSpc>
                <a:spcPct val="100000"/>
              </a:lnSpc>
              <a:buSzPct val="90000"/>
            </a:pPr>
            <a:r>
              <a:rPr lang="zh-CN" altLang="en-US" sz="1600" dirty="0"/>
              <a:t>模块化</a:t>
            </a:r>
            <a:r>
              <a:rPr lang="en-US" altLang="zh-CN" sz="1600" dirty="0"/>
              <a:t>--</a:t>
            </a:r>
            <a:r>
              <a:rPr lang="zh-CN" altLang="en-US" sz="1600" dirty="0"/>
              <a:t>每个对象的源文件可以是相互独立的，可以被不同的程序调用，每个对象是一块积木，可以搭建不同的形状</a:t>
            </a:r>
          </a:p>
          <a:p>
            <a:pPr marL="1371600" lvl="2" indent="-457200">
              <a:lnSpc>
                <a:spcPct val="100000"/>
              </a:lnSpc>
              <a:buSzPct val="90000"/>
            </a:pPr>
            <a:r>
              <a:rPr lang="zh-CN" altLang="en-US" sz="1600" dirty="0"/>
              <a:t>信息隐藏</a:t>
            </a:r>
            <a:r>
              <a:rPr lang="en-US" altLang="zh-CN" sz="1600" dirty="0"/>
              <a:t>--</a:t>
            </a:r>
            <a:r>
              <a:rPr lang="zh-CN" altLang="en-US" sz="1600" dirty="0"/>
              <a:t>通常定义一个公共接口</a:t>
            </a:r>
            <a:r>
              <a:rPr lang="en-US" altLang="zh-CN" sz="1600" dirty="0"/>
              <a:t>/</a:t>
            </a:r>
            <a:r>
              <a:rPr lang="zh-CN" altLang="en-US" sz="1600" dirty="0"/>
              <a:t>方法实现对对象的访问，可以调整对象的私有信息和方法，而不会对其他调用它的对象产生影响</a:t>
            </a:r>
          </a:p>
          <a:p>
            <a:pPr marL="1371600" lvl="2" indent="-457200">
              <a:lnSpc>
                <a:spcPct val="100000"/>
              </a:lnSpc>
              <a:buSzPct val="90000"/>
            </a:pPr>
            <a:r>
              <a:rPr lang="zh-CN" altLang="en-US" sz="1600" dirty="0"/>
              <a:t>可重用性</a:t>
            </a:r>
          </a:p>
          <a:p>
            <a:pPr marL="990600" lvl="1" indent="-533400">
              <a:lnSpc>
                <a:spcPct val="100000"/>
              </a:lnSpc>
              <a:buSzPct val="90000"/>
            </a:pPr>
            <a:r>
              <a:rPr lang="zh-CN" altLang="en-US" sz="1800" dirty="0"/>
              <a:t>黑盒子</a:t>
            </a:r>
          </a:p>
          <a:p>
            <a:pPr marL="1371600" lvl="2" indent="-457200">
              <a:lnSpc>
                <a:spcPct val="100000"/>
              </a:lnSpc>
              <a:buSzPct val="90000"/>
            </a:pPr>
            <a:r>
              <a:rPr lang="zh-CN" altLang="en-US" sz="1600" dirty="0"/>
              <a:t>电脑的</a:t>
            </a:r>
            <a:r>
              <a:rPr lang="en-US" altLang="zh-CN" sz="1600" dirty="0"/>
              <a:t>DIY</a:t>
            </a:r>
          </a:p>
          <a:p>
            <a:pPr marL="1371600" lvl="2" indent="-457200">
              <a:lnSpc>
                <a:spcPct val="100000"/>
              </a:lnSpc>
              <a:buSzPct val="90000"/>
            </a:pPr>
            <a:r>
              <a:rPr lang="zh-CN" altLang="en-US" sz="1600" dirty="0"/>
              <a:t>喷墨打印机，硒鼓坏</a:t>
            </a:r>
            <a:r>
              <a:rPr lang="en-US" altLang="zh-CN" sz="1600" dirty="0"/>
              <a:t>/</a:t>
            </a:r>
            <a:r>
              <a:rPr lang="zh-CN" altLang="en-US" sz="1600" dirty="0"/>
              <a:t>彩色硒鼓</a:t>
            </a:r>
            <a:endParaRPr lang="zh-CN" altLang="en-US" sz="2000" dirty="0"/>
          </a:p>
        </p:txBody>
      </p:sp>
      <p:sp>
        <p:nvSpPr>
          <p:cNvPr id="265221" name="Rectangle 5">
            <a:extLst>
              <a:ext uri="{FF2B5EF4-FFF2-40B4-BE49-F238E27FC236}">
                <a16:creationId xmlns:a16="http://schemas.microsoft.com/office/drawing/2014/main" id="{B5640B0C-FD28-9132-0688-447DC4749E71}"/>
              </a:ext>
            </a:extLst>
          </p:cNvPr>
          <p:cNvSpPr>
            <a:spLocks noGrp="1" noChangeArrowheads="1"/>
          </p:cNvSpPr>
          <p:nvPr>
            <p:ph type="title"/>
          </p:nvPr>
        </p:nvSpPr>
        <p:spPr>
          <a:noFill/>
          <a:ln/>
        </p:spPr>
        <p:txBody>
          <a:bodyPr/>
          <a:lstStyle/>
          <a:p>
            <a:r>
              <a:rPr lang="en-US" altLang="zh-CN" dirty="0"/>
              <a:t>3</a:t>
            </a:r>
            <a:r>
              <a:rPr lang="en-GB" altLang="zh-CN" dirty="0"/>
              <a:t>.3 </a:t>
            </a:r>
            <a:r>
              <a:rPr lang="zh-CN" altLang="en-US" dirty="0"/>
              <a:t>封装性</a:t>
            </a:r>
          </a:p>
        </p:txBody>
      </p:sp>
      <p:pic>
        <p:nvPicPr>
          <p:cNvPr id="3074" name="Picture 2" descr="Encapsulation in OOPs">
            <a:extLst>
              <a:ext uri="{FF2B5EF4-FFF2-40B4-BE49-F238E27FC236}">
                <a16:creationId xmlns:a16="http://schemas.microsoft.com/office/drawing/2014/main" id="{40580CD0-BCE9-185C-4BC9-AE3E96D2E6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2433" y="4508804"/>
            <a:ext cx="2980809" cy="1264256"/>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26534168-43C3-B48B-EB47-3B9588686A8E}"/>
              </a:ext>
            </a:extLst>
          </p:cNvPr>
          <p:cNvSpPr>
            <a:spLocks noGrp="1"/>
          </p:cNvSpPr>
          <p:nvPr>
            <p:ph type="sldNum" sz="quarter" idx="12"/>
          </p:nvPr>
        </p:nvSpPr>
        <p:spPr/>
        <p:txBody>
          <a:bodyPr/>
          <a:lstStyle/>
          <a:p>
            <a:fld id="{F761B97A-5A58-6D4E-AA5C-408452AC050F}" type="slidenum">
              <a:rPr lang="en-US" altLang="zh-CN"/>
              <a:pPr/>
              <a:t>11</a:t>
            </a:fld>
            <a:endParaRPr lang="en-US" altLang="zh-CN"/>
          </a:p>
        </p:txBody>
      </p:sp>
      <p:sp>
        <p:nvSpPr>
          <p:cNvPr id="269315" name="Rectangle 3">
            <a:extLst>
              <a:ext uri="{FF2B5EF4-FFF2-40B4-BE49-F238E27FC236}">
                <a16:creationId xmlns:a16="http://schemas.microsoft.com/office/drawing/2014/main" id="{A92A5C09-7867-8CD7-D051-1C61E43A92BA}"/>
              </a:ext>
            </a:extLst>
          </p:cNvPr>
          <p:cNvSpPr>
            <a:spLocks noGrp="1" noChangeArrowheads="1"/>
          </p:cNvSpPr>
          <p:nvPr>
            <p:ph type="body" idx="1"/>
          </p:nvPr>
        </p:nvSpPr>
        <p:spPr>
          <a:xfrm>
            <a:off x="1452893" y="1398614"/>
            <a:ext cx="8497888" cy="4498369"/>
          </a:xfrm>
        </p:spPr>
        <p:txBody>
          <a:bodyPr/>
          <a:lstStyle/>
          <a:p>
            <a:pPr marL="609600" indent="-609600">
              <a:lnSpc>
                <a:spcPct val="150000"/>
              </a:lnSpc>
              <a:buSzPct val="90000"/>
              <a:buFont typeface="Wingdings" pitchFamily="2" charset="2"/>
              <a:buAutoNum type="arabicPeriod" startAt="4"/>
            </a:pPr>
            <a:r>
              <a:rPr lang="zh-CN" altLang="en-US" dirty="0"/>
              <a:t>继承性</a:t>
            </a:r>
          </a:p>
          <a:p>
            <a:pPr marL="990600" lvl="1" indent="-533400">
              <a:lnSpc>
                <a:spcPct val="150000"/>
              </a:lnSpc>
              <a:buSzPct val="90000"/>
            </a:pPr>
            <a:r>
              <a:rPr lang="zh-CN" altLang="en-US" sz="1800" dirty="0"/>
              <a:t>为什么会有继承？</a:t>
            </a:r>
          </a:p>
          <a:p>
            <a:pPr marL="1371600" lvl="2" indent="-457200">
              <a:lnSpc>
                <a:spcPct val="150000"/>
              </a:lnSpc>
              <a:buSzPct val="90000"/>
            </a:pPr>
            <a:r>
              <a:rPr lang="zh-CN" altLang="en-US" sz="1600" dirty="0"/>
              <a:t>建立一个类后，发现另一个新的类有相同的特性，两个选择：重新定义一个新的类；在已有类的基础上，修改</a:t>
            </a:r>
            <a:r>
              <a:rPr lang="en-US" altLang="zh-CN" sz="1600" dirty="0"/>
              <a:t>(</a:t>
            </a:r>
            <a:r>
              <a:rPr lang="zh-CN" altLang="en-US" sz="1600" dirty="0"/>
              <a:t>加加</a:t>
            </a:r>
            <a:r>
              <a:rPr lang="en-US" altLang="zh-CN" sz="1600" dirty="0"/>
              <a:t>/</a:t>
            </a:r>
            <a:r>
              <a:rPr lang="zh-CN" altLang="en-US" sz="1600" dirty="0"/>
              <a:t>减减</a:t>
            </a:r>
            <a:r>
              <a:rPr lang="en-US" altLang="zh-CN" sz="1600" dirty="0"/>
              <a:t>)</a:t>
            </a:r>
          </a:p>
          <a:p>
            <a:pPr marL="990600" lvl="1" indent="-533400">
              <a:lnSpc>
                <a:spcPct val="150000"/>
              </a:lnSpc>
              <a:buSzPct val="90000"/>
            </a:pPr>
            <a:r>
              <a:rPr lang="zh-CN" altLang="en-US" sz="1800" dirty="0"/>
              <a:t>父类和子类，子类继承</a:t>
            </a:r>
            <a:r>
              <a:rPr lang="en-US" altLang="zh-CN" sz="1800" dirty="0"/>
              <a:t>(</a:t>
            </a:r>
            <a:r>
              <a:rPr lang="zh-CN" altLang="en-US" sz="1800" dirty="0"/>
              <a:t>拥有</a:t>
            </a:r>
            <a:r>
              <a:rPr lang="en-US" altLang="zh-CN" sz="1800" dirty="0"/>
              <a:t>)</a:t>
            </a:r>
            <a:r>
              <a:rPr lang="zh-CN" altLang="en-US" sz="1800" dirty="0"/>
              <a:t>父类所有的数据和方法，同时子类可以有新的数据和方法，“</a:t>
            </a:r>
            <a:r>
              <a:rPr lang="zh-CN" altLang="en-US" sz="1800" b="1" dirty="0">
                <a:solidFill>
                  <a:srgbClr val="C00000"/>
                </a:solidFill>
              </a:rPr>
              <a:t>青出于蓝，而胜于蓝</a:t>
            </a:r>
            <a:r>
              <a:rPr lang="zh-CN" altLang="en-US" sz="1800" dirty="0"/>
              <a:t>”</a:t>
            </a:r>
          </a:p>
          <a:p>
            <a:pPr marL="990600" lvl="1" indent="-533400">
              <a:lnSpc>
                <a:spcPct val="150000"/>
              </a:lnSpc>
              <a:buSzPct val="90000"/>
            </a:pPr>
            <a:r>
              <a:rPr lang="zh-CN" altLang="en-US" sz="1800" dirty="0"/>
              <a:t>树型结构</a:t>
            </a:r>
            <a:r>
              <a:rPr lang="en-US" altLang="zh-CN" sz="1800" dirty="0"/>
              <a:t>(</a:t>
            </a:r>
            <a:r>
              <a:rPr lang="zh-CN" altLang="en-US" sz="1800" dirty="0"/>
              <a:t>层次化结构</a:t>
            </a:r>
            <a:r>
              <a:rPr lang="en-US" altLang="zh-CN" sz="1800" dirty="0"/>
              <a:t>) </a:t>
            </a:r>
          </a:p>
          <a:p>
            <a:pPr marL="990600" lvl="1" indent="-533400">
              <a:lnSpc>
                <a:spcPct val="150000"/>
              </a:lnSpc>
              <a:buSzPct val="90000"/>
            </a:pPr>
            <a:r>
              <a:rPr lang="zh-CN" altLang="en-US" sz="1800" dirty="0"/>
              <a:t>根</a:t>
            </a:r>
            <a:r>
              <a:rPr lang="en-US" altLang="zh-CN" sz="1800" dirty="0"/>
              <a:t>(</a:t>
            </a:r>
            <a:r>
              <a:rPr lang="zh-CN" altLang="en-US" sz="1800" dirty="0"/>
              <a:t>基类</a:t>
            </a:r>
            <a:r>
              <a:rPr lang="en-US" altLang="zh-CN" sz="1800" dirty="0"/>
              <a:t>)</a:t>
            </a:r>
          </a:p>
        </p:txBody>
      </p:sp>
      <p:sp>
        <p:nvSpPr>
          <p:cNvPr id="269317" name="Rectangle 5">
            <a:extLst>
              <a:ext uri="{FF2B5EF4-FFF2-40B4-BE49-F238E27FC236}">
                <a16:creationId xmlns:a16="http://schemas.microsoft.com/office/drawing/2014/main" id="{24E73423-3C5C-6B53-0FD4-90F5D2AE87AF}"/>
              </a:ext>
            </a:extLst>
          </p:cNvPr>
          <p:cNvSpPr>
            <a:spLocks noGrp="1" noChangeArrowheads="1"/>
          </p:cNvSpPr>
          <p:nvPr>
            <p:ph type="title"/>
          </p:nvPr>
        </p:nvSpPr>
        <p:spPr>
          <a:noFill/>
          <a:ln/>
        </p:spPr>
        <p:txBody>
          <a:bodyPr/>
          <a:lstStyle/>
          <a:p>
            <a:r>
              <a:rPr lang="en-US" altLang="zh-CN" dirty="0"/>
              <a:t>3.4 </a:t>
            </a:r>
            <a:r>
              <a:rPr lang="zh-CN" altLang="en-US" dirty="0"/>
              <a:t>继承性</a:t>
            </a:r>
          </a:p>
        </p:txBody>
      </p:sp>
      <p:pic>
        <p:nvPicPr>
          <p:cNvPr id="4098" name="Picture 2" descr="Inheritance in OOPs">
            <a:extLst>
              <a:ext uri="{FF2B5EF4-FFF2-40B4-BE49-F238E27FC236}">
                <a16:creationId xmlns:a16="http://schemas.microsoft.com/office/drawing/2014/main" id="{68CC3103-81A6-D812-16DF-02C1F06460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2586" y="3867838"/>
            <a:ext cx="2766521" cy="2488513"/>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4DB0A31D-3D8E-7E56-E2E9-F3F4855C565C}"/>
              </a:ext>
            </a:extLst>
          </p:cNvPr>
          <p:cNvSpPr>
            <a:spLocks noGrp="1"/>
          </p:cNvSpPr>
          <p:nvPr>
            <p:ph type="sldNum" sz="quarter" idx="12"/>
          </p:nvPr>
        </p:nvSpPr>
        <p:spPr/>
        <p:txBody>
          <a:bodyPr/>
          <a:lstStyle/>
          <a:p>
            <a:fld id="{75558561-171F-0645-BF5A-6ABBD5936E07}" type="slidenum">
              <a:rPr lang="en-US" altLang="zh-CN"/>
              <a:pPr/>
              <a:t>12</a:t>
            </a:fld>
            <a:endParaRPr lang="en-US" altLang="zh-CN"/>
          </a:p>
        </p:txBody>
      </p:sp>
      <p:sp>
        <p:nvSpPr>
          <p:cNvPr id="270340" name="Rectangle 4">
            <a:extLst>
              <a:ext uri="{FF2B5EF4-FFF2-40B4-BE49-F238E27FC236}">
                <a16:creationId xmlns:a16="http://schemas.microsoft.com/office/drawing/2014/main" id="{CCCF9B2E-1AED-1E06-DE6A-515081C12468}"/>
              </a:ext>
            </a:extLst>
          </p:cNvPr>
          <p:cNvSpPr>
            <a:spLocks noChangeArrowheads="1"/>
          </p:cNvSpPr>
          <p:nvPr/>
        </p:nvSpPr>
        <p:spPr bwMode="auto">
          <a:xfrm>
            <a:off x="5410200" y="1828800"/>
            <a:ext cx="1676400" cy="5334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SzTx/>
              <a:buFontTx/>
              <a:buNone/>
            </a:pPr>
            <a:r>
              <a:rPr lang="zh-CN" altLang="en-US">
                <a:latin typeface="Tahoma" panose="020B0604030504040204" pitchFamily="34" charset="0"/>
                <a:ea typeface="华文中宋" panose="02010600040101010101" pitchFamily="2" charset="-122"/>
              </a:rPr>
              <a:t>运输工具</a:t>
            </a:r>
          </a:p>
        </p:txBody>
      </p:sp>
      <p:sp>
        <p:nvSpPr>
          <p:cNvPr id="270341" name="Rectangle 5">
            <a:extLst>
              <a:ext uri="{FF2B5EF4-FFF2-40B4-BE49-F238E27FC236}">
                <a16:creationId xmlns:a16="http://schemas.microsoft.com/office/drawing/2014/main" id="{04DC7626-EA56-B310-A3BD-D21FE6F6463C}"/>
              </a:ext>
            </a:extLst>
          </p:cNvPr>
          <p:cNvSpPr>
            <a:spLocks noChangeArrowheads="1"/>
          </p:cNvSpPr>
          <p:nvPr/>
        </p:nvSpPr>
        <p:spPr bwMode="auto">
          <a:xfrm>
            <a:off x="2438400" y="2743200"/>
            <a:ext cx="2133600" cy="5334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SzTx/>
              <a:buFontTx/>
              <a:buNone/>
            </a:pPr>
            <a:r>
              <a:rPr lang="zh-CN" altLang="en-US">
                <a:latin typeface="Tahoma" panose="020B0604030504040204" pitchFamily="34" charset="0"/>
                <a:ea typeface="华文中宋" panose="02010600040101010101" pitchFamily="2" charset="-122"/>
              </a:rPr>
              <a:t>航空运输工具</a:t>
            </a:r>
          </a:p>
        </p:txBody>
      </p:sp>
      <p:sp>
        <p:nvSpPr>
          <p:cNvPr id="270342" name="Rectangle 6">
            <a:extLst>
              <a:ext uri="{FF2B5EF4-FFF2-40B4-BE49-F238E27FC236}">
                <a16:creationId xmlns:a16="http://schemas.microsoft.com/office/drawing/2014/main" id="{C2AF1585-7588-6538-14A9-90862CD11E7D}"/>
              </a:ext>
            </a:extLst>
          </p:cNvPr>
          <p:cNvSpPr>
            <a:spLocks noChangeArrowheads="1"/>
          </p:cNvSpPr>
          <p:nvPr/>
        </p:nvSpPr>
        <p:spPr bwMode="auto">
          <a:xfrm>
            <a:off x="5334000" y="2743200"/>
            <a:ext cx="2209800" cy="5334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SzTx/>
              <a:buFontTx/>
              <a:buNone/>
            </a:pPr>
            <a:r>
              <a:rPr lang="zh-CN" altLang="en-US" dirty="0">
                <a:latin typeface="Tahoma" panose="020B0604030504040204" pitchFamily="34" charset="0"/>
                <a:ea typeface="华文中宋" panose="02010600040101010101" pitchFamily="2" charset="-122"/>
              </a:rPr>
              <a:t>陆地运输工具</a:t>
            </a:r>
          </a:p>
        </p:txBody>
      </p:sp>
      <p:sp>
        <p:nvSpPr>
          <p:cNvPr id="270343" name="Rectangle 7">
            <a:extLst>
              <a:ext uri="{FF2B5EF4-FFF2-40B4-BE49-F238E27FC236}">
                <a16:creationId xmlns:a16="http://schemas.microsoft.com/office/drawing/2014/main" id="{222AC321-201D-0131-A2E1-6EBDAE702904}"/>
              </a:ext>
            </a:extLst>
          </p:cNvPr>
          <p:cNvSpPr>
            <a:spLocks noChangeArrowheads="1"/>
          </p:cNvSpPr>
          <p:nvPr/>
        </p:nvSpPr>
        <p:spPr bwMode="auto">
          <a:xfrm>
            <a:off x="8305800" y="2743200"/>
            <a:ext cx="2209800" cy="5334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SzTx/>
              <a:buFontTx/>
              <a:buNone/>
            </a:pPr>
            <a:r>
              <a:rPr lang="zh-CN" altLang="en-US">
                <a:latin typeface="Tahoma" panose="020B0604030504040204" pitchFamily="34" charset="0"/>
                <a:ea typeface="华文中宋" panose="02010600040101010101" pitchFamily="2" charset="-122"/>
              </a:rPr>
              <a:t>水上运输工具</a:t>
            </a:r>
          </a:p>
        </p:txBody>
      </p:sp>
      <p:sp>
        <p:nvSpPr>
          <p:cNvPr id="270344" name="Rectangle 8">
            <a:extLst>
              <a:ext uri="{FF2B5EF4-FFF2-40B4-BE49-F238E27FC236}">
                <a16:creationId xmlns:a16="http://schemas.microsoft.com/office/drawing/2014/main" id="{1EF663B1-83DF-3C6D-5003-6A83AB13ACF1}"/>
              </a:ext>
            </a:extLst>
          </p:cNvPr>
          <p:cNvSpPr>
            <a:spLocks noChangeArrowheads="1"/>
          </p:cNvSpPr>
          <p:nvPr/>
        </p:nvSpPr>
        <p:spPr bwMode="auto">
          <a:xfrm>
            <a:off x="4495800" y="3657600"/>
            <a:ext cx="1676400" cy="5334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SzTx/>
              <a:buFontTx/>
              <a:buNone/>
            </a:pPr>
            <a:r>
              <a:rPr lang="zh-CN" altLang="en-US">
                <a:latin typeface="Tahoma" panose="020B0604030504040204" pitchFamily="34" charset="0"/>
                <a:ea typeface="华文中宋" panose="02010600040101010101" pitchFamily="2" charset="-122"/>
              </a:rPr>
              <a:t>人力驱动</a:t>
            </a:r>
          </a:p>
        </p:txBody>
      </p:sp>
      <p:sp>
        <p:nvSpPr>
          <p:cNvPr id="270345" name="Rectangle 9">
            <a:extLst>
              <a:ext uri="{FF2B5EF4-FFF2-40B4-BE49-F238E27FC236}">
                <a16:creationId xmlns:a16="http://schemas.microsoft.com/office/drawing/2014/main" id="{869A63B5-556D-1743-4C27-AE5B0018DD94}"/>
              </a:ext>
            </a:extLst>
          </p:cNvPr>
          <p:cNvSpPr>
            <a:spLocks noChangeArrowheads="1"/>
          </p:cNvSpPr>
          <p:nvPr/>
        </p:nvSpPr>
        <p:spPr bwMode="auto">
          <a:xfrm>
            <a:off x="6629400" y="3657600"/>
            <a:ext cx="1676400" cy="5334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SzTx/>
              <a:buFontTx/>
              <a:buNone/>
            </a:pPr>
            <a:r>
              <a:rPr lang="zh-CN" altLang="en-US">
                <a:latin typeface="Tahoma" panose="020B0604030504040204" pitchFamily="34" charset="0"/>
                <a:ea typeface="华文中宋" panose="02010600040101010101" pitchFamily="2" charset="-122"/>
              </a:rPr>
              <a:t>引擎驱动</a:t>
            </a:r>
          </a:p>
        </p:txBody>
      </p:sp>
      <p:sp>
        <p:nvSpPr>
          <p:cNvPr id="270346" name="Rectangle 10">
            <a:extLst>
              <a:ext uri="{FF2B5EF4-FFF2-40B4-BE49-F238E27FC236}">
                <a16:creationId xmlns:a16="http://schemas.microsoft.com/office/drawing/2014/main" id="{5316BF9D-26EE-1470-4C1A-3F4A6657FC1D}"/>
              </a:ext>
            </a:extLst>
          </p:cNvPr>
          <p:cNvSpPr>
            <a:spLocks noChangeArrowheads="1"/>
          </p:cNvSpPr>
          <p:nvPr/>
        </p:nvSpPr>
        <p:spPr bwMode="auto">
          <a:xfrm>
            <a:off x="6172200" y="4648200"/>
            <a:ext cx="1066800" cy="5334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SzTx/>
              <a:buFontTx/>
              <a:buNone/>
            </a:pPr>
            <a:r>
              <a:rPr lang="zh-CN" altLang="en-US">
                <a:latin typeface="Tahoma" panose="020B0604030504040204" pitchFamily="34" charset="0"/>
                <a:ea typeface="华文中宋" panose="02010600040101010101" pitchFamily="2" charset="-122"/>
              </a:rPr>
              <a:t>二轮</a:t>
            </a:r>
          </a:p>
        </p:txBody>
      </p:sp>
      <p:sp>
        <p:nvSpPr>
          <p:cNvPr id="270347" name="Rectangle 11">
            <a:extLst>
              <a:ext uri="{FF2B5EF4-FFF2-40B4-BE49-F238E27FC236}">
                <a16:creationId xmlns:a16="http://schemas.microsoft.com/office/drawing/2014/main" id="{527BED76-DD2D-A542-6ABC-777CAEE7B193}"/>
              </a:ext>
            </a:extLst>
          </p:cNvPr>
          <p:cNvSpPr>
            <a:spLocks noChangeArrowheads="1"/>
          </p:cNvSpPr>
          <p:nvPr/>
        </p:nvSpPr>
        <p:spPr bwMode="auto">
          <a:xfrm>
            <a:off x="7772400" y="4648200"/>
            <a:ext cx="1066800" cy="5334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SzTx/>
              <a:buFontTx/>
              <a:buNone/>
            </a:pPr>
            <a:r>
              <a:rPr lang="zh-CN" altLang="en-US">
                <a:latin typeface="Tahoma" panose="020B0604030504040204" pitchFamily="34" charset="0"/>
                <a:ea typeface="华文中宋" panose="02010600040101010101" pitchFamily="2" charset="-122"/>
              </a:rPr>
              <a:t>四轮</a:t>
            </a:r>
          </a:p>
        </p:txBody>
      </p:sp>
      <p:sp>
        <p:nvSpPr>
          <p:cNvPr id="270348" name="Rectangle 12">
            <a:extLst>
              <a:ext uri="{FF2B5EF4-FFF2-40B4-BE49-F238E27FC236}">
                <a16:creationId xmlns:a16="http://schemas.microsoft.com/office/drawing/2014/main" id="{96A137D5-164A-073E-03D1-19409EDDFC5D}"/>
              </a:ext>
            </a:extLst>
          </p:cNvPr>
          <p:cNvSpPr>
            <a:spLocks noChangeArrowheads="1"/>
          </p:cNvSpPr>
          <p:nvPr/>
        </p:nvSpPr>
        <p:spPr bwMode="auto">
          <a:xfrm>
            <a:off x="7086600" y="5638800"/>
            <a:ext cx="1143000" cy="5334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SzTx/>
              <a:buFontTx/>
              <a:buNone/>
            </a:pPr>
            <a:r>
              <a:rPr lang="zh-CN" altLang="en-US">
                <a:latin typeface="Tahoma" panose="020B0604030504040204" pitchFamily="34" charset="0"/>
                <a:ea typeface="华文中宋" panose="02010600040101010101" pitchFamily="2" charset="-122"/>
              </a:rPr>
              <a:t>客运</a:t>
            </a:r>
          </a:p>
        </p:txBody>
      </p:sp>
      <p:sp>
        <p:nvSpPr>
          <p:cNvPr id="270349" name="Rectangle 13">
            <a:extLst>
              <a:ext uri="{FF2B5EF4-FFF2-40B4-BE49-F238E27FC236}">
                <a16:creationId xmlns:a16="http://schemas.microsoft.com/office/drawing/2014/main" id="{253698DB-74F9-0DCE-5795-6C0481454F44}"/>
              </a:ext>
            </a:extLst>
          </p:cNvPr>
          <p:cNvSpPr>
            <a:spLocks noChangeArrowheads="1"/>
          </p:cNvSpPr>
          <p:nvPr/>
        </p:nvSpPr>
        <p:spPr bwMode="auto">
          <a:xfrm>
            <a:off x="8534400" y="5638800"/>
            <a:ext cx="1143000" cy="5334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SzTx/>
              <a:buFontTx/>
              <a:buNone/>
            </a:pPr>
            <a:r>
              <a:rPr lang="zh-CN" altLang="en-US">
                <a:latin typeface="Tahoma" panose="020B0604030504040204" pitchFamily="34" charset="0"/>
                <a:ea typeface="华文中宋" panose="02010600040101010101" pitchFamily="2" charset="-122"/>
              </a:rPr>
              <a:t>货运</a:t>
            </a:r>
          </a:p>
        </p:txBody>
      </p:sp>
      <p:sp>
        <p:nvSpPr>
          <p:cNvPr id="270350" name="Line 14">
            <a:extLst>
              <a:ext uri="{FF2B5EF4-FFF2-40B4-BE49-F238E27FC236}">
                <a16:creationId xmlns:a16="http://schemas.microsoft.com/office/drawing/2014/main" id="{49113A89-2493-9D06-D35B-258368033AEA}"/>
              </a:ext>
            </a:extLst>
          </p:cNvPr>
          <p:cNvSpPr>
            <a:spLocks noChangeShapeType="1"/>
          </p:cNvSpPr>
          <p:nvPr/>
        </p:nvSpPr>
        <p:spPr bwMode="auto">
          <a:xfrm>
            <a:off x="6400800" y="2362200"/>
            <a:ext cx="0" cy="381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0351" name="Line 15">
            <a:extLst>
              <a:ext uri="{FF2B5EF4-FFF2-40B4-BE49-F238E27FC236}">
                <a16:creationId xmlns:a16="http://schemas.microsoft.com/office/drawing/2014/main" id="{DBD00026-9670-A73C-EA9F-570D818A248C}"/>
              </a:ext>
            </a:extLst>
          </p:cNvPr>
          <p:cNvSpPr>
            <a:spLocks noChangeShapeType="1"/>
          </p:cNvSpPr>
          <p:nvPr/>
        </p:nvSpPr>
        <p:spPr bwMode="auto">
          <a:xfrm flipH="1">
            <a:off x="4114800" y="2362201"/>
            <a:ext cx="1295400" cy="347663"/>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0352" name="Line 16">
            <a:extLst>
              <a:ext uri="{FF2B5EF4-FFF2-40B4-BE49-F238E27FC236}">
                <a16:creationId xmlns:a16="http://schemas.microsoft.com/office/drawing/2014/main" id="{7455DCAF-40BA-42E2-7A98-A234D746870B}"/>
              </a:ext>
            </a:extLst>
          </p:cNvPr>
          <p:cNvSpPr>
            <a:spLocks noChangeShapeType="1"/>
          </p:cNvSpPr>
          <p:nvPr/>
        </p:nvSpPr>
        <p:spPr bwMode="auto">
          <a:xfrm>
            <a:off x="7086600" y="2362201"/>
            <a:ext cx="1295400" cy="347663"/>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0353" name="Line 17">
            <a:extLst>
              <a:ext uri="{FF2B5EF4-FFF2-40B4-BE49-F238E27FC236}">
                <a16:creationId xmlns:a16="http://schemas.microsoft.com/office/drawing/2014/main" id="{8250D46F-CB4F-08AD-7202-4DC753DB5D1B}"/>
              </a:ext>
            </a:extLst>
          </p:cNvPr>
          <p:cNvSpPr>
            <a:spLocks noChangeShapeType="1"/>
          </p:cNvSpPr>
          <p:nvPr/>
        </p:nvSpPr>
        <p:spPr bwMode="auto">
          <a:xfrm flipH="1">
            <a:off x="5791200" y="3276601"/>
            <a:ext cx="609600" cy="352425"/>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0354" name="Line 18">
            <a:extLst>
              <a:ext uri="{FF2B5EF4-FFF2-40B4-BE49-F238E27FC236}">
                <a16:creationId xmlns:a16="http://schemas.microsoft.com/office/drawing/2014/main" id="{4B8FCADA-DA75-E032-65C0-FC913DE28EBD}"/>
              </a:ext>
            </a:extLst>
          </p:cNvPr>
          <p:cNvSpPr>
            <a:spLocks noChangeShapeType="1"/>
          </p:cNvSpPr>
          <p:nvPr/>
        </p:nvSpPr>
        <p:spPr bwMode="auto">
          <a:xfrm>
            <a:off x="6400800" y="3276600"/>
            <a:ext cx="609600" cy="350838"/>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0355" name="Line 19">
            <a:extLst>
              <a:ext uri="{FF2B5EF4-FFF2-40B4-BE49-F238E27FC236}">
                <a16:creationId xmlns:a16="http://schemas.microsoft.com/office/drawing/2014/main" id="{49FE4626-DB49-6A04-DDA6-8D55E671903B}"/>
              </a:ext>
            </a:extLst>
          </p:cNvPr>
          <p:cNvSpPr>
            <a:spLocks noChangeShapeType="1"/>
          </p:cNvSpPr>
          <p:nvPr/>
        </p:nvSpPr>
        <p:spPr bwMode="auto">
          <a:xfrm flipH="1">
            <a:off x="6705600" y="4191000"/>
            <a:ext cx="762000" cy="439738"/>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0356" name="Line 20">
            <a:extLst>
              <a:ext uri="{FF2B5EF4-FFF2-40B4-BE49-F238E27FC236}">
                <a16:creationId xmlns:a16="http://schemas.microsoft.com/office/drawing/2014/main" id="{6FA0D815-EDF6-C007-856F-82F16BAD7F66}"/>
              </a:ext>
            </a:extLst>
          </p:cNvPr>
          <p:cNvSpPr>
            <a:spLocks noChangeShapeType="1"/>
          </p:cNvSpPr>
          <p:nvPr/>
        </p:nvSpPr>
        <p:spPr bwMode="auto">
          <a:xfrm>
            <a:off x="7467600" y="4191000"/>
            <a:ext cx="762000" cy="439738"/>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0357" name="Line 21">
            <a:extLst>
              <a:ext uri="{FF2B5EF4-FFF2-40B4-BE49-F238E27FC236}">
                <a16:creationId xmlns:a16="http://schemas.microsoft.com/office/drawing/2014/main" id="{13544896-465E-BCDF-8584-61F79807106D}"/>
              </a:ext>
            </a:extLst>
          </p:cNvPr>
          <p:cNvSpPr>
            <a:spLocks noChangeShapeType="1"/>
          </p:cNvSpPr>
          <p:nvPr/>
        </p:nvSpPr>
        <p:spPr bwMode="auto">
          <a:xfrm flipH="1">
            <a:off x="7391400" y="5181600"/>
            <a:ext cx="838200" cy="484188"/>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0358" name="Line 22">
            <a:extLst>
              <a:ext uri="{FF2B5EF4-FFF2-40B4-BE49-F238E27FC236}">
                <a16:creationId xmlns:a16="http://schemas.microsoft.com/office/drawing/2014/main" id="{1DC27067-F30A-DCA1-81B9-5C285C278068}"/>
              </a:ext>
            </a:extLst>
          </p:cNvPr>
          <p:cNvSpPr>
            <a:spLocks noChangeShapeType="1"/>
          </p:cNvSpPr>
          <p:nvPr/>
        </p:nvSpPr>
        <p:spPr bwMode="auto">
          <a:xfrm>
            <a:off x="8229600" y="5181600"/>
            <a:ext cx="762000" cy="439738"/>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0360" name="Rectangle 24">
            <a:extLst>
              <a:ext uri="{FF2B5EF4-FFF2-40B4-BE49-F238E27FC236}">
                <a16:creationId xmlns:a16="http://schemas.microsoft.com/office/drawing/2014/main" id="{2F2F2CD8-7953-8BC9-A298-D0843169CEC5}"/>
              </a:ext>
            </a:extLst>
          </p:cNvPr>
          <p:cNvSpPr>
            <a:spLocks noGrp="1" noChangeArrowheads="1"/>
          </p:cNvSpPr>
          <p:nvPr>
            <p:ph type="title"/>
          </p:nvPr>
        </p:nvSpPr>
        <p:spPr>
          <a:noFill/>
          <a:ln/>
        </p:spPr>
        <p:txBody>
          <a:bodyPr/>
          <a:lstStyle/>
          <a:p>
            <a:r>
              <a:rPr lang="en-US" altLang="zh-CN" dirty="0"/>
              <a:t>3.4-1 </a:t>
            </a:r>
            <a:r>
              <a:rPr lang="zh-CN" altLang="en-US" dirty="0"/>
              <a:t>继承性</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12DFEA1A-A00E-ADAD-C345-E6F6DBB7B406}"/>
              </a:ext>
            </a:extLst>
          </p:cNvPr>
          <p:cNvSpPr>
            <a:spLocks noGrp="1"/>
          </p:cNvSpPr>
          <p:nvPr>
            <p:ph type="sldNum" sz="quarter" idx="12"/>
          </p:nvPr>
        </p:nvSpPr>
        <p:spPr/>
        <p:txBody>
          <a:bodyPr/>
          <a:lstStyle/>
          <a:p>
            <a:fld id="{0B4BBA1D-3740-E24D-8599-0F735DE76DDB}" type="slidenum">
              <a:rPr lang="en-US" altLang="zh-CN"/>
              <a:pPr/>
              <a:t>13</a:t>
            </a:fld>
            <a:endParaRPr lang="en-US" altLang="zh-CN"/>
          </a:p>
        </p:txBody>
      </p:sp>
      <p:sp>
        <p:nvSpPr>
          <p:cNvPr id="273412" name="Rectangle 4">
            <a:extLst>
              <a:ext uri="{FF2B5EF4-FFF2-40B4-BE49-F238E27FC236}">
                <a16:creationId xmlns:a16="http://schemas.microsoft.com/office/drawing/2014/main" id="{323F5EF7-1252-A57F-AE49-CABB9C2B3764}"/>
              </a:ext>
            </a:extLst>
          </p:cNvPr>
          <p:cNvSpPr>
            <a:spLocks noChangeArrowheads="1"/>
          </p:cNvSpPr>
          <p:nvPr/>
        </p:nvSpPr>
        <p:spPr bwMode="auto">
          <a:xfrm>
            <a:off x="5029200" y="1577181"/>
            <a:ext cx="1676400" cy="5334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SzTx/>
              <a:buFontTx/>
              <a:buNone/>
            </a:pPr>
            <a:r>
              <a:rPr lang="zh-CN" altLang="en-US">
                <a:latin typeface="Tahoma" panose="020B0604030504040204" pitchFamily="34" charset="0"/>
                <a:ea typeface="华文中宋" panose="02010600040101010101" pitchFamily="2" charset="-122"/>
              </a:rPr>
              <a:t>类</a:t>
            </a:r>
            <a:r>
              <a:rPr lang="en-US" altLang="zh-CN">
                <a:latin typeface="Tahoma" panose="020B0604030504040204" pitchFamily="34" charset="0"/>
                <a:ea typeface="华文中宋" panose="02010600040101010101" pitchFamily="2" charset="-122"/>
              </a:rPr>
              <a:t>A</a:t>
            </a:r>
          </a:p>
        </p:txBody>
      </p:sp>
      <p:sp>
        <p:nvSpPr>
          <p:cNvPr id="273413" name="Rectangle 5">
            <a:extLst>
              <a:ext uri="{FF2B5EF4-FFF2-40B4-BE49-F238E27FC236}">
                <a16:creationId xmlns:a16="http://schemas.microsoft.com/office/drawing/2014/main" id="{D6C23789-7DC5-066F-579F-20CECBD03FD0}"/>
              </a:ext>
            </a:extLst>
          </p:cNvPr>
          <p:cNvSpPr>
            <a:spLocks noChangeArrowheads="1"/>
          </p:cNvSpPr>
          <p:nvPr/>
        </p:nvSpPr>
        <p:spPr bwMode="auto">
          <a:xfrm>
            <a:off x="2057400" y="2491581"/>
            <a:ext cx="2133600" cy="5334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SzTx/>
              <a:buFontTx/>
              <a:buNone/>
            </a:pPr>
            <a:r>
              <a:rPr lang="zh-CN" altLang="en-US">
                <a:latin typeface="Tahoma" panose="020B0604030504040204" pitchFamily="34" charset="0"/>
                <a:ea typeface="华文中宋" panose="02010600040101010101" pitchFamily="2" charset="-122"/>
              </a:rPr>
              <a:t>类</a:t>
            </a:r>
            <a:r>
              <a:rPr lang="en-US" altLang="zh-CN">
                <a:latin typeface="Tahoma" panose="020B0604030504040204" pitchFamily="34" charset="0"/>
                <a:ea typeface="华文中宋" panose="02010600040101010101" pitchFamily="2" charset="-122"/>
              </a:rPr>
              <a:t>B</a:t>
            </a:r>
          </a:p>
        </p:txBody>
      </p:sp>
      <p:sp>
        <p:nvSpPr>
          <p:cNvPr id="273414" name="Rectangle 6">
            <a:extLst>
              <a:ext uri="{FF2B5EF4-FFF2-40B4-BE49-F238E27FC236}">
                <a16:creationId xmlns:a16="http://schemas.microsoft.com/office/drawing/2014/main" id="{662252A5-488B-7A71-8D36-6C39469495BB}"/>
              </a:ext>
            </a:extLst>
          </p:cNvPr>
          <p:cNvSpPr>
            <a:spLocks noChangeArrowheads="1"/>
          </p:cNvSpPr>
          <p:nvPr/>
        </p:nvSpPr>
        <p:spPr bwMode="auto">
          <a:xfrm>
            <a:off x="4876800" y="2491581"/>
            <a:ext cx="1905000" cy="5334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SzTx/>
              <a:buFontTx/>
              <a:buNone/>
            </a:pPr>
            <a:r>
              <a:rPr lang="zh-CN" altLang="en-US">
                <a:latin typeface="Tahoma" panose="020B0604030504040204" pitchFamily="34" charset="0"/>
                <a:ea typeface="华文中宋" panose="02010600040101010101" pitchFamily="2" charset="-122"/>
              </a:rPr>
              <a:t>类</a:t>
            </a:r>
            <a:r>
              <a:rPr lang="en-US" altLang="zh-CN">
                <a:latin typeface="Tahoma" panose="020B0604030504040204" pitchFamily="34" charset="0"/>
                <a:ea typeface="华文中宋" panose="02010600040101010101" pitchFamily="2" charset="-122"/>
              </a:rPr>
              <a:t>C</a:t>
            </a:r>
          </a:p>
        </p:txBody>
      </p:sp>
      <p:sp>
        <p:nvSpPr>
          <p:cNvPr id="273415" name="Rectangle 7">
            <a:extLst>
              <a:ext uri="{FF2B5EF4-FFF2-40B4-BE49-F238E27FC236}">
                <a16:creationId xmlns:a16="http://schemas.microsoft.com/office/drawing/2014/main" id="{DE6E337F-F062-6FC9-C84D-8B97AC69891B}"/>
              </a:ext>
            </a:extLst>
          </p:cNvPr>
          <p:cNvSpPr>
            <a:spLocks noChangeArrowheads="1"/>
          </p:cNvSpPr>
          <p:nvPr/>
        </p:nvSpPr>
        <p:spPr bwMode="auto">
          <a:xfrm>
            <a:off x="7924800" y="2491581"/>
            <a:ext cx="2209800" cy="5334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SzTx/>
              <a:buFontTx/>
              <a:buNone/>
            </a:pPr>
            <a:r>
              <a:rPr lang="zh-CN" altLang="en-US">
                <a:latin typeface="Tahoma" panose="020B0604030504040204" pitchFamily="34" charset="0"/>
                <a:ea typeface="华文中宋" panose="02010600040101010101" pitchFamily="2" charset="-122"/>
              </a:rPr>
              <a:t>类</a:t>
            </a:r>
            <a:r>
              <a:rPr lang="en-US" altLang="zh-CN">
                <a:latin typeface="Tahoma" panose="020B0604030504040204" pitchFamily="34" charset="0"/>
                <a:ea typeface="华文中宋" panose="02010600040101010101" pitchFamily="2" charset="-122"/>
              </a:rPr>
              <a:t>D</a:t>
            </a:r>
          </a:p>
        </p:txBody>
      </p:sp>
      <p:sp>
        <p:nvSpPr>
          <p:cNvPr id="273416" name="Rectangle 8">
            <a:extLst>
              <a:ext uri="{FF2B5EF4-FFF2-40B4-BE49-F238E27FC236}">
                <a16:creationId xmlns:a16="http://schemas.microsoft.com/office/drawing/2014/main" id="{D72848DC-9CF1-E5F2-2809-7256E80A41A8}"/>
              </a:ext>
            </a:extLst>
          </p:cNvPr>
          <p:cNvSpPr>
            <a:spLocks noChangeArrowheads="1"/>
          </p:cNvSpPr>
          <p:nvPr/>
        </p:nvSpPr>
        <p:spPr bwMode="auto">
          <a:xfrm>
            <a:off x="4114800" y="3405981"/>
            <a:ext cx="1676400" cy="5334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SzTx/>
              <a:buFontTx/>
              <a:buNone/>
            </a:pPr>
            <a:r>
              <a:rPr lang="zh-CN" altLang="en-US">
                <a:latin typeface="Tahoma" panose="020B0604030504040204" pitchFamily="34" charset="0"/>
                <a:ea typeface="华文中宋" panose="02010600040101010101" pitchFamily="2" charset="-122"/>
              </a:rPr>
              <a:t>类</a:t>
            </a:r>
            <a:r>
              <a:rPr lang="en-US" altLang="zh-CN">
                <a:latin typeface="Tahoma" panose="020B0604030504040204" pitchFamily="34" charset="0"/>
                <a:ea typeface="华文中宋" panose="02010600040101010101" pitchFamily="2" charset="-122"/>
              </a:rPr>
              <a:t>F</a:t>
            </a:r>
          </a:p>
        </p:txBody>
      </p:sp>
      <p:sp>
        <p:nvSpPr>
          <p:cNvPr id="273417" name="Rectangle 9">
            <a:extLst>
              <a:ext uri="{FF2B5EF4-FFF2-40B4-BE49-F238E27FC236}">
                <a16:creationId xmlns:a16="http://schemas.microsoft.com/office/drawing/2014/main" id="{51E6B13A-DE9B-95A0-1592-1EBD16D3012F}"/>
              </a:ext>
            </a:extLst>
          </p:cNvPr>
          <p:cNvSpPr>
            <a:spLocks noChangeArrowheads="1"/>
          </p:cNvSpPr>
          <p:nvPr/>
        </p:nvSpPr>
        <p:spPr bwMode="auto">
          <a:xfrm>
            <a:off x="6248400" y="3405981"/>
            <a:ext cx="1676400" cy="53340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SzTx/>
              <a:buFontTx/>
              <a:buNone/>
            </a:pPr>
            <a:r>
              <a:rPr lang="zh-CN" altLang="en-US">
                <a:latin typeface="Tahoma" panose="020B0604030504040204" pitchFamily="34" charset="0"/>
                <a:ea typeface="华文中宋" panose="02010600040101010101" pitchFamily="2" charset="-122"/>
              </a:rPr>
              <a:t>类</a:t>
            </a:r>
            <a:r>
              <a:rPr lang="en-US" altLang="zh-CN">
                <a:latin typeface="Tahoma" panose="020B0604030504040204" pitchFamily="34" charset="0"/>
                <a:ea typeface="华文中宋" panose="02010600040101010101" pitchFamily="2" charset="-122"/>
              </a:rPr>
              <a:t>G</a:t>
            </a:r>
          </a:p>
        </p:txBody>
      </p:sp>
      <p:sp>
        <p:nvSpPr>
          <p:cNvPr id="273418" name="Line 10">
            <a:extLst>
              <a:ext uri="{FF2B5EF4-FFF2-40B4-BE49-F238E27FC236}">
                <a16:creationId xmlns:a16="http://schemas.microsoft.com/office/drawing/2014/main" id="{E8486B41-8F31-5E58-0DF2-E807BA4C2CE8}"/>
              </a:ext>
            </a:extLst>
          </p:cNvPr>
          <p:cNvSpPr>
            <a:spLocks noChangeShapeType="1"/>
          </p:cNvSpPr>
          <p:nvPr/>
        </p:nvSpPr>
        <p:spPr bwMode="auto">
          <a:xfrm>
            <a:off x="6019800" y="2110581"/>
            <a:ext cx="0" cy="381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3419" name="Line 11">
            <a:extLst>
              <a:ext uri="{FF2B5EF4-FFF2-40B4-BE49-F238E27FC236}">
                <a16:creationId xmlns:a16="http://schemas.microsoft.com/office/drawing/2014/main" id="{3C8E80EC-6CCE-AE56-7F0D-AE1D25C02B96}"/>
              </a:ext>
            </a:extLst>
          </p:cNvPr>
          <p:cNvSpPr>
            <a:spLocks noChangeShapeType="1"/>
          </p:cNvSpPr>
          <p:nvPr/>
        </p:nvSpPr>
        <p:spPr bwMode="auto">
          <a:xfrm flipH="1">
            <a:off x="3733800" y="2110582"/>
            <a:ext cx="1295400" cy="347663"/>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3420" name="Line 12">
            <a:extLst>
              <a:ext uri="{FF2B5EF4-FFF2-40B4-BE49-F238E27FC236}">
                <a16:creationId xmlns:a16="http://schemas.microsoft.com/office/drawing/2014/main" id="{CCA4CA21-53CE-EBC9-813B-54A752AFA356}"/>
              </a:ext>
            </a:extLst>
          </p:cNvPr>
          <p:cNvSpPr>
            <a:spLocks noChangeShapeType="1"/>
          </p:cNvSpPr>
          <p:nvPr/>
        </p:nvSpPr>
        <p:spPr bwMode="auto">
          <a:xfrm>
            <a:off x="6705600" y="2110582"/>
            <a:ext cx="1295400" cy="347663"/>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3421" name="Line 13">
            <a:extLst>
              <a:ext uri="{FF2B5EF4-FFF2-40B4-BE49-F238E27FC236}">
                <a16:creationId xmlns:a16="http://schemas.microsoft.com/office/drawing/2014/main" id="{B5407B7E-1B09-A370-7B58-060D58A1C44A}"/>
              </a:ext>
            </a:extLst>
          </p:cNvPr>
          <p:cNvSpPr>
            <a:spLocks noChangeShapeType="1"/>
          </p:cNvSpPr>
          <p:nvPr/>
        </p:nvSpPr>
        <p:spPr bwMode="auto">
          <a:xfrm flipH="1">
            <a:off x="5410200" y="3024982"/>
            <a:ext cx="609600" cy="352425"/>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3422" name="Line 14">
            <a:extLst>
              <a:ext uri="{FF2B5EF4-FFF2-40B4-BE49-F238E27FC236}">
                <a16:creationId xmlns:a16="http://schemas.microsoft.com/office/drawing/2014/main" id="{7220B6F9-3795-71AC-8024-66EBD4CE400C}"/>
              </a:ext>
            </a:extLst>
          </p:cNvPr>
          <p:cNvSpPr>
            <a:spLocks noChangeShapeType="1"/>
          </p:cNvSpPr>
          <p:nvPr/>
        </p:nvSpPr>
        <p:spPr bwMode="auto">
          <a:xfrm>
            <a:off x="6019800" y="3024981"/>
            <a:ext cx="609600" cy="350838"/>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3423" name="Line 15">
            <a:extLst>
              <a:ext uri="{FF2B5EF4-FFF2-40B4-BE49-F238E27FC236}">
                <a16:creationId xmlns:a16="http://schemas.microsoft.com/office/drawing/2014/main" id="{85E85F44-D656-3F3A-AF48-624EE1755B5E}"/>
              </a:ext>
            </a:extLst>
          </p:cNvPr>
          <p:cNvSpPr>
            <a:spLocks noChangeShapeType="1"/>
          </p:cNvSpPr>
          <p:nvPr/>
        </p:nvSpPr>
        <p:spPr bwMode="auto">
          <a:xfrm flipH="1">
            <a:off x="7848600" y="3012282"/>
            <a:ext cx="609600" cy="354013"/>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73424" name="Rectangle 16">
            <a:extLst>
              <a:ext uri="{FF2B5EF4-FFF2-40B4-BE49-F238E27FC236}">
                <a16:creationId xmlns:a16="http://schemas.microsoft.com/office/drawing/2014/main" id="{433D8D79-FE86-566C-1CDB-1ACB3DD8165E}"/>
              </a:ext>
            </a:extLst>
          </p:cNvPr>
          <p:cNvSpPr>
            <a:spLocks noChangeArrowheads="1"/>
          </p:cNvSpPr>
          <p:nvPr/>
        </p:nvSpPr>
        <p:spPr bwMode="auto">
          <a:xfrm>
            <a:off x="2189956" y="4229839"/>
            <a:ext cx="8116888" cy="2110563"/>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lgn="l">
              <a:spcBef>
                <a:spcPct val="0"/>
              </a:spcBef>
              <a:defRPr kumimoji="1" sz="2400">
                <a:solidFill>
                  <a:schemeClr val="tx1"/>
                </a:solidFill>
                <a:latin typeface="Times New Roman" panose="02020603050405020304" pitchFamily="18" charset="0"/>
                <a:ea typeface="宋体" panose="02010600030101010101" pitchFamily="2" charset="-122"/>
              </a:defRPr>
            </a:lvl1pPr>
            <a:lvl2pPr marL="990600" indent="-533400" algn="l">
              <a:spcBef>
                <a:spcPct val="0"/>
              </a:spcBef>
              <a:defRPr kumimoji="1" sz="2400">
                <a:solidFill>
                  <a:schemeClr val="tx1"/>
                </a:solidFill>
                <a:latin typeface="Times New Roman" panose="02020603050405020304" pitchFamily="18" charset="0"/>
                <a:ea typeface="宋体" panose="02010600030101010101" pitchFamily="2" charset="-122"/>
              </a:defRPr>
            </a:lvl2pPr>
            <a:lvl3pPr marL="1371600" indent="-457200" algn="l">
              <a:spcBef>
                <a:spcPct val="0"/>
              </a:spcBef>
              <a:defRPr kumimoji="1" sz="2400">
                <a:solidFill>
                  <a:schemeClr val="tx1"/>
                </a:solidFill>
                <a:latin typeface="Times New Roman" panose="02020603050405020304" pitchFamily="18" charset="0"/>
                <a:ea typeface="宋体" panose="02010600030101010101" pitchFamily="2" charset="-122"/>
              </a:defRPr>
            </a:lvl3pPr>
            <a:lvl4pPr marL="1752600" indent="-381000" algn="l">
              <a:spcBef>
                <a:spcPct val="0"/>
              </a:spcBef>
              <a:defRPr kumimoji="1" sz="2400">
                <a:solidFill>
                  <a:schemeClr val="tx1"/>
                </a:solidFill>
                <a:latin typeface="Times New Roman" panose="02020603050405020304" pitchFamily="18" charset="0"/>
                <a:ea typeface="宋体" panose="02010600030101010101" pitchFamily="2" charset="-122"/>
              </a:defRPr>
            </a:lvl4pPr>
            <a:lvl5pPr marL="2209800" indent="-381000"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2667000" indent="-381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124200" indent="-381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81400" indent="-381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38600" indent="-381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a:spcBef>
                <a:spcPct val="20000"/>
              </a:spcBef>
              <a:buFont typeface="Wingdings" pitchFamily="2" charset="2"/>
              <a:buChar char="n"/>
            </a:pPr>
            <a:r>
              <a:rPr lang="zh-CN" altLang="en-US" dirty="0">
                <a:latin typeface="Tahoma" panose="020B0604030504040204" pitchFamily="34" charset="0"/>
                <a:ea typeface="华文中宋" panose="02010600040101010101" pitchFamily="2" charset="-122"/>
              </a:rPr>
              <a:t>一个类拥有多个父类</a:t>
            </a:r>
            <a:r>
              <a:rPr lang="zh-CN" altLang="en-US" dirty="0">
                <a:latin typeface="Tahoma" panose="020B0604030504040204" pitchFamily="34" charset="0"/>
                <a:ea typeface="华文中宋" panose="02010600040101010101" pitchFamily="2" charset="-122"/>
                <a:sym typeface="Wingdings" pitchFamily="2" charset="2"/>
              </a:rPr>
              <a:t></a:t>
            </a:r>
            <a:r>
              <a:rPr lang="zh-CN" altLang="en-US" dirty="0">
                <a:latin typeface="Tahoma" panose="020B0604030504040204" pitchFamily="34" charset="0"/>
                <a:ea typeface="华文中宋" panose="02010600040101010101" pitchFamily="2" charset="-122"/>
              </a:rPr>
              <a:t>产生二义性，例类</a:t>
            </a:r>
            <a:r>
              <a:rPr lang="en-US" altLang="zh-CN" dirty="0">
                <a:latin typeface="Tahoma" panose="020B0604030504040204" pitchFamily="34" charset="0"/>
                <a:ea typeface="华文中宋" panose="02010600040101010101" pitchFamily="2" charset="-122"/>
              </a:rPr>
              <a:t>C</a:t>
            </a:r>
            <a:r>
              <a:rPr lang="zh-CN" altLang="en-US" dirty="0">
                <a:latin typeface="Tahoma" panose="020B0604030504040204" pitchFamily="34" charset="0"/>
                <a:ea typeface="华文中宋" panose="02010600040101010101" pitchFamily="2" charset="-122"/>
              </a:rPr>
              <a:t>和类</a:t>
            </a:r>
            <a:r>
              <a:rPr lang="en-US" altLang="zh-CN" dirty="0">
                <a:latin typeface="Tahoma" panose="020B0604030504040204" pitchFamily="34" charset="0"/>
                <a:ea typeface="华文中宋" panose="02010600040101010101" pitchFamily="2" charset="-122"/>
              </a:rPr>
              <a:t>D</a:t>
            </a:r>
            <a:r>
              <a:rPr lang="zh-CN" altLang="en-US" dirty="0">
                <a:latin typeface="Tahoma" panose="020B0604030504040204" pitchFamily="34" charset="0"/>
                <a:ea typeface="华文中宋" panose="02010600040101010101" pitchFamily="2" charset="-122"/>
              </a:rPr>
              <a:t>都有一个同名的方法，类</a:t>
            </a:r>
            <a:r>
              <a:rPr lang="en-US" altLang="zh-CN" dirty="0">
                <a:latin typeface="Tahoma" panose="020B0604030504040204" pitchFamily="34" charset="0"/>
                <a:ea typeface="华文中宋" panose="02010600040101010101" pitchFamily="2" charset="-122"/>
              </a:rPr>
              <a:t>G?</a:t>
            </a:r>
          </a:p>
          <a:p>
            <a:pPr lvl="1">
              <a:spcBef>
                <a:spcPct val="20000"/>
              </a:spcBef>
              <a:buFont typeface="Wingdings" pitchFamily="2" charset="2"/>
              <a:buChar char="n"/>
            </a:pPr>
            <a:r>
              <a:rPr lang="en-US" altLang="zh-CN" dirty="0">
                <a:solidFill>
                  <a:srgbClr val="0432FF"/>
                </a:solidFill>
                <a:latin typeface="Tahoma" panose="020B0604030504040204" pitchFamily="34" charset="0"/>
                <a:ea typeface="华文中宋" panose="02010600040101010101" pitchFamily="2" charset="-122"/>
              </a:rPr>
              <a:t>Java</a:t>
            </a:r>
            <a:r>
              <a:rPr lang="zh-CN" altLang="en-US" dirty="0">
                <a:latin typeface="Tahoma" panose="020B0604030504040204" pitchFamily="34" charset="0"/>
                <a:ea typeface="华文中宋" panose="02010600040101010101" pitchFamily="2" charset="-122"/>
              </a:rPr>
              <a:t>中仅仅支持单一继承，同时</a:t>
            </a:r>
            <a:r>
              <a:rPr lang="en-US" altLang="zh-CN" dirty="0">
                <a:latin typeface="Tahoma" panose="020B0604030504040204" pitchFamily="34" charset="0"/>
                <a:ea typeface="华文中宋" panose="02010600040101010101" pitchFamily="2" charset="-122"/>
              </a:rPr>
              <a:t>Java</a:t>
            </a:r>
            <a:r>
              <a:rPr lang="zh-CN" altLang="en-US" dirty="0">
                <a:latin typeface="Tahoma" panose="020B0604030504040204" pitchFamily="34" charset="0"/>
                <a:ea typeface="华文中宋" panose="02010600040101010101" pitchFamily="2" charset="-122"/>
              </a:rPr>
              <a:t>采用</a:t>
            </a:r>
            <a:r>
              <a:rPr lang="en-US" altLang="zh-CN" dirty="0">
                <a:latin typeface="Tahoma" panose="020B0604030504040204" pitchFamily="34" charset="0"/>
                <a:ea typeface="华文中宋" panose="02010600040101010101" pitchFamily="2" charset="-122"/>
              </a:rPr>
              <a:t>Interface(</a:t>
            </a:r>
            <a:r>
              <a:rPr lang="zh-CN" altLang="en-US" dirty="0">
                <a:latin typeface="Tahoma" panose="020B0604030504040204" pitchFamily="34" charset="0"/>
                <a:ea typeface="华文中宋" panose="02010600040101010101" pitchFamily="2" charset="-122"/>
              </a:rPr>
              <a:t>接口</a:t>
            </a:r>
            <a:r>
              <a:rPr lang="en-US" altLang="zh-CN" dirty="0">
                <a:latin typeface="Tahoma" panose="020B0604030504040204" pitchFamily="34" charset="0"/>
                <a:ea typeface="华文中宋" panose="02010600040101010101" pitchFamily="2" charset="-122"/>
              </a:rPr>
              <a:t>)</a:t>
            </a:r>
            <a:r>
              <a:rPr lang="zh-CN" altLang="en-US" dirty="0">
                <a:latin typeface="Tahoma" panose="020B0604030504040204" pitchFamily="34" charset="0"/>
                <a:ea typeface="华文中宋" panose="02010600040101010101" pitchFamily="2" charset="-122"/>
              </a:rPr>
              <a:t>实现多重继承而避免父类二义性</a:t>
            </a:r>
            <a:endParaRPr lang="en-US" altLang="zh-CN" dirty="0">
              <a:latin typeface="Tahoma" panose="020B0604030504040204" pitchFamily="34" charset="0"/>
              <a:ea typeface="华文中宋" panose="02010600040101010101" pitchFamily="2" charset="-122"/>
            </a:endParaRPr>
          </a:p>
          <a:p>
            <a:pPr lvl="1">
              <a:spcBef>
                <a:spcPct val="20000"/>
              </a:spcBef>
              <a:buFont typeface="Wingdings" pitchFamily="2" charset="2"/>
              <a:buChar char="n"/>
            </a:pPr>
            <a:r>
              <a:rPr lang="en-US" altLang="zh-CN" dirty="0" err="1">
                <a:solidFill>
                  <a:srgbClr val="0432FF"/>
                </a:solidFill>
                <a:latin typeface="Tahoma" panose="020B0604030504040204" pitchFamily="34" charset="0"/>
                <a:ea typeface="华文中宋" panose="02010600040101010101" pitchFamily="2" charset="-122"/>
              </a:rPr>
              <a:t>Pyhton</a:t>
            </a:r>
            <a:r>
              <a:rPr lang="zh-CN" altLang="en-US" dirty="0">
                <a:latin typeface="Tahoma" panose="020B0604030504040204" pitchFamily="34" charset="0"/>
                <a:ea typeface="华文中宋" panose="02010600040101010101" pitchFamily="2" charset="-122"/>
              </a:rPr>
              <a:t>在语法上</a:t>
            </a:r>
            <a:r>
              <a:rPr lang="zh-CN" altLang="en-US" dirty="0">
                <a:solidFill>
                  <a:srgbClr val="C00000"/>
                </a:solidFill>
                <a:latin typeface="Tahoma" panose="020B0604030504040204" pitchFamily="34" charset="0"/>
                <a:ea typeface="华文中宋" panose="02010600040101010101" pitchFamily="2" charset="-122"/>
              </a:rPr>
              <a:t>支持</a:t>
            </a:r>
            <a:r>
              <a:rPr lang="zh-CN" altLang="en-US" dirty="0">
                <a:latin typeface="Tahoma" panose="020B0604030504040204" pitchFamily="34" charset="0"/>
                <a:ea typeface="华文中宋" panose="02010600040101010101" pitchFamily="2" charset="-122"/>
              </a:rPr>
              <a:t>多重继承</a:t>
            </a:r>
          </a:p>
        </p:txBody>
      </p:sp>
      <p:sp>
        <p:nvSpPr>
          <p:cNvPr id="273426" name="Rectangle 18">
            <a:extLst>
              <a:ext uri="{FF2B5EF4-FFF2-40B4-BE49-F238E27FC236}">
                <a16:creationId xmlns:a16="http://schemas.microsoft.com/office/drawing/2014/main" id="{866B4CF4-4D88-744F-AF24-2F7D39869826}"/>
              </a:ext>
            </a:extLst>
          </p:cNvPr>
          <p:cNvSpPr>
            <a:spLocks noGrp="1" noChangeArrowheads="1"/>
          </p:cNvSpPr>
          <p:nvPr>
            <p:ph type="title"/>
          </p:nvPr>
        </p:nvSpPr>
        <p:spPr>
          <a:noFill/>
          <a:ln/>
        </p:spPr>
        <p:txBody>
          <a:bodyPr/>
          <a:lstStyle/>
          <a:p>
            <a:r>
              <a:rPr lang="en-US" altLang="zh-CN" dirty="0"/>
              <a:t>3.4-2 </a:t>
            </a:r>
            <a:r>
              <a:rPr lang="zh-CN" altLang="en-US" dirty="0"/>
              <a:t>继承性 </a:t>
            </a:r>
            <a:r>
              <a:rPr lang="en-US" altLang="zh-CN" dirty="0"/>
              <a:t>----</a:t>
            </a:r>
            <a:r>
              <a:rPr lang="zh-CN" altLang="en-US" dirty="0"/>
              <a:t>多重继承</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273424">
                                            <p:txEl>
                                              <p:pRg st="0" end="0"/>
                                            </p:txEl>
                                          </p:spTgt>
                                        </p:tgtEl>
                                        <p:attrNameLst>
                                          <p:attrName>style.visibility</p:attrName>
                                        </p:attrNameLst>
                                      </p:cBhvr>
                                      <p:to>
                                        <p:strVal val="visible"/>
                                      </p:to>
                                    </p:set>
                                    <p:animEffect transition="in" filter="barn(outHorizontal)">
                                      <p:cBhvr>
                                        <p:cTn id="7" dur="500"/>
                                        <p:tgtEl>
                                          <p:spTgt spid="27342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273424">
                                            <p:txEl>
                                              <p:pRg st="1" end="1"/>
                                            </p:txEl>
                                          </p:spTgt>
                                        </p:tgtEl>
                                        <p:attrNameLst>
                                          <p:attrName>style.visibility</p:attrName>
                                        </p:attrNameLst>
                                      </p:cBhvr>
                                      <p:to>
                                        <p:strVal val="visible"/>
                                      </p:to>
                                    </p:set>
                                    <p:animEffect transition="in" filter="barn(outHorizontal)">
                                      <p:cBhvr>
                                        <p:cTn id="12" dur="500"/>
                                        <p:tgtEl>
                                          <p:spTgt spid="27342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273424">
                                            <p:txEl>
                                              <p:pRg st="2" end="2"/>
                                            </p:txEl>
                                          </p:spTgt>
                                        </p:tgtEl>
                                        <p:attrNameLst>
                                          <p:attrName>style.visibility</p:attrName>
                                        </p:attrNameLst>
                                      </p:cBhvr>
                                      <p:to>
                                        <p:strVal val="visible"/>
                                      </p:to>
                                    </p:set>
                                    <p:animEffect transition="in" filter="barn(outHorizontal)">
                                      <p:cBhvr>
                                        <p:cTn id="17" dur="500"/>
                                        <p:tgtEl>
                                          <p:spTgt spid="27342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24" grpId="0" build="p" bldLvl="2"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8418953-80E9-2C45-622B-AD587829D913}"/>
              </a:ext>
            </a:extLst>
          </p:cNvPr>
          <p:cNvSpPr>
            <a:spLocks noGrp="1"/>
          </p:cNvSpPr>
          <p:nvPr>
            <p:ph type="sldNum" sz="quarter" idx="12"/>
          </p:nvPr>
        </p:nvSpPr>
        <p:spPr/>
        <p:txBody>
          <a:bodyPr/>
          <a:lstStyle/>
          <a:p>
            <a:fld id="{863D223C-A721-CD4D-9A5C-2BE66AF3F7ED}" type="slidenum">
              <a:rPr lang="en-US" altLang="zh-CN"/>
              <a:pPr/>
              <a:t>14</a:t>
            </a:fld>
            <a:endParaRPr lang="en-US" altLang="zh-CN"/>
          </a:p>
        </p:txBody>
      </p:sp>
      <p:sp>
        <p:nvSpPr>
          <p:cNvPr id="274435" name="Rectangle 3">
            <a:extLst>
              <a:ext uri="{FF2B5EF4-FFF2-40B4-BE49-F238E27FC236}">
                <a16:creationId xmlns:a16="http://schemas.microsoft.com/office/drawing/2014/main" id="{80AB7D44-AE36-575F-0FE3-A2E48DCEBAF8}"/>
              </a:ext>
            </a:extLst>
          </p:cNvPr>
          <p:cNvSpPr>
            <a:spLocks noGrp="1" noChangeArrowheads="1"/>
          </p:cNvSpPr>
          <p:nvPr>
            <p:ph type="body" idx="1"/>
          </p:nvPr>
        </p:nvSpPr>
        <p:spPr>
          <a:xfrm>
            <a:off x="1205023" y="1407648"/>
            <a:ext cx="7534940" cy="3926352"/>
          </a:xfrm>
        </p:spPr>
        <p:txBody>
          <a:bodyPr>
            <a:normAutofit/>
          </a:bodyPr>
          <a:lstStyle/>
          <a:p>
            <a:pPr marL="609600" indent="-609600">
              <a:lnSpc>
                <a:spcPct val="150000"/>
              </a:lnSpc>
              <a:buSzPct val="90000"/>
              <a:buFont typeface="Wingdings" pitchFamily="2" charset="2"/>
              <a:buAutoNum type="arabicPeriod" startAt="5"/>
            </a:pPr>
            <a:r>
              <a:rPr lang="zh-CN" altLang="en-US" sz="2400" dirty="0"/>
              <a:t>多态性</a:t>
            </a:r>
          </a:p>
          <a:p>
            <a:pPr marL="990600" lvl="1" indent="-533400">
              <a:lnSpc>
                <a:spcPct val="150000"/>
              </a:lnSpc>
              <a:buSzPct val="90000"/>
            </a:pPr>
            <a:r>
              <a:rPr lang="zh-CN" altLang="en-US" sz="1800" dirty="0"/>
              <a:t>表现在继承中</a:t>
            </a:r>
            <a:r>
              <a:rPr lang="zh-CN" altLang="en-US" sz="1800" dirty="0">
                <a:sym typeface="Wingdings" pitchFamily="2" charset="2"/>
              </a:rPr>
              <a:t>方法的重写</a:t>
            </a:r>
            <a:endParaRPr lang="zh-CN" altLang="en-US" sz="1800" dirty="0"/>
          </a:p>
          <a:p>
            <a:pPr marL="1371600" lvl="2" indent="-457200">
              <a:lnSpc>
                <a:spcPct val="150000"/>
              </a:lnSpc>
              <a:buSzPct val="90000"/>
            </a:pPr>
            <a:r>
              <a:rPr lang="zh-CN" altLang="en-US" sz="1800" dirty="0"/>
              <a:t>子类从父类继承</a:t>
            </a:r>
            <a:r>
              <a:rPr lang="en-US" altLang="zh-CN" sz="1800" dirty="0"/>
              <a:t>(extends</a:t>
            </a:r>
            <a:r>
              <a:rPr lang="zh-CN" altLang="en-US" sz="1800" dirty="0"/>
              <a:t>扩展</a:t>
            </a:r>
            <a:r>
              <a:rPr lang="en-US" altLang="zh-CN" sz="1800" dirty="0"/>
              <a:t>)</a:t>
            </a:r>
            <a:r>
              <a:rPr lang="zh-CN" altLang="en-US" sz="1800" dirty="0"/>
              <a:t>而来</a:t>
            </a:r>
          </a:p>
          <a:p>
            <a:pPr marL="1371600" lvl="2" indent="-457200">
              <a:lnSpc>
                <a:spcPct val="150000"/>
              </a:lnSpc>
              <a:buSzPct val="90000"/>
            </a:pPr>
            <a:r>
              <a:rPr lang="zh-CN" altLang="en-US" sz="1800" dirty="0"/>
              <a:t>多个子类同属一个父类，所有子类有相同的父类</a:t>
            </a:r>
          </a:p>
          <a:p>
            <a:pPr marL="1371600" lvl="2" indent="-457200">
              <a:lnSpc>
                <a:spcPct val="150000"/>
              </a:lnSpc>
              <a:buSzPct val="90000"/>
            </a:pPr>
            <a:r>
              <a:rPr lang="zh-CN" altLang="en-US" sz="1800" dirty="0"/>
              <a:t>继承父类的方法</a:t>
            </a:r>
          </a:p>
          <a:p>
            <a:pPr marL="1371600" lvl="2" indent="-457200">
              <a:lnSpc>
                <a:spcPct val="150000"/>
              </a:lnSpc>
              <a:buSzPct val="90000"/>
            </a:pPr>
            <a:r>
              <a:rPr lang="zh-CN" altLang="en-US" sz="1800" dirty="0"/>
              <a:t>在</a:t>
            </a:r>
            <a:r>
              <a:rPr lang="zh-CN" altLang="en-US" sz="1800" dirty="0">
                <a:solidFill>
                  <a:srgbClr val="C00000"/>
                </a:solidFill>
              </a:rPr>
              <a:t>不同的子类中有不同的表现形式</a:t>
            </a:r>
          </a:p>
          <a:p>
            <a:pPr marL="990600" lvl="1" indent="-533400">
              <a:lnSpc>
                <a:spcPct val="150000"/>
              </a:lnSpc>
              <a:buSzPct val="90000"/>
            </a:pPr>
            <a:r>
              <a:rPr lang="zh-CN" altLang="en-US" sz="1800" dirty="0"/>
              <a:t>表现在用一个类中</a:t>
            </a:r>
            <a:r>
              <a:rPr lang="zh-CN" altLang="en-US" sz="1800" dirty="0">
                <a:sym typeface="Wingdings" pitchFamily="2" charset="2"/>
              </a:rPr>
              <a:t>方法的重载</a:t>
            </a:r>
            <a:endParaRPr lang="zh-CN" altLang="en-US" sz="1800" dirty="0"/>
          </a:p>
          <a:p>
            <a:pPr marL="1371600" lvl="2" indent="-457200">
              <a:lnSpc>
                <a:spcPct val="150000"/>
              </a:lnSpc>
              <a:buSzPct val="90000"/>
              <a:buNone/>
            </a:pPr>
            <a:endParaRPr lang="zh-CN" altLang="en-US" dirty="0"/>
          </a:p>
        </p:txBody>
      </p:sp>
      <p:sp>
        <p:nvSpPr>
          <p:cNvPr id="274437" name="Rectangle 5">
            <a:extLst>
              <a:ext uri="{FF2B5EF4-FFF2-40B4-BE49-F238E27FC236}">
                <a16:creationId xmlns:a16="http://schemas.microsoft.com/office/drawing/2014/main" id="{4D343649-B638-9E6A-C691-9CAAD66A8017}"/>
              </a:ext>
            </a:extLst>
          </p:cNvPr>
          <p:cNvSpPr>
            <a:spLocks noGrp="1" noChangeArrowheads="1"/>
          </p:cNvSpPr>
          <p:nvPr>
            <p:ph type="title"/>
          </p:nvPr>
        </p:nvSpPr>
        <p:spPr>
          <a:noFill/>
          <a:ln/>
        </p:spPr>
        <p:txBody>
          <a:bodyPr/>
          <a:lstStyle/>
          <a:p>
            <a:r>
              <a:rPr lang="en-US" altLang="zh-CN" dirty="0"/>
              <a:t>3.5 </a:t>
            </a:r>
            <a:r>
              <a:rPr lang="zh-CN" altLang="en-US" dirty="0"/>
              <a:t>多态性</a:t>
            </a:r>
          </a:p>
        </p:txBody>
      </p:sp>
      <p:pic>
        <p:nvPicPr>
          <p:cNvPr id="5122" name="Picture 2" descr="Polymorphism in OOPs">
            <a:extLst>
              <a:ext uri="{FF2B5EF4-FFF2-40B4-BE49-F238E27FC236}">
                <a16:creationId xmlns:a16="http://schemas.microsoft.com/office/drawing/2014/main" id="{2D2F5B81-1A5A-5FCA-95FD-D3B7099178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6130" y="3605578"/>
            <a:ext cx="4230847" cy="2750773"/>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6A7F0B0-C408-40E5-87B2-57C2C3FF6403}"/>
              </a:ext>
            </a:extLst>
          </p:cNvPr>
          <p:cNvSpPr txBox="1"/>
          <p:nvPr/>
        </p:nvSpPr>
        <p:spPr>
          <a:xfrm>
            <a:off x="6546391" y="2640356"/>
            <a:ext cx="3022305" cy="369332"/>
          </a:xfrm>
          <a:prstGeom prst="rect">
            <a:avLst/>
          </a:prstGeom>
          <a:noFill/>
        </p:spPr>
        <p:txBody>
          <a:bodyPr wrap="square">
            <a:spAutoFit/>
          </a:bodyPr>
          <a:lstStyle/>
          <a:p>
            <a:r>
              <a:rPr lang="zh-CN" altLang="en-US" dirty="0">
                <a:solidFill>
                  <a:srgbClr val="0432FF"/>
                </a:solidFill>
              </a:rPr>
              <a:t>多态性在继承中的表现</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51D6-1938-4173-801A-79F24CC5B920}"/>
              </a:ext>
            </a:extLst>
          </p:cNvPr>
          <p:cNvSpPr>
            <a:spLocks noGrp="1"/>
          </p:cNvSpPr>
          <p:nvPr>
            <p:ph type="title"/>
          </p:nvPr>
        </p:nvSpPr>
        <p:spPr/>
        <p:txBody>
          <a:bodyPr/>
          <a:lstStyle/>
          <a:p>
            <a:r>
              <a:rPr kumimoji="1" lang="en-US" altLang="zh-CN" dirty="0"/>
              <a:t>3.6</a:t>
            </a:r>
            <a:r>
              <a:rPr kumimoji="1" lang="zh-CN" altLang="en-US" dirty="0"/>
              <a:t> </a:t>
            </a:r>
            <a:r>
              <a:rPr kumimoji="1" lang="en-US" altLang="zh-CN" dirty="0"/>
              <a:t>Abstraction</a:t>
            </a:r>
            <a:endParaRPr kumimoji="1" lang="zh-CN" altLang="en-US" dirty="0"/>
          </a:p>
        </p:txBody>
      </p:sp>
      <p:sp>
        <p:nvSpPr>
          <p:cNvPr id="4" name="TextBox 3">
            <a:extLst>
              <a:ext uri="{FF2B5EF4-FFF2-40B4-BE49-F238E27FC236}">
                <a16:creationId xmlns:a16="http://schemas.microsoft.com/office/drawing/2014/main" id="{46E9793A-C3DC-C143-C04E-69725DF807F8}"/>
              </a:ext>
            </a:extLst>
          </p:cNvPr>
          <p:cNvSpPr txBox="1"/>
          <p:nvPr/>
        </p:nvSpPr>
        <p:spPr>
          <a:xfrm>
            <a:off x="925596" y="1558929"/>
            <a:ext cx="9728550" cy="4612288"/>
          </a:xfrm>
          <a:prstGeom prst="rect">
            <a:avLst/>
          </a:prstGeom>
          <a:noFill/>
        </p:spPr>
        <p:txBody>
          <a:bodyPr wrap="square">
            <a:spAutoFit/>
          </a:bodyPr>
          <a:lstStyle/>
          <a:p>
            <a:pPr>
              <a:lnSpc>
                <a:spcPct val="150000"/>
              </a:lnSpc>
            </a:pPr>
            <a:r>
              <a:rPr lang="zh-CN" altLang="en-US" dirty="0">
                <a:solidFill>
                  <a:srgbClr val="0432FF"/>
                </a:solidFill>
              </a:rPr>
              <a:t>抽象</a:t>
            </a:r>
            <a:r>
              <a:rPr lang="zh-CN" altLang="en-US" dirty="0"/>
              <a:t>是一种</a:t>
            </a:r>
            <a:r>
              <a:rPr lang="zh-CN" altLang="en-US" dirty="0">
                <a:solidFill>
                  <a:srgbClr val="C00000"/>
                </a:solidFill>
              </a:rPr>
              <a:t>仅显示所需信息而隐藏其余信息</a:t>
            </a:r>
            <a:r>
              <a:rPr lang="zh-CN" altLang="en-US" dirty="0"/>
              <a:t>的技术。</a:t>
            </a:r>
            <a:endParaRPr lang="en-US" altLang="zh-CN" dirty="0"/>
          </a:p>
          <a:p>
            <a:pPr marL="742950" lvl="1" indent="-285750">
              <a:lnSpc>
                <a:spcPct val="150000"/>
              </a:lnSpc>
              <a:buFont typeface="Arial" panose="020B0604020202020204" pitchFamily="34" charset="0"/>
              <a:buChar char="•"/>
            </a:pPr>
            <a:r>
              <a:rPr lang="zh-CN" altLang="en-US" dirty="0"/>
              <a:t>抽象的基本功能是隐藏数据。</a:t>
            </a:r>
            <a:endParaRPr lang="en-US" altLang="zh-CN" dirty="0"/>
          </a:p>
          <a:p>
            <a:pPr marL="742950" lvl="1" indent="-285750">
              <a:lnSpc>
                <a:spcPct val="150000"/>
              </a:lnSpc>
              <a:buFont typeface="Arial" panose="020B0604020202020204" pitchFamily="34" charset="0"/>
              <a:buChar char="•"/>
            </a:pPr>
            <a:r>
              <a:rPr lang="zh-CN" altLang="en-US" dirty="0"/>
              <a:t>从大量数据中挑选数据以显示所需信息的过程，</a:t>
            </a:r>
            <a:endParaRPr lang="en-US" altLang="zh-CN" dirty="0"/>
          </a:p>
          <a:p>
            <a:pPr marL="742950" lvl="1" indent="-285750">
              <a:lnSpc>
                <a:spcPct val="150000"/>
              </a:lnSpc>
              <a:buFont typeface="Arial" panose="020B0604020202020204" pitchFamily="34" charset="0"/>
              <a:buChar char="•"/>
            </a:pPr>
            <a:r>
              <a:rPr lang="zh-CN" altLang="en-US" dirty="0"/>
              <a:t>从而最大限度地减少编程复杂性和工作量。</a:t>
            </a:r>
            <a:endParaRPr lang="en-US" altLang="zh-CN" dirty="0"/>
          </a:p>
          <a:p>
            <a:pPr>
              <a:lnSpc>
                <a:spcPct val="150000"/>
              </a:lnSpc>
            </a:pPr>
            <a:r>
              <a:rPr lang="zh-CN" altLang="en-US" dirty="0"/>
              <a:t>还有</a:t>
            </a:r>
            <a:r>
              <a:rPr lang="zh-CN" altLang="en-US" dirty="0">
                <a:solidFill>
                  <a:srgbClr val="0432FF"/>
                </a:solidFill>
              </a:rPr>
              <a:t>抽象方法</a:t>
            </a:r>
            <a:r>
              <a:rPr lang="zh-CN" altLang="en-US" dirty="0"/>
              <a:t>和</a:t>
            </a:r>
            <a:r>
              <a:rPr lang="zh-CN" altLang="en-US" dirty="0">
                <a:solidFill>
                  <a:srgbClr val="0432FF"/>
                </a:solidFill>
              </a:rPr>
              <a:t>抽象类</a:t>
            </a:r>
            <a:r>
              <a:rPr lang="zh-CN" altLang="en-US" dirty="0"/>
              <a:t>。</a:t>
            </a:r>
            <a:endParaRPr lang="en-US" altLang="zh-CN" dirty="0"/>
          </a:p>
          <a:p>
            <a:pPr marL="742950" lvl="1" indent="-285750">
              <a:lnSpc>
                <a:spcPct val="150000"/>
              </a:lnSpc>
              <a:buFont typeface="Arial" panose="020B0604020202020204" pitchFamily="34" charset="0"/>
              <a:buChar char="•"/>
            </a:pPr>
            <a:r>
              <a:rPr lang="zh-CN" altLang="en-US" dirty="0">
                <a:solidFill>
                  <a:srgbClr val="0432FF"/>
                </a:solidFill>
              </a:rPr>
              <a:t>声明一个或多个抽象方法的类称为</a:t>
            </a:r>
            <a:r>
              <a:rPr lang="zh-CN" altLang="en-US" dirty="0">
                <a:solidFill>
                  <a:srgbClr val="C00000"/>
                </a:solidFill>
              </a:rPr>
              <a:t>抽象类</a:t>
            </a:r>
            <a:r>
              <a:rPr lang="zh-CN" altLang="en-US" dirty="0"/>
              <a:t>。</a:t>
            </a:r>
            <a:endParaRPr lang="en-US" altLang="zh-CN" dirty="0"/>
          </a:p>
          <a:p>
            <a:pPr marL="742950" lvl="1" indent="-285750">
              <a:lnSpc>
                <a:spcPct val="150000"/>
              </a:lnSpc>
              <a:buFont typeface="Arial" panose="020B0604020202020204" pitchFamily="34" charset="0"/>
              <a:buChar char="•"/>
            </a:pPr>
            <a:r>
              <a:rPr lang="zh-CN" altLang="en-US" dirty="0"/>
              <a:t>具有方法定义但没有实现的方法称为</a:t>
            </a:r>
            <a:r>
              <a:rPr lang="zh-CN" altLang="en-US" dirty="0">
                <a:solidFill>
                  <a:srgbClr val="C00000"/>
                </a:solidFill>
              </a:rPr>
              <a:t>抽象方法</a:t>
            </a:r>
            <a:r>
              <a:rPr lang="zh-CN" altLang="en-US" dirty="0"/>
              <a:t>。一旦我们利用数据抽象（抽象类、通用行为形式和面向对象的编程层次结构）构建了对象，就可以在许多应用程序中使用相同的数据片段。</a:t>
            </a:r>
            <a:endParaRPr lang="en-US" altLang="zh-CN" dirty="0"/>
          </a:p>
          <a:p>
            <a:pPr marL="742950" lvl="1" indent="-285750">
              <a:lnSpc>
                <a:spcPct val="150000"/>
              </a:lnSpc>
              <a:buFont typeface="Arial" panose="020B0604020202020204" pitchFamily="34" charset="0"/>
              <a:buChar char="•"/>
            </a:pPr>
            <a:r>
              <a:rPr lang="zh-CN" altLang="en-US" dirty="0"/>
              <a:t>当两个或多个子类以不同的方式和不同的实现执行相同的活动时，将使用抽象方法。抽象类可以同时具有抽象方法和常规方法，即同时具有抽象方法和常规方法。</a:t>
            </a:r>
          </a:p>
        </p:txBody>
      </p:sp>
      <p:pic>
        <p:nvPicPr>
          <p:cNvPr id="1026" name="Picture 2">
            <a:extLst>
              <a:ext uri="{FF2B5EF4-FFF2-40B4-BE49-F238E27FC236}">
                <a16:creationId xmlns:a16="http://schemas.microsoft.com/office/drawing/2014/main" id="{086F6CB1-0033-E632-296F-F45B28E398A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4247" b="2523"/>
          <a:stretch/>
        </p:blipFill>
        <p:spPr bwMode="auto">
          <a:xfrm>
            <a:off x="6554771" y="624681"/>
            <a:ext cx="5346284" cy="3152556"/>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4099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zh-CN" altLang="en-US" b="1" dirty="0"/>
              <a:t>面向对象编程介绍</a:t>
            </a:r>
            <a:endParaRPr lang="en-US" b="1" dirty="0"/>
          </a:p>
        </p:txBody>
      </p:sp>
      <p:sp>
        <p:nvSpPr>
          <p:cNvPr id="6" name="文本框 5"/>
          <p:cNvSpPr txBox="1"/>
          <p:nvPr/>
        </p:nvSpPr>
        <p:spPr>
          <a:xfrm>
            <a:off x="1179328" y="1521582"/>
            <a:ext cx="9980682" cy="461228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solidFill>
                  <a:srgbClr val="0432FF"/>
                </a:solidFill>
              </a:rPr>
              <a:t>为什么需要</a:t>
            </a:r>
            <a:r>
              <a:rPr lang="zh-CN" altLang="zh-CN" dirty="0">
                <a:solidFill>
                  <a:srgbClr val="0432FF"/>
                </a:solidFill>
              </a:rPr>
              <a:t>面向对象编程</a:t>
            </a:r>
            <a:r>
              <a:rPr lang="zh-CN" altLang="en-US" dirty="0">
                <a:solidFill>
                  <a:srgbClr val="0432FF"/>
                </a:solidFill>
              </a:rPr>
              <a:t>？</a:t>
            </a:r>
            <a:endParaRPr lang="en-US" altLang="zh-CN" dirty="0">
              <a:solidFill>
                <a:srgbClr val="0432FF"/>
              </a:solidFill>
            </a:endParaRPr>
          </a:p>
          <a:p>
            <a:pPr lvl="1">
              <a:lnSpc>
                <a:spcPct val="150000"/>
              </a:lnSpc>
            </a:pPr>
            <a:r>
              <a:rPr lang="zh-CN" altLang="en-US" dirty="0"/>
              <a:t>  编程日益复杂，代码需要组织、复用、修改。</a:t>
            </a:r>
            <a:endParaRPr lang="en-US" altLang="zh-CN" dirty="0"/>
          </a:p>
          <a:p>
            <a:pPr lvl="1">
              <a:lnSpc>
                <a:spcPct val="150000"/>
              </a:lnSpc>
            </a:pPr>
            <a:r>
              <a:rPr lang="en-US" altLang="zh-CN" dirty="0"/>
              <a:t>  </a:t>
            </a:r>
            <a:r>
              <a:rPr lang="zh-CN" altLang="en-US" dirty="0"/>
              <a:t>它是一种自然的解决方案。</a:t>
            </a:r>
            <a:r>
              <a:rPr lang="en-US" altLang="zh-CN" dirty="0"/>
              <a:t>  </a:t>
            </a:r>
          </a:p>
          <a:p>
            <a:pPr marL="285750" indent="-285750">
              <a:lnSpc>
                <a:spcPct val="150000"/>
              </a:lnSpc>
              <a:buFont typeface="Arial" panose="020B0604020202020204" pitchFamily="34" charset="0"/>
              <a:buChar char="•"/>
            </a:pPr>
            <a:endParaRPr lang="en-US" altLang="zh-CN" dirty="0"/>
          </a:p>
          <a:p>
            <a:pPr marL="285750" indent="-285750">
              <a:lnSpc>
                <a:spcPct val="150000"/>
              </a:lnSpc>
              <a:buFont typeface="Arial" panose="020B0604020202020204" pitchFamily="34" charset="0"/>
              <a:buChar char="•"/>
            </a:pPr>
            <a:r>
              <a:rPr lang="zh-CN" altLang="en-US" dirty="0">
                <a:solidFill>
                  <a:srgbClr val="0432FF"/>
                </a:solidFill>
              </a:rPr>
              <a:t>何时需要面向对象编程？</a:t>
            </a:r>
            <a:endParaRPr lang="en-US" altLang="zh-CN" dirty="0">
              <a:solidFill>
                <a:srgbClr val="0432FF"/>
              </a:solidFill>
            </a:endParaRPr>
          </a:p>
          <a:p>
            <a:pPr>
              <a:lnSpc>
                <a:spcPct val="150000"/>
              </a:lnSpc>
            </a:pPr>
            <a:r>
              <a:rPr lang="zh-CN" altLang="en-US" dirty="0"/>
              <a:t>  </a:t>
            </a:r>
            <a:r>
              <a:rPr lang="en-US" altLang="zh-CN" dirty="0"/>
              <a:t>	</a:t>
            </a:r>
            <a:r>
              <a:rPr lang="zh-CN" altLang="en-US" dirty="0"/>
              <a:t>较复杂的设计、产品、在他人基础上的工作。</a:t>
            </a:r>
            <a:endParaRPr lang="en-US" altLang="zh-CN" dirty="0"/>
          </a:p>
          <a:p>
            <a:pPr marL="285750" indent="-285750">
              <a:lnSpc>
                <a:spcPct val="150000"/>
              </a:lnSpc>
              <a:buFont typeface="Arial" panose="020B0604020202020204" pitchFamily="34" charset="0"/>
              <a:buChar char="•"/>
            </a:pPr>
            <a:endParaRPr lang="en-US" altLang="zh-CN" dirty="0"/>
          </a:p>
          <a:p>
            <a:pPr marL="285750" indent="-285750">
              <a:lnSpc>
                <a:spcPct val="150000"/>
              </a:lnSpc>
              <a:buFont typeface="Arial" panose="020B0604020202020204" pitchFamily="34" charset="0"/>
              <a:buChar char="•"/>
            </a:pPr>
            <a:r>
              <a:rPr lang="en-US" altLang="zh-CN" dirty="0">
                <a:solidFill>
                  <a:srgbClr val="0432FF"/>
                </a:solidFill>
              </a:rPr>
              <a:t>OOP</a:t>
            </a:r>
            <a:r>
              <a:rPr lang="zh-CN" altLang="en-US" dirty="0">
                <a:solidFill>
                  <a:srgbClr val="0432FF"/>
                </a:solidFill>
              </a:rPr>
              <a:t>需要解决哪些问题？</a:t>
            </a:r>
            <a:endParaRPr lang="en-US" altLang="zh-CN" dirty="0">
              <a:solidFill>
                <a:srgbClr val="0432FF"/>
              </a:solidFill>
            </a:endParaRPr>
          </a:p>
          <a:p>
            <a:pPr lvl="1">
              <a:lnSpc>
                <a:spcPct val="150000"/>
              </a:lnSpc>
            </a:pPr>
            <a:r>
              <a:rPr lang="zh-CN" altLang="en-US" dirty="0"/>
              <a:t>  封装、继承、多态</a:t>
            </a:r>
            <a:endParaRPr lang="en-US" altLang="zh-CN" dirty="0"/>
          </a:p>
          <a:p>
            <a:pPr lvl="1">
              <a:lnSpc>
                <a:spcPct val="150000"/>
              </a:lnSpc>
            </a:pPr>
            <a:r>
              <a:rPr lang="en-US" altLang="zh-CN" dirty="0"/>
              <a:t>  </a:t>
            </a:r>
            <a:r>
              <a:rPr lang="zh-CN" altLang="en-US" dirty="0"/>
              <a:t>访问控制</a:t>
            </a:r>
            <a:endParaRPr lang="en-US" altLang="zh-CN" dirty="0"/>
          </a:p>
          <a:p>
            <a:pPr lvl="1">
              <a:lnSpc>
                <a:spcPct val="150000"/>
              </a:lnSpc>
            </a:pPr>
            <a:r>
              <a:rPr lang="en-US" altLang="zh-CN" dirty="0"/>
              <a:t>  </a:t>
            </a:r>
            <a:r>
              <a:rPr lang="zh-CN" altLang="en-US" dirty="0"/>
              <a:t>对象</a:t>
            </a:r>
            <a:r>
              <a:rPr lang="en-US" altLang="zh-CN" dirty="0"/>
              <a:t>---</a:t>
            </a:r>
            <a:r>
              <a:rPr lang="zh-CN" altLang="en-US" dirty="0"/>
              <a:t>关系</a:t>
            </a:r>
            <a:r>
              <a:rPr lang="en-US" altLang="zh-CN" dirty="0"/>
              <a:t>---OOP</a:t>
            </a:r>
            <a:r>
              <a:rPr lang="zh-CN" altLang="en-US" dirty="0"/>
              <a:t>实现</a:t>
            </a:r>
            <a:endParaRPr lang="en-US" altLang="zh-CN" dirty="0"/>
          </a:p>
        </p:txBody>
      </p:sp>
      <p:pic>
        <p:nvPicPr>
          <p:cNvPr id="7170" name="Picture 2">
            <a:extLst>
              <a:ext uri="{FF2B5EF4-FFF2-40B4-BE49-F238E27FC236}">
                <a16:creationId xmlns:a16="http://schemas.microsoft.com/office/drawing/2014/main" id="{167FBBE5-57EF-04E1-5319-5F85325142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044" t="3312" r="12822"/>
          <a:stretch/>
        </p:blipFill>
        <p:spPr bwMode="auto">
          <a:xfrm>
            <a:off x="6998372" y="335129"/>
            <a:ext cx="4161638" cy="598616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5309026-9F97-7CC7-CA60-D9C1B78B3DD1}"/>
              </a:ext>
            </a:extLst>
          </p:cNvPr>
          <p:cNvSpPr txBox="1"/>
          <p:nvPr/>
        </p:nvSpPr>
        <p:spPr>
          <a:xfrm>
            <a:off x="6268278" y="6338205"/>
            <a:ext cx="6096000" cy="369332"/>
          </a:xfrm>
          <a:prstGeom prst="rect">
            <a:avLst/>
          </a:prstGeom>
          <a:noFill/>
        </p:spPr>
        <p:txBody>
          <a:bodyPr wrap="square">
            <a:spAutoFit/>
          </a:bodyPr>
          <a:lstStyle/>
          <a:p>
            <a:r>
              <a:rPr lang="en-US" b="0" i="0" dirty="0">
                <a:solidFill>
                  <a:srgbClr val="0432FF"/>
                </a:solidFill>
                <a:effectLst/>
                <a:latin typeface="sohne"/>
              </a:rPr>
              <a:t>Functional programming vs object-oriented programming</a:t>
            </a:r>
            <a:endParaRPr lang="zh-CN" altLang="en-US" dirty="0">
              <a:solidFill>
                <a:srgbClr val="0432FF"/>
              </a:solidFill>
            </a:endParaRPr>
          </a:p>
        </p:txBody>
      </p:sp>
    </p:spTree>
    <p:extLst>
      <p:ext uri="{BB962C8B-B14F-4D97-AF65-F5344CB8AC3E}">
        <p14:creationId xmlns:p14="http://schemas.microsoft.com/office/powerpoint/2010/main" val="1658863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5659" y="87086"/>
            <a:ext cx="9980682" cy="1096962"/>
          </a:xfrm>
        </p:spPr>
        <p:txBody>
          <a:bodyPr/>
          <a:lstStyle/>
          <a:p>
            <a:r>
              <a:rPr lang="zh-CN" altLang="en-US" b="1" dirty="0"/>
              <a:t>面向对象编程介绍</a:t>
            </a:r>
            <a:endParaRPr lang="en-US" b="1" dirty="0"/>
          </a:p>
        </p:txBody>
      </p:sp>
      <p:graphicFrame>
        <p:nvGraphicFramePr>
          <p:cNvPr id="7" name="表格 6">
            <a:extLst>
              <a:ext uri="{FF2B5EF4-FFF2-40B4-BE49-F238E27FC236}">
                <a16:creationId xmlns:a16="http://schemas.microsoft.com/office/drawing/2014/main" id="{66AFB8FB-3D9F-4041-B843-D6A02B7A5B99}"/>
              </a:ext>
            </a:extLst>
          </p:cNvPr>
          <p:cNvGraphicFramePr>
            <a:graphicFrameLocks noGrp="1"/>
          </p:cNvGraphicFramePr>
          <p:nvPr>
            <p:extLst>
              <p:ext uri="{D42A27DB-BD31-4B8C-83A1-F6EECF244321}">
                <p14:modId xmlns:p14="http://schemas.microsoft.com/office/powerpoint/2010/main" val="4096931119"/>
              </p:ext>
            </p:extLst>
          </p:nvPr>
        </p:nvGraphicFramePr>
        <p:xfrm>
          <a:off x="921335" y="1535249"/>
          <a:ext cx="9998302" cy="4610371"/>
        </p:xfrm>
        <a:graphic>
          <a:graphicData uri="http://schemas.openxmlformats.org/drawingml/2006/table">
            <a:tbl>
              <a:tblPr firstRow="1" firstCol="1" bandRow="1">
                <a:tableStyleId>{5C22544A-7EE6-4342-B048-85BDC9FD1C3A}</a:tableStyleId>
              </a:tblPr>
              <a:tblGrid>
                <a:gridCol w="2450686">
                  <a:extLst>
                    <a:ext uri="{9D8B030D-6E8A-4147-A177-3AD203B41FA5}">
                      <a16:colId xmlns:a16="http://schemas.microsoft.com/office/drawing/2014/main" val="3275885843"/>
                    </a:ext>
                  </a:extLst>
                </a:gridCol>
                <a:gridCol w="1563286">
                  <a:extLst>
                    <a:ext uri="{9D8B030D-6E8A-4147-A177-3AD203B41FA5}">
                      <a16:colId xmlns:a16="http://schemas.microsoft.com/office/drawing/2014/main" val="1893000586"/>
                    </a:ext>
                  </a:extLst>
                </a:gridCol>
                <a:gridCol w="2847710">
                  <a:extLst>
                    <a:ext uri="{9D8B030D-6E8A-4147-A177-3AD203B41FA5}">
                      <a16:colId xmlns:a16="http://schemas.microsoft.com/office/drawing/2014/main" val="3254115270"/>
                    </a:ext>
                  </a:extLst>
                </a:gridCol>
                <a:gridCol w="3136620">
                  <a:extLst>
                    <a:ext uri="{9D8B030D-6E8A-4147-A177-3AD203B41FA5}">
                      <a16:colId xmlns:a16="http://schemas.microsoft.com/office/drawing/2014/main" val="1226559925"/>
                    </a:ext>
                  </a:extLst>
                </a:gridCol>
              </a:tblGrid>
              <a:tr h="622236">
                <a:tc>
                  <a:txBody>
                    <a:bodyPr/>
                    <a:lstStyle/>
                    <a:p>
                      <a:pPr algn="ctr">
                        <a:spcAft>
                          <a:spcPts val="0"/>
                        </a:spcAft>
                      </a:pPr>
                      <a:r>
                        <a:rPr lang="en-US" sz="1800" kern="100" dirty="0">
                          <a:solidFill>
                            <a:srgbClr val="002060"/>
                          </a:solidFill>
                          <a:effectLst/>
                        </a:rPr>
                        <a:t>OOP</a:t>
                      </a:r>
                      <a:endParaRPr lang="zh-CN" sz="1800" kern="100" dirty="0">
                        <a:solidFill>
                          <a:srgbClr val="00206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solidFill>
                      <a:srgbClr val="00B0F0"/>
                    </a:solidFill>
                  </a:tcPr>
                </a:tc>
                <a:tc>
                  <a:txBody>
                    <a:bodyPr/>
                    <a:lstStyle/>
                    <a:p>
                      <a:pPr algn="ctr">
                        <a:spcAft>
                          <a:spcPts val="0"/>
                        </a:spcAft>
                      </a:pPr>
                      <a:r>
                        <a:rPr lang="zh-CN" sz="1800" kern="100">
                          <a:solidFill>
                            <a:srgbClr val="002060"/>
                          </a:solidFill>
                          <a:effectLst/>
                        </a:rPr>
                        <a:t>关系</a:t>
                      </a:r>
                      <a:endParaRPr lang="zh-CN" sz="1800" kern="100">
                        <a:solidFill>
                          <a:srgbClr val="00206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solidFill>
                      <a:srgbClr val="00B0F0"/>
                    </a:solidFill>
                  </a:tcPr>
                </a:tc>
                <a:tc>
                  <a:txBody>
                    <a:bodyPr/>
                    <a:lstStyle/>
                    <a:p>
                      <a:pPr algn="ctr">
                        <a:spcAft>
                          <a:spcPts val="0"/>
                        </a:spcAft>
                      </a:pPr>
                      <a:r>
                        <a:rPr lang="zh-CN" sz="1800" kern="100">
                          <a:solidFill>
                            <a:srgbClr val="002060"/>
                          </a:solidFill>
                          <a:effectLst/>
                        </a:rPr>
                        <a:t>实现方式</a:t>
                      </a:r>
                      <a:endParaRPr lang="zh-CN" sz="1800" kern="100">
                        <a:solidFill>
                          <a:srgbClr val="00206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solidFill>
                      <a:srgbClr val="00B0F0"/>
                    </a:solidFill>
                  </a:tcPr>
                </a:tc>
                <a:tc>
                  <a:txBody>
                    <a:bodyPr/>
                    <a:lstStyle/>
                    <a:p>
                      <a:pPr algn="ctr">
                        <a:spcAft>
                          <a:spcPts val="0"/>
                        </a:spcAft>
                      </a:pPr>
                      <a:r>
                        <a:rPr lang="en-US" sz="1800" kern="100" dirty="0">
                          <a:solidFill>
                            <a:srgbClr val="002060"/>
                          </a:solidFill>
                          <a:effectLst/>
                        </a:rPr>
                        <a:t>UML</a:t>
                      </a:r>
                      <a:r>
                        <a:rPr lang="zh-CN" sz="1800" kern="100" dirty="0">
                          <a:solidFill>
                            <a:srgbClr val="002060"/>
                          </a:solidFill>
                          <a:effectLst/>
                        </a:rPr>
                        <a:t>图例和说明</a:t>
                      </a:r>
                      <a:endParaRPr lang="zh-CN" sz="1800" kern="100" dirty="0">
                        <a:solidFill>
                          <a:srgbClr val="00206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solidFill>
                      <a:srgbClr val="00B0F0"/>
                    </a:solidFill>
                  </a:tcPr>
                </a:tc>
                <a:extLst>
                  <a:ext uri="{0D108BD9-81ED-4DB2-BD59-A6C34878D82A}">
                    <a16:rowId xmlns:a16="http://schemas.microsoft.com/office/drawing/2014/main" val="105604388"/>
                  </a:ext>
                </a:extLst>
              </a:tr>
              <a:tr h="622236">
                <a:tc>
                  <a:txBody>
                    <a:bodyPr/>
                    <a:lstStyle/>
                    <a:p>
                      <a:pPr algn="just">
                        <a:spcAft>
                          <a:spcPts val="0"/>
                        </a:spcAft>
                      </a:pPr>
                      <a:r>
                        <a:rPr lang="zh-CN" sz="1800" kern="100" dirty="0">
                          <a:solidFill>
                            <a:srgbClr val="002060"/>
                          </a:solidFill>
                          <a:effectLst/>
                        </a:rPr>
                        <a:t>组合</a:t>
                      </a:r>
                      <a:r>
                        <a:rPr lang="en-US" sz="1800" kern="100" dirty="0" err="1">
                          <a:solidFill>
                            <a:srgbClr val="002060"/>
                          </a:solidFill>
                          <a:effectLst/>
                        </a:rPr>
                        <a:t>compostion</a:t>
                      </a:r>
                      <a:endParaRPr lang="zh-CN" sz="1800" kern="100" dirty="0">
                        <a:solidFill>
                          <a:srgbClr val="00206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solidFill>
                      <a:schemeClr val="bg2">
                        <a:lumMod val="90000"/>
                      </a:schemeClr>
                    </a:solidFill>
                  </a:tcPr>
                </a:tc>
                <a:tc>
                  <a:txBody>
                    <a:bodyPr/>
                    <a:lstStyle/>
                    <a:p>
                      <a:pPr algn="just">
                        <a:spcAft>
                          <a:spcPts val="0"/>
                        </a:spcAft>
                      </a:pPr>
                      <a:r>
                        <a:rPr lang="en-US" sz="1800" b="1" kern="100" dirty="0">
                          <a:solidFill>
                            <a:srgbClr val="0432FF"/>
                          </a:solidFill>
                          <a:effectLst/>
                        </a:rPr>
                        <a:t>contains-a</a:t>
                      </a:r>
                      <a:endParaRPr lang="zh-CN" sz="1800" b="1" kern="100" dirty="0">
                        <a:solidFill>
                          <a:srgbClr val="0432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800" kern="100" dirty="0">
                          <a:solidFill>
                            <a:schemeClr val="tx2">
                              <a:lumMod val="85000"/>
                              <a:lumOff val="15000"/>
                            </a:schemeClr>
                          </a:solidFill>
                          <a:effectLst/>
                        </a:rPr>
                        <a:t>成员变量，</a:t>
                      </a:r>
                      <a:endParaRPr lang="en-US" altLang="zh-CN" sz="1800" kern="100" dirty="0">
                        <a:solidFill>
                          <a:schemeClr val="tx2">
                            <a:lumMod val="85000"/>
                            <a:lumOff val="15000"/>
                          </a:schemeClr>
                        </a:solidFill>
                        <a:effectLst/>
                      </a:endParaRPr>
                    </a:p>
                    <a:p>
                      <a:pPr algn="just">
                        <a:spcAft>
                          <a:spcPts val="0"/>
                        </a:spcAft>
                      </a:pPr>
                      <a:r>
                        <a:rPr lang="zh-CN" sz="1800" kern="100" dirty="0">
                          <a:solidFill>
                            <a:schemeClr val="tx2">
                              <a:lumMod val="85000"/>
                              <a:lumOff val="15000"/>
                            </a:schemeClr>
                          </a:solidFill>
                          <a:effectLst/>
                        </a:rPr>
                        <a:t>通常在</a:t>
                      </a:r>
                      <a:r>
                        <a:rPr lang="en-US" sz="1800" kern="100" dirty="0">
                          <a:solidFill>
                            <a:srgbClr val="C00000"/>
                          </a:solidFill>
                          <a:effectLst/>
                        </a:rPr>
                        <a:t>__</a:t>
                      </a:r>
                      <a:r>
                        <a:rPr lang="en-US" sz="1800" kern="100" dirty="0" err="1">
                          <a:solidFill>
                            <a:srgbClr val="C00000"/>
                          </a:solidFill>
                          <a:effectLst/>
                        </a:rPr>
                        <a:t>init</a:t>
                      </a:r>
                      <a:r>
                        <a:rPr lang="en-US" sz="1800" kern="100" dirty="0">
                          <a:solidFill>
                            <a:srgbClr val="C00000"/>
                          </a:solidFill>
                          <a:effectLst/>
                        </a:rPr>
                        <a:t>__</a:t>
                      </a:r>
                      <a:r>
                        <a:rPr lang="zh-CN" sz="1800" kern="100" dirty="0">
                          <a:solidFill>
                            <a:srgbClr val="C00000"/>
                          </a:solidFill>
                          <a:effectLst/>
                        </a:rPr>
                        <a:t>（）</a:t>
                      </a:r>
                      <a:r>
                        <a:rPr lang="zh-CN" sz="1800" kern="100" dirty="0">
                          <a:solidFill>
                            <a:schemeClr val="tx2">
                              <a:lumMod val="85000"/>
                              <a:lumOff val="15000"/>
                            </a:schemeClr>
                          </a:solidFill>
                          <a:effectLst/>
                        </a:rPr>
                        <a:t>中赋值</a:t>
                      </a:r>
                      <a:endParaRPr lang="zh-CN" sz="1800" kern="100" dirty="0">
                        <a:solidFill>
                          <a:schemeClr val="tx2">
                            <a:lumMod val="85000"/>
                            <a:lumOff val="15000"/>
                          </a:schemeClr>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800" kern="100">
                          <a:solidFill>
                            <a:schemeClr val="tx2">
                              <a:lumMod val="85000"/>
                              <a:lumOff val="15000"/>
                            </a:schemeClr>
                          </a:solidFill>
                          <a:effectLst/>
                        </a:rPr>
                        <a:t>箭头、实线、实心菱形</a:t>
                      </a:r>
                      <a:endParaRPr lang="zh-CN" sz="1800" kern="100">
                        <a:solidFill>
                          <a:schemeClr val="tx2">
                            <a:lumMod val="85000"/>
                            <a:lumOff val="15000"/>
                          </a:schemeClr>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88594865"/>
                  </a:ext>
                </a:extLst>
              </a:tr>
              <a:tr h="622236">
                <a:tc>
                  <a:txBody>
                    <a:bodyPr/>
                    <a:lstStyle/>
                    <a:p>
                      <a:pPr algn="just">
                        <a:spcAft>
                          <a:spcPts val="0"/>
                        </a:spcAft>
                      </a:pPr>
                      <a:r>
                        <a:rPr lang="zh-CN" sz="1800" kern="100" dirty="0">
                          <a:solidFill>
                            <a:srgbClr val="002060"/>
                          </a:solidFill>
                          <a:effectLst/>
                        </a:rPr>
                        <a:t>聚合</a:t>
                      </a:r>
                      <a:r>
                        <a:rPr lang="en-US" sz="1800" kern="100" dirty="0">
                          <a:solidFill>
                            <a:srgbClr val="002060"/>
                          </a:solidFill>
                          <a:effectLst/>
                        </a:rPr>
                        <a:t>aggregation</a:t>
                      </a:r>
                      <a:endParaRPr lang="zh-CN" sz="1800" kern="100" dirty="0">
                        <a:solidFill>
                          <a:srgbClr val="00206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solidFill>
                      <a:schemeClr val="bg2">
                        <a:lumMod val="90000"/>
                      </a:schemeClr>
                    </a:solidFill>
                  </a:tcPr>
                </a:tc>
                <a:tc>
                  <a:txBody>
                    <a:bodyPr/>
                    <a:lstStyle/>
                    <a:p>
                      <a:pPr algn="just">
                        <a:spcAft>
                          <a:spcPts val="0"/>
                        </a:spcAft>
                      </a:pPr>
                      <a:r>
                        <a:rPr lang="en-US" sz="1800" b="1" kern="100" dirty="0">
                          <a:solidFill>
                            <a:srgbClr val="0432FF"/>
                          </a:solidFill>
                          <a:effectLst/>
                        </a:rPr>
                        <a:t>has-a</a:t>
                      </a:r>
                      <a:endParaRPr lang="zh-CN" sz="1800" b="1" kern="100" dirty="0">
                        <a:solidFill>
                          <a:srgbClr val="0432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800" kern="100" dirty="0">
                          <a:solidFill>
                            <a:schemeClr val="tx2">
                              <a:lumMod val="85000"/>
                              <a:lumOff val="15000"/>
                            </a:schemeClr>
                          </a:solidFill>
                          <a:effectLst/>
                        </a:rPr>
                        <a:t>常为引用型成员变量</a:t>
                      </a:r>
                      <a:endParaRPr lang="zh-CN" sz="1800" kern="100" dirty="0">
                        <a:solidFill>
                          <a:schemeClr val="tx2">
                            <a:lumMod val="85000"/>
                            <a:lumOff val="15000"/>
                          </a:schemeClr>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800" kern="100" dirty="0">
                          <a:solidFill>
                            <a:schemeClr val="tx2">
                              <a:lumMod val="85000"/>
                              <a:lumOff val="15000"/>
                            </a:schemeClr>
                          </a:solidFill>
                          <a:effectLst/>
                        </a:rPr>
                        <a:t>箭头、实线、空心菱形</a:t>
                      </a:r>
                      <a:endParaRPr lang="zh-CN" sz="1800" kern="100" dirty="0">
                        <a:solidFill>
                          <a:schemeClr val="tx2">
                            <a:lumMod val="85000"/>
                            <a:lumOff val="15000"/>
                          </a:schemeClr>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82418097"/>
                  </a:ext>
                </a:extLst>
              </a:tr>
              <a:tr h="622236">
                <a:tc>
                  <a:txBody>
                    <a:bodyPr/>
                    <a:lstStyle/>
                    <a:p>
                      <a:pPr algn="just">
                        <a:spcAft>
                          <a:spcPts val="0"/>
                        </a:spcAft>
                      </a:pPr>
                      <a:r>
                        <a:rPr lang="zh-CN" sz="1800" kern="100" dirty="0">
                          <a:solidFill>
                            <a:srgbClr val="002060"/>
                          </a:solidFill>
                          <a:effectLst/>
                        </a:rPr>
                        <a:t>关联</a:t>
                      </a:r>
                      <a:r>
                        <a:rPr lang="en-US" sz="1800" kern="100" dirty="0">
                          <a:solidFill>
                            <a:srgbClr val="002060"/>
                          </a:solidFill>
                          <a:effectLst/>
                        </a:rPr>
                        <a:t>association</a:t>
                      </a:r>
                      <a:endParaRPr lang="zh-CN" sz="1800" kern="100" dirty="0">
                        <a:solidFill>
                          <a:srgbClr val="00206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solidFill>
                      <a:schemeClr val="bg2">
                        <a:lumMod val="90000"/>
                      </a:schemeClr>
                    </a:solidFill>
                  </a:tcPr>
                </a:tc>
                <a:tc>
                  <a:txBody>
                    <a:bodyPr/>
                    <a:lstStyle/>
                    <a:p>
                      <a:pPr algn="just">
                        <a:spcAft>
                          <a:spcPts val="0"/>
                        </a:spcAft>
                      </a:pPr>
                      <a:r>
                        <a:rPr lang="en-US" sz="1800" b="1" kern="100" dirty="0">
                          <a:solidFill>
                            <a:srgbClr val="0432FF"/>
                          </a:solidFill>
                          <a:effectLst/>
                        </a:rPr>
                        <a:t>has-a </a:t>
                      </a:r>
                      <a:endParaRPr lang="zh-CN" sz="1800" b="1" kern="100" dirty="0">
                        <a:solidFill>
                          <a:srgbClr val="0432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800" kern="100" dirty="0">
                          <a:solidFill>
                            <a:schemeClr val="tx2">
                              <a:lumMod val="85000"/>
                              <a:lumOff val="15000"/>
                            </a:schemeClr>
                          </a:solidFill>
                          <a:effectLst/>
                        </a:rPr>
                        <a:t>成员变量、全局变量</a:t>
                      </a:r>
                      <a:endParaRPr lang="zh-CN" sz="1800" kern="100" dirty="0">
                        <a:solidFill>
                          <a:schemeClr val="tx2">
                            <a:lumMod val="85000"/>
                            <a:lumOff val="15000"/>
                          </a:schemeClr>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800" kern="100" dirty="0">
                          <a:solidFill>
                            <a:schemeClr val="tx2">
                              <a:lumMod val="85000"/>
                              <a:lumOff val="15000"/>
                            </a:schemeClr>
                          </a:solidFill>
                          <a:effectLst/>
                        </a:rPr>
                        <a:t>箭头、实线 【长期、稳定】</a:t>
                      </a:r>
                      <a:endParaRPr lang="zh-CN" sz="1800" kern="100" dirty="0">
                        <a:solidFill>
                          <a:schemeClr val="tx2">
                            <a:lumMod val="85000"/>
                            <a:lumOff val="15000"/>
                          </a:schemeClr>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888085794"/>
                  </a:ext>
                </a:extLst>
              </a:tr>
              <a:tr h="876955">
                <a:tc>
                  <a:txBody>
                    <a:bodyPr/>
                    <a:lstStyle/>
                    <a:p>
                      <a:pPr algn="just">
                        <a:spcAft>
                          <a:spcPts val="0"/>
                        </a:spcAft>
                      </a:pPr>
                      <a:r>
                        <a:rPr lang="zh-CN" sz="1800" kern="100" dirty="0">
                          <a:solidFill>
                            <a:srgbClr val="002060"/>
                          </a:solidFill>
                          <a:effectLst/>
                        </a:rPr>
                        <a:t>依赖</a:t>
                      </a:r>
                      <a:r>
                        <a:rPr lang="en-US" sz="1800" kern="100" dirty="0">
                          <a:solidFill>
                            <a:srgbClr val="002060"/>
                          </a:solidFill>
                          <a:effectLst/>
                        </a:rPr>
                        <a:t>dependency</a:t>
                      </a:r>
                      <a:endParaRPr lang="zh-CN" sz="1800" kern="100" dirty="0">
                        <a:solidFill>
                          <a:srgbClr val="00206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solidFill>
                      <a:schemeClr val="bg2">
                        <a:lumMod val="90000"/>
                      </a:schemeClr>
                    </a:solidFill>
                  </a:tcPr>
                </a:tc>
                <a:tc>
                  <a:txBody>
                    <a:bodyPr/>
                    <a:lstStyle/>
                    <a:p>
                      <a:pPr algn="just">
                        <a:spcAft>
                          <a:spcPts val="0"/>
                        </a:spcAft>
                      </a:pPr>
                      <a:r>
                        <a:rPr lang="en-US" sz="1800" b="1" kern="100" dirty="0">
                          <a:solidFill>
                            <a:srgbClr val="0432FF"/>
                          </a:solidFill>
                          <a:effectLst/>
                        </a:rPr>
                        <a:t>use-a</a:t>
                      </a:r>
                      <a:endParaRPr lang="zh-CN" sz="1800" b="1" kern="100" dirty="0">
                        <a:solidFill>
                          <a:srgbClr val="0432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800" kern="100">
                          <a:solidFill>
                            <a:schemeClr val="tx2">
                              <a:lumMod val="85000"/>
                              <a:lumOff val="15000"/>
                            </a:schemeClr>
                          </a:solidFill>
                          <a:effectLst/>
                        </a:rPr>
                        <a:t>局部变量、方法参数、静态方法调用。</a:t>
                      </a:r>
                      <a:endParaRPr lang="zh-CN" sz="1800" kern="100">
                        <a:solidFill>
                          <a:schemeClr val="tx2">
                            <a:lumMod val="85000"/>
                            <a:lumOff val="15000"/>
                          </a:schemeClr>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800" kern="100" dirty="0">
                          <a:solidFill>
                            <a:schemeClr val="tx2">
                              <a:lumMod val="85000"/>
                              <a:lumOff val="15000"/>
                            </a:schemeClr>
                          </a:solidFill>
                          <a:effectLst/>
                        </a:rPr>
                        <a:t>箭头、虚线 【临时、偶尔】</a:t>
                      </a:r>
                    </a:p>
                    <a:p>
                      <a:pPr algn="just">
                        <a:spcAft>
                          <a:spcPts val="0"/>
                        </a:spcAft>
                      </a:pPr>
                      <a:r>
                        <a:rPr lang="zh-CN" sz="1800" kern="100" dirty="0">
                          <a:solidFill>
                            <a:schemeClr val="tx2">
                              <a:lumMod val="85000"/>
                              <a:lumOff val="15000"/>
                            </a:schemeClr>
                          </a:solidFill>
                          <a:effectLst/>
                        </a:rPr>
                        <a:t>通常是单向</a:t>
                      </a:r>
                      <a:endParaRPr lang="zh-CN" sz="1800" kern="100" dirty="0">
                        <a:solidFill>
                          <a:schemeClr val="tx2">
                            <a:lumMod val="85000"/>
                            <a:lumOff val="15000"/>
                          </a:schemeClr>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861381554"/>
                  </a:ext>
                </a:extLst>
              </a:tr>
              <a:tr h="622236">
                <a:tc>
                  <a:txBody>
                    <a:bodyPr/>
                    <a:lstStyle/>
                    <a:p>
                      <a:pPr algn="just">
                        <a:spcAft>
                          <a:spcPts val="0"/>
                        </a:spcAft>
                      </a:pPr>
                      <a:r>
                        <a:rPr lang="zh-CN" sz="1800" kern="100" dirty="0">
                          <a:solidFill>
                            <a:srgbClr val="002060"/>
                          </a:solidFill>
                          <a:effectLst/>
                        </a:rPr>
                        <a:t>泛化</a:t>
                      </a:r>
                      <a:r>
                        <a:rPr lang="en-US" sz="1800" kern="100" dirty="0">
                          <a:solidFill>
                            <a:srgbClr val="002060"/>
                          </a:solidFill>
                          <a:effectLst/>
                        </a:rPr>
                        <a:t>generalization</a:t>
                      </a:r>
                      <a:endParaRPr lang="zh-CN" sz="1800" kern="100" dirty="0">
                        <a:solidFill>
                          <a:srgbClr val="00206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solidFill>
                      <a:schemeClr val="bg2">
                        <a:lumMod val="90000"/>
                      </a:schemeClr>
                    </a:solidFill>
                  </a:tcPr>
                </a:tc>
                <a:tc>
                  <a:txBody>
                    <a:bodyPr/>
                    <a:lstStyle/>
                    <a:p>
                      <a:pPr algn="just">
                        <a:spcAft>
                          <a:spcPts val="0"/>
                        </a:spcAft>
                      </a:pPr>
                      <a:r>
                        <a:rPr lang="en-US" sz="1800" b="1" kern="100" dirty="0">
                          <a:solidFill>
                            <a:srgbClr val="0432FF"/>
                          </a:solidFill>
                          <a:effectLst/>
                        </a:rPr>
                        <a:t>is-a</a:t>
                      </a:r>
                      <a:endParaRPr lang="zh-CN" sz="1800" b="1" kern="100" dirty="0">
                        <a:solidFill>
                          <a:srgbClr val="0432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800" kern="100">
                          <a:solidFill>
                            <a:schemeClr val="tx2">
                              <a:lumMod val="85000"/>
                              <a:lumOff val="15000"/>
                            </a:schemeClr>
                          </a:solidFill>
                          <a:effectLst/>
                        </a:rPr>
                        <a:t>子类继承父类</a:t>
                      </a:r>
                      <a:endParaRPr lang="zh-CN" sz="1800" kern="100">
                        <a:solidFill>
                          <a:schemeClr val="tx2">
                            <a:lumMod val="85000"/>
                            <a:lumOff val="15000"/>
                          </a:schemeClr>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800" kern="100" dirty="0">
                          <a:solidFill>
                            <a:schemeClr val="tx2">
                              <a:lumMod val="85000"/>
                              <a:lumOff val="15000"/>
                            </a:schemeClr>
                          </a:solidFill>
                          <a:effectLst/>
                        </a:rPr>
                        <a:t>三角箭头、实线</a:t>
                      </a:r>
                      <a:endParaRPr lang="zh-CN" sz="1800" kern="100" dirty="0">
                        <a:solidFill>
                          <a:schemeClr val="tx2">
                            <a:lumMod val="85000"/>
                            <a:lumOff val="15000"/>
                          </a:schemeClr>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35950053"/>
                  </a:ext>
                </a:extLst>
              </a:tr>
              <a:tr h="622236">
                <a:tc>
                  <a:txBody>
                    <a:bodyPr/>
                    <a:lstStyle/>
                    <a:p>
                      <a:pPr algn="just">
                        <a:spcAft>
                          <a:spcPts val="0"/>
                        </a:spcAft>
                      </a:pPr>
                      <a:r>
                        <a:rPr lang="zh-CN" sz="1800" kern="100" dirty="0">
                          <a:solidFill>
                            <a:srgbClr val="002060"/>
                          </a:solidFill>
                          <a:effectLst/>
                        </a:rPr>
                        <a:t>实现</a:t>
                      </a:r>
                      <a:r>
                        <a:rPr lang="en-US" sz="1800" kern="100" dirty="0">
                          <a:solidFill>
                            <a:srgbClr val="002060"/>
                          </a:solidFill>
                          <a:effectLst/>
                        </a:rPr>
                        <a:t>realization</a:t>
                      </a:r>
                      <a:endParaRPr lang="zh-CN" sz="1800" kern="100" dirty="0">
                        <a:solidFill>
                          <a:srgbClr val="00206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solidFill>
                      <a:schemeClr val="bg2">
                        <a:lumMod val="90000"/>
                      </a:schemeClr>
                    </a:solidFill>
                  </a:tcPr>
                </a:tc>
                <a:tc>
                  <a:txBody>
                    <a:bodyPr/>
                    <a:lstStyle/>
                    <a:p>
                      <a:pPr algn="just">
                        <a:spcAft>
                          <a:spcPts val="0"/>
                        </a:spcAft>
                      </a:pPr>
                      <a:r>
                        <a:rPr lang="en-US" sz="1800" b="1" kern="100" dirty="0">
                          <a:solidFill>
                            <a:srgbClr val="0432FF"/>
                          </a:solidFill>
                          <a:effectLst/>
                        </a:rPr>
                        <a:t>is-like-a</a:t>
                      </a:r>
                      <a:endParaRPr lang="zh-CN" sz="1800" b="1" kern="100" dirty="0">
                        <a:solidFill>
                          <a:srgbClr val="0432FF"/>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800" kern="100">
                          <a:solidFill>
                            <a:schemeClr val="tx2">
                              <a:lumMod val="85000"/>
                              <a:lumOff val="15000"/>
                            </a:schemeClr>
                          </a:solidFill>
                          <a:effectLst/>
                        </a:rPr>
                        <a:t>继承接口</a:t>
                      </a:r>
                      <a:endParaRPr lang="zh-CN" sz="1800" kern="100">
                        <a:solidFill>
                          <a:schemeClr val="tx2">
                            <a:lumMod val="85000"/>
                            <a:lumOff val="15000"/>
                          </a:schemeClr>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800" kern="100" dirty="0">
                          <a:solidFill>
                            <a:schemeClr val="tx2">
                              <a:lumMod val="85000"/>
                              <a:lumOff val="15000"/>
                            </a:schemeClr>
                          </a:solidFill>
                          <a:effectLst/>
                        </a:rPr>
                        <a:t>三角箭头、虚线</a:t>
                      </a:r>
                      <a:endParaRPr lang="zh-CN" sz="1800" kern="100" dirty="0">
                        <a:solidFill>
                          <a:schemeClr val="tx2">
                            <a:lumMod val="85000"/>
                            <a:lumOff val="15000"/>
                          </a:schemeClr>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43622320"/>
                  </a:ext>
                </a:extLst>
              </a:tr>
            </a:tbl>
          </a:graphicData>
        </a:graphic>
      </p:graphicFrame>
    </p:spTree>
    <p:extLst>
      <p:ext uri="{BB962C8B-B14F-4D97-AF65-F5344CB8AC3E}">
        <p14:creationId xmlns:p14="http://schemas.microsoft.com/office/powerpoint/2010/main" val="1671793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7517" y="2750961"/>
            <a:ext cx="10071099" cy="1684150"/>
          </a:xfrm>
        </p:spPr>
        <p:txBody>
          <a:bodyPr/>
          <a:lstStyle/>
          <a:p>
            <a:r>
              <a:rPr lang="en-US" b="1" dirty="0"/>
              <a:t>7.2 </a:t>
            </a:r>
            <a:r>
              <a:rPr lang="en-US" altLang="zh-CN" b="1" dirty="0"/>
              <a:t>Python</a:t>
            </a:r>
            <a:r>
              <a:rPr lang="zh-CN" altLang="en-US" b="1" dirty="0"/>
              <a:t>中的类</a:t>
            </a:r>
            <a:endParaRPr lang="en-US" b="1" dirty="0"/>
          </a:p>
        </p:txBody>
      </p:sp>
    </p:spTree>
    <p:extLst>
      <p:ext uri="{BB962C8B-B14F-4D97-AF65-F5344CB8AC3E}">
        <p14:creationId xmlns:p14="http://schemas.microsoft.com/office/powerpoint/2010/main" val="1142239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altLang="zh-CN" b="1" dirty="0"/>
              <a:t>Python</a:t>
            </a:r>
            <a:r>
              <a:rPr lang="zh-CN" altLang="en-US" b="1" dirty="0"/>
              <a:t>中的类</a:t>
            </a:r>
            <a:endParaRPr lang="en-US" b="1" dirty="0"/>
          </a:p>
        </p:txBody>
      </p:sp>
      <p:sp>
        <p:nvSpPr>
          <p:cNvPr id="2" name="文本框 1"/>
          <p:cNvSpPr txBox="1"/>
          <p:nvPr/>
        </p:nvSpPr>
        <p:spPr>
          <a:xfrm>
            <a:off x="1104900" y="1644463"/>
            <a:ext cx="9980682" cy="1882823"/>
          </a:xfrm>
          <a:prstGeom prst="rect">
            <a:avLst/>
          </a:prstGeom>
          <a:noFill/>
        </p:spPr>
        <p:txBody>
          <a:bodyPr wrap="square" rtlCol="0">
            <a:spAutoFit/>
          </a:bodyPr>
          <a:lstStyle/>
          <a:p>
            <a:pPr>
              <a:lnSpc>
                <a:spcPct val="150000"/>
              </a:lnSpc>
            </a:pPr>
            <a:r>
              <a:rPr lang="en-US" altLang="zh-CN" sz="2000" dirty="0"/>
              <a:t>    </a:t>
            </a:r>
            <a:r>
              <a:rPr lang="zh-CN" altLang="zh-CN" sz="2000" dirty="0"/>
              <a:t>面向对象编程（</a:t>
            </a:r>
            <a:r>
              <a:rPr lang="en-US" altLang="zh-CN" sz="2000" dirty="0"/>
              <a:t>Object Oriented Programming, OOP</a:t>
            </a:r>
            <a:r>
              <a:rPr lang="zh-CN" altLang="zh-CN" sz="2000" dirty="0"/>
              <a:t>）是一种程序设计思想，将</a:t>
            </a:r>
            <a:r>
              <a:rPr lang="zh-CN" altLang="zh-CN" sz="2000" dirty="0">
                <a:solidFill>
                  <a:srgbClr val="0432FF"/>
                </a:solidFill>
              </a:rPr>
              <a:t>程序视为一组对象的集合</a:t>
            </a:r>
            <a:r>
              <a:rPr lang="zh-CN" altLang="zh-CN" sz="2000" dirty="0"/>
              <a:t>，对象又是封装了一系列数据和操作数据的方法的单元体。</a:t>
            </a:r>
            <a:r>
              <a:rPr lang="en-US" altLang="zh-CN" sz="2000" dirty="0"/>
              <a:t>OOP</a:t>
            </a:r>
            <a:r>
              <a:rPr lang="zh-CN" altLang="zh-CN" sz="2000" dirty="0"/>
              <a:t>尽可能模拟人的思维，将现实世界中的一切实体特征和结构抽象成类，把实体本身抽象成问题域中的对象。</a:t>
            </a:r>
            <a:r>
              <a:rPr lang="en-US" altLang="zh-CN" sz="2000" dirty="0"/>
              <a:t>OOP</a:t>
            </a:r>
            <a:r>
              <a:rPr lang="zh-CN" altLang="zh-CN" sz="2000" dirty="0"/>
              <a:t>的</a:t>
            </a:r>
            <a:r>
              <a:rPr lang="zh-CN" altLang="zh-CN" sz="2000" dirty="0">
                <a:solidFill>
                  <a:srgbClr val="0432FF"/>
                </a:solidFill>
              </a:rPr>
              <a:t>核心概念</a:t>
            </a:r>
            <a:r>
              <a:rPr lang="zh-CN" altLang="zh-CN" sz="2000" dirty="0"/>
              <a:t>就是</a:t>
            </a:r>
            <a:r>
              <a:rPr lang="zh-CN" altLang="zh-CN" sz="2000" b="1" dirty="0">
                <a:solidFill>
                  <a:srgbClr val="C00000"/>
                </a:solidFill>
              </a:rPr>
              <a:t>类</a:t>
            </a:r>
            <a:r>
              <a:rPr lang="zh-CN" altLang="zh-CN" sz="2000" dirty="0"/>
              <a:t>和</a:t>
            </a:r>
            <a:r>
              <a:rPr lang="zh-CN" altLang="zh-CN" sz="2000" b="1" dirty="0">
                <a:solidFill>
                  <a:srgbClr val="C00000"/>
                </a:solidFill>
              </a:rPr>
              <a:t>对象</a:t>
            </a:r>
            <a:r>
              <a:rPr lang="zh-CN" altLang="zh-CN" sz="2000" dirty="0"/>
              <a:t>。</a:t>
            </a:r>
          </a:p>
        </p:txBody>
      </p:sp>
      <p:sp>
        <p:nvSpPr>
          <p:cNvPr id="6" name="文本框 5"/>
          <p:cNvSpPr txBox="1"/>
          <p:nvPr/>
        </p:nvSpPr>
        <p:spPr>
          <a:xfrm>
            <a:off x="1104900" y="3890098"/>
            <a:ext cx="9980682" cy="1323439"/>
          </a:xfrm>
          <a:prstGeom prst="rect">
            <a:avLst/>
          </a:prstGeom>
          <a:noFill/>
        </p:spPr>
        <p:txBody>
          <a:bodyPr wrap="square" rtlCol="0">
            <a:spAutoFit/>
          </a:bodyPr>
          <a:lstStyle/>
          <a:p>
            <a:pPr marL="285750" indent="-285750">
              <a:buFont typeface="Arial" panose="020B0604020202020204" pitchFamily="34" charset="0"/>
              <a:buChar char="•"/>
            </a:pPr>
            <a:r>
              <a:rPr lang="zh-CN" altLang="en-US" sz="2000" dirty="0">
                <a:solidFill>
                  <a:srgbClr val="0432FF"/>
                </a:solidFill>
              </a:rPr>
              <a:t>类</a:t>
            </a:r>
            <a:r>
              <a:rPr lang="zh-CN" altLang="en-US" sz="2000" dirty="0"/>
              <a:t>：</a:t>
            </a:r>
            <a:r>
              <a:rPr lang="zh-CN" altLang="zh-CN" sz="2000" dirty="0"/>
              <a:t>类是一种模板，是一组具有相同数据结构和操作的对象集合，它定义对象的行为和状态，但不具有实体</a:t>
            </a:r>
            <a:endParaRPr lang="en-US" altLang="zh-CN" sz="2000" dirty="0"/>
          </a:p>
          <a:p>
            <a:pPr marL="285750" indent="-285750">
              <a:buFont typeface="Arial" panose="020B0604020202020204" pitchFamily="34" charset="0"/>
              <a:buChar char="•"/>
            </a:pPr>
            <a:endParaRPr lang="en-US" altLang="zh-CN" sz="2000" dirty="0"/>
          </a:p>
          <a:p>
            <a:pPr marL="285750" indent="-285750">
              <a:buFont typeface="Arial" panose="020B0604020202020204" pitchFamily="34" charset="0"/>
              <a:buChar char="•"/>
            </a:pPr>
            <a:r>
              <a:rPr lang="zh-CN" altLang="en-US" sz="2000" dirty="0">
                <a:solidFill>
                  <a:srgbClr val="0432FF"/>
                </a:solidFill>
              </a:rPr>
              <a:t>对象</a:t>
            </a:r>
            <a:r>
              <a:rPr lang="zh-CN" altLang="en-US" sz="2000" dirty="0"/>
              <a:t>：</a:t>
            </a:r>
            <a:r>
              <a:rPr lang="zh-CN" altLang="zh-CN" sz="2000" dirty="0"/>
              <a:t>对象是类的实例，拥有具体的行为和状态</a:t>
            </a:r>
            <a:endParaRPr lang="zh-CN" altLang="en-US" sz="2000" dirty="0"/>
          </a:p>
        </p:txBody>
      </p:sp>
    </p:spTree>
    <p:extLst>
      <p:ext uri="{BB962C8B-B14F-4D97-AF65-F5344CB8AC3E}">
        <p14:creationId xmlns:p14="http://schemas.microsoft.com/office/powerpoint/2010/main" val="2303020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altLang="zh-CN" b="1" dirty="0">
                <a:solidFill>
                  <a:schemeClr val="accent4">
                    <a:lumMod val="50000"/>
                  </a:schemeClr>
                </a:solidFill>
                <a:latin typeface="Microsoft YaHei" panose="020B0503020204020204" pitchFamily="34" charset="-122"/>
                <a:ea typeface="Microsoft YaHei" panose="020B0503020204020204" pitchFamily="34" charset="-122"/>
              </a:rPr>
              <a:t>1 </a:t>
            </a:r>
            <a:r>
              <a:rPr lang="zh-CN" altLang="en-US" b="1" dirty="0">
                <a:solidFill>
                  <a:schemeClr val="accent4">
                    <a:lumMod val="50000"/>
                  </a:schemeClr>
                </a:solidFill>
                <a:latin typeface="Microsoft YaHei" panose="020B0503020204020204" pitchFamily="34" charset="-122"/>
                <a:ea typeface="Microsoft YaHei" panose="020B0503020204020204" pitchFamily="34" charset="-122"/>
              </a:rPr>
              <a:t>定义类</a:t>
            </a:r>
            <a:endParaRPr lang="en-US" altLang="zh-CN" b="1" dirty="0">
              <a:solidFill>
                <a:schemeClr val="accent4">
                  <a:lumMod val="50000"/>
                </a:schemeClr>
              </a:solidFill>
              <a:latin typeface="Microsoft YaHei" panose="020B0503020204020204" pitchFamily="34" charset="-122"/>
              <a:ea typeface="Microsoft YaHei" panose="020B0503020204020204" pitchFamily="34" charset="-122"/>
            </a:endParaRPr>
          </a:p>
        </p:txBody>
      </p:sp>
      <p:graphicFrame>
        <p:nvGraphicFramePr>
          <p:cNvPr id="5" name="表格 4"/>
          <p:cNvGraphicFramePr>
            <a:graphicFrameLocks noGrp="1"/>
          </p:cNvGraphicFramePr>
          <p:nvPr>
            <p:extLst>
              <p:ext uri="{D42A27DB-BD31-4B8C-83A1-F6EECF244321}">
                <p14:modId xmlns:p14="http://schemas.microsoft.com/office/powerpoint/2010/main" val="1879707775"/>
              </p:ext>
            </p:extLst>
          </p:nvPr>
        </p:nvGraphicFramePr>
        <p:xfrm>
          <a:off x="3328143" y="1831642"/>
          <a:ext cx="2767857" cy="1081774"/>
        </p:xfrm>
        <a:graphic>
          <a:graphicData uri="http://schemas.openxmlformats.org/drawingml/2006/table">
            <a:tbl>
              <a:tblPr firstRow="1" firstCol="1" bandRow="1"/>
              <a:tblGrid>
                <a:gridCol w="2767857">
                  <a:extLst>
                    <a:ext uri="{9D8B030D-6E8A-4147-A177-3AD203B41FA5}">
                      <a16:colId xmlns:a16="http://schemas.microsoft.com/office/drawing/2014/main" val="827434336"/>
                    </a:ext>
                  </a:extLst>
                </a:gridCol>
              </a:tblGrid>
              <a:tr h="1081774">
                <a:tc>
                  <a:txBody>
                    <a:bodyPr/>
                    <a:lstStyle/>
                    <a:p>
                      <a:pPr indent="127000" algn="just">
                        <a:lnSpc>
                          <a:spcPts val="1900"/>
                        </a:lnSpc>
                        <a:spcAft>
                          <a:spcPts val="0"/>
                        </a:spcAft>
                      </a:pPr>
                      <a:r>
                        <a:rPr lang="en-US" sz="1800" b="0" kern="100" dirty="0">
                          <a:effectLst/>
                          <a:latin typeface="Consolas" panose="020B0609020204030204" pitchFamily="49" charset="0"/>
                          <a:ea typeface="宋体" panose="02010600030101010101" pitchFamily="2" charset="-122"/>
                        </a:rPr>
                        <a:t>class </a:t>
                      </a:r>
                      <a:r>
                        <a:rPr lang="en-US" sz="1800" b="0" kern="100" dirty="0" err="1">
                          <a:effectLst/>
                          <a:latin typeface="Consolas" panose="020B0609020204030204" pitchFamily="49" charset="0"/>
                          <a:ea typeface="宋体" panose="02010600030101010101" pitchFamily="2" charset="-122"/>
                        </a:rPr>
                        <a:t>ClassName</a:t>
                      </a:r>
                      <a:r>
                        <a:rPr lang="en-US" sz="1800" b="0" kern="100" dirty="0">
                          <a:effectLst/>
                          <a:latin typeface="Consolas" panose="020B0609020204030204" pitchFamily="49" charset="0"/>
                          <a:ea typeface="宋体" panose="02010600030101010101" pitchFamily="2" charset="-122"/>
                        </a:rPr>
                        <a:t>: </a:t>
                      </a:r>
                      <a:endParaRPr lang="zh-CN" sz="1800" b="0" kern="100" dirty="0">
                        <a:effectLst/>
                        <a:latin typeface="Consolas" panose="020B0609020204030204" pitchFamily="49" charset="0"/>
                        <a:ea typeface="宋体" panose="02010600030101010101" pitchFamily="2" charset="-122"/>
                      </a:endParaRPr>
                    </a:p>
                    <a:p>
                      <a:pPr indent="228600" algn="just">
                        <a:lnSpc>
                          <a:spcPts val="1900"/>
                        </a:lnSpc>
                        <a:spcAft>
                          <a:spcPts val="0"/>
                        </a:spcAft>
                      </a:pPr>
                      <a:r>
                        <a:rPr lang="en-US" sz="1800" b="0" kern="100" dirty="0">
                          <a:effectLst/>
                          <a:latin typeface="Consolas" panose="020B0609020204030204" pitchFamily="49" charset="0"/>
                          <a:ea typeface="宋体" panose="02010600030101010101" pitchFamily="2" charset="-122"/>
                        </a:rPr>
                        <a:t>&lt;statement-1&gt;</a:t>
                      </a:r>
                      <a:endParaRPr lang="zh-CN" sz="1800" b="0" kern="100" dirty="0">
                        <a:effectLst/>
                        <a:latin typeface="Consolas" panose="020B0609020204030204" pitchFamily="49" charset="0"/>
                        <a:ea typeface="宋体" panose="02010600030101010101" pitchFamily="2" charset="-122"/>
                      </a:endParaRPr>
                    </a:p>
                    <a:p>
                      <a:pPr indent="228600" algn="just">
                        <a:lnSpc>
                          <a:spcPts val="1900"/>
                        </a:lnSpc>
                        <a:spcAft>
                          <a:spcPts val="0"/>
                        </a:spcAft>
                      </a:pPr>
                      <a:r>
                        <a:rPr lang="en-US" sz="1800" b="0" kern="100" dirty="0">
                          <a:effectLst/>
                          <a:latin typeface="Consolas" panose="020B0609020204030204" pitchFamily="49" charset="0"/>
                          <a:ea typeface="宋体" panose="02010600030101010101" pitchFamily="2" charset="-122"/>
                        </a:rPr>
                        <a:t>...</a:t>
                      </a:r>
                      <a:endParaRPr lang="zh-CN" sz="1800" b="0" kern="100" dirty="0">
                        <a:effectLst/>
                        <a:latin typeface="Consolas" panose="020B0609020204030204" pitchFamily="49" charset="0"/>
                        <a:ea typeface="宋体" panose="02010600030101010101" pitchFamily="2" charset="-122"/>
                      </a:endParaRPr>
                    </a:p>
                    <a:p>
                      <a:pPr indent="228600" algn="just">
                        <a:lnSpc>
                          <a:spcPts val="1900"/>
                        </a:lnSpc>
                        <a:spcAft>
                          <a:spcPts val="0"/>
                        </a:spcAft>
                      </a:pPr>
                      <a:r>
                        <a:rPr lang="en-US" sz="1800" b="0" kern="100" dirty="0">
                          <a:effectLst/>
                          <a:latin typeface="Consolas" panose="020B0609020204030204" pitchFamily="49" charset="0"/>
                          <a:ea typeface="宋体" panose="02010600030101010101" pitchFamily="2" charset="-122"/>
                        </a:rPr>
                        <a:t>&lt;statement-N&gt;</a:t>
                      </a:r>
                      <a:endParaRPr lang="zh-CN" sz="1800" b="0" kern="100" dirty="0">
                        <a:effectLst/>
                        <a:latin typeface="Consolas" panose="020B0609020204030204" pitchFamily="49"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023000101"/>
                  </a:ext>
                </a:extLst>
              </a:tr>
            </a:tbl>
          </a:graphicData>
        </a:graphic>
      </p:graphicFrame>
      <p:sp>
        <p:nvSpPr>
          <p:cNvPr id="6" name="矩形 5"/>
          <p:cNvSpPr/>
          <p:nvPr/>
        </p:nvSpPr>
        <p:spPr>
          <a:xfrm>
            <a:off x="835617" y="3057570"/>
            <a:ext cx="7857425" cy="1419684"/>
          </a:xfrm>
          <a:prstGeom prst="rect">
            <a:avLst/>
          </a:prstGeom>
        </p:spPr>
        <p:txBody>
          <a:bodyPr wrap="square">
            <a:spAutoFit/>
          </a:bodyPr>
          <a:lstStyle/>
          <a:p>
            <a:pPr marL="285750" lvl="0" indent="-285750">
              <a:lnSpc>
                <a:spcPct val="150000"/>
              </a:lnSpc>
              <a:spcAft>
                <a:spcPts val="0"/>
              </a:spcAft>
              <a:buFont typeface="Arial" panose="020B0604020202020204" pitchFamily="34" charset="0"/>
              <a:buChar char="•"/>
            </a:pPr>
            <a:r>
              <a:rPr lang="zh-CN" sz="2000" noProof="0">
                <a:solidFill>
                  <a:srgbClr val="C00000"/>
                </a:solidFill>
              </a:rPr>
              <a:t>class</a:t>
            </a:r>
            <a:r>
              <a:rPr lang="zh-CN" sz="2000" noProof="0"/>
              <a:t>: Python中定义类的关键字</a:t>
            </a:r>
          </a:p>
          <a:p>
            <a:pPr marL="285750" lvl="0" indent="-285750">
              <a:lnSpc>
                <a:spcPct val="150000"/>
              </a:lnSpc>
              <a:spcAft>
                <a:spcPts val="0"/>
              </a:spcAft>
              <a:buFont typeface="Arial" panose="020B0604020202020204" pitchFamily="34" charset="0"/>
              <a:buChar char="•"/>
            </a:pPr>
            <a:r>
              <a:rPr lang="zh-CN" sz="2000" noProof="0" dirty="0">
                <a:solidFill>
                  <a:srgbClr val="C00000"/>
                </a:solidFill>
              </a:rPr>
              <a:t>ClassName</a:t>
            </a:r>
            <a:r>
              <a:rPr lang="zh-CN" sz="2000" noProof="0" dirty="0"/>
              <a:t>: 类的名字，Python规定类名的首字母必须大写</a:t>
            </a:r>
          </a:p>
          <a:p>
            <a:pPr marL="285750" lvl="0" indent="-285750">
              <a:lnSpc>
                <a:spcPct val="150000"/>
              </a:lnSpc>
              <a:spcAft>
                <a:spcPts val="0"/>
              </a:spcAft>
              <a:buFont typeface="Arial" panose="020B0604020202020204" pitchFamily="34" charset="0"/>
              <a:buChar char="•"/>
            </a:pPr>
            <a:r>
              <a:rPr lang="zh-CN" sz="2000" noProof="0" dirty="0">
                <a:solidFill>
                  <a:srgbClr val="C00000"/>
                </a:solidFill>
              </a:rPr>
              <a:t>statement</a:t>
            </a:r>
            <a:r>
              <a:rPr lang="zh-CN" sz="2000" noProof="0" dirty="0"/>
              <a:t>: 类中的用来定义数据和方法的语句</a:t>
            </a:r>
          </a:p>
        </p:txBody>
      </p:sp>
      <p:pic>
        <p:nvPicPr>
          <p:cNvPr id="4" name="Picture 3">
            <a:extLst>
              <a:ext uri="{FF2B5EF4-FFF2-40B4-BE49-F238E27FC236}">
                <a16:creationId xmlns:a16="http://schemas.microsoft.com/office/drawing/2014/main" id="{2C4B746E-4104-F356-0B90-DB4650EE8E64}"/>
              </a:ext>
            </a:extLst>
          </p:cNvPr>
          <p:cNvPicPr>
            <a:picLocks noChangeAspect="1"/>
          </p:cNvPicPr>
          <p:nvPr/>
        </p:nvPicPr>
        <p:blipFill>
          <a:blip r:embed="rId2"/>
          <a:stretch>
            <a:fillRect/>
          </a:stretch>
        </p:blipFill>
        <p:spPr>
          <a:xfrm>
            <a:off x="6343337" y="506344"/>
            <a:ext cx="5541472" cy="2922656"/>
          </a:xfrm>
          <a:prstGeom prst="rect">
            <a:avLst/>
          </a:prstGeom>
          <a:effectLst>
            <a:outerShdw blurRad="63500" sx="102000" sy="102000" algn="ctr" rotWithShape="0">
              <a:prstClr val="black">
                <a:alpha val="40000"/>
              </a:prstClr>
            </a:outerShdw>
          </a:effectLst>
        </p:spPr>
      </p:pic>
      <p:pic>
        <p:nvPicPr>
          <p:cNvPr id="8" name="Picture 7">
            <a:extLst>
              <a:ext uri="{FF2B5EF4-FFF2-40B4-BE49-F238E27FC236}">
                <a16:creationId xmlns:a16="http://schemas.microsoft.com/office/drawing/2014/main" id="{52569B43-8B04-4094-6C81-751385A045C6}"/>
              </a:ext>
            </a:extLst>
          </p:cNvPr>
          <p:cNvPicPr>
            <a:picLocks noChangeAspect="1"/>
          </p:cNvPicPr>
          <p:nvPr/>
        </p:nvPicPr>
        <p:blipFill>
          <a:blip r:embed="rId3"/>
          <a:stretch>
            <a:fillRect/>
          </a:stretch>
        </p:blipFill>
        <p:spPr>
          <a:xfrm>
            <a:off x="6487142" y="4045438"/>
            <a:ext cx="5155849" cy="2535939"/>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167515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altLang="zh-CN" b="1" dirty="0">
                <a:solidFill>
                  <a:schemeClr val="accent4">
                    <a:lumMod val="50000"/>
                  </a:schemeClr>
                </a:solidFill>
                <a:latin typeface="Microsoft YaHei" panose="020B0503020204020204" pitchFamily="34" charset="-122"/>
                <a:ea typeface="Microsoft YaHei" panose="020B0503020204020204" pitchFamily="34" charset="-122"/>
              </a:rPr>
              <a:t>2 </a:t>
            </a:r>
            <a:r>
              <a:rPr lang="zh-CN" altLang="en-US" b="1" dirty="0">
                <a:solidFill>
                  <a:schemeClr val="accent4">
                    <a:lumMod val="50000"/>
                  </a:schemeClr>
                </a:solidFill>
                <a:latin typeface="Microsoft YaHei" panose="020B0503020204020204" pitchFamily="34" charset="-122"/>
                <a:ea typeface="Microsoft YaHei" panose="020B0503020204020204" pitchFamily="34" charset="-122"/>
              </a:rPr>
              <a:t>使用类</a:t>
            </a:r>
            <a:endParaRPr lang="en-US" b="1" dirty="0">
              <a:solidFill>
                <a:schemeClr val="accent4">
                  <a:lumMod val="50000"/>
                </a:schemeClr>
              </a:solidFill>
            </a:endParaRPr>
          </a:p>
        </p:txBody>
      </p:sp>
      <p:sp>
        <p:nvSpPr>
          <p:cNvPr id="4" name="文本框 3"/>
          <p:cNvSpPr txBox="1"/>
          <p:nvPr/>
        </p:nvSpPr>
        <p:spPr>
          <a:xfrm>
            <a:off x="1104898" y="1370380"/>
            <a:ext cx="9980681" cy="2806089"/>
          </a:xfrm>
          <a:prstGeom prst="rect">
            <a:avLst/>
          </a:prstGeom>
          <a:noFill/>
        </p:spPr>
        <p:txBody>
          <a:bodyPr wrap="square" rtlCol="0">
            <a:spAutoFit/>
          </a:bodyPr>
          <a:lstStyle/>
          <a:p>
            <a:pPr>
              <a:lnSpc>
                <a:spcPct val="150000"/>
              </a:lnSpc>
            </a:pPr>
            <a:r>
              <a:rPr lang="zh-CN" altLang="zh-CN" sz="2000" dirty="0"/>
              <a:t>类给出了数据的定义，是一种抽象结构，并没有实体。在</a:t>
            </a:r>
            <a:r>
              <a:rPr lang="en-US" altLang="zh-CN" sz="2000" dirty="0"/>
              <a:t>Python</a:t>
            </a:r>
            <a:r>
              <a:rPr lang="zh-CN" altLang="zh-CN" sz="2000" dirty="0"/>
              <a:t>中，</a:t>
            </a:r>
            <a:r>
              <a:rPr lang="zh-CN" altLang="zh-CN" sz="2000" dirty="0">
                <a:solidFill>
                  <a:srgbClr val="C00000"/>
                </a:solidFill>
              </a:rPr>
              <a:t>类通常只有在实例化之后才能使用</a:t>
            </a:r>
            <a:r>
              <a:rPr lang="zh-CN" altLang="zh-CN" sz="2000" dirty="0"/>
              <a:t>，即</a:t>
            </a:r>
            <a:r>
              <a:rPr lang="zh-CN" altLang="zh-CN" sz="2000" dirty="0">
                <a:solidFill>
                  <a:srgbClr val="0432FF"/>
                </a:solidFill>
              </a:rPr>
              <a:t>必须先要创建类的对象，才能使用类定义的方法和数据</a:t>
            </a:r>
            <a:r>
              <a:rPr lang="zh-CN" altLang="zh-CN" sz="2000" dirty="0"/>
              <a:t>。</a:t>
            </a:r>
            <a:endParaRPr lang="en-US" altLang="zh-CN" sz="2000" dirty="0"/>
          </a:p>
          <a:p>
            <a:pPr>
              <a:lnSpc>
                <a:spcPct val="150000"/>
              </a:lnSpc>
            </a:pPr>
            <a:r>
              <a:rPr lang="zh-CN" altLang="en-US" sz="2000" dirty="0"/>
              <a:t>注意：</a:t>
            </a:r>
            <a:endParaRPr lang="en-US" altLang="zh-CN" sz="2000" dirty="0"/>
          </a:p>
          <a:p>
            <a:pPr marL="342900" indent="-342900">
              <a:lnSpc>
                <a:spcPct val="150000"/>
              </a:lnSpc>
              <a:buFont typeface="Arial" panose="020B0604020202020204" pitchFamily="34" charset="0"/>
              <a:buChar char="•"/>
            </a:pPr>
            <a:r>
              <a:rPr lang="zh-CN" altLang="zh-CN" sz="2000" dirty="0"/>
              <a:t>类的实例化与调用方法相似，只需要在类名后加一对小括号就可以调用类的构造方法，实例化一个类。</a:t>
            </a:r>
            <a:endParaRPr lang="en-US" altLang="zh-CN" sz="2000" dirty="0"/>
          </a:p>
          <a:p>
            <a:pPr marL="342900" indent="-342900">
              <a:lnSpc>
                <a:spcPct val="150000"/>
              </a:lnSpc>
              <a:buFont typeface="Arial" panose="020B0604020202020204" pitchFamily="34" charset="0"/>
              <a:buChar char="•"/>
            </a:pPr>
            <a:r>
              <a:rPr lang="zh-CN" altLang="zh-CN" sz="2000" dirty="0">
                <a:solidFill>
                  <a:srgbClr val="C00000"/>
                </a:solidFill>
              </a:rPr>
              <a:t>一个类可以实例化出多个对象</a:t>
            </a:r>
            <a:r>
              <a:rPr lang="zh-CN" altLang="zh-CN" sz="2000" dirty="0"/>
              <a:t>，每个对象的实例属性都是一个独立副本，互不影响。</a:t>
            </a:r>
            <a:endParaRPr lang="en-US" altLang="zh-CN" sz="2000" dirty="0"/>
          </a:p>
        </p:txBody>
      </p:sp>
      <p:pic>
        <p:nvPicPr>
          <p:cNvPr id="2" name="Picture 1">
            <a:extLst>
              <a:ext uri="{FF2B5EF4-FFF2-40B4-BE49-F238E27FC236}">
                <a16:creationId xmlns:a16="http://schemas.microsoft.com/office/drawing/2014/main" id="{61CF6F03-A259-6006-AA92-D70C4A83F25E}"/>
              </a:ext>
            </a:extLst>
          </p:cNvPr>
          <p:cNvPicPr>
            <a:picLocks noChangeAspect="1"/>
          </p:cNvPicPr>
          <p:nvPr/>
        </p:nvPicPr>
        <p:blipFill>
          <a:blip r:embed="rId2"/>
          <a:stretch>
            <a:fillRect/>
          </a:stretch>
        </p:blipFill>
        <p:spPr>
          <a:xfrm>
            <a:off x="1871729" y="4373687"/>
            <a:ext cx="8447020" cy="1915819"/>
          </a:xfrm>
          <a:prstGeom prst="rect">
            <a:avLst/>
          </a:prstGeom>
        </p:spPr>
      </p:pic>
    </p:spTree>
    <p:extLst>
      <p:ext uri="{BB962C8B-B14F-4D97-AF65-F5344CB8AC3E}">
        <p14:creationId xmlns:p14="http://schemas.microsoft.com/office/powerpoint/2010/main" val="3623552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altLang="zh-CN" b="1" dirty="0">
                <a:solidFill>
                  <a:schemeClr val="accent4">
                    <a:lumMod val="50000"/>
                  </a:schemeClr>
                </a:solidFill>
                <a:latin typeface="Microsoft YaHei" panose="020B0503020204020204" pitchFamily="34" charset="-122"/>
                <a:ea typeface="Microsoft YaHei" panose="020B0503020204020204" pitchFamily="34" charset="-122"/>
              </a:rPr>
              <a:t>3 </a:t>
            </a:r>
            <a:r>
              <a:rPr lang="zh-CN" altLang="en-US" b="1" dirty="0">
                <a:solidFill>
                  <a:schemeClr val="accent4">
                    <a:lumMod val="50000"/>
                  </a:schemeClr>
                </a:solidFill>
                <a:latin typeface="Microsoft YaHei" panose="020B0503020204020204" pitchFamily="34" charset="-122"/>
                <a:ea typeface="Microsoft YaHei" panose="020B0503020204020204" pitchFamily="34" charset="-122"/>
              </a:rPr>
              <a:t>类的方法</a:t>
            </a:r>
            <a:endParaRPr lang="en-US" b="1" dirty="0">
              <a:solidFill>
                <a:schemeClr val="accent4">
                  <a:lumMod val="50000"/>
                </a:schemeClr>
              </a:solidFill>
            </a:endParaRPr>
          </a:p>
        </p:txBody>
      </p:sp>
      <p:sp>
        <p:nvSpPr>
          <p:cNvPr id="5" name="文本框 4"/>
          <p:cNvSpPr txBox="1"/>
          <p:nvPr/>
        </p:nvSpPr>
        <p:spPr>
          <a:xfrm>
            <a:off x="1104900" y="1216953"/>
            <a:ext cx="9896776" cy="1882760"/>
          </a:xfrm>
          <a:prstGeom prst="rect">
            <a:avLst/>
          </a:prstGeom>
          <a:noFill/>
        </p:spPr>
        <p:txBody>
          <a:bodyPr wrap="square" rtlCol="0">
            <a:spAutoFit/>
          </a:bodyPr>
          <a:lstStyle/>
          <a:p>
            <a:pPr>
              <a:lnSpc>
                <a:spcPct val="150000"/>
              </a:lnSpc>
            </a:pPr>
            <a:r>
              <a:rPr lang="zh-CN" altLang="zh-CN" sz="2000" dirty="0"/>
              <a:t>如果一个类只定义了类的描述属性，而没有定义任何类的方法（操作），这样的类是没有功能意义的。在进行属性定义的同时，可以在类中定义一些行为操作，让这个类具有某种特定的功能，即创建类的方法。</a:t>
            </a:r>
            <a:endParaRPr lang="en-US" altLang="zh-CN" sz="2000" dirty="0"/>
          </a:p>
          <a:p>
            <a:pPr>
              <a:lnSpc>
                <a:spcPct val="150000"/>
              </a:lnSpc>
            </a:pPr>
            <a:r>
              <a:rPr lang="en-US" altLang="zh-CN" sz="2000" dirty="0"/>
              <a:t>    </a:t>
            </a:r>
            <a:r>
              <a:rPr lang="zh-CN" altLang="zh-CN" sz="2000" dirty="0"/>
              <a:t>在</a:t>
            </a:r>
            <a:r>
              <a:rPr lang="en-US" altLang="zh-CN" sz="2000" dirty="0"/>
              <a:t>Python</a:t>
            </a:r>
            <a:r>
              <a:rPr lang="zh-CN" altLang="zh-CN" sz="2000" dirty="0"/>
              <a:t>中，类包含</a:t>
            </a:r>
            <a:r>
              <a:rPr lang="zh-CN" altLang="en-US" sz="2000" dirty="0"/>
              <a:t>多种</a:t>
            </a:r>
            <a:r>
              <a:rPr lang="zh-CN" altLang="zh-CN" sz="2000" dirty="0"/>
              <a:t>方法：</a:t>
            </a:r>
            <a:r>
              <a:rPr lang="zh-CN" altLang="zh-CN" sz="2000" b="1" dirty="0">
                <a:solidFill>
                  <a:srgbClr val="C00000"/>
                </a:solidFill>
              </a:rPr>
              <a:t>实例方法</a:t>
            </a:r>
            <a:r>
              <a:rPr lang="zh-CN" altLang="zh-CN" sz="2000" dirty="0">
                <a:solidFill>
                  <a:srgbClr val="C00000"/>
                </a:solidFill>
              </a:rPr>
              <a:t>，</a:t>
            </a:r>
            <a:r>
              <a:rPr lang="zh-CN" altLang="zh-CN" sz="2000" b="1" dirty="0">
                <a:solidFill>
                  <a:srgbClr val="C00000"/>
                </a:solidFill>
              </a:rPr>
              <a:t>类方法</a:t>
            </a:r>
            <a:r>
              <a:rPr lang="zh-CN" altLang="en-US" sz="2000" dirty="0"/>
              <a:t>和</a:t>
            </a:r>
            <a:r>
              <a:rPr lang="zh-CN" altLang="zh-CN" sz="2000" b="1" dirty="0">
                <a:solidFill>
                  <a:srgbClr val="C00000"/>
                </a:solidFill>
              </a:rPr>
              <a:t>静态方法</a:t>
            </a:r>
            <a:r>
              <a:rPr lang="zh-CN" altLang="en-US" sz="2000" dirty="0"/>
              <a:t>。</a:t>
            </a:r>
            <a:endParaRPr lang="en-US" altLang="zh-CN" sz="2000" dirty="0"/>
          </a:p>
        </p:txBody>
      </p:sp>
      <p:sp>
        <p:nvSpPr>
          <p:cNvPr id="4" name="文本框 3"/>
          <p:cNvSpPr txBox="1"/>
          <p:nvPr/>
        </p:nvSpPr>
        <p:spPr>
          <a:xfrm>
            <a:off x="1104900" y="3146093"/>
            <a:ext cx="9980682" cy="400110"/>
          </a:xfrm>
          <a:prstGeom prst="rect">
            <a:avLst/>
          </a:prstGeom>
          <a:noFill/>
        </p:spPr>
        <p:txBody>
          <a:bodyPr wrap="square" rtlCol="0">
            <a:spAutoFit/>
          </a:bodyPr>
          <a:lstStyle/>
          <a:p>
            <a:pPr marL="342900" indent="-342900">
              <a:buFont typeface="Wingdings" panose="05000000000000000000" pitchFamily="2" charset="2"/>
              <a:buChar char="n"/>
            </a:pPr>
            <a:r>
              <a:rPr lang="zh-CN" altLang="en-US" sz="2000" b="1" dirty="0">
                <a:solidFill>
                  <a:srgbClr val="7030A0"/>
                </a:solidFill>
              </a:rPr>
              <a:t>实例方法</a:t>
            </a:r>
            <a:endParaRPr lang="en-US" altLang="zh-CN" sz="2000" b="1" dirty="0">
              <a:solidFill>
                <a:srgbClr val="7030A0"/>
              </a:solidFill>
            </a:endParaRPr>
          </a:p>
        </p:txBody>
      </p:sp>
      <p:sp>
        <p:nvSpPr>
          <p:cNvPr id="11" name="文本框 10"/>
          <p:cNvSpPr txBox="1"/>
          <p:nvPr/>
        </p:nvSpPr>
        <p:spPr>
          <a:xfrm>
            <a:off x="1896178" y="5432265"/>
            <a:ext cx="9079830" cy="1015663"/>
          </a:xfrm>
          <a:prstGeom prst="rect">
            <a:avLst/>
          </a:prstGeom>
          <a:noFill/>
        </p:spPr>
        <p:txBody>
          <a:bodyPr wrap="square" rtlCol="0">
            <a:spAutoFit/>
          </a:bodyPr>
          <a:lstStyle/>
          <a:p>
            <a:pPr marL="342900" indent="-342900">
              <a:buFont typeface="Arial" panose="020B0604020202020204" pitchFamily="34" charset="0"/>
              <a:buChar char="•"/>
            </a:pPr>
            <a:r>
              <a:rPr lang="zh-CN" altLang="zh-CN" sz="2000" dirty="0"/>
              <a:t>实例方法定义的参数列表中，第一个参数最好命名为</a:t>
            </a:r>
            <a:r>
              <a:rPr lang="en-US" altLang="zh-CN" sz="2000" dirty="0">
                <a:solidFill>
                  <a:srgbClr val="C00000"/>
                </a:solidFill>
              </a:rPr>
              <a:t>self</a:t>
            </a:r>
            <a:r>
              <a:rPr lang="en-US" altLang="zh-CN" sz="2000" dirty="0"/>
              <a:t>,</a:t>
            </a:r>
            <a:r>
              <a:rPr lang="zh-CN" altLang="en-US" sz="2000" dirty="0"/>
              <a:t> </a:t>
            </a:r>
            <a:r>
              <a:rPr lang="zh-CN" altLang="zh-CN" sz="2000" dirty="0"/>
              <a:t>关键词</a:t>
            </a:r>
            <a:r>
              <a:rPr lang="en-US" altLang="zh-CN" sz="2000" dirty="0"/>
              <a:t>self</a:t>
            </a:r>
            <a:r>
              <a:rPr lang="zh-CN" altLang="zh-CN" sz="2000" dirty="0"/>
              <a:t>指向的是调用该方法的具体类对象的引用</a:t>
            </a:r>
            <a:r>
              <a:rPr lang="zh-CN" altLang="zh-CN" dirty="0"/>
              <a:t>。</a:t>
            </a:r>
            <a:endParaRPr lang="en-US" altLang="zh-CN" dirty="0"/>
          </a:p>
          <a:p>
            <a:pPr marL="342900" indent="-342900">
              <a:buFont typeface="Arial" panose="020B0604020202020204" pitchFamily="34" charset="0"/>
              <a:buChar char="•"/>
            </a:pPr>
            <a:r>
              <a:rPr lang="zh-CN" altLang="zh-CN" sz="2000" dirty="0"/>
              <a:t>实例方法必须要类的实例对象才能调用</a:t>
            </a:r>
            <a:r>
              <a:rPr lang="zh-CN" altLang="en-US" sz="2000" dirty="0"/>
              <a:t>，否则程序会报错。</a:t>
            </a:r>
          </a:p>
        </p:txBody>
      </p:sp>
      <p:sp>
        <p:nvSpPr>
          <p:cNvPr id="12" name="文本框 11"/>
          <p:cNvSpPr txBox="1"/>
          <p:nvPr/>
        </p:nvSpPr>
        <p:spPr>
          <a:xfrm>
            <a:off x="1130567" y="5418973"/>
            <a:ext cx="871488" cy="400110"/>
          </a:xfrm>
          <a:prstGeom prst="rect">
            <a:avLst/>
          </a:prstGeom>
          <a:noFill/>
        </p:spPr>
        <p:txBody>
          <a:bodyPr wrap="square" rtlCol="0">
            <a:spAutoFit/>
          </a:bodyPr>
          <a:lstStyle/>
          <a:p>
            <a:r>
              <a:rPr lang="zh-CN" altLang="en-US" sz="2000" dirty="0"/>
              <a:t>注意：</a:t>
            </a:r>
          </a:p>
        </p:txBody>
      </p:sp>
      <p:pic>
        <p:nvPicPr>
          <p:cNvPr id="2" name="Picture 1">
            <a:extLst>
              <a:ext uri="{FF2B5EF4-FFF2-40B4-BE49-F238E27FC236}">
                <a16:creationId xmlns:a16="http://schemas.microsoft.com/office/drawing/2014/main" id="{80850E4B-06C2-AC3F-1085-F6DA540A0EEE}"/>
              </a:ext>
            </a:extLst>
          </p:cNvPr>
          <p:cNvPicPr>
            <a:picLocks noChangeAspect="1"/>
          </p:cNvPicPr>
          <p:nvPr/>
        </p:nvPicPr>
        <p:blipFill>
          <a:blip r:embed="rId2"/>
          <a:stretch>
            <a:fillRect/>
          </a:stretch>
        </p:blipFill>
        <p:spPr>
          <a:xfrm>
            <a:off x="2706838" y="3267046"/>
            <a:ext cx="6692900" cy="2019300"/>
          </a:xfrm>
          <a:prstGeom prst="rect">
            <a:avLst/>
          </a:prstGeom>
        </p:spPr>
      </p:pic>
      <p:pic>
        <p:nvPicPr>
          <p:cNvPr id="6" name="Picture 5">
            <a:extLst>
              <a:ext uri="{FF2B5EF4-FFF2-40B4-BE49-F238E27FC236}">
                <a16:creationId xmlns:a16="http://schemas.microsoft.com/office/drawing/2014/main" id="{2CDD6416-6787-C7E5-B243-8DFB7AA1BC60}"/>
              </a:ext>
            </a:extLst>
          </p:cNvPr>
          <p:cNvPicPr>
            <a:picLocks noChangeAspect="1"/>
          </p:cNvPicPr>
          <p:nvPr/>
        </p:nvPicPr>
        <p:blipFill>
          <a:blip r:embed="rId3"/>
          <a:stretch>
            <a:fillRect/>
          </a:stretch>
        </p:blipFill>
        <p:spPr>
          <a:xfrm>
            <a:off x="6619904" y="3238853"/>
            <a:ext cx="5308600" cy="9017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054253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normAutofit/>
          </a:bodyPr>
          <a:lstStyle/>
          <a:p>
            <a:r>
              <a:rPr lang="zh-CN" altLang="en-US" dirty="0">
                <a:solidFill>
                  <a:srgbClr val="0432FF"/>
                </a:solidFill>
                <a:latin typeface="Microsoft YaHei" panose="020B0503020204020204" pitchFamily="34" charset="-122"/>
                <a:ea typeface="Microsoft YaHei" panose="020B0503020204020204" pitchFamily="34" charset="-122"/>
              </a:rPr>
              <a:t>（</a:t>
            </a:r>
            <a:r>
              <a:rPr lang="en-US" altLang="zh-CN" dirty="0">
                <a:solidFill>
                  <a:srgbClr val="0432FF"/>
                </a:solidFill>
                <a:latin typeface="Microsoft YaHei" panose="020B0503020204020204" pitchFamily="34" charset="-122"/>
                <a:ea typeface="Microsoft YaHei" panose="020B0503020204020204" pitchFamily="34" charset="-122"/>
              </a:rPr>
              <a:t>2</a:t>
            </a:r>
            <a:r>
              <a:rPr lang="zh-CN" altLang="en-US" dirty="0">
                <a:solidFill>
                  <a:srgbClr val="0432FF"/>
                </a:solidFill>
                <a:latin typeface="Microsoft YaHei" panose="020B0503020204020204" pitchFamily="34" charset="-122"/>
                <a:ea typeface="Microsoft YaHei" panose="020B0503020204020204" pitchFamily="34" charset="-122"/>
              </a:rPr>
              <a:t>）类方法</a:t>
            </a:r>
            <a:endParaRPr lang="en-US" b="1" dirty="0"/>
          </a:p>
        </p:txBody>
      </p:sp>
      <p:sp>
        <p:nvSpPr>
          <p:cNvPr id="11" name="文本框 10"/>
          <p:cNvSpPr txBox="1"/>
          <p:nvPr/>
        </p:nvSpPr>
        <p:spPr>
          <a:xfrm>
            <a:off x="1993517" y="5257800"/>
            <a:ext cx="9092065" cy="1323439"/>
          </a:xfrm>
          <a:prstGeom prst="rect">
            <a:avLst/>
          </a:prstGeom>
          <a:noFill/>
        </p:spPr>
        <p:txBody>
          <a:bodyPr wrap="square" rtlCol="0">
            <a:spAutoFit/>
          </a:bodyPr>
          <a:lstStyle/>
          <a:p>
            <a:pPr marL="342900" indent="-342900">
              <a:buFont typeface="Arial" panose="020B0604020202020204" pitchFamily="34" charset="0"/>
              <a:buChar char="•"/>
            </a:pPr>
            <a:r>
              <a:rPr lang="zh-CN" altLang="zh-CN" sz="2000" dirty="0"/>
              <a:t>类方法需要预留出第一个参数，第一个参数约定命名而是</a:t>
            </a:r>
            <a:r>
              <a:rPr lang="en-US" altLang="zh-CN" sz="2000" dirty="0" err="1">
                <a:solidFill>
                  <a:srgbClr val="C00000"/>
                </a:solidFill>
              </a:rPr>
              <a:t>cls</a:t>
            </a:r>
            <a:r>
              <a:rPr lang="en-US" altLang="zh-CN" sz="2000" dirty="0"/>
              <a:t>(class</a:t>
            </a:r>
            <a:r>
              <a:rPr lang="zh-CN" altLang="zh-CN" sz="2000" dirty="0"/>
              <a:t>的缩写</a:t>
            </a:r>
            <a:r>
              <a:rPr lang="en-US" altLang="zh-CN" sz="2000" dirty="0"/>
              <a:t>)</a:t>
            </a:r>
            <a:r>
              <a:rPr lang="zh-CN" altLang="en-US" sz="2000" dirty="0"/>
              <a:t>，</a:t>
            </a:r>
            <a:r>
              <a:rPr lang="en-US" altLang="zh-CN" sz="2000" dirty="0" err="1"/>
              <a:t>cls</a:t>
            </a:r>
            <a:r>
              <a:rPr lang="zh-CN" altLang="zh-CN" sz="2000" dirty="0"/>
              <a:t>指向的就是类对象本身而并不是类的实例对象</a:t>
            </a:r>
            <a:endParaRPr lang="en-US" altLang="zh-CN" sz="2000" dirty="0"/>
          </a:p>
          <a:p>
            <a:pPr marL="342900" indent="-342900">
              <a:buFont typeface="Arial" panose="020B0604020202020204" pitchFamily="34" charset="0"/>
              <a:buChar char="•"/>
            </a:pPr>
            <a:r>
              <a:rPr lang="zh-CN" altLang="zh-CN" sz="2000" dirty="0"/>
              <a:t>类方法既可以被类的实例对象调用也可以被类对象调用。</a:t>
            </a:r>
            <a:r>
              <a:rPr lang="en-US" altLang="zh-CN" sz="2000" dirty="0"/>
              <a:t>Python</a:t>
            </a:r>
            <a:r>
              <a:rPr lang="zh-CN" altLang="zh-CN" sz="2000" dirty="0"/>
              <a:t>中定义类方法需要使用</a:t>
            </a:r>
            <a:r>
              <a:rPr lang="en-US" altLang="zh-CN" sz="2000" dirty="0"/>
              <a:t>@</a:t>
            </a:r>
            <a:r>
              <a:rPr lang="en-US" altLang="zh-CN" sz="2000" dirty="0" err="1"/>
              <a:t>classmethod</a:t>
            </a:r>
            <a:r>
              <a:rPr lang="zh-CN" altLang="zh-CN" sz="2000" dirty="0"/>
              <a:t>装饰器。</a:t>
            </a:r>
            <a:endParaRPr lang="zh-CN" altLang="en-US" sz="2000" dirty="0"/>
          </a:p>
        </p:txBody>
      </p:sp>
      <p:sp>
        <p:nvSpPr>
          <p:cNvPr id="12" name="文本框 11"/>
          <p:cNvSpPr txBox="1"/>
          <p:nvPr/>
        </p:nvSpPr>
        <p:spPr>
          <a:xfrm>
            <a:off x="1122029" y="5257800"/>
            <a:ext cx="871488" cy="400110"/>
          </a:xfrm>
          <a:prstGeom prst="rect">
            <a:avLst/>
          </a:prstGeom>
          <a:noFill/>
        </p:spPr>
        <p:txBody>
          <a:bodyPr wrap="square" rtlCol="0">
            <a:spAutoFit/>
          </a:bodyPr>
          <a:lstStyle/>
          <a:p>
            <a:r>
              <a:rPr lang="zh-CN" altLang="en-US" sz="2000" dirty="0"/>
              <a:t>注意：</a:t>
            </a:r>
          </a:p>
        </p:txBody>
      </p:sp>
      <p:pic>
        <p:nvPicPr>
          <p:cNvPr id="2" name="Picture 1">
            <a:extLst>
              <a:ext uri="{FF2B5EF4-FFF2-40B4-BE49-F238E27FC236}">
                <a16:creationId xmlns:a16="http://schemas.microsoft.com/office/drawing/2014/main" id="{6AC9FB67-DA14-7539-10D8-4CF4B7615E94}"/>
              </a:ext>
            </a:extLst>
          </p:cNvPr>
          <p:cNvPicPr>
            <a:picLocks noChangeAspect="1"/>
          </p:cNvPicPr>
          <p:nvPr/>
        </p:nvPicPr>
        <p:blipFill>
          <a:blip r:embed="rId2"/>
          <a:stretch>
            <a:fillRect/>
          </a:stretch>
        </p:blipFill>
        <p:spPr>
          <a:xfrm>
            <a:off x="2637620" y="1471396"/>
            <a:ext cx="6070600" cy="1854200"/>
          </a:xfrm>
          <a:prstGeom prst="rect">
            <a:avLst/>
          </a:prstGeom>
        </p:spPr>
      </p:pic>
      <p:pic>
        <p:nvPicPr>
          <p:cNvPr id="5" name="Picture 4">
            <a:extLst>
              <a:ext uri="{FF2B5EF4-FFF2-40B4-BE49-F238E27FC236}">
                <a16:creationId xmlns:a16="http://schemas.microsoft.com/office/drawing/2014/main" id="{F294CE6A-2F4A-112D-328E-9454E6354B40}"/>
              </a:ext>
            </a:extLst>
          </p:cNvPr>
          <p:cNvPicPr>
            <a:picLocks noChangeAspect="1"/>
          </p:cNvPicPr>
          <p:nvPr/>
        </p:nvPicPr>
        <p:blipFill>
          <a:blip r:embed="rId3"/>
          <a:stretch>
            <a:fillRect/>
          </a:stretch>
        </p:blipFill>
        <p:spPr>
          <a:xfrm>
            <a:off x="2673255" y="3650625"/>
            <a:ext cx="6096000" cy="1295400"/>
          </a:xfrm>
          <a:prstGeom prst="rect">
            <a:avLst/>
          </a:prstGeom>
        </p:spPr>
      </p:pic>
    </p:spTree>
    <p:extLst>
      <p:ext uri="{BB962C8B-B14F-4D97-AF65-F5344CB8AC3E}">
        <p14:creationId xmlns:p14="http://schemas.microsoft.com/office/powerpoint/2010/main" val="3219223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zh-CN" altLang="en-US" dirty="0">
                <a:solidFill>
                  <a:srgbClr val="0432FF"/>
                </a:solidFill>
                <a:latin typeface="Microsoft YaHei" panose="020B0503020204020204" pitchFamily="34" charset="-122"/>
                <a:ea typeface="Microsoft YaHei" panose="020B0503020204020204" pitchFamily="34" charset="-122"/>
              </a:rPr>
              <a:t>（</a:t>
            </a:r>
            <a:r>
              <a:rPr lang="en-US" altLang="zh-CN" dirty="0">
                <a:solidFill>
                  <a:srgbClr val="0432FF"/>
                </a:solidFill>
                <a:latin typeface="Microsoft YaHei" panose="020B0503020204020204" pitchFamily="34" charset="-122"/>
                <a:ea typeface="Microsoft YaHei" panose="020B0503020204020204" pitchFamily="34" charset="-122"/>
              </a:rPr>
              <a:t>3</a:t>
            </a:r>
            <a:r>
              <a:rPr lang="zh-CN" altLang="en-US" dirty="0">
                <a:solidFill>
                  <a:srgbClr val="0432FF"/>
                </a:solidFill>
                <a:latin typeface="Microsoft YaHei" panose="020B0503020204020204" pitchFamily="34" charset="-122"/>
                <a:ea typeface="Microsoft YaHei" panose="020B0503020204020204" pitchFamily="34" charset="-122"/>
              </a:rPr>
              <a:t>）静态方法</a:t>
            </a:r>
            <a:endParaRPr lang="en-US" b="1" dirty="0"/>
          </a:p>
        </p:txBody>
      </p:sp>
      <p:sp>
        <p:nvSpPr>
          <p:cNvPr id="11" name="文本框 10"/>
          <p:cNvSpPr txBox="1"/>
          <p:nvPr/>
        </p:nvSpPr>
        <p:spPr>
          <a:xfrm>
            <a:off x="1995035" y="5350818"/>
            <a:ext cx="9092065" cy="707886"/>
          </a:xfrm>
          <a:prstGeom prst="rect">
            <a:avLst/>
          </a:prstGeom>
          <a:noFill/>
        </p:spPr>
        <p:txBody>
          <a:bodyPr wrap="square" rtlCol="0">
            <a:spAutoFit/>
          </a:bodyPr>
          <a:lstStyle/>
          <a:p>
            <a:pPr marL="342900" indent="-342900">
              <a:buFont typeface="Arial" panose="020B0604020202020204" pitchFamily="34" charset="0"/>
              <a:buChar char="•"/>
            </a:pPr>
            <a:r>
              <a:rPr lang="zh-CN" altLang="zh-CN" sz="2000" dirty="0"/>
              <a:t>静态方法</a:t>
            </a:r>
            <a:r>
              <a:rPr lang="zh-CN" altLang="zh-CN" sz="2000" dirty="0">
                <a:solidFill>
                  <a:srgbClr val="C00000"/>
                </a:solidFill>
              </a:rPr>
              <a:t>不需要约定参数形式</a:t>
            </a:r>
            <a:r>
              <a:rPr lang="zh-CN" altLang="zh-CN" sz="2000" dirty="0"/>
              <a:t>，声明需要</a:t>
            </a:r>
            <a:r>
              <a:rPr lang="en-US" altLang="zh-CN" sz="2000" dirty="0"/>
              <a:t>@</a:t>
            </a:r>
            <a:r>
              <a:rPr lang="en-US" altLang="zh-CN" sz="2000" dirty="0" err="1"/>
              <a:t>staticmethod</a:t>
            </a:r>
            <a:r>
              <a:rPr lang="zh-CN" altLang="zh-CN" sz="2000" dirty="0"/>
              <a:t>装饰器</a:t>
            </a:r>
            <a:endParaRPr lang="en-US" altLang="zh-CN" sz="2000" dirty="0"/>
          </a:p>
          <a:p>
            <a:pPr marL="342900" indent="-342900">
              <a:buFont typeface="Arial" panose="020B0604020202020204" pitchFamily="34" charset="0"/>
              <a:buChar char="•"/>
            </a:pPr>
            <a:r>
              <a:rPr lang="zh-CN" altLang="en-US" sz="2000" dirty="0"/>
              <a:t>静态方法</a:t>
            </a:r>
            <a:r>
              <a:rPr lang="zh-CN" altLang="zh-CN" sz="2000" dirty="0"/>
              <a:t>可以</a:t>
            </a:r>
            <a:r>
              <a:rPr lang="zh-CN" altLang="zh-CN" sz="2000" dirty="0">
                <a:solidFill>
                  <a:srgbClr val="0432FF"/>
                </a:solidFill>
              </a:rPr>
              <a:t>被类对象调用</a:t>
            </a:r>
            <a:r>
              <a:rPr lang="zh-CN" altLang="zh-CN" sz="2000" dirty="0"/>
              <a:t>也可以</a:t>
            </a:r>
            <a:r>
              <a:rPr lang="zh-CN" altLang="zh-CN" sz="2000" dirty="0">
                <a:solidFill>
                  <a:srgbClr val="0432FF"/>
                </a:solidFill>
              </a:rPr>
              <a:t>被类的实例对象调用</a:t>
            </a:r>
            <a:r>
              <a:rPr lang="zh-CN" altLang="zh-CN" sz="2000" dirty="0"/>
              <a:t>。</a:t>
            </a:r>
          </a:p>
        </p:txBody>
      </p:sp>
      <p:sp>
        <p:nvSpPr>
          <p:cNvPr id="12" name="文本框 11"/>
          <p:cNvSpPr txBox="1"/>
          <p:nvPr/>
        </p:nvSpPr>
        <p:spPr>
          <a:xfrm>
            <a:off x="1123547" y="5350818"/>
            <a:ext cx="871488" cy="400110"/>
          </a:xfrm>
          <a:prstGeom prst="rect">
            <a:avLst/>
          </a:prstGeom>
          <a:noFill/>
        </p:spPr>
        <p:txBody>
          <a:bodyPr wrap="square" rtlCol="0">
            <a:spAutoFit/>
          </a:bodyPr>
          <a:lstStyle/>
          <a:p>
            <a:r>
              <a:rPr lang="zh-CN" altLang="en-US" sz="2000" dirty="0"/>
              <a:t>注意：</a:t>
            </a:r>
          </a:p>
        </p:txBody>
      </p:sp>
      <p:pic>
        <p:nvPicPr>
          <p:cNvPr id="2" name="Picture 1">
            <a:extLst>
              <a:ext uri="{FF2B5EF4-FFF2-40B4-BE49-F238E27FC236}">
                <a16:creationId xmlns:a16="http://schemas.microsoft.com/office/drawing/2014/main" id="{8C5C5DF4-6244-B355-4D67-FF8FDE395003}"/>
              </a:ext>
            </a:extLst>
          </p:cNvPr>
          <p:cNvPicPr>
            <a:picLocks noChangeAspect="1"/>
          </p:cNvPicPr>
          <p:nvPr/>
        </p:nvPicPr>
        <p:blipFill>
          <a:blip r:embed="rId2"/>
          <a:stretch>
            <a:fillRect/>
          </a:stretch>
        </p:blipFill>
        <p:spPr>
          <a:xfrm>
            <a:off x="2770247" y="2380163"/>
            <a:ext cx="6649987" cy="2724091"/>
          </a:xfrm>
          <a:prstGeom prst="rect">
            <a:avLst/>
          </a:prstGeom>
        </p:spPr>
      </p:pic>
      <p:sp>
        <p:nvSpPr>
          <p:cNvPr id="6" name="TextBox 5">
            <a:extLst>
              <a:ext uri="{FF2B5EF4-FFF2-40B4-BE49-F238E27FC236}">
                <a16:creationId xmlns:a16="http://schemas.microsoft.com/office/drawing/2014/main" id="{E517C190-B86B-B027-F569-990B268E52E4}"/>
              </a:ext>
            </a:extLst>
          </p:cNvPr>
          <p:cNvSpPr txBox="1"/>
          <p:nvPr/>
        </p:nvSpPr>
        <p:spPr>
          <a:xfrm>
            <a:off x="1559291" y="1248871"/>
            <a:ext cx="7870372" cy="884729"/>
          </a:xfrm>
          <a:prstGeom prst="rect">
            <a:avLst/>
          </a:prstGeom>
          <a:noFill/>
        </p:spPr>
        <p:txBody>
          <a:bodyPr wrap="square">
            <a:spAutoFit/>
          </a:bodyPr>
          <a:lstStyle/>
          <a:p>
            <a:pPr>
              <a:lnSpc>
                <a:spcPct val="150000"/>
              </a:lnSpc>
            </a:pPr>
            <a:r>
              <a:rPr lang="zh-CN" altLang="en-US" b="0" i="0" dirty="0">
                <a:solidFill>
                  <a:srgbClr val="262625"/>
                </a:solidFill>
                <a:effectLst/>
                <a:latin typeface="Times New Roman" panose="02020603050405020304" pitchFamily="18" charset="0"/>
              </a:rPr>
              <a:t>静态方法与类方法类似，都可以通过类对象或实例对象调用，声明时需要使用 </a:t>
            </a:r>
            <a:r>
              <a:rPr lang="en-US" altLang="zh-CN" b="0" i="0" dirty="0">
                <a:solidFill>
                  <a:srgbClr val="6E6B5E"/>
                </a:solidFill>
                <a:effectLst/>
                <a:latin typeface="Courier New" panose="02070309020205020404" pitchFamily="49" charset="0"/>
              </a:rPr>
              <a:t>@</a:t>
            </a:r>
            <a:r>
              <a:rPr lang="en-US" b="0" i="0" dirty="0" err="1">
                <a:solidFill>
                  <a:srgbClr val="6E6B5E"/>
                </a:solidFill>
                <a:effectLst/>
                <a:latin typeface="Courier New" panose="02070309020205020404" pitchFamily="49" charset="0"/>
              </a:rPr>
              <a:t>staticmethod</a:t>
            </a:r>
            <a:r>
              <a:rPr lang="en-US" b="0" i="0" dirty="0">
                <a:solidFill>
                  <a:srgbClr val="262625"/>
                </a:solidFill>
                <a:effectLst/>
                <a:latin typeface="Times New Roman" panose="02020603050405020304" pitchFamily="18" charset="0"/>
              </a:rPr>
              <a:t> </a:t>
            </a:r>
            <a:r>
              <a:rPr lang="zh-CN" altLang="en-US" b="0" i="0" dirty="0">
                <a:solidFill>
                  <a:srgbClr val="262625"/>
                </a:solidFill>
                <a:effectLst/>
                <a:latin typeface="Times New Roman" panose="02020603050405020304" pitchFamily="18" charset="0"/>
              </a:rPr>
              <a:t>装饰器。</a:t>
            </a:r>
            <a:endParaRPr lang="zh-CN" altLang="en-US" dirty="0"/>
          </a:p>
        </p:txBody>
      </p:sp>
    </p:spTree>
    <p:extLst>
      <p:ext uri="{BB962C8B-B14F-4D97-AF65-F5344CB8AC3E}">
        <p14:creationId xmlns:p14="http://schemas.microsoft.com/office/powerpoint/2010/main" val="186190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26A1E-6DDB-B5E4-A753-12619E7F6253}"/>
              </a:ext>
            </a:extLst>
          </p:cNvPr>
          <p:cNvSpPr>
            <a:spLocks noGrp="1"/>
          </p:cNvSpPr>
          <p:nvPr>
            <p:ph type="title"/>
          </p:nvPr>
        </p:nvSpPr>
        <p:spPr/>
        <p:txBody>
          <a:bodyPr/>
          <a:lstStyle/>
          <a:p>
            <a:r>
              <a:rPr kumimoji="1" lang="zh-CN" altLang="en-US" dirty="0">
                <a:solidFill>
                  <a:srgbClr val="0432FF"/>
                </a:solidFill>
                <a:latin typeface="Microsoft YaHei" panose="020B0503020204020204" pitchFamily="34" charset="-122"/>
                <a:ea typeface="Microsoft YaHei" panose="020B0503020204020204" pitchFamily="34" charset="-122"/>
              </a:rPr>
              <a:t>（</a:t>
            </a:r>
            <a:r>
              <a:rPr kumimoji="1" lang="en-US" altLang="zh-CN" dirty="0">
                <a:solidFill>
                  <a:srgbClr val="0432FF"/>
                </a:solidFill>
                <a:latin typeface="Microsoft YaHei" panose="020B0503020204020204" pitchFamily="34" charset="-122"/>
                <a:ea typeface="Microsoft YaHei" panose="020B0503020204020204" pitchFamily="34" charset="-122"/>
              </a:rPr>
              <a:t>4</a:t>
            </a:r>
            <a:r>
              <a:rPr kumimoji="1" lang="zh-CN" altLang="en-US" dirty="0">
                <a:solidFill>
                  <a:srgbClr val="0432FF"/>
                </a:solidFill>
                <a:latin typeface="Microsoft YaHei" panose="020B0503020204020204" pitchFamily="34" charset="-122"/>
                <a:ea typeface="Microsoft YaHei" panose="020B0503020204020204" pitchFamily="34" charset="-122"/>
              </a:rPr>
              <a:t>）构造方法</a:t>
            </a:r>
          </a:p>
        </p:txBody>
      </p:sp>
      <p:pic>
        <p:nvPicPr>
          <p:cNvPr id="3" name="Picture 2">
            <a:extLst>
              <a:ext uri="{FF2B5EF4-FFF2-40B4-BE49-F238E27FC236}">
                <a16:creationId xmlns:a16="http://schemas.microsoft.com/office/drawing/2014/main" id="{CC947237-1109-D2D7-FAE8-58F71B15ACE5}"/>
              </a:ext>
            </a:extLst>
          </p:cNvPr>
          <p:cNvPicPr>
            <a:picLocks noChangeAspect="1"/>
          </p:cNvPicPr>
          <p:nvPr/>
        </p:nvPicPr>
        <p:blipFill>
          <a:blip r:embed="rId2"/>
          <a:stretch>
            <a:fillRect/>
          </a:stretch>
        </p:blipFill>
        <p:spPr>
          <a:xfrm>
            <a:off x="2748790" y="1859696"/>
            <a:ext cx="6937439" cy="4554751"/>
          </a:xfrm>
          <a:prstGeom prst="rect">
            <a:avLst/>
          </a:prstGeom>
        </p:spPr>
      </p:pic>
      <p:sp>
        <p:nvSpPr>
          <p:cNvPr id="5" name="TextBox 4">
            <a:extLst>
              <a:ext uri="{FF2B5EF4-FFF2-40B4-BE49-F238E27FC236}">
                <a16:creationId xmlns:a16="http://schemas.microsoft.com/office/drawing/2014/main" id="{3067B551-20D8-1C0B-7FC7-5E88E170C076}"/>
              </a:ext>
            </a:extLst>
          </p:cNvPr>
          <p:cNvSpPr txBox="1"/>
          <p:nvPr/>
        </p:nvSpPr>
        <p:spPr>
          <a:xfrm>
            <a:off x="1104900" y="1331763"/>
            <a:ext cx="6100548" cy="369332"/>
          </a:xfrm>
          <a:prstGeom prst="rect">
            <a:avLst/>
          </a:prstGeom>
          <a:noFill/>
        </p:spPr>
        <p:txBody>
          <a:bodyPr wrap="square">
            <a:spAutoFit/>
          </a:bodyPr>
          <a:lstStyle/>
          <a:p>
            <a:r>
              <a:rPr lang="zh-CN" altLang="en-US" b="0" i="0" dirty="0">
                <a:solidFill>
                  <a:srgbClr val="262625"/>
                </a:solidFill>
                <a:effectLst/>
                <a:latin typeface="Times New Roman" panose="02020603050405020304" pitchFamily="18" charset="0"/>
              </a:rPr>
              <a:t>构造方法的固定命名是 </a:t>
            </a:r>
            <a:r>
              <a:rPr lang="en-US" altLang="zh-CN" dirty="0">
                <a:solidFill>
                  <a:srgbClr val="C00000"/>
                </a:solidFill>
              </a:rPr>
              <a:t>__</a:t>
            </a:r>
            <a:r>
              <a:rPr lang="en-US" dirty="0" err="1">
                <a:solidFill>
                  <a:srgbClr val="C00000"/>
                </a:solidFill>
              </a:rPr>
              <a:t>init</a:t>
            </a:r>
            <a:r>
              <a:rPr lang="en-US" dirty="0">
                <a:solidFill>
                  <a:srgbClr val="C00000"/>
                </a:solidFill>
              </a:rPr>
              <a:t>__(</a:t>
            </a:r>
            <a:r>
              <a:rPr lang="zh-CN" altLang="en-US" dirty="0">
                <a:solidFill>
                  <a:srgbClr val="C00000"/>
                </a:solidFill>
              </a:rPr>
              <a:t>参数列表</a:t>
            </a:r>
            <a:r>
              <a:rPr lang="en-US" altLang="zh-CN" dirty="0">
                <a:solidFill>
                  <a:srgbClr val="C00000"/>
                </a:solidFill>
              </a:rPr>
              <a:t>)</a:t>
            </a:r>
            <a:endParaRPr lang="zh-CN" altLang="en-US" dirty="0">
              <a:solidFill>
                <a:srgbClr val="C00000"/>
              </a:solidFill>
            </a:endParaRPr>
          </a:p>
        </p:txBody>
      </p:sp>
    </p:spTree>
    <p:extLst>
      <p:ext uri="{BB962C8B-B14F-4D97-AF65-F5344CB8AC3E}">
        <p14:creationId xmlns:p14="http://schemas.microsoft.com/office/powerpoint/2010/main" val="4081383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CBA79-EC79-4AFC-3D9C-6CBBBE406627}"/>
              </a:ext>
            </a:extLst>
          </p:cNvPr>
          <p:cNvSpPr>
            <a:spLocks noGrp="1"/>
          </p:cNvSpPr>
          <p:nvPr>
            <p:ph type="title"/>
          </p:nvPr>
        </p:nvSpPr>
        <p:spPr/>
        <p:txBody>
          <a:bodyPr/>
          <a:lstStyle/>
          <a:p>
            <a:r>
              <a:rPr kumimoji="1" lang="zh-CN" altLang="en-US" dirty="0">
                <a:solidFill>
                  <a:srgbClr val="0432FF"/>
                </a:solidFill>
                <a:latin typeface="Microsoft YaHei" panose="020B0503020204020204" pitchFamily="34" charset="-122"/>
                <a:ea typeface="Microsoft YaHei" panose="020B0503020204020204" pitchFamily="34" charset="-122"/>
              </a:rPr>
              <a:t>（</a:t>
            </a:r>
            <a:r>
              <a:rPr kumimoji="1" lang="en-US" altLang="zh-CN" dirty="0">
                <a:solidFill>
                  <a:srgbClr val="0432FF"/>
                </a:solidFill>
                <a:latin typeface="Microsoft YaHei" panose="020B0503020204020204" pitchFamily="34" charset="-122"/>
                <a:ea typeface="Microsoft YaHei" panose="020B0503020204020204" pitchFamily="34" charset="-122"/>
              </a:rPr>
              <a:t>5</a:t>
            </a:r>
            <a:r>
              <a:rPr kumimoji="1" lang="zh-CN" altLang="en-US" dirty="0">
                <a:solidFill>
                  <a:srgbClr val="0432FF"/>
                </a:solidFill>
                <a:latin typeface="Microsoft YaHei" panose="020B0503020204020204" pitchFamily="34" charset="-122"/>
                <a:ea typeface="Microsoft YaHei" panose="020B0503020204020204" pitchFamily="34" charset="-122"/>
              </a:rPr>
              <a:t>）析构方法</a:t>
            </a:r>
          </a:p>
        </p:txBody>
      </p:sp>
      <p:pic>
        <p:nvPicPr>
          <p:cNvPr id="3" name="Picture 2">
            <a:extLst>
              <a:ext uri="{FF2B5EF4-FFF2-40B4-BE49-F238E27FC236}">
                <a16:creationId xmlns:a16="http://schemas.microsoft.com/office/drawing/2014/main" id="{11857322-77CA-3152-1AFF-147A3224F912}"/>
              </a:ext>
            </a:extLst>
          </p:cNvPr>
          <p:cNvPicPr>
            <a:picLocks noChangeAspect="1"/>
          </p:cNvPicPr>
          <p:nvPr/>
        </p:nvPicPr>
        <p:blipFill>
          <a:blip r:embed="rId2"/>
          <a:stretch>
            <a:fillRect/>
          </a:stretch>
        </p:blipFill>
        <p:spPr>
          <a:xfrm>
            <a:off x="1279856" y="2105546"/>
            <a:ext cx="6502400" cy="3302000"/>
          </a:xfrm>
          <a:prstGeom prst="rect">
            <a:avLst/>
          </a:prstGeom>
          <a:effectLst>
            <a:outerShdw blurRad="63500" sx="102000" sy="102000" algn="ctr" rotWithShape="0">
              <a:prstClr val="black">
                <a:alpha val="40000"/>
              </a:prstClr>
            </a:outerShdw>
          </a:effectLst>
        </p:spPr>
      </p:pic>
      <p:sp>
        <p:nvSpPr>
          <p:cNvPr id="5" name="TextBox 4">
            <a:extLst>
              <a:ext uri="{FF2B5EF4-FFF2-40B4-BE49-F238E27FC236}">
                <a16:creationId xmlns:a16="http://schemas.microsoft.com/office/drawing/2014/main" id="{241F18B7-7D18-E363-CD6F-528BCE7729DE}"/>
              </a:ext>
            </a:extLst>
          </p:cNvPr>
          <p:cNvSpPr txBox="1"/>
          <p:nvPr/>
        </p:nvSpPr>
        <p:spPr>
          <a:xfrm>
            <a:off x="1480782" y="1570694"/>
            <a:ext cx="6100548" cy="369332"/>
          </a:xfrm>
          <a:prstGeom prst="rect">
            <a:avLst/>
          </a:prstGeom>
          <a:noFill/>
        </p:spPr>
        <p:txBody>
          <a:bodyPr wrap="square">
            <a:spAutoFit/>
          </a:bodyPr>
          <a:lstStyle/>
          <a:p>
            <a:r>
              <a:rPr lang="zh-CN" altLang="en-US" b="0" i="0" dirty="0">
                <a:solidFill>
                  <a:srgbClr val="262625"/>
                </a:solidFill>
                <a:effectLst/>
                <a:latin typeface="Times New Roman" panose="02020603050405020304" pitchFamily="18" charset="0"/>
              </a:rPr>
              <a:t>析构方法在 </a:t>
            </a:r>
            <a:r>
              <a:rPr lang="en-US" b="0" i="0" dirty="0">
                <a:solidFill>
                  <a:srgbClr val="262625"/>
                </a:solidFill>
                <a:effectLst/>
                <a:latin typeface="Times New Roman" panose="02020603050405020304" pitchFamily="18" charset="0"/>
              </a:rPr>
              <a:t>Python </a:t>
            </a:r>
            <a:r>
              <a:rPr lang="zh-CN" altLang="en-US" b="0" i="0" dirty="0">
                <a:solidFill>
                  <a:srgbClr val="262625"/>
                </a:solidFill>
                <a:effectLst/>
                <a:latin typeface="Times New Roman" panose="02020603050405020304" pitchFamily="18" charset="0"/>
              </a:rPr>
              <a:t>中有一个特定的名称：</a:t>
            </a:r>
            <a:r>
              <a:rPr lang="en-US" altLang="zh-CN" dirty="0">
                <a:solidFill>
                  <a:srgbClr val="C00000"/>
                </a:solidFill>
              </a:rPr>
              <a:t>__</a:t>
            </a:r>
            <a:r>
              <a:rPr lang="en-US" dirty="0">
                <a:solidFill>
                  <a:srgbClr val="C00000"/>
                </a:solidFill>
              </a:rPr>
              <a:t>del__()</a:t>
            </a:r>
            <a:r>
              <a:rPr lang="en-US" b="0" i="0" dirty="0">
                <a:solidFill>
                  <a:srgbClr val="262625"/>
                </a:solidFill>
                <a:effectLst/>
                <a:latin typeface="Times New Roman" panose="02020603050405020304" pitchFamily="18" charset="0"/>
              </a:rPr>
              <a:t>。</a:t>
            </a:r>
            <a:endParaRPr lang="zh-CN" altLang="en-US" dirty="0"/>
          </a:p>
        </p:txBody>
      </p:sp>
      <p:pic>
        <p:nvPicPr>
          <p:cNvPr id="6" name="Picture 5">
            <a:extLst>
              <a:ext uri="{FF2B5EF4-FFF2-40B4-BE49-F238E27FC236}">
                <a16:creationId xmlns:a16="http://schemas.microsoft.com/office/drawing/2014/main" id="{F839CBC0-F741-78D0-87AF-8CEA7E5B2BBC}"/>
              </a:ext>
            </a:extLst>
          </p:cNvPr>
          <p:cNvPicPr>
            <a:picLocks noChangeAspect="1"/>
          </p:cNvPicPr>
          <p:nvPr/>
        </p:nvPicPr>
        <p:blipFill>
          <a:blip r:embed="rId3"/>
          <a:stretch>
            <a:fillRect/>
          </a:stretch>
        </p:blipFill>
        <p:spPr>
          <a:xfrm>
            <a:off x="6095241" y="3025230"/>
            <a:ext cx="5715000" cy="33147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640337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36D7B-A08C-65B3-8AAC-EAD5AC34A2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A3232B-B713-011C-8D1B-32F00A22D24A}"/>
              </a:ext>
            </a:extLst>
          </p:cNvPr>
          <p:cNvSpPr>
            <a:spLocks noGrp="1"/>
          </p:cNvSpPr>
          <p:nvPr>
            <p:ph type="title"/>
          </p:nvPr>
        </p:nvSpPr>
        <p:spPr/>
        <p:txBody>
          <a:bodyPr/>
          <a:lstStyle/>
          <a:p>
            <a:r>
              <a:rPr kumimoji="1" lang="zh-CN" altLang="en-US" dirty="0">
                <a:solidFill>
                  <a:srgbClr val="0432FF"/>
                </a:solidFill>
                <a:latin typeface="Microsoft YaHei" panose="020B0503020204020204" pitchFamily="34" charset="-122"/>
                <a:ea typeface="Microsoft YaHei" panose="020B0503020204020204" pitchFamily="34" charset="-122"/>
              </a:rPr>
              <a:t>（</a:t>
            </a:r>
            <a:r>
              <a:rPr kumimoji="1" lang="en-US" altLang="zh-CN" dirty="0">
                <a:solidFill>
                  <a:srgbClr val="0432FF"/>
                </a:solidFill>
                <a:latin typeface="Microsoft YaHei" panose="020B0503020204020204" pitchFamily="34" charset="-122"/>
                <a:ea typeface="Microsoft YaHei" panose="020B0503020204020204" pitchFamily="34" charset="-122"/>
              </a:rPr>
              <a:t>6</a:t>
            </a:r>
            <a:r>
              <a:rPr kumimoji="1" lang="zh-CN" altLang="en-US" dirty="0">
                <a:solidFill>
                  <a:srgbClr val="0432FF"/>
                </a:solidFill>
                <a:latin typeface="Microsoft YaHei" panose="020B0503020204020204" pitchFamily="34" charset="-122"/>
                <a:ea typeface="Microsoft YaHei" panose="020B0503020204020204" pitchFamily="34" charset="-122"/>
              </a:rPr>
              <a:t>）私有方法</a:t>
            </a:r>
          </a:p>
        </p:txBody>
      </p:sp>
      <p:sp>
        <p:nvSpPr>
          <p:cNvPr id="7" name="TextBox 6">
            <a:extLst>
              <a:ext uri="{FF2B5EF4-FFF2-40B4-BE49-F238E27FC236}">
                <a16:creationId xmlns:a16="http://schemas.microsoft.com/office/drawing/2014/main" id="{9B9BB840-C352-0AA7-5B24-6E111248D612}"/>
              </a:ext>
            </a:extLst>
          </p:cNvPr>
          <p:cNvSpPr txBox="1"/>
          <p:nvPr/>
        </p:nvSpPr>
        <p:spPr>
          <a:xfrm>
            <a:off x="1104899" y="1407663"/>
            <a:ext cx="6950529" cy="369332"/>
          </a:xfrm>
          <a:prstGeom prst="rect">
            <a:avLst/>
          </a:prstGeom>
          <a:noFill/>
        </p:spPr>
        <p:txBody>
          <a:bodyPr wrap="square">
            <a:spAutoFit/>
          </a:bodyPr>
          <a:lstStyle/>
          <a:p>
            <a:r>
              <a:rPr lang="zh-CN" altLang="en-US" b="0" i="0" dirty="0">
                <a:solidFill>
                  <a:srgbClr val="262625"/>
                </a:solidFill>
                <a:effectLst/>
                <a:latin typeface="Times New Roman" panose="02020603050405020304" pitchFamily="18" charset="0"/>
              </a:rPr>
              <a:t>私有方法的语法格式是通过在方法名前加双下划线 “</a:t>
            </a:r>
            <a:r>
              <a:rPr lang="en-US" altLang="zh-CN" b="0" i="0" dirty="0">
                <a:solidFill>
                  <a:srgbClr val="6E6B5E"/>
                </a:solidFill>
                <a:effectLst/>
                <a:latin typeface="Courier New" panose="02070309020205020404" pitchFamily="49" charset="0"/>
              </a:rPr>
              <a:t>__</a:t>
            </a:r>
            <a:r>
              <a:rPr lang="zh-CN" altLang="en-US" b="0" i="0" dirty="0">
                <a:solidFill>
                  <a:srgbClr val="262625"/>
                </a:solidFill>
                <a:effectLst/>
                <a:latin typeface="Times New Roman" panose="02020603050405020304" pitchFamily="18" charset="0"/>
              </a:rPr>
              <a:t>” 来实现的</a:t>
            </a:r>
            <a:endParaRPr lang="zh-CN" altLang="en-US" dirty="0"/>
          </a:p>
        </p:txBody>
      </p:sp>
      <p:pic>
        <p:nvPicPr>
          <p:cNvPr id="8" name="Picture 7">
            <a:extLst>
              <a:ext uri="{FF2B5EF4-FFF2-40B4-BE49-F238E27FC236}">
                <a16:creationId xmlns:a16="http://schemas.microsoft.com/office/drawing/2014/main" id="{23BCBD20-5AAB-72D2-EC8F-D380C460B646}"/>
              </a:ext>
            </a:extLst>
          </p:cNvPr>
          <p:cNvPicPr>
            <a:picLocks noChangeAspect="1"/>
          </p:cNvPicPr>
          <p:nvPr/>
        </p:nvPicPr>
        <p:blipFill>
          <a:blip r:embed="rId2"/>
          <a:stretch>
            <a:fillRect/>
          </a:stretch>
        </p:blipFill>
        <p:spPr>
          <a:xfrm>
            <a:off x="1413328" y="1860550"/>
            <a:ext cx="3073400" cy="1003300"/>
          </a:xfrm>
          <a:prstGeom prst="rect">
            <a:avLst/>
          </a:prstGeom>
        </p:spPr>
      </p:pic>
      <p:pic>
        <p:nvPicPr>
          <p:cNvPr id="9" name="Picture 8">
            <a:extLst>
              <a:ext uri="{FF2B5EF4-FFF2-40B4-BE49-F238E27FC236}">
                <a16:creationId xmlns:a16="http://schemas.microsoft.com/office/drawing/2014/main" id="{764C702E-C8EB-4C98-5121-4E936F7B9EFB}"/>
              </a:ext>
            </a:extLst>
          </p:cNvPr>
          <p:cNvPicPr>
            <a:picLocks noChangeAspect="1"/>
          </p:cNvPicPr>
          <p:nvPr/>
        </p:nvPicPr>
        <p:blipFill>
          <a:blip r:embed="rId3"/>
          <a:stretch>
            <a:fillRect/>
          </a:stretch>
        </p:blipFill>
        <p:spPr>
          <a:xfrm>
            <a:off x="5421382" y="1860550"/>
            <a:ext cx="5664200" cy="4368800"/>
          </a:xfrm>
          <a:prstGeom prst="rect">
            <a:avLst/>
          </a:prstGeom>
        </p:spPr>
      </p:pic>
      <p:sp>
        <p:nvSpPr>
          <p:cNvPr id="11" name="TextBox 10">
            <a:extLst>
              <a:ext uri="{FF2B5EF4-FFF2-40B4-BE49-F238E27FC236}">
                <a16:creationId xmlns:a16="http://schemas.microsoft.com/office/drawing/2014/main" id="{4758009B-6ED3-9469-71CB-6AA68F5D7F14}"/>
              </a:ext>
            </a:extLst>
          </p:cNvPr>
          <p:cNvSpPr txBox="1"/>
          <p:nvPr/>
        </p:nvSpPr>
        <p:spPr>
          <a:xfrm>
            <a:off x="783771" y="3429000"/>
            <a:ext cx="4561411" cy="171572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b="0" i="0" dirty="0">
                <a:solidFill>
                  <a:srgbClr val="262625"/>
                </a:solidFill>
                <a:effectLst/>
                <a:latin typeface="Times New Roman" panose="02020603050405020304" pitchFamily="18" charset="0"/>
              </a:rPr>
              <a:t>访问私有方法只能在类的内部进行，且其调用方式与访问实例方法相同，</a:t>
            </a:r>
            <a:endParaRPr lang="en-US" altLang="zh-CN" b="0" i="0" dirty="0">
              <a:solidFill>
                <a:srgbClr val="262625"/>
              </a:solidFill>
              <a:effectLst/>
              <a:latin typeface="Times New Roman" panose="02020603050405020304" pitchFamily="18" charset="0"/>
            </a:endParaRPr>
          </a:p>
          <a:p>
            <a:pPr marL="285750" indent="-285750">
              <a:lnSpc>
                <a:spcPct val="150000"/>
              </a:lnSpc>
              <a:buFont typeface="Arial" panose="020B0604020202020204" pitchFamily="34" charset="0"/>
              <a:buChar char="•"/>
            </a:pPr>
            <a:r>
              <a:rPr lang="zh-CN" altLang="en-US" b="0" i="0" dirty="0">
                <a:solidFill>
                  <a:srgbClr val="262625"/>
                </a:solidFill>
                <a:effectLst/>
                <a:latin typeface="Times New Roman" panose="02020603050405020304" pitchFamily="18" charset="0"/>
              </a:rPr>
              <a:t>都是通过</a:t>
            </a:r>
            <a:r>
              <a:rPr lang="zh-CN" altLang="en-US" b="0" i="0" dirty="0">
                <a:solidFill>
                  <a:srgbClr val="0432FF"/>
                </a:solidFill>
                <a:effectLst/>
                <a:latin typeface="Times New Roman" panose="02020603050405020304" pitchFamily="18" charset="0"/>
              </a:rPr>
              <a:t> </a:t>
            </a:r>
            <a:r>
              <a:rPr lang="en-US" b="0" i="0" dirty="0">
                <a:solidFill>
                  <a:srgbClr val="0432FF"/>
                </a:solidFill>
                <a:effectLst/>
                <a:latin typeface="Courier New" panose="02070309020205020404" pitchFamily="49" charset="0"/>
              </a:rPr>
              <a:t>self.__</a:t>
            </a:r>
            <a:r>
              <a:rPr lang="zh-CN" altLang="en-US" b="0" i="0" dirty="0">
                <a:solidFill>
                  <a:srgbClr val="0432FF"/>
                </a:solidFill>
                <a:effectLst/>
                <a:latin typeface="Courier New" panose="02070309020205020404" pitchFamily="49" charset="0"/>
              </a:rPr>
              <a:t>方法名</a:t>
            </a:r>
            <a:r>
              <a:rPr lang="en-US" altLang="zh-CN" b="0" i="0" dirty="0">
                <a:solidFill>
                  <a:srgbClr val="0432FF"/>
                </a:solidFill>
                <a:effectLst/>
                <a:latin typeface="Courier New" panose="02070309020205020404" pitchFamily="49" charset="0"/>
              </a:rPr>
              <a:t>(</a:t>
            </a:r>
            <a:r>
              <a:rPr lang="zh-CN" altLang="en-US" b="0" i="0" dirty="0">
                <a:solidFill>
                  <a:srgbClr val="0432FF"/>
                </a:solidFill>
                <a:effectLst/>
                <a:latin typeface="Courier New" panose="02070309020205020404" pitchFamily="49" charset="0"/>
              </a:rPr>
              <a:t>方法参数</a:t>
            </a:r>
            <a:r>
              <a:rPr lang="en-US" altLang="zh-CN" b="0" i="0" dirty="0">
                <a:solidFill>
                  <a:srgbClr val="0432FF"/>
                </a:solidFill>
                <a:effectLst/>
                <a:latin typeface="Courier New" panose="02070309020205020404" pitchFamily="49" charset="0"/>
              </a:rPr>
              <a:t>)</a:t>
            </a:r>
            <a:r>
              <a:rPr lang="zh-CN" altLang="en-US" b="0" i="0" dirty="0">
                <a:solidFill>
                  <a:srgbClr val="0432FF"/>
                </a:solidFill>
                <a:effectLst/>
                <a:latin typeface="Times New Roman" panose="02020603050405020304" pitchFamily="18" charset="0"/>
              </a:rPr>
              <a:t> </a:t>
            </a:r>
            <a:r>
              <a:rPr lang="zh-CN" altLang="en-US" b="0" i="0" dirty="0">
                <a:solidFill>
                  <a:srgbClr val="262625"/>
                </a:solidFill>
                <a:effectLst/>
                <a:latin typeface="Times New Roman" panose="02020603050405020304" pitchFamily="18" charset="0"/>
              </a:rPr>
              <a:t>语句来进行。</a:t>
            </a:r>
            <a:endParaRPr lang="zh-CN" altLang="en-US" dirty="0"/>
          </a:p>
        </p:txBody>
      </p:sp>
    </p:spTree>
    <p:extLst>
      <p:ext uri="{BB962C8B-B14F-4D97-AF65-F5344CB8AC3E}">
        <p14:creationId xmlns:p14="http://schemas.microsoft.com/office/powerpoint/2010/main" val="383285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8FD0C-8E31-C7C7-44C4-A1533D5F11FA}"/>
              </a:ext>
            </a:extLst>
          </p:cNvPr>
          <p:cNvSpPr>
            <a:spLocks noGrp="1"/>
          </p:cNvSpPr>
          <p:nvPr>
            <p:ph type="title"/>
          </p:nvPr>
        </p:nvSpPr>
        <p:spPr/>
        <p:txBody>
          <a:bodyPr/>
          <a:lstStyle/>
          <a:p>
            <a:r>
              <a:rPr kumimoji="1" lang="zh-CN" altLang="en-US" dirty="0">
                <a:solidFill>
                  <a:srgbClr val="0432FF"/>
                </a:solidFill>
                <a:latin typeface="Microsoft YaHei" panose="020B0503020204020204" pitchFamily="34" charset="-122"/>
                <a:ea typeface="Microsoft YaHei" panose="020B0503020204020204" pitchFamily="34" charset="-122"/>
              </a:rPr>
              <a:t>（</a:t>
            </a:r>
            <a:r>
              <a:rPr kumimoji="1" lang="en-US" altLang="zh-CN" dirty="0">
                <a:solidFill>
                  <a:srgbClr val="0432FF"/>
                </a:solidFill>
                <a:latin typeface="Microsoft YaHei" panose="020B0503020204020204" pitchFamily="34" charset="-122"/>
                <a:ea typeface="Microsoft YaHei" panose="020B0503020204020204" pitchFamily="34" charset="-122"/>
              </a:rPr>
              <a:t>7</a:t>
            </a:r>
            <a:r>
              <a:rPr kumimoji="1" lang="zh-CN" altLang="en-US" dirty="0">
                <a:solidFill>
                  <a:srgbClr val="0432FF"/>
                </a:solidFill>
                <a:latin typeface="Microsoft YaHei" panose="020B0503020204020204" pitchFamily="34" charset="-122"/>
                <a:ea typeface="Microsoft YaHei" panose="020B0503020204020204" pitchFamily="34" charset="-122"/>
              </a:rPr>
              <a:t>）魔术方法</a:t>
            </a:r>
            <a:endParaRPr kumimoji="1" lang="zh-CN" altLang="en-US" dirty="0"/>
          </a:p>
        </p:txBody>
      </p:sp>
      <p:sp>
        <p:nvSpPr>
          <p:cNvPr id="4" name="TextBox 3">
            <a:extLst>
              <a:ext uri="{FF2B5EF4-FFF2-40B4-BE49-F238E27FC236}">
                <a16:creationId xmlns:a16="http://schemas.microsoft.com/office/drawing/2014/main" id="{4C121FEB-9D07-B06D-02F2-D260E8606226}"/>
              </a:ext>
            </a:extLst>
          </p:cNvPr>
          <p:cNvSpPr txBox="1"/>
          <p:nvPr/>
        </p:nvSpPr>
        <p:spPr>
          <a:xfrm>
            <a:off x="979713" y="1445251"/>
            <a:ext cx="4408716" cy="3738909"/>
          </a:xfrm>
          <a:prstGeom prst="rect">
            <a:avLst/>
          </a:prstGeom>
          <a:noFill/>
        </p:spPr>
        <p:txBody>
          <a:bodyPr wrap="square">
            <a:spAutoFit/>
          </a:bodyPr>
          <a:lstStyle/>
          <a:p>
            <a:pPr algn="l">
              <a:lnSpc>
                <a:spcPct val="150000"/>
              </a:lnSpc>
            </a:pPr>
            <a:r>
              <a:rPr lang="zh-CN" altLang="en-US" sz="1600" b="1" i="0" dirty="0">
                <a:solidFill>
                  <a:srgbClr val="262625"/>
                </a:solidFill>
                <a:effectLst/>
                <a:latin typeface="Times New Roman" panose="02020603050405020304" pitchFamily="18" charset="0"/>
              </a:rPr>
              <a:t>对象表示方法</a:t>
            </a:r>
            <a:r>
              <a:rPr lang="zh-CN" altLang="en-US" sz="1600" b="0" i="0" dirty="0">
                <a:solidFill>
                  <a:srgbClr val="262625"/>
                </a:solidFill>
                <a:effectLst/>
                <a:latin typeface="Times New Roman" panose="02020603050405020304" pitchFamily="18" charset="0"/>
              </a:rPr>
              <a:t>：用于定义对象在某些场景下的字符串表示形式。</a:t>
            </a:r>
          </a:p>
          <a:p>
            <a:pPr marL="742950" lvl="1" indent="-285750" algn="l">
              <a:lnSpc>
                <a:spcPct val="150000"/>
              </a:lnSpc>
              <a:buFont typeface="Arial" panose="020B0604020202020204" pitchFamily="34" charset="0"/>
              <a:buChar char="•"/>
            </a:pPr>
            <a:r>
              <a:rPr lang="en-US" altLang="zh-CN" sz="1600" b="1" i="0" dirty="0">
                <a:solidFill>
                  <a:srgbClr val="0432FF"/>
                </a:solidFill>
                <a:effectLst/>
                <a:latin typeface="Courier New" panose="02070309020205020404" pitchFamily="49" charset="0"/>
              </a:rPr>
              <a:t>__</a:t>
            </a:r>
            <a:r>
              <a:rPr lang="en-US" sz="1600" b="1" i="0" dirty="0">
                <a:solidFill>
                  <a:srgbClr val="0432FF"/>
                </a:solidFill>
                <a:effectLst/>
                <a:latin typeface="Courier New" panose="02070309020205020404" pitchFamily="49" charset="0"/>
              </a:rPr>
              <a:t>str__(self)</a:t>
            </a:r>
            <a:r>
              <a:rPr lang="en-US" sz="1600" b="0" i="0" dirty="0">
                <a:solidFill>
                  <a:srgbClr val="262625"/>
                </a:solidFill>
                <a:effectLst/>
                <a:latin typeface="Times New Roman" panose="02020603050405020304" pitchFamily="18" charset="0"/>
              </a:rPr>
              <a:t>：</a:t>
            </a:r>
            <a:r>
              <a:rPr lang="zh-CN" altLang="en-US" sz="1600" b="0" i="0" dirty="0">
                <a:solidFill>
                  <a:srgbClr val="262625"/>
                </a:solidFill>
                <a:effectLst/>
                <a:latin typeface="Times New Roman" panose="02020603050405020304" pitchFamily="18" charset="0"/>
              </a:rPr>
              <a:t>用于定义当对象被转换为字符串时的表现形式，例如被 </a:t>
            </a:r>
            <a:r>
              <a:rPr lang="en-US" sz="1600" b="0" i="0" dirty="0">
                <a:solidFill>
                  <a:srgbClr val="6E6B5E"/>
                </a:solidFill>
                <a:effectLst/>
                <a:latin typeface="Courier New" panose="02070309020205020404" pitchFamily="49" charset="0"/>
              </a:rPr>
              <a:t>str()</a:t>
            </a:r>
            <a:r>
              <a:rPr lang="en-US" sz="1600" b="0" i="0" dirty="0">
                <a:solidFill>
                  <a:srgbClr val="262625"/>
                </a:solidFill>
                <a:effectLst/>
                <a:latin typeface="Times New Roman" panose="02020603050405020304" pitchFamily="18" charset="0"/>
              </a:rPr>
              <a:t> </a:t>
            </a:r>
            <a:r>
              <a:rPr lang="zh-CN" altLang="en-US" sz="1600" b="0" i="0" dirty="0">
                <a:solidFill>
                  <a:srgbClr val="262625"/>
                </a:solidFill>
                <a:effectLst/>
                <a:latin typeface="Times New Roman" panose="02020603050405020304" pitchFamily="18" charset="0"/>
              </a:rPr>
              <a:t>函数调用或在 </a:t>
            </a:r>
            <a:r>
              <a:rPr lang="en-US" sz="1600" b="0" i="0" dirty="0">
                <a:solidFill>
                  <a:srgbClr val="6E6B5E"/>
                </a:solidFill>
                <a:effectLst/>
                <a:latin typeface="Courier New" panose="02070309020205020404" pitchFamily="49" charset="0"/>
              </a:rPr>
              <a:t>print()</a:t>
            </a:r>
            <a:r>
              <a:rPr lang="en-US" sz="1600" b="0" i="0" dirty="0">
                <a:solidFill>
                  <a:srgbClr val="262625"/>
                </a:solidFill>
                <a:effectLst/>
                <a:latin typeface="Times New Roman" panose="02020603050405020304" pitchFamily="18" charset="0"/>
              </a:rPr>
              <a:t> </a:t>
            </a:r>
            <a:r>
              <a:rPr lang="zh-CN" altLang="en-US" sz="1600" b="0" i="0" dirty="0">
                <a:solidFill>
                  <a:srgbClr val="262625"/>
                </a:solidFill>
                <a:effectLst/>
                <a:latin typeface="Times New Roman" panose="02020603050405020304" pitchFamily="18" charset="0"/>
              </a:rPr>
              <a:t>中输出时。</a:t>
            </a:r>
          </a:p>
          <a:p>
            <a:pPr marL="742950" lvl="1" indent="-285750" algn="l">
              <a:lnSpc>
                <a:spcPct val="150000"/>
              </a:lnSpc>
              <a:buFont typeface="Arial" panose="020B0604020202020204" pitchFamily="34" charset="0"/>
              <a:buChar char="•"/>
            </a:pPr>
            <a:r>
              <a:rPr lang="en-US" altLang="zh-CN" sz="1600" b="1" i="0" dirty="0">
                <a:solidFill>
                  <a:srgbClr val="0432FF"/>
                </a:solidFill>
                <a:effectLst/>
                <a:latin typeface="Courier New" panose="02070309020205020404" pitchFamily="49" charset="0"/>
              </a:rPr>
              <a:t>__</a:t>
            </a:r>
            <a:r>
              <a:rPr lang="en-US" sz="1600" b="1" i="0" dirty="0" err="1">
                <a:solidFill>
                  <a:srgbClr val="0432FF"/>
                </a:solidFill>
                <a:effectLst/>
                <a:latin typeface="Courier New" panose="02070309020205020404" pitchFamily="49" charset="0"/>
              </a:rPr>
              <a:t>repr</a:t>
            </a:r>
            <a:r>
              <a:rPr lang="en-US" sz="1600" b="1" i="0" dirty="0">
                <a:solidFill>
                  <a:srgbClr val="0432FF"/>
                </a:solidFill>
                <a:effectLst/>
                <a:latin typeface="Courier New" panose="02070309020205020404" pitchFamily="49" charset="0"/>
              </a:rPr>
              <a:t>__(self)</a:t>
            </a:r>
            <a:r>
              <a:rPr lang="en-US" sz="1600" b="0" i="0" dirty="0">
                <a:solidFill>
                  <a:srgbClr val="262625"/>
                </a:solidFill>
                <a:effectLst/>
                <a:latin typeface="Times New Roman" panose="02020603050405020304" pitchFamily="18" charset="0"/>
              </a:rPr>
              <a:t>：</a:t>
            </a:r>
            <a:r>
              <a:rPr lang="zh-CN" altLang="en-US" sz="1600" b="0" i="0" dirty="0">
                <a:solidFill>
                  <a:srgbClr val="262625"/>
                </a:solidFill>
                <a:effectLst/>
                <a:latin typeface="Times New Roman" panose="02020603050405020304" pitchFamily="18" charset="0"/>
              </a:rPr>
              <a:t>定义对象在调试或交互式环境（例如 </a:t>
            </a:r>
            <a:r>
              <a:rPr lang="en-US" sz="1600" b="0" i="0" dirty="0">
                <a:solidFill>
                  <a:srgbClr val="262625"/>
                </a:solidFill>
                <a:effectLst/>
                <a:latin typeface="Times New Roman" panose="02020603050405020304" pitchFamily="18" charset="0"/>
              </a:rPr>
              <a:t>REPL）</a:t>
            </a:r>
            <a:r>
              <a:rPr lang="zh-CN" altLang="en-US" sz="1600" b="0" i="0" dirty="0">
                <a:solidFill>
                  <a:srgbClr val="262625"/>
                </a:solidFill>
                <a:effectLst/>
                <a:latin typeface="Times New Roman" panose="02020603050405020304" pitchFamily="18" charset="0"/>
              </a:rPr>
              <a:t>中输出的字符串表示形式，或者在 </a:t>
            </a:r>
            <a:r>
              <a:rPr lang="en-US" sz="1600" b="0" i="0" dirty="0" err="1">
                <a:solidFill>
                  <a:srgbClr val="6E6B5E"/>
                </a:solidFill>
                <a:effectLst/>
                <a:latin typeface="Courier New" panose="02070309020205020404" pitchFamily="49" charset="0"/>
              </a:rPr>
              <a:t>repr</a:t>
            </a:r>
            <a:r>
              <a:rPr lang="en-US" sz="1600" b="0" i="0" dirty="0">
                <a:solidFill>
                  <a:srgbClr val="6E6B5E"/>
                </a:solidFill>
                <a:effectLst/>
                <a:latin typeface="Courier New" panose="02070309020205020404" pitchFamily="49" charset="0"/>
              </a:rPr>
              <a:t>()</a:t>
            </a:r>
            <a:r>
              <a:rPr lang="en-US" sz="1600" b="0" i="0" dirty="0">
                <a:solidFill>
                  <a:srgbClr val="262625"/>
                </a:solidFill>
                <a:effectLst/>
                <a:latin typeface="Times New Roman" panose="02020603050405020304" pitchFamily="18" charset="0"/>
              </a:rPr>
              <a:t> </a:t>
            </a:r>
            <a:r>
              <a:rPr lang="zh-CN" altLang="en-US" sz="1600" b="0" i="0" dirty="0">
                <a:solidFill>
                  <a:srgbClr val="262625"/>
                </a:solidFill>
                <a:effectLst/>
                <a:latin typeface="Times New Roman" panose="02020603050405020304" pitchFamily="18" charset="0"/>
              </a:rPr>
              <a:t>函数调用时的表现形式。</a:t>
            </a:r>
          </a:p>
        </p:txBody>
      </p:sp>
      <p:pic>
        <p:nvPicPr>
          <p:cNvPr id="5" name="Picture 4">
            <a:extLst>
              <a:ext uri="{FF2B5EF4-FFF2-40B4-BE49-F238E27FC236}">
                <a16:creationId xmlns:a16="http://schemas.microsoft.com/office/drawing/2014/main" id="{B3CDE085-8E23-030B-5B01-BDD08A64B69F}"/>
              </a:ext>
            </a:extLst>
          </p:cNvPr>
          <p:cNvPicPr>
            <a:picLocks noChangeAspect="1"/>
          </p:cNvPicPr>
          <p:nvPr/>
        </p:nvPicPr>
        <p:blipFill>
          <a:blip r:embed="rId2"/>
          <a:stretch>
            <a:fillRect/>
          </a:stretch>
        </p:blipFill>
        <p:spPr>
          <a:xfrm>
            <a:off x="5388429" y="1381211"/>
            <a:ext cx="6324600" cy="5105400"/>
          </a:xfrm>
          <a:prstGeom prst="rect">
            <a:avLst/>
          </a:prstGeom>
        </p:spPr>
      </p:pic>
    </p:spTree>
    <p:extLst>
      <p:ext uri="{BB962C8B-B14F-4D97-AF65-F5344CB8AC3E}">
        <p14:creationId xmlns:p14="http://schemas.microsoft.com/office/powerpoint/2010/main" val="1188785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59436-929D-2FB0-FDDA-4E25B7D179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B19260-985C-691D-2627-9CD7578D29C3}"/>
              </a:ext>
            </a:extLst>
          </p:cNvPr>
          <p:cNvSpPr>
            <a:spLocks noGrp="1"/>
          </p:cNvSpPr>
          <p:nvPr>
            <p:ph type="title"/>
          </p:nvPr>
        </p:nvSpPr>
        <p:spPr/>
        <p:txBody>
          <a:bodyPr/>
          <a:lstStyle/>
          <a:p>
            <a:r>
              <a:rPr kumimoji="1" lang="zh-CN" altLang="en-US" dirty="0">
                <a:solidFill>
                  <a:srgbClr val="0432FF"/>
                </a:solidFill>
                <a:latin typeface="Microsoft YaHei" panose="020B0503020204020204" pitchFamily="34" charset="-122"/>
                <a:ea typeface="Microsoft YaHei" panose="020B0503020204020204" pitchFamily="34" charset="-122"/>
              </a:rPr>
              <a:t>（</a:t>
            </a:r>
            <a:r>
              <a:rPr kumimoji="1" lang="en-US" altLang="zh-CN" dirty="0">
                <a:solidFill>
                  <a:srgbClr val="0432FF"/>
                </a:solidFill>
                <a:latin typeface="Microsoft YaHei" panose="020B0503020204020204" pitchFamily="34" charset="-122"/>
                <a:ea typeface="Microsoft YaHei" panose="020B0503020204020204" pitchFamily="34" charset="-122"/>
              </a:rPr>
              <a:t>7</a:t>
            </a:r>
            <a:r>
              <a:rPr kumimoji="1" lang="zh-CN" altLang="en-US" dirty="0">
                <a:solidFill>
                  <a:srgbClr val="0432FF"/>
                </a:solidFill>
                <a:latin typeface="Microsoft YaHei" panose="020B0503020204020204" pitchFamily="34" charset="-122"/>
                <a:ea typeface="Microsoft YaHei" panose="020B0503020204020204" pitchFamily="34" charset="-122"/>
              </a:rPr>
              <a:t>）魔术方法</a:t>
            </a:r>
            <a:endParaRPr kumimoji="1" lang="zh-CN" altLang="en-US" dirty="0"/>
          </a:p>
        </p:txBody>
      </p:sp>
      <p:sp>
        <p:nvSpPr>
          <p:cNvPr id="4" name="TextBox 3">
            <a:extLst>
              <a:ext uri="{FF2B5EF4-FFF2-40B4-BE49-F238E27FC236}">
                <a16:creationId xmlns:a16="http://schemas.microsoft.com/office/drawing/2014/main" id="{5934B9D3-0E09-4AC0-AEAA-E62541C45B8E}"/>
              </a:ext>
            </a:extLst>
          </p:cNvPr>
          <p:cNvSpPr txBox="1"/>
          <p:nvPr/>
        </p:nvSpPr>
        <p:spPr>
          <a:xfrm>
            <a:off x="1104900" y="1413870"/>
            <a:ext cx="4305300" cy="3382016"/>
          </a:xfrm>
          <a:prstGeom prst="rect">
            <a:avLst/>
          </a:prstGeom>
          <a:noFill/>
        </p:spPr>
        <p:txBody>
          <a:bodyPr wrap="square">
            <a:spAutoFit/>
          </a:bodyPr>
          <a:lstStyle/>
          <a:p>
            <a:pPr algn="l">
              <a:lnSpc>
                <a:spcPct val="150000"/>
              </a:lnSpc>
            </a:pPr>
            <a:r>
              <a:rPr lang="zh-CN" altLang="en-US" sz="1600" b="1" i="0" dirty="0">
                <a:solidFill>
                  <a:srgbClr val="262625"/>
                </a:solidFill>
                <a:effectLst/>
                <a:latin typeface="Times New Roman" panose="02020603050405020304" pitchFamily="18" charset="0"/>
              </a:rPr>
              <a:t>运算定义方法</a:t>
            </a:r>
            <a:r>
              <a:rPr lang="zh-CN" altLang="en-US" sz="1600" b="0" i="0" dirty="0">
                <a:solidFill>
                  <a:srgbClr val="262625"/>
                </a:solidFill>
                <a:effectLst/>
                <a:latin typeface="Times New Roman" panose="02020603050405020304" pitchFamily="18" charset="0"/>
              </a:rPr>
              <a:t>：用于重载和自定义对象在算术运算、比较运算和位运算中的行为，使自定义类的对象能够参与这些运算并实现特定逻辑。</a:t>
            </a:r>
          </a:p>
          <a:p>
            <a:pPr marL="742950" lvl="1" indent="-285750" algn="l">
              <a:lnSpc>
                <a:spcPct val="150000"/>
              </a:lnSpc>
              <a:buFont typeface="Arial" panose="020B0604020202020204" pitchFamily="34" charset="0"/>
              <a:buChar char="•"/>
            </a:pPr>
            <a:r>
              <a:rPr lang="zh-CN" altLang="en-US" sz="1600" b="0" i="0" dirty="0">
                <a:solidFill>
                  <a:srgbClr val="262625"/>
                </a:solidFill>
                <a:effectLst/>
                <a:latin typeface="Times New Roman" panose="02020603050405020304" pitchFamily="18" charset="0"/>
              </a:rPr>
              <a:t>算术运算，包括：</a:t>
            </a:r>
            <a:br>
              <a:rPr lang="en-US" altLang="zh-CN" sz="1600" b="0" i="0" dirty="0">
                <a:solidFill>
                  <a:srgbClr val="262625"/>
                </a:solidFill>
                <a:effectLst/>
                <a:latin typeface="Times New Roman" panose="02020603050405020304" pitchFamily="18" charset="0"/>
              </a:rPr>
            </a:br>
            <a:r>
              <a:rPr lang="zh-CN" altLang="en-US" sz="1600" b="0" i="0" dirty="0">
                <a:solidFill>
                  <a:srgbClr val="262625"/>
                </a:solidFill>
                <a:effectLst/>
                <a:latin typeface="Times New Roman" panose="02020603050405020304" pitchFamily="18" charset="0"/>
              </a:rPr>
              <a:t> </a:t>
            </a:r>
            <a:r>
              <a:rPr lang="en-US" altLang="zh-CN" sz="1600" b="1" i="0" dirty="0">
                <a:solidFill>
                  <a:srgbClr val="0432FF"/>
                </a:solidFill>
                <a:effectLst/>
                <a:latin typeface="Courier New" panose="02070309020205020404" pitchFamily="49" charset="0"/>
              </a:rPr>
              <a:t>__</a:t>
            </a:r>
            <a:r>
              <a:rPr lang="en-US" sz="1600" b="1" i="0" dirty="0">
                <a:solidFill>
                  <a:srgbClr val="0432FF"/>
                </a:solidFill>
                <a:effectLst/>
                <a:latin typeface="Courier New" panose="02070309020205020404" pitchFamily="49" charset="0"/>
              </a:rPr>
              <a:t>add__</a:t>
            </a:r>
            <a:r>
              <a:rPr lang="en-US" sz="1600" b="1" i="0" dirty="0">
                <a:solidFill>
                  <a:srgbClr val="0432FF"/>
                </a:solidFill>
                <a:effectLst/>
                <a:latin typeface="Times New Roman" panose="02020603050405020304" pitchFamily="18" charset="0"/>
              </a:rPr>
              <a:t>、</a:t>
            </a:r>
            <a:r>
              <a:rPr lang="en-US" sz="1600" b="1" i="0" dirty="0">
                <a:solidFill>
                  <a:srgbClr val="0432FF"/>
                </a:solidFill>
                <a:effectLst/>
                <a:latin typeface="Courier New" panose="02070309020205020404" pitchFamily="49" charset="0"/>
              </a:rPr>
              <a:t>__sub__</a:t>
            </a:r>
            <a:r>
              <a:rPr lang="en-US" sz="1600" b="1" i="0" dirty="0">
                <a:solidFill>
                  <a:srgbClr val="0432FF"/>
                </a:solidFill>
                <a:effectLst/>
                <a:latin typeface="Times New Roman" panose="02020603050405020304" pitchFamily="18" charset="0"/>
              </a:rPr>
              <a:t>、</a:t>
            </a:r>
            <a:r>
              <a:rPr lang="en-US" sz="1600" b="1" i="0" dirty="0">
                <a:solidFill>
                  <a:srgbClr val="0432FF"/>
                </a:solidFill>
                <a:effectLst/>
                <a:latin typeface="Courier New" panose="02070309020205020404" pitchFamily="49" charset="0"/>
              </a:rPr>
              <a:t>__</a:t>
            </a:r>
            <a:r>
              <a:rPr lang="en-US" sz="1600" b="1" i="0" dirty="0" err="1">
                <a:solidFill>
                  <a:srgbClr val="0432FF"/>
                </a:solidFill>
                <a:effectLst/>
                <a:latin typeface="Courier New" panose="02070309020205020404" pitchFamily="49" charset="0"/>
              </a:rPr>
              <a:t>mul</a:t>
            </a:r>
            <a:r>
              <a:rPr lang="en-US" sz="1600" b="1" i="0" dirty="0">
                <a:solidFill>
                  <a:srgbClr val="0432FF"/>
                </a:solidFill>
                <a:effectLst/>
                <a:latin typeface="Courier New" panose="02070309020205020404" pitchFamily="49" charset="0"/>
              </a:rPr>
              <a:t>__</a:t>
            </a:r>
            <a:r>
              <a:rPr lang="en-US" sz="1600" b="1" i="0" dirty="0">
                <a:solidFill>
                  <a:srgbClr val="0432FF"/>
                </a:solidFill>
                <a:effectLst/>
                <a:latin typeface="Times New Roman" panose="02020603050405020304" pitchFamily="18" charset="0"/>
              </a:rPr>
              <a:t> </a:t>
            </a:r>
            <a:r>
              <a:rPr lang="zh-CN" altLang="en-US" sz="1600" b="0" i="0" dirty="0">
                <a:solidFill>
                  <a:srgbClr val="262625"/>
                </a:solidFill>
                <a:effectLst/>
                <a:latin typeface="Times New Roman" panose="02020603050405020304" pitchFamily="18" charset="0"/>
              </a:rPr>
              <a:t>等。</a:t>
            </a:r>
          </a:p>
          <a:p>
            <a:pPr marL="742950" lvl="1" indent="-285750" algn="l">
              <a:lnSpc>
                <a:spcPct val="150000"/>
              </a:lnSpc>
              <a:buFont typeface="Arial" panose="020B0604020202020204" pitchFamily="34" charset="0"/>
              <a:buChar char="•"/>
            </a:pPr>
            <a:r>
              <a:rPr lang="zh-CN" altLang="en-US" sz="1600" b="0" i="0" dirty="0">
                <a:solidFill>
                  <a:srgbClr val="262625"/>
                </a:solidFill>
                <a:effectLst/>
                <a:latin typeface="Times New Roman" panose="02020603050405020304" pitchFamily="18" charset="0"/>
              </a:rPr>
              <a:t>比较运算，包括：</a:t>
            </a:r>
            <a:br>
              <a:rPr lang="en-US" altLang="zh-CN" sz="1600" b="0" i="0" dirty="0">
                <a:solidFill>
                  <a:srgbClr val="262625"/>
                </a:solidFill>
                <a:effectLst/>
                <a:latin typeface="Times New Roman" panose="02020603050405020304" pitchFamily="18" charset="0"/>
              </a:rPr>
            </a:br>
            <a:r>
              <a:rPr lang="zh-CN" altLang="en-US" sz="1600" b="0" i="0" dirty="0">
                <a:solidFill>
                  <a:srgbClr val="262625"/>
                </a:solidFill>
                <a:effectLst/>
                <a:latin typeface="Times New Roman" panose="02020603050405020304" pitchFamily="18" charset="0"/>
              </a:rPr>
              <a:t> </a:t>
            </a:r>
            <a:r>
              <a:rPr lang="en-US" altLang="zh-CN" sz="1600" b="1" i="0" dirty="0">
                <a:solidFill>
                  <a:srgbClr val="0432FF"/>
                </a:solidFill>
                <a:effectLst/>
                <a:latin typeface="Courier New" panose="02070309020205020404" pitchFamily="49" charset="0"/>
              </a:rPr>
              <a:t>__</a:t>
            </a:r>
            <a:r>
              <a:rPr lang="en-US" sz="1600" b="1" i="0" dirty="0">
                <a:solidFill>
                  <a:srgbClr val="0432FF"/>
                </a:solidFill>
                <a:effectLst/>
                <a:latin typeface="Courier New" panose="02070309020205020404" pitchFamily="49" charset="0"/>
              </a:rPr>
              <a:t>eq__</a:t>
            </a:r>
            <a:r>
              <a:rPr lang="en-US" sz="1600" b="1" i="0" dirty="0">
                <a:solidFill>
                  <a:srgbClr val="0432FF"/>
                </a:solidFill>
                <a:effectLst/>
                <a:latin typeface="Times New Roman" panose="02020603050405020304" pitchFamily="18" charset="0"/>
              </a:rPr>
              <a:t>、</a:t>
            </a:r>
            <a:r>
              <a:rPr lang="en-US" sz="1600" b="1" i="0" dirty="0">
                <a:solidFill>
                  <a:srgbClr val="0432FF"/>
                </a:solidFill>
                <a:effectLst/>
                <a:latin typeface="Courier New" panose="02070309020205020404" pitchFamily="49" charset="0"/>
              </a:rPr>
              <a:t>__ne__</a:t>
            </a:r>
            <a:r>
              <a:rPr lang="en-US" sz="1600" b="1" i="0" dirty="0">
                <a:solidFill>
                  <a:srgbClr val="0432FF"/>
                </a:solidFill>
                <a:effectLst/>
                <a:latin typeface="Times New Roman" panose="02020603050405020304" pitchFamily="18" charset="0"/>
              </a:rPr>
              <a:t>、</a:t>
            </a:r>
            <a:r>
              <a:rPr lang="en-US" sz="1600" b="1" i="0" dirty="0">
                <a:solidFill>
                  <a:srgbClr val="0432FF"/>
                </a:solidFill>
                <a:effectLst/>
                <a:latin typeface="Courier New" panose="02070309020205020404" pitchFamily="49" charset="0"/>
              </a:rPr>
              <a:t>__</a:t>
            </a:r>
            <a:r>
              <a:rPr lang="en-US" sz="1600" b="1" i="0" dirty="0" err="1">
                <a:solidFill>
                  <a:srgbClr val="0432FF"/>
                </a:solidFill>
                <a:effectLst/>
                <a:latin typeface="Courier New" panose="02070309020205020404" pitchFamily="49" charset="0"/>
              </a:rPr>
              <a:t>lt</a:t>
            </a:r>
            <a:r>
              <a:rPr lang="en-US" sz="1600" b="1" i="0" dirty="0">
                <a:solidFill>
                  <a:srgbClr val="0432FF"/>
                </a:solidFill>
                <a:effectLst/>
                <a:latin typeface="Courier New" panose="02070309020205020404" pitchFamily="49" charset="0"/>
              </a:rPr>
              <a:t>__</a:t>
            </a:r>
            <a:r>
              <a:rPr lang="en-US" sz="1600" b="1" i="0" dirty="0">
                <a:solidFill>
                  <a:srgbClr val="0432FF"/>
                </a:solidFill>
                <a:effectLst/>
                <a:latin typeface="Times New Roman" panose="02020603050405020304" pitchFamily="18" charset="0"/>
              </a:rPr>
              <a:t> </a:t>
            </a:r>
            <a:r>
              <a:rPr lang="zh-CN" altLang="en-US" sz="1600" b="0" i="0" dirty="0">
                <a:solidFill>
                  <a:srgbClr val="262625"/>
                </a:solidFill>
                <a:effectLst/>
                <a:latin typeface="Times New Roman" panose="02020603050405020304" pitchFamily="18" charset="0"/>
              </a:rPr>
              <a:t>等。</a:t>
            </a:r>
          </a:p>
          <a:p>
            <a:pPr marL="742950" lvl="1" indent="-285750" algn="l">
              <a:lnSpc>
                <a:spcPct val="150000"/>
              </a:lnSpc>
              <a:buFont typeface="Arial" panose="020B0604020202020204" pitchFamily="34" charset="0"/>
              <a:buChar char="•"/>
            </a:pPr>
            <a:r>
              <a:rPr lang="zh-CN" altLang="en-US" sz="1600" b="0" i="0" dirty="0">
                <a:solidFill>
                  <a:srgbClr val="262625"/>
                </a:solidFill>
                <a:effectLst/>
                <a:latin typeface="Times New Roman" panose="02020603050405020304" pitchFamily="18" charset="0"/>
              </a:rPr>
              <a:t>位运算，包括：</a:t>
            </a:r>
            <a:br>
              <a:rPr lang="en-US" altLang="zh-CN" sz="1600" b="0" i="0" dirty="0">
                <a:solidFill>
                  <a:srgbClr val="262625"/>
                </a:solidFill>
                <a:effectLst/>
                <a:latin typeface="Times New Roman" panose="02020603050405020304" pitchFamily="18" charset="0"/>
              </a:rPr>
            </a:br>
            <a:r>
              <a:rPr lang="zh-CN" altLang="en-US" sz="1600" b="1" i="0" dirty="0">
                <a:solidFill>
                  <a:srgbClr val="0432FF"/>
                </a:solidFill>
                <a:effectLst/>
                <a:latin typeface="Times New Roman" panose="02020603050405020304" pitchFamily="18" charset="0"/>
              </a:rPr>
              <a:t> </a:t>
            </a:r>
            <a:r>
              <a:rPr lang="en-US" altLang="zh-CN" sz="1600" b="1" i="0" dirty="0">
                <a:solidFill>
                  <a:srgbClr val="0432FF"/>
                </a:solidFill>
                <a:effectLst/>
                <a:latin typeface="Courier New" panose="02070309020205020404" pitchFamily="49" charset="0"/>
              </a:rPr>
              <a:t>__</a:t>
            </a:r>
            <a:r>
              <a:rPr lang="en-US" sz="1600" b="1" i="0" dirty="0">
                <a:solidFill>
                  <a:srgbClr val="0432FF"/>
                </a:solidFill>
                <a:effectLst/>
                <a:latin typeface="Courier New" panose="02070309020205020404" pitchFamily="49" charset="0"/>
              </a:rPr>
              <a:t>and__</a:t>
            </a:r>
            <a:r>
              <a:rPr lang="en-US" sz="1600" b="1" i="0" dirty="0">
                <a:solidFill>
                  <a:srgbClr val="0432FF"/>
                </a:solidFill>
                <a:effectLst/>
                <a:latin typeface="Times New Roman" panose="02020603050405020304" pitchFamily="18" charset="0"/>
              </a:rPr>
              <a:t>、</a:t>
            </a:r>
            <a:r>
              <a:rPr lang="en-US" sz="1600" b="1" i="0" dirty="0">
                <a:solidFill>
                  <a:srgbClr val="0432FF"/>
                </a:solidFill>
                <a:effectLst/>
                <a:latin typeface="Courier New" panose="02070309020205020404" pitchFamily="49" charset="0"/>
              </a:rPr>
              <a:t>__or__</a:t>
            </a:r>
            <a:r>
              <a:rPr lang="en-US" sz="1600" b="1" i="0" dirty="0">
                <a:solidFill>
                  <a:srgbClr val="0432FF"/>
                </a:solidFill>
                <a:effectLst/>
                <a:latin typeface="Times New Roman" panose="02020603050405020304" pitchFamily="18" charset="0"/>
              </a:rPr>
              <a:t>、</a:t>
            </a:r>
            <a:r>
              <a:rPr lang="en-US" sz="1600" b="1" i="0" dirty="0">
                <a:solidFill>
                  <a:srgbClr val="0432FF"/>
                </a:solidFill>
                <a:effectLst/>
                <a:latin typeface="Courier New" panose="02070309020205020404" pitchFamily="49" charset="0"/>
              </a:rPr>
              <a:t>__</a:t>
            </a:r>
            <a:r>
              <a:rPr lang="en-US" sz="1600" b="1" i="0" dirty="0" err="1">
                <a:solidFill>
                  <a:srgbClr val="0432FF"/>
                </a:solidFill>
                <a:effectLst/>
                <a:latin typeface="Courier New" panose="02070309020205020404" pitchFamily="49" charset="0"/>
              </a:rPr>
              <a:t>cor</a:t>
            </a:r>
            <a:r>
              <a:rPr lang="en-US" sz="1600" b="1" i="0" dirty="0">
                <a:solidFill>
                  <a:srgbClr val="0432FF"/>
                </a:solidFill>
                <a:effectLst/>
                <a:latin typeface="Courier New" panose="02070309020205020404" pitchFamily="49" charset="0"/>
              </a:rPr>
              <a:t>__</a:t>
            </a:r>
            <a:r>
              <a:rPr lang="en-US" sz="1600" b="1" i="0" dirty="0">
                <a:solidFill>
                  <a:srgbClr val="0432FF"/>
                </a:solidFill>
                <a:effectLst/>
                <a:latin typeface="Times New Roman" panose="02020603050405020304" pitchFamily="18" charset="0"/>
              </a:rPr>
              <a:t> </a:t>
            </a:r>
            <a:r>
              <a:rPr lang="zh-CN" altLang="en-US" sz="1600" b="0" i="0" dirty="0">
                <a:solidFill>
                  <a:srgbClr val="262625"/>
                </a:solidFill>
                <a:effectLst/>
                <a:latin typeface="Times New Roman" panose="02020603050405020304" pitchFamily="18" charset="0"/>
              </a:rPr>
              <a:t>等。</a:t>
            </a:r>
          </a:p>
        </p:txBody>
      </p:sp>
      <p:pic>
        <p:nvPicPr>
          <p:cNvPr id="5" name="Picture 4">
            <a:extLst>
              <a:ext uri="{FF2B5EF4-FFF2-40B4-BE49-F238E27FC236}">
                <a16:creationId xmlns:a16="http://schemas.microsoft.com/office/drawing/2014/main" id="{6B64D76D-3C9A-8F38-53C7-FD8EE332F954}"/>
              </a:ext>
            </a:extLst>
          </p:cNvPr>
          <p:cNvPicPr>
            <a:picLocks noChangeAspect="1"/>
          </p:cNvPicPr>
          <p:nvPr/>
        </p:nvPicPr>
        <p:blipFill>
          <a:blip r:embed="rId2"/>
          <a:stretch>
            <a:fillRect/>
          </a:stretch>
        </p:blipFill>
        <p:spPr>
          <a:xfrm>
            <a:off x="5410200" y="76200"/>
            <a:ext cx="5753100" cy="6705600"/>
          </a:xfrm>
          <a:prstGeom prst="rect">
            <a:avLst/>
          </a:prstGeom>
        </p:spPr>
      </p:pic>
      <p:pic>
        <p:nvPicPr>
          <p:cNvPr id="6" name="Picture 5">
            <a:extLst>
              <a:ext uri="{FF2B5EF4-FFF2-40B4-BE49-F238E27FC236}">
                <a16:creationId xmlns:a16="http://schemas.microsoft.com/office/drawing/2014/main" id="{157B5E5F-1380-EEEF-9BCE-CE263F410B4A}"/>
              </a:ext>
            </a:extLst>
          </p:cNvPr>
          <p:cNvPicPr>
            <a:picLocks noChangeAspect="1"/>
          </p:cNvPicPr>
          <p:nvPr/>
        </p:nvPicPr>
        <p:blipFill>
          <a:blip r:embed="rId3"/>
          <a:stretch>
            <a:fillRect/>
          </a:stretch>
        </p:blipFill>
        <p:spPr>
          <a:xfrm>
            <a:off x="8944428" y="5751286"/>
            <a:ext cx="2946400" cy="8636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583407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altLang="zh-CN" b="1" dirty="0">
                <a:latin typeface="Microsoft YaHei" panose="020B0503020204020204" pitchFamily="34" charset="-122"/>
                <a:ea typeface="Microsoft YaHei" panose="020B0503020204020204" pitchFamily="34" charset="-122"/>
              </a:rPr>
              <a:t>4</a:t>
            </a:r>
            <a:r>
              <a:rPr lang="zh-CN" altLang="en-US" b="1" dirty="0">
                <a:latin typeface="Microsoft YaHei" panose="020B0503020204020204" pitchFamily="34" charset="-122"/>
                <a:ea typeface="Microsoft YaHei" panose="020B0503020204020204" pitchFamily="34" charset="-122"/>
              </a:rPr>
              <a:t> 类的属性</a:t>
            </a:r>
            <a:endParaRPr lang="en-US" b="1" dirty="0">
              <a:latin typeface="Microsoft YaHei" panose="020B0503020204020204" pitchFamily="34" charset="-122"/>
              <a:ea typeface="Microsoft YaHei" panose="020B0503020204020204" pitchFamily="34" charset="-122"/>
            </a:endParaRPr>
          </a:p>
        </p:txBody>
      </p:sp>
      <p:sp>
        <p:nvSpPr>
          <p:cNvPr id="4" name="文本框 3"/>
          <p:cNvSpPr txBox="1"/>
          <p:nvPr/>
        </p:nvSpPr>
        <p:spPr>
          <a:xfrm>
            <a:off x="1104900" y="1661651"/>
            <a:ext cx="9896776" cy="2844881"/>
          </a:xfrm>
          <a:prstGeom prst="rect">
            <a:avLst/>
          </a:prstGeom>
          <a:noFill/>
        </p:spPr>
        <p:txBody>
          <a:bodyPr wrap="square" rtlCol="0">
            <a:spAutoFit/>
          </a:bodyPr>
          <a:lstStyle/>
          <a:p>
            <a:pPr>
              <a:lnSpc>
                <a:spcPct val="130000"/>
              </a:lnSpc>
            </a:pPr>
            <a:r>
              <a:rPr lang="en-US" altLang="zh-CN" sz="2000" dirty="0"/>
              <a:t>    </a:t>
            </a:r>
            <a:r>
              <a:rPr lang="zh-CN" altLang="zh-CN" sz="2000" dirty="0"/>
              <a:t>方法用来描述对象的行为，而属性用来描述对象的状态。类的属性包括</a:t>
            </a:r>
            <a:r>
              <a:rPr lang="zh-CN" altLang="zh-CN" sz="2000" b="1" dirty="0">
                <a:solidFill>
                  <a:srgbClr val="C00000"/>
                </a:solidFill>
              </a:rPr>
              <a:t>实例属性</a:t>
            </a:r>
            <a:r>
              <a:rPr lang="zh-CN" altLang="zh-CN" sz="2000" dirty="0"/>
              <a:t>和</a:t>
            </a:r>
            <a:r>
              <a:rPr lang="zh-CN" altLang="zh-CN" sz="2000" b="1" dirty="0">
                <a:solidFill>
                  <a:srgbClr val="C00000"/>
                </a:solidFill>
              </a:rPr>
              <a:t>类属性</a:t>
            </a:r>
            <a:r>
              <a:rPr lang="zh-CN" altLang="zh-CN" sz="2000" dirty="0"/>
              <a:t>两大类型。</a:t>
            </a:r>
            <a:endParaRPr lang="en-US" altLang="zh-CN" sz="2000" dirty="0"/>
          </a:p>
          <a:p>
            <a:pPr marL="342900" indent="-342900">
              <a:lnSpc>
                <a:spcPct val="130000"/>
              </a:lnSpc>
              <a:buFont typeface="Arial" panose="020B0604020202020204" pitchFamily="34" charset="0"/>
              <a:buChar char="•"/>
            </a:pPr>
            <a:r>
              <a:rPr lang="zh-CN" altLang="zh-CN" sz="2000" dirty="0">
                <a:solidFill>
                  <a:srgbClr val="0432FF"/>
                </a:solidFill>
              </a:rPr>
              <a:t>实例属性属于特定的类的实例对象</a:t>
            </a:r>
            <a:r>
              <a:rPr lang="zh-CN" altLang="zh-CN" sz="2000" dirty="0"/>
              <a:t>，也就是说类的每个实例对象都有其对应的实例属性，不同对象间的实例属性彼此独立存在，互不相干。</a:t>
            </a:r>
            <a:endParaRPr lang="en-US" altLang="zh-CN" sz="2000" dirty="0"/>
          </a:p>
          <a:p>
            <a:pPr marL="342900" indent="-342900">
              <a:lnSpc>
                <a:spcPct val="130000"/>
              </a:lnSpc>
              <a:buFont typeface="Arial" panose="020B0604020202020204" pitchFamily="34" charset="0"/>
              <a:buChar char="•"/>
            </a:pPr>
            <a:r>
              <a:rPr lang="zh-CN" altLang="zh-CN" sz="2000" dirty="0">
                <a:solidFill>
                  <a:srgbClr val="0432FF"/>
                </a:solidFill>
              </a:rPr>
              <a:t>类属性是类对象本身的属性</a:t>
            </a:r>
            <a:r>
              <a:rPr lang="zh-CN" altLang="zh-CN" sz="2000" dirty="0"/>
              <a:t>，它与类的实例对象无关，或者说所有该类的实例对象共享类属性，可以对其进行访问、修改。</a:t>
            </a:r>
          </a:p>
          <a:p>
            <a:pPr>
              <a:lnSpc>
                <a:spcPct val="130000"/>
              </a:lnSpc>
            </a:pPr>
            <a:endParaRPr lang="en-US" altLang="zh-CN" sz="2000" dirty="0"/>
          </a:p>
        </p:txBody>
      </p:sp>
      <p:sp>
        <p:nvSpPr>
          <p:cNvPr id="5" name="文本框 4"/>
          <p:cNvSpPr txBox="1"/>
          <p:nvPr/>
        </p:nvSpPr>
        <p:spPr>
          <a:xfrm>
            <a:off x="1020994" y="4507751"/>
            <a:ext cx="9980682" cy="400110"/>
          </a:xfrm>
          <a:prstGeom prst="rect">
            <a:avLst/>
          </a:prstGeom>
          <a:noFill/>
        </p:spPr>
        <p:txBody>
          <a:bodyPr wrap="square" rtlCol="0">
            <a:spAutoFit/>
          </a:bodyPr>
          <a:lstStyle/>
          <a:p>
            <a:pPr marL="342900" indent="-342900">
              <a:buFont typeface="Wingdings" panose="05000000000000000000" pitchFamily="2" charset="2"/>
              <a:buChar char="n"/>
            </a:pPr>
            <a:r>
              <a:rPr lang="zh-CN" altLang="en-US" sz="2000" b="1" dirty="0">
                <a:solidFill>
                  <a:srgbClr val="7030A0"/>
                </a:solidFill>
              </a:rPr>
              <a:t>实例属性</a:t>
            </a:r>
            <a:endParaRPr lang="en-US" altLang="zh-CN" sz="2000" b="1" dirty="0">
              <a:solidFill>
                <a:srgbClr val="7030A0"/>
              </a:solidFill>
            </a:endParaRPr>
          </a:p>
        </p:txBody>
      </p:sp>
      <p:sp>
        <p:nvSpPr>
          <p:cNvPr id="2" name="矩形 1"/>
          <p:cNvSpPr/>
          <p:nvPr/>
        </p:nvSpPr>
        <p:spPr>
          <a:xfrm>
            <a:off x="1062947" y="4971201"/>
            <a:ext cx="9980682" cy="850297"/>
          </a:xfrm>
          <a:prstGeom prst="rect">
            <a:avLst/>
          </a:prstGeom>
        </p:spPr>
        <p:txBody>
          <a:bodyPr wrap="square">
            <a:spAutoFit/>
          </a:bodyPr>
          <a:lstStyle/>
          <a:p>
            <a:pPr>
              <a:lnSpc>
                <a:spcPct val="130000"/>
              </a:lnSpc>
            </a:pPr>
            <a:r>
              <a:rPr lang="en-US" altLang="zh-CN" sz="2000" dirty="0"/>
              <a:t>    </a:t>
            </a:r>
            <a:r>
              <a:rPr lang="zh-CN" altLang="en-US" sz="2000" dirty="0"/>
              <a:t>前述</a:t>
            </a:r>
            <a:r>
              <a:rPr lang="zh-CN" altLang="zh-CN" sz="2000" dirty="0"/>
              <a:t>例子中的属性都是实例属性。实例属性可以在类内，也可以在类外通过“对象名</a:t>
            </a:r>
            <a:r>
              <a:rPr lang="en-US" altLang="zh-CN" sz="2000" dirty="0"/>
              <a:t>.</a:t>
            </a:r>
            <a:r>
              <a:rPr lang="zh-CN" altLang="zh-CN" sz="2000" dirty="0"/>
              <a:t>属性名”的形式访问，不同的实例对象持有不同的实例副本</a:t>
            </a:r>
            <a:r>
              <a:rPr lang="zh-CN" altLang="en-US" sz="2000" dirty="0"/>
              <a:t>。</a:t>
            </a:r>
            <a:endParaRPr lang="en-US" altLang="zh-CN" sz="2000" b="1" dirty="0"/>
          </a:p>
        </p:txBody>
      </p:sp>
    </p:spTree>
    <p:extLst>
      <p:ext uri="{BB962C8B-B14F-4D97-AF65-F5344CB8AC3E}">
        <p14:creationId xmlns:p14="http://schemas.microsoft.com/office/powerpoint/2010/main" val="3252255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zh-CN" altLang="en-US" sz="2800" dirty="0">
                <a:solidFill>
                  <a:srgbClr val="0432FF"/>
                </a:solidFill>
                <a:latin typeface="Microsoft YaHei" panose="020B0503020204020204" pitchFamily="34" charset="-122"/>
                <a:ea typeface="Microsoft YaHei" panose="020B0503020204020204" pitchFamily="34" charset="-122"/>
              </a:rPr>
              <a:t>（</a:t>
            </a:r>
            <a:r>
              <a:rPr lang="en-US" altLang="zh-CN" sz="2800" dirty="0">
                <a:solidFill>
                  <a:srgbClr val="0432FF"/>
                </a:solidFill>
                <a:latin typeface="Microsoft YaHei" panose="020B0503020204020204" pitchFamily="34" charset="-122"/>
                <a:ea typeface="Microsoft YaHei" panose="020B0503020204020204" pitchFamily="34" charset="-122"/>
              </a:rPr>
              <a:t>1</a:t>
            </a:r>
            <a:r>
              <a:rPr lang="zh-CN" altLang="en-US" sz="2800" dirty="0">
                <a:solidFill>
                  <a:srgbClr val="0432FF"/>
                </a:solidFill>
                <a:latin typeface="Microsoft YaHei" panose="020B0503020204020204" pitchFamily="34" charset="-122"/>
                <a:ea typeface="Microsoft YaHei" panose="020B0503020204020204" pitchFamily="34" charset="-122"/>
              </a:rPr>
              <a:t>）实例属性</a:t>
            </a:r>
            <a:endParaRPr lang="en-US" dirty="0">
              <a:solidFill>
                <a:srgbClr val="0432FF"/>
              </a:solidFill>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2B6417CA-4646-0B5D-BA9F-82A3408A3702}"/>
              </a:ext>
            </a:extLst>
          </p:cNvPr>
          <p:cNvPicPr>
            <a:picLocks noChangeAspect="1"/>
          </p:cNvPicPr>
          <p:nvPr/>
        </p:nvPicPr>
        <p:blipFill>
          <a:blip r:embed="rId2"/>
          <a:stretch>
            <a:fillRect/>
          </a:stretch>
        </p:blipFill>
        <p:spPr>
          <a:xfrm>
            <a:off x="1205741" y="1816636"/>
            <a:ext cx="4889500" cy="4368800"/>
          </a:xfrm>
          <a:prstGeom prst="rect">
            <a:avLst/>
          </a:prstGeom>
          <a:effectLst>
            <a:outerShdw blurRad="63500" sx="102000" sy="102000" algn="ctr" rotWithShape="0">
              <a:prstClr val="black">
                <a:alpha val="40000"/>
              </a:prstClr>
            </a:outerShdw>
          </a:effectLst>
        </p:spPr>
      </p:pic>
      <p:pic>
        <p:nvPicPr>
          <p:cNvPr id="6" name="Picture 5">
            <a:extLst>
              <a:ext uri="{FF2B5EF4-FFF2-40B4-BE49-F238E27FC236}">
                <a16:creationId xmlns:a16="http://schemas.microsoft.com/office/drawing/2014/main" id="{0E8107B5-1D14-4091-9B10-E6A643A94D13}"/>
              </a:ext>
            </a:extLst>
          </p:cNvPr>
          <p:cNvPicPr>
            <a:picLocks noChangeAspect="1"/>
          </p:cNvPicPr>
          <p:nvPr/>
        </p:nvPicPr>
        <p:blipFill>
          <a:blip r:embed="rId3"/>
          <a:stretch>
            <a:fillRect/>
          </a:stretch>
        </p:blipFill>
        <p:spPr>
          <a:xfrm>
            <a:off x="5622222" y="438686"/>
            <a:ext cx="3581400" cy="2755900"/>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F01B0AA7-4DE1-E4F2-D75E-1CA846E0DFFD}"/>
              </a:ext>
            </a:extLst>
          </p:cNvPr>
          <p:cNvPicPr>
            <a:picLocks noChangeAspect="1"/>
          </p:cNvPicPr>
          <p:nvPr/>
        </p:nvPicPr>
        <p:blipFill>
          <a:blip r:embed="rId4"/>
          <a:stretch>
            <a:fillRect/>
          </a:stretch>
        </p:blipFill>
        <p:spPr>
          <a:xfrm>
            <a:off x="8184771" y="2441178"/>
            <a:ext cx="3492500" cy="37465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733321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zh-CN" altLang="en-US" dirty="0">
                <a:solidFill>
                  <a:srgbClr val="0432FF"/>
                </a:solidFill>
                <a:latin typeface="Microsoft YaHei" panose="020B0503020204020204" pitchFamily="34" charset="-122"/>
                <a:ea typeface="Microsoft YaHei" panose="020B0503020204020204" pitchFamily="34" charset="-122"/>
              </a:rPr>
              <a:t>（</a:t>
            </a:r>
            <a:r>
              <a:rPr lang="en-US" altLang="zh-CN" dirty="0">
                <a:solidFill>
                  <a:srgbClr val="0432FF"/>
                </a:solidFill>
                <a:latin typeface="Microsoft YaHei" panose="020B0503020204020204" pitchFamily="34" charset="-122"/>
                <a:ea typeface="Microsoft YaHei" panose="020B0503020204020204" pitchFamily="34" charset="-122"/>
              </a:rPr>
              <a:t>2</a:t>
            </a:r>
            <a:r>
              <a:rPr lang="zh-CN" altLang="en-US" dirty="0">
                <a:solidFill>
                  <a:srgbClr val="0432FF"/>
                </a:solidFill>
                <a:latin typeface="Microsoft YaHei" panose="020B0503020204020204" pitchFamily="34" charset="-122"/>
                <a:ea typeface="Microsoft YaHei" panose="020B0503020204020204" pitchFamily="34" charset="-122"/>
              </a:rPr>
              <a:t>）类属性</a:t>
            </a:r>
            <a:endParaRPr lang="en-US" b="1" dirty="0"/>
          </a:p>
        </p:txBody>
      </p:sp>
      <p:sp>
        <p:nvSpPr>
          <p:cNvPr id="2" name="矩形 1"/>
          <p:cNvSpPr/>
          <p:nvPr/>
        </p:nvSpPr>
        <p:spPr>
          <a:xfrm>
            <a:off x="1104900" y="1720083"/>
            <a:ext cx="9980682" cy="958019"/>
          </a:xfrm>
          <a:prstGeom prst="rect">
            <a:avLst/>
          </a:prstGeom>
        </p:spPr>
        <p:txBody>
          <a:bodyPr wrap="square">
            <a:spAutoFit/>
          </a:bodyPr>
          <a:lstStyle/>
          <a:p>
            <a:pPr>
              <a:lnSpc>
                <a:spcPct val="150000"/>
              </a:lnSpc>
            </a:pPr>
            <a:r>
              <a:rPr lang="en-US" altLang="zh-CN" sz="2000" dirty="0"/>
              <a:t>    </a:t>
            </a:r>
            <a:r>
              <a:rPr lang="zh-CN" altLang="zh-CN" sz="2000" dirty="0"/>
              <a:t>类属性是属于类本身的属性，并不属于特定的类的实例对象。不同类别的类属性，其传递参数的方式也不同。类属性可分为：</a:t>
            </a:r>
            <a:r>
              <a:rPr lang="zh-CN" altLang="zh-CN" sz="2000" b="1" dirty="0">
                <a:solidFill>
                  <a:srgbClr val="0432FF"/>
                </a:solidFill>
              </a:rPr>
              <a:t>可变变量属性</a:t>
            </a:r>
            <a:r>
              <a:rPr lang="zh-CN" altLang="zh-CN" sz="2000" dirty="0"/>
              <a:t>和</a:t>
            </a:r>
            <a:r>
              <a:rPr lang="zh-CN" altLang="zh-CN" sz="2000" b="1" dirty="0">
                <a:solidFill>
                  <a:srgbClr val="0432FF"/>
                </a:solidFill>
              </a:rPr>
              <a:t>不可变变量属性</a:t>
            </a:r>
            <a:r>
              <a:rPr lang="zh-CN" altLang="zh-CN" sz="2000" dirty="0"/>
              <a:t>。</a:t>
            </a:r>
          </a:p>
        </p:txBody>
      </p:sp>
      <p:sp>
        <p:nvSpPr>
          <p:cNvPr id="6" name="矩形 5"/>
          <p:cNvSpPr/>
          <p:nvPr/>
        </p:nvSpPr>
        <p:spPr>
          <a:xfrm>
            <a:off x="1104900" y="3008392"/>
            <a:ext cx="9982200" cy="2343014"/>
          </a:xfrm>
          <a:prstGeom prst="rect">
            <a:avLst/>
          </a:prstGeom>
        </p:spPr>
        <p:txBody>
          <a:bodyPr wrap="square">
            <a:spAutoFit/>
          </a:bodyPr>
          <a:lstStyle/>
          <a:p>
            <a:pPr marL="342900" lvl="0" indent="-342900">
              <a:lnSpc>
                <a:spcPct val="150000"/>
              </a:lnSpc>
              <a:spcAft>
                <a:spcPts val="0"/>
              </a:spcAft>
              <a:buFont typeface="Symbol" panose="05050102010706020507" pitchFamily="18" charset="2"/>
              <a:buChar char=""/>
            </a:pPr>
            <a:r>
              <a:rPr lang="zh-CN" altLang="zh-CN" sz="2000" dirty="0">
                <a:solidFill>
                  <a:srgbClr val="0432FF"/>
                </a:solidFill>
              </a:rPr>
              <a:t>可变变量属性</a:t>
            </a:r>
            <a:r>
              <a:rPr lang="zh-CN" altLang="zh-CN" sz="2000" dirty="0"/>
              <a:t>：例如列表、字典，以及其他类的对象等</a:t>
            </a:r>
            <a:r>
              <a:rPr lang="zh-CN" altLang="en-US" sz="2000" dirty="0"/>
              <a:t>。</a:t>
            </a:r>
            <a:r>
              <a:rPr lang="zh-CN" altLang="zh-CN" sz="2000" dirty="0"/>
              <a:t>当类属性是可变变量属性的时候，类对象本身和类的所有实例对象共享该属性，即</a:t>
            </a:r>
            <a:r>
              <a:rPr lang="zh-CN" altLang="zh-CN" sz="2000" b="1" dirty="0">
                <a:solidFill>
                  <a:srgbClr val="C00000"/>
                </a:solidFill>
              </a:rPr>
              <a:t>该属性在内存中只有一个副本</a:t>
            </a:r>
            <a:r>
              <a:rPr lang="zh-CN" altLang="zh-CN" sz="2000" dirty="0"/>
              <a:t>。</a:t>
            </a:r>
          </a:p>
          <a:p>
            <a:pPr marL="342900" lvl="0" indent="-342900">
              <a:lnSpc>
                <a:spcPct val="150000"/>
              </a:lnSpc>
              <a:spcAft>
                <a:spcPts val="0"/>
              </a:spcAft>
              <a:buFont typeface="Symbol" panose="05050102010706020507" pitchFamily="18" charset="2"/>
              <a:buChar char=""/>
            </a:pPr>
            <a:r>
              <a:rPr lang="zh-CN" altLang="zh-CN" sz="2000" dirty="0">
                <a:solidFill>
                  <a:srgbClr val="0432FF"/>
                </a:solidFill>
              </a:rPr>
              <a:t>不可变变量属性</a:t>
            </a:r>
            <a:r>
              <a:rPr lang="zh-CN" altLang="zh-CN" sz="2000" dirty="0"/>
              <a:t>，例如整型</a:t>
            </a:r>
            <a:r>
              <a:rPr lang="en-US" altLang="zh-CN" sz="2000" dirty="0" err="1"/>
              <a:t>int</a:t>
            </a:r>
            <a:r>
              <a:rPr lang="zh-CN" altLang="zh-CN" sz="2000" dirty="0"/>
              <a:t>、字符串类型</a:t>
            </a:r>
            <a:r>
              <a:rPr lang="en-US" altLang="zh-CN" sz="2000" dirty="0"/>
              <a:t>string</a:t>
            </a:r>
            <a:r>
              <a:rPr lang="zh-CN" altLang="zh-CN" sz="2000" dirty="0"/>
              <a:t>等。当类属性是不可变变量属性的时候，</a:t>
            </a:r>
            <a:r>
              <a:rPr lang="zh-CN" altLang="zh-CN" sz="2000" b="1" dirty="0"/>
              <a:t>类所有实例对象都</a:t>
            </a:r>
            <a:r>
              <a:rPr lang="zh-CN" altLang="zh-CN" sz="2000" b="1" dirty="0">
                <a:solidFill>
                  <a:srgbClr val="C00000"/>
                </a:solidFill>
              </a:rPr>
              <a:t>拥有该属性的一个独立副本，且各个对象之间互不影响</a:t>
            </a:r>
            <a:r>
              <a:rPr lang="zh-CN" altLang="zh-CN" sz="2000" dirty="0"/>
              <a:t>。类对象本身也含有该属性的一个副本，并且也是独立的。</a:t>
            </a:r>
            <a:endParaRPr lang="zh-CN" altLang="en-US" sz="2000" dirty="0"/>
          </a:p>
        </p:txBody>
      </p:sp>
    </p:spTree>
    <p:extLst>
      <p:ext uri="{BB962C8B-B14F-4D97-AF65-F5344CB8AC3E}">
        <p14:creationId xmlns:p14="http://schemas.microsoft.com/office/powerpoint/2010/main" val="2788205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zh-CN" altLang="en-US" dirty="0">
                <a:solidFill>
                  <a:srgbClr val="0432FF"/>
                </a:solidFill>
                <a:latin typeface="Microsoft YaHei" panose="020B0503020204020204" pitchFamily="34" charset="-122"/>
                <a:ea typeface="Microsoft YaHei" panose="020B0503020204020204" pitchFamily="34" charset="-122"/>
              </a:rPr>
              <a:t>（</a:t>
            </a:r>
            <a:r>
              <a:rPr lang="en-US" altLang="zh-CN" dirty="0">
                <a:solidFill>
                  <a:srgbClr val="0432FF"/>
                </a:solidFill>
                <a:latin typeface="Microsoft YaHei" panose="020B0503020204020204" pitchFamily="34" charset="-122"/>
                <a:ea typeface="Microsoft YaHei" panose="020B0503020204020204" pitchFamily="34" charset="-122"/>
              </a:rPr>
              <a:t>2</a:t>
            </a:r>
            <a:r>
              <a:rPr lang="zh-CN" altLang="en-US" dirty="0">
                <a:solidFill>
                  <a:srgbClr val="0432FF"/>
                </a:solidFill>
                <a:latin typeface="Microsoft YaHei" panose="020B0503020204020204" pitchFamily="34" charset="-122"/>
                <a:ea typeface="Microsoft YaHei" panose="020B0503020204020204" pitchFamily="34" charset="-122"/>
              </a:rPr>
              <a:t>）类属性</a:t>
            </a:r>
            <a:endParaRPr lang="en-US" altLang="zh-CN" sz="2800" b="1" dirty="0">
              <a:solidFill>
                <a:srgbClr val="7030A0"/>
              </a:solidFill>
            </a:endParaRPr>
          </a:p>
        </p:txBody>
      </p:sp>
      <p:sp>
        <p:nvSpPr>
          <p:cNvPr id="11" name="矩形 10"/>
          <p:cNvSpPr/>
          <p:nvPr/>
        </p:nvSpPr>
        <p:spPr>
          <a:xfrm>
            <a:off x="957321" y="1363590"/>
            <a:ext cx="4544834" cy="400110"/>
          </a:xfrm>
          <a:prstGeom prst="rect">
            <a:avLst/>
          </a:prstGeom>
        </p:spPr>
        <p:txBody>
          <a:bodyPr wrap="none">
            <a:spAutoFit/>
          </a:bodyPr>
          <a:lstStyle/>
          <a:p>
            <a:r>
              <a:rPr lang="zh-CN" altLang="zh-CN" sz="2000" kern="100" dirty="0">
                <a:latin typeface="+mn-ea"/>
                <a:cs typeface="Times New Roman" panose="02020603050405020304" pitchFamily="18" charset="0"/>
              </a:rPr>
              <a:t>以</a:t>
            </a:r>
            <a:r>
              <a:rPr lang="zh-CN" altLang="zh-CN" sz="2000" kern="100" dirty="0">
                <a:solidFill>
                  <a:srgbClr val="0432FF"/>
                </a:solidFill>
                <a:latin typeface="+mn-ea"/>
                <a:cs typeface="Times New Roman" panose="02020603050405020304" pitchFamily="18" charset="0"/>
              </a:rPr>
              <a:t>不可变变量</a:t>
            </a:r>
            <a:r>
              <a:rPr lang="en-US" altLang="zh-CN" sz="2000" kern="100" dirty="0">
                <a:solidFill>
                  <a:srgbClr val="0432FF"/>
                </a:solidFill>
                <a:latin typeface="+mn-ea"/>
              </a:rPr>
              <a:t>string</a:t>
            </a:r>
            <a:r>
              <a:rPr lang="zh-CN" altLang="zh-CN" sz="2000" kern="100" dirty="0">
                <a:solidFill>
                  <a:srgbClr val="0432FF"/>
                </a:solidFill>
                <a:latin typeface="+mn-ea"/>
                <a:cs typeface="Times New Roman" panose="02020603050405020304" pitchFamily="18" charset="0"/>
              </a:rPr>
              <a:t>类型</a:t>
            </a:r>
            <a:r>
              <a:rPr lang="zh-CN" altLang="zh-CN" sz="2000" kern="100" dirty="0">
                <a:latin typeface="+mn-ea"/>
                <a:cs typeface="Times New Roman" panose="02020603050405020304" pitchFamily="18" charset="0"/>
              </a:rPr>
              <a:t>作为类属性</a:t>
            </a:r>
            <a:r>
              <a:rPr lang="zh-CN" altLang="en-US" sz="2000" kern="100" dirty="0">
                <a:latin typeface="+mn-ea"/>
                <a:cs typeface="Times New Roman" panose="02020603050405020304" pitchFamily="18" charset="0"/>
              </a:rPr>
              <a:t>：</a:t>
            </a:r>
            <a:endParaRPr lang="zh-CN" altLang="en-US" sz="2000" dirty="0">
              <a:latin typeface="+mn-ea"/>
            </a:endParaRPr>
          </a:p>
        </p:txBody>
      </p:sp>
      <p:pic>
        <p:nvPicPr>
          <p:cNvPr id="9" name="Picture 8">
            <a:extLst>
              <a:ext uri="{FF2B5EF4-FFF2-40B4-BE49-F238E27FC236}">
                <a16:creationId xmlns:a16="http://schemas.microsoft.com/office/drawing/2014/main" id="{AE4A6645-9D37-E2D5-8095-94D7EB3194C8}"/>
              </a:ext>
            </a:extLst>
          </p:cNvPr>
          <p:cNvPicPr>
            <a:picLocks noChangeAspect="1"/>
          </p:cNvPicPr>
          <p:nvPr/>
        </p:nvPicPr>
        <p:blipFill>
          <a:blip r:embed="rId2"/>
          <a:stretch>
            <a:fillRect/>
          </a:stretch>
        </p:blipFill>
        <p:spPr>
          <a:xfrm>
            <a:off x="1704834" y="2354239"/>
            <a:ext cx="4089400" cy="2705100"/>
          </a:xfrm>
          <a:prstGeom prst="rect">
            <a:avLst/>
          </a:prstGeom>
          <a:effectLst>
            <a:outerShdw blurRad="63500" sx="102000" sy="102000" algn="ctr" rotWithShape="0">
              <a:prstClr val="black">
                <a:alpha val="40000"/>
              </a:prstClr>
            </a:outerShdw>
          </a:effectLst>
        </p:spPr>
      </p:pic>
      <p:pic>
        <p:nvPicPr>
          <p:cNvPr id="10" name="Picture 9">
            <a:extLst>
              <a:ext uri="{FF2B5EF4-FFF2-40B4-BE49-F238E27FC236}">
                <a16:creationId xmlns:a16="http://schemas.microsoft.com/office/drawing/2014/main" id="{0E0A268D-0087-B1D0-8B17-A18BD4E29325}"/>
              </a:ext>
            </a:extLst>
          </p:cNvPr>
          <p:cNvPicPr>
            <a:picLocks noChangeAspect="1"/>
          </p:cNvPicPr>
          <p:nvPr/>
        </p:nvPicPr>
        <p:blipFill>
          <a:blip r:embed="rId3"/>
          <a:stretch>
            <a:fillRect/>
          </a:stretch>
        </p:blipFill>
        <p:spPr>
          <a:xfrm>
            <a:off x="6397767" y="864156"/>
            <a:ext cx="3924300" cy="2349500"/>
          </a:xfrm>
          <a:prstGeom prst="rect">
            <a:avLst/>
          </a:prstGeom>
          <a:effectLst>
            <a:outerShdw blurRad="63500" sx="102000" sy="102000" algn="ctr" rotWithShape="0">
              <a:prstClr val="black">
                <a:alpha val="40000"/>
              </a:prstClr>
            </a:outerShdw>
          </a:effectLst>
        </p:spPr>
      </p:pic>
      <p:pic>
        <p:nvPicPr>
          <p:cNvPr id="12" name="Picture 11">
            <a:extLst>
              <a:ext uri="{FF2B5EF4-FFF2-40B4-BE49-F238E27FC236}">
                <a16:creationId xmlns:a16="http://schemas.microsoft.com/office/drawing/2014/main" id="{46F00C26-6706-50F1-495C-4708AED66848}"/>
              </a:ext>
            </a:extLst>
          </p:cNvPr>
          <p:cNvPicPr>
            <a:picLocks noChangeAspect="1"/>
          </p:cNvPicPr>
          <p:nvPr/>
        </p:nvPicPr>
        <p:blipFill>
          <a:blip r:embed="rId4"/>
          <a:stretch>
            <a:fillRect/>
          </a:stretch>
        </p:blipFill>
        <p:spPr>
          <a:xfrm>
            <a:off x="6397767" y="3706789"/>
            <a:ext cx="4064000" cy="23495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88919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zh-CN" altLang="en-US" dirty="0">
                <a:solidFill>
                  <a:srgbClr val="0432FF"/>
                </a:solidFill>
                <a:latin typeface="Microsoft YaHei" panose="020B0503020204020204" pitchFamily="34" charset="-122"/>
                <a:ea typeface="Microsoft YaHei" panose="020B0503020204020204" pitchFamily="34" charset="-122"/>
              </a:rPr>
              <a:t>（</a:t>
            </a:r>
            <a:r>
              <a:rPr lang="en-US" altLang="zh-CN" dirty="0">
                <a:solidFill>
                  <a:srgbClr val="0432FF"/>
                </a:solidFill>
                <a:latin typeface="Microsoft YaHei" panose="020B0503020204020204" pitchFamily="34" charset="-122"/>
                <a:ea typeface="Microsoft YaHei" panose="020B0503020204020204" pitchFamily="34" charset="-122"/>
              </a:rPr>
              <a:t>2</a:t>
            </a:r>
            <a:r>
              <a:rPr lang="zh-CN" altLang="en-US" dirty="0">
                <a:solidFill>
                  <a:srgbClr val="0432FF"/>
                </a:solidFill>
                <a:latin typeface="Microsoft YaHei" panose="020B0503020204020204" pitchFamily="34" charset="-122"/>
                <a:ea typeface="Microsoft YaHei" panose="020B0503020204020204" pitchFamily="34" charset="-122"/>
              </a:rPr>
              <a:t>）类属性</a:t>
            </a:r>
            <a:endParaRPr lang="en-US" b="1" dirty="0"/>
          </a:p>
        </p:txBody>
      </p:sp>
      <p:sp>
        <p:nvSpPr>
          <p:cNvPr id="11" name="矩形 10"/>
          <p:cNvSpPr/>
          <p:nvPr/>
        </p:nvSpPr>
        <p:spPr>
          <a:xfrm>
            <a:off x="602587" y="1317103"/>
            <a:ext cx="2815755" cy="707886"/>
          </a:xfrm>
          <a:prstGeom prst="rect">
            <a:avLst/>
          </a:prstGeom>
        </p:spPr>
        <p:txBody>
          <a:bodyPr wrap="square">
            <a:spAutoFit/>
          </a:bodyPr>
          <a:lstStyle/>
          <a:p>
            <a:r>
              <a:rPr lang="zh-CN" altLang="zh-CN" sz="2000" kern="100" dirty="0">
                <a:latin typeface="+mn-ea"/>
                <a:cs typeface="Times New Roman" panose="02020603050405020304" pitchFamily="18" charset="0"/>
              </a:rPr>
              <a:t>以</a:t>
            </a:r>
            <a:r>
              <a:rPr lang="zh-CN" altLang="zh-CN" dirty="0">
                <a:solidFill>
                  <a:srgbClr val="0432FF"/>
                </a:solidFill>
              </a:rPr>
              <a:t>用可变变量属性（数组）</a:t>
            </a:r>
            <a:r>
              <a:rPr lang="zh-CN" altLang="zh-CN" dirty="0"/>
              <a:t>作为类属性</a:t>
            </a:r>
            <a:r>
              <a:rPr lang="zh-CN" altLang="en-US" sz="2000" kern="100" dirty="0">
                <a:latin typeface="+mn-ea"/>
                <a:cs typeface="Times New Roman" panose="02020603050405020304" pitchFamily="18" charset="0"/>
              </a:rPr>
              <a:t>：</a:t>
            </a:r>
            <a:endParaRPr lang="zh-CN" altLang="en-US" sz="2000" dirty="0">
              <a:latin typeface="+mn-ea"/>
            </a:endParaRPr>
          </a:p>
        </p:txBody>
      </p:sp>
      <p:pic>
        <p:nvPicPr>
          <p:cNvPr id="2" name="Picture 1">
            <a:extLst>
              <a:ext uri="{FF2B5EF4-FFF2-40B4-BE49-F238E27FC236}">
                <a16:creationId xmlns:a16="http://schemas.microsoft.com/office/drawing/2014/main" id="{AD021286-EFE2-8DB2-AE30-6DB534AE2CC0}"/>
              </a:ext>
            </a:extLst>
          </p:cNvPr>
          <p:cNvPicPr>
            <a:picLocks noChangeAspect="1"/>
          </p:cNvPicPr>
          <p:nvPr/>
        </p:nvPicPr>
        <p:blipFill>
          <a:blip r:embed="rId2"/>
          <a:stretch>
            <a:fillRect/>
          </a:stretch>
        </p:blipFill>
        <p:spPr>
          <a:xfrm>
            <a:off x="545342" y="2261264"/>
            <a:ext cx="3937000" cy="2730500"/>
          </a:xfrm>
          <a:prstGeom prst="rect">
            <a:avLst/>
          </a:prstGeom>
          <a:effectLst>
            <a:outerShdw blurRad="63500" sx="102000" sy="102000" algn="ctr" rotWithShape="0">
              <a:prstClr val="black">
                <a:alpha val="40000"/>
              </a:prstClr>
            </a:outerShdw>
          </a:effectLst>
        </p:spPr>
      </p:pic>
      <p:pic>
        <p:nvPicPr>
          <p:cNvPr id="4" name="Picture 3">
            <a:extLst>
              <a:ext uri="{FF2B5EF4-FFF2-40B4-BE49-F238E27FC236}">
                <a16:creationId xmlns:a16="http://schemas.microsoft.com/office/drawing/2014/main" id="{2B961E50-EFDA-E1FF-0542-63A4190AF403}"/>
              </a:ext>
            </a:extLst>
          </p:cNvPr>
          <p:cNvPicPr>
            <a:picLocks noChangeAspect="1"/>
          </p:cNvPicPr>
          <p:nvPr/>
        </p:nvPicPr>
        <p:blipFill>
          <a:blip r:embed="rId3"/>
          <a:stretch>
            <a:fillRect/>
          </a:stretch>
        </p:blipFill>
        <p:spPr>
          <a:xfrm>
            <a:off x="3635114" y="496296"/>
            <a:ext cx="3822700" cy="2349500"/>
          </a:xfrm>
          <a:prstGeom prst="rect">
            <a:avLst/>
          </a:prstGeom>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C2A3C2C0-75F6-6332-4DBA-539DE8BC2E55}"/>
              </a:ext>
            </a:extLst>
          </p:cNvPr>
          <p:cNvPicPr>
            <a:picLocks noChangeAspect="1"/>
          </p:cNvPicPr>
          <p:nvPr/>
        </p:nvPicPr>
        <p:blipFill>
          <a:blip r:embed="rId4"/>
          <a:stretch>
            <a:fillRect/>
          </a:stretch>
        </p:blipFill>
        <p:spPr>
          <a:xfrm>
            <a:off x="3635114" y="4267862"/>
            <a:ext cx="4343400" cy="2362200"/>
          </a:xfrm>
          <a:prstGeom prst="rect">
            <a:avLst/>
          </a:prstGeom>
          <a:effectLst>
            <a:outerShdw blurRad="63500" sx="102000" sy="102000" algn="ctr" rotWithShape="0">
              <a:prstClr val="black">
                <a:alpha val="40000"/>
              </a:prstClr>
            </a:outerShdw>
          </a:effectLst>
        </p:spPr>
      </p:pic>
      <p:pic>
        <p:nvPicPr>
          <p:cNvPr id="6" name="Picture 5">
            <a:extLst>
              <a:ext uri="{FF2B5EF4-FFF2-40B4-BE49-F238E27FC236}">
                <a16:creationId xmlns:a16="http://schemas.microsoft.com/office/drawing/2014/main" id="{3251D973-EAB8-9A58-B944-CB4C9B660AF3}"/>
              </a:ext>
            </a:extLst>
          </p:cNvPr>
          <p:cNvPicPr>
            <a:picLocks noChangeAspect="1"/>
          </p:cNvPicPr>
          <p:nvPr/>
        </p:nvPicPr>
        <p:blipFill>
          <a:blip r:embed="rId5"/>
          <a:stretch>
            <a:fillRect/>
          </a:stretch>
        </p:blipFill>
        <p:spPr>
          <a:xfrm>
            <a:off x="6350758" y="2070147"/>
            <a:ext cx="5295900" cy="27686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161494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dissolv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7517" y="2750961"/>
            <a:ext cx="10071099" cy="1684150"/>
          </a:xfrm>
        </p:spPr>
        <p:txBody>
          <a:bodyPr/>
          <a:lstStyle/>
          <a:p>
            <a:r>
              <a:rPr lang="en-US" altLang="zh-CN" b="1" dirty="0"/>
              <a:t>7.3</a:t>
            </a:r>
            <a:r>
              <a:rPr lang="en-US" b="1" dirty="0"/>
              <a:t> </a:t>
            </a:r>
            <a:r>
              <a:rPr lang="zh-CN" altLang="en-US" b="1" dirty="0"/>
              <a:t>继承和多态</a:t>
            </a:r>
            <a:endParaRPr lang="en-US" b="1" dirty="0"/>
          </a:p>
        </p:txBody>
      </p:sp>
    </p:spTree>
    <p:extLst>
      <p:ext uri="{BB962C8B-B14F-4D97-AF65-F5344CB8AC3E}">
        <p14:creationId xmlns:p14="http://schemas.microsoft.com/office/powerpoint/2010/main" val="2747481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1" dirty="0"/>
              <a:t>继承和多态</a:t>
            </a:r>
            <a:endParaRPr lang="en-US" b="1" dirty="0"/>
          </a:p>
        </p:txBody>
      </p:sp>
      <p:sp>
        <p:nvSpPr>
          <p:cNvPr id="15" name="文本框 14"/>
          <p:cNvSpPr txBox="1"/>
          <p:nvPr/>
        </p:nvSpPr>
        <p:spPr>
          <a:xfrm>
            <a:off x="1104900" y="1417406"/>
            <a:ext cx="9896776" cy="2850845"/>
          </a:xfrm>
          <a:prstGeom prst="rect">
            <a:avLst/>
          </a:prstGeom>
          <a:noFill/>
        </p:spPr>
        <p:txBody>
          <a:bodyPr wrap="square" rtlCol="0">
            <a:spAutoFit/>
          </a:bodyPr>
          <a:lstStyle/>
          <a:p>
            <a:pPr>
              <a:lnSpc>
                <a:spcPct val="130000"/>
              </a:lnSpc>
            </a:pPr>
            <a:r>
              <a:rPr lang="zh-CN" altLang="en-US" sz="2000" dirty="0">
                <a:solidFill>
                  <a:srgbClr val="0432FF"/>
                </a:solidFill>
              </a:rPr>
              <a:t>（</a:t>
            </a:r>
            <a:r>
              <a:rPr lang="en-US" altLang="zh-CN" sz="2000" dirty="0">
                <a:solidFill>
                  <a:srgbClr val="0432FF"/>
                </a:solidFill>
              </a:rPr>
              <a:t>1</a:t>
            </a:r>
            <a:r>
              <a:rPr lang="zh-CN" altLang="en-US" sz="2000" dirty="0">
                <a:solidFill>
                  <a:srgbClr val="0432FF"/>
                </a:solidFill>
              </a:rPr>
              <a:t>）继承</a:t>
            </a:r>
            <a:endParaRPr lang="en-US" altLang="zh-CN" sz="2000" dirty="0">
              <a:solidFill>
                <a:srgbClr val="0432FF"/>
              </a:solidFill>
            </a:endParaRPr>
          </a:p>
          <a:p>
            <a:pPr>
              <a:lnSpc>
                <a:spcPct val="130000"/>
              </a:lnSpc>
            </a:pPr>
            <a:r>
              <a:rPr lang="en-US" altLang="zh-CN" sz="2000" dirty="0"/>
              <a:t>    </a:t>
            </a:r>
            <a:r>
              <a:rPr lang="zh-CN" altLang="zh-CN" sz="2000" dirty="0"/>
              <a:t>继承是为了代码重用而设计的，是一种联结类的层次模型，允许和鼓励类之间的代码重用，同时提供了一种明确表述类之间共性的方法。</a:t>
            </a:r>
            <a:endParaRPr lang="en-US" altLang="zh-CN" sz="2000" dirty="0"/>
          </a:p>
          <a:p>
            <a:pPr>
              <a:lnSpc>
                <a:spcPct val="130000"/>
              </a:lnSpc>
            </a:pPr>
            <a:r>
              <a:rPr lang="en-US" altLang="zh-CN" sz="2000" dirty="0"/>
              <a:t>    </a:t>
            </a:r>
            <a:r>
              <a:rPr lang="zh-CN" altLang="zh-CN" sz="2000" dirty="0"/>
              <a:t>对象的一个新类可以从现有的类中派生，这个过程称为类继承。新类继承了原始类的特性，则新类被称为原始类的</a:t>
            </a:r>
            <a:r>
              <a:rPr lang="zh-CN" altLang="zh-CN" sz="2000" dirty="0">
                <a:solidFill>
                  <a:srgbClr val="C00000"/>
                </a:solidFill>
              </a:rPr>
              <a:t>派生类（子类）</a:t>
            </a:r>
            <a:r>
              <a:rPr lang="zh-CN" altLang="zh-CN" sz="2000" dirty="0"/>
              <a:t>，而原始类则称为新类的</a:t>
            </a:r>
            <a:r>
              <a:rPr lang="zh-CN" altLang="zh-CN" sz="2000" dirty="0">
                <a:solidFill>
                  <a:srgbClr val="C00000"/>
                </a:solidFill>
              </a:rPr>
              <a:t>基类（父类）</a:t>
            </a:r>
            <a:r>
              <a:rPr lang="zh-CN" altLang="zh-CN" sz="2000" dirty="0"/>
              <a:t>。父类和子类都可以分别实例化产生父对象和子对象</a:t>
            </a:r>
            <a:r>
              <a:rPr lang="zh-CN" altLang="en-US" sz="2000" dirty="0"/>
              <a:t>，</a:t>
            </a:r>
            <a:r>
              <a:rPr lang="zh-CN" altLang="zh-CN" sz="2000" dirty="0"/>
              <a:t>子对象可以继承父对象的属性和行为</a:t>
            </a:r>
            <a:r>
              <a:rPr lang="zh-CN" altLang="en-US" sz="2000" dirty="0"/>
              <a:t>。</a:t>
            </a:r>
            <a:endParaRPr lang="en-US" altLang="zh-CN" sz="2000" dirty="0"/>
          </a:p>
        </p:txBody>
      </p:sp>
      <p:sp>
        <p:nvSpPr>
          <p:cNvPr id="7" name="矩形 6"/>
          <p:cNvSpPr/>
          <p:nvPr/>
        </p:nvSpPr>
        <p:spPr>
          <a:xfrm>
            <a:off x="1062947" y="4268251"/>
            <a:ext cx="9980681" cy="1631216"/>
          </a:xfrm>
          <a:prstGeom prst="rect">
            <a:avLst/>
          </a:prstGeom>
        </p:spPr>
        <p:txBody>
          <a:bodyPr wrap="square">
            <a:spAutoFit/>
          </a:bodyPr>
          <a:lstStyle/>
          <a:p>
            <a:pPr indent="266700" algn="just">
              <a:spcAft>
                <a:spcPts val="0"/>
              </a:spcAft>
            </a:pPr>
            <a:r>
              <a:rPr lang="en-US" altLang="zh-CN" sz="2000" kern="100" dirty="0">
                <a:latin typeface="Times New Roman" panose="02020603050405020304" pitchFamily="18" charset="0"/>
                <a:ea typeface="宋体" panose="02010600030101010101" pitchFamily="2" charset="-122"/>
              </a:rPr>
              <a:t>Python</a:t>
            </a:r>
            <a:r>
              <a:rPr lang="zh-CN" altLang="zh-CN" sz="2000" kern="100" dirty="0">
                <a:latin typeface="Times New Roman" panose="02020603050405020304" pitchFamily="18" charset="0"/>
                <a:ea typeface="宋体" panose="02010600030101010101" pitchFamily="2" charset="-122"/>
              </a:rPr>
              <a:t>中的继承语法格式如下</a:t>
            </a:r>
            <a:r>
              <a:rPr lang="zh-CN" altLang="en-US" sz="2000" kern="100" dirty="0">
                <a:latin typeface="Times New Roman" panose="02020603050405020304" pitchFamily="18" charset="0"/>
                <a:ea typeface="宋体" panose="02010600030101010101" pitchFamily="2" charset="-122"/>
              </a:rPr>
              <a:t>：</a:t>
            </a:r>
            <a:endParaRPr lang="zh-CN" altLang="zh-CN" sz="2000" kern="100" dirty="0">
              <a:latin typeface="Times New Roman" panose="02020603050405020304" pitchFamily="18" charset="0"/>
              <a:ea typeface="宋体" panose="02010600030101010101" pitchFamily="2" charset="-122"/>
            </a:endParaRPr>
          </a:p>
          <a:p>
            <a:pPr marL="266700" indent="229235" algn="ctr">
              <a:spcAft>
                <a:spcPts val="0"/>
              </a:spcAft>
            </a:pPr>
            <a:r>
              <a:rPr lang="en-US" altLang="zh-CN" sz="2000" b="1" kern="100" dirty="0">
                <a:solidFill>
                  <a:srgbClr val="C00000"/>
                </a:solidFill>
                <a:latin typeface="Times New Roman" panose="02020603050405020304" pitchFamily="18" charset="0"/>
                <a:ea typeface="宋体" panose="02010600030101010101" pitchFamily="2" charset="-122"/>
              </a:rPr>
              <a:t>class </a:t>
            </a:r>
            <a:r>
              <a:rPr lang="en-US" altLang="zh-CN" sz="2000" b="1" kern="100" dirty="0" err="1">
                <a:solidFill>
                  <a:srgbClr val="7030A0"/>
                </a:solidFill>
                <a:latin typeface="Times New Roman" panose="02020603050405020304" pitchFamily="18" charset="0"/>
                <a:ea typeface="宋体" panose="02010600030101010101" pitchFamily="2" charset="-122"/>
              </a:rPr>
              <a:t>SubClassName</a:t>
            </a:r>
            <a:r>
              <a:rPr lang="en-US" altLang="zh-CN" sz="2000" b="1" kern="100" dirty="0">
                <a:solidFill>
                  <a:srgbClr val="C00000"/>
                </a:solidFill>
                <a:latin typeface="Times New Roman" panose="02020603050405020304" pitchFamily="18" charset="0"/>
                <a:ea typeface="宋体" panose="02010600030101010101" pitchFamily="2" charset="-122"/>
              </a:rPr>
              <a:t>(</a:t>
            </a:r>
            <a:r>
              <a:rPr lang="en-US" altLang="zh-CN" sz="2000" b="1" kern="100" dirty="0" err="1">
                <a:solidFill>
                  <a:srgbClr val="C00000"/>
                </a:solidFill>
                <a:latin typeface="Times New Roman" panose="02020603050405020304" pitchFamily="18" charset="0"/>
                <a:ea typeface="宋体" panose="02010600030101010101" pitchFamily="2" charset="-122"/>
              </a:rPr>
              <a:t>SuperClassName</a:t>
            </a:r>
            <a:r>
              <a:rPr lang="en-US" altLang="zh-CN" sz="2000" b="1" kern="100" dirty="0">
                <a:solidFill>
                  <a:srgbClr val="C00000"/>
                </a:solidFill>
                <a:latin typeface="Times New Roman" panose="02020603050405020304" pitchFamily="18" charset="0"/>
                <a:ea typeface="宋体" panose="02010600030101010101" pitchFamily="2" charset="-122"/>
              </a:rPr>
              <a:t>)</a:t>
            </a:r>
            <a:endParaRPr lang="zh-CN" altLang="zh-CN" sz="2000" kern="100" dirty="0">
              <a:solidFill>
                <a:srgbClr val="C00000"/>
              </a:solidFill>
              <a:latin typeface="Times New Roman" panose="02020603050405020304" pitchFamily="18" charset="0"/>
              <a:ea typeface="宋体" panose="02010600030101010101" pitchFamily="2" charset="-122"/>
            </a:endParaRPr>
          </a:p>
          <a:p>
            <a:pPr marL="342900" indent="-342900" algn="just">
              <a:spcAft>
                <a:spcPts val="0"/>
              </a:spcAft>
              <a:buFont typeface="Arial" panose="020B0604020202020204" pitchFamily="34" charset="0"/>
              <a:buChar char="•"/>
            </a:pPr>
            <a:r>
              <a:rPr lang="en-US" altLang="zh-CN" sz="2000" kern="100" dirty="0" err="1">
                <a:latin typeface="Times New Roman" panose="02020603050405020304" pitchFamily="18" charset="0"/>
                <a:ea typeface="宋体" panose="02010600030101010101" pitchFamily="2" charset="-122"/>
              </a:rPr>
              <a:t>SubClassName</a:t>
            </a:r>
            <a:r>
              <a:rPr lang="zh-CN" altLang="zh-CN" sz="2000" kern="100" dirty="0">
                <a:latin typeface="Times New Roman" panose="02020603050405020304" pitchFamily="18" charset="0"/>
                <a:ea typeface="宋体" panose="02010600030101010101" pitchFamily="2" charset="-122"/>
              </a:rPr>
              <a:t>是子类的名称</a:t>
            </a:r>
            <a:endParaRPr lang="en-US" altLang="zh-CN" sz="2000" kern="100" dirty="0">
              <a:latin typeface="Times New Roman" panose="02020603050405020304" pitchFamily="18" charset="0"/>
              <a:ea typeface="宋体" panose="02010600030101010101" pitchFamily="2" charset="-122"/>
            </a:endParaRPr>
          </a:p>
          <a:p>
            <a:pPr marL="342900" indent="-342900" algn="just">
              <a:spcAft>
                <a:spcPts val="0"/>
              </a:spcAft>
              <a:buFont typeface="Arial" panose="020B0604020202020204" pitchFamily="34" charset="0"/>
              <a:buChar char="•"/>
            </a:pPr>
            <a:r>
              <a:rPr lang="en-US" altLang="zh-CN" sz="2000" kern="100" dirty="0" err="1">
                <a:latin typeface="Times New Roman" panose="02020603050405020304" pitchFamily="18" charset="0"/>
                <a:ea typeface="宋体" panose="02010600030101010101" pitchFamily="2" charset="-122"/>
              </a:rPr>
              <a:t>SuperClassName</a:t>
            </a:r>
            <a:r>
              <a:rPr lang="zh-CN" altLang="zh-CN" sz="2000" kern="100" dirty="0">
                <a:latin typeface="Times New Roman" panose="02020603050405020304" pitchFamily="18" charset="0"/>
                <a:ea typeface="宋体" panose="02010600030101010101" pitchFamily="2" charset="-122"/>
              </a:rPr>
              <a:t>是父类的名称。子类可以同时继承多个父类，各个父类之间用“</a:t>
            </a:r>
            <a:r>
              <a:rPr lang="en-US" altLang="zh-CN" sz="2000" kern="100" dirty="0">
                <a:latin typeface="Times New Roman" panose="02020603050405020304" pitchFamily="18" charset="0"/>
                <a:ea typeface="宋体" panose="02010600030101010101" pitchFamily="2" charset="-122"/>
              </a:rPr>
              <a:t>,</a:t>
            </a:r>
            <a:r>
              <a:rPr lang="zh-CN" altLang="zh-CN" sz="2000" kern="100" dirty="0">
                <a:latin typeface="Times New Roman" panose="02020603050405020304" pitchFamily="18" charset="0"/>
                <a:ea typeface="宋体" panose="02010600030101010101" pitchFamily="2" charset="-122"/>
              </a:rPr>
              <a:t>”分隔。</a:t>
            </a:r>
          </a:p>
        </p:txBody>
      </p:sp>
    </p:spTree>
    <p:extLst>
      <p:ext uri="{BB962C8B-B14F-4D97-AF65-F5344CB8AC3E}">
        <p14:creationId xmlns:p14="http://schemas.microsoft.com/office/powerpoint/2010/main" val="1962743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altLang="zh-CN" b="1" dirty="0">
                <a:latin typeface="Microsoft YaHei" panose="020B0503020204020204" pitchFamily="34" charset="-122"/>
                <a:ea typeface="Microsoft YaHei" panose="020B0503020204020204" pitchFamily="34" charset="-122"/>
              </a:rPr>
              <a:t>1 </a:t>
            </a:r>
            <a:r>
              <a:rPr lang="zh-CN" altLang="en-US" b="1" dirty="0">
                <a:latin typeface="Microsoft YaHei" panose="020B0503020204020204" pitchFamily="34" charset="-122"/>
                <a:ea typeface="Microsoft YaHei" panose="020B0503020204020204" pitchFamily="34" charset="-122"/>
              </a:rPr>
              <a:t>继承</a:t>
            </a:r>
            <a:r>
              <a:rPr lang="en-US" altLang="zh-CN" b="1" dirty="0">
                <a:latin typeface="Microsoft YaHei" panose="020B0503020204020204" pitchFamily="34" charset="-122"/>
                <a:ea typeface="Microsoft YaHei" panose="020B0503020204020204" pitchFamily="34" charset="-122"/>
              </a:rPr>
              <a:t>-</a:t>
            </a:r>
            <a:r>
              <a:rPr lang="zh-CN" altLang="en-US" b="1" dirty="0">
                <a:solidFill>
                  <a:srgbClr val="7030A0"/>
                </a:solidFill>
              </a:rPr>
              <a:t>单继承</a:t>
            </a:r>
            <a:endParaRPr lang="en-US" b="1" dirty="0">
              <a:latin typeface="Microsoft YaHei" panose="020B0503020204020204" pitchFamily="34" charset="-122"/>
              <a:ea typeface="Microsoft YaHei" panose="020B0503020204020204" pitchFamily="34" charset="-122"/>
            </a:endParaRPr>
          </a:p>
        </p:txBody>
      </p:sp>
      <p:sp>
        <p:nvSpPr>
          <p:cNvPr id="5" name="文本框 4"/>
          <p:cNvSpPr txBox="1"/>
          <p:nvPr/>
        </p:nvSpPr>
        <p:spPr>
          <a:xfrm>
            <a:off x="1104900" y="1345363"/>
            <a:ext cx="9980682" cy="400110"/>
          </a:xfrm>
          <a:prstGeom prst="rect">
            <a:avLst/>
          </a:prstGeom>
          <a:noFill/>
        </p:spPr>
        <p:txBody>
          <a:bodyPr wrap="square" rtlCol="0">
            <a:spAutoFit/>
          </a:bodyPr>
          <a:lstStyle/>
          <a:p>
            <a:pPr marL="342900" indent="-342900">
              <a:buFont typeface="Wingdings" panose="05000000000000000000" pitchFamily="2" charset="2"/>
              <a:buChar char="n"/>
            </a:pPr>
            <a:r>
              <a:rPr lang="zh-CN" altLang="en-US" sz="2000" b="1" dirty="0">
                <a:solidFill>
                  <a:srgbClr val="7030A0"/>
                </a:solidFill>
              </a:rPr>
              <a:t>单继承</a:t>
            </a:r>
            <a:r>
              <a:rPr lang="en-US" altLang="zh-CN" sz="2000" b="1" dirty="0">
                <a:solidFill>
                  <a:srgbClr val="7030A0"/>
                </a:solidFill>
              </a:rPr>
              <a:t>:</a:t>
            </a:r>
            <a:r>
              <a:rPr lang="zh-CN" altLang="zh-CN" sz="2000" dirty="0"/>
              <a:t>子类只继承自一个父类</a:t>
            </a:r>
          </a:p>
        </p:txBody>
      </p:sp>
      <p:pic>
        <p:nvPicPr>
          <p:cNvPr id="2" name="Picture 1">
            <a:extLst>
              <a:ext uri="{FF2B5EF4-FFF2-40B4-BE49-F238E27FC236}">
                <a16:creationId xmlns:a16="http://schemas.microsoft.com/office/drawing/2014/main" id="{31874590-D816-9A1E-BE67-B47201A45478}"/>
              </a:ext>
            </a:extLst>
          </p:cNvPr>
          <p:cNvPicPr>
            <a:picLocks noChangeAspect="1"/>
          </p:cNvPicPr>
          <p:nvPr/>
        </p:nvPicPr>
        <p:blipFill>
          <a:blip r:embed="rId2"/>
          <a:stretch>
            <a:fillRect/>
          </a:stretch>
        </p:blipFill>
        <p:spPr>
          <a:xfrm>
            <a:off x="822036" y="1917674"/>
            <a:ext cx="4978400" cy="2311400"/>
          </a:xfrm>
          <a:prstGeom prst="rect">
            <a:avLst/>
          </a:prstGeom>
          <a:effectLst>
            <a:outerShdw blurRad="63500" sx="102000" sy="102000" algn="ctr" rotWithShape="0">
              <a:prstClr val="black">
                <a:alpha val="40000"/>
              </a:prstClr>
            </a:outerShdw>
          </a:effectLst>
        </p:spPr>
      </p:pic>
      <p:pic>
        <p:nvPicPr>
          <p:cNvPr id="6" name="Picture 5">
            <a:extLst>
              <a:ext uri="{FF2B5EF4-FFF2-40B4-BE49-F238E27FC236}">
                <a16:creationId xmlns:a16="http://schemas.microsoft.com/office/drawing/2014/main" id="{7A19A955-4D33-18F1-2996-5DE2225BC7F5}"/>
              </a:ext>
            </a:extLst>
          </p:cNvPr>
          <p:cNvPicPr>
            <a:picLocks noChangeAspect="1"/>
          </p:cNvPicPr>
          <p:nvPr/>
        </p:nvPicPr>
        <p:blipFill>
          <a:blip r:embed="rId3"/>
          <a:stretch>
            <a:fillRect/>
          </a:stretch>
        </p:blipFill>
        <p:spPr>
          <a:xfrm>
            <a:off x="822036" y="4401275"/>
            <a:ext cx="5092700" cy="1955800"/>
          </a:xfrm>
          <a:prstGeom prst="rect">
            <a:avLst/>
          </a:prstGeom>
          <a:effectLst>
            <a:outerShdw blurRad="63500" sx="102000" sy="102000" algn="ctr" rotWithShape="0">
              <a:prstClr val="black">
                <a:alpha val="40000"/>
              </a:prstClr>
            </a:outerShdw>
          </a:effectLst>
        </p:spPr>
      </p:pic>
      <p:pic>
        <p:nvPicPr>
          <p:cNvPr id="8" name="Picture 7">
            <a:extLst>
              <a:ext uri="{FF2B5EF4-FFF2-40B4-BE49-F238E27FC236}">
                <a16:creationId xmlns:a16="http://schemas.microsoft.com/office/drawing/2014/main" id="{A8E1A81B-1D85-8E9B-C61D-821EBC4272DB}"/>
              </a:ext>
            </a:extLst>
          </p:cNvPr>
          <p:cNvPicPr>
            <a:picLocks noChangeAspect="1"/>
          </p:cNvPicPr>
          <p:nvPr/>
        </p:nvPicPr>
        <p:blipFill>
          <a:blip r:embed="rId4"/>
          <a:stretch>
            <a:fillRect/>
          </a:stretch>
        </p:blipFill>
        <p:spPr>
          <a:xfrm>
            <a:off x="6266876" y="596123"/>
            <a:ext cx="5384800" cy="2298700"/>
          </a:xfrm>
          <a:prstGeom prst="rect">
            <a:avLst/>
          </a:prstGeom>
          <a:effectLst>
            <a:outerShdw blurRad="63500" sx="102000" sy="102000" algn="ctr" rotWithShape="0">
              <a:prstClr val="black">
                <a:alpha val="40000"/>
              </a:prstClr>
            </a:outerShdw>
          </a:effectLst>
        </p:spPr>
      </p:pic>
      <p:pic>
        <p:nvPicPr>
          <p:cNvPr id="10" name="Picture 9">
            <a:extLst>
              <a:ext uri="{FF2B5EF4-FFF2-40B4-BE49-F238E27FC236}">
                <a16:creationId xmlns:a16="http://schemas.microsoft.com/office/drawing/2014/main" id="{23895FD7-2E6B-D8EA-63B7-F31FF4F5E205}"/>
              </a:ext>
            </a:extLst>
          </p:cNvPr>
          <p:cNvPicPr>
            <a:picLocks noChangeAspect="1"/>
          </p:cNvPicPr>
          <p:nvPr/>
        </p:nvPicPr>
        <p:blipFill>
          <a:blip r:embed="rId5"/>
          <a:stretch>
            <a:fillRect/>
          </a:stretch>
        </p:blipFill>
        <p:spPr>
          <a:xfrm>
            <a:off x="7001046" y="3067024"/>
            <a:ext cx="4084536" cy="3233305"/>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885287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altLang="zh-CN" b="1" dirty="0">
                <a:latin typeface="Microsoft YaHei" panose="020B0503020204020204" pitchFamily="34" charset="-122"/>
                <a:ea typeface="Microsoft YaHei" panose="020B0503020204020204" pitchFamily="34" charset="-122"/>
              </a:rPr>
              <a:t>1 </a:t>
            </a:r>
            <a:r>
              <a:rPr lang="zh-CN" altLang="en-US" b="1" dirty="0">
                <a:latin typeface="Microsoft YaHei" panose="020B0503020204020204" pitchFamily="34" charset="-122"/>
                <a:ea typeface="Microsoft YaHei" panose="020B0503020204020204" pitchFamily="34" charset="-122"/>
              </a:rPr>
              <a:t>继承</a:t>
            </a:r>
            <a:r>
              <a:rPr lang="en-US" altLang="zh-CN" b="1" dirty="0">
                <a:latin typeface="Microsoft YaHei" panose="020B0503020204020204" pitchFamily="34" charset="-122"/>
                <a:ea typeface="Microsoft YaHei" panose="020B0503020204020204" pitchFamily="34" charset="-122"/>
              </a:rPr>
              <a:t>-</a:t>
            </a:r>
            <a:r>
              <a:rPr lang="zh-CN" altLang="en-US" b="1" dirty="0">
                <a:solidFill>
                  <a:srgbClr val="7030A0"/>
                </a:solidFill>
              </a:rPr>
              <a:t>单继承</a:t>
            </a:r>
            <a:endParaRPr lang="en-US" b="1" dirty="0"/>
          </a:p>
        </p:txBody>
      </p:sp>
      <p:sp>
        <p:nvSpPr>
          <p:cNvPr id="12" name="矩形 11"/>
          <p:cNvSpPr/>
          <p:nvPr/>
        </p:nvSpPr>
        <p:spPr>
          <a:xfrm>
            <a:off x="1228240" y="4567171"/>
            <a:ext cx="9980682" cy="1703800"/>
          </a:xfrm>
          <a:prstGeom prst="rect">
            <a:avLst/>
          </a:prstGeom>
        </p:spPr>
        <p:txBody>
          <a:bodyPr wrap="square">
            <a:spAutoFit/>
          </a:bodyPr>
          <a:lstStyle/>
          <a:p>
            <a:pPr>
              <a:lnSpc>
                <a:spcPct val="150000"/>
              </a:lnSpc>
            </a:pP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注意：</a:t>
            </a:r>
            <a:r>
              <a:rPr lang="zh-CN" altLang="zh-CN" kern="100" dirty="0">
                <a:solidFill>
                  <a:srgbClr val="0432FF"/>
                </a:solidFill>
                <a:latin typeface="Microsoft YaHei" panose="020B0503020204020204" pitchFamily="34" charset="-122"/>
                <a:ea typeface="Microsoft YaHei" panose="020B0503020204020204" pitchFamily="34" charset="-122"/>
                <a:cs typeface="Times New Roman" panose="02020603050405020304" pitchFamily="18" charset="0"/>
              </a:rPr>
              <a:t>当父类的方法</a:t>
            </a:r>
            <a:r>
              <a:rPr lang="zh-CN" altLang="zh-CN" kern="10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不能够满足子类的要求的时候</a:t>
            </a:r>
            <a:r>
              <a:rPr lang="zh-CN" altLang="zh-CN" kern="100" dirty="0">
                <a:solidFill>
                  <a:srgbClr val="0432FF"/>
                </a:solidFill>
                <a:latin typeface="Microsoft YaHei" panose="020B0503020204020204" pitchFamily="34" charset="-122"/>
                <a:ea typeface="Microsoft YaHei" panose="020B0503020204020204" pitchFamily="34" charset="-122"/>
                <a:cs typeface="Times New Roman" panose="02020603050405020304" pitchFamily="18" charset="0"/>
              </a:rPr>
              <a:t>，子类可以对父类的方法进行</a:t>
            </a:r>
            <a:r>
              <a:rPr lang="zh-CN" altLang="zh-CN" kern="100" dirty="0">
                <a:solidFill>
                  <a:srgbClr val="FF0000"/>
                </a:solidFill>
                <a:latin typeface="Microsoft YaHei" panose="020B0503020204020204" pitchFamily="34" charset="-122"/>
                <a:ea typeface="Microsoft YaHei" panose="020B0503020204020204" pitchFamily="34" charset="-122"/>
                <a:cs typeface="Times New Roman" panose="02020603050405020304" pitchFamily="18" charset="0"/>
              </a:rPr>
              <a:t>重写</a:t>
            </a:r>
            <a:r>
              <a:rPr lang="zh-CN" altLang="zh-CN" kern="100" dirty="0">
                <a:latin typeface="Microsoft YaHei" panose="020B0503020204020204" pitchFamily="34" charset="-122"/>
                <a:ea typeface="Microsoft YaHei" panose="020B0503020204020204" pitchFamily="34" charset="-122"/>
                <a:cs typeface="Times New Roman" panose="02020603050405020304" pitchFamily="18" charset="0"/>
              </a:rPr>
              <a:t>。重写方法的时候，被重写的子类中的方法名必须与父类的方法名相同，这样程序将不会再使用父类中的方法，而只使用子类中重写后的方法</a:t>
            </a:r>
            <a:r>
              <a:rPr lang="zh-CN" altLang="en-US" kern="100" dirty="0">
                <a:latin typeface="Microsoft YaHei" panose="020B0503020204020204" pitchFamily="34" charset="-122"/>
                <a:ea typeface="Microsoft YaHei" panose="020B0503020204020204" pitchFamily="34" charset="-122"/>
                <a:cs typeface="Times New Roman" panose="02020603050405020304" pitchFamily="18" charset="0"/>
              </a:rPr>
              <a:t>；</a:t>
            </a:r>
            <a:r>
              <a:rPr lang="zh-CN" altLang="zh-CN" dirty="0">
                <a:solidFill>
                  <a:srgbClr val="0432FF"/>
                </a:solidFill>
                <a:latin typeface="Microsoft YaHei" panose="020B0503020204020204" pitchFamily="34" charset="-122"/>
                <a:ea typeface="Microsoft YaHei" panose="020B0503020204020204" pitchFamily="34" charset="-122"/>
              </a:rPr>
              <a:t>如果父类的方法能够满足子类的要求</a:t>
            </a:r>
            <a:r>
              <a:rPr lang="zh-CN" altLang="zh-CN" dirty="0">
                <a:latin typeface="Microsoft YaHei" panose="020B0503020204020204" pitchFamily="34" charset="-122"/>
                <a:ea typeface="Microsoft YaHei" panose="020B0503020204020204" pitchFamily="34" charset="-122"/>
              </a:rPr>
              <a:t>，子类就不需要重写覆盖父类的方法，也不需要在子类中重新定义新的方法，而是可以直接调用父类的方法</a:t>
            </a:r>
            <a:endParaRPr lang="zh-CN" altLang="en-US" dirty="0">
              <a:latin typeface="Microsoft YaHei" panose="020B0503020204020204" pitchFamily="34" charset="-122"/>
              <a:ea typeface="Microsoft YaHei" panose="020B0503020204020204" pitchFamily="34" charset="-122"/>
            </a:endParaRPr>
          </a:p>
        </p:txBody>
      </p:sp>
      <p:pic>
        <p:nvPicPr>
          <p:cNvPr id="2" name="Picture 1">
            <a:extLst>
              <a:ext uri="{FF2B5EF4-FFF2-40B4-BE49-F238E27FC236}">
                <a16:creationId xmlns:a16="http://schemas.microsoft.com/office/drawing/2014/main" id="{58A3D847-CEFE-B64A-A454-15DC249C88B3}"/>
              </a:ext>
            </a:extLst>
          </p:cNvPr>
          <p:cNvPicPr>
            <a:picLocks noChangeAspect="1"/>
          </p:cNvPicPr>
          <p:nvPr/>
        </p:nvPicPr>
        <p:blipFill>
          <a:blip r:embed="rId2"/>
          <a:stretch>
            <a:fillRect/>
          </a:stretch>
        </p:blipFill>
        <p:spPr>
          <a:xfrm>
            <a:off x="1228240" y="1775759"/>
            <a:ext cx="4241800" cy="1892300"/>
          </a:xfrm>
          <a:prstGeom prst="rect">
            <a:avLst/>
          </a:prstGeom>
          <a:effectLst>
            <a:outerShdw blurRad="63500" sx="102000" sy="102000" algn="ctr" rotWithShape="0">
              <a:prstClr val="black">
                <a:alpha val="40000"/>
              </a:prstClr>
            </a:outerShdw>
          </a:effectLst>
        </p:spPr>
      </p:pic>
      <p:pic>
        <p:nvPicPr>
          <p:cNvPr id="4" name="Picture 3">
            <a:extLst>
              <a:ext uri="{FF2B5EF4-FFF2-40B4-BE49-F238E27FC236}">
                <a16:creationId xmlns:a16="http://schemas.microsoft.com/office/drawing/2014/main" id="{87C2E96A-140E-6A69-95E8-8CBE8094CFEC}"/>
              </a:ext>
            </a:extLst>
          </p:cNvPr>
          <p:cNvPicPr>
            <a:picLocks noChangeAspect="1"/>
          </p:cNvPicPr>
          <p:nvPr/>
        </p:nvPicPr>
        <p:blipFill>
          <a:blip r:embed="rId3"/>
          <a:stretch>
            <a:fillRect/>
          </a:stretch>
        </p:blipFill>
        <p:spPr>
          <a:xfrm>
            <a:off x="6129780" y="1637112"/>
            <a:ext cx="4610100" cy="25908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501052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dirty="0">
                <a:latin typeface="Microsoft YaHei" panose="020B0503020204020204" pitchFamily="34" charset="-122"/>
                <a:ea typeface="Microsoft YaHei" panose="020B0503020204020204" pitchFamily="34" charset="-122"/>
              </a:rPr>
              <a:t>1 </a:t>
            </a:r>
            <a:r>
              <a:rPr lang="zh-CN" altLang="en-US" b="1" dirty="0">
                <a:latin typeface="Microsoft YaHei" panose="020B0503020204020204" pitchFamily="34" charset="-122"/>
                <a:ea typeface="Microsoft YaHei" panose="020B0503020204020204" pitchFamily="34" charset="-122"/>
              </a:rPr>
              <a:t>继承</a:t>
            </a:r>
            <a:r>
              <a:rPr lang="en-US" altLang="zh-CN" b="1" dirty="0">
                <a:latin typeface="Microsoft YaHei" panose="020B0503020204020204" pitchFamily="34" charset="-122"/>
                <a:ea typeface="Microsoft YaHei" panose="020B0503020204020204" pitchFamily="34" charset="-122"/>
              </a:rPr>
              <a:t>-</a:t>
            </a:r>
            <a:r>
              <a:rPr lang="zh-CN" altLang="en-US" b="1" dirty="0">
                <a:solidFill>
                  <a:srgbClr val="7030A0"/>
                </a:solidFill>
              </a:rPr>
              <a:t>多继承</a:t>
            </a:r>
            <a:endParaRPr lang="en-US" b="1" dirty="0"/>
          </a:p>
        </p:txBody>
      </p:sp>
      <p:sp>
        <p:nvSpPr>
          <p:cNvPr id="3" name="文本框 2"/>
          <p:cNvSpPr txBox="1"/>
          <p:nvPr/>
        </p:nvSpPr>
        <p:spPr>
          <a:xfrm>
            <a:off x="1104900" y="1400145"/>
            <a:ext cx="9980682" cy="400110"/>
          </a:xfrm>
          <a:prstGeom prst="rect">
            <a:avLst/>
          </a:prstGeom>
          <a:noFill/>
        </p:spPr>
        <p:txBody>
          <a:bodyPr wrap="square" rtlCol="0">
            <a:spAutoFit/>
          </a:bodyPr>
          <a:lstStyle/>
          <a:p>
            <a:pPr marL="342900" indent="-342900">
              <a:buFont typeface="Wingdings" panose="05000000000000000000" pitchFamily="2" charset="2"/>
              <a:buChar char="n"/>
            </a:pPr>
            <a:r>
              <a:rPr lang="zh-CN" altLang="en-US" sz="2000" b="1" dirty="0">
                <a:solidFill>
                  <a:srgbClr val="7030A0"/>
                </a:solidFill>
              </a:rPr>
              <a:t>多继承</a:t>
            </a:r>
            <a:r>
              <a:rPr lang="en-US" altLang="zh-CN" sz="2000" b="1" dirty="0">
                <a:solidFill>
                  <a:srgbClr val="7030A0"/>
                </a:solidFill>
              </a:rPr>
              <a:t>:</a:t>
            </a:r>
            <a:r>
              <a:rPr lang="zh-CN" altLang="zh-CN" sz="2000" dirty="0"/>
              <a:t>子类继承自</a:t>
            </a:r>
            <a:r>
              <a:rPr lang="zh-CN" altLang="en-US" sz="2000" dirty="0"/>
              <a:t>多</a:t>
            </a:r>
            <a:r>
              <a:rPr lang="zh-CN" altLang="zh-CN" sz="2000" dirty="0"/>
              <a:t>个父类</a:t>
            </a:r>
          </a:p>
        </p:txBody>
      </p:sp>
      <p:pic>
        <p:nvPicPr>
          <p:cNvPr id="4" name="Picture 3">
            <a:extLst>
              <a:ext uri="{FF2B5EF4-FFF2-40B4-BE49-F238E27FC236}">
                <a16:creationId xmlns:a16="http://schemas.microsoft.com/office/drawing/2014/main" id="{FAAD8317-C7C5-54D6-B508-4E22FFCBF527}"/>
              </a:ext>
            </a:extLst>
          </p:cNvPr>
          <p:cNvPicPr>
            <a:picLocks noChangeAspect="1"/>
          </p:cNvPicPr>
          <p:nvPr/>
        </p:nvPicPr>
        <p:blipFill>
          <a:blip r:embed="rId3"/>
          <a:stretch>
            <a:fillRect/>
          </a:stretch>
        </p:blipFill>
        <p:spPr>
          <a:xfrm>
            <a:off x="859377" y="2027238"/>
            <a:ext cx="4584700" cy="4254500"/>
          </a:xfrm>
          <a:prstGeom prst="rect">
            <a:avLst/>
          </a:prstGeom>
          <a:effectLst>
            <a:outerShdw blurRad="63500" sx="102000" sy="102000" algn="ctr" rotWithShape="0">
              <a:prstClr val="black">
                <a:alpha val="40000"/>
              </a:prstClr>
            </a:outerShdw>
          </a:effectLst>
        </p:spPr>
      </p:pic>
      <p:pic>
        <p:nvPicPr>
          <p:cNvPr id="6" name="Picture 5">
            <a:extLst>
              <a:ext uri="{FF2B5EF4-FFF2-40B4-BE49-F238E27FC236}">
                <a16:creationId xmlns:a16="http://schemas.microsoft.com/office/drawing/2014/main" id="{20EFD1DC-9124-ECBF-0F14-B6AAE135725E}"/>
              </a:ext>
            </a:extLst>
          </p:cNvPr>
          <p:cNvPicPr>
            <a:picLocks noChangeAspect="1"/>
          </p:cNvPicPr>
          <p:nvPr/>
        </p:nvPicPr>
        <p:blipFill>
          <a:blip r:embed="rId4"/>
          <a:stretch>
            <a:fillRect/>
          </a:stretch>
        </p:blipFill>
        <p:spPr>
          <a:xfrm>
            <a:off x="6095241" y="517555"/>
            <a:ext cx="3111500" cy="2565400"/>
          </a:xfrm>
          <a:prstGeom prst="rect">
            <a:avLst/>
          </a:prstGeom>
          <a:effectLst>
            <a:outerShdw blurRad="63500" sx="102000" sy="102000" algn="ctr" rotWithShape="0">
              <a:prstClr val="black">
                <a:alpha val="40000"/>
              </a:prstClr>
            </a:outerShdw>
          </a:effectLst>
        </p:spPr>
      </p:pic>
      <p:sp>
        <p:nvSpPr>
          <p:cNvPr id="7" name="矩形 5">
            <a:extLst>
              <a:ext uri="{FF2B5EF4-FFF2-40B4-BE49-F238E27FC236}">
                <a16:creationId xmlns:a16="http://schemas.microsoft.com/office/drawing/2014/main" id="{E6DF8411-0C2F-F259-211C-17E4F82127F4}"/>
              </a:ext>
            </a:extLst>
          </p:cNvPr>
          <p:cNvSpPr/>
          <p:nvPr/>
        </p:nvSpPr>
        <p:spPr>
          <a:xfrm>
            <a:off x="6095241" y="3309938"/>
            <a:ext cx="5566428" cy="2941896"/>
          </a:xfrm>
          <a:prstGeom prst="rect">
            <a:avLst/>
          </a:prstGeom>
        </p:spPr>
        <p:txBody>
          <a:bodyPr wrap="square">
            <a:spAutoFit/>
          </a:bodyPr>
          <a:lstStyle/>
          <a:p>
            <a:pPr algn="just">
              <a:lnSpc>
                <a:spcPct val="130000"/>
              </a:lnSpc>
              <a:spcAft>
                <a:spcPts val="0"/>
              </a:spcAft>
            </a:pPr>
            <a:r>
              <a:rPr lang="zh-CN" altLang="en-US" sz="1600" kern="100" dirty="0">
                <a:latin typeface="Microsoft YaHei" panose="020B0503020204020204" pitchFamily="34" charset="-122"/>
                <a:ea typeface="Microsoft YaHei" panose="020B0503020204020204" pitchFamily="34" charset="-122"/>
              </a:rPr>
              <a:t>注意：</a:t>
            </a:r>
            <a:r>
              <a:rPr lang="zh-CN" altLang="zh-CN" sz="1600" kern="100" dirty="0">
                <a:solidFill>
                  <a:srgbClr val="0432FF"/>
                </a:solidFill>
                <a:latin typeface="Microsoft YaHei" panose="020B0503020204020204" pitchFamily="34" charset="-122"/>
                <a:ea typeface="Microsoft YaHei" panose="020B0503020204020204" pitchFamily="34" charset="-122"/>
              </a:rPr>
              <a:t>多继承是分先后次序的，先被继承的父类的优先级高于后被继承的父类。</a:t>
            </a:r>
            <a:endParaRPr lang="en-US" altLang="zh-CN" sz="1600" kern="100" dirty="0">
              <a:solidFill>
                <a:srgbClr val="0432FF"/>
              </a:solidFill>
              <a:latin typeface="Microsoft YaHei" panose="020B0503020204020204" pitchFamily="34" charset="-122"/>
              <a:ea typeface="Microsoft YaHei" panose="020B0503020204020204" pitchFamily="34" charset="-122"/>
            </a:endParaRPr>
          </a:p>
          <a:p>
            <a:pPr marL="285750" indent="-285750" algn="just">
              <a:lnSpc>
                <a:spcPct val="130000"/>
              </a:lnSpc>
              <a:spcAft>
                <a:spcPts val="0"/>
              </a:spcAft>
              <a:buFont typeface="Arial" panose="020B0604020202020204" pitchFamily="34" charset="0"/>
              <a:buChar char="•"/>
            </a:pPr>
            <a:r>
              <a:rPr lang="zh-CN" altLang="zh-CN" sz="1600" kern="100" dirty="0">
                <a:latin typeface="Microsoft YaHei" panose="020B0503020204020204" pitchFamily="34" charset="-122"/>
                <a:ea typeface="Microsoft YaHei" panose="020B0503020204020204" pitchFamily="34" charset="-122"/>
              </a:rPr>
              <a:t>假如继承的多个父类包含同一个方法，而子类并没有重写该方法，当子类调用该方法的时，</a:t>
            </a:r>
            <a:r>
              <a:rPr lang="zh-CN" altLang="zh-CN" sz="1600" kern="100" dirty="0">
                <a:solidFill>
                  <a:srgbClr val="FF9300"/>
                </a:solidFill>
                <a:latin typeface="Microsoft YaHei" panose="020B0503020204020204" pitchFamily="34" charset="-122"/>
                <a:ea typeface="Microsoft YaHei" panose="020B0503020204020204" pitchFamily="34" charset="-122"/>
              </a:rPr>
              <a:t>会从优先级高到优先级低（从左到右）的次序，依次查找每个父类</a:t>
            </a:r>
            <a:r>
              <a:rPr lang="zh-CN" altLang="zh-CN" sz="1600" kern="100" dirty="0">
                <a:latin typeface="Microsoft YaHei" panose="020B0503020204020204" pitchFamily="34" charset="-122"/>
                <a:ea typeface="Microsoft YaHei" panose="020B0503020204020204" pitchFamily="34" charset="-122"/>
              </a:rPr>
              <a:t>，直到在某个父类中找到该方法的定义为止。</a:t>
            </a:r>
            <a:endParaRPr lang="en-US" altLang="zh-CN" sz="1600" kern="100" dirty="0">
              <a:latin typeface="Microsoft YaHei" panose="020B0503020204020204" pitchFamily="34" charset="-122"/>
              <a:ea typeface="Microsoft YaHei" panose="020B0503020204020204" pitchFamily="34" charset="-122"/>
            </a:endParaRPr>
          </a:p>
          <a:p>
            <a:pPr marL="285750" indent="-285750" algn="just">
              <a:lnSpc>
                <a:spcPct val="130000"/>
              </a:lnSpc>
              <a:spcAft>
                <a:spcPts val="0"/>
              </a:spcAft>
              <a:buFont typeface="Arial" panose="020B0604020202020204" pitchFamily="34" charset="0"/>
              <a:buChar char="•"/>
            </a:pPr>
            <a:r>
              <a:rPr lang="zh-CN" altLang="zh-CN" sz="1600" kern="100" dirty="0">
                <a:solidFill>
                  <a:srgbClr val="C00000"/>
                </a:solidFill>
                <a:latin typeface="Microsoft YaHei" panose="020B0503020204020204" pitchFamily="34" charset="-122"/>
                <a:ea typeface="Microsoft YaHei" panose="020B0503020204020204" pitchFamily="34" charset="-122"/>
              </a:rPr>
              <a:t>如果在所有的父类中都找不到该方法</a:t>
            </a:r>
            <a:r>
              <a:rPr lang="zh-CN" altLang="zh-CN" sz="1600" kern="100" dirty="0">
                <a:latin typeface="Microsoft YaHei" panose="020B0503020204020204" pitchFamily="34" charset="-122"/>
                <a:ea typeface="Microsoft YaHei" panose="020B0503020204020204" pitchFamily="34" charset="-122"/>
              </a:rPr>
              <a:t>，</a:t>
            </a:r>
            <a:r>
              <a:rPr lang="en-US" altLang="zh-CN" sz="1600" kern="100" dirty="0">
                <a:latin typeface="Microsoft YaHei" panose="020B0503020204020204" pitchFamily="34" charset="-122"/>
                <a:ea typeface="Microsoft YaHei" panose="020B0503020204020204" pitchFamily="34" charset="-122"/>
              </a:rPr>
              <a:t>Python</a:t>
            </a:r>
            <a:r>
              <a:rPr lang="zh-CN" altLang="zh-CN" sz="1600" kern="100" dirty="0">
                <a:latin typeface="Microsoft YaHei" panose="020B0503020204020204" pitchFamily="34" charset="-122"/>
                <a:ea typeface="Microsoft YaHei" panose="020B0503020204020204" pitchFamily="34" charset="-122"/>
              </a:rPr>
              <a:t>会继续向上查找，即查找父类的父类中所有的方法，若一直查到最初的基类都找不到该方法的定义，系统就会报错。</a:t>
            </a:r>
          </a:p>
        </p:txBody>
      </p:sp>
    </p:spTree>
    <p:extLst>
      <p:ext uri="{BB962C8B-B14F-4D97-AF65-F5344CB8AC3E}">
        <p14:creationId xmlns:p14="http://schemas.microsoft.com/office/powerpoint/2010/main" val="3285663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dirty="0">
                <a:latin typeface="Microsoft YaHei" panose="020B0503020204020204" pitchFamily="34" charset="-122"/>
                <a:ea typeface="Microsoft YaHei" panose="020B0503020204020204" pitchFamily="34" charset="-122"/>
              </a:rPr>
              <a:t>1 </a:t>
            </a:r>
            <a:r>
              <a:rPr lang="zh-CN" altLang="en-US" b="1" dirty="0">
                <a:latin typeface="Microsoft YaHei" panose="020B0503020204020204" pitchFamily="34" charset="-122"/>
                <a:ea typeface="Microsoft YaHei" panose="020B0503020204020204" pitchFamily="34" charset="-122"/>
              </a:rPr>
              <a:t>继承</a:t>
            </a:r>
            <a:r>
              <a:rPr lang="en-US" altLang="zh-CN" b="1" dirty="0">
                <a:latin typeface="Microsoft YaHei" panose="020B0503020204020204" pitchFamily="34" charset="-122"/>
                <a:ea typeface="Microsoft YaHei" panose="020B0503020204020204" pitchFamily="34" charset="-122"/>
              </a:rPr>
              <a:t>-</a:t>
            </a:r>
            <a:r>
              <a:rPr lang="zh-CN" altLang="en-US" b="1" dirty="0">
                <a:solidFill>
                  <a:srgbClr val="7030A0"/>
                </a:solidFill>
              </a:rPr>
              <a:t>多继承</a:t>
            </a:r>
            <a:endParaRPr lang="en-US" b="1" dirty="0"/>
          </a:p>
        </p:txBody>
      </p:sp>
      <p:pic>
        <p:nvPicPr>
          <p:cNvPr id="3" name="Picture 2">
            <a:extLst>
              <a:ext uri="{FF2B5EF4-FFF2-40B4-BE49-F238E27FC236}">
                <a16:creationId xmlns:a16="http://schemas.microsoft.com/office/drawing/2014/main" id="{A748E330-720A-05C9-5D3E-13347B3BC261}"/>
              </a:ext>
            </a:extLst>
          </p:cNvPr>
          <p:cNvPicPr>
            <a:picLocks noChangeAspect="1"/>
          </p:cNvPicPr>
          <p:nvPr/>
        </p:nvPicPr>
        <p:blipFill>
          <a:blip r:embed="rId3"/>
          <a:stretch>
            <a:fillRect/>
          </a:stretch>
        </p:blipFill>
        <p:spPr>
          <a:xfrm>
            <a:off x="1552864" y="2064327"/>
            <a:ext cx="1600200" cy="3505200"/>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86E5A4CA-A337-61FD-B331-7AB5B0D5C240}"/>
              </a:ext>
            </a:extLst>
          </p:cNvPr>
          <p:cNvPicPr>
            <a:picLocks noChangeAspect="1"/>
          </p:cNvPicPr>
          <p:nvPr/>
        </p:nvPicPr>
        <p:blipFill>
          <a:blip r:embed="rId4"/>
          <a:stretch>
            <a:fillRect/>
          </a:stretch>
        </p:blipFill>
        <p:spPr>
          <a:xfrm>
            <a:off x="3908136" y="1877868"/>
            <a:ext cx="6731000" cy="41275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73839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dirty="0">
                <a:latin typeface="Microsoft YaHei" panose="020B0503020204020204" pitchFamily="34" charset="-122"/>
                <a:ea typeface="Microsoft YaHei" panose="020B0503020204020204" pitchFamily="34" charset="-122"/>
              </a:rPr>
              <a:t>2 </a:t>
            </a:r>
            <a:r>
              <a:rPr lang="zh-CN" altLang="en-US" b="1" dirty="0">
                <a:latin typeface="Microsoft YaHei" panose="020B0503020204020204" pitchFamily="34" charset="-122"/>
                <a:ea typeface="Microsoft YaHei" panose="020B0503020204020204" pitchFamily="34" charset="-122"/>
              </a:rPr>
              <a:t>多态</a:t>
            </a:r>
            <a:endParaRPr lang="en-US" b="1" dirty="0"/>
          </a:p>
        </p:txBody>
      </p:sp>
      <p:sp>
        <p:nvSpPr>
          <p:cNvPr id="3" name="文本框 2"/>
          <p:cNvSpPr txBox="1"/>
          <p:nvPr/>
        </p:nvSpPr>
        <p:spPr>
          <a:xfrm>
            <a:off x="1104900" y="1600200"/>
            <a:ext cx="9896776" cy="2804679"/>
          </a:xfrm>
          <a:prstGeom prst="rect">
            <a:avLst/>
          </a:prstGeom>
          <a:noFill/>
        </p:spPr>
        <p:txBody>
          <a:bodyPr wrap="square" rtlCol="0">
            <a:spAutoFit/>
          </a:bodyPr>
          <a:lstStyle/>
          <a:p>
            <a:pPr>
              <a:lnSpc>
                <a:spcPct val="150000"/>
              </a:lnSpc>
            </a:pPr>
            <a:r>
              <a:rPr lang="zh-CN" altLang="en-US" sz="2000" dirty="0">
                <a:solidFill>
                  <a:srgbClr val="0432FF"/>
                </a:solidFill>
              </a:rPr>
              <a:t>（</a:t>
            </a:r>
            <a:r>
              <a:rPr lang="en-US" altLang="zh-CN" sz="2000" dirty="0">
                <a:solidFill>
                  <a:srgbClr val="0432FF"/>
                </a:solidFill>
              </a:rPr>
              <a:t>2</a:t>
            </a:r>
            <a:r>
              <a:rPr lang="zh-CN" altLang="en-US" sz="2000" dirty="0">
                <a:solidFill>
                  <a:srgbClr val="0432FF"/>
                </a:solidFill>
              </a:rPr>
              <a:t>）多态</a:t>
            </a:r>
            <a:endParaRPr lang="en-US" altLang="zh-CN" sz="2000" dirty="0">
              <a:solidFill>
                <a:srgbClr val="0432FF"/>
              </a:solidFill>
            </a:endParaRPr>
          </a:p>
          <a:p>
            <a:pPr>
              <a:lnSpc>
                <a:spcPct val="150000"/>
              </a:lnSpc>
            </a:pPr>
            <a:r>
              <a:rPr lang="en-US" altLang="zh-CN" sz="2000" dirty="0"/>
              <a:t>    </a:t>
            </a:r>
            <a:r>
              <a:rPr lang="zh-CN" altLang="zh-CN" sz="2000" dirty="0"/>
              <a:t>多态是指同一个实体同时具有多种形式和状态。多态是指父对象中的同一个行为能在其多个子对象中有不同的表现</a:t>
            </a:r>
            <a:r>
              <a:rPr lang="zh-CN" altLang="en-US" sz="2000" dirty="0"/>
              <a:t>。</a:t>
            </a:r>
            <a:r>
              <a:rPr lang="zh-CN" altLang="zh-CN" sz="2000" dirty="0"/>
              <a:t>即多态允许不同类的对象对同一消息做出不同的响应，同一消息也可以根据发送对象的不同而采用多种不同的行为方式。</a:t>
            </a:r>
            <a:endParaRPr lang="en-US" altLang="zh-CN" sz="2000" dirty="0"/>
          </a:p>
          <a:p>
            <a:pPr>
              <a:lnSpc>
                <a:spcPct val="150000"/>
              </a:lnSpc>
            </a:pPr>
            <a:r>
              <a:rPr lang="en-US" altLang="zh-CN" sz="2000" dirty="0"/>
              <a:t>    </a:t>
            </a:r>
            <a:r>
              <a:rPr lang="zh-CN" altLang="zh-CN" sz="2000" dirty="0"/>
              <a:t>实现多态的技术称为</a:t>
            </a:r>
            <a:r>
              <a:rPr lang="zh-CN" altLang="zh-CN" sz="2000" b="1" dirty="0">
                <a:solidFill>
                  <a:srgbClr val="C00000"/>
                </a:solidFill>
              </a:rPr>
              <a:t>动态绑定（</a:t>
            </a:r>
            <a:r>
              <a:rPr lang="en-US" altLang="zh-CN" sz="2000" b="1" dirty="0">
                <a:solidFill>
                  <a:srgbClr val="C00000"/>
                </a:solidFill>
              </a:rPr>
              <a:t>dynamic binding</a:t>
            </a:r>
            <a:r>
              <a:rPr lang="zh-CN" altLang="zh-CN" sz="2000" b="1" dirty="0">
                <a:solidFill>
                  <a:srgbClr val="C00000"/>
                </a:solidFill>
              </a:rPr>
              <a:t>）</a:t>
            </a:r>
            <a:r>
              <a:rPr lang="zh-CN" altLang="zh-CN" sz="2000" dirty="0"/>
              <a:t>，是指代码在执行期间才判断所引用对象的实际类型，然后根据其实际的类型，动态地调用其相应的方法进行执行。</a:t>
            </a:r>
            <a:endParaRPr lang="en-US" altLang="zh-CN" sz="2400" dirty="0"/>
          </a:p>
        </p:txBody>
      </p:sp>
      <p:sp>
        <p:nvSpPr>
          <p:cNvPr id="4" name="TextBox 3">
            <a:extLst>
              <a:ext uri="{FF2B5EF4-FFF2-40B4-BE49-F238E27FC236}">
                <a16:creationId xmlns:a16="http://schemas.microsoft.com/office/drawing/2014/main" id="{5AD4B690-CD38-D48C-7FB3-3F186191B9D3}"/>
              </a:ext>
            </a:extLst>
          </p:cNvPr>
          <p:cNvSpPr txBox="1"/>
          <p:nvPr/>
        </p:nvSpPr>
        <p:spPr>
          <a:xfrm>
            <a:off x="1662545" y="4787034"/>
            <a:ext cx="6596678" cy="400110"/>
          </a:xfrm>
          <a:prstGeom prst="rect">
            <a:avLst/>
          </a:prstGeom>
          <a:noFill/>
        </p:spPr>
        <p:txBody>
          <a:bodyPr wrap="none" rtlCol="0">
            <a:spAutoFit/>
          </a:bodyPr>
          <a:lstStyle/>
          <a:p>
            <a:r>
              <a:rPr lang="zh-CN" altLang="en-US" sz="2000" b="1" dirty="0">
                <a:solidFill>
                  <a:srgbClr val="C00000"/>
                </a:solidFill>
                <a:effectLst/>
                <a:latin typeface="Microsoft YaHei" panose="020B0503020204020204" pitchFamily="34" charset="-122"/>
                <a:ea typeface="Microsoft YaHei" panose="020B0503020204020204" pitchFamily="34" charset="-122"/>
              </a:rPr>
              <a:t>简而言之，多态是指同一实体能够具有多种形式和状态。</a:t>
            </a:r>
            <a:endParaRPr kumimoji="1" lang="zh-CN" altLang="en-US" sz="2000" b="1" dirty="0">
              <a:solidFill>
                <a:srgbClr val="C0000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545407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b="1" dirty="0">
                <a:latin typeface="Microsoft YaHei" panose="020B0503020204020204" pitchFamily="34" charset="-122"/>
                <a:ea typeface="Microsoft YaHei" panose="020B0503020204020204" pitchFamily="34" charset="-122"/>
              </a:rPr>
              <a:t>2 </a:t>
            </a:r>
            <a:r>
              <a:rPr lang="zh-CN" altLang="en-US" b="1" dirty="0">
                <a:latin typeface="Microsoft YaHei" panose="020B0503020204020204" pitchFamily="34" charset="-122"/>
                <a:ea typeface="Microsoft YaHei" panose="020B0503020204020204" pitchFamily="34" charset="-122"/>
              </a:rPr>
              <a:t>多态</a:t>
            </a:r>
            <a:endParaRPr lang="en-US" b="1" dirty="0"/>
          </a:p>
        </p:txBody>
      </p:sp>
      <p:pic>
        <p:nvPicPr>
          <p:cNvPr id="3" name="Picture 2">
            <a:extLst>
              <a:ext uri="{FF2B5EF4-FFF2-40B4-BE49-F238E27FC236}">
                <a16:creationId xmlns:a16="http://schemas.microsoft.com/office/drawing/2014/main" id="{225E87F0-262C-85B5-E217-E506C4F81DB1}"/>
              </a:ext>
            </a:extLst>
          </p:cNvPr>
          <p:cNvPicPr>
            <a:picLocks noChangeAspect="1"/>
          </p:cNvPicPr>
          <p:nvPr/>
        </p:nvPicPr>
        <p:blipFill>
          <a:blip r:embed="rId3"/>
          <a:stretch>
            <a:fillRect/>
          </a:stretch>
        </p:blipFill>
        <p:spPr>
          <a:xfrm>
            <a:off x="1104900" y="1238899"/>
            <a:ext cx="3924300" cy="2946400"/>
          </a:xfrm>
          <a:prstGeom prst="rect">
            <a:avLst/>
          </a:prstGeom>
          <a:effectLst>
            <a:outerShdw blurRad="63500" sx="102000" sy="102000" algn="ctr" rotWithShape="0">
              <a:prstClr val="black">
                <a:alpha val="40000"/>
              </a:prstClr>
            </a:outerShdw>
          </a:effectLst>
        </p:spPr>
      </p:pic>
      <p:pic>
        <p:nvPicPr>
          <p:cNvPr id="4" name="Picture 3">
            <a:extLst>
              <a:ext uri="{FF2B5EF4-FFF2-40B4-BE49-F238E27FC236}">
                <a16:creationId xmlns:a16="http://schemas.microsoft.com/office/drawing/2014/main" id="{F5788F79-837F-DE6E-17DA-439E21AA93C8}"/>
              </a:ext>
            </a:extLst>
          </p:cNvPr>
          <p:cNvPicPr>
            <a:picLocks noChangeAspect="1"/>
          </p:cNvPicPr>
          <p:nvPr/>
        </p:nvPicPr>
        <p:blipFill>
          <a:blip r:embed="rId4"/>
          <a:stretch>
            <a:fillRect/>
          </a:stretch>
        </p:blipFill>
        <p:spPr>
          <a:xfrm>
            <a:off x="1104900" y="4251036"/>
            <a:ext cx="3200400" cy="2425700"/>
          </a:xfrm>
          <a:prstGeom prst="rect">
            <a:avLst/>
          </a:prstGeom>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4CBBD649-CE07-F547-0E48-AA1128672312}"/>
              </a:ext>
            </a:extLst>
          </p:cNvPr>
          <p:cNvPicPr>
            <a:picLocks noChangeAspect="1"/>
          </p:cNvPicPr>
          <p:nvPr/>
        </p:nvPicPr>
        <p:blipFill>
          <a:blip r:embed="rId5"/>
          <a:stretch>
            <a:fillRect/>
          </a:stretch>
        </p:blipFill>
        <p:spPr>
          <a:xfrm>
            <a:off x="6587837" y="775855"/>
            <a:ext cx="3810000" cy="2971800"/>
          </a:xfrm>
          <a:prstGeom prst="rect">
            <a:avLst/>
          </a:prstGeom>
          <a:effectLst>
            <a:outerShdw blurRad="63500" sx="102000" sy="102000" algn="ctr" rotWithShape="0">
              <a:prstClr val="black">
                <a:alpha val="40000"/>
              </a:prstClr>
            </a:outerShdw>
          </a:effectLst>
        </p:spPr>
      </p:pic>
      <p:pic>
        <p:nvPicPr>
          <p:cNvPr id="8" name="Picture 7">
            <a:extLst>
              <a:ext uri="{FF2B5EF4-FFF2-40B4-BE49-F238E27FC236}">
                <a16:creationId xmlns:a16="http://schemas.microsoft.com/office/drawing/2014/main" id="{30A372E2-FF1D-5F61-36B0-1A808F59502B}"/>
              </a:ext>
            </a:extLst>
          </p:cNvPr>
          <p:cNvPicPr>
            <a:picLocks noChangeAspect="1"/>
          </p:cNvPicPr>
          <p:nvPr/>
        </p:nvPicPr>
        <p:blipFill>
          <a:blip r:embed="rId6"/>
          <a:stretch>
            <a:fillRect/>
          </a:stretch>
        </p:blipFill>
        <p:spPr>
          <a:xfrm>
            <a:off x="6587837" y="3860800"/>
            <a:ext cx="2895600" cy="23876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532482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checkerboard(across)">
                                      <p:cBhvr>
                                        <p:cTn id="15" dur="500"/>
                                        <p:tgtEl>
                                          <p:spTgt spid="5"/>
                                        </p:tgtEl>
                                      </p:cBhvr>
                                    </p:animEffect>
                                  </p:childTnLst>
                                </p:cTn>
                              </p:par>
                              <p:par>
                                <p:cTn id="16" presetID="5" presetClass="entr" presetSubtype="1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checkerboard(across)">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7517" y="2750961"/>
            <a:ext cx="10071099" cy="1684150"/>
          </a:xfrm>
        </p:spPr>
        <p:txBody>
          <a:bodyPr/>
          <a:lstStyle/>
          <a:p>
            <a:r>
              <a:rPr lang="en-US" altLang="zh-CN" b="1" dirty="0"/>
              <a:t>7.4</a:t>
            </a:r>
            <a:r>
              <a:rPr lang="en-US" b="1" dirty="0"/>
              <a:t> </a:t>
            </a:r>
            <a:r>
              <a:rPr lang="zh-CN" altLang="en-US" b="1" dirty="0"/>
              <a:t>抽象类与接口</a:t>
            </a:r>
            <a:endParaRPr lang="en-US" b="1" dirty="0"/>
          </a:p>
        </p:txBody>
      </p:sp>
    </p:spTree>
    <p:extLst>
      <p:ext uri="{BB962C8B-B14F-4D97-AF65-F5344CB8AC3E}">
        <p14:creationId xmlns:p14="http://schemas.microsoft.com/office/powerpoint/2010/main" val="309594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altLang="zh-CN" b="1" dirty="0">
                <a:latin typeface="Microsoft YaHei" panose="020B0503020204020204" pitchFamily="34" charset="-122"/>
                <a:ea typeface="Microsoft YaHei" panose="020B0503020204020204" pitchFamily="34" charset="-122"/>
              </a:rPr>
              <a:t>1</a:t>
            </a:r>
            <a:r>
              <a:rPr lang="zh-CN" altLang="en-US" b="1" dirty="0">
                <a:latin typeface="Microsoft YaHei" panose="020B0503020204020204" pitchFamily="34" charset="-122"/>
                <a:ea typeface="Microsoft YaHei" panose="020B0503020204020204" pitchFamily="34" charset="-122"/>
              </a:rPr>
              <a:t> 抽象类</a:t>
            </a:r>
            <a:endParaRPr lang="en-US" b="1" dirty="0"/>
          </a:p>
        </p:txBody>
      </p:sp>
      <p:sp>
        <p:nvSpPr>
          <p:cNvPr id="11" name="文本框 10"/>
          <p:cNvSpPr txBox="1"/>
          <p:nvPr/>
        </p:nvSpPr>
        <p:spPr>
          <a:xfrm>
            <a:off x="1104900" y="1441174"/>
            <a:ext cx="9896776" cy="4859087"/>
          </a:xfrm>
          <a:prstGeom prst="rect">
            <a:avLst/>
          </a:prstGeom>
          <a:noFill/>
        </p:spPr>
        <p:txBody>
          <a:bodyPr wrap="square" rtlCol="0">
            <a:spAutoFit/>
          </a:bodyPr>
          <a:lstStyle/>
          <a:p>
            <a:pPr>
              <a:lnSpc>
                <a:spcPct val="120000"/>
              </a:lnSpc>
            </a:pPr>
            <a:r>
              <a:rPr lang="zh-CN" altLang="en-US" sz="2000" dirty="0">
                <a:solidFill>
                  <a:srgbClr val="C00000"/>
                </a:solidFill>
              </a:rPr>
              <a:t>（</a:t>
            </a:r>
            <a:r>
              <a:rPr lang="en-US" altLang="zh-CN" sz="2000" dirty="0">
                <a:solidFill>
                  <a:srgbClr val="C00000"/>
                </a:solidFill>
              </a:rPr>
              <a:t>1</a:t>
            </a:r>
            <a:r>
              <a:rPr lang="zh-CN" altLang="en-US" sz="2000" dirty="0">
                <a:solidFill>
                  <a:srgbClr val="C00000"/>
                </a:solidFill>
              </a:rPr>
              <a:t>）抽象类</a:t>
            </a:r>
            <a:endParaRPr lang="en-US" altLang="zh-CN" sz="2000" dirty="0">
              <a:solidFill>
                <a:srgbClr val="C00000"/>
              </a:solidFill>
            </a:endParaRPr>
          </a:p>
          <a:p>
            <a:pPr>
              <a:lnSpc>
                <a:spcPct val="120000"/>
              </a:lnSpc>
            </a:pPr>
            <a:r>
              <a:rPr lang="en-US" altLang="zh-CN" sz="2000" dirty="0"/>
              <a:t>    </a:t>
            </a:r>
            <a:r>
              <a:rPr lang="zh-CN" altLang="en-US" sz="2000" dirty="0">
                <a:solidFill>
                  <a:srgbClr val="0432FF"/>
                </a:solidFill>
              </a:rPr>
              <a:t>抽象类指的是</a:t>
            </a:r>
            <a:r>
              <a:rPr lang="zh-CN" altLang="zh-CN" sz="2000" dirty="0">
                <a:solidFill>
                  <a:srgbClr val="0432FF"/>
                </a:solidFill>
              </a:rPr>
              <a:t>没有包含足够的信息来描绘出一个具体的对象</a:t>
            </a:r>
            <a:r>
              <a:rPr lang="zh-CN" altLang="en-US" sz="2000" dirty="0">
                <a:solidFill>
                  <a:srgbClr val="0432FF"/>
                </a:solidFill>
              </a:rPr>
              <a:t>的类</a:t>
            </a:r>
            <a:r>
              <a:rPr lang="zh-CN" altLang="zh-CN" sz="2000" dirty="0">
                <a:solidFill>
                  <a:srgbClr val="0432FF"/>
                </a:solidFill>
              </a:rPr>
              <a:t>。</a:t>
            </a:r>
            <a:r>
              <a:rPr lang="zh-CN" altLang="zh-CN" sz="2000" dirty="0"/>
              <a:t>对象类是对客观世界物品的抽象，抽象类就是类的抽象。</a:t>
            </a:r>
            <a:endParaRPr lang="en-US" altLang="zh-CN" sz="2000" dirty="0"/>
          </a:p>
          <a:p>
            <a:pPr>
              <a:lnSpc>
                <a:spcPct val="120000"/>
              </a:lnSpc>
            </a:pPr>
            <a:r>
              <a:rPr lang="en-US" altLang="zh-CN" sz="2000" dirty="0"/>
              <a:t>    </a:t>
            </a:r>
            <a:r>
              <a:rPr lang="zh-CN" altLang="zh-CN" sz="2000" dirty="0"/>
              <a:t>抽象类从本质上讲仍然是类，它与普通类一样，同样包含成员变量和方法，</a:t>
            </a:r>
            <a:r>
              <a:rPr lang="zh-CN" altLang="zh-CN" sz="2000" b="1" dirty="0">
                <a:solidFill>
                  <a:srgbClr val="7030A0"/>
                </a:solidFill>
              </a:rPr>
              <a:t>抽象类最大的特点就是它只能够被子类继承而不能够被实例化。</a:t>
            </a:r>
            <a:endParaRPr lang="en-US" altLang="zh-CN" sz="2000" b="1" dirty="0">
              <a:solidFill>
                <a:srgbClr val="7030A0"/>
              </a:solidFill>
            </a:endParaRPr>
          </a:p>
          <a:p>
            <a:pPr>
              <a:lnSpc>
                <a:spcPct val="120000"/>
              </a:lnSpc>
            </a:pPr>
            <a:r>
              <a:rPr lang="en-US" altLang="zh-CN" sz="2000" dirty="0"/>
              <a:t>    </a:t>
            </a:r>
            <a:r>
              <a:rPr lang="zh-CN" altLang="zh-CN" sz="2000" dirty="0">
                <a:solidFill>
                  <a:srgbClr val="0432FF"/>
                </a:solidFill>
              </a:rPr>
              <a:t>抽象方法只有方法声明，而没有具体方法体的方法</a:t>
            </a:r>
            <a:r>
              <a:rPr lang="zh-CN" altLang="zh-CN" sz="2000" dirty="0"/>
              <a:t>。抽象方法往往存在于</a:t>
            </a:r>
            <a:r>
              <a:rPr lang="zh-CN" altLang="en-US" sz="2000" dirty="0"/>
              <a:t>父</a:t>
            </a:r>
            <a:r>
              <a:rPr lang="zh-CN" altLang="zh-CN" sz="2000" dirty="0"/>
              <a:t>类之中，抽象方法在基类中只有的方法定义而并不需要具体实现。当一个子类继承了含有抽象方法的抽象父类时，继承自抽象父类的子类必须要实现父类中的抽象方法，即为抽象方法定义方法体，否则该子类也必须声明为抽象类，不然程序就会报错。</a:t>
            </a:r>
            <a:endParaRPr lang="en-US" altLang="zh-CN" sz="2000" dirty="0"/>
          </a:p>
          <a:p>
            <a:pPr>
              <a:lnSpc>
                <a:spcPct val="120000"/>
              </a:lnSpc>
            </a:pPr>
            <a:r>
              <a:rPr lang="en-US" altLang="zh-CN" sz="2000" dirty="0"/>
              <a:t>    </a:t>
            </a:r>
            <a:r>
              <a:rPr lang="en-US" altLang="zh-CN" sz="2000" dirty="0">
                <a:solidFill>
                  <a:srgbClr val="0432FF"/>
                </a:solidFill>
              </a:rPr>
              <a:t>Python</a:t>
            </a:r>
            <a:r>
              <a:rPr lang="zh-CN" altLang="zh-CN" sz="2000" dirty="0">
                <a:solidFill>
                  <a:srgbClr val="0432FF"/>
                </a:solidFill>
              </a:rPr>
              <a:t>抽象类的抽象方法中</a:t>
            </a:r>
            <a:r>
              <a:rPr lang="zh-CN" altLang="zh-CN" sz="2000" dirty="0">
                <a:solidFill>
                  <a:srgbClr val="C00000"/>
                </a:solidFill>
              </a:rPr>
              <a:t>也可以包含方法体。</a:t>
            </a:r>
            <a:r>
              <a:rPr lang="en-US" altLang="zh-CN" sz="2000" dirty="0"/>
              <a:t>Python</a:t>
            </a:r>
            <a:r>
              <a:rPr lang="zh-CN" altLang="zh-CN" sz="2000" dirty="0"/>
              <a:t>中声明抽象类的方法是</a:t>
            </a:r>
            <a:r>
              <a:rPr lang="zh-CN" altLang="zh-CN" sz="2000" dirty="0">
                <a:solidFill>
                  <a:srgbClr val="C00000"/>
                </a:solidFill>
              </a:rPr>
              <a:t>导入</a:t>
            </a:r>
            <a:r>
              <a:rPr lang="en-US" altLang="zh-CN" sz="2000" dirty="0" err="1">
                <a:solidFill>
                  <a:srgbClr val="C00000"/>
                </a:solidFill>
              </a:rPr>
              <a:t>abc</a:t>
            </a:r>
            <a:r>
              <a:rPr lang="zh-CN" altLang="zh-CN" sz="2000" dirty="0">
                <a:solidFill>
                  <a:srgbClr val="C00000"/>
                </a:solidFill>
              </a:rPr>
              <a:t>（即</a:t>
            </a:r>
            <a:r>
              <a:rPr lang="en-US" altLang="zh-CN" sz="2000" dirty="0">
                <a:solidFill>
                  <a:srgbClr val="C00000"/>
                </a:solidFill>
              </a:rPr>
              <a:t>Abstract Base Class</a:t>
            </a:r>
            <a:r>
              <a:rPr lang="zh-CN" altLang="zh-CN" sz="2000" dirty="0">
                <a:solidFill>
                  <a:srgbClr val="C00000"/>
                </a:solidFill>
              </a:rPr>
              <a:t>）模块</a:t>
            </a:r>
            <a:r>
              <a:rPr lang="zh-CN" altLang="zh-CN" sz="2000" dirty="0"/>
              <a:t>，利用</a:t>
            </a:r>
            <a:r>
              <a:rPr lang="en-US" altLang="zh-CN" sz="2000" dirty="0" err="1"/>
              <a:t>abc</a:t>
            </a:r>
            <a:r>
              <a:rPr lang="zh-CN" altLang="zh-CN" sz="2000" dirty="0"/>
              <a:t>模块中的元类</a:t>
            </a:r>
            <a:r>
              <a:rPr lang="en-US" altLang="zh-CN" sz="2000" dirty="0" err="1"/>
              <a:t>ABCMeta</a:t>
            </a:r>
            <a:r>
              <a:rPr lang="zh-CN" altLang="zh-CN" sz="2000" dirty="0"/>
              <a:t>来指定一个抽象类。</a:t>
            </a:r>
          </a:p>
          <a:p>
            <a:pPr>
              <a:lnSpc>
                <a:spcPct val="120000"/>
              </a:lnSpc>
            </a:pPr>
            <a:r>
              <a:rPr lang="zh-CN" altLang="en-US" sz="2000" dirty="0"/>
              <a:t>    </a:t>
            </a:r>
            <a:r>
              <a:rPr lang="zh-CN" altLang="zh-CN" sz="2000" dirty="0">
                <a:solidFill>
                  <a:srgbClr val="0432FF"/>
                </a:solidFill>
              </a:rPr>
              <a:t>抽象类的继承机制与普通类的继承机制相同</a:t>
            </a:r>
            <a:r>
              <a:rPr lang="zh-CN" altLang="en-US" sz="2000" dirty="0">
                <a:solidFill>
                  <a:srgbClr val="0432FF"/>
                </a:solidFill>
              </a:rPr>
              <a:t>。</a:t>
            </a:r>
            <a:endParaRPr lang="zh-CN" altLang="zh-CN" sz="2000" dirty="0">
              <a:solidFill>
                <a:srgbClr val="0432FF"/>
              </a:solidFill>
            </a:endParaRPr>
          </a:p>
        </p:txBody>
      </p:sp>
    </p:spTree>
    <p:extLst>
      <p:ext uri="{BB962C8B-B14F-4D97-AF65-F5344CB8AC3E}">
        <p14:creationId xmlns:p14="http://schemas.microsoft.com/office/powerpoint/2010/main" val="1413878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altLang="zh-CN" b="1" dirty="0">
                <a:latin typeface="Microsoft YaHei" panose="020B0503020204020204" pitchFamily="34" charset="-122"/>
                <a:ea typeface="Microsoft YaHei" panose="020B0503020204020204" pitchFamily="34" charset="-122"/>
              </a:rPr>
              <a:t>1</a:t>
            </a:r>
            <a:r>
              <a:rPr lang="zh-CN" altLang="en-US" b="1" dirty="0">
                <a:latin typeface="Microsoft YaHei" panose="020B0503020204020204" pitchFamily="34" charset="-122"/>
                <a:ea typeface="Microsoft YaHei" panose="020B0503020204020204" pitchFamily="34" charset="-122"/>
              </a:rPr>
              <a:t> 抽象类</a:t>
            </a:r>
            <a:endParaRPr lang="en-US" b="1" dirty="0"/>
          </a:p>
        </p:txBody>
      </p:sp>
      <p:pic>
        <p:nvPicPr>
          <p:cNvPr id="6" name="Picture 5">
            <a:extLst>
              <a:ext uri="{FF2B5EF4-FFF2-40B4-BE49-F238E27FC236}">
                <a16:creationId xmlns:a16="http://schemas.microsoft.com/office/drawing/2014/main" id="{4EEE2740-B42F-29BF-31BA-5C7DA38544A0}"/>
              </a:ext>
            </a:extLst>
          </p:cNvPr>
          <p:cNvPicPr>
            <a:picLocks noChangeAspect="1"/>
          </p:cNvPicPr>
          <p:nvPr/>
        </p:nvPicPr>
        <p:blipFill>
          <a:blip r:embed="rId2"/>
          <a:stretch>
            <a:fillRect/>
          </a:stretch>
        </p:blipFill>
        <p:spPr>
          <a:xfrm>
            <a:off x="667905" y="1574800"/>
            <a:ext cx="5702300" cy="3708400"/>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B03820EC-9476-8912-0887-B5ECBC2CFE5C}"/>
              </a:ext>
            </a:extLst>
          </p:cNvPr>
          <p:cNvPicPr>
            <a:picLocks noChangeAspect="1"/>
          </p:cNvPicPr>
          <p:nvPr/>
        </p:nvPicPr>
        <p:blipFill>
          <a:blip r:embed="rId3"/>
          <a:stretch>
            <a:fillRect/>
          </a:stretch>
        </p:blipFill>
        <p:spPr>
          <a:xfrm>
            <a:off x="6595917" y="2064586"/>
            <a:ext cx="3530600" cy="1778000"/>
          </a:xfrm>
          <a:prstGeom prst="rect">
            <a:avLst/>
          </a:prstGeom>
          <a:effectLst>
            <a:outerShdw blurRad="63500" sx="102000" sy="102000" algn="ctr" rotWithShape="0">
              <a:prstClr val="black">
                <a:alpha val="40000"/>
              </a:prstClr>
            </a:outerShdw>
          </a:effectLst>
        </p:spPr>
      </p:pic>
      <p:pic>
        <p:nvPicPr>
          <p:cNvPr id="8" name="Picture 7">
            <a:extLst>
              <a:ext uri="{FF2B5EF4-FFF2-40B4-BE49-F238E27FC236}">
                <a16:creationId xmlns:a16="http://schemas.microsoft.com/office/drawing/2014/main" id="{A7CF38E5-40BB-1933-B81A-557223A5938D}"/>
              </a:ext>
            </a:extLst>
          </p:cNvPr>
          <p:cNvPicPr>
            <a:picLocks noChangeAspect="1"/>
          </p:cNvPicPr>
          <p:nvPr/>
        </p:nvPicPr>
        <p:blipFill>
          <a:blip r:embed="rId4"/>
          <a:stretch>
            <a:fillRect/>
          </a:stretch>
        </p:blipFill>
        <p:spPr>
          <a:xfrm>
            <a:off x="3941617" y="4916252"/>
            <a:ext cx="7772400" cy="1376486"/>
          </a:xfrm>
          <a:prstGeom prst="rect">
            <a:avLst/>
          </a:prstGeom>
          <a:effectLst>
            <a:outerShdw blurRad="63500" sx="102000" sy="102000" algn="ctr" rotWithShape="0">
              <a:prstClr val="black">
                <a:alpha val="40000"/>
              </a:prstClr>
            </a:outerShdw>
          </a:effectLst>
        </p:spPr>
      </p:pic>
      <p:sp>
        <p:nvSpPr>
          <p:cNvPr id="10" name="TextBox 9">
            <a:extLst>
              <a:ext uri="{FF2B5EF4-FFF2-40B4-BE49-F238E27FC236}">
                <a16:creationId xmlns:a16="http://schemas.microsoft.com/office/drawing/2014/main" id="{68774F8E-A797-A8FF-3BD9-AB7B22B39F6B}"/>
              </a:ext>
            </a:extLst>
          </p:cNvPr>
          <p:cNvSpPr txBox="1"/>
          <p:nvPr/>
        </p:nvSpPr>
        <p:spPr>
          <a:xfrm>
            <a:off x="6595917" y="4546920"/>
            <a:ext cx="5118100" cy="369332"/>
          </a:xfrm>
          <a:prstGeom prst="rect">
            <a:avLst/>
          </a:prstGeom>
          <a:noFill/>
        </p:spPr>
        <p:txBody>
          <a:bodyPr wrap="square">
            <a:spAutoFit/>
          </a:bodyPr>
          <a:lstStyle/>
          <a:p>
            <a:r>
              <a:rPr lang="en-US" dirty="0">
                <a:solidFill>
                  <a:srgbClr val="C00000"/>
                </a:solidFill>
              </a:rPr>
              <a:t>Room</a:t>
            </a:r>
            <a:r>
              <a:rPr lang="en-US" b="0" i="0" dirty="0">
                <a:solidFill>
                  <a:srgbClr val="C00000"/>
                </a:solidFill>
                <a:effectLst/>
                <a:latin typeface="Times New Roman" panose="02020603050405020304" pitchFamily="18" charset="0"/>
              </a:rPr>
              <a:t> </a:t>
            </a:r>
            <a:r>
              <a:rPr lang="zh-CN" altLang="en-US" b="0" i="0" dirty="0">
                <a:solidFill>
                  <a:srgbClr val="C00000"/>
                </a:solidFill>
                <a:effectLst/>
                <a:latin typeface="Times New Roman" panose="02020603050405020304" pitchFamily="18" charset="0"/>
              </a:rPr>
              <a:t>类被声明为抽象类，因此不能直接实例化。</a:t>
            </a:r>
            <a:endParaRPr lang="zh-CN" altLang="en-US" dirty="0">
              <a:solidFill>
                <a:srgbClr val="C00000"/>
              </a:solidFill>
            </a:endParaRPr>
          </a:p>
        </p:txBody>
      </p:sp>
    </p:spTree>
    <p:extLst>
      <p:ext uri="{BB962C8B-B14F-4D97-AF65-F5344CB8AC3E}">
        <p14:creationId xmlns:p14="http://schemas.microsoft.com/office/powerpoint/2010/main" val="1372495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heckerboard(across)">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par>
                                <p:cTn id="18" presetID="9"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dissolv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altLang="zh-CN" b="1" dirty="0">
                <a:latin typeface="Microsoft YaHei" panose="020B0503020204020204" pitchFamily="34" charset="-122"/>
                <a:ea typeface="Microsoft YaHei" panose="020B0503020204020204" pitchFamily="34" charset="-122"/>
              </a:rPr>
              <a:t>2</a:t>
            </a:r>
            <a:r>
              <a:rPr lang="zh-CN" altLang="en-US" b="1" dirty="0">
                <a:latin typeface="Microsoft YaHei" panose="020B0503020204020204" pitchFamily="34" charset="-122"/>
                <a:ea typeface="Microsoft YaHei" panose="020B0503020204020204" pitchFamily="34" charset="-122"/>
              </a:rPr>
              <a:t> 接口</a:t>
            </a:r>
            <a:endParaRPr lang="en-US" b="1" dirty="0"/>
          </a:p>
        </p:txBody>
      </p:sp>
      <p:sp>
        <p:nvSpPr>
          <p:cNvPr id="11" name="文本框 10"/>
          <p:cNvSpPr txBox="1"/>
          <p:nvPr/>
        </p:nvSpPr>
        <p:spPr>
          <a:xfrm>
            <a:off x="1103382" y="1791532"/>
            <a:ext cx="9982200" cy="4184928"/>
          </a:xfrm>
          <a:prstGeom prst="rect">
            <a:avLst/>
          </a:prstGeom>
          <a:noFill/>
        </p:spPr>
        <p:txBody>
          <a:bodyPr wrap="square" rtlCol="0">
            <a:spAutoFit/>
          </a:bodyPr>
          <a:lstStyle/>
          <a:p>
            <a:pPr>
              <a:lnSpc>
                <a:spcPct val="150000"/>
              </a:lnSpc>
            </a:pPr>
            <a:r>
              <a:rPr lang="zh-CN" altLang="en-US" sz="2000" dirty="0">
                <a:solidFill>
                  <a:srgbClr val="C00000"/>
                </a:solidFill>
              </a:rPr>
              <a:t>（</a:t>
            </a:r>
            <a:r>
              <a:rPr lang="en-US" altLang="zh-CN" sz="2000" dirty="0">
                <a:solidFill>
                  <a:srgbClr val="C00000"/>
                </a:solidFill>
              </a:rPr>
              <a:t>2</a:t>
            </a:r>
            <a:r>
              <a:rPr lang="zh-CN" altLang="en-US" sz="2000" dirty="0">
                <a:solidFill>
                  <a:srgbClr val="C00000"/>
                </a:solidFill>
              </a:rPr>
              <a:t>）接口</a:t>
            </a:r>
            <a:endParaRPr lang="en-US" altLang="zh-CN" sz="2000" dirty="0">
              <a:solidFill>
                <a:srgbClr val="C00000"/>
              </a:solidFill>
            </a:endParaRPr>
          </a:p>
          <a:p>
            <a:pPr>
              <a:lnSpc>
                <a:spcPct val="150000"/>
              </a:lnSpc>
            </a:pPr>
            <a:r>
              <a:rPr lang="en-US" altLang="zh-CN" sz="2000" dirty="0"/>
              <a:t>    </a:t>
            </a:r>
            <a:r>
              <a:rPr lang="zh-CN" altLang="zh-CN" sz="2000" dirty="0"/>
              <a:t>在面向对象编程中，</a:t>
            </a:r>
            <a:r>
              <a:rPr lang="zh-CN" altLang="zh-CN" sz="2000" dirty="0">
                <a:solidFill>
                  <a:srgbClr val="0432FF"/>
                </a:solidFill>
              </a:rPr>
              <a:t>接口可以被看做是一种特殊的抽象类</a:t>
            </a:r>
            <a:r>
              <a:rPr lang="zh-CN" altLang="zh-CN" sz="2000" dirty="0"/>
              <a:t>。接口的设计是为了归一化处理，让调用者无需关注接口实现的内部细节，就可以将所有实现了该接口的不同对象统一处理。</a:t>
            </a:r>
            <a:endParaRPr lang="en-US" altLang="zh-CN" sz="2000" dirty="0"/>
          </a:p>
          <a:p>
            <a:pPr>
              <a:lnSpc>
                <a:spcPct val="150000"/>
              </a:lnSpc>
            </a:pPr>
            <a:r>
              <a:rPr lang="en-US" altLang="zh-CN" sz="2000" dirty="0"/>
              <a:t>    Python</a:t>
            </a:r>
            <a:r>
              <a:rPr lang="zh-CN" altLang="zh-CN" sz="2000" dirty="0"/>
              <a:t>中的接口，从形式上来看与抽象类一模一样，唯一不同的是（人为的规定）：</a:t>
            </a:r>
            <a:r>
              <a:rPr lang="zh-CN" altLang="zh-CN" sz="2000" dirty="0">
                <a:solidFill>
                  <a:srgbClr val="C00000"/>
                </a:solidFill>
              </a:rPr>
              <a:t>在接口中不能定义变量，只能定义方法，并且所有的方法都必须是抽象方法</a:t>
            </a:r>
            <a:r>
              <a:rPr lang="zh-CN" altLang="zh-CN" sz="2000" dirty="0"/>
              <a:t>，方法中不能包含任何功能代码。这样一来，该抽象类也就实现了接口的功</a:t>
            </a:r>
            <a:r>
              <a:rPr lang="zh-CN" altLang="en-US" sz="2000" dirty="0"/>
              <a:t>能</a:t>
            </a:r>
            <a:r>
              <a:rPr lang="zh-CN" altLang="zh-CN" sz="2000" dirty="0"/>
              <a:t>。</a:t>
            </a:r>
            <a:endParaRPr lang="en-US" altLang="zh-CN" sz="2000" dirty="0"/>
          </a:p>
          <a:p>
            <a:pPr>
              <a:lnSpc>
                <a:spcPct val="150000"/>
              </a:lnSpc>
            </a:pPr>
            <a:r>
              <a:rPr lang="en-US" altLang="zh-CN" sz="2000" b="1" dirty="0"/>
              <a:t>   </a:t>
            </a:r>
            <a:r>
              <a:rPr lang="zh-CN" altLang="zh-CN" sz="2000" b="1" dirty="0"/>
              <a:t>从内容上来看，</a:t>
            </a:r>
            <a:r>
              <a:rPr lang="en-US" altLang="zh-CN" sz="2000" b="1" dirty="0">
                <a:solidFill>
                  <a:srgbClr val="FF9300"/>
                </a:solidFill>
              </a:rPr>
              <a:t>Python</a:t>
            </a:r>
            <a:r>
              <a:rPr lang="zh-CN" altLang="zh-CN" sz="2000" b="1" dirty="0">
                <a:solidFill>
                  <a:srgbClr val="FF9300"/>
                </a:solidFill>
              </a:rPr>
              <a:t>中的接口不过是抽象类的一种特例而已</a:t>
            </a:r>
            <a:r>
              <a:rPr lang="zh-CN" altLang="en-US" sz="2000" b="1" dirty="0">
                <a:solidFill>
                  <a:srgbClr val="FF9300"/>
                </a:solidFill>
              </a:rPr>
              <a:t>。</a:t>
            </a:r>
            <a:endParaRPr lang="zh-CN" altLang="zh-CN" sz="2000" b="1" dirty="0">
              <a:solidFill>
                <a:srgbClr val="FF9300"/>
              </a:solidFill>
              <a:latin typeface="+mn-ea"/>
            </a:endParaRPr>
          </a:p>
          <a:p>
            <a:pPr>
              <a:lnSpc>
                <a:spcPct val="150000"/>
              </a:lnSpc>
            </a:pPr>
            <a:endParaRPr lang="en-US" altLang="zh-CN" sz="2000" b="1" dirty="0"/>
          </a:p>
        </p:txBody>
      </p:sp>
    </p:spTree>
    <p:extLst>
      <p:ext uri="{BB962C8B-B14F-4D97-AF65-F5344CB8AC3E}">
        <p14:creationId xmlns:p14="http://schemas.microsoft.com/office/powerpoint/2010/main" val="2710000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altLang="zh-CN" b="1" dirty="0">
                <a:latin typeface="Microsoft YaHei" panose="020B0503020204020204" pitchFamily="34" charset="-122"/>
                <a:ea typeface="Microsoft YaHei" panose="020B0503020204020204" pitchFamily="34" charset="-122"/>
              </a:rPr>
              <a:t>2</a:t>
            </a:r>
            <a:r>
              <a:rPr lang="zh-CN" altLang="en-US" b="1" dirty="0">
                <a:latin typeface="Microsoft YaHei" panose="020B0503020204020204" pitchFamily="34" charset="-122"/>
                <a:ea typeface="Microsoft YaHei" panose="020B0503020204020204" pitchFamily="34" charset="-122"/>
              </a:rPr>
              <a:t> 接口</a:t>
            </a:r>
            <a:endParaRPr lang="en-US" b="1" dirty="0"/>
          </a:p>
        </p:txBody>
      </p:sp>
      <p:pic>
        <p:nvPicPr>
          <p:cNvPr id="2" name="Picture 1">
            <a:extLst>
              <a:ext uri="{FF2B5EF4-FFF2-40B4-BE49-F238E27FC236}">
                <a16:creationId xmlns:a16="http://schemas.microsoft.com/office/drawing/2014/main" id="{055C60FE-0219-B1AD-29BF-39B87BCA70B5}"/>
              </a:ext>
            </a:extLst>
          </p:cNvPr>
          <p:cNvPicPr>
            <a:picLocks noChangeAspect="1"/>
          </p:cNvPicPr>
          <p:nvPr/>
        </p:nvPicPr>
        <p:blipFill>
          <a:blip r:embed="rId2"/>
          <a:stretch>
            <a:fillRect/>
          </a:stretch>
        </p:blipFill>
        <p:spPr>
          <a:xfrm>
            <a:off x="812801" y="1447006"/>
            <a:ext cx="4965700" cy="5029200"/>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7C94EFAA-C8BE-DB6E-9AE1-A8C640E55DCB}"/>
              </a:ext>
            </a:extLst>
          </p:cNvPr>
          <p:cNvPicPr>
            <a:picLocks noChangeAspect="1"/>
          </p:cNvPicPr>
          <p:nvPr/>
        </p:nvPicPr>
        <p:blipFill>
          <a:blip r:embed="rId3"/>
          <a:stretch>
            <a:fillRect/>
          </a:stretch>
        </p:blipFill>
        <p:spPr>
          <a:xfrm>
            <a:off x="6095241" y="107950"/>
            <a:ext cx="5778500" cy="66421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07367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altLang="zh-CN" b="1">
                <a:latin typeface="Microsoft YaHei" panose="020B0503020204020204" pitchFamily="34" charset="-122"/>
                <a:ea typeface="Microsoft YaHei" panose="020B0503020204020204" pitchFamily="34" charset="-122"/>
              </a:rPr>
              <a:t>2</a:t>
            </a:r>
            <a:r>
              <a:rPr lang="zh-CN" altLang="en-US" b="1" dirty="0">
                <a:latin typeface="Microsoft YaHei" panose="020B0503020204020204" pitchFamily="34" charset="-122"/>
                <a:ea typeface="Microsoft YaHei" panose="020B0503020204020204" pitchFamily="34" charset="-122"/>
              </a:rPr>
              <a:t> 接口</a:t>
            </a:r>
            <a:endParaRPr lang="en-US" b="1" dirty="0"/>
          </a:p>
        </p:txBody>
      </p:sp>
      <p:pic>
        <p:nvPicPr>
          <p:cNvPr id="2" name="Picture 1">
            <a:extLst>
              <a:ext uri="{FF2B5EF4-FFF2-40B4-BE49-F238E27FC236}">
                <a16:creationId xmlns:a16="http://schemas.microsoft.com/office/drawing/2014/main" id="{6C9C5A90-4750-7A60-431E-C0920C251DAC}"/>
              </a:ext>
            </a:extLst>
          </p:cNvPr>
          <p:cNvPicPr>
            <a:picLocks noChangeAspect="1"/>
          </p:cNvPicPr>
          <p:nvPr/>
        </p:nvPicPr>
        <p:blipFill>
          <a:blip r:embed="rId2"/>
          <a:stretch>
            <a:fillRect/>
          </a:stretch>
        </p:blipFill>
        <p:spPr>
          <a:xfrm>
            <a:off x="1460500" y="3085329"/>
            <a:ext cx="3302000" cy="1092200"/>
          </a:xfrm>
          <a:prstGeom prst="rect">
            <a:avLst/>
          </a:prstGeom>
          <a:effectLst>
            <a:outerShdw blurRad="63500" sx="102000" sy="102000" algn="ctr" rotWithShape="0">
              <a:prstClr val="black">
                <a:alpha val="40000"/>
              </a:prstClr>
            </a:outerShdw>
          </a:effectLst>
        </p:spPr>
      </p:pic>
      <p:pic>
        <p:nvPicPr>
          <p:cNvPr id="4" name="Picture 3">
            <a:extLst>
              <a:ext uri="{FF2B5EF4-FFF2-40B4-BE49-F238E27FC236}">
                <a16:creationId xmlns:a16="http://schemas.microsoft.com/office/drawing/2014/main" id="{6E1CDB9A-06FD-8B03-E9B8-7D5CD3C2EB36}"/>
              </a:ext>
            </a:extLst>
          </p:cNvPr>
          <p:cNvPicPr>
            <a:picLocks noChangeAspect="1"/>
          </p:cNvPicPr>
          <p:nvPr/>
        </p:nvPicPr>
        <p:blipFill>
          <a:blip r:embed="rId3"/>
          <a:stretch>
            <a:fillRect/>
          </a:stretch>
        </p:blipFill>
        <p:spPr>
          <a:xfrm>
            <a:off x="1460500" y="4521774"/>
            <a:ext cx="4648200" cy="1028700"/>
          </a:xfrm>
          <a:prstGeom prst="rect">
            <a:avLst/>
          </a:prstGeom>
          <a:effectLst>
            <a:outerShdw blurRad="63500" sx="102000" sy="102000" algn="ctr" rotWithShape="0">
              <a:prstClr val="black">
                <a:alpha val="40000"/>
              </a:prstClr>
            </a:outerShdw>
          </a:effectLst>
        </p:spPr>
      </p:pic>
      <p:sp>
        <p:nvSpPr>
          <p:cNvPr id="5" name="TextBox 4">
            <a:extLst>
              <a:ext uri="{FF2B5EF4-FFF2-40B4-BE49-F238E27FC236}">
                <a16:creationId xmlns:a16="http://schemas.microsoft.com/office/drawing/2014/main" id="{E64B3A20-94C6-9FA1-E969-B0A9FF4C54B5}"/>
              </a:ext>
            </a:extLst>
          </p:cNvPr>
          <p:cNvSpPr txBox="1"/>
          <p:nvPr/>
        </p:nvSpPr>
        <p:spPr>
          <a:xfrm>
            <a:off x="1300413" y="1454898"/>
            <a:ext cx="9589655" cy="1286186"/>
          </a:xfrm>
          <a:prstGeom prst="rect">
            <a:avLst/>
          </a:prstGeom>
          <a:noFill/>
        </p:spPr>
        <p:txBody>
          <a:bodyPr wrap="square" rtlCol="0">
            <a:spAutoFit/>
          </a:bodyPr>
          <a:lstStyle/>
          <a:p>
            <a:pPr>
              <a:lnSpc>
                <a:spcPct val="150000"/>
              </a:lnSpc>
            </a:pPr>
            <a:r>
              <a:rPr lang="zh-CN" altLang="en-US" b="0" i="0" dirty="0">
                <a:solidFill>
                  <a:srgbClr val="262625"/>
                </a:solidFill>
                <a:effectLst/>
                <a:latin typeface="Times New Roman" panose="02020603050405020304" pitchFamily="18" charset="0"/>
              </a:rPr>
              <a:t>程序中定义了两个实体类 </a:t>
            </a:r>
            <a:r>
              <a:rPr lang="en-US" dirty="0" err="1"/>
              <a:t>StoreRoom</a:t>
            </a:r>
            <a:r>
              <a:rPr lang="en-US" b="0" i="0" dirty="0">
                <a:solidFill>
                  <a:srgbClr val="262625"/>
                </a:solidFill>
                <a:effectLst/>
                <a:latin typeface="Times New Roman" panose="02020603050405020304" pitchFamily="18" charset="0"/>
              </a:rPr>
              <a:t> </a:t>
            </a:r>
            <a:r>
              <a:rPr lang="zh-CN" altLang="en-US" b="0" i="0" dirty="0">
                <a:solidFill>
                  <a:srgbClr val="262625"/>
                </a:solidFill>
                <a:effectLst/>
                <a:latin typeface="Times New Roman" panose="02020603050405020304" pitchFamily="18" charset="0"/>
              </a:rPr>
              <a:t>和 </a:t>
            </a:r>
            <a:r>
              <a:rPr lang="en-US" dirty="0" err="1"/>
              <a:t>BathRoom</a:t>
            </a:r>
            <a:r>
              <a:rPr lang="en-US" b="0" i="0" dirty="0">
                <a:solidFill>
                  <a:srgbClr val="262625"/>
                </a:solidFill>
                <a:effectLst/>
                <a:latin typeface="Times New Roman" panose="02020603050405020304" pitchFamily="18" charset="0"/>
              </a:rPr>
              <a:t>。</a:t>
            </a:r>
            <a:r>
              <a:rPr lang="zh-CN" altLang="en-US" b="0" i="0" dirty="0">
                <a:solidFill>
                  <a:srgbClr val="262625"/>
                </a:solidFill>
                <a:effectLst/>
                <a:latin typeface="Times New Roman" panose="02020603050405020304" pitchFamily="18" charset="0"/>
              </a:rPr>
              <a:t>其中，</a:t>
            </a:r>
            <a:r>
              <a:rPr lang="en-US" dirty="0" err="1"/>
              <a:t>StoreRoom</a:t>
            </a:r>
            <a:r>
              <a:rPr lang="en-US" b="0" i="0" dirty="0">
                <a:solidFill>
                  <a:srgbClr val="262625"/>
                </a:solidFill>
                <a:effectLst/>
                <a:latin typeface="Times New Roman" panose="02020603050405020304" pitchFamily="18" charset="0"/>
              </a:rPr>
              <a:t> </a:t>
            </a:r>
            <a:r>
              <a:rPr lang="zh-CN" altLang="en-US" b="0" i="0" dirty="0">
                <a:solidFill>
                  <a:srgbClr val="262625"/>
                </a:solidFill>
                <a:effectLst/>
                <a:latin typeface="Times New Roman" panose="02020603050405020304" pitchFamily="18" charset="0"/>
              </a:rPr>
              <a:t>类计算装修价格较为简单，只需计算地面装修的费用；而 </a:t>
            </a:r>
            <a:r>
              <a:rPr lang="en-US" dirty="0" err="1"/>
              <a:t>BathRoom</a:t>
            </a:r>
            <a:r>
              <a:rPr lang="en-US" b="0" i="0" dirty="0">
                <a:solidFill>
                  <a:srgbClr val="262625"/>
                </a:solidFill>
                <a:effectLst/>
                <a:latin typeface="Times New Roman" panose="02020603050405020304" pitchFamily="18" charset="0"/>
              </a:rPr>
              <a:t> </a:t>
            </a:r>
            <a:r>
              <a:rPr lang="zh-CN" altLang="en-US" b="0" i="0" dirty="0">
                <a:solidFill>
                  <a:srgbClr val="262625"/>
                </a:solidFill>
                <a:effectLst/>
                <a:latin typeface="Times New Roman" panose="02020603050405020304" pitchFamily="18" charset="0"/>
              </a:rPr>
              <a:t>类则需要计算地面和四面墙壁的装修费用，因此它们各自实现的 </a:t>
            </a:r>
            <a:r>
              <a:rPr lang="en-US" dirty="0"/>
              <a:t>price()</a:t>
            </a:r>
            <a:r>
              <a:rPr lang="en-US" b="0" i="0" dirty="0">
                <a:solidFill>
                  <a:srgbClr val="262625"/>
                </a:solidFill>
                <a:effectLst/>
                <a:latin typeface="Times New Roman" panose="02020603050405020304" pitchFamily="18" charset="0"/>
              </a:rPr>
              <a:t> </a:t>
            </a:r>
            <a:r>
              <a:rPr lang="zh-CN" altLang="en-US" b="0" i="0" dirty="0">
                <a:solidFill>
                  <a:srgbClr val="262625"/>
                </a:solidFill>
                <a:effectLst/>
                <a:latin typeface="Times New Roman" panose="02020603050405020304" pitchFamily="18" charset="0"/>
              </a:rPr>
              <a:t>方法有所不同。</a:t>
            </a:r>
            <a:endParaRPr kumimoji="1" lang="zh-CN" altLang="en-US" dirty="0"/>
          </a:p>
        </p:txBody>
      </p:sp>
    </p:spTree>
    <p:extLst>
      <p:ext uri="{BB962C8B-B14F-4D97-AF65-F5344CB8AC3E}">
        <p14:creationId xmlns:p14="http://schemas.microsoft.com/office/powerpoint/2010/main" val="1491801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7517" y="2750961"/>
            <a:ext cx="10071099" cy="1684150"/>
          </a:xfrm>
        </p:spPr>
        <p:txBody>
          <a:bodyPr/>
          <a:lstStyle/>
          <a:p>
            <a:r>
              <a:rPr lang="en-US" b="1" dirty="0"/>
              <a:t>7.5 </a:t>
            </a:r>
            <a:r>
              <a:rPr lang="zh-CN" altLang="en-US" b="1" dirty="0"/>
              <a:t>特殊方法和属性</a:t>
            </a:r>
            <a:endParaRPr lang="en-US"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altLang="zh-CN" b="1" dirty="0"/>
              <a:t>7.5.1 </a:t>
            </a:r>
            <a:r>
              <a:rPr lang="zh-CN" altLang="en-US" b="1" dirty="0"/>
              <a:t>初始化与构建</a:t>
            </a:r>
            <a:endParaRPr lang="en-US" b="1" dirty="0"/>
          </a:p>
        </p:txBody>
      </p:sp>
      <p:sp>
        <p:nvSpPr>
          <p:cNvPr id="6" name="文本框 5"/>
          <p:cNvSpPr txBox="1"/>
          <p:nvPr/>
        </p:nvSpPr>
        <p:spPr>
          <a:xfrm>
            <a:off x="1104900" y="1718344"/>
            <a:ext cx="9980682" cy="464543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000" dirty="0">
                <a:sym typeface="+mn-ea"/>
              </a:rPr>
              <a:t>什么是特殊方法？</a:t>
            </a:r>
            <a:endParaRPr lang="en-US" altLang="zh-CN" sz="2000" dirty="0"/>
          </a:p>
          <a:p>
            <a:pPr>
              <a:lnSpc>
                <a:spcPct val="150000"/>
              </a:lnSpc>
            </a:pPr>
            <a:r>
              <a:rPr lang="zh-CN" altLang="en-US" sz="2000" dirty="0"/>
              <a:t>  </a:t>
            </a:r>
            <a:r>
              <a:rPr lang="zh-CN" altLang="en-US" sz="2000" dirty="0">
                <a:sym typeface="+mn-ea"/>
              </a:rPr>
              <a:t>Python类的特殊方法又称为</a:t>
            </a:r>
            <a:r>
              <a:rPr lang="zh-CN" altLang="en-US" sz="2000" dirty="0">
                <a:solidFill>
                  <a:srgbClr val="0432FF"/>
                </a:solidFill>
                <a:sym typeface="+mn-ea"/>
              </a:rPr>
              <a:t>魔术方法</a:t>
            </a:r>
            <a:r>
              <a:rPr lang="zh-CN" altLang="en-US" sz="2000" dirty="0">
                <a:sym typeface="+mn-ea"/>
              </a:rPr>
              <a:t>，它是以双下划线包裹一个词的形式出现，</a:t>
            </a:r>
            <a:endParaRPr lang="en-US" altLang="zh-CN" sz="2000" dirty="0">
              <a:sym typeface="+mn-ea"/>
            </a:endParaRPr>
          </a:p>
          <a:p>
            <a:pPr>
              <a:lnSpc>
                <a:spcPct val="150000"/>
              </a:lnSpc>
            </a:pPr>
            <a:r>
              <a:rPr lang="zh-CN" altLang="en-US" sz="2000" dirty="0">
                <a:sym typeface="+mn-ea"/>
              </a:rPr>
              <a:t>例如：</a:t>
            </a:r>
            <a:r>
              <a:rPr lang="zh-CN" altLang="en-US" sz="2000" dirty="0">
                <a:solidFill>
                  <a:srgbClr val="C00000"/>
                </a:solidFill>
                <a:sym typeface="+mn-ea"/>
              </a:rPr>
              <a:t>__init__</a:t>
            </a:r>
            <a:r>
              <a:rPr lang="zh-CN" altLang="en-US" sz="2000" dirty="0">
                <a:sym typeface="+mn-ea"/>
              </a:rPr>
              <a:t>。</a:t>
            </a:r>
            <a:endParaRPr lang="en-US" altLang="en-US" sz="2000" dirty="0"/>
          </a:p>
          <a:p>
            <a:pPr>
              <a:lnSpc>
                <a:spcPct val="150000"/>
              </a:lnSpc>
            </a:pPr>
            <a:r>
              <a:rPr lang="en-US" altLang="zh-CN" sz="2000" dirty="0"/>
              <a:t>  </a:t>
            </a:r>
          </a:p>
          <a:p>
            <a:pPr marL="285750" indent="-285750">
              <a:lnSpc>
                <a:spcPct val="150000"/>
              </a:lnSpc>
              <a:buFont typeface="Arial" panose="020B0604020202020204" pitchFamily="34" charset="0"/>
              <a:buChar char="•"/>
            </a:pPr>
            <a:endParaRPr lang="en-US" altLang="zh-CN" sz="2000" dirty="0"/>
          </a:p>
          <a:p>
            <a:pPr marL="285750" indent="-285750">
              <a:lnSpc>
                <a:spcPct val="150000"/>
              </a:lnSpc>
              <a:buFont typeface="Arial" panose="020B0604020202020204" pitchFamily="34" charset="0"/>
              <a:buChar char="•"/>
            </a:pPr>
            <a:r>
              <a:rPr lang="zh-CN" altLang="en-US" sz="2000" dirty="0">
                <a:sym typeface="+mn-ea"/>
              </a:rPr>
              <a:t>特殊方法有什么作用？</a:t>
            </a:r>
            <a:endParaRPr lang="en-US" altLang="zh-CN" sz="2000" dirty="0"/>
          </a:p>
          <a:p>
            <a:pPr algn="l">
              <a:lnSpc>
                <a:spcPct val="150000"/>
              </a:lnSpc>
              <a:buClrTx/>
              <a:buSzTx/>
              <a:buFontTx/>
            </a:pPr>
            <a:r>
              <a:rPr lang="zh-CN" altLang="en-US" sz="2000" dirty="0"/>
              <a:t>  较</a:t>
            </a:r>
            <a:r>
              <a:rPr lang="zh-CN" altLang="en-US" sz="2000" dirty="0">
                <a:sym typeface="+mn-ea"/>
              </a:rPr>
              <a:t>特殊方法不仅可以可以实现构造和初始化，而且可以实现比较、算数运算，此外，它还可以让类像一个字典、迭代器一样使用，可以设计出一些高级的代码。</a:t>
            </a:r>
            <a:endParaRPr lang="zh-CN" altLang="en-US" sz="2000" dirty="0"/>
          </a:p>
          <a:p>
            <a:pPr algn="l">
              <a:lnSpc>
                <a:spcPct val="150000"/>
              </a:lnSpc>
              <a:buClrTx/>
              <a:buSzTx/>
              <a:buFontTx/>
            </a:pPr>
            <a:endParaRPr lang="en-US" altLang="zh-CN" sz="2000" dirty="0"/>
          </a:p>
          <a:p>
            <a:pPr marL="285750" indent="-285750">
              <a:lnSpc>
                <a:spcPct val="150000"/>
              </a:lnSpc>
              <a:buFont typeface="Arial" panose="020B0604020202020204" pitchFamily="34" charset="0"/>
              <a:buChar char="•"/>
            </a:pPr>
            <a:endParaRPr lang="en-US" altLang="zh-CN" sz="2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altLang="zh-CN" b="1" dirty="0"/>
              <a:t>7.5.1 </a:t>
            </a:r>
            <a:r>
              <a:rPr lang="zh-CN" spc="-60" dirty="0">
                <a:ln w="3127" cap="flat" cmpd="sng">
                  <a:solidFill>
                    <a:srgbClr val="514843">
                      <a:alpha val="100000"/>
                    </a:srgbClr>
                  </a:solidFill>
                  <a:prstDash val="solid"/>
                  <a:miter lim="1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特殊方法的初始化与构建</a:t>
            </a:r>
            <a:endParaRPr lang="en-US" b="1" dirty="0"/>
          </a:p>
        </p:txBody>
      </p:sp>
      <p:sp>
        <p:nvSpPr>
          <p:cNvPr id="2" name="文本框 1"/>
          <p:cNvSpPr txBox="1"/>
          <p:nvPr/>
        </p:nvSpPr>
        <p:spPr>
          <a:xfrm>
            <a:off x="1104900" y="1761423"/>
            <a:ext cx="9896776" cy="707886"/>
          </a:xfrm>
          <a:prstGeom prst="rect">
            <a:avLst/>
          </a:prstGeom>
          <a:noFill/>
        </p:spPr>
        <p:txBody>
          <a:bodyPr wrap="square" rtlCol="0">
            <a:spAutoFit/>
          </a:bodyPr>
          <a:lstStyle/>
          <a:p>
            <a:r>
              <a:rPr lang="zh-CN" altLang="en-US" sz="2000" dirty="0">
                <a:solidFill>
                  <a:srgbClr val="C00000"/>
                </a:solidFill>
              </a:rPr>
              <a:t>（</a:t>
            </a:r>
            <a:r>
              <a:rPr lang="en-US" altLang="zh-CN" sz="2000" dirty="0">
                <a:solidFill>
                  <a:srgbClr val="C00000"/>
                </a:solidFill>
              </a:rPr>
              <a:t>1</a:t>
            </a:r>
            <a:r>
              <a:rPr lang="zh-CN" altLang="en-US" sz="2000" dirty="0">
                <a:solidFill>
                  <a:srgbClr val="C00000"/>
                </a:solidFill>
              </a:rPr>
              <a:t>）定义类</a:t>
            </a:r>
            <a:endParaRPr lang="en-US" altLang="zh-CN" sz="2000" dirty="0">
              <a:solidFill>
                <a:srgbClr val="C00000"/>
              </a:solidFill>
            </a:endParaRPr>
          </a:p>
          <a:p>
            <a:endParaRPr lang="zh-CN" altLang="en-US" sz="2000" dirty="0">
              <a:solidFill>
                <a:srgbClr val="C00000"/>
              </a:solidFill>
            </a:endParaRPr>
          </a:p>
        </p:txBody>
      </p:sp>
      <p:graphicFrame>
        <p:nvGraphicFramePr>
          <p:cNvPr id="5" name="表格 4"/>
          <p:cNvGraphicFramePr>
            <a:graphicFrameLocks noGrp="1"/>
          </p:cNvGraphicFramePr>
          <p:nvPr>
            <p:custDataLst>
              <p:tags r:id="rId1"/>
            </p:custDataLst>
          </p:nvPr>
        </p:nvGraphicFramePr>
        <p:xfrm>
          <a:off x="3344060" y="1798184"/>
          <a:ext cx="5418455" cy="965200"/>
        </p:xfrm>
        <a:graphic>
          <a:graphicData uri="http://schemas.openxmlformats.org/drawingml/2006/table">
            <a:tbl>
              <a:tblPr firstRow="1" firstCol="1" bandRow="1"/>
              <a:tblGrid>
                <a:gridCol w="5418455">
                  <a:extLst>
                    <a:ext uri="{9D8B030D-6E8A-4147-A177-3AD203B41FA5}">
                      <a16:colId xmlns:a16="http://schemas.microsoft.com/office/drawing/2014/main" val="20000"/>
                    </a:ext>
                  </a:extLst>
                </a:gridCol>
              </a:tblGrid>
              <a:tr h="965200">
                <a:tc>
                  <a:txBody>
                    <a:bodyPr/>
                    <a:lstStyle/>
                    <a:p>
                      <a:pPr indent="127000" algn="just">
                        <a:lnSpc>
                          <a:spcPts val="1900"/>
                        </a:lnSpc>
                        <a:spcAft>
                          <a:spcPts val="0"/>
                        </a:spcAft>
                      </a:pPr>
                      <a:r>
                        <a:rPr lang="en-US" sz="1800" b="0" kern="100" dirty="0">
                          <a:effectLst/>
                          <a:latin typeface="Consolas" panose="020B0609020204030204" pitchFamily="49" charset="0"/>
                          <a:ea typeface="宋体" panose="02010600030101010101" pitchFamily="2" charset="-122"/>
                        </a:rPr>
                        <a:t>class </a:t>
                      </a:r>
                      <a:r>
                        <a:rPr lang="en-US" sz="1800" b="0" kern="100" dirty="0" err="1">
                          <a:effectLst/>
                          <a:latin typeface="Consolas" panose="020B0609020204030204" pitchFamily="49" charset="0"/>
                          <a:ea typeface="宋体" panose="02010600030101010101" pitchFamily="2" charset="-122"/>
                        </a:rPr>
                        <a:t>Person</a:t>
                      </a:r>
                      <a:r>
                        <a:rPr lang="en-US" sz="1800" b="0" kern="100" dirty="0">
                          <a:effectLst/>
                          <a:latin typeface="Consolas" panose="020B0609020204030204" pitchFamily="49" charset="0"/>
                          <a:ea typeface="宋体" panose="02010600030101010101" pitchFamily="2" charset="-122"/>
                        </a:rPr>
                        <a:t>: </a:t>
                      </a:r>
                      <a:endParaRPr lang="zh-CN" sz="1800" b="0" kern="100" dirty="0">
                        <a:effectLst/>
                        <a:latin typeface="Consolas" panose="020B0609020204030204" pitchFamily="49" charset="0"/>
                        <a:ea typeface="宋体" panose="02010600030101010101" pitchFamily="2" charset="-122"/>
                      </a:endParaRPr>
                    </a:p>
                    <a:p>
                      <a:pPr indent="228600" algn="just">
                        <a:lnSpc>
                          <a:spcPts val="1900"/>
                        </a:lnSpc>
                        <a:spcAft>
                          <a:spcPts val="0"/>
                        </a:spcAft>
                      </a:pPr>
                      <a:r>
                        <a:rPr lang="en-US" sz="1800" b="0" kern="100" dirty="0">
                          <a:effectLst/>
                          <a:latin typeface="Consolas" panose="020B0609020204030204" pitchFamily="49" charset="0"/>
                          <a:ea typeface="宋体" panose="02010600030101010101" pitchFamily="2" charset="-122"/>
                        </a:rPr>
                        <a:t>&lt;statement-1&gt;</a:t>
                      </a:r>
                      <a:endParaRPr lang="zh-CN" sz="1800" b="0" kern="100" dirty="0">
                        <a:effectLst/>
                        <a:latin typeface="Consolas" panose="020B0609020204030204" pitchFamily="49" charset="0"/>
                        <a:ea typeface="宋体" panose="02010600030101010101" pitchFamily="2" charset="-122"/>
                      </a:endParaRPr>
                    </a:p>
                    <a:p>
                      <a:pPr indent="228600" algn="just">
                        <a:lnSpc>
                          <a:spcPts val="1900"/>
                        </a:lnSpc>
                        <a:spcAft>
                          <a:spcPts val="0"/>
                        </a:spcAft>
                      </a:pPr>
                      <a:r>
                        <a:rPr lang="en-US" sz="1800" b="0" kern="100" dirty="0">
                          <a:effectLst/>
                          <a:latin typeface="Consolas" panose="020B0609020204030204" pitchFamily="49" charset="0"/>
                          <a:ea typeface="宋体" panose="02010600030101010101" pitchFamily="2" charset="-122"/>
                        </a:rPr>
                        <a:t>...</a:t>
                      </a:r>
                      <a:endParaRPr lang="zh-CN" sz="1800" b="0" kern="100" dirty="0">
                        <a:effectLst/>
                        <a:latin typeface="Consolas" panose="020B0609020204030204" pitchFamily="49" charset="0"/>
                        <a:ea typeface="宋体" panose="02010600030101010101" pitchFamily="2" charset="-122"/>
                      </a:endParaRPr>
                    </a:p>
                    <a:p>
                      <a:pPr indent="228600" algn="just">
                        <a:lnSpc>
                          <a:spcPts val="1900"/>
                        </a:lnSpc>
                        <a:spcAft>
                          <a:spcPts val="0"/>
                        </a:spcAft>
                      </a:pPr>
                      <a:r>
                        <a:rPr lang="en-US" sz="1800" b="0" kern="100" dirty="0">
                          <a:effectLst/>
                          <a:latin typeface="Consolas" panose="020B0609020204030204" pitchFamily="49" charset="0"/>
                          <a:ea typeface="宋体" panose="02010600030101010101" pitchFamily="2" charset="-122"/>
                        </a:rPr>
                        <a:t>&lt;statement-N&gt;</a:t>
                      </a:r>
                      <a:endParaRPr lang="zh-CN" sz="1800" b="0" kern="100" dirty="0">
                        <a:effectLst/>
                        <a:latin typeface="Consolas" panose="020B0609020204030204" pitchFamily="49"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0000"/>
                  </a:ext>
                </a:extLst>
              </a:tr>
            </a:tbl>
          </a:graphicData>
        </a:graphic>
      </p:graphicFrame>
      <p:sp>
        <p:nvSpPr>
          <p:cNvPr id="6" name="矩形 5"/>
          <p:cNvSpPr/>
          <p:nvPr/>
        </p:nvSpPr>
        <p:spPr>
          <a:xfrm>
            <a:off x="1340518" y="3558078"/>
            <a:ext cx="9896776" cy="919611"/>
          </a:xfrm>
          <a:prstGeom prst="rect">
            <a:avLst/>
          </a:prstGeom>
        </p:spPr>
        <p:txBody>
          <a:bodyPr wrap="square">
            <a:spAutoFit/>
          </a:bodyPr>
          <a:lstStyle/>
          <a:p>
            <a:pPr marL="235585" indent="-9525" algn="l" rtl="0" eaLnBrk="0">
              <a:lnSpc>
                <a:spcPct val="98000"/>
              </a:lnSpc>
              <a:spcBef>
                <a:spcPts val="80"/>
              </a:spcBef>
            </a:pPr>
            <a:r>
              <a:rPr lang="zh-CN" altLang="en-US" dirty="0"/>
              <a:t>用于创建类的新实例。new方法是属于类本身的</a:t>
            </a:r>
            <a:r>
              <a:rPr lang="zh-CN" altLang="en-US" dirty="0">
                <a:solidFill>
                  <a:srgbClr val="0432FF"/>
                </a:solidFill>
              </a:rPr>
              <a:t>静态方法</a:t>
            </a:r>
            <a:r>
              <a:rPr lang="zh-CN" altLang="en-US" dirty="0"/>
              <a:t>。它负责</a:t>
            </a:r>
            <a:r>
              <a:rPr lang="zh-CN" altLang="en-US" dirty="0">
                <a:solidFill>
                  <a:srgbClr val="0432FF"/>
                </a:solidFill>
              </a:rPr>
              <a:t>创建</a:t>
            </a:r>
            <a:r>
              <a:rPr lang="zh-CN" altLang="en-US" dirty="0">
                <a:solidFill>
                  <a:srgbClr val="0432FF"/>
                </a:solidFill>
                <a:sym typeface="+mn-ea"/>
              </a:rPr>
              <a:t>并返回该类的新实例</a:t>
            </a:r>
            <a:r>
              <a:rPr lang="zh-CN" altLang="en-US" dirty="0">
                <a:sym typeface="+mn-ea"/>
              </a:rPr>
              <a:t>。该方法将类本身作为第一个参数，并接受任何其他需要传递的参数。</a:t>
            </a:r>
            <a:endParaRPr lang="en-US" altLang="zh-CN" dirty="0">
              <a:sym typeface="+mn-ea"/>
            </a:endParaRPr>
          </a:p>
          <a:p>
            <a:pPr marL="511810" indent="-285750" algn="l" rtl="0" eaLnBrk="0">
              <a:lnSpc>
                <a:spcPct val="98000"/>
              </a:lnSpc>
              <a:spcBef>
                <a:spcPts val="80"/>
              </a:spcBef>
              <a:buFont typeface="Arial" panose="020B0604020202020204" pitchFamily="34" charset="0"/>
              <a:buChar char="•"/>
            </a:pPr>
            <a:r>
              <a:rPr lang="zh-CN" altLang="en-US" dirty="0">
                <a:sym typeface="+mn-ea"/>
              </a:rPr>
              <a:t>当 </a:t>
            </a:r>
            <a:r>
              <a:rPr lang="en-US" altLang="zh-CN" dirty="0">
                <a:solidFill>
                  <a:srgbClr val="0432FF"/>
                </a:solidFill>
                <a:sym typeface="+mn-ea"/>
              </a:rPr>
              <a:t>__new__() </a:t>
            </a:r>
            <a:r>
              <a:rPr lang="zh-CN" altLang="en-US" dirty="0">
                <a:sym typeface="+mn-ea"/>
              </a:rPr>
              <a:t>被调用时，</a:t>
            </a:r>
            <a:r>
              <a:rPr lang="zh-CN" altLang="en-US" dirty="0">
                <a:solidFill>
                  <a:srgbClr val="0432FF"/>
                </a:solidFill>
                <a:sym typeface="+mn-ea"/>
              </a:rPr>
              <a:t>类本身会自动作为第一个参数传递</a:t>
            </a:r>
            <a:r>
              <a:rPr lang="zh-CN" altLang="en-US" dirty="0">
                <a:sym typeface="+mn-ea"/>
              </a:rPr>
              <a:t>（</a:t>
            </a:r>
            <a:r>
              <a:rPr lang="en-US" altLang="zh-CN" dirty="0" err="1">
                <a:sym typeface="+mn-ea"/>
              </a:rPr>
              <a:t>cls</a:t>
            </a:r>
            <a:r>
              <a:rPr lang="zh-CN" altLang="en-US" dirty="0">
                <a:sym typeface="+mn-ea"/>
              </a:rPr>
              <a:t>）。</a:t>
            </a:r>
            <a:endParaRPr lang="zh-CN" altLang="zh-CN" dirty="0"/>
          </a:p>
        </p:txBody>
      </p:sp>
      <p:graphicFrame>
        <p:nvGraphicFramePr>
          <p:cNvPr id="7" name="表格 6"/>
          <p:cNvGraphicFramePr>
            <a:graphicFrameLocks noGrp="1"/>
          </p:cNvGraphicFramePr>
          <p:nvPr/>
        </p:nvGraphicFramePr>
        <p:xfrm>
          <a:off x="1744161" y="4694872"/>
          <a:ext cx="9057372" cy="1317625"/>
        </p:xfrm>
        <a:graphic>
          <a:graphicData uri="http://schemas.openxmlformats.org/drawingml/2006/table">
            <a:tbl>
              <a:tblPr firstRow="1" firstCol="1" bandRow="1"/>
              <a:tblGrid>
                <a:gridCol w="9057372">
                  <a:extLst>
                    <a:ext uri="{9D8B030D-6E8A-4147-A177-3AD203B41FA5}">
                      <a16:colId xmlns:a16="http://schemas.microsoft.com/office/drawing/2014/main" val="20000"/>
                    </a:ext>
                  </a:extLst>
                </a:gridCol>
              </a:tblGrid>
              <a:tr h="1317625">
                <a:tc>
                  <a:txBody>
                    <a:bodyPr/>
                    <a:lstStyle/>
                    <a:p>
                      <a:pPr marL="0" indent="127000" algn="just" defTabSz="914400" rtl="0" eaLnBrk="1" latinLnBrk="0" hangingPunct="1">
                        <a:lnSpc>
                          <a:spcPts val="1900"/>
                        </a:lnSpc>
                        <a:spcAft>
                          <a:spcPts val="0"/>
                        </a:spcAft>
                      </a:pPr>
                      <a:r>
                        <a:rPr lang="en-US" sz="1800" b="0" kern="100" dirty="0">
                          <a:solidFill>
                            <a:schemeClr val="tx1"/>
                          </a:solidFill>
                          <a:effectLst/>
                          <a:latin typeface="Consolas" panose="020B0609020204030204" pitchFamily="49" charset="0"/>
                          <a:ea typeface="宋体" panose="02010600030101010101" pitchFamily="2" charset="-122"/>
                          <a:cs typeface="+mn-cs"/>
                        </a:rPr>
                        <a:t>class Person:</a:t>
                      </a:r>
                    </a:p>
                    <a:p>
                      <a:pPr marL="0" indent="127000" algn="just" defTabSz="914400" rtl="0" eaLnBrk="1" latinLnBrk="0" hangingPunct="1">
                        <a:lnSpc>
                          <a:spcPts val="1900"/>
                        </a:lnSpc>
                        <a:spcAft>
                          <a:spcPts val="0"/>
                        </a:spcAft>
                      </a:pPr>
                      <a:r>
                        <a:rPr lang="en-US" sz="1800" b="0" kern="100" dirty="0">
                          <a:solidFill>
                            <a:schemeClr val="tx1"/>
                          </a:solidFill>
                          <a:effectLst/>
                          <a:latin typeface="Consolas" panose="020B0609020204030204" pitchFamily="49" charset="0"/>
                          <a:ea typeface="宋体" panose="02010600030101010101" pitchFamily="2" charset="-122"/>
                          <a:cs typeface="+mn-cs"/>
                        </a:rPr>
                        <a:t>    def __new__(</a:t>
                      </a:r>
                      <a:r>
                        <a:rPr lang="en-US" sz="1800" b="0" kern="100" dirty="0" err="1">
                          <a:solidFill>
                            <a:schemeClr val="tx1"/>
                          </a:solidFill>
                          <a:effectLst/>
                          <a:latin typeface="Consolas" panose="020B0609020204030204" pitchFamily="49" charset="0"/>
                          <a:ea typeface="宋体" panose="02010600030101010101" pitchFamily="2" charset="-122"/>
                          <a:cs typeface="+mn-cs"/>
                        </a:rPr>
                        <a:t>cls</a:t>
                      </a:r>
                      <a:r>
                        <a:rPr lang="en-US" sz="1800" b="0" kern="100" dirty="0">
                          <a:solidFill>
                            <a:schemeClr val="tx1"/>
                          </a:solidFill>
                          <a:effectLst/>
                          <a:latin typeface="Consolas" panose="020B0609020204030204" pitchFamily="49" charset="0"/>
                          <a:ea typeface="宋体" panose="02010600030101010101" pitchFamily="2" charset="-122"/>
                          <a:cs typeface="+mn-cs"/>
                        </a:rPr>
                        <a:t>, name, age):</a:t>
                      </a:r>
                    </a:p>
                    <a:p>
                      <a:pPr marL="0" indent="127000" algn="just" defTabSz="914400" rtl="0" eaLnBrk="1" latinLnBrk="0" hangingPunct="1">
                        <a:lnSpc>
                          <a:spcPts val="1900"/>
                        </a:lnSpc>
                        <a:spcAft>
                          <a:spcPts val="0"/>
                        </a:spcAft>
                      </a:pPr>
                      <a:r>
                        <a:rPr lang="en-US" sz="1800" b="0" kern="100" dirty="0">
                          <a:solidFill>
                            <a:schemeClr val="tx1"/>
                          </a:solidFill>
                          <a:effectLst/>
                          <a:latin typeface="Consolas" panose="020B0609020204030204" pitchFamily="49" charset="0"/>
                          <a:ea typeface="宋体" panose="02010600030101010101" pitchFamily="2" charset="-122"/>
                          <a:cs typeface="+mn-cs"/>
                        </a:rPr>
                        <a:t>        print("Creating a new", </a:t>
                      </a:r>
                      <a:r>
                        <a:rPr lang="en-US" sz="1800" b="0" kern="100" dirty="0" err="1">
                          <a:solidFill>
                            <a:schemeClr val="tx1"/>
                          </a:solidFill>
                          <a:effectLst/>
                          <a:latin typeface="Consolas" panose="020B0609020204030204" pitchFamily="49" charset="0"/>
                          <a:ea typeface="宋体" panose="02010600030101010101" pitchFamily="2" charset="-122"/>
                          <a:cs typeface="+mn-cs"/>
                        </a:rPr>
                        <a:t>cls</a:t>
                      </a:r>
                      <a:r>
                        <a:rPr lang="en-US" sz="1800" b="0" kern="100" dirty="0">
                          <a:solidFill>
                            <a:schemeClr val="tx1"/>
                          </a:solidFill>
                          <a:effectLst/>
                          <a:latin typeface="Consolas" panose="020B0609020204030204" pitchFamily="49" charset="0"/>
                          <a:ea typeface="宋体" panose="02010600030101010101" pitchFamily="2" charset="-122"/>
                          <a:cs typeface="+mn-cs"/>
                        </a:rPr>
                        <a:t>.__name__, "object")</a:t>
                      </a:r>
                    </a:p>
                    <a:p>
                      <a:pPr marL="0" indent="127000" algn="just" defTabSz="914400" rtl="0" eaLnBrk="1" latinLnBrk="0" hangingPunct="1">
                        <a:lnSpc>
                          <a:spcPts val="1900"/>
                        </a:lnSpc>
                        <a:spcAft>
                          <a:spcPts val="0"/>
                        </a:spcAft>
                      </a:pPr>
                      <a:r>
                        <a:rPr lang="en-US" sz="1800" b="0" kern="100" dirty="0">
                          <a:solidFill>
                            <a:schemeClr val="tx1"/>
                          </a:solidFill>
                          <a:effectLst/>
                          <a:latin typeface="Consolas" panose="020B0609020204030204" pitchFamily="49" charset="0"/>
                          <a:ea typeface="宋体" panose="02010600030101010101" pitchFamily="2" charset="-122"/>
                          <a:cs typeface="+mn-cs"/>
                        </a:rPr>
                        <a:t>        instance = super().__new__(</a:t>
                      </a:r>
                      <a:r>
                        <a:rPr lang="en-US" sz="1800" b="0" kern="100" dirty="0" err="1">
                          <a:solidFill>
                            <a:schemeClr val="tx1"/>
                          </a:solidFill>
                          <a:effectLst/>
                          <a:latin typeface="Consolas" panose="020B0609020204030204" pitchFamily="49" charset="0"/>
                          <a:ea typeface="宋体" panose="02010600030101010101" pitchFamily="2" charset="-122"/>
                          <a:cs typeface="+mn-cs"/>
                        </a:rPr>
                        <a:t>cls</a:t>
                      </a:r>
                      <a:r>
                        <a:rPr lang="en-US" sz="1800" b="0" kern="100" dirty="0">
                          <a:solidFill>
                            <a:schemeClr val="tx1"/>
                          </a:solidFill>
                          <a:effectLst/>
                          <a:latin typeface="Consolas" panose="020B0609020204030204" pitchFamily="49" charset="0"/>
                          <a:ea typeface="宋体" panose="02010600030101010101" pitchFamily="2" charset="-122"/>
                          <a:cs typeface="+mn-cs"/>
                        </a:rPr>
                        <a:t>)</a:t>
                      </a:r>
                    </a:p>
                    <a:p>
                      <a:pPr marL="0" indent="127000" algn="just" defTabSz="914400" rtl="0" eaLnBrk="1" latinLnBrk="0" hangingPunct="1">
                        <a:lnSpc>
                          <a:spcPts val="1900"/>
                        </a:lnSpc>
                        <a:spcAft>
                          <a:spcPts val="0"/>
                        </a:spcAft>
                      </a:pPr>
                      <a:r>
                        <a:rPr lang="en-US" sz="1800" b="0" kern="100" dirty="0">
                          <a:solidFill>
                            <a:schemeClr val="tx1"/>
                          </a:solidFill>
                          <a:effectLst/>
                          <a:latin typeface="Consolas" panose="020B0609020204030204" pitchFamily="49" charset="0"/>
                          <a:ea typeface="宋体" panose="02010600030101010101" pitchFamily="2" charset="-122"/>
                          <a:cs typeface="+mn-cs"/>
                        </a:rPr>
                        <a:t>        return instance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0000"/>
                  </a:ext>
                </a:extLst>
              </a:tr>
            </a:tbl>
          </a:graphicData>
        </a:graphic>
      </p:graphicFrame>
      <p:sp>
        <p:nvSpPr>
          <p:cNvPr id="4" name="文本框 3"/>
          <p:cNvSpPr txBox="1"/>
          <p:nvPr/>
        </p:nvSpPr>
        <p:spPr>
          <a:xfrm>
            <a:off x="1148080" y="3057458"/>
            <a:ext cx="9896776" cy="400110"/>
          </a:xfrm>
          <a:prstGeom prst="rect">
            <a:avLst/>
          </a:prstGeom>
          <a:noFill/>
        </p:spPr>
        <p:txBody>
          <a:bodyPr wrap="square" rtlCol="0">
            <a:spAutoFit/>
          </a:bodyPr>
          <a:lstStyle/>
          <a:p>
            <a:r>
              <a:rPr lang="zh-CN" altLang="en-US" sz="2000" dirty="0">
                <a:solidFill>
                  <a:srgbClr val="C00000"/>
                </a:solidFill>
              </a:rPr>
              <a:t>（</a:t>
            </a:r>
            <a:r>
              <a:rPr lang="en-US" altLang="zh-CN" sz="2000" dirty="0">
                <a:solidFill>
                  <a:srgbClr val="C00000"/>
                </a:solidFill>
              </a:rPr>
              <a:t>2</a:t>
            </a:r>
            <a:r>
              <a:rPr lang="zh-CN" altLang="en-US" sz="2000" dirty="0">
                <a:solidFill>
                  <a:srgbClr val="C00000"/>
                </a:solidFill>
              </a:rPr>
              <a:t>）</a:t>
            </a:r>
            <a:r>
              <a:rPr lang="en-US" sz="2000" b="0" i="0" dirty="0">
                <a:solidFill>
                  <a:srgbClr val="C00000"/>
                </a:solidFill>
                <a:effectLst/>
                <a:latin typeface="Menlo" panose="020B0609030804020204" pitchFamily="49" charset="0"/>
              </a:rPr>
              <a:t> __new__(</a:t>
            </a:r>
            <a:r>
              <a:rPr lang="en-US" sz="2000" b="0" i="0" dirty="0" err="1">
                <a:solidFill>
                  <a:srgbClr val="C00000"/>
                </a:solidFill>
                <a:effectLst/>
                <a:latin typeface="Menlo" panose="020B0609030804020204" pitchFamily="49" charset="0"/>
              </a:rPr>
              <a:t>cls</a:t>
            </a:r>
            <a:r>
              <a:rPr lang="en-US" sz="2000" b="0" i="0" dirty="0">
                <a:solidFill>
                  <a:srgbClr val="C00000"/>
                </a:solidFill>
                <a:effectLst/>
                <a:latin typeface="Menlo" panose="020B0609030804020204" pitchFamily="49" charset="0"/>
              </a:rPr>
              <a:t>, other)</a:t>
            </a:r>
            <a:endParaRPr lang="zh-CN" altLang="en-US" sz="2000" dirty="0">
              <a:solidFill>
                <a:srgbClr val="C0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altLang="zh-CN" b="1" dirty="0"/>
              <a:t>7.5.1 </a:t>
            </a:r>
            <a:r>
              <a:rPr lang="zh-CN" spc="-60" dirty="0">
                <a:ln w="3127" cap="flat" cmpd="sng">
                  <a:solidFill>
                    <a:srgbClr val="514843">
                      <a:alpha val="100000"/>
                    </a:srgbClr>
                  </a:solidFill>
                  <a:prstDash val="solid"/>
                  <a:miter lim="1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特殊方法的初始化与构建</a:t>
            </a:r>
            <a:endParaRPr lang="en-US" b="1" dirty="0"/>
          </a:p>
        </p:txBody>
      </p:sp>
      <p:sp>
        <p:nvSpPr>
          <p:cNvPr id="6" name="矩形 5"/>
          <p:cNvSpPr/>
          <p:nvPr/>
        </p:nvSpPr>
        <p:spPr>
          <a:xfrm>
            <a:off x="1495151" y="1794746"/>
            <a:ext cx="8809829" cy="349968"/>
          </a:xfrm>
          <a:prstGeom prst="rect">
            <a:avLst/>
          </a:prstGeom>
        </p:spPr>
        <p:txBody>
          <a:bodyPr wrap="square">
            <a:spAutoFit/>
          </a:bodyPr>
          <a:lstStyle/>
          <a:p>
            <a:pPr marL="226060" algn="l" rtl="0" eaLnBrk="0">
              <a:lnSpc>
                <a:spcPct val="93000"/>
              </a:lnSpc>
              <a:spcBef>
                <a:spcPts val="70"/>
              </a:spcBef>
              <a:buClrTx/>
              <a:buSzTx/>
              <a:buFontTx/>
            </a:pPr>
            <a:r>
              <a:rPr lang="zh-CN" altLang="en-US" dirty="0">
                <a:sym typeface="+mn-ea"/>
              </a:rPr>
              <a:t>在创建新实例后调用；传递给类构造函数表达式的所有属性都将用作属性。</a:t>
            </a:r>
            <a:endParaRPr lang="zh-CN" altLang="en-US" dirty="0"/>
          </a:p>
        </p:txBody>
      </p:sp>
      <p:graphicFrame>
        <p:nvGraphicFramePr>
          <p:cNvPr id="7" name="表格 6"/>
          <p:cNvGraphicFramePr>
            <a:graphicFrameLocks noGrp="1"/>
          </p:cNvGraphicFramePr>
          <p:nvPr/>
        </p:nvGraphicFramePr>
        <p:xfrm>
          <a:off x="1566555" y="3429000"/>
          <a:ext cx="9057372" cy="1317625"/>
        </p:xfrm>
        <a:graphic>
          <a:graphicData uri="http://schemas.openxmlformats.org/drawingml/2006/table">
            <a:tbl>
              <a:tblPr firstRow="1" firstCol="1" bandRow="1"/>
              <a:tblGrid>
                <a:gridCol w="9057372">
                  <a:extLst>
                    <a:ext uri="{9D8B030D-6E8A-4147-A177-3AD203B41FA5}">
                      <a16:colId xmlns:a16="http://schemas.microsoft.com/office/drawing/2014/main" val="20000"/>
                    </a:ext>
                  </a:extLst>
                </a:gridCol>
              </a:tblGrid>
              <a:tr h="1317625">
                <a:tc>
                  <a:txBody>
                    <a:bodyPr/>
                    <a:lstStyle/>
                    <a:p>
                      <a:pPr marL="0" indent="127000" algn="just" defTabSz="914400" rtl="0" eaLnBrk="1" latinLnBrk="0" hangingPunct="1">
                        <a:lnSpc>
                          <a:spcPts val="1900"/>
                        </a:lnSpc>
                        <a:spcAft>
                          <a:spcPts val="0"/>
                        </a:spcAft>
                      </a:pPr>
                      <a:r>
                        <a:rPr lang="en-US" sz="1800" b="0" kern="100" dirty="0">
                          <a:solidFill>
                            <a:schemeClr val="tx1"/>
                          </a:solidFill>
                          <a:effectLst/>
                          <a:latin typeface="Consolas" panose="020B0609020204030204" pitchFamily="49" charset="0"/>
                          <a:ea typeface="宋体" panose="02010600030101010101" pitchFamily="2" charset="-122"/>
                          <a:cs typeface="+mn-cs"/>
                        </a:rPr>
                        <a:t>    def __</a:t>
                      </a:r>
                      <a:r>
                        <a:rPr lang="en-US" sz="1800" b="0" kern="100" dirty="0" err="1">
                          <a:solidFill>
                            <a:schemeClr val="tx1"/>
                          </a:solidFill>
                          <a:effectLst/>
                          <a:latin typeface="Consolas" panose="020B0609020204030204" pitchFamily="49" charset="0"/>
                          <a:ea typeface="宋体" panose="02010600030101010101" pitchFamily="2" charset="-122"/>
                          <a:cs typeface="+mn-cs"/>
                        </a:rPr>
                        <a:t>init</a:t>
                      </a:r>
                      <a:r>
                        <a:rPr lang="en-US" sz="1800" b="0" kern="100" dirty="0">
                          <a:solidFill>
                            <a:schemeClr val="tx1"/>
                          </a:solidFill>
                          <a:effectLst/>
                          <a:latin typeface="Consolas" panose="020B0609020204030204" pitchFamily="49" charset="0"/>
                          <a:ea typeface="宋体" panose="02010600030101010101" pitchFamily="2" charset="-122"/>
                          <a:cs typeface="+mn-cs"/>
                        </a:rPr>
                        <a:t>__(self, name, age):</a:t>
                      </a:r>
                    </a:p>
                    <a:p>
                      <a:pPr marL="0" indent="127000" algn="just" defTabSz="914400" rtl="0" eaLnBrk="1" latinLnBrk="0" hangingPunct="1">
                        <a:lnSpc>
                          <a:spcPts val="1900"/>
                        </a:lnSpc>
                        <a:spcAft>
                          <a:spcPts val="0"/>
                        </a:spcAft>
                      </a:pPr>
                      <a:r>
                        <a:rPr lang="en-US" sz="1800" b="0" kern="100" dirty="0">
                          <a:solidFill>
                            <a:schemeClr val="tx1"/>
                          </a:solidFill>
                          <a:effectLst/>
                          <a:latin typeface="Consolas" panose="020B0609020204030204" pitchFamily="49" charset="0"/>
                          <a:ea typeface="宋体" panose="02010600030101010101" pitchFamily="2" charset="-122"/>
                          <a:cs typeface="+mn-cs"/>
                        </a:rPr>
                        <a:t>        print("Initializing </a:t>
                      </a:r>
                      <a:r>
                        <a:rPr lang="en-US" sz="1800" b="0" kern="100" dirty="0" err="1">
                          <a:solidFill>
                            <a:schemeClr val="tx1"/>
                          </a:solidFill>
                          <a:effectLst/>
                          <a:latin typeface="Consolas" panose="020B0609020204030204" pitchFamily="49" charset="0"/>
                          <a:ea typeface="宋体" panose="02010600030101010101" pitchFamily="2" charset="-122"/>
                          <a:cs typeface="+mn-cs"/>
                        </a:rPr>
                        <a:t>the",self.__class__.__name__,"object</a:t>
                      </a:r>
                      <a:r>
                        <a:rPr lang="en-US" sz="1800" b="0" kern="100" dirty="0">
                          <a:solidFill>
                            <a:schemeClr val="tx1"/>
                          </a:solidFill>
                          <a:effectLst/>
                          <a:latin typeface="Consolas" panose="020B0609020204030204" pitchFamily="49" charset="0"/>
                          <a:ea typeface="宋体" panose="02010600030101010101" pitchFamily="2" charset="-122"/>
                          <a:cs typeface="+mn-cs"/>
                        </a:rPr>
                        <a:t>")</a:t>
                      </a:r>
                    </a:p>
                    <a:p>
                      <a:pPr marL="0" indent="127000" algn="just" defTabSz="914400" rtl="0" eaLnBrk="1" latinLnBrk="0" hangingPunct="1">
                        <a:lnSpc>
                          <a:spcPts val="1900"/>
                        </a:lnSpc>
                        <a:spcAft>
                          <a:spcPts val="0"/>
                        </a:spcAft>
                      </a:pPr>
                      <a:r>
                        <a:rPr lang="en-US" sz="1800" b="0" kern="100" dirty="0">
                          <a:solidFill>
                            <a:schemeClr val="tx1"/>
                          </a:solidFill>
                          <a:effectLst/>
                          <a:latin typeface="Consolas" panose="020B0609020204030204" pitchFamily="49" charset="0"/>
                          <a:ea typeface="宋体" panose="02010600030101010101" pitchFamily="2" charset="-122"/>
                          <a:cs typeface="+mn-cs"/>
                        </a:rPr>
                        <a:t>        </a:t>
                      </a:r>
                      <a:r>
                        <a:rPr lang="en-US" sz="1800" b="0" kern="100" dirty="0" err="1">
                          <a:solidFill>
                            <a:schemeClr val="tx1"/>
                          </a:solidFill>
                          <a:effectLst/>
                          <a:latin typeface="Consolas" panose="020B0609020204030204" pitchFamily="49" charset="0"/>
                          <a:ea typeface="宋体" panose="02010600030101010101" pitchFamily="2" charset="-122"/>
                          <a:cs typeface="+mn-cs"/>
                        </a:rPr>
                        <a:t>self.name</a:t>
                      </a:r>
                      <a:r>
                        <a:rPr lang="en-US" sz="1800" b="0" kern="100" dirty="0">
                          <a:solidFill>
                            <a:schemeClr val="tx1"/>
                          </a:solidFill>
                          <a:effectLst/>
                          <a:latin typeface="Consolas" panose="020B0609020204030204" pitchFamily="49" charset="0"/>
                          <a:ea typeface="宋体" panose="02010600030101010101" pitchFamily="2" charset="-122"/>
                          <a:cs typeface="+mn-cs"/>
                        </a:rPr>
                        <a:t> = name</a:t>
                      </a:r>
                    </a:p>
                    <a:p>
                      <a:pPr marL="0" indent="127000" algn="just" defTabSz="914400" rtl="0" eaLnBrk="1" latinLnBrk="0" hangingPunct="1">
                        <a:lnSpc>
                          <a:spcPts val="1900"/>
                        </a:lnSpc>
                        <a:spcAft>
                          <a:spcPts val="0"/>
                        </a:spcAft>
                      </a:pPr>
                      <a:r>
                        <a:rPr lang="en-US" sz="1800" b="0" kern="100" dirty="0">
                          <a:solidFill>
                            <a:schemeClr val="tx1"/>
                          </a:solidFill>
                          <a:effectLst/>
                          <a:latin typeface="Consolas" panose="020B0609020204030204" pitchFamily="49" charset="0"/>
                          <a:ea typeface="宋体" panose="02010600030101010101" pitchFamily="2" charset="-122"/>
                          <a:cs typeface="+mn-cs"/>
                        </a:rPr>
                        <a:t>        </a:t>
                      </a:r>
                      <a:r>
                        <a:rPr lang="en-US" sz="1800" b="0" kern="100" dirty="0" err="1">
                          <a:solidFill>
                            <a:schemeClr val="tx1"/>
                          </a:solidFill>
                          <a:effectLst/>
                          <a:latin typeface="Consolas" panose="020B0609020204030204" pitchFamily="49" charset="0"/>
                          <a:ea typeface="宋体" panose="02010600030101010101" pitchFamily="2" charset="-122"/>
                          <a:cs typeface="+mn-cs"/>
                        </a:rPr>
                        <a:t>self.age</a:t>
                      </a:r>
                      <a:r>
                        <a:rPr lang="en-US" sz="1800" b="0" kern="100" dirty="0">
                          <a:solidFill>
                            <a:schemeClr val="tx1"/>
                          </a:solidFill>
                          <a:effectLst/>
                          <a:latin typeface="Consolas" panose="020B0609020204030204" pitchFamily="49" charset="0"/>
                          <a:ea typeface="宋体" panose="02010600030101010101" pitchFamily="2" charset="-122"/>
                          <a:cs typeface="+mn-cs"/>
                        </a:rPr>
                        <a:t> = age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0000"/>
                  </a:ext>
                </a:extLst>
              </a:tr>
            </a:tbl>
          </a:graphicData>
        </a:graphic>
      </p:graphicFrame>
      <p:sp>
        <p:nvSpPr>
          <p:cNvPr id="4" name="文本框 3"/>
          <p:cNvSpPr txBox="1"/>
          <p:nvPr/>
        </p:nvSpPr>
        <p:spPr>
          <a:xfrm>
            <a:off x="1146853" y="1413375"/>
            <a:ext cx="9896776" cy="400110"/>
          </a:xfrm>
          <a:prstGeom prst="rect">
            <a:avLst/>
          </a:prstGeom>
          <a:noFill/>
        </p:spPr>
        <p:txBody>
          <a:bodyPr wrap="square" rtlCol="0">
            <a:spAutoFit/>
          </a:bodyPr>
          <a:lstStyle/>
          <a:p>
            <a:r>
              <a:rPr lang="zh-CN" altLang="en-US" sz="2000" dirty="0">
                <a:solidFill>
                  <a:srgbClr val="C00000"/>
                </a:solidFill>
              </a:rPr>
              <a:t>（</a:t>
            </a:r>
            <a:r>
              <a:rPr lang="en-US" altLang="zh-CN" sz="2000" dirty="0">
                <a:solidFill>
                  <a:srgbClr val="C00000"/>
                </a:solidFill>
              </a:rPr>
              <a:t>2</a:t>
            </a:r>
            <a:r>
              <a:rPr lang="zh-CN" altLang="en-US" sz="2000" dirty="0">
                <a:solidFill>
                  <a:srgbClr val="C00000"/>
                </a:solidFill>
              </a:rPr>
              <a:t>）</a:t>
            </a:r>
            <a:r>
              <a:rPr lang="en-US" sz="2000" b="0" i="0" dirty="0">
                <a:solidFill>
                  <a:srgbClr val="C00000"/>
                </a:solidFill>
                <a:effectLst/>
                <a:latin typeface="Menlo" panose="020B0609030804020204" pitchFamily="49" charset="0"/>
              </a:rPr>
              <a:t> __</a:t>
            </a:r>
            <a:r>
              <a:rPr lang="en-US" sz="2000" b="0" i="0" dirty="0" err="1">
                <a:solidFill>
                  <a:srgbClr val="C00000"/>
                </a:solidFill>
                <a:effectLst/>
                <a:latin typeface="Menlo" panose="020B0609030804020204" pitchFamily="49" charset="0"/>
              </a:rPr>
              <a:t>init</a:t>
            </a:r>
            <a:r>
              <a:rPr lang="en-US" sz="2000" b="0" i="0" dirty="0">
                <a:solidFill>
                  <a:srgbClr val="C00000"/>
                </a:solidFill>
                <a:effectLst/>
                <a:latin typeface="Menlo" panose="020B0609030804020204" pitchFamily="49" charset="0"/>
              </a:rPr>
              <a:t>__(self, other)</a:t>
            </a:r>
            <a:endParaRPr lang="zh-CN" altLang="en-US" sz="2000" dirty="0">
              <a:solidFill>
                <a:srgbClr val="C00000"/>
              </a:solidFill>
            </a:endParaRPr>
          </a:p>
        </p:txBody>
      </p:sp>
      <p:sp>
        <p:nvSpPr>
          <p:cNvPr id="2" name="TextBox 1">
            <a:extLst>
              <a:ext uri="{FF2B5EF4-FFF2-40B4-BE49-F238E27FC236}">
                <a16:creationId xmlns:a16="http://schemas.microsoft.com/office/drawing/2014/main" id="{0E123D2E-5B9A-72A9-B40E-5D7F13EBA05F}"/>
              </a:ext>
            </a:extLst>
          </p:cNvPr>
          <p:cNvSpPr txBox="1"/>
          <p:nvPr/>
        </p:nvSpPr>
        <p:spPr>
          <a:xfrm>
            <a:off x="1777429" y="2097312"/>
            <a:ext cx="6432082" cy="1288301"/>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kumimoji="1" lang="en-US" altLang="zh-CN" dirty="0">
                <a:solidFill>
                  <a:srgbClr val="0432FF"/>
                </a:solidFill>
              </a:rPr>
              <a:t>__</a:t>
            </a:r>
            <a:r>
              <a:rPr kumimoji="1" lang="en-US" altLang="zh-CN" dirty="0" err="1">
                <a:solidFill>
                  <a:srgbClr val="0432FF"/>
                </a:solidFill>
              </a:rPr>
              <a:t>init</a:t>
            </a:r>
            <a:r>
              <a:rPr kumimoji="1" lang="en-US" altLang="zh-CN" dirty="0">
                <a:solidFill>
                  <a:srgbClr val="0432FF"/>
                </a:solidFill>
              </a:rPr>
              <a:t>__() </a:t>
            </a:r>
            <a:r>
              <a:rPr kumimoji="1" lang="zh-CN" altLang="en-US" dirty="0">
                <a:solidFill>
                  <a:srgbClr val="0432FF"/>
                </a:solidFill>
              </a:rPr>
              <a:t>不是构造函数</a:t>
            </a:r>
            <a:endParaRPr kumimoji="1" lang="en-US" altLang="zh-CN" dirty="0">
              <a:solidFill>
                <a:srgbClr val="0432FF"/>
              </a:solidFill>
            </a:endParaRPr>
          </a:p>
          <a:p>
            <a:pPr marL="285750" indent="-285750">
              <a:lnSpc>
                <a:spcPct val="150000"/>
              </a:lnSpc>
              <a:buFont typeface="Arial" panose="020B0604020202020204" pitchFamily="34" charset="0"/>
              <a:buChar char="•"/>
            </a:pPr>
            <a:r>
              <a:rPr kumimoji="1" lang="en-US" altLang="zh-CN" dirty="0">
                <a:solidFill>
                  <a:schemeClr val="tx2"/>
                </a:solidFill>
              </a:rPr>
              <a:t>__</a:t>
            </a:r>
            <a:r>
              <a:rPr kumimoji="1" lang="en-US" altLang="zh-CN" dirty="0" err="1">
                <a:solidFill>
                  <a:schemeClr val="tx2"/>
                </a:solidFill>
              </a:rPr>
              <a:t>init</a:t>
            </a:r>
            <a:r>
              <a:rPr kumimoji="1" lang="en-US" altLang="zh-CN" dirty="0">
                <a:solidFill>
                  <a:schemeClr val="tx2"/>
                </a:solidFill>
              </a:rPr>
              <a:t>__() </a:t>
            </a:r>
            <a:r>
              <a:rPr kumimoji="1" lang="zh-CN" altLang="en-US" dirty="0">
                <a:solidFill>
                  <a:schemeClr val="tx2"/>
                </a:solidFill>
              </a:rPr>
              <a:t>中的</a:t>
            </a:r>
            <a:r>
              <a:rPr kumimoji="1" lang="zh-CN" altLang="en-US" dirty="0">
                <a:solidFill>
                  <a:srgbClr val="C00000"/>
                </a:solidFill>
              </a:rPr>
              <a:t>第一个参数是对象本身</a:t>
            </a:r>
            <a:r>
              <a:rPr kumimoji="1" lang="zh-CN" altLang="en-US" dirty="0">
                <a:solidFill>
                  <a:srgbClr val="0432FF"/>
                </a:solidFill>
              </a:rPr>
              <a:t>（对象已经存在）。</a:t>
            </a:r>
            <a:endParaRPr kumimoji="1" lang="en-US" altLang="zh-CN" dirty="0">
              <a:solidFill>
                <a:srgbClr val="0432FF"/>
              </a:solidFill>
            </a:endParaRPr>
          </a:p>
          <a:p>
            <a:pPr marL="285750" indent="-285750">
              <a:lnSpc>
                <a:spcPct val="150000"/>
              </a:lnSpc>
              <a:buFont typeface="Arial" panose="020B0604020202020204" pitchFamily="34" charset="0"/>
              <a:buChar char="•"/>
            </a:pPr>
            <a:r>
              <a:rPr kumimoji="1" lang="zh-CN" altLang="en-US" dirty="0">
                <a:solidFill>
                  <a:schemeClr val="tx2"/>
                </a:solidFill>
              </a:rPr>
              <a:t>函数 </a:t>
            </a:r>
            <a:r>
              <a:rPr kumimoji="1" lang="en-US" altLang="zh-CN" dirty="0">
                <a:solidFill>
                  <a:schemeClr val="tx2"/>
                </a:solidFill>
              </a:rPr>
              <a:t>__</a:t>
            </a:r>
            <a:r>
              <a:rPr kumimoji="1" lang="en-US" altLang="zh-CN" dirty="0" err="1">
                <a:solidFill>
                  <a:schemeClr val="tx2"/>
                </a:solidFill>
              </a:rPr>
              <a:t>init</a:t>
            </a:r>
            <a:r>
              <a:rPr kumimoji="1" lang="en-US" altLang="zh-CN" dirty="0">
                <a:solidFill>
                  <a:schemeClr val="tx2"/>
                </a:solidFill>
              </a:rPr>
              <a:t>__() </a:t>
            </a:r>
            <a:r>
              <a:rPr kumimoji="1" lang="zh-CN" altLang="en-US" dirty="0">
                <a:solidFill>
                  <a:schemeClr val="tx2"/>
                </a:solidFill>
              </a:rPr>
              <a:t>在对象创建后立即调用</a:t>
            </a:r>
            <a:r>
              <a:rPr kumimoji="1" lang="zh-CN" altLang="en-US" dirty="0">
                <a:solidFill>
                  <a:srgbClr val="0432FF"/>
                </a:solidFill>
              </a:rPr>
              <a:t>，并用于</a:t>
            </a:r>
            <a:r>
              <a:rPr kumimoji="1" lang="zh-CN" altLang="en-US" dirty="0">
                <a:solidFill>
                  <a:srgbClr val="C00000"/>
                </a:solidFill>
              </a:rPr>
              <a:t>初始化它</a:t>
            </a:r>
            <a:r>
              <a:rPr kumimoji="1" lang="zh-CN" altLang="en-US" dirty="0">
                <a:solidFill>
                  <a:srgbClr val="0432FF"/>
                </a:solidFill>
              </a:rPr>
              <a:t>。</a:t>
            </a:r>
          </a:p>
        </p:txBody>
      </p:sp>
      <p:sp>
        <p:nvSpPr>
          <p:cNvPr id="11" name="TextBox 10">
            <a:extLst>
              <a:ext uri="{FF2B5EF4-FFF2-40B4-BE49-F238E27FC236}">
                <a16:creationId xmlns:a16="http://schemas.microsoft.com/office/drawing/2014/main" id="{619EBA8C-3BC2-80CA-D7C0-E0817CABCC93}"/>
              </a:ext>
            </a:extLst>
          </p:cNvPr>
          <p:cNvSpPr txBox="1"/>
          <p:nvPr/>
        </p:nvSpPr>
        <p:spPr>
          <a:xfrm>
            <a:off x="1777429" y="4890463"/>
            <a:ext cx="9565241" cy="129285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solidFill>
                  <a:srgbClr val="0432FF"/>
                </a:solidFill>
              </a:rPr>
              <a:t>__new__()</a:t>
            </a:r>
            <a:r>
              <a:rPr lang="en-US" b="0" i="0" dirty="0">
                <a:solidFill>
                  <a:srgbClr val="0432FF"/>
                </a:solidFill>
                <a:effectLst/>
                <a:latin typeface="system-ui"/>
              </a:rPr>
              <a:t> </a:t>
            </a:r>
            <a:r>
              <a:rPr lang="zh-CN" altLang="en-US" b="0" i="0" dirty="0">
                <a:solidFill>
                  <a:srgbClr val="0432FF"/>
                </a:solidFill>
                <a:effectLst/>
                <a:latin typeface="system-ui"/>
              </a:rPr>
              <a:t>始终在 </a:t>
            </a:r>
            <a:r>
              <a:rPr lang="en-US" altLang="zh-CN" dirty="0">
                <a:solidFill>
                  <a:srgbClr val="0432FF"/>
                </a:solidFill>
              </a:rPr>
              <a:t>__</a:t>
            </a:r>
            <a:r>
              <a:rPr lang="en-US" dirty="0" err="1">
                <a:solidFill>
                  <a:srgbClr val="0432FF"/>
                </a:solidFill>
              </a:rPr>
              <a:t>init</a:t>
            </a:r>
            <a:r>
              <a:rPr lang="en-US" dirty="0">
                <a:solidFill>
                  <a:srgbClr val="0432FF"/>
                </a:solidFill>
              </a:rPr>
              <a:t>__()</a:t>
            </a:r>
            <a:r>
              <a:rPr lang="en-US" b="0" i="0" dirty="0">
                <a:solidFill>
                  <a:srgbClr val="0432FF"/>
                </a:solidFill>
                <a:effectLst/>
                <a:latin typeface="system-ui"/>
              </a:rPr>
              <a:t> </a:t>
            </a:r>
            <a:r>
              <a:rPr lang="zh-CN" altLang="en-US" b="0" i="0" dirty="0">
                <a:solidFill>
                  <a:srgbClr val="0432FF"/>
                </a:solidFill>
                <a:effectLst/>
                <a:latin typeface="system-ui"/>
              </a:rPr>
              <a:t>之前调用。</a:t>
            </a:r>
            <a:endParaRPr lang="en-US" altLang="zh-CN" b="0" i="0" dirty="0">
              <a:solidFill>
                <a:srgbClr val="0432FF"/>
              </a:solidFill>
              <a:effectLst/>
              <a:latin typeface="system-ui"/>
            </a:endParaRPr>
          </a:p>
          <a:p>
            <a:pPr marL="285750" indent="-285750">
              <a:lnSpc>
                <a:spcPct val="150000"/>
              </a:lnSpc>
              <a:buFont typeface="Arial" panose="020B0604020202020204" pitchFamily="34" charset="0"/>
              <a:buChar char="•"/>
            </a:pPr>
            <a:r>
              <a:rPr lang="en-US" dirty="0"/>
              <a:t>__new__()</a:t>
            </a:r>
            <a:r>
              <a:rPr lang="en-US" b="0" i="0" dirty="0">
                <a:effectLst/>
                <a:latin typeface="system-ui"/>
              </a:rPr>
              <a:t> </a:t>
            </a:r>
            <a:r>
              <a:rPr lang="zh-CN" altLang="en-US" b="0" i="0" dirty="0">
                <a:effectLst/>
                <a:latin typeface="system-ui"/>
              </a:rPr>
              <a:t>第一个参数是隐式传递的类本身。</a:t>
            </a:r>
            <a:endParaRPr lang="en-US" altLang="zh-CN" b="0" i="0" dirty="0">
              <a:effectLst/>
              <a:latin typeface="system-ui"/>
            </a:endParaRPr>
          </a:p>
          <a:p>
            <a:pPr marL="285750" indent="-285750">
              <a:lnSpc>
                <a:spcPct val="150000"/>
              </a:lnSpc>
              <a:buFont typeface="Arial" panose="020B0604020202020204" pitchFamily="34" charset="0"/>
              <a:buChar char="•"/>
            </a:pPr>
            <a:r>
              <a:rPr lang="zh-CN" altLang="en-US" b="0" i="0" dirty="0">
                <a:effectLst/>
                <a:latin typeface="system-ui"/>
              </a:rPr>
              <a:t>始终从 </a:t>
            </a:r>
            <a:r>
              <a:rPr lang="en-US" altLang="zh-CN" dirty="0"/>
              <a:t>__</a:t>
            </a:r>
            <a:r>
              <a:rPr lang="en-US" dirty="0"/>
              <a:t>new__()</a:t>
            </a:r>
            <a:r>
              <a:rPr lang="en-US" b="0" i="0" dirty="0">
                <a:effectLst/>
                <a:latin typeface="system-ui"/>
              </a:rPr>
              <a:t> </a:t>
            </a:r>
            <a:r>
              <a:rPr lang="zh-CN" altLang="en-US" b="0" i="0" dirty="0">
                <a:effectLst/>
                <a:latin typeface="system-ui"/>
              </a:rPr>
              <a:t>返回有效对象。不是强制性的，但它的主要用途是创建和返回一个对象。</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8AA65-E450-D434-70AE-9939357E2A10}"/>
              </a:ext>
            </a:extLst>
          </p:cNvPr>
          <p:cNvSpPr>
            <a:spLocks noGrp="1"/>
          </p:cNvSpPr>
          <p:nvPr>
            <p:ph type="title"/>
          </p:nvPr>
        </p:nvSpPr>
        <p:spPr/>
        <p:txBody>
          <a:bodyPr/>
          <a:lstStyle/>
          <a:p>
            <a:r>
              <a:rPr lang="en-US" b="1" i="0" dirty="0">
                <a:effectLst/>
                <a:latin typeface="system-ui"/>
              </a:rPr>
              <a:t>__new__() and __</a:t>
            </a:r>
            <a:r>
              <a:rPr lang="en-US" b="1" i="0" dirty="0" err="1">
                <a:effectLst/>
                <a:latin typeface="system-ui"/>
              </a:rPr>
              <a:t>init</a:t>
            </a:r>
            <a:r>
              <a:rPr lang="en-US" b="1" i="0" dirty="0">
                <a:effectLst/>
                <a:latin typeface="system-ui"/>
              </a:rPr>
              <a:t>__()</a:t>
            </a:r>
            <a:endParaRPr kumimoji="1" lang="zh-CN" altLang="en-US" dirty="0"/>
          </a:p>
        </p:txBody>
      </p:sp>
      <p:pic>
        <p:nvPicPr>
          <p:cNvPr id="3" name="Picture 2">
            <a:extLst>
              <a:ext uri="{FF2B5EF4-FFF2-40B4-BE49-F238E27FC236}">
                <a16:creationId xmlns:a16="http://schemas.microsoft.com/office/drawing/2014/main" id="{9D97BE25-AEE5-125D-EEA8-B6804582462A}"/>
              </a:ext>
            </a:extLst>
          </p:cNvPr>
          <p:cNvPicPr>
            <a:picLocks noChangeAspect="1"/>
          </p:cNvPicPr>
          <p:nvPr/>
        </p:nvPicPr>
        <p:blipFill>
          <a:blip r:embed="rId2"/>
          <a:stretch>
            <a:fillRect/>
          </a:stretch>
        </p:blipFill>
        <p:spPr>
          <a:xfrm>
            <a:off x="425904" y="1466850"/>
            <a:ext cx="4559300" cy="3924300"/>
          </a:xfrm>
          <a:prstGeom prst="rect">
            <a:avLst/>
          </a:prstGeom>
        </p:spPr>
      </p:pic>
      <p:pic>
        <p:nvPicPr>
          <p:cNvPr id="4" name="Picture 3">
            <a:extLst>
              <a:ext uri="{FF2B5EF4-FFF2-40B4-BE49-F238E27FC236}">
                <a16:creationId xmlns:a16="http://schemas.microsoft.com/office/drawing/2014/main" id="{61436B5E-18B3-B917-D216-7B04F13781B4}"/>
              </a:ext>
            </a:extLst>
          </p:cNvPr>
          <p:cNvPicPr>
            <a:picLocks noChangeAspect="1"/>
          </p:cNvPicPr>
          <p:nvPr/>
        </p:nvPicPr>
        <p:blipFill>
          <a:blip r:embed="rId3"/>
          <a:stretch>
            <a:fillRect/>
          </a:stretch>
        </p:blipFill>
        <p:spPr>
          <a:xfrm>
            <a:off x="5293857" y="1412081"/>
            <a:ext cx="2959100" cy="1778000"/>
          </a:xfrm>
          <a:prstGeom prst="rect">
            <a:avLst/>
          </a:prstGeom>
        </p:spPr>
      </p:pic>
      <p:sp>
        <p:nvSpPr>
          <p:cNvPr id="5" name="TextBox 4">
            <a:extLst>
              <a:ext uri="{FF2B5EF4-FFF2-40B4-BE49-F238E27FC236}">
                <a16:creationId xmlns:a16="http://schemas.microsoft.com/office/drawing/2014/main" id="{572E6C85-489A-554B-1469-F6FFFD165E65}"/>
              </a:ext>
            </a:extLst>
          </p:cNvPr>
          <p:cNvSpPr txBox="1"/>
          <p:nvPr/>
        </p:nvSpPr>
        <p:spPr>
          <a:xfrm>
            <a:off x="5153158" y="3429000"/>
            <a:ext cx="6826509" cy="253479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b="0" i="0" dirty="0">
                <a:effectLst/>
                <a:latin typeface="system-ui"/>
              </a:rPr>
              <a:t>此示例说明 </a:t>
            </a:r>
            <a:r>
              <a:rPr lang="en-US" altLang="zh-CN" dirty="0">
                <a:solidFill>
                  <a:srgbClr val="0432FF"/>
                </a:solidFill>
              </a:rPr>
              <a:t>__</a:t>
            </a:r>
            <a:r>
              <a:rPr lang="en-US" dirty="0">
                <a:solidFill>
                  <a:srgbClr val="0432FF"/>
                </a:solidFill>
              </a:rPr>
              <a:t>new__()</a:t>
            </a:r>
            <a:r>
              <a:rPr lang="en-US" b="0" i="0" dirty="0">
                <a:solidFill>
                  <a:srgbClr val="0432FF"/>
                </a:solidFill>
                <a:effectLst/>
                <a:latin typeface="system-ui"/>
              </a:rPr>
              <a:t> </a:t>
            </a:r>
            <a:r>
              <a:rPr lang="zh-CN" altLang="en-US" b="0" i="0" dirty="0">
                <a:solidFill>
                  <a:srgbClr val="0432FF"/>
                </a:solidFill>
                <a:effectLst/>
                <a:latin typeface="system-ui"/>
              </a:rPr>
              <a:t>在 </a:t>
            </a:r>
            <a:r>
              <a:rPr lang="en-US" altLang="zh-CN" dirty="0">
                <a:solidFill>
                  <a:srgbClr val="0432FF"/>
                </a:solidFill>
              </a:rPr>
              <a:t>__</a:t>
            </a:r>
            <a:r>
              <a:rPr lang="en-US" dirty="0" err="1">
                <a:solidFill>
                  <a:srgbClr val="0432FF"/>
                </a:solidFill>
              </a:rPr>
              <a:t>init</a:t>
            </a:r>
            <a:r>
              <a:rPr lang="en-US" dirty="0">
                <a:solidFill>
                  <a:srgbClr val="0432FF"/>
                </a:solidFill>
              </a:rPr>
              <a:t>__()</a:t>
            </a:r>
            <a:r>
              <a:rPr lang="en-US" b="0" i="0" dirty="0">
                <a:solidFill>
                  <a:srgbClr val="0432FF"/>
                </a:solidFill>
                <a:effectLst/>
                <a:latin typeface="system-ui"/>
              </a:rPr>
              <a:t> </a:t>
            </a:r>
            <a:r>
              <a:rPr lang="zh-CN" altLang="en-US" b="0" i="0" dirty="0">
                <a:solidFill>
                  <a:srgbClr val="0432FF"/>
                </a:solidFill>
                <a:effectLst/>
                <a:latin typeface="system-ui"/>
              </a:rPr>
              <a:t>之前调用</a:t>
            </a:r>
            <a:r>
              <a:rPr lang="zh-CN" altLang="en-US" b="0" i="0" dirty="0">
                <a:effectLst/>
                <a:latin typeface="system-ui"/>
              </a:rPr>
              <a:t>。</a:t>
            </a:r>
            <a:endParaRPr lang="en-US" altLang="zh-CN" b="0" i="0" dirty="0">
              <a:effectLst/>
              <a:latin typeface="system-ui"/>
            </a:endParaRPr>
          </a:p>
          <a:p>
            <a:pPr marL="285750" indent="-285750">
              <a:lnSpc>
                <a:spcPct val="150000"/>
              </a:lnSpc>
              <a:buFont typeface="Arial" panose="020B0604020202020204" pitchFamily="34" charset="0"/>
              <a:buChar char="•"/>
            </a:pPr>
            <a:r>
              <a:rPr lang="zh-CN" altLang="en-US" b="0" i="0" dirty="0">
                <a:effectLst/>
                <a:latin typeface="system-ui"/>
              </a:rPr>
              <a:t>我们还可以看到 </a:t>
            </a:r>
            <a:r>
              <a:rPr lang="en-US" altLang="zh-CN" dirty="0"/>
              <a:t>__</a:t>
            </a:r>
            <a:r>
              <a:rPr lang="en-US" dirty="0"/>
              <a:t>new__()</a:t>
            </a:r>
            <a:r>
              <a:rPr lang="en-US" b="0" i="0" dirty="0">
                <a:effectLst/>
                <a:latin typeface="system-ui"/>
              </a:rPr>
              <a:t> </a:t>
            </a:r>
            <a:r>
              <a:rPr lang="zh-CN" altLang="en-US" b="0" i="0" dirty="0">
                <a:effectLst/>
                <a:latin typeface="system-ui"/>
              </a:rPr>
              <a:t>中的参数 </a:t>
            </a:r>
            <a:r>
              <a:rPr lang="en-US" dirty="0" err="1"/>
              <a:t>cls</a:t>
            </a:r>
            <a:r>
              <a:rPr lang="en-US" b="0" i="0" dirty="0">
                <a:effectLst/>
                <a:latin typeface="system-ui"/>
              </a:rPr>
              <a:t> </a:t>
            </a:r>
            <a:r>
              <a:rPr lang="zh-CN" altLang="en-US" b="0" i="0" dirty="0">
                <a:effectLst/>
                <a:latin typeface="system-ui"/>
              </a:rPr>
              <a:t>是类本身（ </a:t>
            </a:r>
            <a:r>
              <a:rPr lang="en-US" dirty="0"/>
              <a:t>Point</a:t>
            </a:r>
            <a:r>
              <a:rPr lang="en-US" b="0" i="0" dirty="0">
                <a:effectLst/>
                <a:latin typeface="system-ui"/>
              </a:rPr>
              <a:t> ）。</a:t>
            </a:r>
          </a:p>
          <a:p>
            <a:pPr marL="285750" indent="-285750">
              <a:lnSpc>
                <a:spcPct val="150000"/>
              </a:lnSpc>
              <a:buFont typeface="Arial" panose="020B0604020202020204" pitchFamily="34" charset="0"/>
              <a:buChar char="•"/>
            </a:pPr>
            <a:r>
              <a:rPr lang="zh-CN" altLang="en-US" b="0" i="0" dirty="0">
                <a:effectLst/>
                <a:latin typeface="system-ui"/>
              </a:rPr>
              <a:t>最后，通过调用对象基类的 </a:t>
            </a:r>
            <a:r>
              <a:rPr lang="en-US" altLang="zh-CN" dirty="0"/>
              <a:t>__</a:t>
            </a:r>
            <a:r>
              <a:rPr lang="en-US" dirty="0"/>
              <a:t>new__()</a:t>
            </a:r>
            <a:r>
              <a:rPr lang="en-US" b="0" i="0" dirty="0">
                <a:effectLst/>
                <a:latin typeface="system-ui"/>
              </a:rPr>
              <a:t> </a:t>
            </a:r>
            <a:r>
              <a:rPr lang="zh-CN" altLang="en-US" b="0" i="0" dirty="0">
                <a:effectLst/>
                <a:latin typeface="system-ui"/>
              </a:rPr>
              <a:t>方法来创建对象。</a:t>
            </a:r>
            <a:endParaRPr lang="en-US" altLang="zh-CN" b="0" i="0" dirty="0">
              <a:effectLst/>
              <a:latin typeface="system-ui"/>
            </a:endParaRPr>
          </a:p>
          <a:p>
            <a:pPr marL="285750" indent="-285750">
              <a:lnSpc>
                <a:spcPct val="150000"/>
              </a:lnSpc>
              <a:buFont typeface="Arial" panose="020B0604020202020204" pitchFamily="34" charset="0"/>
              <a:buChar char="•"/>
            </a:pPr>
            <a:r>
              <a:rPr lang="zh-CN" altLang="en-US" b="0" i="0" dirty="0">
                <a:solidFill>
                  <a:srgbClr val="C00000"/>
                </a:solidFill>
                <a:effectLst/>
                <a:latin typeface="system-ui"/>
              </a:rPr>
              <a:t>经常看到 </a:t>
            </a:r>
            <a:r>
              <a:rPr lang="en-US" altLang="zh-CN" dirty="0">
                <a:solidFill>
                  <a:srgbClr val="C00000"/>
                </a:solidFill>
              </a:rPr>
              <a:t>__</a:t>
            </a:r>
            <a:r>
              <a:rPr lang="en-US" dirty="0" err="1">
                <a:solidFill>
                  <a:srgbClr val="C00000"/>
                </a:solidFill>
              </a:rPr>
              <a:t>init</a:t>
            </a:r>
            <a:r>
              <a:rPr lang="en-US" dirty="0">
                <a:solidFill>
                  <a:srgbClr val="C00000"/>
                </a:solidFill>
              </a:rPr>
              <a:t>__()</a:t>
            </a:r>
            <a:r>
              <a:rPr lang="en-US" b="0" i="0" dirty="0">
                <a:solidFill>
                  <a:srgbClr val="C00000"/>
                </a:solidFill>
                <a:effectLst/>
                <a:latin typeface="system-ui"/>
              </a:rPr>
              <a:t> ，</a:t>
            </a:r>
            <a:r>
              <a:rPr lang="zh-CN" altLang="en-US" b="0" i="0" dirty="0">
                <a:solidFill>
                  <a:srgbClr val="C00000"/>
                </a:solidFill>
                <a:effectLst/>
                <a:latin typeface="system-ui"/>
              </a:rPr>
              <a:t>但很少使用 </a:t>
            </a:r>
            <a:r>
              <a:rPr lang="en-US" altLang="zh-CN" dirty="0">
                <a:solidFill>
                  <a:srgbClr val="C00000"/>
                </a:solidFill>
              </a:rPr>
              <a:t>__</a:t>
            </a:r>
            <a:r>
              <a:rPr lang="en-US" dirty="0">
                <a:solidFill>
                  <a:srgbClr val="C00000"/>
                </a:solidFill>
              </a:rPr>
              <a:t>new__()</a:t>
            </a:r>
            <a:r>
              <a:rPr lang="en-US" b="0" i="0" dirty="0">
                <a:solidFill>
                  <a:srgbClr val="C00000"/>
                </a:solidFill>
                <a:effectLst/>
                <a:latin typeface="system-ui"/>
              </a:rPr>
              <a:t> 。</a:t>
            </a:r>
            <a:r>
              <a:rPr lang="zh-CN" altLang="en-US" b="0" i="0" dirty="0">
                <a:effectLst/>
                <a:latin typeface="system-ui"/>
              </a:rPr>
              <a:t>大多数时候</a:t>
            </a:r>
            <a:r>
              <a:rPr lang="zh-CN" altLang="en-US" dirty="0">
                <a:latin typeface="system-ui"/>
              </a:rPr>
              <a:t>，</a:t>
            </a:r>
            <a:r>
              <a:rPr lang="en-US" dirty="0"/>
              <a:t>__</a:t>
            </a:r>
            <a:r>
              <a:rPr lang="en-US" dirty="0" err="1"/>
              <a:t>init</a:t>
            </a:r>
            <a:r>
              <a:rPr lang="en-US" dirty="0"/>
              <a:t>__()</a:t>
            </a:r>
            <a:r>
              <a:rPr lang="en-US" b="0" i="0" dirty="0">
                <a:effectLst/>
                <a:latin typeface="system-ui"/>
              </a:rPr>
              <a:t> </a:t>
            </a:r>
            <a:r>
              <a:rPr lang="zh-CN" altLang="en-US" b="0" i="0" dirty="0">
                <a:effectLst/>
                <a:latin typeface="system-ui"/>
              </a:rPr>
              <a:t>用于初始化新创建的对象，而 </a:t>
            </a:r>
            <a:r>
              <a:rPr lang="en-US" altLang="zh-CN" dirty="0"/>
              <a:t>__</a:t>
            </a:r>
            <a:r>
              <a:rPr lang="en-US" dirty="0"/>
              <a:t>new__()</a:t>
            </a:r>
            <a:r>
              <a:rPr lang="en-US" b="0" i="0" dirty="0">
                <a:effectLst/>
                <a:latin typeface="system-ui"/>
              </a:rPr>
              <a:t> </a:t>
            </a:r>
            <a:r>
              <a:rPr lang="zh-CN" altLang="en-US" b="0" i="0" dirty="0">
                <a:effectLst/>
                <a:latin typeface="system-ui"/>
              </a:rPr>
              <a:t>用于控制对象的创建方式。</a:t>
            </a:r>
            <a:endParaRPr lang="zh-CN" altLang="en-US" dirty="0"/>
          </a:p>
        </p:txBody>
      </p:sp>
    </p:spTree>
    <p:extLst>
      <p:ext uri="{BB962C8B-B14F-4D97-AF65-F5344CB8AC3E}">
        <p14:creationId xmlns:p14="http://schemas.microsoft.com/office/powerpoint/2010/main" val="3965657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altLang="zh-CN" b="1" dirty="0"/>
              <a:t>7.5.1 </a:t>
            </a:r>
            <a:r>
              <a:rPr lang="zh-CN" spc="-60" dirty="0">
                <a:ln w="3127" cap="flat" cmpd="sng">
                  <a:solidFill>
                    <a:srgbClr val="514843">
                      <a:alpha val="100000"/>
                    </a:srgbClr>
                  </a:solidFill>
                  <a:prstDash val="solid"/>
                  <a:miter lim="1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特殊方法的初始化与构建</a:t>
            </a:r>
            <a:endParaRPr lang="en-US" b="1" dirty="0"/>
          </a:p>
        </p:txBody>
      </p:sp>
      <p:sp>
        <p:nvSpPr>
          <p:cNvPr id="8" name="文本框 7"/>
          <p:cNvSpPr txBox="1"/>
          <p:nvPr/>
        </p:nvSpPr>
        <p:spPr>
          <a:xfrm>
            <a:off x="1147612" y="1456830"/>
            <a:ext cx="9896776" cy="400110"/>
          </a:xfrm>
          <a:prstGeom prst="rect">
            <a:avLst/>
          </a:prstGeom>
          <a:noFill/>
        </p:spPr>
        <p:txBody>
          <a:bodyPr wrap="square" rtlCol="0">
            <a:spAutoFit/>
          </a:bodyPr>
          <a:lstStyle/>
          <a:p>
            <a:r>
              <a:rPr lang="zh-CN" altLang="en-US" sz="2000" dirty="0">
                <a:solidFill>
                  <a:srgbClr val="C00000"/>
                </a:solidFill>
              </a:rPr>
              <a:t>（</a:t>
            </a:r>
            <a:r>
              <a:rPr lang="en-US" altLang="zh-CN" sz="2000" dirty="0">
                <a:solidFill>
                  <a:srgbClr val="C00000"/>
                </a:solidFill>
              </a:rPr>
              <a:t>3</a:t>
            </a:r>
            <a:r>
              <a:rPr lang="zh-CN" altLang="en-US" sz="2000" dirty="0">
                <a:solidFill>
                  <a:srgbClr val="C00000"/>
                </a:solidFill>
              </a:rPr>
              <a:t>）</a:t>
            </a:r>
            <a:r>
              <a:rPr sz="2000" spc="70" dirty="0">
                <a:solidFill>
                  <a:srgbClr val="C00000"/>
                </a:solidFill>
                <a:latin typeface="Arial" panose="020B0604020202020204"/>
                <a:ea typeface="Arial" panose="020B0604020202020204"/>
                <a:cs typeface="Arial" panose="020B0604020202020204"/>
                <a:sym typeface="+mn-ea"/>
              </a:rPr>
              <a:t> </a:t>
            </a:r>
            <a:r>
              <a:rPr lang="en-US" sz="2000" b="0" i="0" dirty="0">
                <a:solidFill>
                  <a:srgbClr val="C00000"/>
                </a:solidFill>
                <a:effectLst/>
                <a:latin typeface="Menlo" panose="020B0609030804020204" pitchFamily="49" charset="0"/>
              </a:rPr>
              <a:t>__del__(self)</a:t>
            </a:r>
            <a:endParaRPr lang="zh-CN" altLang="en-US" sz="2000" dirty="0">
              <a:solidFill>
                <a:srgbClr val="C00000"/>
              </a:solidFill>
            </a:endParaRPr>
          </a:p>
        </p:txBody>
      </p:sp>
      <p:sp>
        <p:nvSpPr>
          <p:cNvPr id="9" name="矩形 8"/>
          <p:cNvSpPr/>
          <p:nvPr/>
        </p:nvSpPr>
        <p:spPr>
          <a:xfrm>
            <a:off x="1643059" y="2019671"/>
            <a:ext cx="7857425" cy="349968"/>
          </a:xfrm>
          <a:prstGeom prst="rect">
            <a:avLst/>
          </a:prstGeom>
        </p:spPr>
        <p:txBody>
          <a:bodyPr wrap="square">
            <a:spAutoFit/>
          </a:bodyPr>
          <a:lstStyle/>
          <a:p>
            <a:pPr marL="226060" algn="l" rtl="0" eaLnBrk="0">
              <a:lnSpc>
                <a:spcPct val="93000"/>
              </a:lnSpc>
              <a:spcBef>
                <a:spcPts val="70"/>
              </a:spcBef>
              <a:buClrTx/>
              <a:buSzTx/>
              <a:buFontTx/>
            </a:pPr>
            <a:r>
              <a:rPr lang="zh-CN" altLang="en-US" dirty="0">
                <a:sym typeface="+mn-ea"/>
              </a:rPr>
              <a:t>也称为</a:t>
            </a:r>
            <a:r>
              <a:rPr lang="zh-CN" altLang="en-US" dirty="0">
                <a:solidFill>
                  <a:srgbClr val="0432FF"/>
                </a:solidFill>
                <a:sym typeface="+mn-ea"/>
              </a:rPr>
              <a:t>析构函数</a:t>
            </a:r>
            <a:r>
              <a:rPr lang="zh-CN" altLang="en-US" dirty="0">
                <a:sym typeface="+mn-ea"/>
              </a:rPr>
              <a:t>；当一个实例被销毁时调用。</a:t>
            </a:r>
            <a:endParaRPr lang="zh-CN" altLang="en-US" dirty="0"/>
          </a:p>
        </p:txBody>
      </p:sp>
      <p:pic>
        <p:nvPicPr>
          <p:cNvPr id="5" name="Picture 4">
            <a:extLst>
              <a:ext uri="{FF2B5EF4-FFF2-40B4-BE49-F238E27FC236}">
                <a16:creationId xmlns:a16="http://schemas.microsoft.com/office/drawing/2014/main" id="{73001392-82F3-E6C5-78DC-EA1EF0A34683}"/>
              </a:ext>
            </a:extLst>
          </p:cNvPr>
          <p:cNvPicPr>
            <a:picLocks noChangeAspect="1"/>
          </p:cNvPicPr>
          <p:nvPr/>
        </p:nvPicPr>
        <p:blipFill>
          <a:blip r:embed="rId2"/>
          <a:stretch>
            <a:fillRect/>
          </a:stretch>
        </p:blipFill>
        <p:spPr>
          <a:xfrm>
            <a:off x="1552255" y="2614428"/>
            <a:ext cx="7772400" cy="2786742"/>
          </a:xfrm>
          <a:prstGeom prst="rect">
            <a:avLst/>
          </a:prstGeom>
        </p:spPr>
      </p:pic>
    </p:spTree>
    <p:extLst>
      <p:ext uri="{BB962C8B-B14F-4D97-AF65-F5344CB8AC3E}">
        <p14:creationId xmlns:p14="http://schemas.microsoft.com/office/powerpoint/2010/main" val="3595163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altLang="zh-CN" b="1" dirty="0"/>
              <a:t>7.5.1 </a:t>
            </a:r>
            <a:r>
              <a:rPr lang="zh-CN" spc="-60" dirty="0">
                <a:ln w="3127" cap="flat" cmpd="sng">
                  <a:solidFill>
                    <a:srgbClr val="514843">
                      <a:alpha val="100000"/>
                    </a:srgbClr>
                  </a:solidFill>
                  <a:prstDash val="solid"/>
                  <a:miter lim="1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特殊方法的初始化与构建</a:t>
            </a:r>
            <a:endParaRPr lang="en-US" b="1" dirty="0"/>
          </a:p>
        </p:txBody>
      </p:sp>
      <p:sp>
        <p:nvSpPr>
          <p:cNvPr id="6" name="矩形 5"/>
          <p:cNvSpPr/>
          <p:nvPr/>
        </p:nvSpPr>
        <p:spPr>
          <a:xfrm>
            <a:off x="1402650" y="1899947"/>
            <a:ext cx="9385181" cy="786049"/>
          </a:xfrm>
          <a:prstGeom prst="rect">
            <a:avLst/>
          </a:prstGeom>
        </p:spPr>
        <p:txBody>
          <a:bodyPr wrap="square">
            <a:spAutoFit/>
          </a:bodyPr>
          <a:lstStyle/>
          <a:p>
            <a:pPr marL="226060" algn="l" rtl="0" eaLnBrk="0">
              <a:lnSpc>
                <a:spcPct val="150000"/>
              </a:lnSpc>
              <a:spcBef>
                <a:spcPts val="70"/>
              </a:spcBef>
              <a:buClrTx/>
              <a:buSzTx/>
              <a:buFontTx/>
            </a:pPr>
            <a:r>
              <a:rPr lang="en-US" sz="1600" b="0" i="0" dirty="0">
                <a:solidFill>
                  <a:srgbClr val="0432FF"/>
                </a:solidFill>
                <a:effectLst/>
                <a:latin typeface="Menlo" panose="020B0609030804020204" pitchFamily="49" charset="0"/>
              </a:rPr>
              <a:t>if __name__ == "__main__": </a:t>
            </a:r>
            <a:r>
              <a:rPr lang="zh-CN" altLang="en-US" sz="1600" dirty="0">
                <a:sym typeface="+mn-ea"/>
              </a:rPr>
              <a:t>是一个很有用的方法，它可以确保Python脚本只有在作为独立程序运行时才会执行代码，而不是作为模块导入时执行。</a:t>
            </a:r>
          </a:p>
        </p:txBody>
      </p:sp>
      <p:sp>
        <p:nvSpPr>
          <p:cNvPr id="4" name="文本框 3"/>
          <p:cNvSpPr txBox="1"/>
          <p:nvPr/>
        </p:nvSpPr>
        <p:spPr>
          <a:xfrm>
            <a:off x="1148080" y="1517881"/>
            <a:ext cx="9896776" cy="400110"/>
          </a:xfrm>
          <a:prstGeom prst="rect">
            <a:avLst/>
          </a:prstGeom>
          <a:noFill/>
        </p:spPr>
        <p:txBody>
          <a:bodyPr wrap="square" rtlCol="0">
            <a:spAutoFit/>
          </a:bodyPr>
          <a:lstStyle/>
          <a:p>
            <a:r>
              <a:rPr lang="zh-CN" altLang="en-US" sz="2000" dirty="0">
                <a:solidFill>
                  <a:srgbClr val="C00000"/>
                </a:solidFill>
              </a:rPr>
              <a:t>（</a:t>
            </a:r>
            <a:r>
              <a:rPr lang="en-US" altLang="zh-CN" sz="2000" dirty="0">
                <a:solidFill>
                  <a:srgbClr val="C00000"/>
                </a:solidFill>
              </a:rPr>
              <a:t>4</a:t>
            </a:r>
            <a:r>
              <a:rPr lang="zh-CN" altLang="en-US" sz="2000" dirty="0">
                <a:solidFill>
                  <a:srgbClr val="C00000"/>
                </a:solidFill>
              </a:rPr>
              <a:t>）</a:t>
            </a:r>
            <a:r>
              <a:rPr lang="en-US" altLang="zh-CN" sz="2000" dirty="0">
                <a:solidFill>
                  <a:srgbClr val="C00000"/>
                </a:solidFill>
              </a:rPr>
              <a:t>main</a:t>
            </a:r>
            <a:r>
              <a:rPr lang="zh-CN" altLang="en-US" sz="2000" dirty="0">
                <a:solidFill>
                  <a:srgbClr val="C00000"/>
                </a:solidFill>
              </a:rPr>
              <a:t>函数</a:t>
            </a:r>
            <a:endParaRPr lang="en-US" altLang="zh-CN" sz="2000" dirty="0">
              <a:solidFill>
                <a:srgbClr val="C00000"/>
              </a:solidFill>
            </a:endParaRPr>
          </a:p>
        </p:txBody>
      </p:sp>
      <p:pic>
        <p:nvPicPr>
          <p:cNvPr id="2" name="Picture 1">
            <a:extLst>
              <a:ext uri="{FF2B5EF4-FFF2-40B4-BE49-F238E27FC236}">
                <a16:creationId xmlns:a16="http://schemas.microsoft.com/office/drawing/2014/main" id="{1E353B50-7761-2655-CAE7-F64F437D1155}"/>
              </a:ext>
            </a:extLst>
          </p:cNvPr>
          <p:cNvPicPr>
            <a:picLocks noChangeAspect="1"/>
          </p:cNvPicPr>
          <p:nvPr/>
        </p:nvPicPr>
        <p:blipFill>
          <a:blip r:embed="rId2"/>
          <a:stretch>
            <a:fillRect/>
          </a:stretch>
        </p:blipFill>
        <p:spPr>
          <a:xfrm>
            <a:off x="960862" y="2685996"/>
            <a:ext cx="7590676" cy="2689192"/>
          </a:xfrm>
          <a:prstGeom prst="rect">
            <a:avLst/>
          </a:prstGeom>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2C25D172-A9F5-DB09-1F69-F83649B460AB}"/>
              </a:ext>
            </a:extLst>
          </p:cNvPr>
          <p:cNvPicPr>
            <a:picLocks noChangeAspect="1"/>
          </p:cNvPicPr>
          <p:nvPr/>
        </p:nvPicPr>
        <p:blipFill>
          <a:blip r:embed="rId3"/>
          <a:stretch>
            <a:fillRect/>
          </a:stretch>
        </p:blipFill>
        <p:spPr>
          <a:xfrm>
            <a:off x="7037584" y="5129539"/>
            <a:ext cx="4610100" cy="1562100"/>
          </a:xfrm>
          <a:prstGeom prst="rect">
            <a:avLst/>
          </a:prstGeom>
          <a:effectLst>
            <a:outerShdw blurRad="63500" sx="102000" sy="102000" algn="ctr"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7517" y="2750961"/>
            <a:ext cx="10071099" cy="1684150"/>
          </a:xfrm>
        </p:spPr>
        <p:txBody>
          <a:bodyPr/>
          <a:lstStyle/>
          <a:p>
            <a:r>
              <a:rPr lang="en-US" b="1" dirty="0"/>
              <a:t>7.5.2 </a:t>
            </a:r>
            <a:r>
              <a:rPr lang="zh-CN" spc="-120" dirty="0">
                <a:ln w="4912" cap="flat" cmpd="sng">
                  <a:solidFill>
                    <a:srgbClr val="FFFFFF">
                      <a:alpha val="100000"/>
                    </a:srgbClr>
                  </a:solidFill>
                  <a:prstDash val="solid"/>
                  <a:miter lim="10"/>
                </a:ln>
                <a:solidFill>
                  <a:srgbClr val="FFFFFF">
                    <a:alpha val="100000"/>
                  </a:srgbClr>
                </a:solidFill>
                <a:latin typeface="宋体" panose="02010600030101010101" pitchFamily="2" charset="-122"/>
                <a:ea typeface="宋体" panose="02010600030101010101" pitchFamily="2" charset="-122"/>
                <a:cs typeface="宋体" panose="02010600030101010101" pitchFamily="2" charset="-122"/>
                <a:sym typeface="+mn-ea"/>
              </a:rPr>
              <a:t>字符串表示方法</a:t>
            </a:r>
            <a:endParaRPr lang="en-US"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b="1" dirty="0"/>
              <a:t>7.5.2</a:t>
            </a:r>
            <a:r>
              <a:rPr lang="en-US" altLang="zh-CN" b="1" dirty="0"/>
              <a:t> </a:t>
            </a:r>
            <a:r>
              <a:rPr lang="zh-CN" altLang="en-US" b="1" dirty="0"/>
              <a:t>字符串表示方法</a:t>
            </a:r>
          </a:p>
        </p:txBody>
      </p:sp>
      <p:sp>
        <p:nvSpPr>
          <p:cNvPr id="2" name="文本框 1"/>
          <p:cNvSpPr txBox="1"/>
          <p:nvPr/>
        </p:nvSpPr>
        <p:spPr>
          <a:xfrm>
            <a:off x="975995" y="1440718"/>
            <a:ext cx="9980682" cy="1373902"/>
          </a:xfrm>
          <a:prstGeom prst="rect">
            <a:avLst/>
          </a:prstGeom>
          <a:noFill/>
        </p:spPr>
        <p:txBody>
          <a:bodyPr wrap="square" rtlCol="0">
            <a:spAutoFit/>
          </a:bodyPr>
          <a:lstStyle/>
          <a:p>
            <a:pPr algn="l">
              <a:lnSpc>
                <a:spcPct val="150000"/>
              </a:lnSpc>
              <a:buClrTx/>
              <a:buSzTx/>
              <a:buFontTx/>
            </a:pPr>
            <a:r>
              <a:rPr lang="en-US" altLang="zh-CN" sz="2000" dirty="0"/>
              <a:t>    </a:t>
            </a:r>
            <a:r>
              <a:rPr lang="zh-CN" altLang="zh-CN" sz="2000" dirty="0">
                <a:sym typeface="+mn-ea"/>
              </a:rPr>
              <a:t>Python是一种面向对象的编程语言——Python中的一切都是对象。创建一个新对象时，我们隐式地创建了一个相关对象，因为</a:t>
            </a:r>
            <a:r>
              <a:rPr lang="zh-CN" altLang="zh-CN" sz="2000" dirty="0">
                <a:solidFill>
                  <a:srgbClr val="C00000"/>
                </a:solidFill>
                <a:sym typeface="+mn-ea"/>
              </a:rPr>
              <a:t>所有的类都继承自object</a:t>
            </a:r>
            <a:r>
              <a:rPr lang="zh-CN" altLang="zh-CN" sz="2000" dirty="0">
                <a:sym typeface="+mn-ea"/>
              </a:rPr>
              <a:t>。</a:t>
            </a:r>
            <a:endParaRPr lang="zh-CN" altLang="zh-CN" sz="2000" dirty="0"/>
          </a:p>
          <a:p>
            <a:pPr>
              <a:lnSpc>
                <a:spcPct val="150000"/>
              </a:lnSpc>
            </a:pPr>
            <a:endParaRPr lang="zh-CN" altLang="en-US" dirty="0"/>
          </a:p>
        </p:txBody>
      </p:sp>
      <p:sp>
        <p:nvSpPr>
          <p:cNvPr id="4" name="文本框 3"/>
          <p:cNvSpPr txBox="1"/>
          <p:nvPr/>
        </p:nvSpPr>
        <p:spPr>
          <a:xfrm>
            <a:off x="975995" y="2606895"/>
            <a:ext cx="9896776" cy="400110"/>
          </a:xfrm>
          <a:prstGeom prst="rect">
            <a:avLst/>
          </a:prstGeom>
          <a:noFill/>
        </p:spPr>
        <p:txBody>
          <a:bodyPr wrap="square" rtlCol="0">
            <a:spAutoFit/>
          </a:bodyPr>
          <a:lstStyle/>
          <a:p>
            <a:r>
              <a:rPr lang="zh-CN" altLang="en-US" sz="2000" dirty="0">
                <a:solidFill>
                  <a:srgbClr val="C00000"/>
                </a:solidFill>
              </a:rPr>
              <a:t>（</a:t>
            </a:r>
            <a:r>
              <a:rPr lang="en-US" altLang="zh-CN" sz="2000" dirty="0">
                <a:solidFill>
                  <a:srgbClr val="C00000"/>
                </a:solidFill>
              </a:rPr>
              <a:t>1</a:t>
            </a:r>
            <a:r>
              <a:rPr lang="zh-CN" altLang="en-US" sz="2000" dirty="0">
                <a:solidFill>
                  <a:srgbClr val="C00000"/>
                </a:solidFill>
              </a:rPr>
              <a:t>）</a:t>
            </a:r>
            <a:r>
              <a:rPr lang="en-US" sz="2000" b="0" i="0" dirty="0">
                <a:solidFill>
                  <a:srgbClr val="C00000"/>
                </a:solidFill>
                <a:effectLst/>
                <a:latin typeface="Menlo" panose="020B0609030804020204" pitchFamily="49" charset="0"/>
              </a:rPr>
              <a:t> __str__(self)</a:t>
            </a:r>
            <a:endParaRPr lang="zh-CN" altLang="en-US" sz="2000" dirty="0">
              <a:solidFill>
                <a:srgbClr val="C00000"/>
              </a:solidFill>
            </a:endParaRPr>
          </a:p>
        </p:txBody>
      </p:sp>
      <p:sp>
        <p:nvSpPr>
          <p:cNvPr id="9" name="矩形 8"/>
          <p:cNvSpPr/>
          <p:nvPr/>
        </p:nvSpPr>
        <p:spPr>
          <a:xfrm>
            <a:off x="853742" y="3138294"/>
            <a:ext cx="3770964" cy="2119298"/>
          </a:xfrm>
          <a:prstGeom prst="rect">
            <a:avLst/>
          </a:prstGeom>
        </p:spPr>
        <p:txBody>
          <a:bodyPr wrap="square">
            <a:spAutoFit/>
          </a:bodyPr>
          <a:lstStyle/>
          <a:p>
            <a:pPr marL="298450" indent="-285750" algn="l" rtl="0" eaLnBrk="0">
              <a:lnSpc>
                <a:spcPct val="150000"/>
              </a:lnSpc>
              <a:spcBef>
                <a:spcPts val="0"/>
              </a:spcBef>
              <a:buFont typeface="Arial" panose="020B0604020202020204" pitchFamily="34" charset="0"/>
              <a:buChar char="•"/>
            </a:pPr>
            <a:r>
              <a:rPr lang="zh-CN" altLang="en-US" dirty="0">
                <a:sym typeface="+mn-ea"/>
              </a:rPr>
              <a:t>由Python的内置</a:t>
            </a:r>
            <a:r>
              <a:rPr lang="zh-CN" altLang="en-US" dirty="0">
                <a:solidFill>
                  <a:srgbClr val="0432FF"/>
                </a:solidFill>
                <a:sym typeface="+mn-ea"/>
              </a:rPr>
              <a:t>str()函数</a:t>
            </a:r>
            <a:r>
              <a:rPr lang="zh-CN" altLang="en-US" dirty="0">
                <a:sym typeface="+mn-ea"/>
              </a:rPr>
              <a:t>和print语句调用，以显示对象的非正式字符串表示。</a:t>
            </a:r>
            <a:endParaRPr lang="en-US" altLang="zh-CN" dirty="0">
              <a:sym typeface="+mn-ea"/>
            </a:endParaRPr>
          </a:p>
          <a:p>
            <a:pPr marL="298450" indent="-285750" algn="l" rtl="0" eaLnBrk="0">
              <a:lnSpc>
                <a:spcPct val="150000"/>
              </a:lnSpc>
              <a:spcBef>
                <a:spcPts val="0"/>
              </a:spcBef>
              <a:buFont typeface="Arial" panose="020B0604020202020204" pitchFamily="34" charset="0"/>
              <a:buChar char="•"/>
            </a:pPr>
            <a:r>
              <a:rPr lang="zh-CN" altLang="en-US" dirty="0">
                <a:sym typeface="+mn-ea"/>
              </a:rPr>
              <a:t>值得注意的是，它不一定是有效的Python表达式。</a:t>
            </a:r>
            <a:endParaRPr lang="zh-CN" altLang="en-US" dirty="0"/>
          </a:p>
        </p:txBody>
      </p:sp>
      <p:pic>
        <p:nvPicPr>
          <p:cNvPr id="6" name="Picture 5">
            <a:extLst>
              <a:ext uri="{FF2B5EF4-FFF2-40B4-BE49-F238E27FC236}">
                <a16:creationId xmlns:a16="http://schemas.microsoft.com/office/drawing/2014/main" id="{D8400114-EEE7-D427-67F9-499FE5DE3119}"/>
              </a:ext>
            </a:extLst>
          </p:cNvPr>
          <p:cNvPicPr>
            <a:picLocks noChangeAspect="1"/>
          </p:cNvPicPr>
          <p:nvPr/>
        </p:nvPicPr>
        <p:blipFill>
          <a:blip r:embed="rId2"/>
          <a:stretch>
            <a:fillRect/>
          </a:stretch>
        </p:blipFill>
        <p:spPr>
          <a:xfrm>
            <a:off x="4934307" y="2508250"/>
            <a:ext cx="5816600" cy="3670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b="1" dirty="0"/>
              <a:t>7.5.2</a:t>
            </a:r>
            <a:r>
              <a:rPr lang="en-US" altLang="zh-CN" b="1" dirty="0"/>
              <a:t> </a:t>
            </a:r>
            <a:r>
              <a:rPr lang="zh-CN" altLang="en-US" b="1" dirty="0">
                <a:sym typeface="+mn-ea"/>
              </a:rPr>
              <a:t>字符串表示方法</a:t>
            </a:r>
            <a:endParaRPr lang="en-US" b="1" dirty="0"/>
          </a:p>
        </p:txBody>
      </p:sp>
      <p:sp>
        <p:nvSpPr>
          <p:cNvPr id="4" name="文本框 3"/>
          <p:cNvSpPr txBox="1"/>
          <p:nvPr/>
        </p:nvSpPr>
        <p:spPr>
          <a:xfrm>
            <a:off x="1039896" y="1446463"/>
            <a:ext cx="9896776" cy="400110"/>
          </a:xfrm>
          <a:prstGeom prst="rect">
            <a:avLst/>
          </a:prstGeom>
          <a:noFill/>
        </p:spPr>
        <p:txBody>
          <a:bodyPr wrap="square" rtlCol="0">
            <a:spAutoFit/>
          </a:bodyPr>
          <a:lstStyle/>
          <a:p>
            <a:r>
              <a:rPr lang="zh-CN" altLang="en-US" sz="2000" dirty="0">
                <a:solidFill>
                  <a:srgbClr val="C00000"/>
                </a:solidFill>
              </a:rPr>
              <a:t>（</a:t>
            </a:r>
            <a:r>
              <a:rPr lang="en-US" altLang="zh-CN" sz="2000" dirty="0">
                <a:solidFill>
                  <a:srgbClr val="C00000"/>
                </a:solidFill>
              </a:rPr>
              <a:t>2</a:t>
            </a:r>
            <a:r>
              <a:rPr lang="zh-CN" altLang="en-US" sz="2000" dirty="0">
                <a:solidFill>
                  <a:srgbClr val="C00000"/>
                </a:solidFill>
              </a:rPr>
              <a:t>）</a:t>
            </a:r>
            <a:r>
              <a:rPr lang="en-US" sz="2000" b="0" i="0" dirty="0">
                <a:solidFill>
                  <a:srgbClr val="C00000"/>
                </a:solidFill>
                <a:effectLst/>
                <a:latin typeface="Menlo" panose="020B0609030804020204" pitchFamily="49" charset="0"/>
              </a:rPr>
              <a:t> __</a:t>
            </a:r>
            <a:r>
              <a:rPr lang="en-US" sz="2000" b="0" i="0" dirty="0" err="1">
                <a:solidFill>
                  <a:srgbClr val="C00000"/>
                </a:solidFill>
                <a:effectLst/>
                <a:latin typeface="Menlo" panose="020B0609030804020204" pitchFamily="49" charset="0"/>
              </a:rPr>
              <a:t>repr</a:t>
            </a:r>
            <a:r>
              <a:rPr lang="en-US" sz="2000" b="0" i="0" dirty="0">
                <a:solidFill>
                  <a:srgbClr val="C00000"/>
                </a:solidFill>
                <a:effectLst/>
                <a:latin typeface="Menlo" panose="020B0609030804020204" pitchFamily="49" charset="0"/>
              </a:rPr>
              <a:t>__(self)</a:t>
            </a:r>
            <a:endParaRPr lang="zh-CN" altLang="en-US" sz="2000" dirty="0">
              <a:solidFill>
                <a:srgbClr val="C00000"/>
              </a:solidFill>
            </a:endParaRPr>
          </a:p>
        </p:txBody>
      </p:sp>
      <p:sp>
        <p:nvSpPr>
          <p:cNvPr id="9" name="矩形 8"/>
          <p:cNvSpPr/>
          <p:nvPr/>
        </p:nvSpPr>
        <p:spPr>
          <a:xfrm>
            <a:off x="472611" y="2148863"/>
            <a:ext cx="3626694" cy="2950295"/>
          </a:xfrm>
          <a:prstGeom prst="rect">
            <a:avLst/>
          </a:prstGeom>
        </p:spPr>
        <p:txBody>
          <a:bodyPr wrap="square">
            <a:spAutoFit/>
          </a:bodyPr>
          <a:lstStyle/>
          <a:p>
            <a:pPr marL="298450" indent="-285750" algn="l" rtl="0" eaLnBrk="0">
              <a:lnSpc>
                <a:spcPct val="150000"/>
              </a:lnSpc>
              <a:spcBef>
                <a:spcPts val="0"/>
              </a:spcBef>
              <a:buFont typeface="Arial" panose="020B0604020202020204" pitchFamily="34" charset="0"/>
              <a:buChar char="•"/>
            </a:pPr>
            <a:r>
              <a:rPr lang="zh-CN" altLang="en-US" dirty="0">
                <a:sym typeface="+mn-ea"/>
              </a:rPr>
              <a:t>由Python的内置</a:t>
            </a:r>
            <a:r>
              <a:rPr lang="zh-CN" altLang="en-US" dirty="0">
                <a:solidFill>
                  <a:srgbClr val="0432FF"/>
                </a:solidFill>
                <a:sym typeface="+mn-ea"/>
              </a:rPr>
              <a:t>repr()函数</a:t>
            </a:r>
            <a:r>
              <a:rPr lang="zh-CN" altLang="en-US" dirty="0">
                <a:sym typeface="+mn-ea"/>
              </a:rPr>
              <a:t>和字符串转换调用，以显示对象的官方字符串表示。</a:t>
            </a:r>
            <a:endParaRPr lang="en-US" altLang="zh-CN" dirty="0">
              <a:sym typeface="+mn-ea"/>
            </a:endParaRPr>
          </a:p>
          <a:p>
            <a:pPr marL="298450" indent="-285750" algn="l" rtl="0" eaLnBrk="0">
              <a:lnSpc>
                <a:spcPct val="150000"/>
              </a:lnSpc>
              <a:spcBef>
                <a:spcPts val="0"/>
              </a:spcBef>
              <a:buFont typeface="Arial" panose="020B0604020202020204" pitchFamily="34" charset="0"/>
              <a:buChar char="•"/>
            </a:pPr>
            <a:r>
              <a:rPr lang="zh-CN" altLang="en-US" dirty="0">
                <a:sym typeface="+mn-ea"/>
              </a:rPr>
              <a:t>请注意，这应该看起来像一个有效的Python表达式，但如果不可能，则应使用具有有用描述的字符串。</a:t>
            </a:r>
            <a:endParaRPr lang="en-US" altLang="zh-CN" dirty="0">
              <a:sym typeface="+mn-ea"/>
            </a:endParaRPr>
          </a:p>
        </p:txBody>
      </p:sp>
      <p:pic>
        <p:nvPicPr>
          <p:cNvPr id="5" name="Picture 4">
            <a:extLst>
              <a:ext uri="{FF2B5EF4-FFF2-40B4-BE49-F238E27FC236}">
                <a16:creationId xmlns:a16="http://schemas.microsoft.com/office/drawing/2014/main" id="{8728CD13-6A42-03B4-8DB8-4DB81360FD7F}"/>
              </a:ext>
            </a:extLst>
          </p:cNvPr>
          <p:cNvPicPr>
            <a:picLocks noChangeAspect="1"/>
          </p:cNvPicPr>
          <p:nvPr/>
        </p:nvPicPr>
        <p:blipFill>
          <a:blip r:embed="rId2"/>
          <a:stretch>
            <a:fillRect/>
          </a:stretch>
        </p:blipFill>
        <p:spPr>
          <a:xfrm>
            <a:off x="4099305" y="1559479"/>
            <a:ext cx="7772400" cy="45933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43C0F18-8B19-79F6-8200-9148F0A42955}"/>
              </a:ext>
            </a:extLst>
          </p:cNvPr>
          <p:cNvSpPr txBox="1"/>
          <p:nvPr/>
        </p:nvSpPr>
        <p:spPr>
          <a:xfrm>
            <a:off x="1548400" y="5098118"/>
            <a:ext cx="9095199" cy="1200329"/>
          </a:xfrm>
          <a:prstGeom prst="rect">
            <a:avLst/>
          </a:prstGeom>
          <a:noFill/>
        </p:spPr>
        <p:txBody>
          <a:bodyPr wrap="square">
            <a:spAutoFit/>
          </a:bodyPr>
          <a:lstStyle/>
          <a:p>
            <a:r>
              <a:rPr lang="en-US" dirty="0">
                <a:solidFill>
                  <a:srgbClr val="0432FF"/>
                </a:solidFill>
              </a:rPr>
              <a:t>__str__()</a:t>
            </a:r>
            <a:r>
              <a:rPr lang="en-US" b="0" i="0" dirty="0">
                <a:solidFill>
                  <a:srgbClr val="0432FF"/>
                </a:solidFill>
                <a:effectLst/>
                <a:latin typeface="system-ui"/>
              </a:rPr>
              <a:t> </a:t>
            </a:r>
            <a:r>
              <a:rPr lang="zh-CN" altLang="en-US" b="0" i="0" dirty="0">
                <a:solidFill>
                  <a:srgbClr val="0432FF"/>
                </a:solidFill>
                <a:effectLst/>
                <a:latin typeface="system-ui"/>
              </a:rPr>
              <a:t>和 </a:t>
            </a:r>
            <a:r>
              <a:rPr lang="en-US" altLang="zh-CN" dirty="0">
                <a:solidFill>
                  <a:srgbClr val="0432FF"/>
                </a:solidFill>
              </a:rPr>
              <a:t>__</a:t>
            </a:r>
            <a:r>
              <a:rPr lang="en-US" dirty="0" err="1">
                <a:solidFill>
                  <a:srgbClr val="0432FF"/>
                </a:solidFill>
              </a:rPr>
              <a:t>repr</a:t>
            </a:r>
            <a:r>
              <a:rPr lang="en-US" dirty="0">
                <a:solidFill>
                  <a:srgbClr val="0432FF"/>
                </a:solidFill>
              </a:rPr>
              <a:t>__()</a:t>
            </a:r>
            <a:r>
              <a:rPr lang="en-US" b="0" i="0" dirty="0">
                <a:solidFill>
                  <a:srgbClr val="0432FF"/>
                </a:solidFill>
                <a:effectLst/>
                <a:latin typeface="system-ui"/>
              </a:rPr>
              <a:t> </a:t>
            </a:r>
            <a:r>
              <a:rPr lang="zh-CN" altLang="en-US" b="0" i="0" dirty="0">
                <a:solidFill>
                  <a:srgbClr val="0432FF"/>
                </a:solidFill>
                <a:effectLst/>
                <a:latin typeface="system-ui"/>
              </a:rPr>
              <a:t>方法返回对象的字符串表示形式</a:t>
            </a:r>
            <a:r>
              <a:rPr lang="zh-CN" altLang="en-US" b="0" i="0" dirty="0">
                <a:effectLst/>
                <a:latin typeface="system-ui"/>
              </a:rPr>
              <a:t>。 </a:t>
            </a:r>
            <a:endParaRPr lang="en-US" altLang="zh-CN" b="0" i="0" dirty="0">
              <a:effectLst/>
              <a:latin typeface="system-ui"/>
            </a:endParaRPr>
          </a:p>
          <a:p>
            <a:pPr marL="742950" lvl="1" indent="-285750">
              <a:buFont typeface="Arial" panose="020B0604020202020204" pitchFamily="34" charset="0"/>
              <a:buChar char="•"/>
            </a:pPr>
            <a:r>
              <a:rPr lang="en-US" altLang="zh-CN" dirty="0">
                <a:solidFill>
                  <a:srgbClr val="C00000"/>
                </a:solidFill>
              </a:rPr>
              <a:t>__</a:t>
            </a:r>
            <a:r>
              <a:rPr lang="en-US" dirty="0" err="1">
                <a:solidFill>
                  <a:srgbClr val="C00000"/>
                </a:solidFill>
              </a:rPr>
              <a:t>repr</a:t>
            </a:r>
            <a:r>
              <a:rPr lang="en-US" dirty="0">
                <a:solidFill>
                  <a:srgbClr val="C00000"/>
                </a:solidFill>
              </a:rPr>
              <a:t>__()</a:t>
            </a:r>
            <a:r>
              <a:rPr lang="en-US" b="0" i="0" dirty="0">
                <a:solidFill>
                  <a:srgbClr val="C00000"/>
                </a:solidFill>
                <a:effectLst/>
                <a:latin typeface="system-ui"/>
              </a:rPr>
              <a:t> </a:t>
            </a:r>
            <a:r>
              <a:rPr lang="zh-CN" altLang="en-US" b="0" i="0" dirty="0">
                <a:effectLst/>
                <a:latin typeface="system-ui"/>
              </a:rPr>
              <a:t>表示形式旨在保存有关对象的信息，</a:t>
            </a:r>
            <a:r>
              <a:rPr lang="zh-CN" altLang="en-US" b="0" i="0" dirty="0">
                <a:solidFill>
                  <a:srgbClr val="0432FF"/>
                </a:solidFill>
                <a:effectLst/>
                <a:latin typeface="system-ui"/>
              </a:rPr>
              <a:t>以便可以再次创建它</a:t>
            </a:r>
            <a:r>
              <a:rPr lang="zh-CN" altLang="en-US" b="0" i="0" dirty="0">
                <a:effectLst/>
                <a:latin typeface="system-ui"/>
              </a:rPr>
              <a:t>。</a:t>
            </a:r>
            <a:endParaRPr lang="en-US" altLang="zh-CN" b="0" i="0" dirty="0">
              <a:effectLst/>
              <a:latin typeface="system-ui"/>
            </a:endParaRPr>
          </a:p>
          <a:p>
            <a:pPr marL="742950" lvl="1" indent="-285750">
              <a:buFont typeface="Arial" panose="020B0604020202020204" pitchFamily="34" charset="0"/>
              <a:buChar char="•"/>
            </a:pPr>
            <a:r>
              <a:rPr lang="zh-CN" altLang="en-US" b="0" i="0" dirty="0">
                <a:effectLst/>
                <a:latin typeface="system-ui"/>
              </a:rPr>
              <a:t>相比之下， </a:t>
            </a:r>
            <a:r>
              <a:rPr lang="en-US" altLang="zh-CN" dirty="0">
                <a:solidFill>
                  <a:srgbClr val="C00000"/>
                </a:solidFill>
              </a:rPr>
              <a:t>__</a:t>
            </a:r>
            <a:r>
              <a:rPr lang="en-US" dirty="0">
                <a:solidFill>
                  <a:srgbClr val="C00000"/>
                </a:solidFill>
              </a:rPr>
              <a:t>str__()</a:t>
            </a:r>
            <a:r>
              <a:rPr lang="en-US" b="0" i="0" dirty="0">
                <a:solidFill>
                  <a:srgbClr val="C00000"/>
                </a:solidFill>
                <a:effectLst/>
                <a:latin typeface="system-ui"/>
              </a:rPr>
              <a:t> </a:t>
            </a:r>
            <a:r>
              <a:rPr lang="zh-CN" altLang="en-US" b="0" i="0" dirty="0">
                <a:effectLst/>
                <a:latin typeface="system-ui"/>
              </a:rPr>
              <a:t>字符串表示形式是人类友好的，</a:t>
            </a:r>
            <a:r>
              <a:rPr lang="zh-CN" altLang="en-US" b="0" i="0" dirty="0">
                <a:solidFill>
                  <a:srgbClr val="0432FF"/>
                </a:solidFill>
                <a:effectLst/>
                <a:latin typeface="system-ui"/>
              </a:rPr>
              <a:t>主要用于日志记录。</a:t>
            </a:r>
            <a:endParaRPr lang="en-US" altLang="zh-CN" b="0" i="0" dirty="0">
              <a:solidFill>
                <a:srgbClr val="0432FF"/>
              </a:solidFill>
              <a:effectLst/>
              <a:latin typeface="system-ui"/>
            </a:endParaRPr>
          </a:p>
          <a:p>
            <a:pPr marL="742950" lvl="1" indent="-285750">
              <a:buFont typeface="Arial" panose="020B0604020202020204" pitchFamily="34" charset="0"/>
              <a:buChar char="•"/>
            </a:pPr>
            <a:r>
              <a:rPr lang="zh-CN" altLang="en-US" b="0" i="0" dirty="0">
                <a:effectLst/>
                <a:latin typeface="system-ui"/>
              </a:rPr>
              <a:t>始终使用</a:t>
            </a:r>
            <a:r>
              <a:rPr lang="zh-CN" altLang="en-US" b="0" i="0" dirty="0">
                <a:solidFill>
                  <a:srgbClr val="C00000"/>
                </a:solidFill>
                <a:effectLst/>
                <a:latin typeface="system-ui"/>
              </a:rPr>
              <a:t> </a:t>
            </a:r>
            <a:r>
              <a:rPr lang="en-US" dirty="0">
                <a:solidFill>
                  <a:srgbClr val="C00000"/>
                </a:solidFill>
              </a:rPr>
              <a:t>str()</a:t>
            </a:r>
            <a:r>
              <a:rPr lang="en-US" b="0" i="0" dirty="0">
                <a:solidFill>
                  <a:srgbClr val="C00000"/>
                </a:solidFill>
                <a:effectLst/>
                <a:latin typeface="system-ui"/>
              </a:rPr>
              <a:t> </a:t>
            </a:r>
            <a:r>
              <a:rPr lang="zh-CN" altLang="en-US" b="0" i="0" dirty="0">
                <a:effectLst/>
                <a:latin typeface="system-ui"/>
              </a:rPr>
              <a:t>和 </a:t>
            </a:r>
            <a:r>
              <a:rPr lang="en-US" dirty="0" err="1">
                <a:solidFill>
                  <a:srgbClr val="C00000"/>
                </a:solidFill>
              </a:rPr>
              <a:t>repr</a:t>
            </a:r>
            <a:r>
              <a:rPr lang="en-US" dirty="0">
                <a:solidFill>
                  <a:srgbClr val="C00000"/>
                </a:solidFill>
              </a:rPr>
              <a:t>()</a:t>
            </a:r>
            <a:r>
              <a:rPr lang="en-US" b="0" i="0" dirty="0">
                <a:solidFill>
                  <a:srgbClr val="C00000"/>
                </a:solidFill>
                <a:effectLst/>
                <a:latin typeface="system-ui"/>
              </a:rPr>
              <a:t> </a:t>
            </a:r>
            <a:r>
              <a:rPr lang="zh-CN" altLang="en-US" b="0" i="0" dirty="0">
                <a:effectLst/>
                <a:latin typeface="system-ui"/>
              </a:rPr>
              <a:t>函数，而</a:t>
            </a:r>
            <a:r>
              <a:rPr lang="zh-CN" altLang="en-US" b="0" i="0" dirty="0">
                <a:solidFill>
                  <a:srgbClr val="C00000"/>
                </a:solidFill>
                <a:effectLst/>
                <a:latin typeface="system-ui"/>
              </a:rPr>
              <a:t>不是直接使用这些方法。</a:t>
            </a:r>
            <a:endParaRPr lang="zh-CN" altLang="en-US" dirty="0">
              <a:solidFill>
                <a:srgbClr val="C00000"/>
              </a:solidFill>
            </a:endParaRPr>
          </a:p>
        </p:txBody>
      </p:sp>
      <p:pic>
        <p:nvPicPr>
          <p:cNvPr id="3" name="Picture 2">
            <a:extLst>
              <a:ext uri="{FF2B5EF4-FFF2-40B4-BE49-F238E27FC236}">
                <a16:creationId xmlns:a16="http://schemas.microsoft.com/office/drawing/2014/main" id="{DE806F22-D8B7-D00A-1B3A-C04BDE0149CE}"/>
              </a:ext>
            </a:extLst>
          </p:cNvPr>
          <p:cNvPicPr>
            <a:picLocks noChangeAspect="1"/>
          </p:cNvPicPr>
          <p:nvPr/>
        </p:nvPicPr>
        <p:blipFill>
          <a:blip r:embed="rId2"/>
          <a:stretch>
            <a:fillRect/>
          </a:stretch>
        </p:blipFill>
        <p:spPr>
          <a:xfrm>
            <a:off x="350177" y="367268"/>
            <a:ext cx="7772400" cy="4561791"/>
          </a:xfrm>
          <a:prstGeom prst="rect">
            <a:avLst/>
          </a:prstGeom>
        </p:spPr>
      </p:pic>
      <p:pic>
        <p:nvPicPr>
          <p:cNvPr id="4" name="Picture 3">
            <a:extLst>
              <a:ext uri="{FF2B5EF4-FFF2-40B4-BE49-F238E27FC236}">
                <a16:creationId xmlns:a16="http://schemas.microsoft.com/office/drawing/2014/main" id="{4ABA9629-38BE-A330-E003-455D0DD1D0C1}"/>
              </a:ext>
            </a:extLst>
          </p:cNvPr>
          <p:cNvPicPr>
            <a:picLocks noChangeAspect="1"/>
          </p:cNvPicPr>
          <p:nvPr/>
        </p:nvPicPr>
        <p:blipFill>
          <a:blip r:embed="rId3"/>
          <a:stretch>
            <a:fillRect/>
          </a:stretch>
        </p:blipFill>
        <p:spPr>
          <a:xfrm>
            <a:off x="4306155" y="20551"/>
            <a:ext cx="7632843" cy="5125082"/>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021226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549A5-652D-FA26-7FE0-ABC1FF710805}"/>
              </a:ext>
            </a:extLst>
          </p:cNvPr>
          <p:cNvSpPr>
            <a:spLocks noGrp="1"/>
          </p:cNvSpPr>
          <p:nvPr>
            <p:ph type="title"/>
          </p:nvPr>
        </p:nvSpPr>
        <p:spPr/>
        <p:txBody>
          <a:bodyPr/>
          <a:lstStyle/>
          <a:p>
            <a:r>
              <a:rPr lang="en-US" b="1" i="0" dirty="0">
                <a:effectLst/>
                <a:latin typeface="system-ui"/>
              </a:rPr>
              <a:t>The difference between __str__ and __</a:t>
            </a:r>
            <a:r>
              <a:rPr lang="en-US" b="1" i="0" dirty="0" err="1">
                <a:effectLst/>
                <a:latin typeface="system-ui"/>
              </a:rPr>
              <a:t>repr</a:t>
            </a:r>
            <a:r>
              <a:rPr lang="en-US" b="1" i="0" dirty="0">
                <a:effectLst/>
                <a:latin typeface="system-ui"/>
              </a:rPr>
              <a:t>__</a:t>
            </a:r>
            <a:endParaRPr kumimoji="1" lang="zh-CN" altLang="en-US" dirty="0"/>
          </a:p>
        </p:txBody>
      </p:sp>
      <p:sp>
        <p:nvSpPr>
          <p:cNvPr id="4" name="TextBox 3">
            <a:extLst>
              <a:ext uri="{FF2B5EF4-FFF2-40B4-BE49-F238E27FC236}">
                <a16:creationId xmlns:a16="http://schemas.microsoft.com/office/drawing/2014/main" id="{D69F7938-8510-B3E8-46A8-A9961D982950}"/>
              </a:ext>
            </a:extLst>
          </p:cNvPr>
          <p:cNvSpPr txBox="1"/>
          <p:nvPr/>
        </p:nvSpPr>
        <p:spPr>
          <a:xfrm>
            <a:off x="1240604" y="1341651"/>
            <a:ext cx="9721921" cy="646331"/>
          </a:xfrm>
          <a:prstGeom prst="rect">
            <a:avLst/>
          </a:prstGeom>
          <a:noFill/>
        </p:spPr>
        <p:txBody>
          <a:bodyPr wrap="square">
            <a:spAutoFit/>
          </a:bodyPr>
          <a:lstStyle/>
          <a:p>
            <a:pPr marL="285750" indent="-285750" algn="l">
              <a:buFont typeface="Arial" panose="020B0604020202020204" pitchFamily="34" charset="0"/>
              <a:buChar char="•"/>
            </a:pPr>
            <a:r>
              <a:rPr lang="zh-CN" altLang="en-US" b="0" i="0" dirty="0">
                <a:effectLst/>
                <a:latin typeface="system-ui"/>
              </a:rPr>
              <a:t>利用 </a:t>
            </a:r>
            <a:r>
              <a:rPr lang="en-US" altLang="zh-CN" b="0" i="0" dirty="0">
                <a:solidFill>
                  <a:srgbClr val="0432FF"/>
                </a:solidFill>
                <a:effectLst/>
                <a:latin typeface="system-ui"/>
              </a:rPr>
              <a:t>__</a:t>
            </a:r>
            <a:r>
              <a:rPr lang="en-US" b="0" i="0" dirty="0">
                <a:solidFill>
                  <a:srgbClr val="0432FF"/>
                </a:solidFill>
                <a:effectLst/>
                <a:latin typeface="system-ui"/>
              </a:rPr>
              <a:t>str__() </a:t>
            </a:r>
            <a:r>
              <a:rPr lang="zh-CN" altLang="en-US" b="0" i="0" dirty="0">
                <a:effectLst/>
                <a:latin typeface="system-ui"/>
              </a:rPr>
              <a:t>方法将类</a:t>
            </a:r>
            <a:r>
              <a:rPr lang="zh-CN" altLang="en-US" b="0" i="0" dirty="0">
                <a:solidFill>
                  <a:srgbClr val="0432FF"/>
                </a:solidFill>
                <a:effectLst/>
                <a:latin typeface="system-ui"/>
              </a:rPr>
              <a:t>对象表示为字符串</a:t>
            </a:r>
            <a:r>
              <a:rPr lang="zh-CN" altLang="en-US" b="0" i="0" dirty="0">
                <a:effectLst/>
                <a:latin typeface="system-ui"/>
              </a:rPr>
              <a:t>。 </a:t>
            </a:r>
            <a:r>
              <a:rPr lang="en-US" altLang="zh-CN" b="0" i="0" dirty="0">
                <a:effectLst/>
                <a:latin typeface="system-ui"/>
              </a:rPr>
              <a:t>__</a:t>
            </a:r>
            <a:r>
              <a:rPr lang="en-US" b="0" i="0" dirty="0">
                <a:effectLst/>
                <a:latin typeface="system-ui"/>
              </a:rPr>
              <a:t>str__() </a:t>
            </a:r>
            <a:r>
              <a:rPr lang="zh-CN" altLang="en-US" b="0" i="0" dirty="0">
                <a:effectLst/>
                <a:latin typeface="system-ui"/>
              </a:rPr>
              <a:t>方法定义的编写方式应使其输出所有类成员并且易于理解。使用 </a:t>
            </a:r>
            <a:r>
              <a:rPr lang="en-US" altLang="zh-CN" b="0" i="0" dirty="0">
                <a:solidFill>
                  <a:srgbClr val="0432FF"/>
                </a:solidFill>
                <a:effectLst/>
                <a:latin typeface="system-ui"/>
              </a:rPr>
              <a:t>__</a:t>
            </a:r>
            <a:r>
              <a:rPr lang="en-US" b="0" i="0" dirty="0" err="1">
                <a:solidFill>
                  <a:srgbClr val="0432FF"/>
                </a:solidFill>
                <a:effectLst/>
                <a:latin typeface="system-ui"/>
              </a:rPr>
              <a:t>repr</a:t>
            </a:r>
            <a:r>
              <a:rPr lang="en-US" b="0" i="0" dirty="0">
                <a:solidFill>
                  <a:srgbClr val="0432FF"/>
                </a:solidFill>
                <a:effectLst/>
                <a:latin typeface="system-ui"/>
              </a:rPr>
              <a:t>__() </a:t>
            </a:r>
            <a:r>
              <a:rPr lang="zh-CN" altLang="en-US" b="0" i="0" dirty="0">
                <a:effectLst/>
                <a:latin typeface="system-ui"/>
              </a:rPr>
              <a:t>方法，我们可以创建</a:t>
            </a:r>
            <a:r>
              <a:rPr lang="zh-CN" altLang="en-US" b="0" i="0" dirty="0">
                <a:solidFill>
                  <a:srgbClr val="0432FF"/>
                </a:solidFill>
                <a:effectLst/>
                <a:latin typeface="system-ui"/>
              </a:rPr>
              <a:t>类对象的自定义字符串表示形式</a:t>
            </a:r>
            <a:r>
              <a:rPr lang="zh-CN" altLang="en-US" dirty="0">
                <a:solidFill>
                  <a:srgbClr val="0432FF"/>
                </a:solidFill>
                <a:latin typeface="system-ui"/>
              </a:rPr>
              <a:t>。</a:t>
            </a:r>
            <a:endParaRPr lang="zh-CN" altLang="en-US" b="0" i="0" dirty="0">
              <a:effectLst/>
              <a:latin typeface="system-ui"/>
            </a:endParaRPr>
          </a:p>
        </p:txBody>
      </p:sp>
      <p:sp>
        <p:nvSpPr>
          <p:cNvPr id="6" name="TextBox 5">
            <a:extLst>
              <a:ext uri="{FF2B5EF4-FFF2-40B4-BE49-F238E27FC236}">
                <a16:creationId xmlns:a16="http://schemas.microsoft.com/office/drawing/2014/main" id="{00ADC585-139F-C54D-436B-5309F91F5EFA}"/>
              </a:ext>
            </a:extLst>
          </p:cNvPr>
          <p:cNvSpPr txBox="1"/>
          <p:nvPr/>
        </p:nvSpPr>
        <p:spPr>
          <a:xfrm>
            <a:off x="1032981" y="1987982"/>
            <a:ext cx="10596080" cy="1710084"/>
          </a:xfrm>
          <a:prstGeom prst="rect">
            <a:avLst/>
          </a:prstGeom>
          <a:noFill/>
        </p:spPr>
        <p:txBody>
          <a:bodyPr wrap="square">
            <a:spAutoFit/>
          </a:bodyPr>
          <a:lstStyle/>
          <a:p>
            <a:pPr marL="285750" indent="-285750" algn="l">
              <a:lnSpc>
                <a:spcPct val="150000"/>
              </a:lnSpc>
              <a:buFont typeface="Wingdings" pitchFamily="2" charset="2"/>
              <a:buChar char="v"/>
            </a:pPr>
            <a:r>
              <a:rPr lang="zh-CN" altLang="en-US" b="0" i="0" dirty="0">
                <a:effectLst/>
                <a:latin typeface="system-ui"/>
              </a:rPr>
              <a:t> </a:t>
            </a:r>
            <a:r>
              <a:rPr lang="en-US" b="0" i="0" dirty="0">
                <a:effectLst/>
                <a:latin typeface="system-ui"/>
              </a:rPr>
              <a:t>__str__() </a:t>
            </a:r>
            <a:r>
              <a:rPr lang="zh-CN" altLang="en-US" b="0" i="0" dirty="0">
                <a:effectLst/>
                <a:latin typeface="system-ui"/>
              </a:rPr>
              <a:t>方法旨在以可读格式返回信息，以便</a:t>
            </a:r>
            <a:r>
              <a:rPr lang="zh-CN" altLang="en-US" b="0" i="0" dirty="0">
                <a:solidFill>
                  <a:srgbClr val="C00000"/>
                </a:solidFill>
                <a:effectLst/>
                <a:latin typeface="system-ui"/>
              </a:rPr>
              <a:t>人们轻松理</a:t>
            </a:r>
            <a:r>
              <a:rPr lang="zh-CN" altLang="en-US" b="0" i="0" dirty="0">
                <a:effectLst/>
                <a:latin typeface="system-ui"/>
              </a:rPr>
              <a:t>解。它非常适合记录或显示对象信息。</a:t>
            </a:r>
          </a:p>
          <a:p>
            <a:pPr marL="285750" indent="-285750" algn="l">
              <a:lnSpc>
                <a:spcPct val="150000"/>
              </a:lnSpc>
              <a:buFont typeface="Wingdings" pitchFamily="2" charset="2"/>
              <a:buChar char="v"/>
            </a:pPr>
            <a:r>
              <a:rPr lang="zh-CN" altLang="en-US" b="0" i="0" dirty="0">
                <a:effectLst/>
                <a:latin typeface="system-ui"/>
              </a:rPr>
              <a:t> </a:t>
            </a:r>
            <a:r>
              <a:rPr lang="en-US" altLang="zh-CN" b="0" i="0" dirty="0">
                <a:effectLst/>
                <a:latin typeface="system-ui"/>
              </a:rPr>
              <a:t>__</a:t>
            </a:r>
            <a:r>
              <a:rPr lang="en-US" b="0" i="0" dirty="0" err="1">
                <a:effectLst/>
                <a:latin typeface="system-ui"/>
              </a:rPr>
              <a:t>repr</a:t>
            </a:r>
            <a:r>
              <a:rPr lang="en-US" b="0" i="0" dirty="0">
                <a:effectLst/>
                <a:latin typeface="system-ui"/>
              </a:rPr>
              <a:t>__() </a:t>
            </a:r>
            <a:r>
              <a:rPr lang="zh-CN" altLang="en-US" b="0" i="0" dirty="0">
                <a:effectLst/>
                <a:latin typeface="system-ui"/>
              </a:rPr>
              <a:t>方法的目标是</a:t>
            </a:r>
            <a:r>
              <a:rPr lang="zh-CN" altLang="en-US" b="0" i="0" dirty="0">
                <a:solidFill>
                  <a:srgbClr val="C00000"/>
                </a:solidFill>
                <a:effectLst/>
                <a:latin typeface="system-ui"/>
              </a:rPr>
              <a:t>提供可用于复制对象的字符串表示形式</a:t>
            </a:r>
            <a:r>
              <a:rPr lang="zh-CN" altLang="en-US" b="0" i="0" dirty="0">
                <a:effectLst/>
                <a:latin typeface="system-ui"/>
              </a:rPr>
              <a:t>，但它也被设计用于执行相反的操作。</a:t>
            </a:r>
          </a:p>
          <a:p>
            <a:pPr marL="285750" indent="-285750" algn="l">
              <a:lnSpc>
                <a:spcPct val="150000"/>
              </a:lnSpc>
              <a:buFont typeface="Wingdings" pitchFamily="2" charset="2"/>
              <a:buChar char="v"/>
            </a:pPr>
            <a:r>
              <a:rPr lang="zh-CN" altLang="en-US" b="0" i="0" dirty="0">
                <a:effectLst/>
                <a:latin typeface="system-ui"/>
              </a:rPr>
              <a:t> 我们的类对象的唯一字符串表示可以使用 </a:t>
            </a:r>
            <a:r>
              <a:rPr lang="en-US" altLang="zh-CN" b="0" i="0" dirty="0">
                <a:effectLst/>
                <a:latin typeface="system-ui"/>
              </a:rPr>
              <a:t>__</a:t>
            </a:r>
            <a:r>
              <a:rPr lang="en-US" b="0" i="0" dirty="0" err="1">
                <a:effectLst/>
                <a:latin typeface="system-ui"/>
              </a:rPr>
              <a:t>repr</a:t>
            </a:r>
            <a:r>
              <a:rPr lang="en-US" b="0" i="0" dirty="0">
                <a:effectLst/>
                <a:latin typeface="system-ui"/>
              </a:rPr>
              <a:t>__() </a:t>
            </a:r>
            <a:r>
              <a:rPr lang="zh-CN" altLang="en-US" b="0" i="0" dirty="0">
                <a:effectLst/>
                <a:latin typeface="system-ui"/>
              </a:rPr>
              <a:t>方法来创建。</a:t>
            </a:r>
          </a:p>
          <a:p>
            <a:pPr marL="285750" indent="-285750" algn="l">
              <a:lnSpc>
                <a:spcPct val="150000"/>
              </a:lnSpc>
              <a:buFont typeface="Wingdings" pitchFamily="2" charset="2"/>
              <a:buChar char="v"/>
            </a:pPr>
            <a:r>
              <a:rPr lang="zh-CN" altLang="en-US" b="0" i="0" dirty="0">
                <a:effectLst/>
                <a:latin typeface="system-ui"/>
              </a:rPr>
              <a:t> </a:t>
            </a:r>
            <a:r>
              <a:rPr lang="en-US" altLang="zh-CN" b="0" i="0" dirty="0">
                <a:effectLst/>
                <a:latin typeface="system-ui"/>
              </a:rPr>
              <a:t>__</a:t>
            </a:r>
            <a:r>
              <a:rPr lang="en-US" b="0" i="0" dirty="0" err="1">
                <a:effectLst/>
                <a:latin typeface="system-ui"/>
              </a:rPr>
              <a:t>repr</a:t>
            </a:r>
            <a:r>
              <a:rPr lang="en-US" b="0" i="0" dirty="0">
                <a:effectLst/>
                <a:latin typeface="system-ui"/>
              </a:rPr>
              <a:t>__() </a:t>
            </a:r>
            <a:r>
              <a:rPr lang="zh-CN" altLang="en-US" b="0" i="0" dirty="0">
                <a:effectLst/>
                <a:latin typeface="system-ui"/>
              </a:rPr>
              <a:t>的目标是</a:t>
            </a:r>
            <a:r>
              <a:rPr lang="zh-CN" altLang="en-US" b="0" i="0" dirty="0">
                <a:solidFill>
                  <a:srgbClr val="C00000"/>
                </a:solidFill>
                <a:effectLst/>
                <a:latin typeface="system-ui"/>
              </a:rPr>
              <a:t>明确</a:t>
            </a:r>
            <a:r>
              <a:rPr lang="en-US" altLang="zh-CN" b="0" i="0" dirty="0">
                <a:solidFill>
                  <a:srgbClr val="C00000"/>
                </a:solidFill>
                <a:effectLst/>
                <a:latin typeface="system-ui"/>
              </a:rPr>
              <a:t>(</a:t>
            </a:r>
            <a:r>
              <a:rPr lang="en-US" b="0" i="1" dirty="0">
                <a:solidFill>
                  <a:srgbClr val="C00000"/>
                </a:solidFill>
                <a:effectLst/>
                <a:latin typeface="system-ui"/>
              </a:rPr>
              <a:t>unambiguous</a:t>
            </a:r>
            <a:r>
              <a:rPr lang="en-US" b="0" i="0" dirty="0">
                <a:solidFill>
                  <a:srgbClr val="C00000"/>
                </a:solidFill>
                <a:effectLst/>
                <a:latin typeface="system-ui"/>
              </a:rPr>
              <a:t>)</a:t>
            </a:r>
            <a:r>
              <a:rPr lang="en-US" b="0" i="0" dirty="0">
                <a:effectLst/>
                <a:latin typeface="system-ui"/>
              </a:rPr>
              <a:t>，</a:t>
            </a:r>
            <a:r>
              <a:rPr lang="zh-CN" altLang="en-US" b="0" i="0" dirty="0">
                <a:effectLst/>
                <a:latin typeface="system-ui"/>
              </a:rPr>
              <a:t>而 </a:t>
            </a:r>
            <a:r>
              <a:rPr lang="en-US" altLang="zh-CN" dirty="0"/>
              <a:t>__</a:t>
            </a:r>
            <a:r>
              <a:rPr lang="en-US" dirty="0"/>
              <a:t>str__()</a:t>
            </a:r>
            <a:r>
              <a:rPr lang="en-US" b="0" i="0" dirty="0">
                <a:effectLst/>
                <a:latin typeface="system-ui"/>
              </a:rPr>
              <a:t> </a:t>
            </a:r>
            <a:r>
              <a:rPr lang="zh-CN" altLang="en-US" b="0" i="0" dirty="0">
                <a:effectLst/>
                <a:latin typeface="system-ui"/>
              </a:rPr>
              <a:t>的目标是</a:t>
            </a:r>
            <a:r>
              <a:rPr lang="zh-CN" altLang="en-US" b="0" i="0" dirty="0">
                <a:solidFill>
                  <a:srgbClr val="C00000"/>
                </a:solidFill>
                <a:effectLst/>
                <a:latin typeface="system-ui"/>
              </a:rPr>
              <a:t>可读</a:t>
            </a:r>
            <a:r>
              <a:rPr lang="en-US" altLang="zh-CN" b="0" i="0" dirty="0">
                <a:solidFill>
                  <a:srgbClr val="C00000"/>
                </a:solidFill>
                <a:effectLst/>
                <a:latin typeface="system-ui"/>
              </a:rPr>
              <a:t>(</a:t>
            </a:r>
            <a:r>
              <a:rPr lang="en-US" b="0" i="1" dirty="0">
                <a:solidFill>
                  <a:srgbClr val="C00000"/>
                </a:solidFill>
                <a:effectLst/>
                <a:latin typeface="system-ui"/>
              </a:rPr>
              <a:t>readable</a:t>
            </a:r>
            <a:r>
              <a:rPr lang="en-US" b="0" i="0" dirty="0">
                <a:solidFill>
                  <a:srgbClr val="C00000"/>
                </a:solidFill>
                <a:effectLst/>
                <a:latin typeface="system-ui"/>
              </a:rPr>
              <a:t>)。</a:t>
            </a:r>
          </a:p>
        </p:txBody>
      </p:sp>
      <p:pic>
        <p:nvPicPr>
          <p:cNvPr id="7" name="Picture 6">
            <a:extLst>
              <a:ext uri="{FF2B5EF4-FFF2-40B4-BE49-F238E27FC236}">
                <a16:creationId xmlns:a16="http://schemas.microsoft.com/office/drawing/2014/main" id="{BA16CB3F-DA09-88A8-F16E-86DC5244B995}"/>
              </a:ext>
            </a:extLst>
          </p:cNvPr>
          <p:cNvPicPr>
            <a:picLocks noChangeAspect="1"/>
          </p:cNvPicPr>
          <p:nvPr/>
        </p:nvPicPr>
        <p:blipFill>
          <a:blip r:embed="rId2"/>
          <a:stretch>
            <a:fillRect/>
          </a:stretch>
        </p:blipFill>
        <p:spPr>
          <a:xfrm>
            <a:off x="2556197" y="3698066"/>
            <a:ext cx="6565900" cy="2425700"/>
          </a:xfrm>
          <a:prstGeom prst="rect">
            <a:avLst/>
          </a:prstGeom>
        </p:spPr>
      </p:pic>
    </p:spTree>
    <p:extLst>
      <p:ext uri="{BB962C8B-B14F-4D97-AF65-F5344CB8AC3E}">
        <p14:creationId xmlns:p14="http://schemas.microsoft.com/office/powerpoint/2010/main" val="3377333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b="1" dirty="0"/>
              <a:t>7.5.2</a:t>
            </a:r>
            <a:r>
              <a:rPr lang="en-US" altLang="zh-CN" b="1" dirty="0"/>
              <a:t> </a:t>
            </a:r>
            <a:r>
              <a:rPr lang="zh-CN" altLang="en-US" b="1" dirty="0">
                <a:sym typeface="+mn-ea"/>
              </a:rPr>
              <a:t>字符串表示方法</a:t>
            </a:r>
            <a:endParaRPr lang="en-US" b="1" dirty="0"/>
          </a:p>
        </p:txBody>
      </p:sp>
      <p:sp>
        <p:nvSpPr>
          <p:cNvPr id="4" name="文本框 3"/>
          <p:cNvSpPr txBox="1"/>
          <p:nvPr/>
        </p:nvSpPr>
        <p:spPr>
          <a:xfrm>
            <a:off x="845556" y="1332981"/>
            <a:ext cx="9896776" cy="400110"/>
          </a:xfrm>
          <a:prstGeom prst="rect">
            <a:avLst/>
          </a:prstGeom>
          <a:noFill/>
        </p:spPr>
        <p:txBody>
          <a:bodyPr wrap="square" rtlCol="0">
            <a:spAutoFit/>
          </a:bodyPr>
          <a:lstStyle/>
          <a:p>
            <a:r>
              <a:rPr lang="zh-CN" altLang="en-US" sz="2000" dirty="0">
                <a:solidFill>
                  <a:srgbClr val="C00000"/>
                </a:solidFill>
              </a:rPr>
              <a:t>（</a:t>
            </a:r>
            <a:r>
              <a:rPr lang="en-US" altLang="zh-CN" sz="2000" dirty="0">
                <a:solidFill>
                  <a:srgbClr val="C00000"/>
                </a:solidFill>
              </a:rPr>
              <a:t>3</a:t>
            </a:r>
            <a:r>
              <a:rPr lang="zh-CN" altLang="en-US" sz="2000" dirty="0">
                <a:solidFill>
                  <a:srgbClr val="C00000"/>
                </a:solidFill>
              </a:rPr>
              <a:t>）</a:t>
            </a:r>
            <a:r>
              <a:rPr lang="en-US" sz="2000" b="0" i="0" dirty="0">
                <a:solidFill>
                  <a:srgbClr val="C00000"/>
                </a:solidFill>
                <a:effectLst/>
                <a:latin typeface="Menlo" panose="020B0609030804020204" pitchFamily="49" charset="0"/>
              </a:rPr>
              <a:t> __nonzero__(self)</a:t>
            </a:r>
            <a:endParaRPr lang="zh-CN" altLang="en-US" sz="2000" dirty="0">
              <a:solidFill>
                <a:srgbClr val="C00000"/>
              </a:solidFill>
            </a:endParaRPr>
          </a:p>
        </p:txBody>
      </p:sp>
      <p:sp>
        <p:nvSpPr>
          <p:cNvPr id="9" name="矩形 8"/>
          <p:cNvSpPr/>
          <p:nvPr/>
        </p:nvSpPr>
        <p:spPr>
          <a:xfrm>
            <a:off x="845556" y="1737890"/>
            <a:ext cx="5894291" cy="923330"/>
          </a:xfrm>
          <a:prstGeom prst="rect">
            <a:avLst/>
          </a:prstGeom>
        </p:spPr>
        <p:txBody>
          <a:bodyPr wrap="square">
            <a:spAutoFit/>
          </a:bodyPr>
          <a:lstStyle/>
          <a:p>
            <a:pPr marL="12700" algn="l" rtl="0" eaLnBrk="0">
              <a:spcBef>
                <a:spcPts val="0"/>
              </a:spcBef>
            </a:pPr>
            <a:r>
              <a:rPr lang="zh-CN" altLang="en-US" dirty="0">
                <a:sym typeface="+mn-ea"/>
              </a:rPr>
              <a:t>使用“</a:t>
            </a:r>
            <a:r>
              <a:rPr lang="zh-CN" altLang="en-US" dirty="0">
                <a:solidFill>
                  <a:srgbClr val="0432FF"/>
                </a:solidFill>
                <a:sym typeface="+mn-ea"/>
              </a:rPr>
              <a:t>bool = nonzero</a:t>
            </a:r>
            <a:r>
              <a:rPr lang="zh-CN" altLang="en-US" dirty="0">
                <a:sym typeface="+mn-ea"/>
              </a:rPr>
              <a:t>”语句是为了使它能够被Python的内置bool()操作调用，以实现真值测试。否则，实现将调用len来确定实例的真实值。</a:t>
            </a:r>
            <a:endParaRPr lang="en-US" altLang="zh-CN" dirty="0">
              <a:sym typeface="+mn-ea"/>
            </a:endParaRPr>
          </a:p>
        </p:txBody>
      </p:sp>
      <p:pic>
        <p:nvPicPr>
          <p:cNvPr id="2" name="Picture 1">
            <a:extLst>
              <a:ext uri="{FF2B5EF4-FFF2-40B4-BE49-F238E27FC236}">
                <a16:creationId xmlns:a16="http://schemas.microsoft.com/office/drawing/2014/main" id="{E561F728-7FF9-EB2E-7575-CE86E454C130}"/>
              </a:ext>
            </a:extLst>
          </p:cNvPr>
          <p:cNvPicPr>
            <a:picLocks noChangeAspect="1"/>
          </p:cNvPicPr>
          <p:nvPr/>
        </p:nvPicPr>
        <p:blipFill>
          <a:blip r:embed="rId2"/>
          <a:stretch>
            <a:fillRect/>
          </a:stretch>
        </p:blipFill>
        <p:spPr>
          <a:xfrm>
            <a:off x="2967947" y="2711912"/>
            <a:ext cx="3771900" cy="3733800"/>
          </a:xfrm>
          <a:prstGeom prst="rect">
            <a:avLst/>
          </a:prstGeom>
        </p:spPr>
      </p:pic>
      <p:pic>
        <p:nvPicPr>
          <p:cNvPr id="6" name="Picture 5">
            <a:extLst>
              <a:ext uri="{FF2B5EF4-FFF2-40B4-BE49-F238E27FC236}">
                <a16:creationId xmlns:a16="http://schemas.microsoft.com/office/drawing/2014/main" id="{1DBF0E35-B18E-F1B4-B6EB-E33008F5F5B1}"/>
              </a:ext>
            </a:extLst>
          </p:cNvPr>
          <p:cNvPicPr>
            <a:picLocks noChangeAspect="1"/>
          </p:cNvPicPr>
          <p:nvPr/>
        </p:nvPicPr>
        <p:blipFill>
          <a:blip r:embed="rId3"/>
          <a:stretch>
            <a:fillRect/>
          </a:stretch>
        </p:blipFill>
        <p:spPr>
          <a:xfrm>
            <a:off x="6901881" y="1521299"/>
            <a:ext cx="4864100" cy="4876800"/>
          </a:xfrm>
          <a:prstGeom prst="rect">
            <a:avLst/>
          </a:prstGeom>
        </p:spPr>
      </p:pic>
      <p:sp>
        <p:nvSpPr>
          <p:cNvPr id="10" name="TextBox 9">
            <a:extLst>
              <a:ext uri="{FF2B5EF4-FFF2-40B4-BE49-F238E27FC236}">
                <a16:creationId xmlns:a16="http://schemas.microsoft.com/office/drawing/2014/main" id="{2282A0ED-F929-71C5-5C20-E544C22B714B}"/>
              </a:ext>
            </a:extLst>
          </p:cNvPr>
          <p:cNvSpPr txBox="1"/>
          <p:nvPr/>
        </p:nvSpPr>
        <p:spPr>
          <a:xfrm>
            <a:off x="845556" y="3066129"/>
            <a:ext cx="2224142" cy="923330"/>
          </a:xfrm>
          <a:prstGeom prst="rect">
            <a:avLst/>
          </a:prstGeom>
          <a:noFill/>
        </p:spPr>
        <p:txBody>
          <a:bodyPr wrap="square">
            <a:spAutoFit/>
          </a:bodyPr>
          <a:lstStyle/>
          <a:p>
            <a:r>
              <a:rPr lang="zh-CN" altLang="en-US" dirty="0">
                <a:sym typeface="+mn-ea"/>
              </a:rPr>
              <a:t>该方法应返回</a:t>
            </a:r>
            <a:r>
              <a:rPr lang="zh-CN" altLang="en-US" dirty="0">
                <a:solidFill>
                  <a:srgbClr val="0432FF"/>
                </a:solidFill>
                <a:sym typeface="+mn-ea"/>
              </a:rPr>
              <a:t>True</a:t>
            </a:r>
            <a:r>
              <a:rPr lang="zh-CN" altLang="en-US" dirty="0">
                <a:sym typeface="+mn-ea"/>
              </a:rPr>
              <a:t>或</a:t>
            </a:r>
            <a:r>
              <a:rPr lang="zh-CN" altLang="en-US" dirty="0">
                <a:solidFill>
                  <a:srgbClr val="0432FF"/>
                </a:solidFill>
                <a:sym typeface="+mn-ea"/>
              </a:rPr>
              <a:t>False</a:t>
            </a:r>
            <a:r>
              <a:rPr lang="zh-CN" altLang="en-US" dirty="0">
                <a:sym typeface="+mn-ea"/>
              </a:rPr>
              <a:t>（或其整数等效值1或0</a:t>
            </a:r>
            <a:r>
              <a:rPr lang="zh-CN" spc="70" dirty="0">
                <a:ln w="3175" cap="flat" cmpd="sng">
                  <a:solidFill>
                    <a:srgbClr val="514843">
                      <a:alpha val="100000"/>
                    </a:srgbClr>
                  </a:solidFill>
                  <a:prstDash val="solid"/>
                  <a:miter lim="0"/>
                </a:ln>
                <a:solidFill>
                  <a:srgbClr val="514843">
                    <a:alpha val="100000"/>
                  </a:srgbClr>
                </a:solidFill>
                <a:latin typeface="微软雅黑" panose="020B0503020204020204" charset="-122"/>
                <a:ea typeface="微软雅黑" panose="020B0503020204020204" charset="-122"/>
                <a:cs typeface="微软雅黑" panose="020B0503020204020204" charset="-122"/>
                <a:sym typeface="+mn-ea"/>
              </a:rPr>
              <a:t>）</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b="1" dirty="0"/>
              <a:t>7.5.2</a:t>
            </a:r>
            <a:r>
              <a:rPr lang="en-US" altLang="zh-CN" b="1" dirty="0"/>
              <a:t> </a:t>
            </a:r>
            <a:r>
              <a:rPr lang="zh-CN" altLang="en-US" b="1" dirty="0">
                <a:sym typeface="+mn-ea"/>
              </a:rPr>
              <a:t>字符串表示方法</a:t>
            </a:r>
            <a:endParaRPr lang="en-US" b="1" dirty="0"/>
          </a:p>
        </p:txBody>
      </p:sp>
      <p:sp>
        <p:nvSpPr>
          <p:cNvPr id="4" name="文本框 3"/>
          <p:cNvSpPr txBox="1"/>
          <p:nvPr/>
        </p:nvSpPr>
        <p:spPr>
          <a:xfrm>
            <a:off x="927749" y="1480661"/>
            <a:ext cx="9896776" cy="400110"/>
          </a:xfrm>
          <a:prstGeom prst="rect">
            <a:avLst/>
          </a:prstGeom>
          <a:noFill/>
        </p:spPr>
        <p:txBody>
          <a:bodyPr wrap="square" rtlCol="0">
            <a:spAutoFit/>
          </a:bodyPr>
          <a:lstStyle/>
          <a:p>
            <a:r>
              <a:rPr lang="zh-CN" altLang="en-US" sz="2000" dirty="0">
                <a:solidFill>
                  <a:srgbClr val="C00000"/>
                </a:solidFill>
              </a:rPr>
              <a:t>（</a:t>
            </a:r>
            <a:r>
              <a:rPr lang="en-US" altLang="zh-CN" sz="2000" dirty="0">
                <a:solidFill>
                  <a:srgbClr val="C00000"/>
                </a:solidFill>
              </a:rPr>
              <a:t>5</a:t>
            </a:r>
            <a:r>
              <a:rPr lang="zh-CN" altLang="en-US" sz="2000" dirty="0">
                <a:solidFill>
                  <a:srgbClr val="C00000"/>
                </a:solidFill>
              </a:rPr>
              <a:t>）</a:t>
            </a:r>
            <a:r>
              <a:rPr lang="en-US" sz="2000" b="0" i="0" dirty="0">
                <a:solidFill>
                  <a:srgbClr val="C00000"/>
                </a:solidFill>
                <a:effectLst/>
                <a:latin typeface="Menlo" panose="020B0609030804020204" pitchFamily="49" charset="0"/>
              </a:rPr>
              <a:t> __hash__(self)</a:t>
            </a:r>
            <a:endParaRPr lang="zh-CN" altLang="en-US" sz="2000" dirty="0">
              <a:solidFill>
                <a:srgbClr val="C00000"/>
              </a:solidFill>
            </a:endParaRPr>
          </a:p>
        </p:txBody>
      </p:sp>
      <p:sp>
        <p:nvSpPr>
          <p:cNvPr id="9" name="矩形 8"/>
          <p:cNvSpPr/>
          <p:nvPr/>
        </p:nvSpPr>
        <p:spPr>
          <a:xfrm>
            <a:off x="1104900" y="2254885"/>
            <a:ext cx="4319784" cy="1882823"/>
          </a:xfrm>
          <a:prstGeom prst="rect">
            <a:avLst/>
          </a:prstGeom>
        </p:spPr>
        <p:txBody>
          <a:bodyPr wrap="square">
            <a:spAutoFit/>
          </a:bodyPr>
          <a:lstStyle/>
          <a:p>
            <a:pPr marL="12700" algn="l" rtl="0" eaLnBrk="0">
              <a:lnSpc>
                <a:spcPct val="150000"/>
              </a:lnSpc>
              <a:spcBef>
                <a:spcPts val="0"/>
              </a:spcBef>
            </a:pPr>
            <a:r>
              <a:rPr lang="zh-CN" altLang="en-US" sz="2000" dirty="0">
                <a:sym typeface="+mn-ea"/>
              </a:rPr>
              <a:t>由Python的内置</a:t>
            </a:r>
            <a:r>
              <a:rPr lang="zh-CN" altLang="en-US" sz="2000" dirty="0">
                <a:solidFill>
                  <a:srgbClr val="C00000"/>
                </a:solidFill>
                <a:sym typeface="+mn-ea"/>
              </a:rPr>
              <a:t>hash()</a:t>
            </a:r>
            <a:r>
              <a:rPr lang="zh-CN" altLang="en-US" sz="2000" dirty="0">
                <a:sym typeface="+mn-ea"/>
              </a:rPr>
              <a:t>函数和哈希集合成员的操作调用。</a:t>
            </a:r>
            <a:endParaRPr lang="en-US" altLang="zh-CN" sz="2000" dirty="0">
              <a:sym typeface="+mn-ea"/>
            </a:endParaRPr>
          </a:p>
          <a:p>
            <a:pPr marL="12700" algn="l" rtl="0" eaLnBrk="0">
              <a:lnSpc>
                <a:spcPct val="150000"/>
              </a:lnSpc>
              <a:spcBef>
                <a:spcPts val="0"/>
              </a:spcBef>
            </a:pPr>
            <a:endParaRPr lang="en-US" altLang="zh-CN" sz="2000" dirty="0">
              <a:sym typeface="+mn-ea"/>
            </a:endParaRPr>
          </a:p>
          <a:p>
            <a:pPr marL="12700" algn="l" rtl="0" eaLnBrk="0">
              <a:lnSpc>
                <a:spcPct val="150000"/>
              </a:lnSpc>
              <a:spcBef>
                <a:spcPts val="0"/>
              </a:spcBef>
            </a:pPr>
            <a:r>
              <a:rPr lang="zh-CN" altLang="en-US" sz="2000" dirty="0">
                <a:sym typeface="+mn-ea"/>
              </a:rPr>
              <a:t>该方法应返回一个整数。</a:t>
            </a:r>
            <a:endParaRPr lang="en-US" altLang="zh-CN" sz="2000" dirty="0">
              <a:sym typeface="+mn-ea"/>
            </a:endParaRPr>
          </a:p>
        </p:txBody>
      </p:sp>
      <p:pic>
        <p:nvPicPr>
          <p:cNvPr id="2" name="Picture 1">
            <a:extLst>
              <a:ext uri="{FF2B5EF4-FFF2-40B4-BE49-F238E27FC236}">
                <a16:creationId xmlns:a16="http://schemas.microsoft.com/office/drawing/2014/main" id="{EAAA55F1-1966-C641-F0A7-1BB590819B9F}"/>
              </a:ext>
            </a:extLst>
          </p:cNvPr>
          <p:cNvPicPr>
            <a:picLocks noChangeAspect="1"/>
          </p:cNvPicPr>
          <p:nvPr/>
        </p:nvPicPr>
        <p:blipFill>
          <a:blip r:embed="rId2"/>
          <a:stretch>
            <a:fillRect/>
          </a:stretch>
        </p:blipFill>
        <p:spPr>
          <a:xfrm>
            <a:off x="5424684" y="76200"/>
            <a:ext cx="4178300" cy="64897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7517" y="2750961"/>
            <a:ext cx="10071099" cy="1684150"/>
          </a:xfrm>
        </p:spPr>
        <p:txBody>
          <a:bodyPr/>
          <a:lstStyle/>
          <a:p>
            <a:r>
              <a:rPr lang="en-US" b="1" dirty="0"/>
              <a:t>7.5.3 </a:t>
            </a:r>
            <a:r>
              <a:rPr lang="zh-CN" spc="-120" dirty="0">
                <a:ln w="4912" cap="flat" cmpd="sng">
                  <a:solidFill>
                    <a:srgbClr val="FFFFFF">
                      <a:alpha val="100000"/>
                    </a:srgbClr>
                  </a:solidFill>
                  <a:prstDash val="solid"/>
                  <a:miter lim="10"/>
                </a:ln>
                <a:solidFill>
                  <a:srgbClr val="FFFFFF">
                    <a:alpha val="100000"/>
                  </a:srgbClr>
                </a:solidFill>
                <a:latin typeface="宋体" panose="02010600030101010101" pitchFamily="2" charset="-122"/>
                <a:ea typeface="宋体" panose="02010600030101010101" pitchFamily="2" charset="-122"/>
                <a:cs typeface="宋体" panose="02010600030101010101" pitchFamily="2" charset="-122"/>
                <a:sym typeface="+mn-ea"/>
              </a:rPr>
              <a:t>数学魔法方法</a:t>
            </a:r>
            <a:endParaRPr lang="en-US"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b="1" dirty="0"/>
              <a:t>7.5.3</a:t>
            </a:r>
            <a:r>
              <a:rPr lang="en-US" altLang="zh-CN" b="1" dirty="0"/>
              <a:t> </a:t>
            </a:r>
            <a:r>
              <a:rPr lang="zh-CN" altLang="en-US" b="1" dirty="0"/>
              <a:t>数学魔法方法</a:t>
            </a:r>
          </a:p>
        </p:txBody>
      </p:sp>
      <p:sp>
        <p:nvSpPr>
          <p:cNvPr id="9" name="矩形 8"/>
          <p:cNvSpPr/>
          <p:nvPr/>
        </p:nvSpPr>
        <p:spPr>
          <a:xfrm>
            <a:off x="1351313" y="1388355"/>
            <a:ext cx="9734269" cy="1015663"/>
          </a:xfrm>
          <a:prstGeom prst="rect">
            <a:avLst/>
          </a:prstGeom>
        </p:spPr>
        <p:txBody>
          <a:bodyPr wrap="square">
            <a:spAutoFit/>
          </a:bodyPr>
          <a:lstStyle/>
          <a:p>
            <a:pPr marL="12700" algn="l" rtl="0" eaLnBrk="0">
              <a:spcBef>
                <a:spcPts val="0"/>
              </a:spcBef>
              <a:buClrTx/>
              <a:buSzTx/>
              <a:buFontTx/>
            </a:pPr>
            <a:r>
              <a:rPr lang="zh-CN" altLang="en-US" sz="2000" dirty="0">
                <a:sym typeface="+mn-ea"/>
              </a:rPr>
              <a:t>Python的另一个魔法方法类别是</a:t>
            </a:r>
            <a:r>
              <a:rPr lang="zh-CN" altLang="en-US" sz="2000" dirty="0">
                <a:solidFill>
                  <a:srgbClr val="C00000"/>
                </a:solidFill>
                <a:sym typeface="+mn-ea"/>
              </a:rPr>
              <a:t>数学魔法方法</a:t>
            </a:r>
            <a:r>
              <a:rPr lang="zh-CN" altLang="en-US" sz="2000" dirty="0">
                <a:sym typeface="+mn-ea"/>
              </a:rPr>
              <a:t>（也称为</a:t>
            </a:r>
            <a:r>
              <a:rPr lang="zh-CN" altLang="en-US" sz="2000" dirty="0">
                <a:solidFill>
                  <a:srgbClr val="C00000"/>
                </a:solidFill>
                <a:sym typeface="+mn-ea"/>
              </a:rPr>
              <a:t>普通算术运算符</a:t>
            </a:r>
            <a:r>
              <a:rPr lang="zh-CN" altLang="en-US" sz="2000" dirty="0">
                <a:sym typeface="+mn-ea"/>
              </a:rPr>
              <a:t>）。表达式是使用我们称为“</a:t>
            </a:r>
            <a:r>
              <a:rPr lang="zh-CN" altLang="en-US" sz="2000" dirty="0">
                <a:solidFill>
                  <a:srgbClr val="0432FF"/>
                </a:solidFill>
                <a:sym typeface="+mn-ea"/>
              </a:rPr>
              <a:t>运算符</a:t>
            </a:r>
            <a:r>
              <a:rPr lang="zh-CN" altLang="en-US" sz="2000" dirty="0">
                <a:sym typeface="+mn-ea"/>
              </a:rPr>
              <a:t>”的特殊符号创建的。 在表达式中使用这样的运算符涉及创建具有数学魔法方法的对象。不遵守此规则将引发TypeError。）</a:t>
            </a:r>
          </a:p>
        </p:txBody>
      </p:sp>
      <p:pic>
        <p:nvPicPr>
          <p:cNvPr id="4" name="Picture 3">
            <a:extLst>
              <a:ext uri="{FF2B5EF4-FFF2-40B4-BE49-F238E27FC236}">
                <a16:creationId xmlns:a16="http://schemas.microsoft.com/office/drawing/2014/main" id="{1C4F45C4-A502-67BE-5006-A9665BD6B8C8}"/>
              </a:ext>
            </a:extLst>
          </p:cNvPr>
          <p:cNvPicPr>
            <a:picLocks noChangeAspect="1"/>
          </p:cNvPicPr>
          <p:nvPr/>
        </p:nvPicPr>
        <p:blipFill>
          <a:blip r:embed="rId2"/>
          <a:stretch>
            <a:fillRect/>
          </a:stretch>
        </p:blipFill>
        <p:spPr>
          <a:xfrm>
            <a:off x="1999594" y="2464677"/>
            <a:ext cx="7772400" cy="3651687"/>
          </a:xfrm>
          <a:prstGeom prst="rect">
            <a:avLst/>
          </a:prstGeom>
          <a:effectLst>
            <a:outerShdw blurRad="63500" sx="102000" sy="102000" algn="ctr"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b="1" dirty="0"/>
              <a:t>7.5.3</a:t>
            </a:r>
            <a:r>
              <a:rPr lang="en-US" altLang="zh-CN" b="1" dirty="0"/>
              <a:t> </a:t>
            </a:r>
            <a:r>
              <a:rPr lang="zh-CN" altLang="en-US" b="1" dirty="0"/>
              <a:t>数学魔法方法</a:t>
            </a:r>
          </a:p>
        </p:txBody>
      </p:sp>
      <p:sp>
        <p:nvSpPr>
          <p:cNvPr id="9" name="矩形 8"/>
          <p:cNvSpPr/>
          <p:nvPr/>
        </p:nvSpPr>
        <p:spPr>
          <a:xfrm>
            <a:off x="599933" y="1727437"/>
            <a:ext cx="3494396" cy="4197688"/>
          </a:xfrm>
          <a:prstGeom prst="rect">
            <a:avLst/>
          </a:prstGeom>
        </p:spPr>
        <p:txBody>
          <a:bodyPr wrap="square">
            <a:spAutoFit/>
          </a:bodyPr>
          <a:lstStyle/>
          <a:p>
            <a:pPr marL="12700" algn="l" rtl="0" eaLnBrk="0">
              <a:lnSpc>
                <a:spcPct val="150000"/>
              </a:lnSpc>
              <a:spcBef>
                <a:spcPts val="0"/>
              </a:spcBef>
              <a:buClrTx/>
              <a:buSzTx/>
              <a:buFontTx/>
            </a:pPr>
            <a:r>
              <a:rPr lang="zh-CN" altLang="en-US" dirty="0">
                <a:sym typeface="+mn-ea"/>
              </a:rPr>
              <a:t>在上面的代码中，我们尝试创建类Numbers的多个实例并将它们加在一起，正如预期的那样引发了错误。</a:t>
            </a:r>
            <a:endParaRPr lang="en-US" altLang="zh-CN" dirty="0">
              <a:sym typeface="+mn-ea"/>
            </a:endParaRPr>
          </a:p>
          <a:p>
            <a:pPr marL="12700" algn="l" rtl="0" eaLnBrk="0">
              <a:lnSpc>
                <a:spcPct val="150000"/>
              </a:lnSpc>
              <a:spcBef>
                <a:spcPts val="0"/>
              </a:spcBef>
              <a:buClrTx/>
              <a:buSzTx/>
              <a:buFontTx/>
            </a:pPr>
            <a:endParaRPr lang="en-US" altLang="zh-CN" dirty="0">
              <a:sym typeface="+mn-ea"/>
            </a:endParaRPr>
          </a:p>
          <a:p>
            <a:pPr marL="12700" algn="l" rtl="0" eaLnBrk="0">
              <a:lnSpc>
                <a:spcPct val="150000"/>
              </a:lnSpc>
              <a:spcBef>
                <a:spcPts val="0"/>
              </a:spcBef>
              <a:buClrTx/>
              <a:buSzTx/>
              <a:buFontTx/>
            </a:pPr>
            <a:r>
              <a:rPr lang="zh-CN" altLang="en-US" dirty="0">
                <a:sym typeface="+mn-ea"/>
              </a:rPr>
              <a:t>解决此错误的一种方法是在我们的类中创建一个方法来将数字加在一起，但这会阻止我们创建表达式。更好的解决方案是实现 </a:t>
            </a:r>
            <a:r>
              <a:rPr lang="en-US" b="0" i="0" dirty="0">
                <a:solidFill>
                  <a:srgbClr val="C00000"/>
                </a:solidFill>
                <a:effectLst/>
                <a:latin typeface="Menlo" panose="020B0609030804020204" pitchFamily="49" charset="0"/>
              </a:rPr>
              <a:t>__add__</a:t>
            </a:r>
            <a:r>
              <a:rPr lang="zh-CN" altLang="en-US" dirty="0">
                <a:solidFill>
                  <a:srgbClr val="C00000"/>
                </a:solidFill>
                <a:sym typeface="+mn-ea"/>
              </a:rPr>
              <a:t> </a:t>
            </a:r>
            <a:r>
              <a:rPr lang="zh-CN" altLang="en-US" dirty="0">
                <a:sym typeface="+mn-ea"/>
              </a:rPr>
              <a:t>魔术方法，如下所示：</a:t>
            </a:r>
          </a:p>
        </p:txBody>
      </p:sp>
      <p:pic>
        <p:nvPicPr>
          <p:cNvPr id="2" name="Picture 1">
            <a:extLst>
              <a:ext uri="{FF2B5EF4-FFF2-40B4-BE49-F238E27FC236}">
                <a16:creationId xmlns:a16="http://schemas.microsoft.com/office/drawing/2014/main" id="{CE2F910D-8094-A7D7-9C8A-C98CE63C8219}"/>
              </a:ext>
            </a:extLst>
          </p:cNvPr>
          <p:cNvPicPr>
            <a:picLocks noChangeAspect="1"/>
          </p:cNvPicPr>
          <p:nvPr/>
        </p:nvPicPr>
        <p:blipFill>
          <a:blip r:embed="rId2"/>
          <a:stretch>
            <a:fillRect/>
          </a:stretch>
        </p:blipFill>
        <p:spPr>
          <a:xfrm>
            <a:off x="4261005" y="908458"/>
            <a:ext cx="7331062" cy="5396807"/>
          </a:xfrm>
          <a:prstGeom prst="rect">
            <a:avLst/>
          </a:prstGeom>
          <a:effectLst>
            <a:outerShdw blurRad="63500" sx="102000" sy="102000" algn="ctr"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b="1" dirty="0"/>
              <a:t>7.5.3</a:t>
            </a:r>
            <a:r>
              <a:rPr lang="en-US" altLang="zh-CN" b="1" dirty="0"/>
              <a:t> </a:t>
            </a:r>
            <a:r>
              <a:rPr lang="zh-CN" altLang="en-US" b="1" dirty="0"/>
              <a:t>数学魔法方法</a:t>
            </a:r>
          </a:p>
        </p:txBody>
      </p:sp>
      <p:sp>
        <p:nvSpPr>
          <p:cNvPr id="9" name="矩形 8"/>
          <p:cNvSpPr/>
          <p:nvPr/>
        </p:nvSpPr>
        <p:spPr>
          <a:xfrm>
            <a:off x="750058" y="2085216"/>
            <a:ext cx="3695700" cy="2534796"/>
          </a:xfrm>
          <a:prstGeom prst="rect">
            <a:avLst/>
          </a:prstGeom>
        </p:spPr>
        <p:txBody>
          <a:bodyPr wrap="square">
            <a:spAutoFit/>
          </a:bodyPr>
          <a:lstStyle/>
          <a:p>
            <a:pPr marL="12700" algn="l" rtl="0" eaLnBrk="0">
              <a:lnSpc>
                <a:spcPct val="150000"/>
              </a:lnSpc>
              <a:spcBef>
                <a:spcPts val="0"/>
              </a:spcBef>
              <a:buClrTx/>
              <a:buSzTx/>
              <a:buFontTx/>
            </a:pPr>
            <a:r>
              <a:rPr lang="zh-CN" altLang="en-US" dirty="0">
                <a:sym typeface="+mn-ea"/>
              </a:rPr>
              <a:t>之前的代码示例只允许我们将两个 Numbers 对象加在一起。</a:t>
            </a:r>
            <a:endParaRPr lang="en-US" altLang="zh-CN" dirty="0">
              <a:sym typeface="+mn-ea"/>
            </a:endParaRPr>
          </a:p>
          <a:p>
            <a:pPr marL="12700" algn="l" rtl="0" eaLnBrk="0">
              <a:lnSpc>
                <a:spcPct val="150000"/>
              </a:lnSpc>
              <a:spcBef>
                <a:spcPts val="0"/>
              </a:spcBef>
              <a:buClrTx/>
              <a:buSzTx/>
              <a:buFontTx/>
            </a:pPr>
            <a:endParaRPr lang="en-US" altLang="zh-CN" dirty="0">
              <a:sym typeface="+mn-ea"/>
            </a:endParaRPr>
          </a:p>
          <a:p>
            <a:pPr marL="12700" algn="l" rtl="0" eaLnBrk="0">
              <a:lnSpc>
                <a:spcPct val="150000"/>
              </a:lnSpc>
              <a:spcBef>
                <a:spcPts val="0"/>
              </a:spcBef>
              <a:buClrTx/>
              <a:buSzTx/>
              <a:buFontTx/>
            </a:pPr>
            <a:r>
              <a:rPr lang="zh-CN" altLang="en-US" dirty="0">
                <a:sym typeface="+mn-ea"/>
              </a:rPr>
              <a:t>让我们实现另一个数学魔法方法，允许我们将 Numbers 对象与整数相乘：</a:t>
            </a:r>
          </a:p>
        </p:txBody>
      </p:sp>
      <p:pic>
        <p:nvPicPr>
          <p:cNvPr id="2" name="Picture 1">
            <a:extLst>
              <a:ext uri="{FF2B5EF4-FFF2-40B4-BE49-F238E27FC236}">
                <a16:creationId xmlns:a16="http://schemas.microsoft.com/office/drawing/2014/main" id="{114BD629-F1A8-A95E-ED64-50C42775396E}"/>
              </a:ext>
            </a:extLst>
          </p:cNvPr>
          <p:cNvPicPr>
            <a:picLocks noChangeAspect="1"/>
          </p:cNvPicPr>
          <p:nvPr/>
        </p:nvPicPr>
        <p:blipFill>
          <a:blip r:embed="rId2"/>
          <a:stretch>
            <a:fillRect/>
          </a:stretch>
        </p:blipFill>
        <p:spPr>
          <a:xfrm>
            <a:off x="4732361" y="228600"/>
            <a:ext cx="6957885" cy="6400800"/>
          </a:xfrm>
          <a:prstGeom prst="rect">
            <a:avLst/>
          </a:prstGeom>
          <a:effectLst>
            <a:outerShdw blurRad="63500" sx="102000" sy="102000" algn="ctr"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b="1" dirty="0"/>
              <a:t>7.5.3</a:t>
            </a:r>
            <a:r>
              <a:rPr lang="en-US" altLang="zh-CN" b="1" dirty="0">
                <a:sym typeface="+mn-ea"/>
              </a:rPr>
              <a:t> </a:t>
            </a:r>
            <a:r>
              <a:rPr lang="zh-CN" altLang="en-US" b="1" dirty="0">
                <a:sym typeface="+mn-ea"/>
              </a:rPr>
              <a:t>数学魔法方法</a:t>
            </a:r>
            <a:endParaRPr lang="en-US" b="1" dirty="0"/>
          </a:p>
        </p:txBody>
      </p:sp>
      <p:sp>
        <p:nvSpPr>
          <p:cNvPr id="2" name="文本框 1"/>
          <p:cNvSpPr txBox="1"/>
          <p:nvPr/>
        </p:nvSpPr>
        <p:spPr>
          <a:xfrm>
            <a:off x="1029184" y="1546860"/>
            <a:ext cx="9896776" cy="706755"/>
          </a:xfrm>
          <a:prstGeom prst="rect">
            <a:avLst/>
          </a:prstGeom>
          <a:noFill/>
        </p:spPr>
        <p:txBody>
          <a:bodyPr wrap="square" rtlCol="0">
            <a:spAutoFit/>
          </a:bodyPr>
          <a:lstStyle/>
          <a:p>
            <a:pPr algn="l">
              <a:buClrTx/>
              <a:buSzTx/>
              <a:buFontTx/>
            </a:pPr>
            <a:r>
              <a:rPr lang="zh-CN" altLang="en-US" sz="2000" dirty="0">
                <a:solidFill>
                  <a:srgbClr val="C00000"/>
                </a:solidFill>
              </a:rPr>
              <a:t>（</a:t>
            </a:r>
            <a:r>
              <a:rPr lang="en-US" altLang="zh-CN" sz="2000" dirty="0">
                <a:solidFill>
                  <a:srgbClr val="C00000"/>
                </a:solidFill>
              </a:rPr>
              <a:t>1</a:t>
            </a:r>
            <a:r>
              <a:rPr lang="zh-CN" altLang="en-US" sz="2000" dirty="0">
                <a:solidFill>
                  <a:srgbClr val="C00000"/>
                </a:solidFill>
              </a:rPr>
              <a:t>）</a:t>
            </a:r>
            <a:r>
              <a:rPr lang="zh-CN" altLang="en-US" sz="2000" dirty="0">
                <a:solidFill>
                  <a:srgbClr val="C00000"/>
                </a:solidFill>
                <a:sym typeface="+mn-ea"/>
              </a:rPr>
              <a:t>Python抛出一种错误类型</a:t>
            </a:r>
            <a:endParaRPr lang="zh-CN" altLang="en-US" sz="2000" dirty="0">
              <a:solidFill>
                <a:srgbClr val="C00000"/>
              </a:solidFill>
            </a:endParaRPr>
          </a:p>
          <a:p>
            <a:endParaRPr lang="zh-CN" altLang="en-US" sz="2000" dirty="0">
              <a:solidFill>
                <a:srgbClr val="C00000"/>
              </a:solidFill>
            </a:endParaRPr>
          </a:p>
        </p:txBody>
      </p:sp>
      <p:sp>
        <p:nvSpPr>
          <p:cNvPr id="4" name="文本框 3"/>
          <p:cNvSpPr txBox="1"/>
          <p:nvPr/>
        </p:nvSpPr>
        <p:spPr>
          <a:xfrm>
            <a:off x="1104900" y="4239518"/>
            <a:ext cx="9745345" cy="959493"/>
          </a:xfrm>
          <a:prstGeom prst="rect">
            <a:avLst/>
          </a:prstGeom>
          <a:noFill/>
        </p:spPr>
        <p:txBody>
          <a:bodyPr wrap="square" rtlCol="0">
            <a:spAutoFit/>
          </a:bodyPr>
          <a:lstStyle/>
          <a:p>
            <a:pPr algn="l">
              <a:lnSpc>
                <a:spcPct val="150000"/>
              </a:lnSpc>
              <a:buClrTx/>
              <a:buSzTx/>
              <a:buFontTx/>
            </a:pPr>
            <a:r>
              <a:rPr lang="zh-CN" altLang="en-US" sz="2000" dirty="0">
                <a:sym typeface="+mn-ea"/>
              </a:rPr>
              <a:t>我们实现的</a:t>
            </a:r>
            <a:r>
              <a:rPr lang="en-US" sz="2000" b="0" i="0" dirty="0">
                <a:solidFill>
                  <a:srgbClr val="C00000"/>
                </a:solidFill>
                <a:effectLst/>
                <a:latin typeface="system-ui"/>
              </a:rPr>
              <a:t>__</a:t>
            </a:r>
            <a:r>
              <a:rPr lang="en-US" sz="2000" b="0" i="0" dirty="0" err="1">
                <a:solidFill>
                  <a:srgbClr val="C00000"/>
                </a:solidFill>
                <a:effectLst/>
                <a:latin typeface="system-ui"/>
              </a:rPr>
              <a:t>mul</a:t>
            </a:r>
            <a:r>
              <a:rPr lang="en-US" sz="2000" b="0" i="0" dirty="0">
                <a:solidFill>
                  <a:srgbClr val="C00000"/>
                </a:solidFill>
                <a:effectLst/>
                <a:latin typeface="system-ui"/>
              </a:rPr>
              <a:t>__ </a:t>
            </a:r>
            <a:r>
              <a:rPr lang="zh-CN" altLang="en-US" sz="2000" dirty="0">
                <a:sym typeface="+mn-ea"/>
              </a:rPr>
              <a:t>魔术方法只考虑了当 Numbers 对象位于</a:t>
            </a:r>
            <a:r>
              <a:rPr lang="zh-CN" altLang="en-US" sz="2000" dirty="0">
                <a:solidFill>
                  <a:srgbClr val="C00000"/>
                </a:solidFill>
                <a:sym typeface="+mn-ea"/>
              </a:rPr>
              <a:t> * </a:t>
            </a:r>
            <a:r>
              <a:rPr lang="zh-CN" altLang="en-US" sz="2000" dirty="0">
                <a:sym typeface="+mn-ea"/>
              </a:rPr>
              <a:t>运算符的左侧时的情况。要扩展此功能，我们必须添加反向魔术方法</a:t>
            </a:r>
            <a:r>
              <a:rPr lang="en-US" sz="2000" b="0" i="0" dirty="0">
                <a:effectLst/>
                <a:latin typeface="system-ui"/>
              </a:rPr>
              <a:t> </a:t>
            </a:r>
            <a:r>
              <a:rPr lang="en-US" sz="2000" b="0" i="0" dirty="0">
                <a:solidFill>
                  <a:srgbClr val="C00000"/>
                </a:solidFill>
                <a:effectLst/>
                <a:latin typeface="system-ui"/>
              </a:rPr>
              <a:t>__</a:t>
            </a:r>
            <a:r>
              <a:rPr lang="en-US" sz="2000" b="0" i="0" dirty="0" err="1">
                <a:solidFill>
                  <a:srgbClr val="C00000"/>
                </a:solidFill>
                <a:effectLst/>
                <a:latin typeface="system-ui"/>
              </a:rPr>
              <a:t>rmul</a:t>
            </a:r>
            <a:r>
              <a:rPr lang="en-US" sz="2000" b="0" i="0" dirty="0">
                <a:solidFill>
                  <a:srgbClr val="C00000"/>
                </a:solidFill>
                <a:effectLst/>
                <a:latin typeface="system-ui"/>
              </a:rPr>
              <a:t>__ </a:t>
            </a:r>
            <a:r>
              <a:rPr lang="zh-CN" altLang="en-US" sz="2000" dirty="0">
                <a:sym typeface="+mn-ea"/>
              </a:rPr>
              <a:t>。</a:t>
            </a:r>
            <a:endParaRPr lang="zh-CN" altLang="en-US" sz="2000" dirty="0"/>
          </a:p>
        </p:txBody>
      </p:sp>
      <p:pic>
        <p:nvPicPr>
          <p:cNvPr id="7" name="Picture 6">
            <a:extLst>
              <a:ext uri="{FF2B5EF4-FFF2-40B4-BE49-F238E27FC236}">
                <a16:creationId xmlns:a16="http://schemas.microsoft.com/office/drawing/2014/main" id="{06F4FBF0-60DB-8B92-8F76-DF91F97D4E94}"/>
              </a:ext>
            </a:extLst>
          </p:cNvPr>
          <p:cNvPicPr>
            <a:picLocks noChangeAspect="1"/>
          </p:cNvPicPr>
          <p:nvPr/>
        </p:nvPicPr>
        <p:blipFill>
          <a:blip r:embed="rId2"/>
          <a:stretch>
            <a:fillRect/>
          </a:stretch>
        </p:blipFill>
        <p:spPr>
          <a:xfrm>
            <a:off x="1549043" y="2253615"/>
            <a:ext cx="7429500" cy="1663700"/>
          </a:xfrm>
          <a:prstGeom prst="rect">
            <a:avLst/>
          </a:prstGeom>
          <a:effectLst>
            <a:outerShdw blurRad="63500" sx="102000" sy="102000" algn="ctr"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b="1" dirty="0"/>
              <a:t>7.5.3</a:t>
            </a:r>
            <a:r>
              <a:rPr lang="en-US" altLang="zh-CN" b="1" dirty="0">
                <a:sym typeface="+mn-ea"/>
              </a:rPr>
              <a:t> </a:t>
            </a:r>
            <a:r>
              <a:rPr lang="zh-CN" altLang="en-US" b="1" dirty="0">
                <a:sym typeface="+mn-ea"/>
              </a:rPr>
              <a:t>数学魔法方法</a:t>
            </a:r>
            <a:endParaRPr lang="en-US" b="1" dirty="0"/>
          </a:p>
        </p:txBody>
      </p:sp>
      <p:pic>
        <p:nvPicPr>
          <p:cNvPr id="2" name="Picture 1">
            <a:extLst>
              <a:ext uri="{FF2B5EF4-FFF2-40B4-BE49-F238E27FC236}">
                <a16:creationId xmlns:a16="http://schemas.microsoft.com/office/drawing/2014/main" id="{DC1593A1-EEED-DB6E-98D8-D229560256C6}"/>
              </a:ext>
            </a:extLst>
          </p:cNvPr>
          <p:cNvPicPr>
            <a:picLocks noChangeAspect="1"/>
          </p:cNvPicPr>
          <p:nvPr/>
        </p:nvPicPr>
        <p:blipFill>
          <a:blip r:embed="rId2"/>
          <a:stretch>
            <a:fillRect/>
          </a:stretch>
        </p:blipFill>
        <p:spPr>
          <a:xfrm>
            <a:off x="3948182" y="371868"/>
            <a:ext cx="7137400" cy="6299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5B42A-09A1-A835-302E-B2403BA41D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3E04BE-8490-043B-C2B0-5E78D4E85C4B}"/>
              </a:ext>
            </a:extLst>
          </p:cNvPr>
          <p:cNvSpPr>
            <a:spLocks noGrp="1"/>
          </p:cNvSpPr>
          <p:nvPr>
            <p:ph type="title"/>
          </p:nvPr>
        </p:nvSpPr>
        <p:spPr/>
        <p:txBody>
          <a:bodyPr/>
          <a:lstStyle/>
          <a:p>
            <a:r>
              <a:rPr lang="zh-CN" altLang="en-US" b="1" i="0" dirty="0">
                <a:solidFill>
                  <a:srgbClr val="262625"/>
                </a:solidFill>
                <a:effectLst/>
                <a:latin typeface="Times New Roman" panose="02020603050405020304" pitchFamily="18" charset="0"/>
              </a:rPr>
              <a:t>容器操作方法</a:t>
            </a:r>
            <a:endParaRPr kumimoji="1" lang="zh-CN" altLang="en-US" dirty="0"/>
          </a:p>
        </p:txBody>
      </p:sp>
      <p:pic>
        <p:nvPicPr>
          <p:cNvPr id="3" name="Picture 2">
            <a:extLst>
              <a:ext uri="{FF2B5EF4-FFF2-40B4-BE49-F238E27FC236}">
                <a16:creationId xmlns:a16="http://schemas.microsoft.com/office/drawing/2014/main" id="{7C3D3C45-840C-A532-69ED-8C036AE4A792}"/>
              </a:ext>
            </a:extLst>
          </p:cNvPr>
          <p:cNvPicPr>
            <a:picLocks noChangeAspect="1"/>
          </p:cNvPicPr>
          <p:nvPr/>
        </p:nvPicPr>
        <p:blipFill>
          <a:blip r:embed="rId2"/>
          <a:stretch>
            <a:fillRect/>
          </a:stretch>
        </p:blipFill>
        <p:spPr>
          <a:xfrm>
            <a:off x="1083814" y="2055994"/>
            <a:ext cx="4677323" cy="1813065"/>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3FBC27DE-FBE0-3125-407B-215C0DE45631}"/>
              </a:ext>
            </a:extLst>
          </p:cNvPr>
          <p:cNvPicPr>
            <a:picLocks noChangeAspect="1"/>
          </p:cNvPicPr>
          <p:nvPr/>
        </p:nvPicPr>
        <p:blipFill>
          <a:blip r:embed="rId3"/>
          <a:stretch>
            <a:fillRect/>
          </a:stretch>
        </p:blipFill>
        <p:spPr>
          <a:xfrm>
            <a:off x="1083814" y="4245508"/>
            <a:ext cx="3811967" cy="1458661"/>
          </a:xfrm>
          <a:prstGeom prst="rect">
            <a:avLst/>
          </a:prstGeom>
          <a:effectLst>
            <a:outerShdw blurRad="63500" sx="102000" sy="102000" algn="ctr" rotWithShape="0">
              <a:prstClr val="black">
                <a:alpha val="40000"/>
              </a:prstClr>
            </a:outerShdw>
          </a:effectLst>
        </p:spPr>
      </p:pic>
      <p:pic>
        <p:nvPicPr>
          <p:cNvPr id="8" name="Picture 7">
            <a:extLst>
              <a:ext uri="{FF2B5EF4-FFF2-40B4-BE49-F238E27FC236}">
                <a16:creationId xmlns:a16="http://schemas.microsoft.com/office/drawing/2014/main" id="{47B62B76-7D24-E5E4-76E8-2D63D101B903}"/>
              </a:ext>
            </a:extLst>
          </p:cNvPr>
          <p:cNvPicPr>
            <a:picLocks noChangeAspect="1"/>
          </p:cNvPicPr>
          <p:nvPr/>
        </p:nvPicPr>
        <p:blipFill>
          <a:blip r:embed="rId4"/>
          <a:stretch>
            <a:fillRect/>
          </a:stretch>
        </p:blipFill>
        <p:spPr>
          <a:xfrm>
            <a:off x="6121316" y="937662"/>
            <a:ext cx="4097257" cy="1458661"/>
          </a:xfrm>
          <a:prstGeom prst="rect">
            <a:avLst/>
          </a:prstGeom>
          <a:effectLst>
            <a:outerShdw blurRad="63500" sx="102000" sy="102000" algn="ctr" rotWithShape="0">
              <a:prstClr val="black">
                <a:alpha val="40000"/>
              </a:prstClr>
            </a:outerShdw>
          </a:effectLst>
        </p:spPr>
      </p:pic>
      <p:pic>
        <p:nvPicPr>
          <p:cNvPr id="9" name="Picture 8">
            <a:extLst>
              <a:ext uri="{FF2B5EF4-FFF2-40B4-BE49-F238E27FC236}">
                <a16:creationId xmlns:a16="http://schemas.microsoft.com/office/drawing/2014/main" id="{9272187D-7781-E85C-8B44-420D569EC7CE}"/>
              </a:ext>
            </a:extLst>
          </p:cNvPr>
          <p:cNvPicPr>
            <a:picLocks noChangeAspect="1"/>
          </p:cNvPicPr>
          <p:nvPr/>
        </p:nvPicPr>
        <p:blipFill>
          <a:blip r:embed="rId5"/>
          <a:stretch>
            <a:fillRect/>
          </a:stretch>
        </p:blipFill>
        <p:spPr>
          <a:xfrm>
            <a:off x="6121316" y="2672226"/>
            <a:ext cx="4487261" cy="1486104"/>
          </a:xfrm>
          <a:prstGeom prst="rect">
            <a:avLst/>
          </a:prstGeom>
          <a:effectLst>
            <a:outerShdw blurRad="63500" sx="102000" sy="102000" algn="ctr" rotWithShape="0">
              <a:prstClr val="black">
                <a:alpha val="40000"/>
              </a:prstClr>
            </a:outerShdw>
          </a:effectLst>
        </p:spPr>
      </p:pic>
      <p:pic>
        <p:nvPicPr>
          <p:cNvPr id="10" name="Picture 9">
            <a:extLst>
              <a:ext uri="{FF2B5EF4-FFF2-40B4-BE49-F238E27FC236}">
                <a16:creationId xmlns:a16="http://schemas.microsoft.com/office/drawing/2014/main" id="{4EE99478-C32C-1931-0754-E051972B6744}"/>
              </a:ext>
            </a:extLst>
          </p:cNvPr>
          <p:cNvPicPr>
            <a:picLocks noChangeAspect="1"/>
          </p:cNvPicPr>
          <p:nvPr/>
        </p:nvPicPr>
        <p:blipFill>
          <a:blip r:embed="rId6"/>
          <a:stretch>
            <a:fillRect/>
          </a:stretch>
        </p:blipFill>
        <p:spPr>
          <a:xfrm>
            <a:off x="6121316" y="4434233"/>
            <a:ext cx="3431081" cy="1772552"/>
          </a:xfrm>
          <a:prstGeom prst="rect">
            <a:avLst/>
          </a:prstGeom>
          <a:effectLst>
            <a:outerShdw blurRad="63500" sx="102000" sy="102000" algn="ctr" rotWithShape="0">
              <a:prstClr val="black">
                <a:alpha val="40000"/>
              </a:prstClr>
            </a:outerShdw>
          </a:effectLst>
        </p:spPr>
      </p:pic>
      <p:sp>
        <p:nvSpPr>
          <p:cNvPr id="11" name="TextBox 10">
            <a:extLst>
              <a:ext uri="{FF2B5EF4-FFF2-40B4-BE49-F238E27FC236}">
                <a16:creationId xmlns:a16="http://schemas.microsoft.com/office/drawing/2014/main" id="{A6ADA3D4-C1FA-FBF0-8D0C-19EC653D8F41}"/>
              </a:ext>
            </a:extLst>
          </p:cNvPr>
          <p:cNvSpPr txBox="1"/>
          <p:nvPr/>
        </p:nvSpPr>
        <p:spPr>
          <a:xfrm>
            <a:off x="1019504" y="1453413"/>
            <a:ext cx="3416320" cy="369332"/>
          </a:xfrm>
          <a:prstGeom prst="rect">
            <a:avLst/>
          </a:prstGeom>
          <a:noFill/>
        </p:spPr>
        <p:txBody>
          <a:bodyPr wrap="none" rtlCol="0">
            <a:spAutoFit/>
          </a:bodyPr>
          <a:lstStyle/>
          <a:p>
            <a:r>
              <a:rPr kumimoji="1" lang="zh-CN" altLang="en-US" dirty="0">
                <a:solidFill>
                  <a:srgbClr val="C00000"/>
                </a:solidFill>
              </a:rPr>
              <a:t>自定义类无法进行容器类操作！</a:t>
            </a:r>
          </a:p>
        </p:txBody>
      </p:sp>
    </p:spTree>
    <p:extLst>
      <p:ext uri="{BB962C8B-B14F-4D97-AF65-F5344CB8AC3E}">
        <p14:creationId xmlns:p14="http://schemas.microsoft.com/office/powerpoint/2010/main" val="3544116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heckerboard(across)">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checkerboard(across)">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7E385-8AFB-41E8-C918-AE57B1AEC046}"/>
              </a:ext>
            </a:extLst>
          </p:cNvPr>
          <p:cNvSpPr>
            <a:spLocks noGrp="1"/>
          </p:cNvSpPr>
          <p:nvPr>
            <p:ph type="title"/>
          </p:nvPr>
        </p:nvSpPr>
        <p:spPr/>
        <p:txBody>
          <a:bodyPr/>
          <a:lstStyle/>
          <a:p>
            <a:r>
              <a:rPr lang="zh-CN" altLang="en-US" b="1" i="0" dirty="0">
                <a:solidFill>
                  <a:srgbClr val="262625"/>
                </a:solidFill>
                <a:effectLst/>
                <a:latin typeface="Times New Roman" panose="02020603050405020304" pitchFamily="18" charset="0"/>
              </a:rPr>
              <a:t>容器操作方法</a:t>
            </a:r>
            <a:endParaRPr kumimoji="1" lang="zh-CN" altLang="en-US" dirty="0"/>
          </a:p>
        </p:txBody>
      </p:sp>
      <p:sp>
        <p:nvSpPr>
          <p:cNvPr id="4" name="TextBox 3">
            <a:extLst>
              <a:ext uri="{FF2B5EF4-FFF2-40B4-BE49-F238E27FC236}">
                <a16:creationId xmlns:a16="http://schemas.microsoft.com/office/drawing/2014/main" id="{FC3CB03B-BCB7-44FB-214A-8A929C782A39}"/>
              </a:ext>
            </a:extLst>
          </p:cNvPr>
          <p:cNvSpPr txBox="1"/>
          <p:nvPr/>
        </p:nvSpPr>
        <p:spPr>
          <a:xfrm>
            <a:off x="1387365" y="1342724"/>
            <a:ext cx="8944304" cy="369332"/>
          </a:xfrm>
          <a:prstGeom prst="rect">
            <a:avLst/>
          </a:prstGeom>
          <a:noFill/>
        </p:spPr>
        <p:txBody>
          <a:bodyPr wrap="square">
            <a:spAutoFit/>
          </a:bodyPr>
          <a:lstStyle/>
          <a:p>
            <a:r>
              <a:rPr lang="zh-CN" altLang="en-US" b="0" i="0" dirty="0">
                <a:solidFill>
                  <a:srgbClr val="262625"/>
                </a:solidFill>
                <a:effectLst/>
                <a:latin typeface="Times New Roman" panose="02020603050405020304" pitchFamily="18" charset="0"/>
              </a:rPr>
              <a:t>用于自定义类的对象在容器相关操作（如索引、切片、迭代、长度计算等）中的行为，</a:t>
            </a:r>
            <a:endParaRPr lang="zh-CN" altLang="en-US" dirty="0"/>
          </a:p>
        </p:txBody>
      </p:sp>
      <p:pic>
        <p:nvPicPr>
          <p:cNvPr id="5" name="Picture 4">
            <a:extLst>
              <a:ext uri="{FF2B5EF4-FFF2-40B4-BE49-F238E27FC236}">
                <a16:creationId xmlns:a16="http://schemas.microsoft.com/office/drawing/2014/main" id="{C451091B-8199-32F3-B20C-46F03A0FD211}"/>
              </a:ext>
            </a:extLst>
          </p:cNvPr>
          <p:cNvPicPr>
            <a:picLocks noChangeAspect="1"/>
          </p:cNvPicPr>
          <p:nvPr/>
        </p:nvPicPr>
        <p:blipFill>
          <a:blip r:embed="rId2"/>
          <a:stretch>
            <a:fillRect/>
          </a:stretch>
        </p:blipFill>
        <p:spPr>
          <a:xfrm>
            <a:off x="800315" y="1881618"/>
            <a:ext cx="4686300" cy="4584700"/>
          </a:xfrm>
          <a:prstGeom prst="rect">
            <a:avLst/>
          </a:prstGeom>
          <a:effectLst>
            <a:outerShdw blurRad="63500" sx="102000" sy="102000" algn="ctr" rotWithShape="0">
              <a:prstClr val="black">
                <a:alpha val="40000"/>
              </a:prstClr>
            </a:outerShdw>
          </a:effectLst>
        </p:spPr>
      </p:pic>
      <p:pic>
        <p:nvPicPr>
          <p:cNvPr id="3" name="Picture 2">
            <a:extLst>
              <a:ext uri="{FF2B5EF4-FFF2-40B4-BE49-F238E27FC236}">
                <a16:creationId xmlns:a16="http://schemas.microsoft.com/office/drawing/2014/main" id="{0664E457-E2C6-E37E-7FC2-87D2B1F320F4}"/>
              </a:ext>
            </a:extLst>
          </p:cNvPr>
          <p:cNvPicPr>
            <a:picLocks noChangeAspect="1"/>
          </p:cNvPicPr>
          <p:nvPr/>
        </p:nvPicPr>
        <p:blipFill>
          <a:blip r:embed="rId3"/>
          <a:stretch>
            <a:fillRect/>
          </a:stretch>
        </p:blipFill>
        <p:spPr>
          <a:xfrm>
            <a:off x="5859517" y="1712056"/>
            <a:ext cx="5532168" cy="3259337"/>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36270E71-0946-B4BF-5009-A828599D1426}"/>
              </a:ext>
            </a:extLst>
          </p:cNvPr>
          <p:cNvPicPr>
            <a:picLocks noChangeAspect="1"/>
          </p:cNvPicPr>
          <p:nvPr/>
        </p:nvPicPr>
        <p:blipFill>
          <a:blip r:embed="rId4"/>
          <a:stretch>
            <a:fillRect/>
          </a:stretch>
        </p:blipFill>
        <p:spPr>
          <a:xfrm>
            <a:off x="5859517" y="5145944"/>
            <a:ext cx="3632200" cy="14605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8124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EF909-958D-3566-8D94-399328A4C5B4}"/>
              </a:ext>
            </a:extLst>
          </p:cNvPr>
          <p:cNvSpPr>
            <a:spLocks noGrp="1"/>
          </p:cNvSpPr>
          <p:nvPr>
            <p:ph type="title"/>
          </p:nvPr>
        </p:nvSpPr>
        <p:spPr/>
        <p:txBody>
          <a:bodyPr/>
          <a:lstStyle/>
          <a:p>
            <a:r>
              <a:rPr lang="zh-CN" altLang="en-US" b="1" i="0" dirty="0">
                <a:solidFill>
                  <a:srgbClr val="262625"/>
                </a:solidFill>
                <a:effectLst/>
                <a:latin typeface="Times New Roman" panose="02020603050405020304" pitchFamily="18" charset="0"/>
              </a:rPr>
              <a:t>属性访问方法</a:t>
            </a:r>
            <a:endParaRPr kumimoji="1" lang="zh-CN" altLang="en-US" dirty="0"/>
          </a:p>
        </p:txBody>
      </p:sp>
      <p:sp>
        <p:nvSpPr>
          <p:cNvPr id="4" name="TextBox 3">
            <a:extLst>
              <a:ext uri="{FF2B5EF4-FFF2-40B4-BE49-F238E27FC236}">
                <a16:creationId xmlns:a16="http://schemas.microsoft.com/office/drawing/2014/main" id="{A46E3C59-2D85-9661-2890-45C527CFFAE3}"/>
              </a:ext>
            </a:extLst>
          </p:cNvPr>
          <p:cNvSpPr txBox="1"/>
          <p:nvPr/>
        </p:nvSpPr>
        <p:spPr>
          <a:xfrm>
            <a:off x="1104900" y="1386365"/>
            <a:ext cx="8980004" cy="369332"/>
          </a:xfrm>
          <a:prstGeom prst="rect">
            <a:avLst/>
          </a:prstGeom>
          <a:noFill/>
        </p:spPr>
        <p:txBody>
          <a:bodyPr wrap="square">
            <a:spAutoFit/>
          </a:bodyPr>
          <a:lstStyle/>
          <a:p>
            <a:r>
              <a:rPr lang="zh-CN" altLang="en-US" b="0" i="0" dirty="0">
                <a:solidFill>
                  <a:srgbClr val="262625"/>
                </a:solidFill>
                <a:effectLst/>
                <a:latin typeface="Times New Roman" panose="02020603050405020304" pitchFamily="18" charset="0"/>
              </a:rPr>
              <a:t>用于自定义如何访问、设置、删除或操作对象的属性，从而实现对属性操作的精细控制。</a:t>
            </a:r>
            <a:endParaRPr lang="zh-CN" altLang="en-US" dirty="0"/>
          </a:p>
        </p:txBody>
      </p:sp>
      <p:pic>
        <p:nvPicPr>
          <p:cNvPr id="5" name="Picture 4">
            <a:extLst>
              <a:ext uri="{FF2B5EF4-FFF2-40B4-BE49-F238E27FC236}">
                <a16:creationId xmlns:a16="http://schemas.microsoft.com/office/drawing/2014/main" id="{57ACDC70-F9A6-63F0-969E-73DA8EDC5DA1}"/>
              </a:ext>
            </a:extLst>
          </p:cNvPr>
          <p:cNvPicPr>
            <a:picLocks noChangeAspect="1"/>
          </p:cNvPicPr>
          <p:nvPr/>
        </p:nvPicPr>
        <p:blipFill>
          <a:blip r:embed="rId2"/>
          <a:stretch>
            <a:fillRect/>
          </a:stretch>
        </p:blipFill>
        <p:spPr>
          <a:xfrm>
            <a:off x="675585" y="1968900"/>
            <a:ext cx="6388100" cy="3898900"/>
          </a:xfrm>
          <a:prstGeom prst="rect">
            <a:avLst/>
          </a:prstGeom>
          <a:effectLst>
            <a:outerShdw blurRad="63500" sx="102000" sy="102000" algn="ctr" rotWithShape="0">
              <a:prstClr val="black">
                <a:alpha val="40000"/>
              </a:prstClr>
            </a:outerShdw>
          </a:effectLst>
        </p:spPr>
      </p:pic>
      <p:pic>
        <p:nvPicPr>
          <p:cNvPr id="6" name="Picture 5">
            <a:extLst>
              <a:ext uri="{FF2B5EF4-FFF2-40B4-BE49-F238E27FC236}">
                <a16:creationId xmlns:a16="http://schemas.microsoft.com/office/drawing/2014/main" id="{6EA53E4C-F0BD-DAC7-A1C0-29C5E38D2C9E}"/>
              </a:ext>
            </a:extLst>
          </p:cNvPr>
          <p:cNvPicPr>
            <a:picLocks noChangeAspect="1"/>
          </p:cNvPicPr>
          <p:nvPr/>
        </p:nvPicPr>
        <p:blipFill>
          <a:blip r:embed="rId3"/>
          <a:stretch>
            <a:fillRect/>
          </a:stretch>
        </p:blipFill>
        <p:spPr>
          <a:xfrm>
            <a:off x="6704082" y="1968900"/>
            <a:ext cx="4381500" cy="2705100"/>
          </a:xfrm>
          <a:prstGeom prst="rect">
            <a:avLst/>
          </a:prstGeom>
          <a:effectLst>
            <a:outerShdw blurRad="63500" sx="102000" sy="102000" algn="ctr" rotWithShape="0">
              <a:prstClr val="black">
                <a:alpha val="40000"/>
              </a:prstClr>
            </a:outerShdw>
          </a:effectLst>
        </p:spPr>
      </p:pic>
      <p:sp>
        <p:nvSpPr>
          <p:cNvPr id="7" name="TextBox 6">
            <a:extLst>
              <a:ext uri="{FF2B5EF4-FFF2-40B4-BE49-F238E27FC236}">
                <a16:creationId xmlns:a16="http://schemas.microsoft.com/office/drawing/2014/main" id="{4C140999-5593-CB50-3A6E-EA2664C11C8E}"/>
              </a:ext>
            </a:extLst>
          </p:cNvPr>
          <p:cNvSpPr txBox="1"/>
          <p:nvPr/>
        </p:nvSpPr>
        <p:spPr>
          <a:xfrm>
            <a:off x="7407966" y="4887203"/>
            <a:ext cx="4381500" cy="1477328"/>
          </a:xfrm>
          <a:prstGeom prst="rect">
            <a:avLst/>
          </a:prstGeom>
          <a:noFill/>
        </p:spPr>
        <p:txBody>
          <a:bodyPr wrap="square" rtlCol="0">
            <a:spAutoFit/>
          </a:bodyPr>
          <a:lstStyle/>
          <a:p>
            <a:r>
              <a:rPr lang="zh-CN" altLang="en-US" b="0" i="0" dirty="0">
                <a:solidFill>
                  <a:srgbClr val="262625"/>
                </a:solidFill>
                <a:effectLst/>
                <a:latin typeface="Times New Roman" panose="02020603050405020304" pitchFamily="18" charset="0"/>
              </a:rPr>
              <a:t>在上述案例中，定义了一个 </a:t>
            </a:r>
            <a:r>
              <a:rPr lang="en-US" dirty="0"/>
              <a:t>Room</a:t>
            </a:r>
            <a:r>
              <a:rPr lang="en-US" b="0" i="0" dirty="0">
                <a:solidFill>
                  <a:srgbClr val="262625"/>
                </a:solidFill>
                <a:effectLst/>
                <a:latin typeface="Times New Roman" panose="02020603050405020304" pitchFamily="18" charset="0"/>
              </a:rPr>
              <a:t> </a:t>
            </a:r>
            <a:r>
              <a:rPr lang="zh-CN" altLang="en-US" b="0" i="0" dirty="0">
                <a:solidFill>
                  <a:srgbClr val="262625"/>
                </a:solidFill>
                <a:effectLst/>
                <a:latin typeface="Times New Roman" panose="02020603050405020304" pitchFamily="18" charset="0"/>
              </a:rPr>
              <a:t>类，该类有两个属性：</a:t>
            </a:r>
            <a:r>
              <a:rPr lang="en-US" dirty="0"/>
              <a:t>name</a:t>
            </a:r>
            <a:r>
              <a:rPr lang="en-US" b="0" i="0" dirty="0">
                <a:solidFill>
                  <a:srgbClr val="262625"/>
                </a:solidFill>
                <a:effectLst/>
                <a:latin typeface="Times New Roman" panose="02020603050405020304" pitchFamily="18" charset="0"/>
              </a:rPr>
              <a:t> </a:t>
            </a:r>
            <a:r>
              <a:rPr lang="zh-CN" altLang="en-US" b="0" i="0" dirty="0">
                <a:solidFill>
                  <a:srgbClr val="262625"/>
                </a:solidFill>
                <a:effectLst/>
                <a:latin typeface="Times New Roman" panose="02020603050405020304" pitchFamily="18" charset="0"/>
              </a:rPr>
              <a:t>和 </a:t>
            </a:r>
            <a:r>
              <a:rPr lang="en-US" dirty="0"/>
              <a:t>size</a:t>
            </a:r>
            <a:r>
              <a:rPr lang="en-US" b="0" i="0" dirty="0">
                <a:solidFill>
                  <a:srgbClr val="262625"/>
                </a:solidFill>
                <a:effectLst/>
                <a:latin typeface="Times New Roman" panose="02020603050405020304" pitchFamily="18" charset="0"/>
              </a:rPr>
              <a:t>，</a:t>
            </a:r>
            <a:r>
              <a:rPr lang="zh-CN" altLang="en-US" b="0" i="0" dirty="0">
                <a:solidFill>
                  <a:srgbClr val="262625"/>
                </a:solidFill>
                <a:effectLst/>
                <a:latin typeface="Times New Roman" panose="02020603050405020304" pitchFamily="18" charset="0"/>
              </a:rPr>
              <a:t>分别表示房间的名称和大小。在 </a:t>
            </a:r>
            <a:r>
              <a:rPr lang="en-US" dirty="0"/>
              <a:t>Room</a:t>
            </a:r>
            <a:r>
              <a:rPr lang="en-US" b="0" i="0" dirty="0">
                <a:solidFill>
                  <a:srgbClr val="262625"/>
                </a:solidFill>
                <a:effectLst/>
                <a:latin typeface="Times New Roman" panose="02020603050405020304" pitchFamily="18" charset="0"/>
              </a:rPr>
              <a:t> </a:t>
            </a:r>
            <a:r>
              <a:rPr lang="zh-CN" altLang="en-US" b="0" i="0" dirty="0">
                <a:solidFill>
                  <a:srgbClr val="262625"/>
                </a:solidFill>
                <a:effectLst/>
                <a:latin typeface="Times New Roman" panose="02020603050405020304" pitchFamily="18" charset="0"/>
              </a:rPr>
              <a:t>类中实现了 </a:t>
            </a:r>
            <a:r>
              <a:rPr lang="en-US" altLang="zh-CN" dirty="0"/>
              <a:t>__</a:t>
            </a:r>
            <a:r>
              <a:rPr lang="en-US" dirty="0"/>
              <a:t>bool__(self)</a:t>
            </a:r>
            <a:r>
              <a:rPr lang="en-US" b="0" i="0" dirty="0">
                <a:solidFill>
                  <a:srgbClr val="262625"/>
                </a:solidFill>
                <a:effectLst/>
                <a:latin typeface="Times New Roman" panose="02020603050405020304" pitchFamily="18" charset="0"/>
              </a:rPr>
              <a:t> </a:t>
            </a:r>
            <a:r>
              <a:rPr lang="zh-CN" altLang="en-US" b="0" i="0" dirty="0">
                <a:solidFill>
                  <a:srgbClr val="262625"/>
                </a:solidFill>
                <a:effectLst/>
                <a:latin typeface="Times New Roman" panose="02020603050405020304" pitchFamily="18" charset="0"/>
              </a:rPr>
              <a:t>方法，用于确定房间对象在布尔上下文中的真假值。</a:t>
            </a:r>
            <a:endParaRPr kumimoji="1" lang="zh-CN" altLang="en-US" dirty="0"/>
          </a:p>
        </p:txBody>
      </p:sp>
    </p:spTree>
    <p:extLst>
      <p:ext uri="{BB962C8B-B14F-4D97-AF65-F5344CB8AC3E}">
        <p14:creationId xmlns:p14="http://schemas.microsoft.com/office/powerpoint/2010/main" val="542646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7517" y="2750961"/>
            <a:ext cx="10071099" cy="1684150"/>
          </a:xfrm>
        </p:spPr>
        <p:txBody>
          <a:bodyPr/>
          <a:lstStyle/>
          <a:p>
            <a:r>
              <a:rPr lang="en-US" b="1" dirty="0"/>
              <a:t>7.5.4 </a:t>
            </a:r>
            <a:r>
              <a:rPr lang="zh-CN" spc="-120" dirty="0">
                <a:ln w="4912" cap="flat" cmpd="sng">
                  <a:solidFill>
                    <a:srgbClr val="FFFFFF">
                      <a:alpha val="100000"/>
                    </a:srgbClr>
                  </a:solidFill>
                  <a:prstDash val="solid"/>
                  <a:miter lim="10"/>
                </a:ln>
                <a:solidFill>
                  <a:srgbClr val="FFFFFF">
                    <a:alpha val="100000"/>
                  </a:srgbClr>
                </a:solidFill>
                <a:latin typeface="宋体" panose="02010600030101010101" pitchFamily="2" charset="-122"/>
                <a:ea typeface="宋体" panose="02010600030101010101" pitchFamily="2" charset="-122"/>
                <a:cs typeface="宋体" panose="02010600030101010101" pitchFamily="2" charset="-122"/>
                <a:sym typeface="+mn-ea"/>
              </a:rPr>
              <a:t>魔法方法的比较</a:t>
            </a:r>
            <a:endParaRPr lang="en-US"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b="1" dirty="0"/>
              <a:t>7.5.4</a:t>
            </a:r>
            <a:r>
              <a:rPr lang="en-US" altLang="zh-CN" b="1" dirty="0"/>
              <a:t> </a:t>
            </a:r>
            <a:r>
              <a:rPr lang="zh-CN" altLang="en-US" b="1" dirty="0"/>
              <a:t>特殊方法的比较</a:t>
            </a:r>
          </a:p>
        </p:txBody>
      </p:sp>
      <p:sp>
        <p:nvSpPr>
          <p:cNvPr id="4" name="文本框 3"/>
          <p:cNvSpPr txBox="1"/>
          <p:nvPr/>
        </p:nvSpPr>
        <p:spPr>
          <a:xfrm>
            <a:off x="1619421" y="1752509"/>
            <a:ext cx="9896776" cy="3698000"/>
          </a:xfrm>
          <a:prstGeom prst="rect">
            <a:avLst/>
          </a:prstGeom>
          <a:noFill/>
        </p:spPr>
        <p:txBody>
          <a:bodyPr wrap="square" rtlCol="0">
            <a:spAutoFit/>
          </a:bodyPr>
          <a:lstStyle/>
          <a:p>
            <a:pPr marL="342900" indent="-342900" algn="l">
              <a:lnSpc>
                <a:spcPct val="200000"/>
              </a:lnSpc>
              <a:buFont typeface="Arial" panose="020B0604020202020204" pitchFamily="34" charset="0"/>
              <a:buChar char="•"/>
            </a:pPr>
            <a:r>
              <a:rPr lang="en-US" sz="2000" b="0" i="0" dirty="0">
                <a:solidFill>
                  <a:srgbClr val="0432FF"/>
                </a:solidFill>
                <a:effectLst/>
                <a:latin typeface="system-ui"/>
              </a:rPr>
              <a:t>__eq__(self, other): </a:t>
            </a:r>
            <a:r>
              <a:rPr lang="zh-CN" altLang="en-US" sz="2000" b="0" i="0" dirty="0">
                <a:effectLst/>
                <a:latin typeface="system-ui"/>
              </a:rPr>
              <a:t>定义相等运算符</a:t>
            </a:r>
            <a:r>
              <a:rPr lang="en-US" altLang="zh-CN" sz="2000" b="0" i="0" dirty="0">
                <a:effectLst/>
                <a:latin typeface="system-ui"/>
              </a:rPr>
              <a:t>"</a:t>
            </a:r>
            <a:r>
              <a:rPr lang="zh-CN" altLang="en-US" sz="2000" b="0" i="0" dirty="0">
                <a:effectLst/>
                <a:latin typeface="system-ui"/>
              </a:rPr>
              <a:t>等于</a:t>
            </a:r>
            <a:r>
              <a:rPr lang="en-US" altLang="zh-CN" sz="2000" b="0" i="0" dirty="0">
                <a:effectLst/>
                <a:latin typeface="system-ui"/>
              </a:rPr>
              <a:t>"</a:t>
            </a:r>
            <a:r>
              <a:rPr lang="zh-CN" altLang="en-US" sz="2000" b="0" i="0" dirty="0">
                <a:effectLst/>
                <a:latin typeface="system-ui"/>
              </a:rPr>
              <a:t>的行为</a:t>
            </a:r>
            <a:r>
              <a:rPr lang="en-US" altLang="zh-CN" sz="2000" b="0" i="0" dirty="0">
                <a:effectLst/>
                <a:latin typeface="system-ui"/>
              </a:rPr>
              <a:t>, </a:t>
            </a:r>
            <a:r>
              <a:rPr lang="en-US" altLang="zh-CN" sz="2000" b="0" i="0" dirty="0">
                <a:solidFill>
                  <a:srgbClr val="C00000"/>
                </a:solidFill>
                <a:effectLst/>
                <a:latin typeface="system-ui"/>
              </a:rPr>
              <a:t>==.</a:t>
            </a:r>
          </a:p>
          <a:p>
            <a:pPr marL="342900" indent="-342900" algn="l">
              <a:lnSpc>
                <a:spcPct val="200000"/>
              </a:lnSpc>
              <a:buFont typeface="Arial" panose="020B0604020202020204" pitchFamily="34" charset="0"/>
              <a:buChar char="•"/>
            </a:pPr>
            <a:r>
              <a:rPr lang="en-US" altLang="zh-CN" sz="2000" b="0" i="0" dirty="0">
                <a:solidFill>
                  <a:srgbClr val="0432FF"/>
                </a:solidFill>
                <a:effectLst/>
                <a:latin typeface="system-ui"/>
              </a:rPr>
              <a:t>__</a:t>
            </a:r>
            <a:r>
              <a:rPr lang="en-US" sz="2000" b="0" i="0" dirty="0">
                <a:solidFill>
                  <a:srgbClr val="0432FF"/>
                </a:solidFill>
                <a:effectLst/>
                <a:latin typeface="system-ui"/>
              </a:rPr>
              <a:t>ne__(self, other): </a:t>
            </a:r>
            <a:r>
              <a:rPr lang="zh-CN" altLang="en-US" sz="2000" b="0" i="0" dirty="0">
                <a:effectLst/>
                <a:latin typeface="system-ui"/>
              </a:rPr>
              <a:t>定义不等号运算符</a:t>
            </a:r>
            <a:r>
              <a:rPr lang="en-US" altLang="zh-CN" sz="2000" b="0" i="0" dirty="0">
                <a:effectLst/>
                <a:latin typeface="system-ui"/>
              </a:rPr>
              <a:t>"</a:t>
            </a:r>
            <a:r>
              <a:rPr lang="zh-CN" altLang="en-US" sz="2000" b="0" i="0" dirty="0">
                <a:effectLst/>
                <a:latin typeface="system-ui"/>
              </a:rPr>
              <a:t>不等于</a:t>
            </a:r>
            <a:r>
              <a:rPr lang="en-US" altLang="zh-CN" sz="2000" b="0" i="0" dirty="0">
                <a:effectLst/>
                <a:latin typeface="system-ui"/>
              </a:rPr>
              <a:t>"</a:t>
            </a:r>
            <a:r>
              <a:rPr lang="zh-CN" altLang="en-US" sz="2000" b="0" i="0" dirty="0">
                <a:effectLst/>
                <a:latin typeface="system-ui"/>
              </a:rPr>
              <a:t>的行为</a:t>
            </a:r>
            <a:r>
              <a:rPr lang="en-US" altLang="zh-CN" sz="2000" b="0" i="0" dirty="0">
                <a:effectLst/>
                <a:latin typeface="system-ui"/>
              </a:rPr>
              <a:t>, </a:t>
            </a:r>
            <a:r>
              <a:rPr lang="en-US" altLang="zh-CN" sz="2000" b="0" i="0" dirty="0">
                <a:solidFill>
                  <a:srgbClr val="C00000"/>
                </a:solidFill>
                <a:effectLst/>
                <a:latin typeface="system-ui"/>
              </a:rPr>
              <a:t>!=.</a:t>
            </a:r>
          </a:p>
          <a:p>
            <a:pPr marL="342900" indent="-342900" algn="l">
              <a:lnSpc>
                <a:spcPct val="200000"/>
              </a:lnSpc>
              <a:buFont typeface="Arial" panose="020B0604020202020204" pitchFamily="34" charset="0"/>
              <a:buChar char="•"/>
            </a:pPr>
            <a:r>
              <a:rPr lang="en-US" altLang="zh-CN" sz="2000" b="0" i="0" dirty="0">
                <a:solidFill>
                  <a:srgbClr val="0432FF"/>
                </a:solidFill>
                <a:effectLst/>
                <a:latin typeface="system-ui"/>
              </a:rPr>
              <a:t>__</a:t>
            </a:r>
            <a:r>
              <a:rPr lang="en-US" sz="2000" b="0" i="0" dirty="0" err="1">
                <a:solidFill>
                  <a:srgbClr val="0432FF"/>
                </a:solidFill>
                <a:effectLst/>
                <a:latin typeface="system-ui"/>
              </a:rPr>
              <a:t>lt</a:t>
            </a:r>
            <a:r>
              <a:rPr lang="en-US" sz="2000" b="0" i="0" dirty="0">
                <a:solidFill>
                  <a:srgbClr val="0432FF"/>
                </a:solidFill>
                <a:effectLst/>
                <a:latin typeface="system-ui"/>
              </a:rPr>
              <a:t>__(self, other): </a:t>
            </a:r>
            <a:r>
              <a:rPr lang="zh-CN" altLang="en-US" sz="2000" b="0" i="0" dirty="0">
                <a:effectLst/>
                <a:latin typeface="system-ui"/>
              </a:rPr>
              <a:t>定义小于运算符</a:t>
            </a:r>
            <a:r>
              <a:rPr lang="en-US" altLang="zh-CN" sz="2000" b="0" i="0" dirty="0">
                <a:effectLst/>
                <a:latin typeface="system-ui"/>
              </a:rPr>
              <a:t>"</a:t>
            </a:r>
            <a:r>
              <a:rPr lang="zh-CN" altLang="en-US" sz="2000" b="0" i="0" dirty="0">
                <a:effectLst/>
                <a:latin typeface="system-ui"/>
              </a:rPr>
              <a:t>小于</a:t>
            </a:r>
            <a:r>
              <a:rPr lang="en-US" altLang="zh-CN" sz="2000" b="0" i="0" dirty="0">
                <a:effectLst/>
                <a:latin typeface="system-ui"/>
              </a:rPr>
              <a:t>"</a:t>
            </a:r>
            <a:r>
              <a:rPr lang="zh-CN" altLang="en-US" sz="2000" b="0" i="0" dirty="0">
                <a:effectLst/>
                <a:latin typeface="system-ui"/>
              </a:rPr>
              <a:t>的行为</a:t>
            </a:r>
            <a:r>
              <a:rPr lang="en-US" altLang="zh-CN" sz="2000" b="0" i="0" dirty="0">
                <a:effectLst/>
                <a:latin typeface="system-ui"/>
              </a:rPr>
              <a:t>, </a:t>
            </a:r>
            <a:r>
              <a:rPr lang="en-US" altLang="zh-CN" sz="2000" b="0" i="0" dirty="0">
                <a:solidFill>
                  <a:srgbClr val="C00000"/>
                </a:solidFill>
                <a:effectLst/>
                <a:latin typeface="system-ui"/>
              </a:rPr>
              <a:t>&lt;.</a:t>
            </a:r>
          </a:p>
          <a:p>
            <a:pPr marL="342900" indent="-342900" algn="l">
              <a:lnSpc>
                <a:spcPct val="200000"/>
              </a:lnSpc>
              <a:buFont typeface="Arial" panose="020B0604020202020204" pitchFamily="34" charset="0"/>
              <a:buChar char="•"/>
            </a:pPr>
            <a:r>
              <a:rPr lang="en-US" altLang="zh-CN" sz="2000" b="0" i="0" dirty="0">
                <a:solidFill>
                  <a:srgbClr val="0432FF"/>
                </a:solidFill>
                <a:effectLst/>
                <a:latin typeface="system-ui"/>
              </a:rPr>
              <a:t>__</a:t>
            </a:r>
            <a:r>
              <a:rPr lang="en-US" sz="2000" b="0" i="0" dirty="0" err="1">
                <a:solidFill>
                  <a:srgbClr val="0432FF"/>
                </a:solidFill>
                <a:effectLst/>
                <a:latin typeface="system-ui"/>
              </a:rPr>
              <a:t>gt</a:t>
            </a:r>
            <a:r>
              <a:rPr lang="en-US" sz="2000" b="0" i="0" dirty="0">
                <a:solidFill>
                  <a:srgbClr val="0432FF"/>
                </a:solidFill>
                <a:effectLst/>
                <a:latin typeface="system-ui"/>
              </a:rPr>
              <a:t>__(self, other): </a:t>
            </a:r>
            <a:r>
              <a:rPr lang="zh-CN" altLang="en-US" sz="2000" b="0" i="0" dirty="0">
                <a:effectLst/>
                <a:latin typeface="system-ui"/>
              </a:rPr>
              <a:t>定义大于运算符</a:t>
            </a:r>
            <a:r>
              <a:rPr lang="en-US" altLang="zh-CN" sz="2000" b="0" i="0" dirty="0">
                <a:effectLst/>
                <a:latin typeface="system-ui"/>
              </a:rPr>
              <a:t>"</a:t>
            </a:r>
            <a:r>
              <a:rPr lang="zh-CN" altLang="en-US" sz="2000" b="0" i="0" dirty="0">
                <a:effectLst/>
                <a:latin typeface="system-ui"/>
              </a:rPr>
              <a:t>大于</a:t>
            </a:r>
            <a:r>
              <a:rPr lang="en-US" altLang="zh-CN" sz="2000" b="0" i="0" dirty="0">
                <a:effectLst/>
                <a:latin typeface="system-ui"/>
              </a:rPr>
              <a:t>"</a:t>
            </a:r>
            <a:r>
              <a:rPr lang="zh-CN" altLang="en-US" sz="2000" b="0" i="0" dirty="0">
                <a:effectLst/>
                <a:latin typeface="system-ui"/>
              </a:rPr>
              <a:t>的行为</a:t>
            </a:r>
            <a:r>
              <a:rPr lang="en-US" altLang="zh-CN" sz="2000" b="0" i="0" dirty="0">
                <a:effectLst/>
                <a:latin typeface="system-ui"/>
              </a:rPr>
              <a:t>, </a:t>
            </a:r>
            <a:r>
              <a:rPr lang="en-US" altLang="zh-CN" sz="2000" b="0" i="0" dirty="0">
                <a:solidFill>
                  <a:srgbClr val="C00000"/>
                </a:solidFill>
                <a:effectLst/>
                <a:latin typeface="system-ui"/>
              </a:rPr>
              <a:t>&gt;.</a:t>
            </a:r>
          </a:p>
          <a:p>
            <a:pPr marL="342900" indent="-342900" algn="l">
              <a:lnSpc>
                <a:spcPct val="200000"/>
              </a:lnSpc>
              <a:buFont typeface="Arial" panose="020B0604020202020204" pitchFamily="34" charset="0"/>
              <a:buChar char="•"/>
            </a:pPr>
            <a:r>
              <a:rPr lang="en-US" altLang="zh-CN" sz="2000" b="0" i="0" dirty="0">
                <a:solidFill>
                  <a:srgbClr val="0432FF"/>
                </a:solidFill>
                <a:effectLst/>
                <a:latin typeface="system-ui"/>
              </a:rPr>
              <a:t>__</a:t>
            </a:r>
            <a:r>
              <a:rPr lang="en-US" sz="2000" b="0" i="0" dirty="0">
                <a:solidFill>
                  <a:srgbClr val="0432FF"/>
                </a:solidFill>
                <a:effectLst/>
                <a:latin typeface="system-ui"/>
              </a:rPr>
              <a:t>le__(self, other): </a:t>
            </a:r>
            <a:r>
              <a:rPr lang="zh-CN" altLang="en-US" sz="2000" b="0" i="0" dirty="0">
                <a:effectLst/>
                <a:latin typeface="system-ui"/>
              </a:rPr>
              <a:t>定义小于或等于运算符</a:t>
            </a:r>
            <a:r>
              <a:rPr lang="en-US" altLang="zh-CN" sz="2000" b="0" i="0" dirty="0">
                <a:effectLst/>
                <a:latin typeface="system-ui"/>
              </a:rPr>
              <a:t>"</a:t>
            </a:r>
            <a:r>
              <a:rPr lang="zh-CN" altLang="en-US" sz="2000" b="0" i="0" dirty="0">
                <a:effectLst/>
                <a:latin typeface="system-ui"/>
              </a:rPr>
              <a:t>小于等于</a:t>
            </a:r>
            <a:r>
              <a:rPr lang="en-US" altLang="zh-CN" sz="2000" b="0" i="0" dirty="0">
                <a:effectLst/>
                <a:latin typeface="system-ui"/>
              </a:rPr>
              <a:t>"</a:t>
            </a:r>
            <a:r>
              <a:rPr lang="zh-CN" altLang="en-US" sz="2000" b="0" i="0" dirty="0">
                <a:effectLst/>
                <a:latin typeface="system-ui"/>
              </a:rPr>
              <a:t>的行为</a:t>
            </a:r>
            <a:r>
              <a:rPr lang="en-US" altLang="zh-CN" sz="2000" b="0" i="0" dirty="0">
                <a:effectLst/>
                <a:latin typeface="system-ui"/>
              </a:rPr>
              <a:t>, </a:t>
            </a:r>
            <a:r>
              <a:rPr lang="en-US" altLang="zh-CN" sz="2000" b="0" i="0" dirty="0">
                <a:solidFill>
                  <a:srgbClr val="C00000"/>
                </a:solidFill>
                <a:effectLst/>
                <a:latin typeface="system-ui"/>
              </a:rPr>
              <a:t>&lt;=.</a:t>
            </a:r>
          </a:p>
          <a:p>
            <a:pPr marL="342900" indent="-342900" algn="l">
              <a:lnSpc>
                <a:spcPct val="200000"/>
              </a:lnSpc>
              <a:buFont typeface="Arial" panose="020B0604020202020204" pitchFamily="34" charset="0"/>
              <a:buChar char="•"/>
            </a:pPr>
            <a:r>
              <a:rPr lang="en-US" altLang="zh-CN" sz="2000" b="0" i="0" dirty="0">
                <a:solidFill>
                  <a:srgbClr val="0432FF"/>
                </a:solidFill>
                <a:effectLst/>
                <a:latin typeface="system-ui"/>
              </a:rPr>
              <a:t>__</a:t>
            </a:r>
            <a:r>
              <a:rPr lang="en-US" sz="2000" b="0" i="0" dirty="0" err="1">
                <a:solidFill>
                  <a:srgbClr val="0432FF"/>
                </a:solidFill>
                <a:effectLst/>
                <a:latin typeface="system-ui"/>
              </a:rPr>
              <a:t>ge</a:t>
            </a:r>
            <a:r>
              <a:rPr lang="en-US" sz="2000" b="0" i="0" dirty="0">
                <a:solidFill>
                  <a:srgbClr val="0432FF"/>
                </a:solidFill>
                <a:effectLst/>
                <a:latin typeface="system-ui"/>
              </a:rPr>
              <a:t>__(self, other): </a:t>
            </a:r>
            <a:r>
              <a:rPr lang="zh-CN" altLang="en-US" sz="2000" b="0" i="0" dirty="0">
                <a:effectLst/>
                <a:latin typeface="system-ui"/>
              </a:rPr>
              <a:t>定义大于或等于运算符</a:t>
            </a:r>
            <a:r>
              <a:rPr lang="en-US" altLang="zh-CN" sz="2000" b="0" i="0" dirty="0">
                <a:effectLst/>
                <a:latin typeface="system-ui"/>
              </a:rPr>
              <a:t>"</a:t>
            </a:r>
            <a:r>
              <a:rPr lang="zh-CN" altLang="en-US" sz="2000" b="0" i="0" dirty="0">
                <a:effectLst/>
                <a:latin typeface="system-ui"/>
              </a:rPr>
              <a:t>大于等于</a:t>
            </a:r>
            <a:r>
              <a:rPr lang="en-US" altLang="zh-CN" sz="2000" b="0" i="0" dirty="0">
                <a:effectLst/>
                <a:latin typeface="system-ui"/>
              </a:rPr>
              <a:t>"</a:t>
            </a:r>
            <a:r>
              <a:rPr lang="zh-CN" altLang="en-US" sz="2000" b="0" i="0" dirty="0">
                <a:effectLst/>
                <a:latin typeface="system-ui"/>
              </a:rPr>
              <a:t>的行为</a:t>
            </a:r>
            <a:r>
              <a:rPr lang="en-US" altLang="zh-CN" sz="2000" b="0" i="0" dirty="0">
                <a:effectLst/>
                <a:latin typeface="system-ui"/>
              </a:rPr>
              <a:t>, </a:t>
            </a:r>
            <a:r>
              <a:rPr lang="en-US" altLang="zh-CN" sz="2000" b="0" i="0" dirty="0">
                <a:solidFill>
                  <a:srgbClr val="C00000"/>
                </a:solidFill>
                <a:effectLst/>
                <a:latin typeface="system-ui"/>
              </a:rPr>
              <a:t>&gt;=.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b="1" dirty="0"/>
              <a:t>7.5.4</a:t>
            </a:r>
            <a:r>
              <a:rPr lang="en-US" altLang="zh-CN" b="1" dirty="0"/>
              <a:t> </a:t>
            </a:r>
            <a:r>
              <a:rPr lang="zh-CN" altLang="en-US" b="1" dirty="0"/>
              <a:t>特殊方法的比较</a:t>
            </a:r>
          </a:p>
        </p:txBody>
      </p:sp>
      <p:sp>
        <p:nvSpPr>
          <p:cNvPr id="4" name="文本框 3"/>
          <p:cNvSpPr txBox="1"/>
          <p:nvPr/>
        </p:nvSpPr>
        <p:spPr>
          <a:xfrm>
            <a:off x="1289835" y="1604336"/>
            <a:ext cx="9896776" cy="4570034"/>
          </a:xfrm>
          <a:prstGeom prst="rect">
            <a:avLst/>
          </a:prstGeom>
          <a:noFill/>
        </p:spPr>
        <p:txBody>
          <a:bodyPr wrap="square" rtlCol="0">
            <a:spAutoFit/>
          </a:bodyPr>
          <a:lstStyle/>
          <a:p>
            <a:pPr algn="l" rtl="0">
              <a:lnSpc>
                <a:spcPct val="100000"/>
              </a:lnSpc>
              <a:spcBef>
                <a:spcPts val="80"/>
              </a:spcBef>
              <a:buClrTx/>
              <a:buSzTx/>
            </a:pPr>
            <a:r>
              <a:rPr lang="en-US" sz="2000" dirty="0"/>
              <a:t>1. </a:t>
            </a:r>
            <a:r>
              <a:rPr lang="en-US" sz="2000" dirty="0">
                <a:solidFill>
                  <a:srgbClr val="0432FF"/>
                </a:solidFill>
              </a:rPr>
              <a:t>__eq__</a:t>
            </a:r>
            <a:r>
              <a:rPr lang="en-US" sz="2000" b="0" i="0" dirty="0">
                <a:solidFill>
                  <a:srgbClr val="0432FF"/>
                </a:solidFill>
                <a:effectLst/>
                <a:latin typeface="system-ui"/>
              </a:rPr>
              <a:t> </a:t>
            </a:r>
            <a:r>
              <a:rPr lang="zh-CN" altLang="en-US" sz="2000" b="0" i="0" dirty="0">
                <a:effectLst/>
                <a:latin typeface="system-ui"/>
              </a:rPr>
              <a:t>和 </a:t>
            </a:r>
            <a:r>
              <a:rPr lang="en-US" altLang="zh-CN" sz="2000" dirty="0">
                <a:solidFill>
                  <a:srgbClr val="0432FF"/>
                </a:solidFill>
              </a:rPr>
              <a:t>__</a:t>
            </a:r>
            <a:r>
              <a:rPr lang="en-US" sz="2000" dirty="0">
                <a:solidFill>
                  <a:srgbClr val="0432FF"/>
                </a:solidFill>
              </a:rPr>
              <a:t>hash__</a:t>
            </a:r>
            <a:r>
              <a:rPr lang="en-US" sz="2000" b="0" i="0" dirty="0">
                <a:solidFill>
                  <a:srgbClr val="0432FF"/>
                </a:solidFill>
                <a:effectLst/>
                <a:latin typeface="system-ui"/>
              </a:rPr>
              <a:t> </a:t>
            </a:r>
            <a:r>
              <a:rPr lang="zh-CN" altLang="en-US" sz="2000" b="0" i="0" dirty="0">
                <a:effectLst/>
                <a:latin typeface="system-ui"/>
              </a:rPr>
              <a:t>必须一致 </a:t>
            </a:r>
            <a:r>
              <a:rPr lang="en-US" altLang="zh-CN" sz="2000" b="0" i="0" dirty="0">
                <a:effectLst/>
                <a:latin typeface="system-ui"/>
              </a:rPr>
              <a:t>- </a:t>
            </a:r>
            <a:r>
              <a:rPr lang="zh-CN" altLang="en-US" sz="2000" b="0" i="0" dirty="0">
                <a:effectLst/>
                <a:latin typeface="system-ui"/>
              </a:rPr>
              <a:t>相等的对象必须具有</a:t>
            </a:r>
            <a:r>
              <a:rPr lang="zh-CN" altLang="en-US" sz="2000" b="0" i="0" dirty="0">
                <a:solidFill>
                  <a:srgbClr val="C00000"/>
                </a:solidFill>
                <a:effectLst/>
                <a:latin typeface="system-ui"/>
              </a:rPr>
              <a:t>相等的哈希值</a:t>
            </a:r>
            <a:r>
              <a:rPr lang="zh-CN" altLang="en-US" sz="2000" b="0" i="0" dirty="0">
                <a:effectLst/>
                <a:latin typeface="system-ui"/>
              </a:rPr>
              <a:t>。</a:t>
            </a:r>
            <a:endParaRPr lang="en-US" altLang="zh-CN" sz="2000" b="0" i="0" dirty="0">
              <a:effectLst/>
              <a:latin typeface="system-ui"/>
            </a:endParaRPr>
          </a:p>
          <a:p>
            <a:pPr marL="457200" indent="-457200" algn="l" rtl="0">
              <a:lnSpc>
                <a:spcPct val="100000"/>
              </a:lnSpc>
              <a:spcBef>
                <a:spcPts val="80"/>
              </a:spcBef>
              <a:buClrTx/>
              <a:buSzTx/>
              <a:buFontTx/>
              <a:buAutoNum type="arabicPeriod"/>
            </a:pPr>
            <a:endParaRPr lang="zh-CN" altLang="zh-CN" sz="2000" dirty="0"/>
          </a:p>
          <a:p>
            <a:pPr algn="l" rtl="0">
              <a:lnSpc>
                <a:spcPct val="100000"/>
              </a:lnSpc>
              <a:spcBef>
                <a:spcPts val="80"/>
              </a:spcBef>
              <a:buClrTx/>
              <a:buSzTx/>
              <a:buFontTx/>
            </a:pPr>
            <a:r>
              <a:rPr lang="zh-CN" altLang="zh-CN" sz="2000" dirty="0">
                <a:sym typeface="+mn-ea"/>
              </a:rPr>
              <a:t>2.</a:t>
            </a:r>
            <a:r>
              <a:rPr lang="en-US" sz="2000" dirty="0"/>
              <a:t> </a:t>
            </a:r>
            <a:r>
              <a:rPr lang="en-US" sz="2000" dirty="0">
                <a:solidFill>
                  <a:srgbClr val="0432FF"/>
                </a:solidFill>
              </a:rPr>
              <a:t>__hash__</a:t>
            </a:r>
            <a:r>
              <a:rPr lang="en-US" sz="2000" b="0" i="0" dirty="0">
                <a:solidFill>
                  <a:srgbClr val="0432FF"/>
                </a:solidFill>
                <a:effectLst/>
                <a:latin typeface="system-ui"/>
              </a:rPr>
              <a:t> </a:t>
            </a:r>
            <a:r>
              <a:rPr lang="zh-CN" altLang="en-US" sz="2000" b="0" i="0" dirty="0">
                <a:effectLst/>
                <a:latin typeface="system-ui"/>
              </a:rPr>
              <a:t>永远不能改变。对象的哈希值一旦被插入，就永远不会被重新计算。</a:t>
            </a:r>
            <a:endParaRPr lang="en-US" altLang="zh-CN" sz="2000" b="0" i="0" dirty="0">
              <a:effectLst/>
              <a:latin typeface="system-ui"/>
            </a:endParaRPr>
          </a:p>
          <a:p>
            <a:pPr algn="l" rtl="0">
              <a:lnSpc>
                <a:spcPct val="100000"/>
              </a:lnSpc>
              <a:spcBef>
                <a:spcPts val="80"/>
              </a:spcBef>
              <a:buClrTx/>
              <a:buSzTx/>
              <a:buFontTx/>
            </a:pPr>
            <a:endParaRPr lang="zh-CN" altLang="zh-CN" sz="2000" dirty="0"/>
          </a:p>
          <a:p>
            <a:pPr algn="l" rtl="0">
              <a:lnSpc>
                <a:spcPct val="100000"/>
              </a:lnSpc>
              <a:spcBef>
                <a:spcPts val="80"/>
              </a:spcBef>
              <a:buClrTx/>
              <a:buSzTx/>
              <a:buFontTx/>
            </a:pPr>
            <a:r>
              <a:rPr lang="zh-CN" altLang="zh-CN" sz="2000" dirty="0">
                <a:sym typeface="+mn-ea"/>
              </a:rPr>
              <a:t>3.</a:t>
            </a:r>
            <a:r>
              <a:rPr lang="en-US" altLang="zh-CN" sz="2000" dirty="0">
                <a:sym typeface="+mn-ea"/>
              </a:rPr>
              <a:t> </a:t>
            </a:r>
            <a:r>
              <a:rPr lang="zh-CN" altLang="zh-CN" sz="2000" dirty="0">
                <a:sym typeface="+mn-ea"/>
              </a:rPr>
              <a:t>实现逻辑等价的对象（例如实现 </a:t>
            </a:r>
            <a:r>
              <a:rPr lang="en-US" sz="2000" b="0" i="0" dirty="0">
                <a:solidFill>
                  <a:srgbClr val="0432FF"/>
                </a:solidFill>
                <a:effectLst/>
                <a:latin typeface="Menlo" panose="020B0609030804020204" pitchFamily="49" charset="0"/>
              </a:rPr>
              <a:t>__eq__</a:t>
            </a:r>
            <a:r>
              <a:rPr lang="zh-CN" altLang="zh-CN" sz="2000" dirty="0">
                <a:sym typeface="+mn-ea"/>
              </a:rPr>
              <a:t>）必须是不可变的，才能进行哈希。如果一个对象具有逻辑等价性，则更新该对象将改变其哈希值，违反规则2。 </a:t>
            </a:r>
            <a:endParaRPr lang="en-US" altLang="zh-CN" sz="2000" dirty="0">
              <a:sym typeface="+mn-ea"/>
            </a:endParaRPr>
          </a:p>
          <a:p>
            <a:pPr lvl="2">
              <a:lnSpc>
                <a:spcPct val="150000"/>
              </a:lnSpc>
              <a:buFont typeface="Arial" panose="020B0604020202020204" pitchFamily="34" charset="0"/>
              <a:buChar char="•"/>
            </a:pPr>
            <a:r>
              <a:rPr lang="en-US" sz="2000" b="0" i="0" dirty="0" err="1">
                <a:effectLst/>
                <a:latin typeface="system-ui"/>
              </a:rPr>
              <a:t>dict、list、set</a:t>
            </a:r>
            <a:r>
              <a:rPr lang="zh-CN" altLang="en-US" sz="2000" b="0" i="0" dirty="0">
                <a:effectLst/>
                <a:latin typeface="system-ui"/>
              </a:rPr>
              <a:t>都是固有可变的，因此不可哈希。</a:t>
            </a:r>
          </a:p>
          <a:p>
            <a:pPr lvl="2">
              <a:lnSpc>
                <a:spcPct val="150000"/>
              </a:lnSpc>
              <a:buFont typeface="Arial" panose="020B0604020202020204" pitchFamily="34" charset="0"/>
              <a:buChar char="•"/>
            </a:pPr>
            <a:r>
              <a:rPr lang="en-US" sz="2000" b="0" i="0" dirty="0" err="1">
                <a:effectLst/>
                <a:latin typeface="system-ui"/>
              </a:rPr>
              <a:t>str、bytes、frozenset</a:t>
            </a:r>
            <a:r>
              <a:rPr lang="zh-CN" altLang="en-US" sz="2000" b="0" i="0" dirty="0">
                <a:effectLst/>
                <a:latin typeface="system-ui"/>
              </a:rPr>
              <a:t>和</a:t>
            </a:r>
            <a:r>
              <a:rPr lang="en-US" sz="2000" b="0" i="0" dirty="0">
                <a:effectLst/>
                <a:latin typeface="system-ui"/>
              </a:rPr>
              <a:t>tuple</a:t>
            </a:r>
            <a:r>
              <a:rPr lang="zh-CN" altLang="en-US" sz="2000" b="0" i="0" dirty="0">
                <a:effectLst/>
                <a:latin typeface="system-ui"/>
              </a:rPr>
              <a:t>都是不可变的，因此可哈希。</a:t>
            </a:r>
            <a:endParaRPr lang="zh-CN" altLang="zh-CN" sz="2000" dirty="0"/>
          </a:p>
          <a:p>
            <a:pPr algn="l" rtl="0">
              <a:lnSpc>
                <a:spcPct val="100000"/>
              </a:lnSpc>
              <a:spcBef>
                <a:spcPts val="80"/>
              </a:spcBef>
              <a:buClrTx/>
              <a:buSzTx/>
              <a:buFontTx/>
            </a:pPr>
            <a:r>
              <a:rPr lang="zh-CN" altLang="zh-CN" sz="2000" dirty="0">
                <a:sym typeface="+mn-ea"/>
              </a:rPr>
              <a:t>总结如下：</a:t>
            </a:r>
            <a:endParaRPr lang="zh-CN" altLang="zh-CN" sz="2000" dirty="0"/>
          </a:p>
          <a:p>
            <a:pPr lvl="2">
              <a:lnSpc>
                <a:spcPct val="150000"/>
              </a:lnSpc>
              <a:buFont typeface="Arial" panose="020B0604020202020204" pitchFamily="34" charset="0"/>
              <a:buChar char="•"/>
            </a:pPr>
            <a:r>
              <a:rPr lang="zh-CN" altLang="en-US" sz="2000" b="0" i="0" dirty="0">
                <a:effectLst/>
                <a:latin typeface="system-ui"/>
              </a:rPr>
              <a:t>如果 </a:t>
            </a:r>
            <a:r>
              <a:rPr lang="en-US" sz="2000" b="0" i="0" dirty="0">
                <a:solidFill>
                  <a:srgbClr val="C00000"/>
                </a:solidFill>
                <a:effectLst/>
                <a:latin typeface="system-ui"/>
              </a:rPr>
              <a:t>a == b</a:t>
            </a:r>
            <a:r>
              <a:rPr lang="en-US" sz="2000" b="0" i="0" dirty="0">
                <a:effectLst/>
                <a:latin typeface="system-ui"/>
              </a:rPr>
              <a:t>，</a:t>
            </a:r>
            <a:r>
              <a:rPr lang="zh-CN" altLang="en-US" sz="2000" b="0" i="0" dirty="0">
                <a:effectLst/>
                <a:latin typeface="system-ui"/>
              </a:rPr>
              <a:t>则</a:t>
            </a:r>
            <a:r>
              <a:rPr lang="en-US" sz="2000" b="0" i="0" dirty="0">
                <a:solidFill>
                  <a:srgbClr val="0432FF"/>
                </a:solidFill>
                <a:effectLst/>
                <a:latin typeface="system-ui"/>
              </a:rPr>
              <a:t>hash(a) == hash(b)</a:t>
            </a:r>
          </a:p>
          <a:p>
            <a:pPr lvl="2">
              <a:lnSpc>
                <a:spcPct val="150000"/>
              </a:lnSpc>
              <a:buFont typeface="Arial" panose="020B0604020202020204" pitchFamily="34" charset="0"/>
              <a:buChar char="•"/>
            </a:pPr>
            <a:r>
              <a:rPr lang="zh-CN" altLang="en-US" sz="2000" b="0" i="0" dirty="0">
                <a:effectLst/>
                <a:latin typeface="system-ui"/>
              </a:rPr>
              <a:t>如果 </a:t>
            </a:r>
            <a:r>
              <a:rPr lang="en-US" sz="2000" b="0" i="0" dirty="0">
                <a:solidFill>
                  <a:srgbClr val="C00000"/>
                </a:solidFill>
                <a:effectLst/>
                <a:latin typeface="system-ui"/>
              </a:rPr>
              <a:t>hash(a) == hash(b)</a:t>
            </a:r>
            <a:r>
              <a:rPr lang="en-US" sz="2000" b="0" i="0" dirty="0">
                <a:effectLst/>
                <a:latin typeface="system-ui"/>
              </a:rPr>
              <a:t>，</a:t>
            </a:r>
            <a:r>
              <a:rPr lang="zh-CN" altLang="en-US" sz="2000" b="0" i="0" dirty="0">
                <a:effectLst/>
                <a:latin typeface="system-ui"/>
              </a:rPr>
              <a:t>那么 </a:t>
            </a:r>
            <a:r>
              <a:rPr lang="en-US" sz="2000" b="0" i="0" dirty="0">
                <a:solidFill>
                  <a:srgbClr val="0432FF"/>
                </a:solidFill>
                <a:effectLst/>
                <a:latin typeface="system-ui"/>
              </a:rPr>
              <a:t>a </a:t>
            </a:r>
            <a:r>
              <a:rPr lang="zh-CN" altLang="en-US" sz="2000" b="0" i="0" dirty="0">
                <a:solidFill>
                  <a:srgbClr val="0432FF"/>
                </a:solidFill>
                <a:effectLst/>
                <a:latin typeface="system-ui"/>
              </a:rPr>
              <a:t>可能等于 </a:t>
            </a:r>
            <a:r>
              <a:rPr lang="en-US" sz="2000" b="0" i="0" dirty="0">
                <a:solidFill>
                  <a:srgbClr val="0432FF"/>
                </a:solidFill>
                <a:effectLst/>
                <a:latin typeface="system-ui"/>
              </a:rPr>
              <a:t>b</a:t>
            </a:r>
          </a:p>
          <a:p>
            <a:pPr lvl="2">
              <a:lnSpc>
                <a:spcPct val="150000"/>
              </a:lnSpc>
              <a:buFont typeface="Arial" panose="020B0604020202020204" pitchFamily="34" charset="0"/>
              <a:buChar char="•"/>
            </a:pPr>
            <a:r>
              <a:rPr lang="zh-CN" altLang="en-US" sz="2000" b="0" i="0" dirty="0">
                <a:effectLst/>
                <a:latin typeface="system-ui"/>
              </a:rPr>
              <a:t>如果 </a:t>
            </a:r>
            <a:r>
              <a:rPr lang="en-US" sz="2000" b="0" i="0" dirty="0">
                <a:solidFill>
                  <a:srgbClr val="C00000"/>
                </a:solidFill>
                <a:effectLst/>
                <a:latin typeface="system-ui"/>
              </a:rPr>
              <a:t>hash(a) != hash(b)</a:t>
            </a:r>
            <a:r>
              <a:rPr lang="en-US" sz="2000" b="0" i="0" dirty="0">
                <a:effectLst/>
                <a:latin typeface="system-ui"/>
              </a:rPr>
              <a:t>，</a:t>
            </a:r>
            <a:r>
              <a:rPr lang="zh-CN" altLang="en-US" sz="2000" b="0" i="0" dirty="0">
                <a:effectLst/>
                <a:latin typeface="system-ui"/>
              </a:rPr>
              <a:t>那么 </a:t>
            </a:r>
            <a:r>
              <a:rPr lang="en-US" sz="2000" b="0" i="0" dirty="0">
                <a:solidFill>
                  <a:srgbClr val="0432FF"/>
                </a:solidFill>
                <a:effectLst/>
                <a:latin typeface="system-ui"/>
              </a:rPr>
              <a:t>a != b</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b="1" dirty="0"/>
              <a:t>7.5.4</a:t>
            </a:r>
            <a:r>
              <a:rPr lang="en-US" altLang="zh-CN" b="1" dirty="0">
                <a:sym typeface="+mn-ea"/>
              </a:rPr>
              <a:t> </a:t>
            </a:r>
            <a:r>
              <a:rPr lang="zh-CN" altLang="en-US" b="1" dirty="0">
                <a:sym typeface="+mn-ea"/>
              </a:rPr>
              <a:t>特殊方法的比较</a:t>
            </a:r>
            <a:endParaRPr lang="en-US" b="1" dirty="0"/>
          </a:p>
        </p:txBody>
      </p:sp>
      <p:sp>
        <p:nvSpPr>
          <p:cNvPr id="4" name="文本框 3"/>
          <p:cNvSpPr txBox="1"/>
          <p:nvPr/>
        </p:nvSpPr>
        <p:spPr>
          <a:xfrm>
            <a:off x="440264" y="1343545"/>
            <a:ext cx="9896776" cy="1014730"/>
          </a:xfrm>
          <a:prstGeom prst="rect">
            <a:avLst/>
          </a:prstGeom>
          <a:noFill/>
        </p:spPr>
        <p:txBody>
          <a:bodyPr wrap="square" rtlCol="0">
            <a:spAutoFit/>
          </a:bodyPr>
          <a:lstStyle/>
          <a:p>
            <a:r>
              <a:rPr lang="zh-CN" altLang="en-US" sz="2000" dirty="0"/>
              <a:t>（</a:t>
            </a:r>
            <a:r>
              <a:rPr lang="en-US" altLang="zh-CN" sz="2000" dirty="0"/>
              <a:t>1</a:t>
            </a:r>
            <a:r>
              <a:rPr lang="zh-CN" altLang="en-US" sz="2000" dirty="0"/>
              <a:t>）</a:t>
            </a:r>
            <a:r>
              <a:rPr lang="en-US" altLang="zh-CN" sz="2000" dirty="0">
                <a:sym typeface="+mn-ea"/>
              </a:rPr>
              <a:t>定义一个没有 __eq__ 的类</a:t>
            </a:r>
            <a:endParaRPr sz="2000" dirty="0">
              <a:ln w="3175" cap="flat" cmpd="sng">
                <a:solidFill>
                  <a:srgbClr val="514843">
                    <a:alpha val="100000"/>
                  </a:srgbClr>
                </a:solidFill>
                <a:prstDash val="solid"/>
                <a:miter lim="0"/>
              </a:ln>
              <a:solidFill>
                <a:srgbClr val="514843">
                  <a:alpha val="100000"/>
                </a:srgbClr>
              </a:solidFill>
              <a:latin typeface="微软雅黑" panose="020B0503020204020204" charset="-122"/>
              <a:ea typeface="微软雅黑" panose="020B0503020204020204" charset="-122"/>
              <a:cs typeface="微软雅黑" panose="020B0503020204020204" charset="-122"/>
            </a:endParaRPr>
          </a:p>
          <a:p>
            <a:endParaRPr lang="en-US" altLang="zh-CN" sz="2000" dirty="0"/>
          </a:p>
          <a:p>
            <a:endParaRPr lang="zh-CN" altLang="en-US" sz="2000" dirty="0"/>
          </a:p>
        </p:txBody>
      </p:sp>
      <p:pic>
        <p:nvPicPr>
          <p:cNvPr id="5" name="Picture 4">
            <a:extLst>
              <a:ext uri="{FF2B5EF4-FFF2-40B4-BE49-F238E27FC236}">
                <a16:creationId xmlns:a16="http://schemas.microsoft.com/office/drawing/2014/main" id="{688E84E8-BCE2-75CC-24B4-C36AF70CD4C8}"/>
              </a:ext>
            </a:extLst>
          </p:cNvPr>
          <p:cNvPicPr>
            <a:picLocks noChangeAspect="1"/>
          </p:cNvPicPr>
          <p:nvPr/>
        </p:nvPicPr>
        <p:blipFill>
          <a:blip r:embed="rId2"/>
          <a:stretch>
            <a:fillRect/>
          </a:stretch>
        </p:blipFill>
        <p:spPr>
          <a:xfrm>
            <a:off x="4718429" y="1456519"/>
            <a:ext cx="6057900" cy="4927600"/>
          </a:xfrm>
          <a:prstGeom prst="rect">
            <a:avLst/>
          </a:prstGeom>
          <a:effectLst>
            <a:outerShdw blurRad="63500" sx="102000" sy="102000" algn="ctr"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b="1" dirty="0"/>
              <a:t>7.5.4</a:t>
            </a:r>
            <a:r>
              <a:rPr lang="en-US" altLang="zh-CN" b="1" dirty="0">
                <a:sym typeface="+mn-ea"/>
              </a:rPr>
              <a:t> </a:t>
            </a:r>
            <a:r>
              <a:rPr lang="zh-CN" altLang="en-US" b="1" dirty="0">
                <a:sym typeface="+mn-ea"/>
              </a:rPr>
              <a:t>特殊方法的比较</a:t>
            </a:r>
            <a:endParaRPr lang="en-US" b="1" dirty="0"/>
          </a:p>
        </p:txBody>
      </p:sp>
      <p:sp>
        <p:nvSpPr>
          <p:cNvPr id="4" name="文本框 3"/>
          <p:cNvSpPr txBox="1"/>
          <p:nvPr/>
        </p:nvSpPr>
        <p:spPr>
          <a:xfrm>
            <a:off x="713219" y="1629950"/>
            <a:ext cx="3558531" cy="1875450"/>
          </a:xfrm>
          <a:prstGeom prst="rect">
            <a:avLst/>
          </a:prstGeom>
          <a:noFill/>
        </p:spPr>
        <p:txBody>
          <a:bodyPr wrap="square" rtlCol="0">
            <a:spAutoFit/>
          </a:bodyPr>
          <a:lstStyle/>
          <a:p>
            <a:pPr>
              <a:lnSpc>
                <a:spcPct val="150000"/>
              </a:lnSpc>
            </a:pPr>
            <a:r>
              <a:rPr lang="zh-CN" altLang="en-US" sz="2000" dirty="0"/>
              <a:t>（</a:t>
            </a:r>
            <a:r>
              <a:rPr lang="en-US" altLang="zh-CN" sz="2000" dirty="0"/>
              <a:t>2</a:t>
            </a:r>
            <a:r>
              <a:rPr lang="zh-CN" altLang="en-US" sz="2000" dirty="0"/>
              <a:t>）</a:t>
            </a:r>
            <a:r>
              <a:rPr lang="en-US" altLang="zh-CN" sz="2000" dirty="0" err="1">
                <a:sym typeface="+mn-ea"/>
              </a:rPr>
              <a:t>定义一个没有</a:t>
            </a:r>
            <a:r>
              <a:rPr lang="en-US" altLang="zh-CN" sz="2000" dirty="0">
                <a:sym typeface="+mn-ea"/>
              </a:rPr>
              <a:t> __eq__ 但有 __hash__ 的类</a:t>
            </a:r>
            <a:endParaRPr sz="2000" dirty="0">
              <a:ln w="3175" cap="flat" cmpd="sng">
                <a:solidFill>
                  <a:srgbClr val="514843">
                    <a:alpha val="100000"/>
                  </a:srgbClr>
                </a:solidFill>
                <a:prstDash val="solid"/>
                <a:miter lim="0"/>
              </a:ln>
              <a:solidFill>
                <a:srgbClr val="514843">
                  <a:alpha val="100000"/>
                </a:srgbClr>
              </a:solidFill>
              <a:latin typeface="微软雅黑" panose="020B0503020204020204" charset="-122"/>
              <a:ea typeface="微软雅黑" panose="020B0503020204020204" charset="-122"/>
              <a:cs typeface="微软雅黑" panose="020B0503020204020204" charset="-122"/>
            </a:endParaRPr>
          </a:p>
          <a:p>
            <a:pPr>
              <a:lnSpc>
                <a:spcPct val="150000"/>
              </a:lnSpc>
            </a:pPr>
            <a:endParaRPr lang="en-US" altLang="zh-CN" sz="2000" dirty="0"/>
          </a:p>
          <a:p>
            <a:pPr>
              <a:lnSpc>
                <a:spcPct val="150000"/>
              </a:lnSpc>
            </a:pPr>
            <a:endParaRPr lang="zh-CN" altLang="en-US" sz="2000" dirty="0"/>
          </a:p>
        </p:txBody>
      </p:sp>
      <p:pic>
        <p:nvPicPr>
          <p:cNvPr id="5" name="Picture 4">
            <a:extLst>
              <a:ext uri="{FF2B5EF4-FFF2-40B4-BE49-F238E27FC236}">
                <a16:creationId xmlns:a16="http://schemas.microsoft.com/office/drawing/2014/main" id="{7780EFFC-3FCE-DC4D-1BA0-6A23166E3CF9}"/>
              </a:ext>
            </a:extLst>
          </p:cNvPr>
          <p:cNvPicPr>
            <a:picLocks noChangeAspect="1"/>
          </p:cNvPicPr>
          <p:nvPr/>
        </p:nvPicPr>
        <p:blipFill>
          <a:blip r:embed="rId2"/>
          <a:stretch>
            <a:fillRect/>
          </a:stretch>
        </p:blipFill>
        <p:spPr>
          <a:xfrm>
            <a:off x="4489356" y="841190"/>
            <a:ext cx="5860840" cy="5421277"/>
          </a:xfrm>
          <a:prstGeom prst="rect">
            <a:avLst/>
          </a:prstGeom>
          <a:effectLst>
            <a:outerShdw blurRad="63500" sx="102000" sy="102000" algn="ctr"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02F2C-EA1B-43FA-D7E1-DCDF8E120B9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06952E6-3F4D-8404-B8E0-E7B44CDD635E}"/>
              </a:ext>
            </a:extLst>
          </p:cNvPr>
          <p:cNvSpPr>
            <a:spLocks noGrp="1"/>
          </p:cNvSpPr>
          <p:nvPr>
            <p:ph type="title"/>
          </p:nvPr>
        </p:nvSpPr>
        <p:spPr>
          <a:xfrm>
            <a:off x="1104900" y="76200"/>
            <a:ext cx="9980682" cy="1096962"/>
          </a:xfrm>
        </p:spPr>
        <p:txBody>
          <a:bodyPr/>
          <a:lstStyle/>
          <a:p>
            <a:r>
              <a:rPr lang="en-US" b="1" dirty="0"/>
              <a:t>7.5.4</a:t>
            </a:r>
            <a:r>
              <a:rPr lang="en-US" altLang="zh-CN" b="1" dirty="0">
                <a:sym typeface="+mn-ea"/>
              </a:rPr>
              <a:t> </a:t>
            </a:r>
            <a:r>
              <a:rPr lang="zh-CN" altLang="en-US" b="1" dirty="0">
                <a:sym typeface="+mn-ea"/>
              </a:rPr>
              <a:t>特殊方法的比较</a:t>
            </a:r>
            <a:endParaRPr lang="en-US" b="1" dirty="0"/>
          </a:p>
        </p:txBody>
      </p:sp>
      <p:sp>
        <p:nvSpPr>
          <p:cNvPr id="4" name="文本框 3">
            <a:extLst>
              <a:ext uri="{FF2B5EF4-FFF2-40B4-BE49-F238E27FC236}">
                <a16:creationId xmlns:a16="http://schemas.microsoft.com/office/drawing/2014/main" id="{96AEFA5D-7A47-D245-F6D1-6F08D7638221}"/>
              </a:ext>
            </a:extLst>
          </p:cNvPr>
          <p:cNvSpPr txBox="1"/>
          <p:nvPr/>
        </p:nvSpPr>
        <p:spPr>
          <a:xfrm>
            <a:off x="672276" y="1507120"/>
            <a:ext cx="3244631" cy="1413785"/>
          </a:xfrm>
          <a:prstGeom prst="rect">
            <a:avLst/>
          </a:prstGeom>
          <a:noFill/>
        </p:spPr>
        <p:txBody>
          <a:bodyPr wrap="square" rtlCol="0">
            <a:spAutoFit/>
          </a:bodyPr>
          <a:lstStyle/>
          <a:p>
            <a:pPr>
              <a:lnSpc>
                <a:spcPct val="150000"/>
              </a:lnSpc>
            </a:pPr>
            <a:r>
              <a:rPr sz="2000" dirty="0">
                <a:ln w="3175" cap="flat" cmpd="sng">
                  <a:solidFill>
                    <a:srgbClr val="514843">
                      <a:alpha val="100000"/>
                    </a:srgbClr>
                  </a:solidFill>
                  <a:prstDash val="solid"/>
                  <a:miter lim="0"/>
                </a:ln>
                <a:solidFill>
                  <a:srgbClr val="514843">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2000" dirty="0">
                <a:ln w="3175" cap="flat" cmpd="sng">
                  <a:solidFill>
                    <a:srgbClr val="514843">
                      <a:alpha val="100000"/>
                    </a:srgbClr>
                  </a:solidFill>
                  <a:prstDash val="solid"/>
                  <a:miter lim="0"/>
                </a:ln>
                <a:solidFill>
                  <a:srgbClr val="514843">
                    <a:alpha val="100000"/>
                  </a:srgbClr>
                </a:solidFill>
                <a:latin typeface="+mn-ea"/>
                <a:cs typeface="微软雅黑" panose="020B0503020204020204" charset="-122"/>
                <a:sym typeface="+mn-ea"/>
              </a:rPr>
              <a:t>（</a:t>
            </a:r>
            <a:r>
              <a:rPr lang="en-US" altLang="zh-CN" sz="2000" dirty="0">
                <a:ln w="3175" cap="flat" cmpd="sng">
                  <a:solidFill>
                    <a:srgbClr val="514843">
                      <a:alpha val="100000"/>
                    </a:srgbClr>
                  </a:solidFill>
                  <a:prstDash val="solid"/>
                  <a:miter lim="0"/>
                </a:ln>
                <a:solidFill>
                  <a:srgbClr val="514843">
                    <a:alpha val="100000"/>
                  </a:srgbClr>
                </a:solidFill>
                <a:latin typeface="+mn-ea"/>
                <a:cs typeface="微软雅黑" panose="020B0503020204020204" charset="-122"/>
                <a:sym typeface="+mn-ea"/>
              </a:rPr>
              <a:t>3</a:t>
            </a:r>
            <a:r>
              <a:rPr lang="zh-CN" altLang="en-US" sz="2000" dirty="0">
                <a:ln w="3175" cap="flat" cmpd="sng">
                  <a:solidFill>
                    <a:srgbClr val="514843">
                      <a:alpha val="100000"/>
                    </a:srgbClr>
                  </a:solidFill>
                  <a:prstDash val="solid"/>
                  <a:miter lim="0"/>
                </a:ln>
                <a:solidFill>
                  <a:srgbClr val="514843">
                    <a:alpha val="100000"/>
                  </a:srgbClr>
                </a:solidFill>
                <a:latin typeface="+mn-ea"/>
                <a:cs typeface="微软雅黑" panose="020B0503020204020204" charset="-122"/>
                <a:sym typeface="+mn-ea"/>
              </a:rPr>
              <a:t>）</a:t>
            </a:r>
            <a:r>
              <a:rPr lang="en-US" altLang="zh-CN" sz="2000" dirty="0" err="1">
                <a:sym typeface="+mn-ea"/>
              </a:rPr>
              <a:t>定义一个有</a:t>
            </a:r>
            <a:r>
              <a:rPr lang="en-US" altLang="zh-CN" sz="2000" dirty="0">
                <a:sym typeface="+mn-ea"/>
              </a:rPr>
              <a:t> __eq__ </a:t>
            </a:r>
            <a:r>
              <a:rPr lang="en-US" altLang="zh-CN" sz="2000" dirty="0" err="1">
                <a:sym typeface="+mn-ea"/>
              </a:rPr>
              <a:t>和</a:t>
            </a:r>
            <a:r>
              <a:rPr lang="zh-CN" altLang="en-US" sz="2000" dirty="0">
                <a:sym typeface="+mn-ea"/>
              </a:rPr>
              <a:t>但没有</a:t>
            </a:r>
            <a:r>
              <a:rPr lang="en-US" altLang="zh-CN" sz="2000" dirty="0">
                <a:sym typeface="+mn-ea"/>
              </a:rPr>
              <a:t> __hash__ </a:t>
            </a:r>
            <a:r>
              <a:rPr lang="en-US" altLang="zh-CN" sz="2000" dirty="0" err="1">
                <a:sym typeface="+mn-ea"/>
              </a:rPr>
              <a:t>的类</a:t>
            </a:r>
            <a:r>
              <a:rPr lang="en-US" altLang="zh-CN" sz="2000" dirty="0">
                <a:sym typeface="+mn-ea"/>
              </a:rPr>
              <a:t>:</a:t>
            </a:r>
            <a:endParaRPr lang="en-US" altLang="zh-CN" sz="2000" dirty="0"/>
          </a:p>
          <a:p>
            <a:pPr>
              <a:lnSpc>
                <a:spcPct val="150000"/>
              </a:lnSpc>
            </a:pPr>
            <a:endParaRPr lang="zh-CN" altLang="en-US" sz="2000" dirty="0"/>
          </a:p>
        </p:txBody>
      </p:sp>
      <p:pic>
        <p:nvPicPr>
          <p:cNvPr id="2" name="Picture 1">
            <a:extLst>
              <a:ext uri="{FF2B5EF4-FFF2-40B4-BE49-F238E27FC236}">
                <a16:creationId xmlns:a16="http://schemas.microsoft.com/office/drawing/2014/main" id="{1D1D38E3-391D-29FF-494D-B57FE9602975}"/>
              </a:ext>
            </a:extLst>
          </p:cNvPr>
          <p:cNvPicPr>
            <a:picLocks noChangeAspect="1"/>
          </p:cNvPicPr>
          <p:nvPr/>
        </p:nvPicPr>
        <p:blipFill>
          <a:blip r:embed="rId2"/>
          <a:stretch>
            <a:fillRect/>
          </a:stretch>
        </p:blipFill>
        <p:spPr>
          <a:xfrm>
            <a:off x="4205671" y="734041"/>
            <a:ext cx="6280719" cy="567756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19544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b="1" dirty="0"/>
              <a:t>7.5.4</a:t>
            </a:r>
            <a:r>
              <a:rPr lang="en-US" altLang="zh-CN" b="1" dirty="0">
                <a:sym typeface="+mn-ea"/>
              </a:rPr>
              <a:t> </a:t>
            </a:r>
            <a:r>
              <a:rPr lang="zh-CN" altLang="en-US" b="1" dirty="0">
                <a:sym typeface="+mn-ea"/>
              </a:rPr>
              <a:t>特殊方法的比较</a:t>
            </a:r>
            <a:endParaRPr lang="en-US" b="1" dirty="0"/>
          </a:p>
        </p:txBody>
      </p:sp>
      <p:sp>
        <p:nvSpPr>
          <p:cNvPr id="4" name="文本框 3"/>
          <p:cNvSpPr txBox="1"/>
          <p:nvPr/>
        </p:nvSpPr>
        <p:spPr>
          <a:xfrm>
            <a:off x="672276" y="1507120"/>
            <a:ext cx="3244631" cy="1413785"/>
          </a:xfrm>
          <a:prstGeom prst="rect">
            <a:avLst/>
          </a:prstGeom>
          <a:noFill/>
        </p:spPr>
        <p:txBody>
          <a:bodyPr wrap="square" rtlCol="0">
            <a:spAutoFit/>
          </a:bodyPr>
          <a:lstStyle/>
          <a:p>
            <a:pPr>
              <a:lnSpc>
                <a:spcPct val="150000"/>
              </a:lnSpc>
            </a:pPr>
            <a:r>
              <a:rPr sz="2000" dirty="0">
                <a:ln w="3175" cap="flat" cmpd="sng">
                  <a:solidFill>
                    <a:srgbClr val="514843">
                      <a:alpha val="100000"/>
                    </a:srgbClr>
                  </a:solidFill>
                  <a:prstDash val="solid"/>
                  <a:miter lim="0"/>
                </a:ln>
                <a:solidFill>
                  <a:srgbClr val="514843">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2000" dirty="0">
                <a:ln w="3175" cap="flat" cmpd="sng">
                  <a:solidFill>
                    <a:srgbClr val="514843">
                      <a:alpha val="100000"/>
                    </a:srgbClr>
                  </a:solidFill>
                  <a:prstDash val="solid"/>
                  <a:miter lim="0"/>
                </a:ln>
                <a:solidFill>
                  <a:srgbClr val="514843">
                    <a:alpha val="100000"/>
                  </a:srgbClr>
                </a:solidFill>
                <a:latin typeface="+mn-ea"/>
                <a:cs typeface="微软雅黑" panose="020B0503020204020204" charset="-122"/>
                <a:sym typeface="+mn-ea"/>
              </a:rPr>
              <a:t>（</a:t>
            </a:r>
            <a:r>
              <a:rPr lang="en-US" altLang="zh-CN" sz="2000" dirty="0">
                <a:ln w="3175" cap="flat" cmpd="sng">
                  <a:solidFill>
                    <a:srgbClr val="514843">
                      <a:alpha val="100000"/>
                    </a:srgbClr>
                  </a:solidFill>
                  <a:prstDash val="solid"/>
                  <a:miter lim="0"/>
                </a:ln>
                <a:solidFill>
                  <a:srgbClr val="514843">
                    <a:alpha val="100000"/>
                  </a:srgbClr>
                </a:solidFill>
                <a:latin typeface="+mn-ea"/>
                <a:cs typeface="微软雅黑" panose="020B0503020204020204" charset="-122"/>
                <a:sym typeface="+mn-ea"/>
              </a:rPr>
              <a:t>4</a:t>
            </a:r>
            <a:r>
              <a:rPr lang="zh-CN" altLang="en-US" sz="2000" dirty="0">
                <a:ln w="3175" cap="flat" cmpd="sng">
                  <a:solidFill>
                    <a:srgbClr val="514843">
                      <a:alpha val="100000"/>
                    </a:srgbClr>
                  </a:solidFill>
                  <a:prstDash val="solid"/>
                  <a:miter lim="0"/>
                </a:ln>
                <a:solidFill>
                  <a:srgbClr val="514843">
                    <a:alpha val="100000"/>
                  </a:srgbClr>
                </a:solidFill>
                <a:latin typeface="+mn-ea"/>
                <a:cs typeface="微软雅黑" panose="020B0503020204020204" charset="-122"/>
                <a:sym typeface="+mn-ea"/>
              </a:rPr>
              <a:t>）</a:t>
            </a:r>
            <a:r>
              <a:rPr lang="en-US" altLang="zh-CN" sz="2000" dirty="0" err="1">
                <a:sym typeface="+mn-ea"/>
              </a:rPr>
              <a:t>定义一个有</a:t>
            </a:r>
            <a:r>
              <a:rPr lang="en-US" altLang="zh-CN" sz="2000" dirty="0">
                <a:sym typeface="+mn-ea"/>
              </a:rPr>
              <a:t> __eq__ 和 __hash__ </a:t>
            </a:r>
            <a:r>
              <a:rPr lang="en-US" altLang="zh-CN" sz="2000" dirty="0" err="1">
                <a:sym typeface="+mn-ea"/>
              </a:rPr>
              <a:t>的类</a:t>
            </a:r>
            <a:r>
              <a:rPr lang="en-US" altLang="zh-CN" sz="2000" dirty="0">
                <a:sym typeface="+mn-ea"/>
              </a:rPr>
              <a:t>:</a:t>
            </a:r>
            <a:endParaRPr lang="en-US" altLang="zh-CN" sz="2000" dirty="0"/>
          </a:p>
          <a:p>
            <a:pPr>
              <a:lnSpc>
                <a:spcPct val="150000"/>
              </a:lnSpc>
            </a:pPr>
            <a:endParaRPr lang="zh-CN" altLang="en-US" sz="2000" dirty="0"/>
          </a:p>
        </p:txBody>
      </p:sp>
      <p:pic>
        <p:nvPicPr>
          <p:cNvPr id="6" name="Picture 5">
            <a:extLst>
              <a:ext uri="{FF2B5EF4-FFF2-40B4-BE49-F238E27FC236}">
                <a16:creationId xmlns:a16="http://schemas.microsoft.com/office/drawing/2014/main" id="{0F9F40A8-CF8C-CEAD-7A8B-F734A67D1723}"/>
              </a:ext>
            </a:extLst>
          </p:cNvPr>
          <p:cNvPicPr>
            <a:picLocks noChangeAspect="1"/>
          </p:cNvPicPr>
          <p:nvPr/>
        </p:nvPicPr>
        <p:blipFill>
          <a:blip r:embed="rId2"/>
          <a:stretch>
            <a:fillRect/>
          </a:stretch>
        </p:blipFill>
        <p:spPr>
          <a:xfrm>
            <a:off x="4570578" y="228600"/>
            <a:ext cx="5753100" cy="6553200"/>
          </a:xfrm>
          <a:prstGeom prst="rect">
            <a:avLst/>
          </a:prstGeom>
          <a:effectLst>
            <a:outerShdw blurRad="63500" sx="102000" sy="102000" algn="ctr"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7517" y="2750961"/>
            <a:ext cx="10071099" cy="1684150"/>
          </a:xfrm>
        </p:spPr>
        <p:txBody>
          <a:bodyPr/>
          <a:lstStyle/>
          <a:p>
            <a:r>
              <a:rPr lang="en-US" altLang="zh-CN" spc="-120" dirty="0">
                <a:ln w="4907" cap="flat" cmpd="sng">
                  <a:solidFill>
                    <a:srgbClr val="FFFFFF">
                      <a:alpha val="100000"/>
                    </a:srgbClr>
                  </a:solidFill>
                  <a:prstDash val="solid"/>
                  <a:miter lim="10"/>
                </a:ln>
                <a:solidFill>
                  <a:srgbClr val="FFFFFF">
                    <a:alpha val="100000"/>
                  </a:srgbClr>
                </a:solidFill>
                <a:latin typeface="宋体" panose="02010600030101010101" pitchFamily="2" charset="-122"/>
                <a:ea typeface="宋体" panose="02010600030101010101" pitchFamily="2" charset="-122"/>
                <a:cs typeface="宋体" panose="02010600030101010101" pitchFamily="2" charset="-122"/>
                <a:sym typeface="+mn-ea"/>
              </a:rPr>
              <a:t>7</a:t>
            </a:r>
            <a:r>
              <a:rPr spc="-120" dirty="0">
                <a:ln w="4907" cap="flat" cmpd="sng">
                  <a:solidFill>
                    <a:srgbClr val="FFFFFF">
                      <a:alpha val="100000"/>
                    </a:srgbClr>
                  </a:solidFill>
                  <a:prstDash val="solid"/>
                  <a:miter lim="10"/>
                </a:ln>
                <a:solidFill>
                  <a:srgbClr val="FFFFFF">
                    <a:alpha val="100000"/>
                  </a:srgbClr>
                </a:solidFill>
                <a:latin typeface="宋体" panose="02010600030101010101" pitchFamily="2" charset="-122"/>
                <a:ea typeface="宋体" panose="02010600030101010101" pitchFamily="2" charset="-122"/>
                <a:cs typeface="宋体" panose="02010600030101010101" pitchFamily="2" charset="-122"/>
                <a:sym typeface="+mn-ea"/>
              </a:rPr>
              <a:t>.</a:t>
            </a:r>
            <a:r>
              <a:rPr lang="en-US" spc="-120" dirty="0">
                <a:ln w="4907" cap="flat" cmpd="sng">
                  <a:solidFill>
                    <a:srgbClr val="FFFFFF">
                      <a:alpha val="100000"/>
                    </a:srgbClr>
                  </a:solidFill>
                  <a:prstDash val="solid"/>
                  <a:miter lim="10"/>
                </a:ln>
                <a:solidFill>
                  <a:srgbClr val="FFFFFF">
                    <a:alpha val="100000"/>
                  </a:srgbClr>
                </a:solidFill>
                <a:latin typeface="宋体" panose="02010600030101010101" pitchFamily="2" charset="-122"/>
                <a:ea typeface="宋体" panose="02010600030101010101" pitchFamily="2" charset="-122"/>
                <a:cs typeface="宋体" panose="02010600030101010101" pitchFamily="2" charset="-122"/>
                <a:sym typeface="+mn-ea"/>
              </a:rPr>
              <a:t>6</a:t>
            </a:r>
            <a:r>
              <a:rPr spc="-120" dirty="0">
                <a:solidFill>
                  <a:srgbClr val="FFFFFF">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lang="zh-CN" spc="-120" dirty="0">
                <a:solidFill>
                  <a:srgbClr val="FFFFFF">
                    <a:alpha val="100000"/>
                  </a:srgbClr>
                </a:solidFill>
                <a:latin typeface="宋体" panose="02010600030101010101" pitchFamily="2" charset="-122"/>
                <a:ea typeface="宋体" panose="02010600030101010101" pitchFamily="2" charset="-122"/>
                <a:cs typeface="宋体" panose="02010600030101010101" pitchFamily="2" charset="-122"/>
                <a:sym typeface="+mn-ea"/>
              </a:rPr>
              <a:t>迭代器</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altLang="zh-CN" b="1" dirty="0"/>
              <a:t>7.6 </a:t>
            </a:r>
            <a:r>
              <a:rPr lang="zh-CN" altLang="en-US" b="1" dirty="0"/>
              <a:t>迭代器</a:t>
            </a:r>
          </a:p>
        </p:txBody>
      </p:sp>
      <p:sp>
        <p:nvSpPr>
          <p:cNvPr id="4" name="文本框 3"/>
          <p:cNvSpPr txBox="1"/>
          <p:nvPr/>
        </p:nvSpPr>
        <p:spPr>
          <a:xfrm>
            <a:off x="1147003" y="1721984"/>
            <a:ext cx="9896475" cy="3641126"/>
          </a:xfrm>
          <a:prstGeom prst="rect">
            <a:avLst/>
          </a:prstGeom>
          <a:noFill/>
        </p:spPr>
        <p:txBody>
          <a:bodyPr wrap="square" rtlCol="0">
            <a:noAutofit/>
          </a:bodyPr>
          <a:lstStyle/>
          <a:p>
            <a:pPr algn="l" rtl="0">
              <a:lnSpc>
                <a:spcPct val="150000"/>
              </a:lnSpc>
              <a:spcBef>
                <a:spcPts val="80"/>
              </a:spcBef>
              <a:buClrTx/>
              <a:buSzTx/>
              <a:buFontTx/>
            </a:pPr>
            <a:r>
              <a:rPr lang="zh-CN" altLang="zh-CN" sz="2000" dirty="0">
                <a:sym typeface="+mn-ea"/>
              </a:rPr>
              <a:t>在许多情况下，我们需要</a:t>
            </a:r>
            <a:r>
              <a:rPr lang="zh-CN" altLang="zh-CN" sz="2000" dirty="0">
                <a:solidFill>
                  <a:srgbClr val="0432FF"/>
                </a:solidFill>
                <a:sym typeface="+mn-ea"/>
              </a:rPr>
              <a:t>像迭代器一样访问对象</a:t>
            </a:r>
            <a:r>
              <a:rPr lang="zh-CN" altLang="zh-CN" sz="2000" dirty="0">
                <a:sym typeface="+mn-ea"/>
              </a:rPr>
              <a:t>。一种方法是形成一个生成器循环，但这会延长程序员的任务和时间</a:t>
            </a:r>
            <a:endParaRPr lang="en-US" altLang="zh-CN" sz="2000" dirty="0">
              <a:sym typeface="+mn-ea"/>
            </a:endParaRPr>
          </a:p>
          <a:p>
            <a:pPr algn="l" rtl="0">
              <a:lnSpc>
                <a:spcPct val="150000"/>
              </a:lnSpc>
              <a:spcBef>
                <a:spcPts val="80"/>
              </a:spcBef>
              <a:buClrTx/>
              <a:buSzTx/>
              <a:buFontTx/>
            </a:pPr>
            <a:endParaRPr lang="en-US" altLang="zh-CN" sz="2000" dirty="0">
              <a:sym typeface="+mn-ea"/>
            </a:endParaRPr>
          </a:p>
          <a:p>
            <a:pPr lvl="1">
              <a:lnSpc>
                <a:spcPct val="150000"/>
              </a:lnSpc>
              <a:buFont typeface="Arial" panose="020B0604020202020204" pitchFamily="34" charset="0"/>
              <a:buChar char="•"/>
            </a:pPr>
            <a:r>
              <a:rPr lang="en-US" sz="2000" b="0" i="0" dirty="0">
                <a:effectLst/>
                <a:latin typeface="system-ui"/>
              </a:rPr>
              <a:t> Python</a:t>
            </a:r>
            <a:r>
              <a:rPr lang="zh-CN" altLang="en-US" sz="2000" b="0" i="0" dirty="0">
                <a:effectLst/>
                <a:latin typeface="system-ui"/>
              </a:rPr>
              <a:t>通过为此任务提供一个内置方法</a:t>
            </a:r>
            <a:r>
              <a:rPr lang="en-US" altLang="zh-CN" sz="2000" b="0" i="0" dirty="0">
                <a:effectLst/>
                <a:latin typeface="system-ui"/>
              </a:rPr>
              <a:t>__</a:t>
            </a:r>
            <a:r>
              <a:rPr lang="en-US" sz="2000" b="0" i="0" dirty="0" err="1">
                <a:effectLst/>
                <a:latin typeface="system-ui"/>
              </a:rPr>
              <a:t>iter</a:t>
            </a:r>
            <a:r>
              <a:rPr lang="en-US" sz="2000" b="0" i="0" dirty="0">
                <a:effectLst/>
                <a:latin typeface="system-ui"/>
              </a:rPr>
              <a:t>__()</a:t>
            </a:r>
            <a:r>
              <a:rPr lang="zh-CN" altLang="en-US" sz="2000" b="0" i="0" dirty="0">
                <a:effectLst/>
                <a:latin typeface="system-ui"/>
              </a:rPr>
              <a:t>来简化此任务。</a:t>
            </a:r>
          </a:p>
          <a:p>
            <a:pPr lvl="1">
              <a:lnSpc>
                <a:spcPct val="150000"/>
              </a:lnSpc>
              <a:buFont typeface="Arial" panose="020B0604020202020204" pitchFamily="34" charset="0"/>
              <a:buChar char="•"/>
            </a:pPr>
            <a:r>
              <a:rPr lang="en-US" altLang="zh-CN" sz="2000" b="0" i="0" dirty="0">
                <a:effectLst/>
                <a:latin typeface="system-ui"/>
              </a:rPr>
              <a:t> __</a:t>
            </a:r>
            <a:r>
              <a:rPr lang="en-US" sz="2000" b="0" i="0" dirty="0" err="1">
                <a:effectLst/>
                <a:latin typeface="system-ui"/>
              </a:rPr>
              <a:t>iter</a:t>
            </a:r>
            <a:r>
              <a:rPr lang="en-US" sz="2000" b="0" i="0" dirty="0">
                <a:effectLst/>
                <a:latin typeface="system-ui"/>
              </a:rPr>
              <a:t>__() </a:t>
            </a:r>
            <a:r>
              <a:rPr lang="zh-CN" altLang="en-US" sz="2000" b="0" i="0" dirty="0">
                <a:effectLst/>
                <a:latin typeface="system-ui"/>
              </a:rPr>
              <a:t>函数</a:t>
            </a:r>
            <a:r>
              <a:rPr lang="zh-CN" altLang="en-US" sz="2000" b="0" i="0" dirty="0">
                <a:solidFill>
                  <a:srgbClr val="0432FF"/>
                </a:solidFill>
                <a:effectLst/>
                <a:latin typeface="system-ui"/>
              </a:rPr>
              <a:t>返回给定对象（数组、集合、元组等或自定义对象）的迭代器。</a:t>
            </a:r>
          </a:p>
          <a:p>
            <a:pPr lvl="1">
              <a:lnSpc>
                <a:spcPct val="150000"/>
              </a:lnSpc>
              <a:buFont typeface="Arial" panose="020B0604020202020204" pitchFamily="34" charset="0"/>
              <a:buChar char="•"/>
            </a:pPr>
            <a:r>
              <a:rPr lang="en-US" altLang="zh-CN" sz="2000" b="0" i="0" dirty="0">
                <a:effectLst/>
                <a:latin typeface="system-ui"/>
              </a:rPr>
              <a:t> </a:t>
            </a:r>
            <a:r>
              <a:rPr lang="zh-CN" altLang="en-US" sz="2000" b="0" i="0" dirty="0">
                <a:effectLst/>
                <a:latin typeface="system-ui"/>
              </a:rPr>
              <a:t>它创建了一个对象，可以使用 </a:t>
            </a:r>
            <a:r>
              <a:rPr lang="en-US" altLang="zh-CN" sz="2000" b="0" i="0" dirty="0">
                <a:effectLst/>
                <a:latin typeface="system-ui"/>
              </a:rPr>
              <a:t>__</a:t>
            </a:r>
            <a:r>
              <a:rPr lang="en-US" sz="2000" b="0" i="0" dirty="0">
                <a:effectLst/>
                <a:latin typeface="system-ui"/>
              </a:rPr>
              <a:t>next__() </a:t>
            </a:r>
            <a:r>
              <a:rPr lang="zh-CN" altLang="en-US" sz="2000" b="0" i="0" dirty="0">
                <a:effectLst/>
                <a:latin typeface="system-ui"/>
              </a:rPr>
              <a:t>函数一次访问一个元素，这在处理循环时通常很方便。</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altLang="zh-CN" b="1" dirty="0"/>
              <a:t>7.6</a:t>
            </a:r>
            <a:r>
              <a:rPr lang="en-US" altLang="zh-CN" b="1" dirty="0">
                <a:sym typeface="+mn-ea"/>
              </a:rPr>
              <a:t> </a:t>
            </a:r>
            <a:r>
              <a:rPr lang="zh-CN" spc="-60" dirty="0">
                <a:ln w="3127" cap="flat" cmpd="sng">
                  <a:solidFill>
                    <a:srgbClr val="514843">
                      <a:alpha val="100000"/>
                    </a:srgbClr>
                  </a:solidFill>
                  <a:prstDash val="solid"/>
                  <a:miter lim="1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迭代器</a:t>
            </a:r>
            <a:r>
              <a:rPr lang="en-US" altLang="zh-CN" spc="-60" dirty="0">
                <a:ln w="3127" cap="flat" cmpd="sng">
                  <a:solidFill>
                    <a:srgbClr val="514843">
                      <a:alpha val="100000"/>
                    </a:srgbClr>
                  </a:solidFill>
                  <a:prstDash val="solid"/>
                  <a:miter lim="1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__</a:t>
            </a:r>
            <a:r>
              <a:rPr lang="zh-CN" spc="-60" dirty="0">
                <a:ln w="3127" cap="flat" cmpd="sng">
                  <a:solidFill>
                    <a:srgbClr val="514843">
                      <a:alpha val="100000"/>
                    </a:srgbClr>
                  </a:solidFill>
                  <a:prstDash val="solid"/>
                  <a:miter lim="1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iter</a:t>
            </a:r>
            <a:r>
              <a:rPr lang="en-US" altLang="zh-CN" spc="-60" dirty="0">
                <a:ln w="3127" cap="flat" cmpd="sng">
                  <a:solidFill>
                    <a:srgbClr val="514843">
                      <a:alpha val="100000"/>
                    </a:srgbClr>
                  </a:solidFill>
                  <a:prstDash val="solid"/>
                  <a:miter lim="1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__</a:t>
            </a:r>
            <a:r>
              <a:rPr lang="zh-CN" spc="-60" dirty="0">
                <a:ln w="3127" cap="flat" cmpd="sng">
                  <a:solidFill>
                    <a:srgbClr val="514843">
                      <a:alpha val="100000"/>
                    </a:srgbClr>
                  </a:solidFill>
                  <a:prstDash val="solid"/>
                  <a:miter lim="1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 和 </a:t>
            </a:r>
            <a:r>
              <a:rPr lang="en-US" altLang="zh-CN" spc="-60" dirty="0">
                <a:ln w="3127" cap="flat" cmpd="sng">
                  <a:solidFill>
                    <a:srgbClr val="514843">
                      <a:alpha val="100000"/>
                    </a:srgbClr>
                  </a:solidFill>
                  <a:prstDash val="solid"/>
                  <a:miter lim="1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__</a:t>
            </a:r>
            <a:r>
              <a:rPr lang="zh-CN" spc="-60" dirty="0">
                <a:ln w="3127" cap="flat" cmpd="sng">
                  <a:solidFill>
                    <a:srgbClr val="514843">
                      <a:alpha val="100000"/>
                    </a:srgbClr>
                  </a:solidFill>
                  <a:prstDash val="solid"/>
                  <a:miter lim="1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next</a:t>
            </a:r>
            <a:r>
              <a:rPr lang="en-US" altLang="zh-CN" spc="-60" dirty="0">
                <a:ln w="3127" cap="flat" cmpd="sng">
                  <a:solidFill>
                    <a:srgbClr val="514843">
                      <a:alpha val="100000"/>
                    </a:srgbClr>
                  </a:solidFill>
                  <a:prstDash val="solid"/>
                  <a:miter lim="1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__</a:t>
            </a:r>
            <a:r>
              <a:rPr lang="zh-CN" spc="-60" dirty="0">
                <a:ln w="3127" cap="flat" cmpd="sng">
                  <a:solidFill>
                    <a:srgbClr val="514843">
                      <a:alpha val="100000"/>
                    </a:srgbClr>
                  </a:solidFill>
                  <a:prstDash val="solid"/>
                  <a:miter lim="1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a:t>
            </a:r>
            <a:endParaRPr lang="en-US" b="1" dirty="0"/>
          </a:p>
        </p:txBody>
      </p:sp>
      <p:sp>
        <p:nvSpPr>
          <p:cNvPr id="4" name="文本框 3"/>
          <p:cNvSpPr txBox="1"/>
          <p:nvPr/>
        </p:nvSpPr>
        <p:spPr>
          <a:xfrm>
            <a:off x="1040765" y="1548063"/>
            <a:ext cx="9896776" cy="1322070"/>
          </a:xfrm>
          <a:prstGeom prst="rect">
            <a:avLst/>
          </a:prstGeom>
          <a:noFill/>
        </p:spPr>
        <p:txBody>
          <a:bodyPr wrap="square" rtlCol="0">
            <a:spAutoFit/>
          </a:bodyPr>
          <a:lstStyle/>
          <a:p>
            <a:r>
              <a:rPr sz="2000" dirty="0">
                <a:ln w="3175" cap="flat" cmpd="sng">
                  <a:solidFill>
                    <a:srgbClr val="514843">
                      <a:alpha val="100000"/>
                    </a:srgbClr>
                  </a:solidFill>
                  <a:prstDash val="solid"/>
                  <a:miter lim="0"/>
                </a:ln>
                <a:solidFill>
                  <a:srgbClr val="514843">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2000" dirty="0">
                <a:sym typeface="+mn-ea"/>
              </a:rPr>
              <a:t>例如以下代码，没有添加迭代器</a:t>
            </a:r>
            <a:r>
              <a:rPr lang="en-US" altLang="zh-CN" sz="2000" dirty="0">
                <a:sym typeface="+mn-ea"/>
              </a:rPr>
              <a:t>:</a:t>
            </a:r>
            <a:endParaRPr lang="zh-CN" sz="2000" dirty="0">
              <a:ln w="3175" cap="flat" cmpd="sng">
                <a:solidFill>
                  <a:srgbClr val="514843">
                    <a:alpha val="100000"/>
                  </a:srgbClr>
                </a:solidFill>
                <a:prstDash val="solid"/>
                <a:miter lim="0"/>
              </a:ln>
              <a:solidFill>
                <a:srgbClr val="514843">
                  <a:alpha val="100000"/>
                </a:srgbClr>
              </a:solidFill>
              <a:latin typeface="微软雅黑" panose="020B0503020204020204" charset="-122"/>
              <a:ea typeface="微软雅黑" panose="020B0503020204020204" charset="-122"/>
              <a:cs typeface="微软雅黑" panose="020B0503020204020204" charset="-122"/>
            </a:endParaRPr>
          </a:p>
          <a:p>
            <a:endParaRPr sz="2000" dirty="0">
              <a:ln w="3175" cap="flat" cmpd="sng">
                <a:solidFill>
                  <a:srgbClr val="514843">
                    <a:alpha val="100000"/>
                  </a:srgbClr>
                </a:solidFill>
                <a:prstDash val="solid"/>
                <a:miter lim="0"/>
              </a:ln>
              <a:solidFill>
                <a:srgbClr val="514843">
                  <a:alpha val="100000"/>
                </a:srgbClr>
              </a:solidFill>
              <a:latin typeface="微软雅黑" panose="020B0503020204020204" charset="-122"/>
              <a:ea typeface="微软雅黑" panose="020B0503020204020204" charset="-122"/>
              <a:cs typeface="微软雅黑" panose="020B0503020204020204" charset="-122"/>
            </a:endParaRPr>
          </a:p>
          <a:p>
            <a:endParaRPr lang="en-US" altLang="zh-CN" sz="2000" dirty="0"/>
          </a:p>
          <a:p>
            <a:endParaRPr lang="zh-CN" altLang="en-US" sz="2000" dirty="0"/>
          </a:p>
        </p:txBody>
      </p:sp>
      <p:pic>
        <p:nvPicPr>
          <p:cNvPr id="5" name="Picture 4">
            <a:extLst>
              <a:ext uri="{FF2B5EF4-FFF2-40B4-BE49-F238E27FC236}">
                <a16:creationId xmlns:a16="http://schemas.microsoft.com/office/drawing/2014/main" id="{50F7F8FF-0E74-629F-34DE-6B4D2CF5A78A}"/>
              </a:ext>
            </a:extLst>
          </p:cNvPr>
          <p:cNvPicPr>
            <a:picLocks noChangeAspect="1"/>
          </p:cNvPicPr>
          <p:nvPr/>
        </p:nvPicPr>
        <p:blipFill>
          <a:blip r:embed="rId2"/>
          <a:stretch>
            <a:fillRect/>
          </a:stretch>
        </p:blipFill>
        <p:spPr>
          <a:xfrm>
            <a:off x="2630327" y="2073240"/>
            <a:ext cx="6273800" cy="4191000"/>
          </a:xfrm>
          <a:prstGeom prst="rect">
            <a:avLst/>
          </a:prstGeom>
          <a:effectLst>
            <a:outerShdw blurRad="63500" sx="102000" sy="102000" algn="ctr"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04900" y="76200"/>
            <a:ext cx="9980682" cy="1096962"/>
          </a:xfrm>
        </p:spPr>
        <p:txBody>
          <a:bodyPr/>
          <a:lstStyle/>
          <a:p>
            <a:r>
              <a:rPr lang="en-US" altLang="zh-CN" b="1" dirty="0"/>
              <a:t>7.6</a:t>
            </a:r>
            <a:r>
              <a:rPr lang="en-US" altLang="zh-CN" b="1" dirty="0">
                <a:sym typeface="+mn-ea"/>
              </a:rPr>
              <a:t> </a:t>
            </a:r>
            <a:r>
              <a:rPr lang="zh-CN" spc="-60" dirty="0">
                <a:ln w="3127" cap="flat" cmpd="sng">
                  <a:solidFill>
                    <a:srgbClr val="514843">
                      <a:alpha val="100000"/>
                    </a:srgbClr>
                  </a:solidFill>
                  <a:prstDash val="solid"/>
                  <a:miter lim="1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迭代器</a:t>
            </a:r>
            <a:r>
              <a:rPr lang="en-US" altLang="zh-CN" spc="-60" dirty="0">
                <a:ln w="3127" cap="flat" cmpd="sng">
                  <a:solidFill>
                    <a:srgbClr val="514843">
                      <a:alpha val="100000"/>
                    </a:srgbClr>
                  </a:solidFill>
                  <a:prstDash val="solid"/>
                  <a:miter lim="1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__</a:t>
            </a:r>
            <a:r>
              <a:rPr lang="zh-CN" spc="-60" dirty="0">
                <a:ln w="3127" cap="flat" cmpd="sng">
                  <a:solidFill>
                    <a:srgbClr val="514843">
                      <a:alpha val="100000"/>
                    </a:srgbClr>
                  </a:solidFill>
                  <a:prstDash val="solid"/>
                  <a:miter lim="1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iter</a:t>
            </a:r>
            <a:r>
              <a:rPr lang="en-US" altLang="zh-CN" spc="-60" dirty="0">
                <a:ln w="3127" cap="flat" cmpd="sng">
                  <a:solidFill>
                    <a:srgbClr val="514843">
                      <a:alpha val="100000"/>
                    </a:srgbClr>
                  </a:solidFill>
                  <a:prstDash val="solid"/>
                  <a:miter lim="1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__</a:t>
            </a:r>
            <a:r>
              <a:rPr lang="zh-CN" spc="-60" dirty="0">
                <a:ln w="3127" cap="flat" cmpd="sng">
                  <a:solidFill>
                    <a:srgbClr val="514843">
                      <a:alpha val="100000"/>
                    </a:srgbClr>
                  </a:solidFill>
                  <a:prstDash val="solid"/>
                  <a:miter lim="1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 和 </a:t>
            </a:r>
            <a:r>
              <a:rPr lang="en-US" altLang="zh-CN" spc="-60" dirty="0">
                <a:ln w="3127" cap="flat" cmpd="sng">
                  <a:solidFill>
                    <a:srgbClr val="514843">
                      <a:alpha val="100000"/>
                    </a:srgbClr>
                  </a:solidFill>
                  <a:prstDash val="solid"/>
                  <a:miter lim="1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__</a:t>
            </a:r>
            <a:r>
              <a:rPr lang="zh-CN" spc="-60" dirty="0">
                <a:ln w="3127" cap="flat" cmpd="sng">
                  <a:solidFill>
                    <a:srgbClr val="514843">
                      <a:alpha val="100000"/>
                    </a:srgbClr>
                  </a:solidFill>
                  <a:prstDash val="solid"/>
                  <a:miter lim="1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next</a:t>
            </a:r>
            <a:r>
              <a:rPr lang="en-US" altLang="zh-CN" spc="-60" dirty="0">
                <a:ln w="3127" cap="flat" cmpd="sng">
                  <a:solidFill>
                    <a:srgbClr val="514843">
                      <a:alpha val="100000"/>
                    </a:srgbClr>
                  </a:solidFill>
                  <a:prstDash val="solid"/>
                  <a:miter lim="1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__</a:t>
            </a:r>
            <a:r>
              <a:rPr lang="zh-CN" spc="-60" dirty="0">
                <a:ln w="3127" cap="flat" cmpd="sng">
                  <a:solidFill>
                    <a:srgbClr val="514843">
                      <a:alpha val="100000"/>
                    </a:srgbClr>
                  </a:solidFill>
                  <a:prstDash val="solid"/>
                  <a:miter lim="10"/>
                </a:ln>
                <a:solidFill>
                  <a:srgbClr val="514843">
                    <a:alpha val="100000"/>
                  </a:srgbClr>
                </a:solidFill>
                <a:latin typeface="宋体" panose="02010600030101010101" pitchFamily="2" charset="-122"/>
                <a:ea typeface="宋体" panose="02010600030101010101" pitchFamily="2" charset="-122"/>
                <a:cs typeface="宋体" panose="02010600030101010101" pitchFamily="2" charset="-122"/>
                <a:sym typeface="+mn-ea"/>
              </a:rPr>
              <a:t>()</a:t>
            </a:r>
            <a:endParaRPr lang="en-US" b="1" dirty="0"/>
          </a:p>
        </p:txBody>
      </p:sp>
      <p:sp>
        <p:nvSpPr>
          <p:cNvPr id="4" name="文本框 3"/>
          <p:cNvSpPr txBox="1"/>
          <p:nvPr/>
        </p:nvSpPr>
        <p:spPr>
          <a:xfrm>
            <a:off x="973341" y="1386288"/>
            <a:ext cx="9896776" cy="400110"/>
          </a:xfrm>
          <a:prstGeom prst="rect">
            <a:avLst/>
          </a:prstGeom>
          <a:noFill/>
        </p:spPr>
        <p:txBody>
          <a:bodyPr wrap="square" rtlCol="0">
            <a:spAutoFit/>
          </a:bodyPr>
          <a:lstStyle/>
          <a:p>
            <a:r>
              <a:rPr sz="2000" dirty="0">
                <a:ln w="3175" cap="flat" cmpd="sng">
                  <a:solidFill>
                    <a:srgbClr val="514843">
                      <a:alpha val="100000"/>
                    </a:srgbClr>
                  </a:solidFill>
                  <a:prstDash val="solid"/>
                  <a:miter lim="0"/>
                </a:ln>
                <a:solidFill>
                  <a:srgbClr val="514843">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zh-CN" sz="2000" dirty="0">
                <a:sym typeface="+mn-ea"/>
              </a:rPr>
              <a:t>对之前的代码添加迭代器:</a:t>
            </a:r>
            <a:endParaRPr lang="zh-CN" sz="2000" dirty="0">
              <a:ln w="3175" cap="flat" cmpd="sng">
                <a:solidFill>
                  <a:srgbClr val="514843">
                    <a:alpha val="100000"/>
                  </a:srgbClr>
                </a:solidFill>
                <a:prstDash val="solid"/>
                <a:miter lim="0"/>
              </a:ln>
              <a:solidFill>
                <a:srgbClr val="514843">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5" name="Picture 4">
            <a:extLst>
              <a:ext uri="{FF2B5EF4-FFF2-40B4-BE49-F238E27FC236}">
                <a16:creationId xmlns:a16="http://schemas.microsoft.com/office/drawing/2014/main" id="{B8592BE5-0835-7912-5A5A-C1A641DDE363}"/>
              </a:ext>
            </a:extLst>
          </p:cNvPr>
          <p:cNvPicPr>
            <a:picLocks noChangeAspect="1"/>
          </p:cNvPicPr>
          <p:nvPr/>
        </p:nvPicPr>
        <p:blipFill>
          <a:blip r:embed="rId2"/>
          <a:stretch>
            <a:fillRect/>
          </a:stretch>
        </p:blipFill>
        <p:spPr>
          <a:xfrm>
            <a:off x="4407756" y="1386288"/>
            <a:ext cx="6273800" cy="5067300"/>
          </a:xfrm>
          <a:prstGeom prst="rect">
            <a:avLst/>
          </a:prstGeom>
          <a:effectLst>
            <a:outerShdw blurRad="63500" sx="102000" sy="102000" algn="ctr" rotWithShape="0">
              <a:prstClr val="black">
                <a:alpha val="40000"/>
              </a:prstClr>
            </a:outerShdw>
          </a:effectLst>
        </p:spPr>
      </p:pic>
      <p:sp>
        <p:nvSpPr>
          <p:cNvPr id="2" name="Oval 1">
            <a:extLst>
              <a:ext uri="{FF2B5EF4-FFF2-40B4-BE49-F238E27FC236}">
                <a16:creationId xmlns:a16="http://schemas.microsoft.com/office/drawing/2014/main" id="{DB2776D7-0E6E-72A7-3ECE-04773F5843C1}"/>
              </a:ext>
            </a:extLst>
          </p:cNvPr>
          <p:cNvSpPr/>
          <p:nvPr/>
        </p:nvSpPr>
        <p:spPr>
          <a:xfrm>
            <a:off x="4614041" y="2879834"/>
            <a:ext cx="3205656" cy="788276"/>
          </a:xfrm>
          <a:prstGeom prst="ellipse">
            <a:avLst/>
          </a:prstGeom>
          <a:noFill/>
          <a:ln w="28575">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E3BD3-BCE5-2DC5-5246-3C25D4F1E5AC}"/>
              </a:ext>
            </a:extLst>
          </p:cNvPr>
          <p:cNvSpPr>
            <a:spLocks noGrp="1"/>
          </p:cNvSpPr>
          <p:nvPr>
            <p:ph type="title"/>
          </p:nvPr>
        </p:nvSpPr>
        <p:spPr/>
        <p:txBody>
          <a:bodyPr/>
          <a:lstStyle/>
          <a:p>
            <a:r>
              <a:rPr kumimoji="1" lang="en-US" altLang="zh-CN" dirty="0"/>
              <a:t>__</a:t>
            </a:r>
            <a:r>
              <a:rPr kumimoji="1" lang="en-US" altLang="zh-CN" dirty="0" err="1"/>
              <a:t>getitem</a:t>
            </a:r>
            <a:r>
              <a:rPr kumimoji="1" lang="en-US" altLang="zh-CN" dirty="0"/>
              <a:t>__ , __</a:t>
            </a:r>
            <a:r>
              <a:rPr kumimoji="1" lang="en-US" altLang="zh-CN" dirty="0" err="1"/>
              <a:t>delitem</a:t>
            </a:r>
            <a:r>
              <a:rPr kumimoji="1" lang="en-US" altLang="zh-CN" dirty="0"/>
              <a:t>__ and __</a:t>
            </a:r>
            <a:r>
              <a:rPr kumimoji="1" lang="en-US" altLang="zh-CN" dirty="0" err="1"/>
              <a:t>setitem</a:t>
            </a:r>
            <a:r>
              <a:rPr kumimoji="1" lang="en-US" altLang="zh-CN" dirty="0"/>
              <a:t>__</a:t>
            </a:r>
            <a:endParaRPr kumimoji="1" lang="zh-CN" altLang="en-US" dirty="0"/>
          </a:p>
        </p:txBody>
      </p:sp>
      <p:pic>
        <p:nvPicPr>
          <p:cNvPr id="3" name="Picture 2">
            <a:extLst>
              <a:ext uri="{FF2B5EF4-FFF2-40B4-BE49-F238E27FC236}">
                <a16:creationId xmlns:a16="http://schemas.microsoft.com/office/drawing/2014/main" id="{6BD644A5-1E0C-DC24-ED4F-281515439088}"/>
              </a:ext>
            </a:extLst>
          </p:cNvPr>
          <p:cNvPicPr>
            <a:picLocks noChangeAspect="1"/>
          </p:cNvPicPr>
          <p:nvPr/>
        </p:nvPicPr>
        <p:blipFill>
          <a:blip r:embed="rId2"/>
          <a:stretch>
            <a:fillRect/>
          </a:stretch>
        </p:blipFill>
        <p:spPr>
          <a:xfrm>
            <a:off x="548508" y="0"/>
            <a:ext cx="6163519" cy="6858000"/>
          </a:xfrm>
          <a:prstGeom prst="rect">
            <a:avLst/>
          </a:prstGeom>
          <a:effectLst>
            <a:outerShdw blurRad="63500" sx="102000" sy="102000" algn="ctr" rotWithShape="0">
              <a:prstClr val="black">
                <a:alpha val="40000"/>
              </a:prstClr>
            </a:outerShdw>
          </a:effectLst>
        </p:spPr>
      </p:pic>
      <p:pic>
        <p:nvPicPr>
          <p:cNvPr id="4" name="Picture 3">
            <a:extLst>
              <a:ext uri="{FF2B5EF4-FFF2-40B4-BE49-F238E27FC236}">
                <a16:creationId xmlns:a16="http://schemas.microsoft.com/office/drawing/2014/main" id="{4D6F8827-8A38-C56A-AD6E-4A9D5371B469}"/>
              </a:ext>
            </a:extLst>
          </p:cNvPr>
          <p:cNvPicPr>
            <a:picLocks noChangeAspect="1"/>
          </p:cNvPicPr>
          <p:nvPr/>
        </p:nvPicPr>
        <p:blipFill>
          <a:blip r:embed="rId3"/>
          <a:stretch>
            <a:fillRect/>
          </a:stretch>
        </p:blipFill>
        <p:spPr>
          <a:xfrm>
            <a:off x="6673423" y="0"/>
            <a:ext cx="4968551" cy="68580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000730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988A18-57F5-E94A-522E-6456CB2A28C8}"/>
              </a:ext>
            </a:extLst>
          </p:cNvPr>
          <p:cNvSpPr txBox="1"/>
          <p:nvPr/>
        </p:nvSpPr>
        <p:spPr>
          <a:xfrm>
            <a:off x="791571" y="313899"/>
            <a:ext cx="6609502" cy="369332"/>
          </a:xfrm>
          <a:prstGeom prst="rect">
            <a:avLst/>
          </a:prstGeom>
          <a:noFill/>
        </p:spPr>
        <p:txBody>
          <a:bodyPr wrap="none" rtlCol="0">
            <a:spAutoFit/>
          </a:bodyPr>
          <a:lstStyle/>
          <a:p>
            <a:r>
              <a:rPr lang="en-US" b="0" i="0" dirty="0">
                <a:solidFill>
                  <a:srgbClr val="0432FF"/>
                </a:solidFill>
                <a:effectLst/>
                <a:latin typeface="Times New Roman" panose="02020603050405020304" pitchFamily="18" charset="0"/>
              </a:rPr>
              <a:t>__next__(self)：</a:t>
            </a:r>
            <a:r>
              <a:rPr lang="zh-CN" altLang="en-US" b="0" i="0" dirty="0">
                <a:solidFill>
                  <a:srgbClr val="262625"/>
                </a:solidFill>
                <a:effectLst/>
                <a:latin typeface="Times New Roman" panose="02020603050405020304" pitchFamily="18" charset="0"/>
              </a:rPr>
              <a:t>定义迭代器的行为，用于逐步返回下一个元素。</a:t>
            </a:r>
          </a:p>
        </p:txBody>
      </p:sp>
      <p:pic>
        <p:nvPicPr>
          <p:cNvPr id="3" name="Picture 2">
            <a:extLst>
              <a:ext uri="{FF2B5EF4-FFF2-40B4-BE49-F238E27FC236}">
                <a16:creationId xmlns:a16="http://schemas.microsoft.com/office/drawing/2014/main" id="{FD1F1D3D-E67D-F908-0D62-3CDD66009985}"/>
              </a:ext>
            </a:extLst>
          </p:cNvPr>
          <p:cNvPicPr>
            <a:picLocks noChangeAspect="1"/>
          </p:cNvPicPr>
          <p:nvPr/>
        </p:nvPicPr>
        <p:blipFill>
          <a:blip r:embed="rId2"/>
          <a:stretch>
            <a:fillRect/>
          </a:stretch>
        </p:blipFill>
        <p:spPr>
          <a:xfrm>
            <a:off x="543068" y="1155700"/>
            <a:ext cx="4800600" cy="4546600"/>
          </a:xfrm>
          <a:prstGeom prst="rect">
            <a:avLst/>
          </a:prstGeom>
          <a:effectLst>
            <a:outerShdw blurRad="63500" sx="102000" sy="102000" algn="ctr" rotWithShape="0">
              <a:prstClr val="black">
                <a:alpha val="40000"/>
              </a:prstClr>
            </a:outerShdw>
          </a:effectLst>
        </p:spPr>
      </p:pic>
      <p:pic>
        <p:nvPicPr>
          <p:cNvPr id="4" name="Picture 3">
            <a:extLst>
              <a:ext uri="{FF2B5EF4-FFF2-40B4-BE49-F238E27FC236}">
                <a16:creationId xmlns:a16="http://schemas.microsoft.com/office/drawing/2014/main" id="{4CDE0604-9B96-5BDF-BE74-E79F61DC3299}"/>
              </a:ext>
            </a:extLst>
          </p:cNvPr>
          <p:cNvPicPr>
            <a:picLocks noChangeAspect="1"/>
          </p:cNvPicPr>
          <p:nvPr/>
        </p:nvPicPr>
        <p:blipFill>
          <a:blip r:embed="rId3"/>
          <a:stretch>
            <a:fillRect/>
          </a:stretch>
        </p:blipFill>
        <p:spPr>
          <a:xfrm>
            <a:off x="4943142" y="1807001"/>
            <a:ext cx="6337300" cy="47371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711694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AD3C0-D688-54EE-51D9-C5EF94F5C2B3}"/>
              </a:ext>
            </a:extLst>
          </p:cNvPr>
          <p:cNvSpPr>
            <a:spLocks noGrp="1"/>
          </p:cNvSpPr>
          <p:nvPr>
            <p:ph type="title"/>
          </p:nvPr>
        </p:nvSpPr>
        <p:spPr/>
        <p:txBody>
          <a:bodyPr/>
          <a:lstStyle/>
          <a:p>
            <a:r>
              <a:rPr kumimoji="1" lang="zh-CN" altLang="en-US" dirty="0"/>
              <a:t>参考资料</a:t>
            </a:r>
          </a:p>
        </p:txBody>
      </p:sp>
      <p:sp>
        <p:nvSpPr>
          <p:cNvPr id="3" name="TextBox 2">
            <a:extLst>
              <a:ext uri="{FF2B5EF4-FFF2-40B4-BE49-F238E27FC236}">
                <a16:creationId xmlns:a16="http://schemas.microsoft.com/office/drawing/2014/main" id="{C901DA01-568B-D018-3EBD-20FF122E76E5}"/>
              </a:ext>
            </a:extLst>
          </p:cNvPr>
          <p:cNvSpPr txBox="1"/>
          <p:nvPr/>
        </p:nvSpPr>
        <p:spPr>
          <a:xfrm>
            <a:off x="2782957" y="76200"/>
            <a:ext cx="7182678" cy="1200329"/>
          </a:xfrm>
          <a:prstGeom prst="rect">
            <a:avLst/>
          </a:prstGeom>
          <a:noFill/>
        </p:spPr>
        <p:txBody>
          <a:bodyPr wrap="square" rtlCol="0">
            <a:spAutoFit/>
          </a:bodyPr>
          <a:lstStyle/>
          <a:p>
            <a:pPr marL="342900" indent="-342900">
              <a:buFont typeface="+mj-lt"/>
              <a:buAutoNum type="arabicPeriod"/>
            </a:pPr>
            <a:r>
              <a:rPr lang="en-US" b="1" i="0" dirty="0">
                <a:solidFill>
                  <a:srgbClr val="222222"/>
                </a:solidFill>
                <a:effectLst/>
                <a:latin typeface="source sans pro" panose="020B0503030403020204" pitchFamily="34" charset="0"/>
              </a:rPr>
              <a:t>Python's Magic Methods: Leverage Their Power in Your Classes</a:t>
            </a:r>
            <a:br>
              <a:rPr lang="en-US" b="1" i="0" dirty="0">
                <a:solidFill>
                  <a:srgbClr val="222222"/>
                </a:solidFill>
                <a:effectLst/>
                <a:latin typeface="source sans pro" panose="020B0503030403020204" pitchFamily="34" charset="0"/>
              </a:rPr>
            </a:br>
            <a:r>
              <a:rPr lang="en-US" b="1" i="0" dirty="0">
                <a:solidFill>
                  <a:srgbClr val="222222"/>
                </a:solidFill>
                <a:effectLst/>
                <a:latin typeface="source sans pro" panose="020B0503030403020204" pitchFamily="34" charset="0"/>
                <a:hlinkClick r:id="rId2"/>
              </a:rPr>
              <a:t>https://realpython.com/python-magic-methods/</a:t>
            </a:r>
            <a:r>
              <a:rPr lang="en-US" b="1" i="0" dirty="0">
                <a:solidFill>
                  <a:srgbClr val="222222"/>
                </a:solidFill>
                <a:effectLst/>
                <a:latin typeface="source sans pro" panose="020B0503030403020204" pitchFamily="34" charset="0"/>
              </a:rPr>
              <a:t> </a:t>
            </a:r>
          </a:p>
          <a:p>
            <a:pPr marL="342900" indent="-342900">
              <a:buFont typeface="+mj-lt"/>
              <a:buAutoNum type="arabicPeriod"/>
            </a:pPr>
            <a:r>
              <a:rPr lang="en-US" b="1" i="0" dirty="0">
                <a:solidFill>
                  <a:srgbClr val="111111"/>
                </a:solidFill>
                <a:effectLst/>
                <a:latin typeface="Hoefler Text" panose="02030602050506020203" pitchFamily="18" charset="77"/>
              </a:rPr>
              <a:t>A Guide to Python's Magic Methods</a:t>
            </a:r>
            <a:br>
              <a:rPr lang="en-US" b="1" i="0" dirty="0">
                <a:solidFill>
                  <a:srgbClr val="111111"/>
                </a:solidFill>
                <a:effectLst/>
                <a:latin typeface="Hoefler Text" panose="02030602050506020203" pitchFamily="18" charset="77"/>
              </a:rPr>
            </a:br>
            <a:r>
              <a:rPr lang="en-US" b="1" i="0" dirty="0">
                <a:solidFill>
                  <a:srgbClr val="111111"/>
                </a:solidFill>
                <a:effectLst/>
                <a:latin typeface="Hoefler Text" panose="02030602050506020203" pitchFamily="18" charset="77"/>
                <a:hlinkClick r:id="rId3"/>
              </a:rPr>
              <a:t>https://rszalski.github.io/magicmethods/</a:t>
            </a:r>
            <a:r>
              <a:rPr lang="en-US" b="1" i="0" dirty="0">
                <a:solidFill>
                  <a:srgbClr val="111111"/>
                </a:solidFill>
                <a:effectLst/>
                <a:latin typeface="Hoefler Text" panose="02030602050506020203" pitchFamily="18" charset="77"/>
              </a:rPr>
              <a:t> </a:t>
            </a:r>
          </a:p>
        </p:txBody>
      </p:sp>
      <p:pic>
        <p:nvPicPr>
          <p:cNvPr id="4" name="Picture 3">
            <a:extLst>
              <a:ext uri="{FF2B5EF4-FFF2-40B4-BE49-F238E27FC236}">
                <a16:creationId xmlns:a16="http://schemas.microsoft.com/office/drawing/2014/main" id="{0E33E6D5-02CE-AC36-4B8B-D9A47ED04E80}"/>
              </a:ext>
            </a:extLst>
          </p:cNvPr>
          <p:cNvPicPr>
            <a:picLocks noChangeAspect="1"/>
          </p:cNvPicPr>
          <p:nvPr/>
        </p:nvPicPr>
        <p:blipFill>
          <a:blip r:embed="rId4"/>
          <a:stretch>
            <a:fillRect/>
          </a:stretch>
        </p:blipFill>
        <p:spPr>
          <a:xfrm>
            <a:off x="1210389" y="1404731"/>
            <a:ext cx="4673576" cy="5110943"/>
          </a:xfrm>
          <a:prstGeom prst="rect">
            <a:avLst/>
          </a:prstGeom>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BFB36549-4D12-4B9E-FF90-79991BF1B42C}"/>
              </a:ext>
            </a:extLst>
          </p:cNvPr>
          <p:cNvPicPr>
            <a:picLocks noChangeAspect="1"/>
          </p:cNvPicPr>
          <p:nvPr/>
        </p:nvPicPr>
        <p:blipFill>
          <a:blip r:embed="rId5"/>
          <a:stretch>
            <a:fillRect/>
          </a:stretch>
        </p:blipFill>
        <p:spPr>
          <a:xfrm>
            <a:off x="6374296" y="1404730"/>
            <a:ext cx="4286821" cy="511094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291017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br>
              <a:rPr lang="en-US" altLang="zh-CN" dirty="0"/>
            </a:br>
            <a:r>
              <a:rPr lang="en-US" altLang="zh-CN" dirty="0"/>
              <a:t>——The end——</a:t>
            </a:r>
            <a:endParaRPr lang="en-US" dirty="0"/>
          </a:p>
        </p:txBody>
      </p:sp>
    </p:spTree>
    <p:extLst>
      <p:ext uri="{BB962C8B-B14F-4D97-AF65-F5344CB8AC3E}">
        <p14:creationId xmlns:p14="http://schemas.microsoft.com/office/powerpoint/2010/main" val="1644129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426*70"/>
  <p:tag name="TABLE_ENDDRAG_RECT" val="267*123*426*70"/>
</p:tagLst>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DC6030-8312-4894-9236-1E15DA4F39C5}">
  <ds:schemaRefs>
    <ds:schemaRef ds:uri="http://schemas.microsoft.com/sharepoint/v3/contenttype/forms"/>
  </ds:schemaRefs>
</ds:datastoreItem>
</file>

<file path=customXml/itemProps2.xml><?xml version="1.0" encoding="utf-8"?>
<ds:datastoreItem xmlns:ds="http://schemas.openxmlformats.org/officeDocument/2006/customXml" ds:itemID="{BDBAFF00-647E-4627-9B6C-A5CDC1F32200}">
  <ds:schemaRefs>
    <ds:schemaRef ds:uri="40262f94-9f35-4ac3-9a90-690165a166b7"/>
    <ds:schemaRef ds:uri="http://purl.org/dc/dcmitype/"/>
    <ds:schemaRef ds:uri="http://purl.org/dc/terms/"/>
    <ds:schemaRef ds:uri="http://schemas.microsoft.com/office/2006/documentManagement/types"/>
    <ds:schemaRef ds:uri="http://purl.org/dc/elements/1.1/"/>
    <ds:schemaRef ds:uri="http://www.w3.org/XML/1998/namespace"/>
    <ds:schemaRef ds:uri="a4f35948-e619-41b3-aa29-22878b09cfd2"/>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5400D5F3-AA73-4EC6-BCD9-0DC3E330E5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3984</TotalTime>
  <Words>5766</Words>
  <Application>Microsoft Macintosh PowerPoint</Application>
  <PresentationFormat>Widescreen</PresentationFormat>
  <Paragraphs>441</Paragraphs>
  <Slides>86</Slides>
  <Notes>17</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86</vt:i4>
      </vt:variant>
    </vt:vector>
  </HeadingPairs>
  <TitlesOfParts>
    <vt:vector size="105" baseType="lpstr">
      <vt:lpstr>等线</vt:lpstr>
      <vt:lpstr>微软雅黑</vt:lpstr>
      <vt:lpstr>微软雅黑</vt:lpstr>
      <vt:lpstr>宋体</vt:lpstr>
      <vt:lpstr>sohne</vt:lpstr>
      <vt:lpstr>system-ui</vt:lpstr>
      <vt:lpstr>Arial</vt:lpstr>
      <vt:lpstr>Consolas</vt:lpstr>
      <vt:lpstr>Courier New</vt:lpstr>
      <vt:lpstr>Euphemia</vt:lpstr>
      <vt:lpstr>Hoefler Text</vt:lpstr>
      <vt:lpstr>Menlo</vt:lpstr>
      <vt:lpstr>Plantagenet Cherokee</vt:lpstr>
      <vt:lpstr>source sans pro</vt:lpstr>
      <vt:lpstr>Symbol</vt:lpstr>
      <vt:lpstr>Tahoma</vt:lpstr>
      <vt:lpstr>Times New Roman</vt:lpstr>
      <vt:lpstr>Wingdings</vt:lpstr>
      <vt:lpstr>Academic Literature 16x9</vt:lpstr>
      <vt:lpstr>第7章 面向对象程序设计</vt:lpstr>
      <vt:lpstr>教学内容</vt:lpstr>
      <vt:lpstr>7.1 面向对象编程介绍</vt:lpstr>
      <vt:lpstr>1 基本概念</vt:lpstr>
      <vt:lpstr>2 基本概念 (续)</vt:lpstr>
      <vt:lpstr>PowerPoint Presentation</vt:lpstr>
      <vt:lpstr>3 基本概念 (续)</vt:lpstr>
      <vt:lpstr>3.1 对象 </vt:lpstr>
      <vt:lpstr>3.2 类</vt:lpstr>
      <vt:lpstr>3.3 封装性</vt:lpstr>
      <vt:lpstr>3.4 继承性</vt:lpstr>
      <vt:lpstr>3.4-1 继承性</vt:lpstr>
      <vt:lpstr>3.4-2 继承性 ----多重继承</vt:lpstr>
      <vt:lpstr>3.5 多态性</vt:lpstr>
      <vt:lpstr>3.6 Abstraction</vt:lpstr>
      <vt:lpstr>面向对象编程介绍</vt:lpstr>
      <vt:lpstr>面向对象编程介绍</vt:lpstr>
      <vt:lpstr>7.2 Python中的类</vt:lpstr>
      <vt:lpstr>Python中的类</vt:lpstr>
      <vt:lpstr>1 定义类</vt:lpstr>
      <vt:lpstr>2 使用类</vt:lpstr>
      <vt:lpstr>3 类的方法</vt:lpstr>
      <vt:lpstr>（2）类方法</vt:lpstr>
      <vt:lpstr>（3）静态方法</vt:lpstr>
      <vt:lpstr>（4）构造方法</vt:lpstr>
      <vt:lpstr>（5）析构方法</vt:lpstr>
      <vt:lpstr>（6）私有方法</vt:lpstr>
      <vt:lpstr>（7）魔术方法</vt:lpstr>
      <vt:lpstr>（7）魔术方法</vt:lpstr>
      <vt:lpstr>4 类的属性</vt:lpstr>
      <vt:lpstr>（1）实例属性</vt:lpstr>
      <vt:lpstr>（2）类属性</vt:lpstr>
      <vt:lpstr>（2）类属性</vt:lpstr>
      <vt:lpstr>（2）类属性</vt:lpstr>
      <vt:lpstr>7.3 继承和多态</vt:lpstr>
      <vt:lpstr>继承和多态</vt:lpstr>
      <vt:lpstr>1 继承-单继承</vt:lpstr>
      <vt:lpstr>1 继承-单继承</vt:lpstr>
      <vt:lpstr>1 继承-多继承</vt:lpstr>
      <vt:lpstr>1 继承-多继承</vt:lpstr>
      <vt:lpstr>2 多态</vt:lpstr>
      <vt:lpstr>2 多态</vt:lpstr>
      <vt:lpstr>7.4 抽象类与接口</vt:lpstr>
      <vt:lpstr>1 抽象类</vt:lpstr>
      <vt:lpstr>1 抽象类</vt:lpstr>
      <vt:lpstr>2 接口</vt:lpstr>
      <vt:lpstr>2 接口</vt:lpstr>
      <vt:lpstr>2 接口</vt:lpstr>
      <vt:lpstr>7.5 特殊方法和属性</vt:lpstr>
      <vt:lpstr>7.5.1 初始化与构建</vt:lpstr>
      <vt:lpstr>7.5.1 特殊方法的初始化与构建</vt:lpstr>
      <vt:lpstr>7.5.1 特殊方法的初始化与构建</vt:lpstr>
      <vt:lpstr>__new__() and __init__()</vt:lpstr>
      <vt:lpstr>7.5.1 特殊方法的初始化与构建</vt:lpstr>
      <vt:lpstr>7.5.1 特殊方法的初始化与构建</vt:lpstr>
      <vt:lpstr>7.5.2 字符串表示方法</vt:lpstr>
      <vt:lpstr>7.5.2 字符串表示方法</vt:lpstr>
      <vt:lpstr>7.5.2 字符串表示方法</vt:lpstr>
      <vt:lpstr>PowerPoint Presentation</vt:lpstr>
      <vt:lpstr>The difference between __str__ and __repr__</vt:lpstr>
      <vt:lpstr>7.5.2 字符串表示方法</vt:lpstr>
      <vt:lpstr>7.5.2 字符串表示方法</vt:lpstr>
      <vt:lpstr>7.5.3 数学魔法方法</vt:lpstr>
      <vt:lpstr>7.5.3 数学魔法方法</vt:lpstr>
      <vt:lpstr>7.5.3 数学魔法方法</vt:lpstr>
      <vt:lpstr>7.5.3 数学魔法方法</vt:lpstr>
      <vt:lpstr>7.5.3 数学魔法方法</vt:lpstr>
      <vt:lpstr>7.5.3 数学魔法方法</vt:lpstr>
      <vt:lpstr>容器操作方法</vt:lpstr>
      <vt:lpstr>容器操作方法</vt:lpstr>
      <vt:lpstr>属性访问方法</vt:lpstr>
      <vt:lpstr>7.5.4 魔法方法的比较</vt:lpstr>
      <vt:lpstr>7.5.4 特殊方法的比较</vt:lpstr>
      <vt:lpstr>7.5.4 特殊方法的比较</vt:lpstr>
      <vt:lpstr>7.5.4 特殊方法的比较</vt:lpstr>
      <vt:lpstr>7.5.4 特殊方法的比较</vt:lpstr>
      <vt:lpstr>7.5.4 特殊方法的比较</vt:lpstr>
      <vt:lpstr>7.5.4 特殊方法的比较</vt:lpstr>
      <vt:lpstr>7.6 迭代器</vt:lpstr>
      <vt:lpstr>7.6 迭代器</vt:lpstr>
      <vt:lpstr>7.6 迭代器__iter__() 和 __next__()</vt:lpstr>
      <vt:lpstr>7.6 迭代器__iter__() 和 __next__()</vt:lpstr>
      <vt:lpstr>__getitem__ , __delitem__ and __setitem__</vt:lpstr>
      <vt:lpstr>PowerPoint Presentation</vt:lpstr>
      <vt:lpstr>参考资料</vt:lpstr>
      <vt:lpstr> ——The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creator>Brett</dc:creator>
  <cp:lastModifiedBy>Hao Fan</cp:lastModifiedBy>
  <cp:revision>312</cp:revision>
  <dcterms:created xsi:type="dcterms:W3CDTF">2014-04-17T22:28:38Z</dcterms:created>
  <dcterms:modified xsi:type="dcterms:W3CDTF">2026-02-26T07:19:50Z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