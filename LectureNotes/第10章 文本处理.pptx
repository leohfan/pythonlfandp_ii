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8"/>
  </p:notesMasterIdLst>
  <p:handoutMasterIdLst>
    <p:handoutMasterId r:id="rId69"/>
  </p:handoutMasterIdLst>
  <p:sldIdLst>
    <p:sldId id="269" r:id="rId5"/>
    <p:sldId id="270" r:id="rId6"/>
    <p:sldId id="400" r:id="rId7"/>
    <p:sldId id="401" r:id="rId8"/>
    <p:sldId id="402" r:id="rId9"/>
    <p:sldId id="273" r:id="rId10"/>
    <p:sldId id="308" r:id="rId11"/>
    <p:sldId id="274" r:id="rId12"/>
    <p:sldId id="309" r:id="rId13"/>
    <p:sldId id="310" r:id="rId14"/>
    <p:sldId id="396" r:id="rId15"/>
    <p:sldId id="311" r:id="rId16"/>
    <p:sldId id="312" r:id="rId17"/>
    <p:sldId id="313" r:id="rId18"/>
    <p:sldId id="314" r:id="rId19"/>
    <p:sldId id="315" r:id="rId20"/>
    <p:sldId id="316" r:id="rId21"/>
    <p:sldId id="382" r:id="rId22"/>
    <p:sldId id="381" r:id="rId23"/>
    <p:sldId id="383" r:id="rId24"/>
    <p:sldId id="384" r:id="rId25"/>
    <p:sldId id="317" r:id="rId26"/>
    <p:sldId id="319" r:id="rId27"/>
    <p:sldId id="385" r:id="rId28"/>
    <p:sldId id="318" r:id="rId29"/>
    <p:sldId id="386" r:id="rId30"/>
    <p:sldId id="320" r:id="rId31"/>
    <p:sldId id="321" r:id="rId32"/>
    <p:sldId id="322" r:id="rId33"/>
    <p:sldId id="387" r:id="rId34"/>
    <p:sldId id="388" r:id="rId35"/>
    <p:sldId id="323" r:id="rId36"/>
    <p:sldId id="324" r:id="rId37"/>
    <p:sldId id="325" r:id="rId38"/>
    <p:sldId id="397" r:id="rId39"/>
    <p:sldId id="389" r:id="rId40"/>
    <p:sldId id="326" r:id="rId41"/>
    <p:sldId id="390" r:id="rId42"/>
    <p:sldId id="391" r:id="rId43"/>
    <p:sldId id="398" r:id="rId44"/>
    <p:sldId id="392" r:id="rId45"/>
    <p:sldId id="399" r:id="rId46"/>
    <p:sldId id="393" r:id="rId47"/>
    <p:sldId id="403" r:id="rId48"/>
    <p:sldId id="394" r:id="rId49"/>
    <p:sldId id="327" r:id="rId50"/>
    <p:sldId id="328" r:id="rId51"/>
    <p:sldId id="329" r:id="rId52"/>
    <p:sldId id="333" r:id="rId53"/>
    <p:sldId id="334" r:id="rId54"/>
    <p:sldId id="335" r:id="rId55"/>
    <p:sldId id="336" r:id="rId56"/>
    <p:sldId id="337" r:id="rId57"/>
    <p:sldId id="338" r:id="rId58"/>
    <p:sldId id="331" r:id="rId59"/>
    <p:sldId id="339" r:id="rId60"/>
    <p:sldId id="332" r:id="rId61"/>
    <p:sldId id="341" r:id="rId62"/>
    <p:sldId id="342" r:id="rId63"/>
    <p:sldId id="395" r:id="rId64"/>
    <p:sldId id="343" r:id="rId65"/>
    <p:sldId id="380" r:id="rId66"/>
    <p:sldId id="37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14" autoAdjust="0"/>
    <p:restoredTop sz="95068" autoAdjust="0"/>
  </p:normalViewPr>
  <p:slideViewPr>
    <p:cSldViewPr snapToGrid="0" showGuides="1">
      <p:cViewPr varScale="1">
        <p:scale>
          <a:sx n="115" d="100"/>
          <a:sy n="115" d="100"/>
        </p:scale>
        <p:origin x="224" y="320"/>
      </p:cViewPr>
      <p:guideLst>
        <p:guide orient="horz" pos="2183"/>
        <p:guide pos="3817"/>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3976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1788803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E118-B3AF-A40E-95D7-8C54E38ED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80538-971E-1E95-D63E-DE4726316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9E7FB-2C17-F906-3379-8630274963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C71898-DE97-B25E-210C-5676DBA0E6BE}"/>
              </a:ext>
            </a:extLst>
          </p:cNvPr>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4248119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a:t>
            </a:fld>
            <a:endParaRPr lang="en-US"/>
          </a:p>
        </p:txBody>
      </p:sp>
    </p:spTree>
    <p:extLst>
      <p:ext uri="{BB962C8B-B14F-4D97-AF65-F5344CB8AC3E}">
        <p14:creationId xmlns:p14="http://schemas.microsoft.com/office/powerpoint/2010/main" val="2482112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a:t>
            </a:fld>
            <a:endParaRPr lang="en-US"/>
          </a:p>
        </p:txBody>
      </p:sp>
    </p:spTree>
    <p:extLst>
      <p:ext uri="{BB962C8B-B14F-4D97-AF65-F5344CB8AC3E}">
        <p14:creationId xmlns:p14="http://schemas.microsoft.com/office/powerpoint/2010/main" val="1075274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a:p>
        </p:txBody>
      </p:sp>
    </p:spTree>
    <p:extLst>
      <p:ext uri="{BB962C8B-B14F-4D97-AF65-F5344CB8AC3E}">
        <p14:creationId xmlns:p14="http://schemas.microsoft.com/office/powerpoint/2010/main" val="2438498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4082603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10</a:t>
            </a:fld>
            <a:endParaRPr lang="en-US"/>
          </a:p>
        </p:txBody>
      </p:sp>
    </p:spTree>
    <p:extLst>
      <p:ext uri="{BB962C8B-B14F-4D97-AF65-F5344CB8AC3E}">
        <p14:creationId xmlns:p14="http://schemas.microsoft.com/office/powerpoint/2010/main" val="2606549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a:p>
        </p:txBody>
      </p:sp>
    </p:spTree>
    <p:extLst>
      <p:ext uri="{BB962C8B-B14F-4D97-AF65-F5344CB8AC3E}">
        <p14:creationId xmlns:p14="http://schemas.microsoft.com/office/powerpoint/2010/main" val="1795817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13</a:t>
            </a:fld>
            <a:endParaRPr lang="en-US"/>
          </a:p>
        </p:txBody>
      </p:sp>
    </p:spTree>
    <p:extLst>
      <p:ext uri="{BB962C8B-B14F-4D97-AF65-F5344CB8AC3E}">
        <p14:creationId xmlns:p14="http://schemas.microsoft.com/office/powerpoint/2010/main" val="3669732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606350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15</a:t>
            </a:fld>
            <a:endParaRPr lang="en-US"/>
          </a:p>
        </p:txBody>
      </p:sp>
    </p:spTree>
    <p:extLst>
      <p:ext uri="{BB962C8B-B14F-4D97-AF65-F5344CB8AC3E}">
        <p14:creationId xmlns:p14="http://schemas.microsoft.com/office/powerpoint/2010/main" val="1671164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16</a:t>
            </a:fld>
            <a:endParaRPr lang="en-US"/>
          </a:p>
        </p:txBody>
      </p:sp>
    </p:spTree>
    <p:extLst>
      <p:ext uri="{BB962C8B-B14F-4D97-AF65-F5344CB8AC3E}">
        <p14:creationId xmlns:p14="http://schemas.microsoft.com/office/powerpoint/2010/main" val="4123163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17</a:t>
            </a:fld>
            <a:endParaRPr lang="en-US"/>
          </a:p>
        </p:txBody>
      </p:sp>
    </p:spTree>
    <p:extLst>
      <p:ext uri="{BB962C8B-B14F-4D97-AF65-F5344CB8AC3E}">
        <p14:creationId xmlns:p14="http://schemas.microsoft.com/office/powerpoint/2010/main" val="2275197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2067464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a:p>
        </p:txBody>
      </p:sp>
    </p:spTree>
    <p:extLst>
      <p:ext uri="{BB962C8B-B14F-4D97-AF65-F5344CB8AC3E}">
        <p14:creationId xmlns:p14="http://schemas.microsoft.com/office/powerpoint/2010/main" val="2333061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25</a:t>
            </a:fld>
            <a:endParaRPr lang="en-US"/>
          </a:p>
        </p:txBody>
      </p:sp>
    </p:spTree>
    <p:extLst>
      <p:ext uri="{BB962C8B-B14F-4D97-AF65-F5344CB8AC3E}">
        <p14:creationId xmlns:p14="http://schemas.microsoft.com/office/powerpoint/2010/main" val="2417832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27</a:t>
            </a:fld>
            <a:endParaRPr lang="en-US"/>
          </a:p>
        </p:txBody>
      </p:sp>
    </p:spTree>
    <p:extLst>
      <p:ext uri="{BB962C8B-B14F-4D97-AF65-F5344CB8AC3E}">
        <p14:creationId xmlns:p14="http://schemas.microsoft.com/office/powerpoint/2010/main" val="2115406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770081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1361016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a:p>
        </p:txBody>
      </p:sp>
    </p:spTree>
    <p:extLst>
      <p:ext uri="{BB962C8B-B14F-4D97-AF65-F5344CB8AC3E}">
        <p14:creationId xmlns:p14="http://schemas.microsoft.com/office/powerpoint/2010/main" val="2509476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3634243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34</a:t>
            </a:fld>
            <a:endParaRPr lang="en-US"/>
          </a:p>
        </p:txBody>
      </p:sp>
    </p:spTree>
    <p:extLst>
      <p:ext uri="{BB962C8B-B14F-4D97-AF65-F5344CB8AC3E}">
        <p14:creationId xmlns:p14="http://schemas.microsoft.com/office/powerpoint/2010/main" val="1966693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37</a:t>
            </a:fld>
            <a:endParaRPr lang="en-US"/>
          </a:p>
        </p:txBody>
      </p:sp>
    </p:spTree>
    <p:extLst>
      <p:ext uri="{BB962C8B-B14F-4D97-AF65-F5344CB8AC3E}">
        <p14:creationId xmlns:p14="http://schemas.microsoft.com/office/powerpoint/2010/main" val="1992104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CA223-7EA1-5B9D-0F73-70578072D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5BF85-2453-A747-6541-9400429E5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1408D-23BF-8422-BF86-C4B8E5DD0F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A2B0C2-877C-2D14-6577-465EDDE246CC}"/>
              </a:ext>
            </a:extLst>
          </p:cNvPr>
          <p:cNvSpPr>
            <a:spLocks noGrp="1"/>
          </p:cNvSpPr>
          <p:nvPr>
            <p:ph type="sldNum" sz="quarter" idx="10"/>
          </p:nvPr>
        </p:nvSpPr>
        <p:spPr/>
        <p:txBody>
          <a:bodyPr/>
          <a:lstStyle/>
          <a:p>
            <a:fld id="{0A3C37BE-C303-496D-B5CD-85F2937540FC}" type="slidenum">
              <a:rPr lang="en-US"/>
              <a:t>44</a:t>
            </a:fld>
            <a:endParaRPr lang="en-US"/>
          </a:p>
        </p:txBody>
      </p:sp>
    </p:spTree>
    <p:extLst>
      <p:ext uri="{BB962C8B-B14F-4D97-AF65-F5344CB8AC3E}">
        <p14:creationId xmlns:p14="http://schemas.microsoft.com/office/powerpoint/2010/main" val="3754973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46</a:t>
            </a:fld>
            <a:endParaRPr lang="en-US"/>
          </a:p>
        </p:txBody>
      </p:sp>
    </p:spTree>
    <p:extLst>
      <p:ext uri="{BB962C8B-B14F-4D97-AF65-F5344CB8AC3E}">
        <p14:creationId xmlns:p14="http://schemas.microsoft.com/office/powerpoint/2010/main" val="32877004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47</a:t>
            </a:fld>
            <a:endParaRPr lang="en-US"/>
          </a:p>
        </p:txBody>
      </p:sp>
    </p:spTree>
    <p:extLst>
      <p:ext uri="{BB962C8B-B14F-4D97-AF65-F5344CB8AC3E}">
        <p14:creationId xmlns:p14="http://schemas.microsoft.com/office/powerpoint/2010/main" val="1704624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6141536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3733745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50</a:t>
            </a:fld>
            <a:endParaRPr lang="en-US"/>
          </a:p>
        </p:txBody>
      </p:sp>
    </p:spTree>
    <p:extLst>
      <p:ext uri="{BB962C8B-B14F-4D97-AF65-F5344CB8AC3E}">
        <p14:creationId xmlns:p14="http://schemas.microsoft.com/office/powerpoint/2010/main" val="381231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51</a:t>
            </a:fld>
            <a:endParaRPr lang="en-US"/>
          </a:p>
        </p:txBody>
      </p:sp>
    </p:spTree>
    <p:extLst>
      <p:ext uri="{BB962C8B-B14F-4D97-AF65-F5344CB8AC3E}">
        <p14:creationId xmlns:p14="http://schemas.microsoft.com/office/powerpoint/2010/main" val="3907297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52</a:t>
            </a:fld>
            <a:endParaRPr lang="en-US"/>
          </a:p>
        </p:txBody>
      </p:sp>
    </p:spTree>
    <p:extLst>
      <p:ext uri="{BB962C8B-B14F-4D97-AF65-F5344CB8AC3E}">
        <p14:creationId xmlns:p14="http://schemas.microsoft.com/office/powerpoint/2010/main" val="14553152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53</a:t>
            </a:fld>
            <a:endParaRPr lang="en-US"/>
          </a:p>
        </p:txBody>
      </p:sp>
    </p:spTree>
    <p:extLst>
      <p:ext uri="{BB962C8B-B14F-4D97-AF65-F5344CB8AC3E}">
        <p14:creationId xmlns:p14="http://schemas.microsoft.com/office/powerpoint/2010/main" val="3814482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54</a:t>
            </a:fld>
            <a:endParaRPr lang="en-US"/>
          </a:p>
        </p:txBody>
      </p:sp>
    </p:spTree>
    <p:extLst>
      <p:ext uri="{BB962C8B-B14F-4D97-AF65-F5344CB8AC3E}">
        <p14:creationId xmlns:p14="http://schemas.microsoft.com/office/powerpoint/2010/main" val="1165575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55</a:t>
            </a:fld>
            <a:endParaRPr lang="en-US"/>
          </a:p>
        </p:txBody>
      </p:sp>
    </p:spTree>
    <p:extLst>
      <p:ext uri="{BB962C8B-B14F-4D97-AF65-F5344CB8AC3E}">
        <p14:creationId xmlns:p14="http://schemas.microsoft.com/office/powerpoint/2010/main" val="32928523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56</a:t>
            </a:fld>
            <a:endParaRPr lang="en-US"/>
          </a:p>
        </p:txBody>
      </p:sp>
    </p:spTree>
    <p:extLst>
      <p:ext uri="{BB962C8B-B14F-4D97-AF65-F5344CB8AC3E}">
        <p14:creationId xmlns:p14="http://schemas.microsoft.com/office/powerpoint/2010/main" val="5907794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57</a:t>
            </a:fld>
            <a:endParaRPr lang="en-US"/>
          </a:p>
        </p:txBody>
      </p:sp>
    </p:spTree>
    <p:extLst>
      <p:ext uri="{BB962C8B-B14F-4D97-AF65-F5344CB8AC3E}">
        <p14:creationId xmlns:p14="http://schemas.microsoft.com/office/powerpoint/2010/main" val="40957623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58</a:t>
            </a:fld>
            <a:endParaRPr lang="en-US"/>
          </a:p>
        </p:txBody>
      </p:sp>
    </p:spTree>
    <p:extLst>
      <p:ext uri="{BB962C8B-B14F-4D97-AF65-F5344CB8AC3E}">
        <p14:creationId xmlns:p14="http://schemas.microsoft.com/office/powerpoint/2010/main" val="778088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59</a:t>
            </a:fld>
            <a:endParaRPr lang="en-US"/>
          </a:p>
        </p:txBody>
      </p:sp>
    </p:spTree>
    <p:extLst>
      <p:ext uri="{BB962C8B-B14F-4D97-AF65-F5344CB8AC3E}">
        <p14:creationId xmlns:p14="http://schemas.microsoft.com/office/powerpoint/2010/main" val="4420932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11504-96D9-925C-7F71-10B43CD8E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C49E-DABE-C7F8-839E-6108CC9424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64328-F348-41FB-A1C2-226CCDFD3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AF20CE-E090-C711-8C30-E691B050EADF}"/>
              </a:ext>
            </a:extLst>
          </p:cNvPr>
          <p:cNvSpPr>
            <a:spLocks noGrp="1"/>
          </p:cNvSpPr>
          <p:nvPr>
            <p:ph type="sldNum" sz="quarter" idx="10"/>
          </p:nvPr>
        </p:nvSpPr>
        <p:spPr/>
        <p:txBody>
          <a:bodyPr/>
          <a:lstStyle/>
          <a:p>
            <a:fld id="{0A3C37BE-C303-496D-B5CD-85F2937540FC}" type="slidenum">
              <a:rPr lang="en-US"/>
              <a:t>60</a:t>
            </a:fld>
            <a:endParaRPr lang="en-US"/>
          </a:p>
        </p:txBody>
      </p:sp>
    </p:spTree>
    <p:extLst>
      <p:ext uri="{BB962C8B-B14F-4D97-AF65-F5344CB8AC3E}">
        <p14:creationId xmlns:p14="http://schemas.microsoft.com/office/powerpoint/2010/main" val="9169332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1205598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extLst>
      <p:ext uri="{BB962C8B-B14F-4D97-AF65-F5344CB8AC3E}">
        <p14:creationId xmlns:p14="http://schemas.microsoft.com/office/powerpoint/2010/main" val="38942198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1012-&#25991;&#26412;&#22788;&#29702;&#30340;&#20869;&#28085;"/><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4&#20998;&#21106;&#19982;&#36830;&#25509;&#20989;&#25968;"/><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hyperlink" Target="https://www.programiz.com/python-programming/string-interpolation#:~:text=f%2Dstrings,Python%20expressions%20inside%20string%20constants." TargetMode="Externa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hyperlink" Target="https://www.digitalocean.com/community/tutorials/python-f-strings-literal-string-interpolation#1-f-strings-with-expressions-and-conversions" TargetMode="Externa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hyperlink" Target="https://www.digitalocean.com/community/tutorials/python-f-strings-literal-string-interpolation#4-f-strings-calling-functions" TargetMode="External"/><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hyperlink" Target="https://www.digitalocean.com/community/tutorials/python-f-strings-literal-string-interpolation#2-f-strings-support-raw-strings" TargetMode="Externa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hyperlink" Target="https://www.digitalocean.com/community/tutorials/python-f-strings-literal-string-interpolation#3-f-strings-with-objects-and-attributes" TargetMode="External"/><Relationship Id="rId10" Type="http://schemas.openxmlformats.org/officeDocument/2006/relationships/image" Target="../media/image30.png"/><Relationship Id="rId4" Type="http://schemas.openxmlformats.org/officeDocument/2006/relationships/image" Target="../media/image26.pn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1.png"/><Relationship Id="rId7" Type="http://schemas.openxmlformats.org/officeDocument/2006/relationships/hyperlink" Target="https://www.digitalocean.com/community/tutorials/python-f-strings-literal-string-interpolation#7-f-strings-miscellaneous-examples" TargetMode="External"/><Relationship Id="rId2" Type="http://schemas.openxmlformats.org/officeDocument/2006/relationships/hyperlink" Target="https://www.digitalocean.com/community/tutorials/python-f-strings-literal-string-interpolation#5-f-string-with-whitespaces" TargetMode="Externa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www.digitalocean.com/community/tutorials/python-f-strings-literal-string-interpolation#6-lambda-expressions-with-f-strings" TargetMode="External"/><Relationship Id="rId9"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8.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8.xml"/><Relationship Id="rId5" Type="http://schemas.openxmlformats.org/officeDocument/2006/relationships/image" Target="../media/image70.png"/><Relationship Id="rId4" Type="http://schemas.openxmlformats.org/officeDocument/2006/relationships/image" Target="../media/image69.png"/></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8.xml"/><Relationship Id="rId5" Type="http://schemas.openxmlformats.org/officeDocument/2006/relationships/image" Target="../media/image74.png"/><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99.png"/><Relationship Id="rId4" Type="http://schemas.openxmlformats.org/officeDocument/2006/relationships/image" Target="../media/image98.png"/></Relationships>
</file>

<file path=ppt/slides/_rels/slide5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5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6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6.tif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910937" y="2305112"/>
            <a:ext cx="5734050" cy="2219691"/>
          </a:xfrm>
        </p:spPr>
        <p:txBody>
          <a:bodyPr anchor="ctr">
            <a:normAutofit/>
          </a:bodyPr>
          <a:lstStyle/>
          <a:p>
            <a:pPr>
              <a:lnSpc>
                <a:spcPct val="150000"/>
              </a:lnSpc>
            </a:pPr>
            <a:r>
              <a:rPr lang="zh-CN" altLang="en-US" dirty="0"/>
              <a:t>第</a:t>
            </a:r>
            <a:r>
              <a:rPr lang="en-US" altLang="zh-CN" dirty="0"/>
              <a:t>10</a:t>
            </a:r>
            <a:r>
              <a:rPr lang="zh-CN" altLang="en-US" dirty="0"/>
              <a:t>章 </a:t>
            </a:r>
            <a:br>
              <a:rPr lang="en-US" altLang="zh-CN" dirty="0"/>
            </a:br>
            <a:r>
              <a:rPr lang="zh-CN" altLang="en-US" dirty="0"/>
              <a:t>文本处理与正则表达式</a:t>
            </a:r>
            <a:endParaRPr lang="en-US" dirty="0"/>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5" name="副标题 1">
            <a:extLst>
              <a:ext uri="{FF2B5EF4-FFF2-40B4-BE49-F238E27FC236}">
                <a16:creationId xmlns:a16="http://schemas.microsoft.com/office/drawing/2014/main" id="{739C94C7-3FF6-C544-98EC-400CDBD579DB}"/>
              </a:ext>
            </a:extLst>
          </p:cNvPr>
          <p:cNvSpPr>
            <a:spLocks noGrp="1"/>
          </p:cNvSpPr>
          <p:nvPr>
            <p:ph type="subTitle" idx="1"/>
          </p:nvPr>
        </p:nvSpPr>
        <p:spPr>
          <a:xfrm>
            <a:off x="1104900" y="4511784"/>
            <a:ext cx="5734050" cy="955565"/>
          </a:xfrm>
        </p:spPr>
        <p:txBody>
          <a:bodyPr>
            <a:normAutofit/>
          </a:bodyPr>
          <a:lstStyle/>
          <a:p>
            <a:pPr algn="r">
              <a:lnSpc>
                <a:spcPct val="150000"/>
              </a:lnSpc>
            </a:pPr>
            <a:r>
              <a:rPr lang="en-US" altLang="zh-CN" sz="2000" dirty="0"/>
              <a:t>Python</a:t>
            </a:r>
            <a:r>
              <a:rPr lang="zh-TW" altLang="en-US" sz="2000" dirty="0"/>
              <a:t>课程组</a:t>
            </a:r>
            <a:endParaRPr lang="en-US" altLang="zh-TW" sz="2000" dirty="0"/>
          </a:p>
          <a:p>
            <a:pPr algn="r">
              <a:lnSpc>
                <a:spcPct val="150000"/>
              </a:lnSpc>
            </a:pPr>
            <a:r>
              <a:rPr lang="zh-TW" altLang="en-US" sz="2000" dirty="0"/>
              <a:t>武汉大学信息管理学院</a:t>
            </a:r>
            <a:endParaRPr lang="zh-CN" altLang="en-US" sz="2000" dirty="0"/>
          </a:p>
        </p:txBody>
      </p:sp>
    </p:spTree>
    <p:extLst>
      <p:ext uri="{BB962C8B-B14F-4D97-AF65-F5344CB8AC3E}">
        <p14:creationId xmlns:p14="http://schemas.microsoft.com/office/powerpoint/2010/main" val="389553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zh-CN" altLang="en-US" sz="3600" dirty="0"/>
              <a:t>教学内容</a:t>
            </a:r>
            <a:endParaRPr lang="en-US" sz="3600" dirty="0"/>
          </a:p>
        </p:txBody>
      </p:sp>
      <p:sp>
        <p:nvSpPr>
          <p:cNvPr id="14" name="Content Placeholder 13"/>
          <p:cNvSpPr>
            <a:spLocks noGrp="1"/>
          </p:cNvSpPr>
          <p:nvPr>
            <p:ph idx="1"/>
          </p:nvPr>
        </p:nvSpPr>
        <p:spPr/>
        <p:txBody>
          <a:bodyPr/>
          <a:lstStyle/>
          <a:p>
            <a:pPr>
              <a:lnSpc>
                <a:spcPct val="150000"/>
              </a:lnSpc>
            </a:pPr>
            <a:r>
              <a:rPr lang="en-US" altLang="zh-CN" sz="3200" dirty="0"/>
              <a:t>10.1 </a:t>
            </a:r>
            <a:r>
              <a:rPr lang="zh-CN" altLang="en-US" sz="3200" dirty="0"/>
              <a:t>文本处理概述</a:t>
            </a:r>
            <a:endParaRPr lang="en-US" altLang="zh-CN" sz="3200" dirty="0"/>
          </a:p>
          <a:p>
            <a:pPr>
              <a:lnSpc>
                <a:spcPct val="150000"/>
              </a:lnSpc>
            </a:pPr>
            <a:r>
              <a:rPr lang="en-US" altLang="zh-CN" sz="3200" dirty="0"/>
              <a:t>10</a:t>
            </a:r>
            <a:r>
              <a:rPr lang="en-US" sz="3200" dirty="0"/>
              <a:t>.2 </a:t>
            </a:r>
            <a:r>
              <a:rPr lang="zh-CN" altLang="en-US" sz="3200" dirty="0"/>
              <a:t>字符串的函数操作</a:t>
            </a:r>
            <a:endParaRPr lang="en-US" altLang="zh-CN" sz="3200" dirty="0"/>
          </a:p>
          <a:p>
            <a:pPr>
              <a:lnSpc>
                <a:spcPct val="150000"/>
              </a:lnSpc>
            </a:pPr>
            <a:r>
              <a:rPr lang="en-US" altLang="zh-CN" sz="3200" dirty="0"/>
              <a:t>10</a:t>
            </a:r>
            <a:r>
              <a:rPr lang="en-US" sz="3200" dirty="0"/>
              <a:t>.3 </a:t>
            </a:r>
            <a:r>
              <a:rPr lang="zh-CN" altLang="en-US" sz="3200" dirty="0"/>
              <a:t>正则表达式</a:t>
            </a:r>
            <a:endParaRPr lang="en-US" altLang="zh-CN" sz="3200" dirty="0"/>
          </a:p>
          <a:p>
            <a:pPr>
              <a:lnSpc>
                <a:spcPct val="150000"/>
              </a:lnSpc>
            </a:pPr>
            <a:endParaRPr lang="en-US" dirty="0"/>
          </a:p>
        </p:txBody>
      </p:sp>
    </p:spTree>
    <p:extLst>
      <p:ext uri="{BB962C8B-B14F-4D97-AF65-F5344CB8AC3E}">
        <p14:creationId xmlns:p14="http://schemas.microsoft.com/office/powerpoint/2010/main" val="734173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66384-C797-4E65-4DC4-B1F836413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937B4-87B3-3A92-41E3-37B50230BAF3}"/>
              </a:ext>
            </a:extLst>
          </p:cNvPr>
          <p:cNvSpPr>
            <a:spLocks noGrp="1"/>
          </p:cNvSpPr>
          <p:nvPr>
            <p:ph type="title"/>
          </p:nvPr>
        </p:nvSpPr>
        <p:spPr>
          <a:xfrm>
            <a:off x="1617517" y="2750961"/>
            <a:ext cx="10071099" cy="1684150"/>
          </a:xfrm>
        </p:spPr>
        <p:txBody>
          <a:bodyPr/>
          <a:lstStyle/>
          <a:p>
            <a:r>
              <a:rPr lang="en-US" altLang="zh-CN" dirty="0"/>
              <a:t>10</a:t>
            </a:r>
            <a:r>
              <a:rPr lang="en-US" dirty="0"/>
              <a:t>.1 </a:t>
            </a:r>
            <a:r>
              <a:rPr lang="zh-CN" altLang="en-US" dirty="0"/>
              <a:t>文本处理概述</a:t>
            </a:r>
            <a:endParaRPr lang="en-US" dirty="0"/>
          </a:p>
        </p:txBody>
      </p:sp>
    </p:spTree>
    <p:extLst>
      <p:ext uri="{BB962C8B-B14F-4D97-AF65-F5344CB8AC3E}">
        <p14:creationId xmlns:p14="http://schemas.microsoft.com/office/powerpoint/2010/main" val="400827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33278-84A4-EFBE-3109-3B884E5AF9D5}"/>
              </a:ext>
            </a:extLst>
          </p:cNvPr>
          <p:cNvSpPr>
            <a:spLocks noGrp="1"/>
          </p:cNvSpPr>
          <p:nvPr>
            <p:ph type="title"/>
          </p:nvPr>
        </p:nvSpPr>
        <p:spPr/>
        <p:txBody>
          <a:bodyPr/>
          <a:lstStyle/>
          <a:p>
            <a:r>
              <a:rPr lang="en-US" altLang="zh-CN" dirty="0"/>
              <a:t>10.1.1 </a:t>
            </a:r>
            <a:r>
              <a:rPr lang="zh-CN" altLang="en-US" b="1" dirty="0"/>
              <a:t>文本数据的特点</a:t>
            </a:r>
            <a:endParaRPr kumimoji="1" lang="zh-CN" altLang="en-US" dirty="0"/>
          </a:p>
        </p:txBody>
      </p:sp>
      <p:sp>
        <p:nvSpPr>
          <p:cNvPr id="6" name="TextBox 5">
            <a:extLst>
              <a:ext uri="{FF2B5EF4-FFF2-40B4-BE49-F238E27FC236}">
                <a16:creationId xmlns:a16="http://schemas.microsoft.com/office/drawing/2014/main" id="{3D411C02-D5F1-BEB4-6C47-FF363A9353DB}"/>
              </a:ext>
            </a:extLst>
          </p:cNvPr>
          <p:cNvSpPr txBox="1"/>
          <p:nvPr/>
        </p:nvSpPr>
        <p:spPr>
          <a:xfrm>
            <a:off x="1194745" y="1445624"/>
            <a:ext cx="9800992" cy="4194674"/>
          </a:xfrm>
          <a:prstGeom prst="rect">
            <a:avLst/>
          </a:prstGeom>
          <a:noFill/>
        </p:spPr>
        <p:txBody>
          <a:bodyPr wrap="square">
            <a:spAutoFit/>
          </a:bodyPr>
          <a:lstStyle/>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半结构化：大多数文本数据属于半结构化数据。例如，在新闻报道中，标题、作者、分类、来源等信息通常有一定的格式或标签，这部分内容称为结构化内容。而新闻的主体部分则是由连续的文字和标点构成的非结构化内容，无法通过表格等明确的结构直接呈现。</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数据量大：文本是信息传播的主要形式之一，因此其数量极为庞大。一般的文本数据库可能包含成千上万的文本样本。随着网络信息技术的快速发展，人们对网络的依赖日益加深，海量用户生成的内容大多以文本形式呈现，使得文本数据呈现出持续增长、快速膨胀的趋势。</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高维稀疏性：文本数据在结构化处理后（例如通过词袋模型编码），生成的文本向量通常具有高维度且稀疏的特性。词袋模型可能生成数千甚至上万个维度的向量，这不仅增加了计算量，也导致资源消耗大，影响算法的准确性。因此，在文本分析之前，常需要通过主题分析或特征筛选等方法进行降维处理，以优化分析和挖掘效果。</a:t>
            </a:r>
          </a:p>
        </p:txBody>
      </p:sp>
    </p:spTree>
    <p:extLst>
      <p:ext uri="{BB962C8B-B14F-4D97-AF65-F5344CB8AC3E}">
        <p14:creationId xmlns:p14="http://schemas.microsoft.com/office/powerpoint/2010/main" val="143620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7CF3-686F-8028-968A-A7C388578AAA}"/>
              </a:ext>
            </a:extLst>
          </p:cNvPr>
          <p:cNvSpPr>
            <a:spLocks noGrp="1"/>
          </p:cNvSpPr>
          <p:nvPr>
            <p:ph type="title"/>
          </p:nvPr>
        </p:nvSpPr>
        <p:spPr/>
        <p:txBody>
          <a:bodyPr/>
          <a:lstStyle/>
          <a:p>
            <a:r>
              <a:rPr lang="en-US" altLang="zh-CN" b="1" dirty="0">
                <a:hlinkClick r:id="rId2"/>
              </a:rPr>
              <a:t>10.1.2 </a:t>
            </a:r>
            <a:r>
              <a:rPr lang="zh-CN" altLang="en-US" b="1" dirty="0">
                <a:hlinkClick r:id="rId2"/>
              </a:rPr>
              <a:t>文本处理的内涵</a:t>
            </a:r>
            <a:endParaRPr kumimoji="1" lang="zh-CN" altLang="en-US" dirty="0"/>
          </a:p>
        </p:txBody>
      </p:sp>
      <p:sp>
        <p:nvSpPr>
          <p:cNvPr id="4" name="TextBox 3">
            <a:extLst>
              <a:ext uri="{FF2B5EF4-FFF2-40B4-BE49-F238E27FC236}">
                <a16:creationId xmlns:a16="http://schemas.microsoft.com/office/drawing/2014/main" id="{C2AFBFC4-4F55-87DF-5747-326B30F7E984}"/>
              </a:ext>
            </a:extLst>
          </p:cNvPr>
          <p:cNvSpPr txBox="1"/>
          <p:nvPr/>
        </p:nvSpPr>
        <p:spPr>
          <a:xfrm>
            <a:off x="611311" y="1499597"/>
            <a:ext cx="10967859" cy="4610173"/>
          </a:xfrm>
          <a:prstGeom prst="rect">
            <a:avLst/>
          </a:prstGeom>
          <a:noFill/>
        </p:spPr>
        <p:txBody>
          <a:bodyPr wrap="square">
            <a:spAutoFit/>
          </a:bodyPr>
          <a:lstStyle/>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文本数据收集：在文本处理的任务中，文本的收集是关键的第一步，包含对原始数据的采集和整理。数据来源可以是网页、数据库、社交媒体等多种渠道，确保数据具有代表性和足够的覆盖范围。高质量的数据收集不仅要确保信息的广度，还要关注获取数据的合法性与准确性，以奠定后续处理的基础。</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数据预处理：通过一系列操作，将原始数据转化为标准化、清晰的文本结构，以利于进一步分析。这一阶段包括数据清洗、分词、词性标注、去停用词、词干提取等步骤，以减少数据的噪声并提升分析效率。例如，在分词和词性标注过程中，对语言特征的识别有助于准确分割词语，提高理解句子结构的能力；而去停用词、词干提取则有助于简化数据、降低计算复杂性，为后续建模打下良好基础。</a:t>
            </a:r>
          </a:p>
          <a:p>
            <a:pPr marL="342900" indent="-342900" algn="just">
              <a:lnSpc>
                <a:spcPct val="150000"/>
              </a:lnSpc>
              <a:buFont typeface="+mj-lt"/>
              <a:buAutoNum type="arabicPeriod"/>
            </a:pPr>
            <a:r>
              <a:rPr lang="zh-CN" altLang="en-US" sz="1800" b="0" i="0" dirty="0">
                <a:solidFill>
                  <a:srgbClr val="262625"/>
                </a:solidFill>
                <a:effectLst/>
                <a:latin typeface="Times New Roman" panose="02020603050405020304" pitchFamily="18" charset="0"/>
              </a:rPr>
              <a:t>文本分析与挖掘：经过预处理的文本数据可进行特征提取、向量化，并通过情感分析、文本分类和信息抽取等方法挖掘出有价值的信息。此阶段将数据转化为特征向量，通过分类、聚类等算法实现深层次的信息挖掘，从而得出如情感倾向、主题、关系等关键信息。这些步骤可进一步支持高层次的应用，如命名实体识别（</a:t>
            </a:r>
            <a:r>
              <a:rPr lang="en-US" sz="1800" b="0" i="0" dirty="0">
                <a:solidFill>
                  <a:srgbClr val="262625"/>
                </a:solidFill>
                <a:effectLst/>
                <a:latin typeface="Times New Roman" panose="02020603050405020304" pitchFamily="18" charset="0"/>
              </a:rPr>
              <a:t>NER）、</a:t>
            </a:r>
            <a:r>
              <a:rPr lang="zh-CN" altLang="en-US" sz="1800" b="0" i="0" dirty="0">
                <a:solidFill>
                  <a:srgbClr val="262625"/>
                </a:solidFill>
                <a:effectLst/>
                <a:latin typeface="Times New Roman" panose="02020603050405020304" pitchFamily="18" charset="0"/>
              </a:rPr>
              <a:t>自动摘要、知识图谱构建等，为智能决策、数据分析提供重要支撑。</a:t>
            </a:r>
          </a:p>
        </p:txBody>
      </p:sp>
    </p:spTree>
    <p:extLst>
      <p:ext uri="{BB962C8B-B14F-4D97-AF65-F5344CB8AC3E}">
        <p14:creationId xmlns:p14="http://schemas.microsoft.com/office/powerpoint/2010/main" val="405683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dirty="0"/>
              <a:t>10</a:t>
            </a:r>
            <a:r>
              <a:rPr lang="en-US" dirty="0"/>
              <a:t>.</a:t>
            </a:r>
            <a:r>
              <a:rPr lang="en-US" altLang="zh-CN" dirty="0"/>
              <a:t>2</a:t>
            </a:r>
            <a:r>
              <a:rPr lang="en-US" dirty="0"/>
              <a:t> </a:t>
            </a:r>
            <a:r>
              <a:rPr lang="zh-CN" altLang="en-US" dirty="0"/>
              <a:t>字符串的函数操作</a:t>
            </a:r>
            <a:endParaRPr lang="en-US" dirty="0"/>
          </a:p>
        </p:txBody>
      </p:sp>
    </p:spTree>
    <p:extLst>
      <p:ext uri="{BB962C8B-B14F-4D97-AF65-F5344CB8AC3E}">
        <p14:creationId xmlns:p14="http://schemas.microsoft.com/office/powerpoint/2010/main" val="3775616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zh-CN" altLang="en-US" dirty="0"/>
              <a:t>字符串的函数操作</a:t>
            </a:r>
            <a:endParaRPr lang="en-US" dirty="0"/>
          </a:p>
        </p:txBody>
      </p:sp>
      <p:sp>
        <p:nvSpPr>
          <p:cNvPr id="7" name="文本框 6"/>
          <p:cNvSpPr txBox="1"/>
          <p:nvPr/>
        </p:nvSpPr>
        <p:spPr>
          <a:xfrm>
            <a:off x="1103382" y="1439306"/>
            <a:ext cx="9982200" cy="1708160"/>
          </a:xfrm>
          <a:prstGeom prst="rect">
            <a:avLst/>
          </a:prstGeom>
          <a:noFill/>
        </p:spPr>
        <p:txBody>
          <a:bodyPr wrap="square" rtlCol="0">
            <a:spAutoFit/>
          </a:bodyPr>
          <a:lstStyle/>
          <a:p>
            <a:pPr>
              <a:spcBef>
                <a:spcPts val="1000"/>
              </a:spcBef>
            </a:pPr>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1</a:t>
            </a:r>
            <a:r>
              <a:rPr lang="zh-CN" altLang="zh-CN" sz="2000" b="1" dirty="0">
                <a:solidFill>
                  <a:srgbClr val="0432FF"/>
                </a:solidFill>
                <a:latin typeface="宋体" panose="02010600030101010101" pitchFamily="2" charset="-122"/>
                <a:ea typeface="宋体" panose="02010600030101010101" pitchFamily="2" charset="-122"/>
              </a:rPr>
              <a:t>）大小写转换</a:t>
            </a:r>
          </a:p>
          <a:p>
            <a:pPr marL="342900" lvl="0" indent="-342900">
              <a:spcBef>
                <a:spcPts val="1000"/>
              </a:spcBef>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title()</a:t>
            </a:r>
            <a:r>
              <a:rPr lang="ja-JP" altLang="zh-CN" sz="2000" dirty="0">
                <a:latin typeface="宋体" panose="02010600030101010101" pitchFamily="2" charset="-122"/>
                <a:ea typeface="宋体" panose="02010600030101010101" pitchFamily="2" charset="-122"/>
              </a:rPr>
              <a:t>：将字符串中每个单词（由空格隔开）的首字母改成大写</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upper()</a:t>
            </a:r>
            <a:r>
              <a:rPr lang="ja-JP" altLang="zh-CN" sz="2000" dirty="0">
                <a:latin typeface="宋体" panose="02010600030101010101" pitchFamily="2" charset="-122"/>
                <a:ea typeface="宋体" panose="02010600030101010101" pitchFamily="2" charset="-122"/>
              </a:rPr>
              <a:t>：将字符串改为全部大写</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lower()</a:t>
            </a:r>
            <a:r>
              <a:rPr lang="ja-JP" altLang="zh-CN" sz="2000" dirty="0">
                <a:latin typeface="宋体" panose="02010600030101010101" pitchFamily="2" charset="-122"/>
                <a:ea typeface="宋体" panose="02010600030101010101" pitchFamily="2" charset="-122"/>
              </a:rPr>
              <a:t>：将字符串改为全部小写</a:t>
            </a:r>
            <a:endParaRPr lang="zh-CN" altLang="zh-CN" sz="2000" dirty="0">
              <a:latin typeface="宋体" panose="02010600030101010101" pitchFamily="2" charset="-122"/>
              <a:ea typeface="宋体" panose="02010600030101010101" pitchFamily="2" charset="-122"/>
            </a:endParaRPr>
          </a:p>
        </p:txBody>
      </p:sp>
      <p:pic>
        <p:nvPicPr>
          <p:cNvPr id="3" name="Picture 2">
            <a:extLst>
              <a:ext uri="{FF2B5EF4-FFF2-40B4-BE49-F238E27FC236}">
                <a16:creationId xmlns:a16="http://schemas.microsoft.com/office/drawing/2014/main" id="{5C61A623-2E53-4459-819C-0F414C8C03D2}"/>
              </a:ext>
            </a:extLst>
          </p:cNvPr>
          <p:cNvPicPr>
            <a:picLocks noChangeAspect="1"/>
          </p:cNvPicPr>
          <p:nvPr/>
        </p:nvPicPr>
        <p:blipFill>
          <a:blip r:embed="rId3"/>
          <a:stretch>
            <a:fillRect/>
          </a:stretch>
        </p:blipFill>
        <p:spPr>
          <a:xfrm>
            <a:off x="3550248" y="3233494"/>
            <a:ext cx="4381500" cy="2908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08933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altLang="zh-CN" dirty="0"/>
            </a:br>
            <a:r>
              <a:rPr lang="en-US" dirty="0"/>
              <a:t>1 </a:t>
            </a:r>
            <a:r>
              <a:rPr lang="zh-CN" altLang="en-US" dirty="0"/>
              <a:t>字符串的函数操作</a:t>
            </a:r>
            <a:endParaRPr lang="en-US" dirty="0"/>
          </a:p>
        </p:txBody>
      </p:sp>
      <p:sp>
        <p:nvSpPr>
          <p:cNvPr id="7" name="文本框 6"/>
          <p:cNvSpPr txBox="1"/>
          <p:nvPr/>
        </p:nvSpPr>
        <p:spPr>
          <a:xfrm>
            <a:off x="1103382" y="1680356"/>
            <a:ext cx="9982200" cy="836126"/>
          </a:xfrm>
          <a:prstGeom prst="rect">
            <a:avLst/>
          </a:prstGeom>
          <a:noFill/>
        </p:spPr>
        <p:txBody>
          <a:bodyPr wrap="square" rtlCol="0">
            <a:spAutoFit/>
          </a:bodyPr>
          <a:lstStyle/>
          <a:p>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2</a:t>
            </a:r>
            <a:r>
              <a:rPr lang="zh-CN" altLang="zh-CN" sz="2000" b="1" dirty="0">
                <a:solidFill>
                  <a:srgbClr val="0432FF"/>
                </a:solidFill>
                <a:latin typeface="宋体" panose="02010600030101010101" pitchFamily="2" charset="-122"/>
                <a:ea typeface="宋体" panose="02010600030101010101" pitchFamily="2" charset="-122"/>
              </a:rPr>
              <a:t>）</a:t>
            </a:r>
            <a:r>
              <a:rPr lang="ja-JP" altLang="zh-CN" sz="2000" b="1" dirty="0">
                <a:solidFill>
                  <a:srgbClr val="0432FF"/>
                </a:solidFill>
                <a:latin typeface="宋体" panose="02010600030101010101" pitchFamily="2" charset="-122"/>
                <a:ea typeface="宋体" panose="02010600030101010101" pitchFamily="2" charset="-122"/>
              </a:rPr>
              <a:t>获取字符串长度</a:t>
            </a:r>
            <a:endParaRPr lang="zh-CN" altLang="zh-CN" sz="2000" b="1" dirty="0">
              <a:solidFill>
                <a:srgbClr val="0432FF"/>
              </a:solidFill>
              <a:latin typeface="宋体" panose="02010600030101010101" pitchFamily="2" charset="-122"/>
              <a:ea typeface="宋体" panose="02010600030101010101" pitchFamily="2" charset="-122"/>
            </a:endParaRPr>
          </a:p>
          <a:p>
            <a:pPr>
              <a:spcBef>
                <a:spcPts val="1000"/>
              </a:spcBef>
            </a:pPr>
            <a:r>
              <a:rPr lang="ja-JP" altLang="zh-CN" sz="2000" dirty="0">
                <a:latin typeface="宋体" panose="02010600030101010101" pitchFamily="2" charset="-122"/>
                <a:ea typeface="宋体" panose="02010600030101010101" pitchFamily="2" charset="-122"/>
              </a:rPr>
              <a:t>使用</a:t>
            </a:r>
            <a:r>
              <a:rPr lang="en-US" altLang="zh-CN" sz="2000" dirty="0" err="1">
                <a:latin typeface="宋体" panose="02010600030101010101" pitchFamily="2" charset="-122"/>
                <a:ea typeface="宋体" panose="02010600030101010101" pitchFamily="2" charset="-122"/>
              </a:rPr>
              <a:t>len</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函数获得字符串的长度</a:t>
            </a:r>
            <a:r>
              <a:rPr lang="zh-CN" altLang="en-US" sz="2000" dirty="0">
                <a:latin typeface="宋体" panose="02010600030101010101" pitchFamily="2" charset="-122"/>
                <a:ea typeface="宋体" panose="02010600030101010101" pitchFamily="2" charset="-122"/>
              </a:rPr>
              <a:t>。</a:t>
            </a:r>
            <a:r>
              <a:rPr lang="ja-JP" altLang="zh-CN" sz="2000" b="1" dirty="0">
                <a:latin typeface="宋体" panose="02010600030101010101" pitchFamily="2" charset="-122"/>
                <a:ea typeface="宋体" panose="02010600030101010101" pitchFamily="2" charset="-122"/>
              </a:rPr>
              <a:t>注意</a:t>
            </a:r>
            <a:r>
              <a:rPr lang="zh-CN" altLang="en-US" sz="2000" b="1" dirty="0">
                <a:latin typeface="宋体" panose="02010600030101010101" pitchFamily="2" charset="-122"/>
                <a:ea typeface="宋体" panose="02010600030101010101" pitchFamily="2" charset="-122"/>
              </a:rPr>
              <a:t>：</a:t>
            </a:r>
            <a:r>
              <a:rPr lang="ja-JP" altLang="zh-CN" sz="2000" b="1" dirty="0">
                <a:latin typeface="宋体" panose="02010600030101010101" pitchFamily="2" charset="-122"/>
                <a:ea typeface="宋体" panose="02010600030101010101" pitchFamily="2" charset="-122"/>
              </a:rPr>
              <a:t>字符串中的空格也会被计入长度</a:t>
            </a:r>
            <a:r>
              <a:rPr lang="ja-JP"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p:txBody>
      </p:sp>
      <p:sp>
        <p:nvSpPr>
          <p:cNvPr id="17" name="文本框 16"/>
          <p:cNvSpPr txBox="1"/>
          <p:nvPr/>
        </p:nvSpPr>
        <p:spPr>
          <a:xfrm>
            <a:off x="1496244" y="3665670"/>
            <a:ext cx="187692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运行结果为</a:t>
            </a:r>
          </a:p>
        </p:txBody>
      </p:sp>
      <p:sp>
        <p:nvSpPr>
          <p:cNvPr id="18" name="文本框 17"/>
          <p:cNvSpPr txBox="1"/>
          <p:nvPr/>
        </p:nvSpPr>
        <p:spPr>
          <a:xfrm>
            <a:off x="2145949" y="4228104"/>
            <a:ext cx="2541070" cy="646331"/>
          </a:xfrm>
          <a:prstGeom prst="rect">
            <a:avLst/>
          </a:prstGeom>
          <a:noFill/>
        </p:spPr>
        <p:txBody>
          <a:bodyPr wrap="square" rtlCol="0">
            <a:spAutoFit/>
          </a:bodyPr>
          <a:lstStyle/>
          <a:p>
            <a:pPr fontAlgn="base" latinLnBrk="1"/>
            <a:r>
              <a:rPr lang="en-US" altLang="zh-CN" b="1" dirty="0">
                <a:latin typeface="Consolas" panose="020B0609020204030204" pitchFamily="49" charset="0"/>
              </a:rPr>
              <a:t>12</a:t>
            </a:r>
            <a:endParaRPr lang="zh-CN" altLang="zh-CN" dirty="0">
              <a:latin typeface="Consolas" panose="020B0609020204030204" pitchFamily="49" charset="0"/>
            </a:endParaRPr>
          </a:p>
          <a:p>
            <a:endParaRPr lang="zh-CN" altLang="en-US" dirty="0"/>
          </a:p>
        </p:txBody>
      </p:sp>
      <p:graphicFrame>
        <p:nvGraphicFramePr>
          <p:cNvPr id="19" name="表格 18"/>
          <p:cNvGraphicFramePr>
            <a:graphicFrameLocks noGrp="1"/>
          </p:cNvGraphicFramePr>
          <p:nvPr>
            <p:extLst>
              <p:ext uri="{D42A27DB-BD31-4B8C-83A1-F6EECF244321}">
                <p14:modId xmlns:p14="http://schemas.microsoft.com/office/powerpoint/2010/main" val="4279869772"/>
              </p:ext>
            </p:extLst>
          </p:nvPr>
        </p:nvGraphicFramePr>
        <p:xfrm>
          <a:off x="2145949" y="2986048"/>
          <a:ext cx="8188772" cy="416034"/>
        </p:xfrm>
        <a:graphic>
          <a:graphicData uri="http://schemas.openxmlformats.org/drawingml/2006/table">
            <a:tbl>
              <a:tblPr firstRow="1" firstCol="1" bandRow="1"/>
              <a:tblGrid>
                <a:gridCol w="8188772">
                  <a:extLst>
                    <a:ext uri="{9D8B030D-6E8A-4147-A177-3AD203B41FA5}">
                      <a16:colId xmlns:a16="http://schemas.microsoft.com/office/drawing/2014/main" val="3493004297"/>
                    </a:ext>
                  </a:extLst>
                </a:gridCol>
              </a:tblGrid>
              <a:tr h="416034">
                <a:tc>
                  <a:txBody>
                    <a:bodyPr/>
                    <a:lstStyle/>
                    <a:p>
                      <a:pPr indent="127000" algn="just">
                        <a:lnSpc>
                          <a:spcPts val="1900"/>
                        </a:lnSpc>
                        <a:spcAft>
                          <a:spcPts val="0"/>
                        </a:spcAft>
                      </a:pP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len</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("Hello world!") </a:t>
                      </a:r>
                      <a:r>
                        <a:rPr lang="en-US" sz="1800" kern="100" baseline="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   </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ja-JP"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计算字符串</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"Hello world!"</a:t>
                      </a:r>
                      <a:r>
                        <a:rPr lang="ja-JP"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所包含的字符数</a:t>
                      </a:r>
                      <a:endPar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177355125"/>
                  </a:ext>
                </a:extLst>
              </a:tr>
            </a:tbl>
          </a:graphicData>
        </a:graphic>
      </p:graphicFrame>
    </p:spTree>
    <p:extLst>
      <p:ext uri="{BB962C8B-B14F-4D97-AF65-F5344CB8AC3E}">
        <p14:creationId xmlns:p14="http://schemas.microsoft.com/office/powerpoint/2010/main" val="206986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zh-CN" altLang="en-US" dirty="0"/>
              <a:t>字符串的函数操作</a:t>
            </a:r>
            <a:endParaRPr lang="en-US" dirty="0"/>
          </a:p>
        </p:txBody>
      </p:sp>
      <p:sp>
        <p:nvSpPr>
          <p:cNvPr id="7" name="文本框 6"/>
          <p:cNvSpPr txBox="1"/>
          <p:nvPr/>
        </p:nvSpPr>
        <p:spPr>
          <a:xfrm>
            <a:off x="1103382" y="1287405"/>
            <a:ext cx="9982200" cy="1985159"/>
          </a:xfrm>
          <a:prstGeom prst="rect">
            <a:avLst/>
          </a:prstGeom>
          <a:noFill/>
        </p:spPr>
        <p:txBody>
          <a:bodyPr wrap="square" rtlCol="0">
            <a:spAutoFit/>
          </a:bodyPr>
          <a:lstStyle/>
          <a:p>
            <a:pPr>
              <a:spcBef>
                <a:spcPts val="1000"/>
              </a:spcBef>
            </a:pPr>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3</a:t>
            </a:r>
            <a:r>
              <a:rPr lang="zh-CN" altLang="zh-CN" sz="2000" b="1" dirty="0">
                <a:solidFill>
                  <a:srgbClr val="0432FF"/>
                </a:solidFill>
                <a:latin typeface="宋体" panose="02010600030101010101" pitchFamily="2" charset="-122"/>
                <a:ea typeface="宋体" panose="02010600030101010101" pitchFamily="2" charset="-122"/>
              </a:rPr>
              <a:t>）删除空白</a:t>
            </a:r>
          </a:p>
          <a:p>
            <a:pPr marL="285750" lvl="0" indent="-285750">
              <a:spcBef>
                <a:spcPts val="1000"/>
              </a:spcBef>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strip()</a:t>
            </a:r>
            <a:r>
              <a:rPr lang="ja-JP" altLang="zh-CN" sz="2000" dirty="0">
                <a:latin typeface="宋体" panose="02010600030101010101" pitchFamily="2" charset="-122"/>
                <a:ea typeface="宋体" panose="02010600030101010101" pitchFamily="2" charset="-122"/>
              </a:rPr>
              <a:t>：删除字符串中出现的空白。</a:t>
            </a:r>
            <a:endParaRPr lang="zh-CN" altLang="zh-CN" sz="2000" dirty="0">
              <a:latin typeface="宋体" panose="02010600030101010101" pitchFamily="2" charset="-122"/>
              <a:ea typeface="宋体" panose="02010600030101010101" pitchFamily="2" charset="-122"/>
            </a:endParaRPr>
          </a:p>
          <a:p>
            <a:pPr marL="285750" lvl="0" indent="-285750">
              <a:spcBef>
                <a:spcPts val="1000"/>
              </a:spcBef>
              <a:buFont typeface="Arial" panose="020B0604020202020204" pitchFamily="34" charset="0"/>
              <a:buChar char="•"/>
            </a:pPr>
            <a:r>
              <a:rPr lang="en-US" altLang="zh-CN" sz="2000" dirty="0" err="1">
                <a:latin typeface="宋体" panose="02010600030101010101" pitchFamily="2" charset="-122"/>
                <a:ea typeface="宋体" panose="02010600030101010101" pitchFamily="2" charset="-122"/>
              </a:rPr>
              <a:t>rstrp</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：删除字符串中末尾处多余的空白。</a:t>
            </a:r>
            <a:endParaRPr lang="zh-CN" altLang="zh-CN" sz="2000" dirty="0">
              <a:latin typeface="宋体" panose="02010600030101010101" pitchFamily="2" charset="-122"/>
              <a:ea typeface="宋体" panose="02010600030101010101" pitchFamily="2" charset="-122"/>
            </a:endParaRPr>
          </a:p>
          <a:p>
            <a:pPr marL="285750" lvl="0" indent="-285750">
              <a:spcBef>
                <a:spcPts val="1000"/>
              </a:spcBef>
              <a:buFont typeface="Arial" panose="020B0604020202020204" pitchFamily="34" charset="0"/>
              <a:buChar char="•"/>
            </a:pPr>
            <a:r>
              <a:rPr lang="en-US" altLang="zh-CN" sz="2000" dirty="0" err="1">
                <a:latin typeface="宋体" panose="02010600030101010101" pitchFamily="2" charset="-122"/>
                <a:ea typeface="宋体" panose="02010600030101010101" pitchFamily="2" charset="-122"/>
              </a:rPr>
              <a:t>lstrp</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：删除字符串中开头处多余的空白。</a:t>
            </a:r>
            <a:endParaRPr lang="zh-CN" altLang="zh-CN" sz="2000" dirty="0">
              <a:latin typeface="宋体" panose="02010600030101010101" pitchFamily="2" charset="-122"/>
              <a:ea typeface="宋体" panose="02010600030101010101" pitchFamily="2" charset="-122"/>
            </a:endParaRPr>
          </a:p>
          <a:p>
            <a:endParaRPr lang="zh-CN" altLang="zh-CN" dirty="0"/>
          </a:p>
        </p:txBody>
      </p:sp>
      <p:pic>
        <p:nvPicPr>
          <p:cNvPr id="4" name="Picture 3">
            <a:extLst>
              <a:ext uri="{FF2B5EF4-FFF2-40B4-BE49-F238E27FC236}">
                <a16:creationId xmlns:a16="http://schemas.microsoft.com/office/drawing/2014/main" id="{23122CDF-762E-4B7D-8300-78A70260828D}"/>
              </a:ext>
            </a:extLst>
          </p:cNvPr>
          <p:cNvPicPr>
            <a:picLocks noChangeAspect="1"/>
          </p:cNvPicPr>
          <p:nvPr/>
        </p:nvPicPr>
        <p:blipFill>
          <a:blip r:embed="rId3"/>
          <a:stretch>
            <a:fillRect/>
          </a:stretch>
        </p:blipFill>
        <p:spPr>
          <a:xfrm>
            <a:off x="1103382" y="3585437"/>
            <a:ext cx="5270500" cy="23622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3D1F9AF3-37CB-75CE-C64C-A64B6B54D034}"/>
              </a:ext>
            </a:extLst>
          </p:cNvPr>
          <p:cNvPicPr>
            <a:picLocks noChangeAspect="1"/>
          </p:cNvPicPr>
          <p:nvPr/>
        </p:nvPicPr>
        <p:blipFill>
          <a:blip r:embed="rId4"/>
          <a:stretch>
            <a:fillRect/>
          </a:stretch>
        </p:blipFill>
        <p:spPr>
          <a:xfrm>
            <a:off x="6968192" y="4931637"/>
            <a:ext cx="4279900" cy="1016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3066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zh-CN" altLang="en-US" dirty="0"/>
              <a:t>字符串的函数操作</a:t>
            </a:r>
            <a:endParaRPr lang="en-US" dirty="0"/>
          </a:p>
        </p:txBody>
      </p:sp>
      <p:sp>
        <p:nvSpPr>
          <p:cNvPr id="7" name="文本框 6"/>
          <p:cNvSpPr txBox="1"/>
          <p:nvPr/>
        </p:nvSpPr>
        <p:spPr>
          <a:xfrm>
            <a:off x="1103382" y="1439306"/>
            <a:ext cx="9982200" cy="1143903"/>
          </a:xfrm>
          <a:prstGeom prst="rect">
            <a:avLst/>
          </a:prstGeom>
          <a:noFill/>
        </p:spPr>
        <p:txBody>
          <a:bodyPr wrap="square" rtlCol="0">
            <a:spAutoFit/>
          </a:bodyPr>
          <a:lstStyle/>
          <a:p>
            <a:pPr>
              <a:spcBef>
                <a:spcPts val="1000"/>
              </a:spcBef>
            </a:pPr>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4</a:t>
            </a:r>
            <a:r>
              <a:rPr lang="zh-CN" altLang="zh-CN" sz="2000" b="1" dirty="0">
                <a:solidFill>
                  <a:srgbClr val="0432FF"/>
                </a:solidFill>
                <a:latin typeface="宋体" panose="02010600030101010101" pitchFamily="2" charset="-122"/>
                <a:ea typeface="宋体" panose="02010600030101010101" pitchFamily="2" charset="-122"/>
              </a:rPr>
              <a:t>）</a:t>
            </a:r>
            <a:r>
              <a:rPr lang="zh-CN" altLang="en-US" sz="2000" b="1" dirty="0">
                <a:solidFill>
                  <a:srgbClr val="0432FF"/>
                </a:solidFill>
                <a:latin typeface="宋体" panose="02010600030101010101" pitchFamily="2" charset="-122"/>
                <a:ea typeface="宋体" panose="02010600030101010101" pitchFamily="2" charset="-122"/>
              </a:rPr>
              <a:t>分割字符串</a:t>
            </a:r>
            <a:endParaRPr lang="zh-CN" altLang="zh-CN" sz="2000" b="1" dirty="0">
              <a:solidFill>
                <a:srgbClr val="0432FF"/>
              </a:solidFill>
              <a:latin typeface="宋体" panose="02010600030101010101" pitchFamily="2" charset="-122"/>
              <a:ea typeface="宋体" panose="02010600030101010101" pitchFamily="2" charset="-122"/>
            </a:endParaRPr>
          </a:p>
          <a:p>
            <a:pPr>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使用</a:t>
            </a:r>
            <a:r>
              <a:rPr lang="zh-CN" altLang="en-US"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函数</a:t>
            </a:r>
            <a:r>
              <a:rPr lang="en-US" altLang="zh-CN" sz="2000" dirty="0">
                <a:latin typeface="宋体" panose="02010600030101010101" pitchFamily="2" charset="-122"/>
                <a:ea typeface="宋体" panose="02010600030101010101" pitchFamily="2" charset="-122"/>
              </a:rPr>
              <a:t>split()</a:t>
            </a:r>
            <a:r>
              <a:rPr lang="ja-JP" altLang="zh-CN" sz="2000" dirty="0">
                <a:latin typeface="宋体" panose="02010600030101010101" pitchFamily="2" charset="-122"/>
                <a:ea typeface="宋体" panose="02010600030101010101" pitchFamily="2" charset="-122"/>
              </a:rPr>
              <a:t>对字符串进行基于分隔符的分割，得到若干个子字符串组成的列表。若不指定分隔符，那么</a:t>
            </a:r>
            <a:r>
              <a:rPr lang="en-US" altLang="zh-CN" sz="2000" dirty="0">
                <a:latin typeface="宋体" panose="02010600030101010101" pitchFamily="2" charset="-122"/>
                <a:ea typeface="宋体" panose="02010600030101010101" pitchFamily="2" charset="-122"/>
              </a:rPr>
              <a:t>split()</a:t>
            </a:r>
            <a:r>
              <a:rPr lang="ja-JP" altLang="zh-CN" sz="2000" dirty="0">
                <a:latin typeface="宋体" panose="02010600030101010101" pitchFamily="2" charset="-122"/>
                <a:ea typeface="宋体" panose="02010600030101010101" pitchFamily="2" charset="-122"/>
              </a:rPr>
              <a:t>将默认使用空白字符，即换行符、空格或者制表符。</a:t>
            </a:r>
            <a:endParaRPr lang="zh-CN" altLang="zh-CN"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FBBAB057-713E-73C6-A646-806FEEAF1785}"/>
              </a:ext>
            </a:extLst>
          </p:cNvPr>
          <p:cNvPicPr>
            <a:picLocks noChangeAspect="1"/>
          </p:cNvPicPr>
          <p:nvPr/>
        </p:nvPicPr>
        <p:blipFill>
          <a:blip r:embed="rId3"/>
          <a:stretch>
            <a:fillRect/>
          </a:stretch>
        </p:blipFill>
        <p:spPr>
          <a:xfrm>
            <a:off x="2525782" y="2928604"/>
            <a:ext cx="7137400" cy="3289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5898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3508-9C5A-9682-93E2-B8A5E291152B}"/>
              </a:ext>
            </a:extLst>
          </p:cNvPr>
          <p:cNvSpPr>
            <a:spLocks noGrp="1"/>
          </p:cNvSpPr>
          <p:nvPr>
            <p:ph type="title"/>
          </p:nvPr>
        </p:nvSpPr>
        <p:spPr/>
        <p:txBody>
          <a:bodyPr/>
          <a:lstStyle/>
          <a:p>
            <a:r>
              <a:rPr lang="zh-CN" altLang="en-US" b="1" i="0" u="none" strike="noStrike" dirty="0">
                <a:solidFill>
                  <a:srgbClr val="262625"/>
                </a:solidFill>
                <a:effectLst/>
                <a:latin typeface="Open Sans" panose="020B0606030504020204" pitchFamily="34" charset="0"/>
                <a:hlinkClick r:id="rId2"/>
              </a:rPr>
              <a:t>连接函数</a:t>
            </a:r>
            <a:endParaRPr kumimoji="1" lang="zh-CN" altLang="en-US" dirty="0"/>
          </a:p>
        </p:txBody>
      </p:sp>
      <p:sp>
        <p:nvSpPr>
          <p:cNvPr id="4" name="TextBox 3">
            <a:extLst>
              <a:ext uri="{FF2B5EF4-FFF2-40B4-BE49-F238E27FC236}">
                <a16:creationId xmlns:a16="http://schemas.microsoft.com/office/drawing/2014/main" id="{6CCC6738-3991-0F74-5E55-DE6333C0C9B9}"/>
              </a:ext>
            </a:extLst>
          </p:cNvPr>
          <p:cNvSpPr txBox="1"/>
          <p:nvPr/>
        </p:nvSpPr>
        <p:spPr>
          <a:xfrm>
            <a:off x="1284513" y="1388906"/>
            <a:ext cx="9655629" cy="864789"/>
          </a:xfrm>
          <a:prstGeom prst="rect">
            <a:avLst/>
          </a:prstGeom>
          <a:noFill/>
        </p:spPr>
        <p:txBody>
          <a:bodyPr wrap="square">
            <a:spAutoFit/>
          </a:bodyPr>
          <a:lstStyle/>
          <a:p>
            <a:pPr>
              <a:lnSpc>
                <a:spcPct val="150000"/>
              </a:lnSpc>
            </a:pPr>
            <a:r>
              <a:rPr lang="en-US" b="1" dirty="0" err="1">
                <a:solidFill>
                  <a:srgbClr val="0432FF"/>
                </a:solidFill>
              </a:rPr>
              <a:t>separator.join</a:t>
            </a:r>
            <a:r>
              <a:rPr lang="en-US" b="1" dirty="0">
                <a:solidFill>
                  <a:srgbClr val="0432FF"/>
                </a:solidFill>
              </a:rPr>
              <a:t>(</a:t>
            </a:r>
            <a:r>
              <a:rPr lang="en-US" b="1" dirty="0" err="1">
                <a:solidFill>
                  <a:srgbClr val="0432FF"/>
                </a:solidFill>
              </a:rPr>
              <a:t>iterable</a:t>
            </a:r>
            <a:r>
              <a:rPr lang="en-US" b="1" dirty="0">
                <a:solidFill>
                  <a:srgbClr val="0432FF"/>
                </a:solidFill>
              </a:rPr>
              <a:t>)</a:t>
            </a:r>
            <a:r>
              <a:rPr lang="en-US" b="1" i="0" dirty="0">
                <a:solidFill>
                  <a:srgbClr val="0432FF"/>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用于将多个子字符串连接成一个字符串，即将一个可迭代对象（如列表、元组等）中的元素以指定的分隔符连接起来，生成一个新的字符串。</a:t>
            </a:r>
            <a:endParaRPr lang="zh-CN" altLang="en-US" dirty="0"/>
          </a:p>
        </p:txBody>
      </p:sp>
      <p:pic>
        <p:nvPicPr>
          <p:cNvPr id="5" name="Picture 4">
            <a:extLst>
              <a:ext uri="{FF2B5EF4-FFF2-40B4-BE49-F238E27FC236}">
                <a16:creationId xmlns:a16="http://schemas.microsoft.com/office/drawing/2014/main" id="{B86382CA-4495-7490-761E-53933F3840C9}"/>
              </a:ext>
            </a:extLst>
          </p:cNvPr>
          <p:cNvPicPr>
            <a:picLocks noChangeAspect="1"/>
          </p:cNvPicPr>
          <p:nvPr/>
        </p:nvPicPr>
        <p:blipFill>
          <a:blip r:embed="rId3"/>
          <a:stretch>
            <a:fillRect/>
          </a:stretch>
        </p:blipFill>
        <p:spPr>
          <a:xfrm>
            <a:off x="2994477" y="2738594"/>
            <a:ext cx="6235700" cy="2425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4572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zh-CN" altLang="en-US" dirty="0"/>
              <a:t>字符串的函数操作</a:t>
            </a:r>
            <a:endParaRPr lang="en-US" dirty="0"/>
          </a:p>
        </p:txBody>
      </p:sp>
      <p:sp>
        <p:nvSpPr>
          <p:cNvPr id="7" name="文本框 6"/>
          <p:cNvSpPr txBox="1"/>
          <p:nvPr/>
        </p:nvSpPr>
        <p:spPr>
          <a:xfrm>
            <a:off x="867568" y="1277941"/>
            <a:ext cx="9982200" cy="1082348"/>
          </a:xfrm>
          <a:prstGeom prst="rect">
            <a:avLst/>
          </a:prstGeom>
          <a:noFill/>
        </p:spPr>
        <p:txBody>
          <a:bodyPr wrap="square" rtlCol="0">
            <a:spAutoFit/>
          </a:bodyPr>
          <a:lstStyle/>
          <a:p>
            <a:pPr>
              <a:spcBef>
                <a:spcPts val="1000"/>
              </a:spcBef>
            </a:pPr>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5</a:t>
            </a:r>
            <a:r>
              <a:rPr lang="zh-CN" altLang="zh-CN" sz="2000" b="1" dirty="0">
                <a:solidFill>
                  <a:srgbClr val="0432FF"/>
                </a:solidFill>
                <a:latin typeface="宋体" panose="02010600030101010101" pitchFamily="2" charset="-122"/>
                <a:ea typeface="宋体" panose="02010600030101010101" pitchFamily="2" charset="-122"/>
              </a:rPr>
              <a:t>）</a:t>
            </a:r>
            <a:r>
              <a:rPr lang="ja-JP" altLang="en-US" sz="2000" b="1">
                <a:solidFill>
                  <a:srgbClr val="0432FF"/>
                </a:solidFill>
                <a:latin typeface="宋体" panose="02010600030101010101" pitchFamily="2" charset="-122"/>
                <a:ea typeface="宋体" panose="02010600030101010101" pitchFamily="2" charset="-122"/>
              </a:rPr>
              <a:t>查找与替换函数</a:t>
            </a:r>
            <a:endParaRPr lang="en-US" altLang="ja-JP" sz="2000" b="1" dirty="0">
              <a:solidFill>
                <a:srgbClr val="0432FF"/>
              </a:solidFill>
              <a:latin typeface="宋体" panose="02010600030101010101" pitchFamily="2" charset="-122"/>
              <a:ea typeface="宋体" panose="02010600030101010101" pitchFamily="2" charset="-122"/>
            </a:endParaRPr>
          </a:p>
          <a:p>
            <a:pPr>
              <a:spcBef>
                <a:spcPts val="1000"/>
              </a:spcBef>
            </a:pPr>
            <a:r>
              <a:rPr lang="ja-JP" altLang="zh-CN">
                <a:latin typeface="宋体" panose="02010600030101010101" pitchFamily="2" charset="-122"/>
                <a:ea typeface="宋体" panose="02010600030101010101" pitchFamily="2" charset="-122"/>
              </a:rPr>
              <a:t>在</a:t>
            </a:r>
            <a:r>
              <a:rPr lang="en-US" altLang="zh-CN" dirty="0">
                <a:latin typeface="宋体" panose="02010600030101010101" pitchFamily="2" charset="-122"/>
                <a:ea typeface="宋体" panose="02010600030101010101" pitchFamily="2" charset="-122"/>
              </a:rPr>
              <a:t>Python</a:t>
            </a:r>
            <a:r>
              <a:rPr lang="ja-JP" altLang="zh-CN">
                <a:latin typeface="宋体" panose="02010600030101010101" pitchFamily="2" charset="-122"/>
                <a:ea typeface="宋体" panose="02010600030101010101" pitchFamily="2" charset="-122"/>
              </a:rPr>
              <a:t>中可以使用</a:t>
            </a:r>
            <a:r>
              <a:rPr lang="en-US" altLang="zh-CN" dirty="0">
                <a:latin typeface="宋体" panose="02010600030101010101" pitchFamily="2" charset="-122"/>
                <a:ea typeface="宋体" panose="02010600030101010101" pitchFamily="2" charset="-122"/>
              </a:rPr>
              <a:t>replace()</a:t>
            </a:r>
            <a:r>
              <a:rPr lang="ja-JP" altLang="zh-CN">
                <a:latin typeface="宋体" panose="02010600030101010101" pitchFamily="2" charset="-122"/>
                <a:ea typeface="宋体" panose="02010600030101010101" pitchFamily="2" charset="-122"/>
              </a:rPr>
              <a:t>函数进行字符串的子字符串替换。需要定义的</a:t>
            </a:r>
            <a:r>
              <a:rPr lang="zh-CN" altLang="en-US" dirty="0">
                <a:latin typeface="宋体" panose="02010600030101010101" pitchFamily="2" charset="-122"/>
                <a:ea typeface="宋体" panose="02010600030101010101" pitchFamily="2" charset="-122"/>
              </a:rPr>
              <a:t>参数</a:t>
            </a:r>
            <a:r>
              <a:rPr lang="ja-JP" altLang="zh-CN">
                <a:latin typeface="宋体" panose="02010600030101010101" pitchFamily="2" charset="-122"/>
                <a:ea typeface="宋体" panose="02010600030101010101" pitchFamily="2" charset="-122"/>
              </a:rPr>
              <a:t>有三个：需要被替换的子字符串、用来替换的新子字符串以及需要替换多少处（不超过该次数）</a:t>
            </a:r>
            <a:endParaRPr lang="zh-CN" altLang="zh-CN" b="1" dirty="0">
              <a:solidFill>
                <a:srgbClr val="0432FF"/>
              </a:solidFill>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1A1AF8A6-4616-C521-7204-0BD078D8F017}"/>
              </a:ext>
            </a:extLst>
          </p:cNvPr>
          <p:cNvPicPr>
            <a:picLocks noChangeAspect="1"/>
          </p:cNvPicPr>
          <p:nvPr/>
        </p:nvPicPr>
        <p:blipFill>
          <a:blip r:embed="rId3"/>
          <a:stretch>
            <a:fillRect/>
          </a:stretch>
        </p:blipFill>
        <p:spPr>
          <a:xfrm>
            <a:off x="327834" y="2448341"/>
            <a:ext cx="6070600" cy="43053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1BC055A2-B896-AF31-46D0-B2B57830BD5D}"/>
              </a:ext>
            </a:extLst>
          </p:cNvPr>
          <p:cNvPicPr>
            <a:picLocks noChangeAspect="1"/>
          </p:cNvPicPr>
          <p:nvPr/>
        </p:nvPicPr>
        <p:blipFill>
          <a:blip r:embed="rId4"/>
          <a:stretch>
            <a:fillRect/>
          </a:stretch>
        </p:blipFill>
        <p:spPr>
          <a:xfrm>
            <a:off x="4605290" y="3873687"/>
            <a:ext cx="7467600" cy="2540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2774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字符串的函数操作</a:t>
            </a:r>
            <a:endParaRPr lang="en-US" dirty="0"/>
          </a:p>
        </p:txBody>
      </p:sp>
      <p:sp>
        <p:nvSpPr>
          <p:cNvPr id="7" name="文本框 6"/>
          <p:cNvSpPr txBox="1"/>
          <p:nvPr/>
        </p:nvSpPr>
        <p:spPr>
          <a:xfrm>
            <a:off x="1017815" y="1350096"/>
            <a:ext cx="9982200" cy="836126"/>
          </a:xfrm>
          <a:prstGeom prst="rect">
            <a:avLst/>
          </a:prstGeom>
          <a:noFill/>
        </p:spPr>
        <p:txBody>
          <a:bodyPr wrap="square" rtlCol="0">
            <a:spAutoFit/>
          </a:bodyPr>
          <a:lstStyle/>
          <a:p>
            <a:pPr>
              <a:spcBef>
                <a:spcPts val="1000"/>
              </a:spcBef>
            </a:pPr>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6</a:t>
            </a:r>
            <a:r>
              <a:rPr lang="zh-CN" altLang="zh-CN" sz="2000" b="1" dirty="0">
                <a:solidFill>
                  <a:srgbClr val="0432FF"/>
                </a:solidFill>
                <a:latin typeface="宋体" panose="02010600030101010101" pitchFamily="2" charset="-122"/>
                <a:ea typeface="宋体" panose="02010600030101010101" pitchFamily="2" charset="-122"/>
              </a:rPr>
              <a:t>）转换字符串类型</a:t>
            </a:r>
            <a:endParaRPr lang="en-US" altLang="zh-CN" sz="2000" b="1" dirty="0">
              <a:solidFill>
                <a:srgbClr val="0432FF"/>
              </a:solidFill>
              <a:latin typeface="宋体" panose="02010600030101010101" pitchFamily="2" charset="-122"/>
              <a:ea typeface="宋体" panose="02010600030101010101" pitchFamily="2" charset="-122"/>
            </a:endParaRPr>
          </a:p>
          <a:p>
            <a:pPr>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函数</a:t>
            </a:r>
            <a:r>
              <a:rPr lang="en-US" altLang="zh-CN" sz="2000" dirty="0" err="1">
                <a:latin typeface="宋体" panose="02010600030101010101" pitchFamily="2" charset="-122"/>
                <a:ea typeface="宋体" panose="02010600030101010101" pitchFamily="2" charset="-122"/>
              </a:rPr>
              <a:t>str</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可以用来将变量的类型从数值转换为字符串</a:t>
            </a:r>
            <a:endParaRPr lang="zh-CN" altLang="zh-CN" sz="2000" dirty="0">
              <a:latin typeface="宋体" panose="02010600030101010101" pitchFamily="2" charset="-122"/>
              <a:ea typeface="宋体" panose="02010600030101010101" pitchFamily="2" charset="-122"/>
            </a:endParaRPr>
          </a:p>
        </p:txBody>
      </p:sp>
      <p:pic>
        <p:nvPicPr>
          <p:cNvPr id="3" name="Picture 2">
            <a:extLst>
              <a:ext uri="{FF2B5EF4-FFF2-40B4-BE49-F238E27FC236}">
                <a16:creationId xmlns:a16="http://schemas.microsoft.com/office/drawing/2014/main" id="{63CBCDF1-4EE2-D83E-7AA0-7CA91F1C551F}"/>
              </a:ext>
            </a:extLst>
          </p:cNvPr>
          <p:cNvPicPr>
            <a:picLocks noChangeAspect="1"/>
          </p:cNvPicPr>
          <p:nvPr/>
        </p:nvPicPr>
        <p:blipFill>
          <a:blip r:embed="rId3"/>
          <a:stretch>
            <a:fillRect/>
          </a:stretch>
        </p:blipFill>
        <p:spPr>
          <a:xfrm>
            <a:off x="3126015" y="2735036"/>
            <a:ext cx="5765800" cy="2171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12322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字符串的函数操作</a:t>
            </a:r>
            <a:endParaRPr lang="en-US" dirty="0"/>
          </a:p>
        </p:txBody>
      </p:sp>
      <p:sp>
        <p:nvSpPr>
          <p:cNvPr id="7" name="文本框 6"/>
          <p:cNvSpPr txBox="1"/>
          <p:nvPr/>
        </p:nvSpPr>
        <p:spPr>
          <a:xfrm>
            <a:off x="1103381" y="1386681"/>
            <a:ext cx="9982200" cy="2318583"/>
          </a:xfrm>
          <a:prstGeom prst="rect">
            <a:avLst/>
          </a:prstGeom>
          <a:noFill/>
        </p:spPr>
        <p:txBody>
          <a:bodyPr wrap="square" rtlCol="0">
            <a:spAutoFit/>
          </a:bodyPr>
          <a:lstStyle/>
          <a:p>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7</a:t>
            </a:r>
            <a:r>
              <a:rPr lang="zh-CN" altLang="zh-CN" sz="2000" b="1" dirty="0">
                <a:solidFill>
                  <a:srgbClr val="0432FF"/>
                </a:solidFill>
                <a:latin typeface="宋体" panose="02010600030101010101" pitchFamily="2" charset="-122"/>
                <a:ea typeface="宋体" panose="02010600030101010101" pitchFamily="2" charset="-122"/>
              </a:rPr>
              <a:t>）</a:t>
            </a:r>
            <a:r>
              <a:rPr lang="zh-CN" altLang="en-US" sz="2000" b="1" dirty="0">
                <a:solidFill>
                  <a:srgbClr val="0432FF"/>
                </a:solidFill>
                <a:latin typeface="宋体" panose="02010600030101010101" pitchFamily="2" charset="-122"/>
                <a:ea typeface="宋体" panose="02010600030101010101" pitchFamily="2" charset="-122"/>
              </a:rPr>
              <a:t>字符串的索引</a:t>
            </a:r>
            <a:endParaRPr lang="zh-CN" altLang="zh-CN" sz="2000" b="1" dirty="0">
              <a:solidFill>
                <a:srgbClr val="0432FF"/>
              </a:solidFill>
              <a:latin typeface="宋体" panose="02010600030101010101" pitchFamily="2" charset="-122"/>
              <a:ea typeface="宋体" panose="02010600030101010101" pitchFamily="2" charset="-122"/>
            </a:endParaRPr>
          </a:p>
          <a:p>
            <a:pPr>
              <a:spcBef>
                <a:spcPts val="1000"/>
              </a:spcBef>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在</a:t>
            </a:r>
            <a:r>
              <a:rPr lang="en-US" altLang="zh-CN" dirty="0">
                <a:latin typeface="宋体" panose="02010600030101010101" pitchFamily="2" charset="-122"/>
                <a:ea typeface="宋体" panose="02010600030101010101" pitchFamily="2" charset="-122"/>
              </a:rPr>
              <a:t>python</a:t>
            </a:r>
            <a:r>
              <a:rPr lang="zh-CN" altLang="zh-CN" dirty="0">
                <a:latin typeface="宋体" panose="02010600030101010101" pitchFamily="2" charset="-122"/>
                <a:ea typeface="宋体" panose="02010600030101010101" pitchFamily="2" charset="-122"/>
              </a:rPr>
              <a:t>中</a:t>
            </a:r>
            <a:r>
              <a:rPr lang="zh-CN" altLang="zh-CN" b="1" dirty="0">
                <a:latin typeface="宋体" panose="02010600030101010101" pitchFamily="2" charset="-122"/>
                <a:ea typeface="宋体" panose="02010600030101010101" pitchFamily="2" charset="-122"/>
              </a:rPr>
              <a:t>字符串是字符的有序集合</a:t>
            </a:r>
            <a:r>
              <a:rPr lang="zh-CN" altLang="zh-CN" dirty="0">
                <a:latin typeface="宋体" panose="02010600030101010101" pitchFamily="2" charset="-122"/>
                <a:ea typeface="宋体" panose="02010600030101010101" pitchFamily="2" charset="-122"/>
              </a:rPr>
              <a:t>，所以通过适当地操作能够通过其位置获得字符串内的元素。字符串中的字符是通过索引提取的，即通过在字符串之后的方括号中提供所需要的元素的数字偏移量提取字符。</a:t>
            </a:r>
            <a:endParaRPr lang="en-US" altLang="zh-CN" dirty="0">
              <a:latin typeface="宋体" panose="02010600030101010101" pitchFamily="2" charset="-122"/>
              <a:ea typeface="宋体" panose="02010600030101010101" pitchFamily="2" charset="-122"/>
            </a:endParaRPr>
          </a:p>
          <a:p>
            <a:pPr>
              <a:spcBef>
                <a:spcPts val="1000"/>
              </a:spcBef>
            </a:pPr>
            <a:r>
              <a:rPr lang="en-US" altLang="zh-CN" dirty="0">
                <a:latin typeface="宋体" panose="02010600030101010101" pitchFamily="2" charset="-122"/>
                <a:ea typeface="宋体" panose="02010600030101010101" pitchFamily="2" charset="-122"/>
              </a:rPr>
              <a:t>    Python</a:t>
            </a:r>
            <a:r>
              <a:rPr lang="zh-CN" altLang="zh-CN" dirty="0">
                <a:latin typeface="宋体" panose="02010600030101010101" pitchFamily="2" charset="-122"/>
                <a:ea typeface="宋体" panose="02010600030101010101" pitchFamily="2" charset="-122"/>
              </a:rPr>
              <a:t>字符串</a:t>
            </a:r>
            <a:r>
              <a:rPr lang="zh-CN" altLang="zh-CN" b="1" dirty="0">
                <a:latin typeface="宋体" panose="02010600030101010101" pitchFamily="2" charset="-122"/>
                <a:ea typeface="宋体" panose="02010600030101010101" pitchFamily="2" charset="-122"/>
              </a:rPr>
              <a:t>偏移量是从</a:t>
            </a:r>
            <a:r>
              <a:rPr lang="en-US" altLang="zh-CN" b="1" dirty="0">
                <a:latin typeface="宋体" panose="02010600030101010101" pitchFamily="2" charset="-122"/>
                <a:ea typeface="宋体" panose="02010600030101010101" pitchFamily="2" charset="-122"/>
              </a:rPr>
              <a:t>0</a:t>
            </a:r>
            <a:r>
              <a:rPr lang="zh-CN" altLang="zh-CN" b="1" dirty="0">
                <a:latin typeface="宋体" panose="02010600030101010101" pitchFamily="2" charset="-122"/>
                <a:ea typeface="宋体" panose="02010600030101010101" pitchFamily="2" charset="-122"/>
              </a:rPr>
              <a:t>开始的，并比字符串的长度小</a:t>
            </a:r>
            <a:r>
              <a:rPr lang="en-US" altLang="zh-CN" b="1"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Python</a:t>
            </a:r>
            <a:r>
              <a:rPr lang="zh-CN" altLang="zh-CN" dirty="0">
                <a:latin typeface="宋体" panose="02010600030101010101" pitchFamily="2" charset="-122"/>
                <a:ea typeface="宋体" panose="02010600030101010101" pitchFamily="2" charset="-122"/>
              </a:rPr>
              <a:t>还支持类似在字符串中使用负偏移这样的方法从序列中获取元素。一个负偏移与这个字符串的长度相加后得到这个字符串的正的偏移值。能够将负偏移看作是从字符串的末尾处反向计数。</a:t>
            </a:r>
          </a:p>
        </p:txBody>
      </p:sp>
      <p:pic>
        <p:nvPicPr>
          <p:cNvPr id="9" name="图片 8"/>
          <p:cNvPicPr/>
          <p:nvPr/>
        </p:nvPicPr>
        <p:blipFill rotWithShape="1">
          <a:blip r:embed="rId3">
            <a:extLst>
              <a:ext uri="{28A0092B-C50C-407E-A947-70E740481C1C}">
                <a14:useLocalDpi xmlns:a14="http://schemas.microsoft.com/office/drawing/2010/main" val="0"/>
              </a:ext>
            </a:extLst>
          </a:blip>
          <a:srcRect t="16886" b="18149"/>
          <a:stretch/>
        </p:blipFill>
        <p:spPr bwMode="auto">
          <a:xfrm>
            <a:off x="2082422" y="3491029"/>
            <a:ext cx="8024117" cy="1639805"/>
          </a:xfrm>
          <a:prstGeom prst="rect">
            <a:avLst/>
          </a:prstGeom>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0BE84DA5-E91C-3E1D-DD90-CC79B0FF8146}"/>
              </a:ext>
            </a:extLst>
          </p:cNvPr>
          <p:cNvPicPr>
            <a:picLocks noChangeAspect="1"/>
          </p:cNvPicPr>
          <p:nvPr/>
        </p:nvPicPr>
        <p:blipFill>
          <a:blip r:embed="rId4"/>
          <a:stretch>
            <a:fillRect/>
          </a:stretch>
        </p:blipFill>
        <p:spPr>
          <a:xfrm>
            <a:off x="1684659" y="5079362"/>
            <a:ext cx="3937000" cy="1460500"/>
          </a:xfrm>
          <a:prstGeom prst="rect">
            <a:avLst/>
          </a:prstGeom>
        </p:spPr>
      </p:pic>
      <p:pic>
        <p:nvPicPr>
          <p:cNvPr id="4" name="Picture 3">
            <a:extLst>
              <a:ext uri="{FF2B5EF4-FFF2-40B4-BE49-F238E27FC236}">
                <a16:creationId xmlns:a16="http://schemas.microsoft.com/office/drawing/2014/main" id="{DF0C303C-C17A-AD71-36C1-943209020EFF}"/>
              </a:ext>
            </a:extLst>
          </p:cNvPr>
          <p:cNvPicPr>
            <a:picLocks noChangeAspect="1"/>
          </p:cNvPicPr>
          <p:nvPr/>
        </p:nvPicPr>
        <p:blipFill>
          <a:blip r:embed="rId5"/>
          <a:stretch>
            <a:fillRect/>
          </a:stretch>
        </p:blipFill>
        <p:spPr>
          <a:xfrm>
            <a:off x="6200389" y="5352412"/>
            <a:ext cx="4495800" cy="914400"/>
          </a:xfrm>
          <a:prstGeom prst="rect">
            <a:avLst/>
          </a:prstGeom>
        </p:spPr>
      </p:pic>
    </p:spTree>
    <p:extLst>
      <p:ext uri="{BB962C8B-B14F-4D97-AF65-F5344CB8AC3E}">
        <p14:creationId xmlns:p14="http://schemas.microsoft.com/office/powerpoint/2010/main" val="66812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字符串的函数操作</a:t>
            </a:r>
            <a:endParaRPr lang="en-US" dirty="0"/>
          </a:p>
        </p:txBody>
      </p:sp>
      <p:graphicFrame>
        <p:nvGraphicFramePr>
          <p:cNvPr id="11" name="表格 10"/>
          <p:cNvGraphicFramePr>
            <a:graphicFrameLocks noGrp="1"/>
          </p:cNvGraphicFramePr>
          <p:nvPr>
            <p:extLst>
              <p:ext uri="{D42A27DB-BD31-4B8C-83A1-F6EECF244321}">
                <p14:modId xmlns:p14="http://schemas.microsoft.com/office/powerpoint/2010/main" val="2805518953"/>
              </p:ext>
            </p:extLst>
          </p:nvPr>
        </p:nvGraphicFramePr>
        <p:xfrm>
          <a:off x="1821216" y="1385286"/>
          <a:ext cx="9380306" cy="2043714"/>
        </p:xfrm>
        <a:graphic>
          <a:graphicData uri="http://schemas.openxmlformats.org/drawingml/2006/table">
            <a:tbl>
              <a:tblPr firstRow="1" firstCol="1" bandRow="1"/>
              <a:tblGrid>
                <a:gridCol w="2028421">
                  <a:extLst>
                    <a:ext uri="{9D8B030D-6E8A-4147-A177-3AD203B41FA5}">
                      <a16:colId xmlns:a16="http://schemas.microsoft.com/office/drawing/2014/main" val="701808939"/>
                    </a:ext>
                  </a:extLst>
                </a:gridCol>
                <a:gridCol w="7351885">
                  <a:extLst>
                    <a:ext uri="{9D8B030D-6E8A-4147-A177-3AD203B41FA5}">
                      <a16:colId xmlns:a16="http://schemas.microsoft.com/office/drawing/2014/main" val="887100320"/>
                    </a:ext>
                  </a:extLst>
                </a:gridCol>
              </a:tblGrid>
              <a:tr h="398876">
                <a:tc>
                  <a:txBody>
                    <a:bodyPr/>
                    <a:lstStyle/>
                    <a:p>
                      <a:pPr indent="127000" algn="ctr">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函数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9235" algn="ctr">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功能</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243081"/>
                  </a:ext>
                </a:extLst>
              </a:tr>
              <a:tr h="398876">
                <a:tc>
                  <a:txBody>
                    <a:bodyPr/>
                    <a:lstStyle/>
                    <a:p>
                      <a:pPr indent="127000" algn="ctr">
                        <a:lnSpc>
                          <a:spcPts val="1900"/>
                        </a:lnSpc>
                        <a:spcAft>
                          <a:spcPts val="0"/>
                        </a:spcAft>
                      </a:pP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s.find</a:t>
                      </a:r>
                      <a:r>
                        <a:rPr lang="en-US" sz="20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l">
                        <a:lnSpc>
                          <a:spcPts val="1900"/>
                        </a:lnSpc>
                        <a:spcAft>
                          <a:spcPts val="0"/>
                        </a:spcAft>
                      </a:pP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字符串</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中包含</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的第一个索引，若没找到返回</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6635020"/>
                  </a:ext>
                </a:extLst>
              </a:tr>
              <a:tr h="398876">
                <a:tc>
                  <a:txBody>
                    <a:bodyPr/>
                    <a:lstStyle/>
                    <a:p>
                      <a:pPr indent="127000" algn="ctr">
                        <a:lnSpc>
                          <a:spcPts val="1900"/>
                        </a:lnSpc>
                        <a:spcAft>
                          <a:spcPts val="0"/>
                        </a:spcAft>
                      </a:pP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s.index</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l">
                        <a:lnSpc>
                          <a:spcPts val="1900"/>
                        </a:lnSpc>
                        <a:spcAft>
                          <a:spcPts val="0"/>
                        </a:spcAft>
                      </a:pP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字符串</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中包含</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的第一个索引，若没找到引起</a:t>
                      </a: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ValueError</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0481978"/>
                  </a:ext>
                </a:extLst>
              </a:tr>
              <a:tr h="448210">
                <a:tc>
                  <a:txBody>
                    <a:bodyPr/>
                    <a:lstStyle/>
                    <a:p>
                      <a:pPr indent="127000" algn="ctr">
                        <a:lnSpc>
                          <a:spcPts val="1900"/>
                        </a:lnSpc>
                        <a:spcAft>
                          <a:spcPts val="0"/>
                        </a:spcAft>
                      </a:pP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s.rfind</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l">
                        <a:lnSpc>
                          <a:spcPts val="1900"/>
                        </a:lnSpc>
                        <a:spcAft>
                          <a:spcPts val="0"/>
                        </a:spcAft>
                      </a:pP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字符串</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中包含</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的最后一个索引，若没找到返回</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5055593"/>
                  </a:ext>
                </a:extLst>
              </a:tr>
              <a:tr h="398876">
                <a:tc>
                  <a:txBody>
                    <a:bodyPr/>
                    <a:lstStyle/>
                    <a:p>
                      <a:pPr indent="127000" algn="ctr">
                        <a:lnSpc>
                          <a:spcPts val="1900"/>
                        </a:lnSpc>
                        <a:spcAft>
                          <a:spcPts val="0"/>
                        </a:spcAft>
                      </a:pP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s.rindex</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l">
                        <a:lnSpc>
                          <a:spcPts val="1900"/>
                        </a:lnSpc>
                        <a:spcAft>
                          <a:spcPts val="0"/>
                        </a:spcAft>
                      </a:pP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字符串</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中包含</a:t>
                      </a:r>
                      <a:r>
                        <a:rPr lang="en-US"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的最后一个索引，若没找到引起</a:t>
                      </a:r>
                      <a:r>
                        <a:rPr lang="en-US" sz="20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ValueError</a:t>
                      </a:r>
                      <a:endParaRPr lang="zh-CN" sz="20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4260391"/>
                  </a:ext>
                </a:extLst>
              </a:tr>
            </a:tbl>
          </a:graphicData>
        </a:graphic>
      </p:graphicFrame>
      <p:sp>
        <p:nvSpPr>
          <p:cNvPr id="6" name="文本框 5"/>
          <p:cNvSpPr txBox="1"/>
          <p:nvPr/>
        </p:nvSpPr>
        <p:spPr>
          <a:xfrm>
            <a:off x="4935525" y="839638"/>
            <a:ext cx="2856216" cy="400110"/>
          </a:xfrm>
          <a:prstGeom prst="rect">
            <a:avLst/>
          </a:prstGeom>
          <a:noFill/>
        </p:spPr>
        <p:txBody>
          <a:bodyPr wrap="square" rtlCol="0">
            <a:spAutoFit/>
          </a:bodyPr>
          <a:lstStyle/>
          <a:p>
            <a:r>
              <a:rPr lang="zh-CN" altLang="zh-CN" sz="2000" b="1" dirty="0">
                <a:solidFill>
                  <a:srgbClr val="0432FF"/>
                </a:solidFill>
                <a:latin typeface="宋体" panose="02010600030101010101" pitchFamily="2" charset="-122"/>
                <a:ea typeface="宋体" panose="02010600030101010101" pitchFamily="2" charset="-122"/>
              </a:rPr>
              <a:t>字符串索引</a:t>
            </a:r>
            <a:r>
              <a:rPr lang="zh-CN" altLang="zh-CN" sz="2000" dirty="0">
                <a:latin typeface="宋体" panose="02010600030101010101" pitchFamily="2" charset="-122"/>
                <a:ea typeface="宋体" panose="02010600030101010101" pitchFamily="2" charset="-122"/>
              </a:rPr>
              <a:t>相关函数</a:t>
            </a:r>
            <a:endParaRPr lang="zh-CN" altLang="en-US"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B06B4AD4-40AB-9C79-2EBA-7EE42591AF0A}"/>
              </a:ext>
            </a:extLst>
          </p:cNvPr>
          <p:cNvPicPr>
            <a:picLocks noChangeAspect="1"/>
          </p:cNvPicPr>
          <p:nvPr/>
        </p:nvPicPr>
        <p:blipFill>
          <a:blip r:embed="rId3"/>
          <a:stretch>
            <a:fillRect/>
          </a:stretch>
        </p:blipFill>
        <p:spPr>
          <a:xfrm>
            <a:off x="3430815" y="3641124"/>
            <a:ext cx="6172200" cy="2730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4720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字符串的函数操作</a:t>
            </a:r>
            <a:endParaRPr lang="en-US" dirty="0"/>
          </a:p>
        </p:txBody>
      </p:sp>
      <p:sp>
        <p:nvSpPr>
          <p:cNvPr id="7" name="文本框 6"/>
          <p:cNvSpPr txBox="1"/>
          <p:nvPr/>
        </p:nvSpPr>
        <p:spPr>
          <a:xfrm>
            <a:off x="1103382" y="1600200"/>
            <a:ext cx="9982200" cy="4747453"/>
          </a:xfrm>
          <a:prstGeom prst="rect">
            <a:avLst/>
          </a:prstGeom>
          <a:noFill/>
        </p:spPr>
        <p:txBody>
          <a:bodyPr wrap="square" rtlCol="0">
            <a:spAutoFit/>
          </a:bodyPr>
          <a:lstStyle/>
          <a:p>
            <a:r>
              <a:rPr lang="zh-CN" altLang="zh-CN" sz="2000" b="1" dirty="0">
                <a:solidFill>
                  <a:srgbClr val="0432FF"/>
                </a:solidFill>
                <a:latin typeface="宋体" panose="02010600030101010101" pitchFamily="2" charset="-122"/>
                <a:ea typeface="宋体" panose="02010600030101010101" pitchFamily="2" charset="-122"/>
              </a:rPr>
              <a:t>（</a:t>
            </a:r>
            <a:r>
              <a:rPr lang="en-US" altLang="zh-CN" sz="2000" b="1" dirty="0">
                <a:solidFill>
                  <a:srgbClr val="0432FF"/>
                </a:solidFill>
                <a:latin typeface="宋体" panose="02010600030101010101" pitchFamily="2" charset="-122"/>
                <a:ea typeface="宋体" panose="02010600030101010101" pitchFamily="2" charset="-122"/>
              </a:rPr>
              <a:t>8</a:t>
            </a:r>
            <a:r>
              <a:rPr lang="zh-CN" altLang="zh-CN" sz="2000" b="1" dirty="0">
                <a:solidFill>
                  <a:srgbClr val="0432FF"/>
                </a:solidFill>
                <a:latin typeface="宋体" panose="02010600030101010101" pitchFamily="2" charset="-122"/>
                <a:ea typeface="宋体" panose="02010600030101010101" pitchFamily="2" charset="-122"/>
              </a:rPr>
              <a:t>）</a:t>
            </a:r>
            <a:r>
              <a:rPr lang="zh-CN" altLang="en-US" sz="2000" b="1" dirty="0">
                <a:solidFill>
                  <a:srgbClr val="0432FF"/>
                </a:solidFill>
                <a:latin typeface="宋体" panose="02010600030101010101" pitchFamily="2" charset="-122"/>
                <a:ea typeface="宋体" panose="02010600030101010101" pitchFamily="2" charset="-122"/>
              </a:rPr>
              <a:t>字符串的切片</a:t>
            </a:r>
            <a:endParaRPr lang="en-US" altLang="zh-CN" sz="2000" b="1" dirty="0">
              <a:solidFill>
                <a:srgbClr val="0432FF"/>
              </a:solidFill>
              <a:latin typeface="宋体" panose="02010600030101010101" pitchFamily="2" charset="-122"/>
              <a:ea typeface="宋体" panose="02010600030101010101" pitchFamily="2" charset="-122"/>
            </a:endParaRPr>
          </a:p>
          <a:p>
            <a:pPr>
              <a:spcBef>
                <a:spcPts val="1000"/>
              </a:spcBef>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字符串的切片可以理解为索引的另一种通用形式，</a:t>
            </a:r>
            <a:r>
              <a:rPr lang="zh-CN" altLang="zh-CN" sz="2000" b="1" dirty="0">
                <a:latin typeface="宋体" panose="02010600030101010101" pitchFamily="2" charset="-122"/>
                <a:ea typeface="宋体" panose="02010600030101010101" pitchFamily="2" charset="-122"/>
              </a:rPr>
              <a:t>只不过索引提取的是单个元素，而切片提取的是原字符串的一部分</a:t>
            </a:r>
            <a:endParaRPr lang="en-US" altLang="zh-CN" sz="2000" b="1" dirty="0">
              <a:latin typeface="宋体" panose="02010600030101010101" pitchFamily="2" charset="-122"/>
              <a:ea typeface="宋体" panose="02010600030101010101" pitchFamily="2" charset="-122"/>
            </a:endParaRPr>
          </a:p>
          <a:p>
            <a:pPr>
              <a:spcBef>
                <a:spcPts val="1000"/>
              </a:spcBef>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切片操作</a:t>
            </a:r>
            <a:r>
              <a:rPr lang="ja-JP" altLang="zh-CN" sz="2000" dirty="0">
                <a:latin typeface="宋体" panose="02010600030101010101" pitchFamily="2" charset="-122"/>
                <a:ea typeface="宋体" panose="02010600030101010101" pitchFamily="2" charset="-122"/>
              </a:rPr>
              <a:t>通常表现为</a:t>
            </a:r>
            <a:r>
              <a:rPr lang="en-US"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start:end:step</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，其中</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为起始偏移量，</a:t>
            </a:r>
            <a:r>
              <a:rPr lang="en-US" altLang="zh-CN" sz="2000" dirty="0">
                <a:latin typeface="宋体" panose="02010600030101010101" pitchFamily="2" charset="-122"/>
                <a:ea typeface="宋体" panose="02010600030101010101" pitchFamily="2" charset="-122"/>
              </a:rPr>
              <a:t>end</a:t>
            </a:r>
            <a:r>
              <a:rPr lang="ja-JP" altLang="zh-CN" sz="2000" dirty="0">
                <a:latin typeface="宋体" panose="02010600030101010101" pitchFamily="2" charset="-122"/>
                <a:ea typeface="宋体" panose="02010600030101010101" pitchFamily="2" charset="-122"/>
              </a:rPr>
              <a:t>为终止偏移量，</a:t>
            </a:r>
            <a:r>
              <a:rPr lang="en-US" altLang="zh-CN" sz="2000" dirty="0">
                <a:latin typeface="宋体" panose="02010600030101010101" pitchFamily="2" charset="-122"/>
                <a:ea typeface="宋体" panose="02010600030101010101" pitchFamily="2" charset="-122"/>
              </a:rPr>
              <a:t>step</a:t>
            </a:r>
            <a:r>
              <a:rPr lang="ja-JP" altLang="zh-CN" sz="2000" dirty="0">
                <a:latin typeface="宋体" panose="02010600030101010101" pitchFamily="2" charset="-122"/>
                <a:ea typeface="宋体" panose="02010600030101010101" pitchFamily="2" charset="-122"/>
              </a:rPr>
              <a:t>为可选步长。在使用过程中，三个部分并非需要全部定义，根据开发者自身需要可以选择性省略。分片得到的字符串为</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到</a:t>
            </a:r>
            <a:r>
              <a:rPr lang="en-US" altLang="zh-CN" sz="2000" dirty="0">
                <a:latin typeface="宋体" panose="02010600030101010101" pitchFamily="2" charset="-122"/>
                <a:ea typeface="宋体" panose="02010600030101010101" pitchFamily="2" charset="-122"/>
              </a:rPr>
              <a:t>end</a:t>
            </a:r>
            <a:r>
              <a:rPr lang="ja-JP" altLang="zh-CN" sz="2000" dirty="0">
                <a:latin typeface="宋体" panose="02010600030101010101" pitchFamily="2" charset="-122"/>
                <a:ea typeface="宋体" panose="02010600030101010101" pitchFamily="2" charset="-122"/>
              </a:rPr>
              <a:t>之前的全部字符，即不包含</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而包含</a:t>
            </a:r>
            <a:r>
              <a:rPr lang="en-US" altLang="zh-CN" sz="2000" dirty="0">
                <a:latin typeface="宋体" panose="02010600030101010101" pitchFamily="2" charset="-122"/>
                <a:ea typeface="宋体" panose="02010600030101010101" pitchFamily="2" charset="-122"/>
              </a:rPr>
              <a:t>end</a:t>
            </a:r>
            <a:r>
              <a:rPr lang="ja-JP"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342900" lvl="0" indent="-342900">
              <a:spcBef>
                <a:spcPts val="1500"/>
              </a:spcBef>
              <a:buFont typeface="Arial" panose="020B0604020202020204" pitchFamily="34" charset="0"/>
              <a:buChar char="•"/>
            </a:pPr>
            <a:r>
              <a:rPr lang="en-US" altLang="zh-CN" sz="2000" dirty="0">
                <a:solidFill>
                  <a:srgbClr val="0432FF"/>
                </a:solidFill>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：提取从开头到结尾的整个字符串。</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solidFill>
                  <a:srgbClr val="0432FF"/>
                </a:solidFill>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：从</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提取到结尾。</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solidFill>
                  <a:srgbClr val="0432FF"/>
                </a:solidFill>
                <a:latin typeface="宋体" panose="02010600030101010101" pitchFamily="2" charset="-122"/>
                <a:ea typeface="宋体" panose="02010600030101010101" pitchFamily="2" charset="-122"/>
              </a:rPr>
              <a:t>[:end]</a:t>
            </a:r>
            <a:r>
              <a:rPr lang="ja-JP" altLang="zh-CN" sz="2000" dirty="0">
                <a:latin typeface="宋体" panose="02010600030101010101" pitchFamily="2" charset="-122"/>
                <a:ea typeface="宋体" panose="02010600030101010101" pitchFamily="2" charset="-122"/>
              </a:rPr>
              <a:t>：从开头提取到</a:t>
            </a:r>
            <a:r>
              <a:rPr lang="en-US" altLang="zh-CN" sz="2000" dirty="0">
                <a:latin typeface="宋体" panose="02010600030101010101" pitchFamily="2" charset="-122"/>
                <a:ea typeface="宋体" panose="02010600030101010101" pitchFamily="2" charset="-122"/>
              </a:rPr>
              <a:t>end-1</a:t>
            </a:r>
            <a:r>
              <a:rPr lang="ja-JP"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solidFill>
                  <a:srgbClr val="0432FF"/>
                </a:solidFill>
                <a:latin typeface="宋体" panose="02010600030101010101" pitchFamily="2" charset="-122"/>
                <a:ea typeface="宋体" panose="02010600030101010101" pitchFamily="2" charset="-122"/>
              </a:rPr>
              <a:t>[</a:t>
            </a:r>
            <a:r>
              <a:rPr lang="en-US" altLang="zh-CN" sz="2000" dirty="0" err="1">
                <a:solidFill>
                  <a:srgbClr val="0432FF"/>
                </a:solidFill>
                <a:latin typeface="宋体" panose="02010600030101010101" pitchFamily="2" charset="-122"/>
                <a:ea typeface="宋体" panose="02010600030101010101" pitchFamily="2" charset="-122"/>
              </a:rPr>
              <a:t>start:end</a:t>
            </a:r>
            <a:r>
              <a:rPr lang="en-US" altLang="zh-CN" sz="2000" dirty="0">
                <a:solidFill>
                  <a:srgbClr val="0432FF"/>
                </a:solidFill>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：从</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提取到</a:t>
            </a:r>
            <a:r>
              <a:rPr lang="en-US" altLang="zh-CN" sz="2000" dirty="0">
                <a:latin typeface="宋体" panose="02010600030101010101" pitchFamily="2" charset="-122"/>
                <a:ea typeface="宋体" panose="02010600030101010101" pitchFamily="2" charset="-122"/>
              </a:rPr>
              <a:t>end-1</a:t>
            </a:r>
            <a:r>
              <a:rPr lang="ja-JP"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342900" lvl="0" indent="-342900">
              <a:spcBef>
                <a:spcPts val="1000"/>
              </a:spcBef>
              <a:buFont typeface="Arial" panose="020B0604020202020204" pitchFamily="34" charset="0"/>
              <a:buChar char="•"/>
            </a:pPr>
            <a:r>
              <a:rPr lang="en-US" altLang="zh-CN" sz="2000" dirty="0">
                <a:solidFill>
                  <a:srgbClr val="0432FF"/>
                </a:solidFill>
                <a:latin typeface="宋体" panose="02010600030101010101" pitchFamily="2" charset="-122"/>
                <a:ea typeface="宋体" panose="02010600030101010101" pitchFamily="2" charset="-122"/>
              </a:rPr>
              <a:t>[</a:t>
            </a:r>
            <a:r>
              <a:rPr lang="en-US" altLang="zh-CN" sz="2000" dirty="0" err="1">
                <a:solidFill>
                  <a:srgbClr val="0432FF"/>
                </a:solidFill>
                <a:latin typeface="宋体" panose="02010600030101010101" pitchFamily="2" charset="-122"/>
                <a:ea typeface="宋体" panose="02010600030101010101" pitchFamily="2" charset="-122"/>
              </a:rPr>
              <a:t>start:end:step</a:t>
            </a:r>
            <a:r>
              <a:rPr lang="en-US" altLang="zh-CN" sz="2000" dirty="0">
                <a:solidFill>
                  <a:srgbClr val="0432FF"/>
                </a:solidFill>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：从</a:t>
            </a:r>
            <a:r>
              <a:rPr lang="en-US" altLang="zh-CN" sz="2000" dirty="0">
                <a:latin typeface="宋体" panose="02010600030101010101" pitchFamily="2" charset="-122"/>
                <a:ea typeface="宋体" panose="02010600030101010101" pitchFamily="2" charset="-122"/>
              </a:rPr>
              <a:t>start</a:t>
            </a:r>
            <a:r>
              <a:rPr lang="ja-JP" altLang="zh-CN" sz="2000" dirty="0">
                <a:latin typeface="宋体" panose="02010600030101010101" pitchFamily="2" charset="-122"/>
                <a:ea typeface="宋体" panose="02010600030101010101" pitchFamily="2" charset="-122"/>
              </a:rPr>
              <a:t>提取到</a:t>
            </a:r>
            <a:r>
              <a:rPr lang="en-US" altLang="zh-CN" sz="2000" dirty="0">
                <a:latin typeface="宋体" panose="02010600030101010101" pitchFamily="2" charset="-122"/>
                <a:ea typeface="宋体" panose="02010600030101010101" pitchFamily="2" charset="-122"/>
              </a:rPr>
              <a:t>end-1</a:t>
            </a:r>
            <a:r>
              <a:rPr lang="ja-JP" altLang="zh-CN" sz="2000" dirty="0">
                <a:latin typeface="宋体" panose="02010600030101010101" pitchFamily="2" charset="-122"/>
                <a:ea typeface="宋体" panose="02010600030101010101" pitchFamily="2" charset="-122"/>
              </a:rPr>
              <a:t>，每</a:t>
            </a:r>
            <a:r>
              <a:rPr lang="en-US" altLang="zh-CN" sz="2000" dirty="0">
                <a:latin typeface="宋体" panose="02010600030101010101" pitchFamily="2" charset="-122"/>
                <a:ea typeface="宋体" panose="02010600030101010101" pitchFamily="2" charset="-122"/>
              </a:rPr>
              <a:t>step</a:t>
            </a:r>
            <a:r>
              <a:rPr lang="ja-JP" altLang="zh-CN" sz="2000" dirty="0">
                <a:latin typeface="宋体" panose="02010600030101010101" pitchFamily="2" charset="-122"/>
                <a:ea typeface="宋体" panose="02010600030101010101" pitchFamily="2" charset="-122"/>
              </a:rPr>
              <a:t>个字符提取一</a:t>
            </a:r>
            <a:r>
              <a:rPr lang="ja-JP" altLang="zh-CN" sz="2000">
                <a:latin typeface="宋体" panose="02010600030101010101" pitchFamily="2" charset="-122"/>
                <a:ea typeface="宋体" panose="02010600030101010101" pitchFamily="2" charset="-122"/>
              </a:rPr>
              <a:t>个。</a:t>
            </a:r>
            <a:endParaRPr lang="zh-CN" altLang="zh-CN"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29127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字符串的函数操作</a:t>
            </a:r>
            <a:endParaRPr lang="en-US" dirty="0"/>
          </a:p>
        </p:txBody>
      </p:sp>
      <p:pic>
        <p:nvPicPr>
          <p:cNvPr id="6" name="Picture 5">
            <a:extLst>
              <a:ext uri="{FF2B5EF4-FFF2-40B4-BE49-F238E27FC236}">
                <a16:creationId xmlns:a16="http://schemas.microsoft.com/office/drawing/2014/main" id="{18E3C689-CDF1-0B3C-7829-481081CC7EFE}"/>
              </a:ext>
            </a:extLst>
          </p:cNvPr>
          <p:cNvPicPr>
            <a:picLocks noChangeAspect="1"/>
          </p:cNvPicPr>
          <p:nvPr/>
        </p:nvPicPr>
        <p:blipFill>
          <a:blip r:embed="rId3"/>
          <a:stretch>
            <a:fillRect/>
          </a:stretch>
        </p:blipFill>
        <p:spPr>
          <a:xfrm>
            <a:off x="755651" y="1924957"/>
            <a:ext cx="5600700" cy="33274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61DC90A7-9AED-2BF3-B2E9-99A9D13AFC20}"/>
              </a:ext>
            </a:extLst>
          </p:cNvPr>
          <p:cNvPicPr>
            <a:picLocks noChangeAspect="1"/>
          </p:cNvPicPr>
          <p:nvPr/>
        </p:nvPicPr>
        <p:blipFill>
          <a:blip r:embed="rId4"/>
          <a:stretch>
            <a:fillRect/>
          </a:stretch>
        </p:blipFill>
        <p:spPr>
          <a:xfrm>
            <a:off x="6780282" y="2242457"/>
            <a:ext cx="4305300" cy="26924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6840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8A0ABC-83D5-A13A-4BC3-B54636CC6B5A}"/>
              </a:ext>
            </a:extLst>
          </p:cNvPr>
          <p:cNvPicPr>
            <a:picLocks noChangeAspect="1"/>
          </p:cNvPicPr>
          <p:nvPr/>
        </p:nvPicPr>
        <p:blipFill>
          <a:blip r:embed="rId2"/>
          <a:stretch>
            <a:fillRect/>
          </a:stretch>
        </p:blipFill>
        <p:spPr>
          <a:xfrm>
            <a:off x="1992492" y="450421"/>
            <a:ext cx="4771328" cy="5957157"/>
          </a:xfrm>
          <a:prstGeom prst="rect">
            <a:avLst/>
          </a:prstGeom>
        </p:spPr>
      </p:pic>
      <p:pic>
        <p:nvPicPr>
          <p:cNvPr id="3" name="Picture 2">
            <a:extLst>
              <a:ext uri="{FF2B5EF4-FFF2-40B4-BE49-F238E27FC236}">
                <a16:creationId xmlns:a16="http://schemas.microsoft.com/office/drawing/2014/main" id="{1BDFE745-5C66-5918-E015-4E988125309A}"/>
              </a:ext>
            </a:extLst>
          </p:cNvPr>
          <p:cNvPicPr>
            <a:picLocks noChangeAspect="1"/>
          </p:cNvPicPr>
          <p:nvPr/>
        </p:nvPicPr>
        <p:blipFill>
          <a:blip r:embed="rId3"/>
          <a:stretch>
            <a:fillRect/>
          </a:stretch>
        </p:blipFill>
        <p:spPr>
          <a:xfrm>
            <a:off x="7296618" y="1603934"/>
            <a:ext cx="2203412" cy="4274620"/>
          </a:xfrm>
          <a:prstGeom prst="rect">
            <a:avLst/>
          </a:prstGeom>
        </p:spPr>
      </p:pic>
    </p:spTree>
    <p:extLst>
      <p:ext uri="{BB962C8B-B14F-4D97-AF65-F5344CB8AC3E}">
        <p14:creationId xmlns:p14="http://schemas.microsoft.com/office/powerpoint/2010/main" val="1863049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F16DB-037C-226B-6489-E3C47F7E2765}"/>
              </a:ext>
            </a:extLst>
          </p:cNvPr>
          <p:cNvSpPr>
            <a:spLocks noGrp="1"/>
          </p:cNvSpPr>
          <p:nvPr>
            <p:ph type="title"/>
          </p:nvPr>
        </p:nvSpPr>
        <p:spPr/>
        <p:txBody>
          <a:bodyPr/>
          <a:lstStyle/>
          <a:p>
            <a:r>
              <a:rPr lang="en-US" b="1" i="0" dirty="0">
                <a:solidFill>
                  <a:srgbClr val="25265E"/>
                </a:solidFill>
                <a:effectLst/>
                <a:latin typeface="euclid_circular_a"/>
              </a:rPr>
              <a:t>Python String Formatting (f-Strings)</a:t>
            </a:r>
            <a:endParaRPr kumimoji="1" lang="zh-CN" altLang="en-US" dirty="0"/>
          </a:p>
        </p:txBody>
      </p:sp>
      <p:sp>
        <p:nvSpPr>
          <p:cNvPr id="4" name="TextBox 3">
            <a:extLst>
              <a:ext uri="{FF2B5EF4-FFF2-40B4-BE49-F238E27FC236}">
                <a16:creationId xmlns:a16="http://schemas.microsoft.com/office/drawing/2014/main" id="{229A4E2A-4140-A01A-4DC6-86EFD2350B82}"/>
              </a:ext>
            </a:extLst>
          </p:cNvPr>
          <p:cNvSpPr txBox="1"/>
          <p:nvPr/>
        </p:nvSpPr>
        <p:spPr>
          <a:xfrm>
            <a:off x="850186" y="1382344"/>
            <a:ext cx="5715002" cy="923330"/>
          </a:xfrm>
          <a:prstGeom prst="rect">
            <a:avLst/>
          </a:prstGeom>
          <a:noFill/>
        </p:spPr>
        <p:txBody>
          <a:bodyPr wrap="square">
            <a:spAutoFit/>
          </a:bodyPr>
          <a:lstStyle/>
          <a:p>
            <a:r>
              <a:rPr lang="en-US" b="0" i="0" dirty="0">
                <a:effectLst/>
                <a:latin typeface="euclid_circular_a"/>
              </a:rPr>
              <a:t>Python </a:t>
            </a:r>
            <a:r>
              <a:rPr lang="en-US" b="0" i="0" u="none" strike="noStrike" dirty="0">
                <a:solidFill>
                  <a:srgbClr val="0556F3"/>
                </a:solidFill>
                <a:effectLst/>
                <a:latin typeface="euclid_circular_a"/>
                <a:hlinkClick r:id="rId2"/>
              </a:rPr>
              <a:t>f-Strings</a:t>
            </a:r>
            <a:r>
              <a:rPr lang="en-US" b="0" i="0" dirty="0">
                <a:effectLst/>
                <a:latin typeface="euclid_circular_a"/>
              </a:rPr>
              <a:t> makes it easy to print values and variables, </a:t>
            </a:r>
          </a:p>
          <a:p>
            <a:r>
              <a:rPr lang="en-US" dirty="0">
                <a:solidFill>
                  <a:srgbClr val="4D5B7C"/>
                </a:solidFill>
                <a:latin typeface="Inter"/>
              </a:rPr>
              <a:t>w</a:t>
            </a:r>
            <a:r>
              <a:rPr lang="en-US" b="0" i="0" dirty="0">
                <a:solidFill>
                  <a:srgbClr val="4D5B7C"/>
                </a:solidFill>
                <a:effectLst/>
                <a:latin typeface="Inter"/>
              </a:rPr>
              <a:t>hich is the new way to format strings.</a:t>
            </a:r>
            <a:endParaRPr lang="en-US" b="0" i="0" dirty="0">
              <a:effectLst/>
              <a:latin typeface="euclid_circular_a"/>
            </a:endParaRPr>
          </a:p>
          <a:p>
            <a:r>
              <a:rPr lang="en-US" b="0" i="0" dirty="0">
                <a:effectLst/>
                <a:latin typeface="euclid_circular_a"/>
              </a:rPr>
              <a:t>For example,</a:t>
            </a:r>
            <a:endParaRPr lang="zh-CN" altLang="en-US" dirty="0"/>
          </a:p>
        </p:txBody>
      </p:sp>
      <p:pic>
        <p:nvPicPr>
          <p:cNvPr id="5" name="Picture 4">
            <a:extLst>
              <a:ext uri="{FF2B5EF4-FFF2-40B4-BE49-F238E27FC236}">
                <a16:creationId xmlns:a16="http://schemas.microsoft.com/office/drawing/2014/main" id="{DB0512B9-B6FA-583E-0000-FE294C18785E}"/>
              </a:ext>
            </a:extLst>
          </p:cNvPr>
          <p:cNvPicPr>
            <a:picLocks noChangeAspect="1"/>
          </p:cNvPicPr>
          <p:nvPr/>
        </p:nvPicPr>
        <p:blipFill>
          <a:blip r:embed="rId3"/>
          <a:stretch>
            <a:fillRect/>
          </a:stretch>
        </p:blipFill>
        <p:spPr>
          <a:xfrm>
            <a:off x="850186" y="2395044"/>
            <a:ext cx="4000500" cy="1168400"/>
          </a:xfrm>
          <a:prstGeom prst="rect">
            <a:avLst/>
          </a:prstGeom>
        </p:spPr>
      </p:pic>
      <p:sp>
        <p:nvSpPr>
          <p:cNvPr id="7" name="TextBox 6">
            <a:extLst>
              <a:ext uri="{FF2B5EF4-FFF2-40B4-BE49-F238E27FC236}">
                <a16:creationId xmlns:a16="http://schemas.microsoft.com/office/drawing/2014/main" id="{192FFF9D-6737-8D30-8B73-8D33820C575A}"/>
              </a:ext>
            </a:extLst>
          </p:cNvPr>
          <p:cNvSpPr txBox="1"/>
          <p:nvPr/>
        </p:nvSpPr>
        <p:spPr>
          <a:xfrm>
            <a:off x="845477" y="3698152"/>
            <a:ext cx="958066" cy="369332"/>
          </a:xfrm>
          <a:prstGeom prst="rect">
            <a:avLst/>
          </a:prstGeom>
          <a:noFill/>
        </p:spPr>
        <p:txBody>
          <a:bodyPr wrap="square">
            <a:spAutoFit/>
          </a:bodyPr>
          <a:lstStyle/>
          <a:p>
            <a:r>
              <a:rPr lang="en-US" b="1" i="0" dirty="0">
                <a:effectLst/>
                <a:latin typeface="euclid_circular_a"/>
              </a:rPr>
              <a:t>Output</a:t>
            </a:r>
            <a:endParaRPr lang="zh-CN" altLang="en-US" dirty="0"/>
          </a:p>
        </p:txBody>
      </p:sp>
      <p:pic>
        <p:nvPicPr>
          <p:cNvPr id="8" name="Picture 7">
            <a:extLst>
              <a:ext uri="{FF2B5EF4-FFF2-40B4-BE49-F238E27FC236}">
                <a16:creationId xmlns:a16="http://schemas.microsoft.com/office/drawing/2014/main" id="{26044A43-1860-ACD0-ED91-A3DBB5240776}"/>
              </a:ext>
            </a:extLst>
          </p:cNvPr>
          <p:cNvPicPr>
            <a:picLocks noChangeAspect="1"/>
          </p:cNvPicPr>
          <p:nvPr/>
        </p:nvPicPr>
        <p:blipFill>
          <a:blip r:embed="rId4"/>
          <a:stretch>
            <a:fillRect/>
          </a:stretch>
        </p:blipFill>
        <p:spPr>
          <a:xfrm>
            <a:off x="845477" y="4128396"/>
            <a:ext cx="2197100" cy="571500"/>
          </a:xfrm>
          <a:prstGeom prst="rect">
            <a:avLst/>
          </a:prstGeom>
        </p:spPr>
      </p:pic>
      <p:sp>
        <p:nvSpPr>
          <p:cNvPr id="10" name="TextBox 9">
            <a:extLst>
              <a:ext uri="{FF2B5EF4-FFF2-40B4-BE49-F238E27FC236}">
                <a16:creationId xmlns:a16="http://schemas.microsoft.com/office/drawing/2014/main" id="{81BD0045-EFE0-D9BA-5DBC-3F60691BAD77}"/>
              </a:ext>
            </a:extLst>
          </p:cNvPr>
          <p:cNvSpPr txBox="1"/>
          <p:nvPr/>
        </p:nvSpPr>
        <p:spPr>
          <a:xfrm>
            <a:off x="739881" y="4955922"/>
            <a:ext cx="4605392" cy="369332"/>
          </a:xfrm>
          <a:prstGeom prst="rect">
            <a:avLst/>
          </a:prstGeom>
          <a:noFill/>
        </p:spPr>
        <p:txBody>
          <a:bodyPr wrap="square">
            <a:spAutoFit/>
          </a:bodyPr>
          <a:lstStyle/>
          <a:p>
            <a:r>
              <a:rPr lang="en-US" b="0" i="0" dirty="0">
                <a:solidFill>
                  <a:srgbClr val="0432FF"/>
                </a:solidFill>
                <a:effectLst/>
                <a:latin typeface="euclid_circular_a"/>
              </a:rPr>
              <a:t> </a:t>
            </a:r>
            <a:r>
              <a:rPr lang="en-US" dirty="0">
                <a:solidFill>
                  <a:srgbClr val="0432FF"/>
                </a:solidFill>
              </a:rPr>
              <a:t>f'{name} is from {country}'</a:t>
            </a:r>
            <a:r>
              <a:rPr lang="en-US" b="0" i="0" dirty="0">
                <a:solidFill>
                  <a:srgbClr val="0432FF"/>
                </a:solidFill>
                <a:effectLst/>
                <a:latin typeface="euclid_circular_a"/>
              </a:rPr>
              <a:t> </a:t>
            </a:r>
            <a:r>
              <a:rPr lang="en-US" b="0" i="0" dirty="0">
                <a:effectLst/>
                <a:latin typeface="euclid_circular_a"/>
              </a:rPr>
              <a:t>is an </a:t>
            </a:r>
            <a:r>
              <a:rPr lang="en-US" b="1" i="0" dirty="0">
                <a:effectLst/>
                <a:latin typeface="euclid_circular_a"/>
              </a:rPr>
              <a:t>f-string</a:t>
            </a:r>
            <a:r>
              <a:rPr lang="en-US" b="0" i="0" dirty="0">
                <a:effectLst/>
                <a:latin typeface="euclid_circular_a"/>
              </a:rPr>
              <a:t>.</a:t>
            </a:r>
            <a:endParaRPr lang="zh-CN" altLang="en-US" dirty="0"/>
          </a:p>
        </p:txBody>
      </p:sp>
      <p:sp>
        <p:nvSpPr>
          <p:cNvPr id="14" name="TextBox 13">
            <a:extLst>
              <a:ext uri="{FF2B5EF4-FFF2-40B4-BE49-F238E27FC236}">
                <a16:creationId xmlns:a16="http://schemas.microsoft.com/office/drawing/2014/main" id="{02C394FA-8E74-7B0C-79CB-4D082A815276}"/>
              </a:ext>
            </a:extLst>
          </p:cNvPr>
          <p:cNvSpPr txBox="1"/>
          <p:nvPr/>
        </p:nvSpPr>
        <p:spPr>
          <a:xfrm>
            <a:off x="5997540" y="1796361"/>
            <a:ext cx="4471826" cy="369332"/>
          </a:xfrm>
          <a:prstGeom prst="rect">
            <a:avLst/>
          </a:prstGeom>
          <a:noFill/>
        </p:spPr>
        <p:txBody>
          <a:bodyPr wrap="square">
            <a:spAutoFit/>
          </a:bodyPr>
          <a:lstStyle/>
          <a:p>
            <a:pPr algn="l"/>
            <a:r>
              <a:rPr lang="en-US" b="1" i="0" u="none" strike="noStrike" dirty="0">
                <a:solidFill>
                  <a:srgbClr val="000C2A"/>
                </a:solidFill>
                <a:effectLst/>
                <a:latin typeface="Epilogue"/>
                <a:hlinkClick r:id="rId5"/>
              </a:rPr>
              <a:t>1. f-strings with expressions and conversions</a:t>
            </a:r>
            <a:endParaRPr lang="en-US" b="1" i="0" dirty="0">
              <a:solidFill>
                <a:srgbClr val="4D5B7C"/>
              </a:solidFill>
              <a:effectLst/>
              <a:latin typeface="Epilogue"/>
            </a:endParaRPr>
          </a:p>
        </p:txBody>
      </p:sp>
      <p:pic>
        <p:nvPicPr>
          <p:cNvPr id="15" name="Picture 14">
            <a:extLst>
              <a:ext uri="{FF2B5EF4-FFF2-40B4-BE49-F238E27FC236}">
                <a16:creationId xmlns:a16="http://schemas.microsoft.com/office/drawing/2014/main" id="{19A5C484-B7B9-686B-F504-2CE491067AC1}"/>
              </a:ext>
            </a:extLst>
          </p:cNvPr>
          <p:cNvPicPr>
            <a:picLocks noChangeAspect="1"/>
          </p:cNvPicPr>
          <p:nvPr/>
        </p:nvPicPr>
        <p:blipFill>
          <a:blip r:embed="rId6"/>
          <a:stretch>
            <a:fillRect/>
          </a:stretch>
        </p:blipFill>
        <p:spPr>
          <a:xfrm>
            <a:off x="5345273" y="2272326"/>
            <a:ext cx="6692900" cy="2794000"/>
          </a:xfrm>
          <a:prstGeom prst="rect">
            <a:avLst/>
          </a:prstGeom>
        </p:spPr>
      </p:pic>
      <p:pic>
        <p:nvPicPr>
          <p:cNvPr id="16" name="Picture 15">
            <a:extLst>
              <a:ext uri="{FF2B5EF4-FFF2-40B4-BE49-F238E27FC236}">
                <a16:creationId xmlns:a16="http://schemas.microsoft.com/office/drawing/2014/main" id="{904C7EDD-BF93-1C12-F2F2-3B399ED544AD}"/>
              </a:ext>
            </a:extLst>
          </p:cNvPr>
          <p:cNvPicPr>
            <a:picLocks noChangeAspect="1"/>
          </p:cNvPicPr>
          <p:nvPr/>
        </p:nvPicPr>
        <p:blipFill>
          <a:blip r:embed="rId7"/>
          <a:stretch>
            <a:fillRect/>
          </a:stretch>
        </p:blipFill>
        <p:spPr>
          <a:xfrm>
            <a:off x="5345273" y="5172959"/>
            <a:ext cx="5981700" cy="1320800"/>
          </a:xfrm>
          <a:prstGeom prst="rect">
            <a:avLst/>
          </a:prstGeom>
        </p:spPr>
      </p:pic>
    </p:spTree>
    <p:extLst>
      <p:ext uri="{BB962C8B-B14F-4D97-AF65-F5344CB8AC3E}">
        <p14:creationId xmlns:p14="http://schemas.microsoft.com/office/powerpoint/2010/main" val="422903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1B7C9-262A-E114-88F6-F5EFEDEE6534}"/>
              </a:ext>
            </a:extLst>
          </p:cNvPr>
          <p:cNvSpPr>
            <a:spLocks noGrp="1"/>
          </p:cNvSpPr>
          <p:nvPr>
            <p:ph type="title"/>
          </p:nvPr>
        </p:nvSpPr>
        <p:spPr/>
        <p:txBody>
          <a:bodyPr/>
          <a:lstStyle/>
          <a:p>
            <a:r>
              <a:rPr lang="en-US" b="1" i="0" dirty="0">
                <a:solidFill>
                  <a:srgbClr val="25265E"/>
                </a:solidFill>
                <a:effectLst/>
                <a:latin typeface="euclid_circular_a"/>
              </a:rPr>
              <a:t>Python String Formatting (f-Strings)</a:t>
            </a:r>
            <a:endParaRPr kumimoji="1" lang="zh-CN" altLang="en-US" dirty="0"/>
          </a:p>
        </p:txBody>
      </p:sp>
      <p:sp>
        <p:nvSpPr>
          <p:cNvPr id="4" name="TextBox 3">
            <a:extLst>
              <a:ext uri="{FF2B5EF4-FFF2-40B4-BE49-F238E27FC236}">
                <a16:creationId xmlns:a16="http://schemas.microsoft.com/office/drawing/2014/main" id="{76D9D6B7-0357-86F2-55C4-09139C771EB9}"/>
              </a:ext>
            </a:extLst>
          </p:cNvPr>
          <p:cNvSpPr txBox="1"/>
          <p:nvPr/>
        </p:nvSpPr>
        <p:spPr>
          <a:xfrm>
            <a:off x="665252" y="1335908"/>
            <a:ext cx="4482101" cy="369332"/>
          </a:xfrm>
          <a:prstGeom prst="rect">
            <a:avLst/>
          </a:prstGeom>
          <a:noFill/>
        </p:spPr>
        <p:txBody>
          <a:bodyPr wrap="square">
            <a:spAutoFit/>
          </a:bodyPr>
          <a:lstStyle/>
          <a:p>
            <a:pPr algn="l"/>
            <a:r>
              <a:rPr lang="en-US" b="1" i="0" u="none" strike="noStrike" dirty="0">
                <a:solidFill>
                  <a:srgbClr val="4D5B7C"/>
                </a:solidFill>
                <a:effectLst/>
                <a:latin typeface="Epilogue"/>
                <a:hlinkClick r:id="rId2"/>
              </a:rPr>
              <a:t>2. f-strings support raw strings</a:t>
            </a:r>
            <a:endParaRPr lang="en-US" b="1" i="0" dirty="0">
              <a:solidFill>
                <a:srgbClr val="4D5B7C"/>
              </a:solidFill>
              <a:effectLst/>
              <a:latin typeface="Epilogue"/>
            </a:endParaRPr>
          </a:p>
        </p:txBody>
      </p:sp>
      <p:pic>
        <p:nvPicPr>
          <p:cNvPr id="5" name="Picture 4">
            <a:extLst>
              <a:ext uri="{FF2B5EF4-FFF2-40B4-BE49-F238E27FC236}">
                <a16:creationId xmlns:a16="http://schemas.microsoft.com/office/drawing/2014/main" id="{BD64480A-885C-527D-9383-D87E2D25D37A}"/>
              </a:ext>
            </a:extLst>
          </p:cNvPr>
          <p:cNvPicPr>
            <a:picLocks noChangeAspect="1"/>
          </p:cNvPicPr>
          <p:nvPr/>
        </p:nvPicPr>
        <p:blipFill>
          <a:blip r:embed="rId3"/>
          <a:stretch>
            <a:fillRect/>
          </a:stretch>
        </p:blipFill>
        <p:spPr>
          <a:xfrm>
            <a:off x="665252" y="1777929"/>
            <a:ext cx="4673600" cy="774700"/>
          </a:xfrm>
          <a:prstGeom prst="rect">
            <a:avLst/>
          </a:prstGeom>
        </p:spPr>
      </p:pic>
      <p:pic>
        <p:nvPicPr>
          <p:cNvPr id="6" name="Picture 5">
            <a:extLst>
              <a:ext uri="{FF2B5EF4-FFF2-40B4-BE49-F238E27FC236}">
                <a16:creationId xmlns:a16="http://schemas.microsoft.com/office/drawing/2014/main" id="{09124B10-AD9C-F97E-3310-0A59E0BA38A9}"/>
              </a:ext>
            </a:extLst>
          </p:cNvPr>
          <p:cNvPicPr>
            <a:picLocks noChangeAspect="1"/>
          </p:cNvPicPr>
          <p:nvPr/>
        </p:nvPicPr>
        <p:blipFill>
          <a:blip r:embed="rId4"/>
          <a:stretch>
            <a:fillRect/>
          </a:stretch>
        </p:blipFill>
        <p:spPr>
          <a:xfrm>
            <a:off x="665252" y="2625318"/>
            <a:ext cx="5273211" cy="903652"/>
          </a:xfrm>
          <a:prstGeom prst="rect">
            <a:avLst/>
          </a:prstGeom>
        </p:spPr>
      </p:pic>
      <p:sp>
        <p:nvSpPr>
          <p:cNvPr id="8" name="TextBox 7">
            <a:extLst>
              <a:ext uri="{FF2B5EF4-FFF2-40B4-BE49-F238E27FC236}">
                <a16:creationId xmlns:a16="http://schemas.microsoft.com/office/drawing/2014/main" id="{AD55F115-34DE-0366-7D9E-2656EB5372C5}"/>
              </a:ext>
            </a:extLst>
          </p:cNvPr>
          <p:cNvSpPr txBox="1"/>
          <p:nvPr/>
        </p:nvSpPr>
        <p:spPr>
          <a:xfrm>
            <a:off x="6095241" y="1335908"/>
            <a:ext cx="4353577" cy="369332"/>
          </a:xfrm>
          <a:prstGeom prst="rect">
            <a:avLst/>
          </a:prstGeom>
          <a:noFill/>
        </p:spPr>
        <p:txBody>
          <a:bodyPr wrap="square">
            <a:spAutoFit/>
          </a:bodyPr>
          <a:lstStyle/>
          <a:p>
            <a:pPr algn="l"/>
            <a:r>
              <a:rPr lang="en-US" b="1" i="0" u="none" strike="noStrike" dirty="0">
                <a:solidFill>
                  <a:srgbClr val="000C2A"/>
                </a:solidFill>
                <a:effectLst/>
                <a:latin typeface="Epilogue"/>
                <a:hlinkClick r:id="rId5"/>
              </a:rPr>
              <a:t>3. f-strings with objects and attributes</a:t>
            </a:r>
            <a:endParaRPr lang="en-US" b="1" i="0" dirty="0">
              <a:solidFill>
                <a:srgbClr val="4D5B7C"/>
              </a:solidFill>
              <a:effectLst/>
              <a:latin typeface="Epilogue"/>
            </a:endParaRPr>
          </a:p>
        </p:txBody>
      </p:sp>
      <p:pic>
        <p:nvPicPr>
          <p:cNvPr id="9" name="Picture 8">
            <a:extLst>
              <a:ext uri="{FF2B5EF4-FFF2-40B4-BE49-F238E27FC236}">
                <a16:creationId xmlns:a16="http://schemas.microsoft.com/office/drawing/2014/main" id="{8E7CB7E6-C2B4-C6D2-0622-2E6ABC55F8B2}"/>
              </a:ext>
            </a:extLst>
          </p:cNvPr>
          <p:cNvPicPr>
            <a:picLocks noChangeAspect="1"/>
          </p:cNvPicPr>
          <p:nvPr/>
        </p:nvPicPr>
        <p:blipFill>
          <a:blip r:embed="rId6"/>
          <a:stretch>
            <a:fillRect/>
          </a:stretch>
        </p:blipFill>
        <p:spPr>
          <a:xfrm>
            <a:off x="6023321" y="1705240"/>
            <a:ext cx="6029827" cy="3563080"/>
          </a:xfrm>
          <a:prstGeom prst="rect">
            <a:avLst/>
          </a:prstGeom>
        </p:spPr>
      </p:pic>
      <p:pic>
        <p:nvPicPr>
          <p:cNvPr id="10" name="Picture 9">
            <a:extLst>
              <a:ext uri="{FF2B5EF4-FFF2-40B4-BE49-F238E27FC236}">
                <a16:creationId xmlns:a16="http://schemas.microsoft.com/office/drawing/2014/main" id="{969B9CFA-E1A7-FFB5-1F33-37C4EA798B31}"/>
              </a:ext>
            </a:extLst>
          </p:cNvPr>
          <p:cNvPicPr>
            <a:picLocks noChangeAspect="1"/>
          </p:cNvPicPr>
          <p:nvPr/>
        </p:nvPicPr>
        <p:blipFill>
          <a:blip r:embed="rId7"/>
          <a:stretch>
            <a:fillRect/>
          </a:stretch>
        </p:blipFill>
        <p:spPr>
          <a:xfrm>
            <a:off x="6023321" y="5354239"/>
            <a:ext cx="3079581" cy="892317"/>
          </a:xfrm>
          <a:prstGeom prst="rect">
            <a:avLst/>
          </a:prstGeom>
        </p:spPr>
      </p:pic>
      <p:sp>
        <p:nvSpPr>
          <p:cNvPr id="12" name="TextBox 11">
            <a:extLst>
              <a:ext uri="{FF2B5EF4-FFF2-40B4-BE49-F238E27FC236}">
                <a16:creationId xmlns:a16="http://schemas.microsoft.com/office/drawing/2014/main" id="{084FEA27-858B-7E06-1160-84DB2BC96784}"/>
              </a:ext>
            </a:extLst>
          </p:cNvPr>
          <p:cNvSpPr txBox="1"/>
          <p:nvPr/>
        </p:nvSpPr>
        <p:spPr>
          <a:xfrm>
            <a:off x="665252" y="3614889"/>
            <a:ext cx="4482101" cy="369332"/>
          </a:xfrm>
          <a:prstGeom prst="rect">
            <a:avLst/>
          </a:prstGeom>
          <a:noFill/>
        </p:spPr>
        <p:txBody>
          <a:bodyPr wrap="square">
            <a:spAutoFit/>
          </a:bodyPr>
          <a:lstStyle/>
          <a:p>
            <a:pPr algn="l"/>
            <a:r>
              <a:rPr lang="en-US" b="1" i="0" u="none" strike="noStrike" dirty="0">
                <a:solidFill>
                  <a:srgbClr val="4D5B7C"/>
                </a:solidFill>
                <a:effectLst/>
                <a:latin typeface="Epilogue"/>
                <a:hlinkClick r:id="rId8"/>
              </a:rPr>
              <a:t>4. f-strings calling functions</a:t>
            </a:r>
            <a:endParaRPr lang="en-US" b="1" i="0" dirty="0">
              <a:solidFill>
                <a:srgbClr val="4D5B7C"/>
              </a:solidFill>
              <a:effectLst/>
              <a:latin typeface="Epilogue"/>
            </a:endParaRPr>
          </a:p>
        </p:txBody>
      </p:sp>
      <p:pic>
        <p:nvPicPr>
          <p:cNvPr id="13" name="Picture 12">
            <a:extLst>
              <a:ext uri="{FF2B5EF4-FFF2-40B4-BE49-F238E27FC236}">
                <a16:creationId xmlns:a16="http://schemas.microsoft.com/office/drawing/2014/main" id="{5A37FF8E-81FC-649F-6ED4-78AD67BEBA0B}"/>
              </a:ext>
            </a:extLst>
          </p:cNvPr>
          <p:cNvPicPr>
            <a:picLocks noChangeAspect="1"/>
          </p:cNvPicPr>
          <p:nvPr/>
        </p:nvPicPr>
        <p:blipFill>
          <a:blip r:embed="rId9"/>
          <a:stretch>
            <a:fillRect/>
          </a:stretch>
        </p:blipFill>
        <p:spPr>
          <a:xfrm>
            <a:off x="665252" y="4004785"/>
            <a:ext cx="3917022" cy="1340034"/>
          </a:xfrm>
          <a:prstGeom prst="rect">
            <a:avLst/>
          </a:prstGeom>
        </p:spPr>
      </p:pic>
      <p:pic>
        <p:nvPicPr>
          <p:cNvPr id="14" name="Picture 13">
            <a:extLst>
              <a:ext uri="{FF2B5EF4-FFF2-40B4-BE49-F238E27FC236}">
                <a16:creationId xmlns:a16="http://schemas.microsoft.com/office/drawing/2014/main" id="{D04543F6-F50D-A148-C08F-910D52842734}"/>
              </a:ext>
            </a:extLst>
          </p:cNvPr>
          <p:cNvPicPr>
            <a:picLocks noChangeAspect="1"/>
          </p:cNvPicPr>
          <p:nvPr/>
        </p:nvPicPr>
        <p:blipFill>
          <a:blip r:embed="rId10"/>
          <a:stretch>
            <a:fillRect/>
          </a:stretch>
        </p:blipFill>
        <p:spPr>
          <a:xfrm>
            <a:off x="665252" y="5509249"/>
            <a:ext cx="2641600" cy="419100"/>
          </a:xfrm>
          <a:prstGeom prst="rect">
            <a:avLst/>
          </a:prstGeom>
        </p:spPr>
      </p:pic>
    </p:spTree>
    <p:extLst>
      <p:ext uri="{BB962C8B-B14F-4D97-AF65-F5344CB8AC3E}">
        <p14:creationId xmlns:p14="http://schemas.microsoft.com/office/powerpoint/2010/main" val="271976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4307-1CB1-9548-71EC-B5E0E159E35D}"/>
              </a:ext>
            </a:extLst>
          </p:cNvPr>
          <p:cNvSpPr>
            <a:spLocks noGrp="1"/>
          </p:cNvSpPr>
          <p:nvPr>
            <p:ph type="title"/>
          </p:nvPr>
        </p:nvSpPr>
        <p:spPr/>
        <p:txBody>
          <a:bodyPr/>
          <a:lstStyle/>
          <a:p>
            <a:r>
              <a:rPr lang="en-US" b="1" i="0" dirty="0">
                <a:solidFill>
                  <a:srgbClr val="25265E"/>
                </a:solidFill>
                <a:effectLst/>
                <a:latin typeface="euclid_circular_a"/>
              </a:rPr>
              <a:t>Python String Formatting (f-Strings)</a:t>
            </a:r>
            <a:endParaRPr kumimoji="1" lang="zh-CN" altLang="en-US" dirty="0"/>
          </a:p>
        </p:txBody>
      </p:sp>
      <p:sp>
        <p:nvSpPr>
          <p:cNvPr id="4" name="TextBox 3">
            <a:extLst>
              <a:ext uri="{FF2B5EF4-FFF2-40B4-BE49-F238E27FC236}">
                <a16:creationId xmlns:a16="http://schemas.microsoft.com/office/drawing/2014/main" id="{03F50ED8-5837-B94F-7192-D9D0A26685E7}"/>
              </a:ext>
            </a:extLst>
          </p:cNvPr>
          <p:cNvSpPr txBox="1"/>
          <p:nvPr/>
        </p:nvSpPr>
        <p:spPr>
          <a:xfrm>
            <a:off x="675526" y="1335908"/>
            <a:ext cx="3619072" cy="369332"/>
          </a:xfrm>
          <a:prstGeom prst="rect">
            <a:avLst/>
          </a:prstGeom>
          <a:noFill/>
        </p:spPr>
        <p:txBody>
          <a:bodyPr wrap="square">
            <a:spAutoFit/>
          </a:bodyPr>
          <a:lstStyle/>
          <a:p>
            <a:pPr algn="l"/>
            <a:r>
              <a:rPr lang="en-US" b="1" i="0" u="none" strike="noStrike" dirty="0">
                <a:solidFill>
                  <a:srgbClr val="4D5B7C"/>
                </a:solidFill>
                <a:effectLst/>
                <a:latin typeface="Epilogue"/>
                <a:hlinkClick r:id="rId2"/>
              </a:rPr>
              <a:t>5. f-string with whitespaces</a:t>
            </a:r>
            <a:endParaRPr lang="en-US" b="1" i="0" dirty="0">
              <a:solidFill>
                <a:srgbClr val="4D5B7C"/>
              </a:solidFill>
              <a:effectLst/>
              <a:latin typeface="Epilogue"/>
            </a:endParaRPr>
          </a:p>
        </p:txBody>
      </p:sp>
      <p:pic>
        <p:nvPicPr>
          <p:cNvPr id="5" name="Picture 4">
            <a:extLst>
              <a:ext uri="{FF2B5EF4-FFF2-40B4-BE49-F238E27FC236}">
                <a16:creationId xmlns:a16="http://schemas.microsoft.com/office/drawing/2014/main" id="{8FB8CB0E-C995-C3A4-B1D3-06B917DE8032}"/>
              </a:ext>
            </a:extLst>
          </p:cNvPr>
          <p:cNvPicPr>
            <a:picLocks noChangeAspect="1"/>
          </p:cNvPicPr>
          <p:nvPr/>
        </p:nvPicPr>
        <p:blipFill>
          <a:blip r:embed="rId3"/>
          <a:stretch>
            <a:fillRect/>
          </a:stretch>
        </p:blipFill>
        <p:spPr>
          <a:xfrm>
            <a:off x="713198" y="1867986"/>
            <a:ext cx="3581400" cy="952500"/>
          </a:xfrm>
          <a:prstGeom prst="rect">
            <a:avLst/>
          </a:prstGeom>
        </p:spPr>
      </p:pic>
      <p:sp>
        <p:nvSpPr>
          <p:cNvPr id="7" name="TextBox 6">
            <a:extLst>
              <a:ext uri="{FF2B5EF4-FFF2-40B4-BE49-F238E27FC236}">
                <a16:creationId xmlns:a16="http://schemas.microsoft.com/office/drawing/2014/main" id="{74FE77DD-B46B-D10B-AD40-AB16F7926F9B}"/>
              </a:ext>
            </a:extLst>
          </p:cNvPr>
          <p:cNvSpPr txBox="1"/>
          <p:nvPr/>
        </p:nvSpPr>
        <p:spPr>
          <a:xfrm>
            <a:off x="675526" y="2907855"/>
            <a:ext cx="6097712" cy="369332"/>
          </a:xfrm>
          <a:prstGeom prst="rect">
            <a:avLst/>
          </a:prstGeom>
          <a:noFill/>
        </p:spPr>
        <p:txBody>
          <a:bodyPr wrap="square">
            <a:spAutoFit/>
          </a:bodyPr>
          <a:lstStyle/>
          <a:p>
            <a:pPr algn="l"/>
            <a:r>
              <a:rPr lang="en-US" b="1" i="0" u="none" strike="noStrike" dirty="0">
                <a:solidFill>
                  <a:srgbClr val="000C2A"/>
                </a:solidFill>
                <a:effectLst/>
                <a:latin typeface="Epilogue"/>
                <a:hlinkClick r:id="rId4"/>
              </a:rPr>
              <a:t>6. Lambda expressions with f-strings</a:t>
            </a:r>
            <a:endParaRPr lang="en-US" b="1" i="0" dirty="0">
              <a:solidFill>
                <a:srgbClr val="4D5B7C"/>
              </a:solidFill>
              <a:effectLst/>
              <a:latin typeface="Epilogue"/>
            </a:endParaRPr>
          </a:p>
        </p:txBody>
      </p:sp>
      <p:pic>
        <p:nvPicPr>
          <p:cNvPr id="8" name="Picture 7">
            <a:extLst>
              <a:ext uri="{FF2B5EF4-FFF2-40B4-BE49-F238E27FC236}">
                <a16:creationId xmlns:a16="http://schemas.microsoft.com/office/drawing/2014/main" id="{985F415B-8462-8A81-2416-A7DB2692673E}"/>
              </a:ext>
            </a:extLst>
          </p:cNvPr>
          <p:cNvPicPr>
            <a:picLocks noChangeAspect="1"/>
          </p:cNvPicPr>
          <p:nvPr/>
        </p:nvPicPr>
        <p:blipFill>
          <a:blip r:embed="rId5"/>
          <a:stretch>
            <a:fillRect/>
          </a:stretch>
        </p:blipFill>
        <p:spPr>
          <a:xfrm>
            <a:off x="713198" y="3375401"/>
            <a:ext cx="6437615" cy="1213746"/>
          </a:xfrm>
          <a:prstGeom prst="rect">
            <a:avLst/>
          </a:prstGeom>
        </p:spPr>
      </p:pic>
      <p:pic>
        <p:nvPicPr>
          <p:cNvPr id="9" name="Picture 8">
            <a:extLst>
              <a:ext uri="{FF2B5EF4-FFF2-40B4-BE49-F238E27FC236}">
                <a16:creationId xmlns:a16="http://schemas.microsoft.com/office/drawing/2014/main" id="{63A4FD97-3891-D3F0-2A58-AF4B5F779F21}"/>
              </a:ext>
            </a:extLst>
          </p:cNvPr>
          <p:cNvPicPr>
            <a:picLocks noChangeAspect="1"/>
          </p:cNvPicPr>
          <p:nvPr/>
        </p:nvPicPr>
        <p:blipFill>
          <a:blip r:embed="rId6"/>
          <a:stretch>
            <a:fillRect/>
          </a:stretch>
        </p:blipFill>
        <p:spPr>
          <a:xfrm>
            <a:off x="727182" y="4681993"/>
            <a:ext cx="2997200" cy="749300"/>
          </a:xfrm>
          <a:prstGeom prst="rect">
            <a:avLst/>
          </a:prstGeom>
        </p:spPr>
      </p:pic>
      <p:sp>
        <p:nvSpPr>
          <p:cNvPr id="11" name="TextBox 10">
            <a:extLst>
              <a:ext uri="{FF2B5EF4-FFF2-40B4-BE49-F238E27FC236}">
                <a16:creationId xmlns:a16="http://schemas.microsoft.com/office/drawing/2014/main" id="{D95B149A-3942-C3B9-42EA-35ADAE1C143F}"/>
              </a:ext>
            </a:extLst>
          </p:cNvPr>
          <p:cNvSpPr txBox="1"/>
          <p:nvPr/>
        </p:nvSpPr>
        <p:spPr>
          <a:xfrm>
            <a:off x="7466744" y="1399178"/>
            <a:ext cx="4122506" cy="381476"/>
          </a:xfrm>
          <a:prstGeom prst="rect">
            <a:avLst/>
          </a:prstGeom>
          <a:noFill/>
        </p:spPr>
        <p:txBody>
          <a:bodyPr wrap="square">
            <a:spAutoFit/>
          </a:bodyPr>
          <a:lstStyle/>
          <a:p>
            <a:pPr algn="l"/>
            <a:r>
              <a:rPr lang="en-US" b="1" i="0" u="none" strike="noStrike" dirty="0">
                <a:solidFill>
                  <a:srgbClr val="000C2A"/>
                </a:solidFill>
                <a:effectLst/>
                <a:latin typeface="Epilogue"/>
                <a:hlinkClick r:id="rId7"/>
              </a:rPr>
              <a:t>7. f-strings miscellaneous examples</a:t>
            </a:r>
            <a:endParaRPr lang="en-US" b="1" i="0" dirty="0">
              <a:solidFill>
                <a:srgbClr val="4D5B7C"/>
              </a:solidFill>
              <a:effectLst/>
              <a:latin typeface="Epilogue"/>
            </a:endParaRPr>
          </a:p>
        </p:txBody>
      </p:sp>
      <p:pic>
        <p:nvPicPr>
          <p:cNvPr id="12" name="Picture 11">
            <a:extLst>
              <a:ext uri="{FF2B5EF4-FFF2-40B4-BE49-F238E27FC236}">
                <a16:creationId xmlns:a16="http://schemas.microsoft.com/office/drawing/2014/main" id="{4456DA55-360F-20C2-8A2A-0DB9DAEDE7E4}"/>
              </a:ext>
            </a:extLst>
          </p:cNvPr>
          <p:cNvPicPr>
            <a:picLocks noChangeAspect="1"/>
          </p:cNvPicPr>
          <p:nvPr/>
        </p:nvPicPr>
        <p:blipFill>
          <a:blip r:embed="rId8"/>
          <a:stretch>
            <a:fillRect/>
          </a:stretch>
        </p:blipFill>
        <p:spPr>
          <a:xfrm>
            <a:off x="7568631" y="1865187"/>
            <a:ext cx="3276600" cy="1003300"/>
          </a:xfrm>
          <a:prstGeom prst="rect">
            <a:avLst/>
          </a:prstGeom>
        </p:spPr>
      </p:pic>
      <p:pic>
        <p:nvPicPr>
          <p:cNvPr id="13" name="Picture 12">
            <a:extLst>
              <a:ext uri="{FF2B5EF4-FFF2-40B4-BE49-F238E27FC236}">
                <a16:creationId xmlns:a16="http://schemas.microsoft.com/office/drawing/2014/main" id="{E08AE606-467A-BB3D-0DC3-5BDC22E4964A}"/>
              </a:ext>
            </a:extLst>
          </p:cNvPr>
          <p:cNvPicPr>
            <a:picLocks noChangeAspect="1"/>
          </p:cNvPicPr>
          <p:nvPr/>
        </p:nvPicPr>
        <p:blipFill>
          <a:blip r:embed="rId9"/>
          <a:stretch>
            <a:fillRect/>
          </a:stretch>
        </p:blipFill>
        <p:spPr>
          <a:xfrm>
            <a:off x="7568631" y="2952750"/>
            <a:ext cx="1752600" cy="952500"/>
          </a:xfrm>
          <a:prstGeom prst="rect">
            <a:avLst/>
          </a:prstGeom>
        </p:spPr>
      </p:pic>
      <p:sp>
        <p:nvSpPr>
          <p:cNvPr id="15" name="TextBox 14">
            <a:extLst>
              <a:ext uri="{FF2B5EF4-FFF2-40B4-BE49-F238E27FC236}">
                <a16:creationId xmlns:a16="http://schemas.microsoft.com/office/drawing/2014/main" id="{B66912BE-88AF-D86A-F07E-7EEE5ACDAF6E}"/>
              </a:ext>
            </a:extLst>
          </p:cNvPr>
          <p:cNvSpPr txBox="1"/>
          <p:nvPr/>
        </p:nvSpPr>
        <p:spPr>
          <a:xfrm>
            <a:off x="667704" y="5815145"/>
            <a:ext cx="10855074" cy="369332"/>
          </a:xfrm>
          <a:prstGeom prst="rect">
            <a:avLst/>
          </a:prstGeom>
          <a:noFill/>
        </p:spPr>
        <p:txBody>
          <a:bodyPr wrap="square">
            <a:spAutoFit/>
          </a:bodyPr>
          <a:lstStyle/>
          <a:p>
            <a:r>
              <a:rPr lang="en-US" altLang="zh-CN" dirty="0"/>
              <a:t>Ref: </a:t>
            </a:r>
            <a:r>
              <a:rPr lang="zh-CN" altLang="en-US" dirty="0"/>
              <a:t>https://www.digitalocean.com/community/tutorials/python-f-strings-literal-string-interpolation</a:t>
            </a:r>
          </a:p>
        </p:txBody>
      </p:sp>
    </p:spTree>
    <p:extLst>
      <p:ext uri="{BB962C8B-B14F-4D97-AF65-F5344CB8AC3E}">
        <p14:creationId xmlns:p14="http://schemas.microsoft.com/office/powerpoint/2010/main" val="3441209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dirty="0"/>
              <a:t>10</a:t>
            </a:r>
            <a:r>
              <a:rPr lang="en-US" dirty="0"/>
              <a:t>.</a:t>
            </a:r>
            <a:r>
              <a:rPr lang="en-US" altLang="zh-CN" dirty="0"/>
              <a:t>3</a:t>
            </a:r>
            <a:r>
              <a:rPr lang="en-US" dirty="0"/>
              <a:t> </a:t>
            </a:r>
            <a:r>
              <a:rPr lang="zh-CN" altLang="en-US" dirty="0"/>
              <a:t>正则表达式</a:t>
            </a:r>
            <a:endParaRPr lang="en-US" dirty="0"/>
          </a:p>
        </p:txBody>
      </p:sp>
      <p:sp>
        <p:nvSpPr>
          <p:cNvPr id="4" name="文本占位符 3"/>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1436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正则表达式</a:t>
            </a:r>
            <a:endParaRPr lang="en-US" dirty="0"/>
          </a:p>
        </p:txBody>
      </p:sp>
      <p:sp>
        <p:nvSpPr>
          <p:cNvPr id="6" name="文本框 5"/>
          <p:cNvSpPr txBox="1"/>
          <p:nvPr/>
        </p:nvSpPr>
        <p:spPr>
          <a:xfrm>
            <a:off x="1104900" y="2033906"/>
            <a:ext cx="9980682" cy="2790187"/>
          </a:xfrm>
          <a:prstGeom prst="rect">
            <a:avLst/>
          </a:prstGeom>
          <a:noFill/>
        </p:spPr>
        <p:txBody>
          <a:bodyPr wrap="square" rtlCol="0">
            <a:spAutoFit/>
          </a:bodyPr>
          <a:lstStyle/>
          <a:p>
            <a:pPr algn="just">
              <a:lnSpc>
                <a:spcPct val="150000"/>
              </a:lnSpc>
            </a:pPr>
            <a:r>
              <a:rPr lang="en-US" altLang="ja-JP" sz="2000" dirty="0">
                <a:latin typeface="宋体" panose="02010600030101010101" pitchFamily="2" charset="-122"/>
                <a:ea typeface="宋体" panose="02010600030101010101" pitchFamily="2" charset="-122"/>
              </a:rPr>
              <a:t>   </a:t>
            </a:r>
            <a:r>
              <a:rPr lang="ja-JP" altLang="zh-CN" sz="2000" dirty="0">
                <a:solidFill>
                  <a:srgbClr val="C00000"/>
                </a:solidFill>
                <a:latin typeface="宋体" panose="02010600030101010101" pitchFamily="2" charset="-122"/>
                <a:ea typeface="宋体" panose="02010600030101010101" pitchFamily="2" charset="-122"/>
              </a:rPr>
              <a:t>正则表达式</a:t>
            </a:r>
            <a:r>
              <a:rPr lang="zh-CN" altLang="zh-CN" sz="2000" dirty="0">
                <a:solidFill>
                  <a:srgbClr val="C00000"/>
                </a:solidFill>
                <a:latin typeface="宋体" panose="02010600030101010101" pitchFamily="2" charset="-122"/>
                <a:ea typeface="宋体" panose="02010600030101010101" pitchFamily="2" charset="-122"/>
              </a:rPr>
              <a:t>（</a:t>
            </a:r>
            <a:r>
              <a:rPr lang="en-US" altLang="zh-CN" sz="2000" dirty="0">
                <a:solidFill>
                  <a:srgbClr val="C00000"/>
                </a:solidFill>
                <a:latin typeface="宋体" panose="02010600030101010101" pitchFamily="2" charset="-122"/>
                <a:ea typeface="宋体" panose="02010600030101010101" pitchFamily="2" charset="-122"/>
              </a:rPr>
              <a:t>Regular Expression, RE</a:t>
            </a:r>
            <a:r>
              <a:rPr lang="zh-CN" altLang="zh-CN" sz="2000" dirty="0">
                <a:solidFill>
                  <a:srgbClr val="C00000"/>
                </a:solidFill>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用作于处理文件和数据</a:t>
            </a:r>
            <a:r>
              <a:rPr lang="zh-CN" altLang="zh-CN" sz="2000" dirty="0">
                <a:latin typeface="宋体" panose="02010600030101010101" pitchFamily="2" charset="-122"/>
                <a:ea typeface="宋体" panose="02010600030101010101" pitchFamily="2" charset="-122"/>
              </a:rPr>
              <a:t>，是一种</a:t>
            </a:r>
            <a:r>
              <a:rPr lang="ja-JP" altLang="zh-CN" sz="2000" dirty="0">
                <a:latin typeface="宋体" panose="02010600030101010101" pitchFamily="2" charset="-122"/>
                <a:ea typeface="宋体" panose="02010600030101010101" pitchFamily="2" charset="-122"/>
              </a:rPr>
              <a:t>高级</a:t>
            </a:r>
            <a:r>
              <a:rPr lang="zh-CN" altLang="zh-CN" sz="2000" dirty="0">
                <a:latin typeface="宋体" panose="02010600030101010101" pitchFamily="2" charset="-122"/>
                <a:ea typeface="宋体" panose="02010600030101010101" pitchFamily="2" charset="-122"/>
              </a:rPr>
              <a:t>的</a:t>
            </a:r>
            <a:r>
              <a:rPr lang="ja-JP" altLang="zh-CN" sz="2000" dirty="0">
                <a:latin typeface="宋体" panose="02010600030101010101" pitchFamily="2" charset="-122"/>
                <a:ea typeface="宋体" panose="02010600030101010101" pitchFamily="2" charset="-122"/>
              </a:rPr>
              <a:t>文本模式匹配</a:t>
            </a:r>
            <a:r>
              <a:rPr lang="zh-CN" altLang="zh-CN" sz="2000" dirty="0">
                <a:latin typeface="宋体" panose="02010600030101010101" pitchFamily="2" charset="-122"/>
                <a:ea typeface="宋体" panose="02010600030101010101" pitchFamily="2" charset="-122"/>
              </a:rPr>
              <a:t>方式</a:t>
            </a:r>
            <a:r>
              <a:rPr lang="ja-JP" altLang="zh-CN" sz="2000" dirty="0">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为</a:t>
            </a:r>
            <a:r>
              <a:rPr lang="ja-JP" altLang="zh-CN" sz="2000" dirty="0">
                <a:latin typeface="宋体" panose="02010600030101010101" pitchFamily="2" charset="-122"/>
                <a:ea typeface="宋体" panose="02010600030101010101" pitchFamily="2" charset="-122"/>
              </a:rPr>
              <a:t>搜索</a:t>
            </a:r>
            <a:r>
              <a:rPr lang="zh-CN" altLang="zh-CN" sz="2000" dirty="0">
                <a:latin typeface="宋体" panose="02010600030101010101" pitchFamily="2" charset="-122"/>
                <a:ea typeface="宋体" panose="02010600030101010101" pitchFamily="2" charset="-122"/>
              </a:rPr>
              <a:t>和</a:t>
            </a:r>
            <a:r>
              <a:rPr lang="ja-JP" altLang="zh-CN" sz="2000" dirty="0">
                <a:latin typeface="宋体" panose="02010600030101010101" pitchFamily="2" charset="-122"/>
                <a:ea typeface="宋体" panose="02010600030101010101" pitchFamily="2" charset="-122"/>
              </a:rPr>
              <a:t>替代等功能</a:t>
            </a:r>
            <a:r>
              <a:rPr lang="zh-CN" altLang="zh-CN" sz="2000" dirty="0">
                <a:latin typeface="宋体" panose="02010600030101010101" pitchFamily="2" charset="-122"/>
                <a:ea typeface="宋体" panose="02010600030101010101" pitchFamily="2" charset="-122"/>
              </a:rPr>
              <a:t>的实现提</a:t>
            </a:r>
            <a:r>
              <a:rPr lang="ja-JP" altLang="zh-CN" sz="2000" dirty="0">
                <a:latin typeface="宋体" panose="02010600030101010101" pitchFamily="2" charset="-122"/>
                <a:ea typeface="宋体" panose="02010600030101010101" pitchFamily="2" charset="-122"/>
              </a:rPr>
              <a:t>供了</a:t>
            </a:r>
            <a:r>
              <a:rPr lang="ja-JP" altLang="zh-CN" sz="2000">
                <a:latin typeface="宋体" panose="02010600030101010101" pitchFamily="2" charset="-122"/>
                <a:ea typeface="宋体" panose="02010600030101010101" pitchFamily="2" charset="-122"/>
              </a:rPr>
              <a:t>基础。</a:t>
            </a:r>
            <a:endParaRPr lang="en-US" altLang="ja-JP" sz="20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ja-JP" altLang="zh-CN" sz="2000">
                <a:latin typeface="宋体" panose="02010600030101010101" pitchFamily="2" charset="-122"/>
                <a:ea typeface="宋体" panose="02010600030101010101" pitchFamily="2" charset="-122"/>
              </a:rPr>
              <a:t>正则</a:t>
            </a:r>
            <a:r>
              <a:rPr lang="ja-JP" altLang="zh-CN" sz="2000" dirty="0">
                <a:latin typeface="宋体" panose="02010600030101010101" pitchFamily="2" charset="-122"/>
                <a:ea typeface="宋体" panose="02010600030101010101" pitchFamily="2" charset="-122"/>
              </a:rPr>
              <a:t>表达式是</a:t>
            </a:r>
            <a:r>
              <a:rPr lang="ja-JP" altLang="zh-CN" sz="2000" dirty="0">
                <a:solidFill>
                  <a:srgbClr val="0432FF"/>
                </a:solidFill>
                <a:latin typeface="宋体" panose="02010600030101010101" pitchFamily="2" charset="-122"/>
                <a:ea typeface="宋体" panose="02010600030101010101" pitchFamily="2" charset="-122"/>
              </a:rPr>
              <a:t>一些由字符和特殊符号组成的</a:t>
            </a:r>
            <a:r>
              <a:rPr lang="ja-JP" altLang="zh-CN" sz="2000" dirty="0">
                <a:solidFill>
                  <a:srgbClr val="C00000"/>
                </a:solidFill>
                <a:latin typeface="宋体" panose="02010600030101010101" pitchFamily="2" charset="-122"/>
                <a:ea typeface="宋体" panose="02010600030101010101" pitchFamily="2" charset="-122"/>
              </a:rPr>
              <a:t>字符</a:t>
            </a:r>
            <a:r>
              <a:rPr lang="ja-JP" altLang="zh-CN" sz="2000">
                <a:solidFill>
                  <a:srgbClr val="C00000"/>
                </a:solidFill>
                <a:latin typeface="宋体" panose="02010600030101010101" pitchFamily="2" charset="-122"/>
                <a:ea typeface="宋体" panose="02010600030101010101" pitchFamily="2" charset="-122"/>
              </a:rPr>
              <a:t>串</a:t>
            </a:r>
            <a:r>
              <a:rPr lang="ja-JP" altLang="zh-CN" sz="2000">
                <a:latin typeface="宋体" panose="02010600030101010101" pitchFamily="2" charset="-122"/>
                <a:ea typeface="宋体" panose="02010600030101010101" pitchFamily="2" charset="-122"/>
              </a:rPr>
              <a:t>，</a:t>
            </a:r>
            <a:endParaRPr lang="en-US" altLang="ja-JP" sz="20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ja-JP" altLang="zh-CN" sz="2000">
                <a:latin typeface="宋体" panose="02010600030101010101" pitchFamily="2" charset="-122"/>
                <a:ea typeface="宋体" panose="02010600030101010101" pitchFamily="2" charset="-122"/>
              </a:rPr>
              <a:t>它们</a:t>
            </a:r>
            <a:r>
              <a:rPr lang="ja-JP" altLang="zh-CN" sz="2000" dirty="0">
                <a:latin typeface="宋体" panose="02010600030101010101" pitchFamily="2" charset="-122"/>
                <a:ea typeface="宋体" panose="02010600030101010101" pitchFamily="2" charset="-122"/>
              </a:rPr>
              <a:t>描述了这些字符和</a:t>
            </a:r>
            <a:r>
              <a:rPr lang="zh-CN" altLang="zh-CN" sz="2000" dirty="0">
                <a:latin typeface="宋体" panose="02010600030101010101" pitchFamily="2" charset="-122"/>
                <a:ea typeface="宋体" panose="02010600030101010101" pitchFamily="2" charset="-122"/>
              </a:rPr>
              <a:t>符号</a:t>
            </a:r>
            <a:r>
              <a:rPr lang="ja-JP" altLang="zh-CN" sz="2000" dirty="0">
                <a:latin typeface="宋体" panose="02010600030101010101" pitchFamily="2" charset="-122"/>
                <a:ea typeface="宋体" panose="02010600030101010101" pitchFamily="2" charset="-122"/>
              </a:rPr>
              <a:t>的</a:t>
            </a:r>
            <a:r>
              <a:rPr lang="ja-JP" altLang="zh-CN" sz="2000" dirty="0">
                <a:solidFill>
                  <a:srgbClr val="C00000"/>
                </a:solidFill>
                <a:latin typeface="宋体" panose="02010600030101010101" pitchFamily="2" charset="-122"/>
                <a:ea typeface="宋体" panose="02010600030101010101" pitchFamily="2" charset="-122"/>
              </a:rPr>
              <a:t>某种重复方式</a:t>
            </a:r>
            <a:r>
              <a:rPr lang="ja-JP" altLang="zh-CN" sz="2000" dirty="0">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能够按照</a:t>
            </a:r>
            <a:r>
              <a:rPr lang="ja-JP" altLang="zh-CN" sz="2000" dirty="0">
                <a:latin typeface="宋体" panose="02010600030101010101" pitchFamily="2" charset="-122"/>
                <a:ea typeface="宋体" panose="02010600030101010101" pitchFamily="2" charset="-122"/>
              </a:rPr>
              <a:t>某种</a:t>
            </a:r>
            <a:r>
              <a:rPr lang="zh-CN" altLang="zh-CN" sz="2000" dirty="0">
                <a:solidFill>
                  <a:srgbClr val="C00000"/>
                </a:solidFill>
                <a:latin typeface="宋体" panose="02010600030101010101" pitchFamily="2" charset="-122"/>
                <a:ea typeface="宋体" panose="02010600030101010101" pitchFamily="2" charset="-122"/>
              </a:rPr>
              <a:t>预先设定的</a:t>
            </a:r>
            <a:r>
              <a:rPr lang="ja-JP" altLang="zh-CN" sz="2000" dirty="0">
                <a:solidFill>
                  <a:srgbClr val="C00000"/>
                </a:solidFill>
                <a:latin typeface="宋体" panose="02010600030101010101" pitchFamily="2" charset="-122"/>
                <a:ea typeface="宋体" panose="02010600030101010101" pitchFamily="2" charset="-122"/>
              </a:rPr>
              <a:t>模式</a:t>
            </a:r>
            <a:r>
              <a:rPr lang="zh-CN" altLang="zh-CN" sz="2000" dirty="0">
                <a:latin typeface="宋体" panose="02010600030101010101" pitchFamily="2" charset="-122"/>
                <a:ea typeface="宋体" panose="02010600030101010101" pitchFamily="2" charset="-122"/>
              </a:rPr>
              <a:t>来</a:t>
            </a:r>
            <a:r>
              <a:rPr lang="ja-JP" altLang="zh-CN" sz="2000" dirty="0">
                <a:latin typeface="宋体" panose="02010600030101010101" pitchFamily="2" charset="-122"/>
                <a:ea typeface="宋体" panose="02010600030101010101" pitchFamily="2" charset="-122"/>
              </a:rPr>
              <a:t>匹配一个</a:t>
            </a:r>
            <a:r>
              <a:rPr lang="zh-CN" altLang="zh-CN" sz="2000" dirty="0">
                <a:solidFill>
                  <a:srgbClr val="0432FF"/>
                </a:solidFill>
                <a:latin typeface="宋体" panose="02010600030101010101" pitchFamily="2" charset="-122"/>
                <a:ea typeface="宋体" panose="02010600030101010101" pitchFamily="2" charset="-122"/>
              </a:rPr>
              <a:t>具</a:t>
            </a:r>
            <a:r>
              <a:rPr lang="ja-JP" altLang="zh-CN" sz="2000" dirty="0">
                <a:solidFill>
                  <a:srgbClr val="0432FF"/>
                </a:solidFill>
                <a:latin typeface="宋体" panose="02010600030101010101" pitchFamily="2" charset="-122"/>
                <a:ea typeface="宋体" panose="02010600030101010101" pitchFamily="2" charset="-122"/>
              </a:rPr>
              <a:t>有相似特征的字符串的</a:t>
            </a:r>
            <a:r>
              <a:rPr lang="ja-JP" altLang="zh-CN" sz="2000">
                <a:solidFill>
                  <a:srgbClr val="0432FF"/>
                </a:solidFill>
                <a:latin typeface="宋体" panose="02010600030101010101" pitchFamily="2" charset="-122"/>
                <a:ea typeface="宋体" panose="02010600030101010101" pitchFamily="2" charset="-122"/>
              </a:rPr>
              <a:t>集合</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Python</a:t>
            </a:r>
            <a:r>
              <a:rPr lang="ja-JP" altLang="zh-CN" sz="2000" dirty="0">
                <a:latin typeface="宋体" panose="02010600030101010101" pitchFamily="2" charset="-122"/>
                <a:ea typeface="宋体" panose="02010600030101010101" pitchFamily="2" charset="-122"/>
              </a:rPr>
              <a:t>通过标准库的</a:t>
            </a:r>
            <a:r>
              <a:rPr lang="en-US" altLang="zh-CN" sz="2000" dirty="0">
                <a:latin typeface="宋体" panose="02010600030101010101" pitchFamily="2" charset="-122"/>
                <a:ea typeface="宋体" panose="02010600030101010101" pitchFamily="2" charset="-122"/>
              </a:rPr>
              <a:t>re</a:t>
            </a:r>
            <a:r>
              <a:rPr lang="ja-JP" altLang="zh-CN" sz="2000" dirty="0">
                <a:latin typeface="宋体" panose="02010600030101010101" pitchFamily="2" charset="-122"/>
                <a:ea typeface="宋体" panose="02010600030101010101" pitchFamily="2" charset="-122"/>
              </a:rPr>
              <a:t>模块</a:t>
            </a:r>
            <a:r>
              <a:rPr lang="zh-CN" altLang="zh-CN" sz="2000" dirty="0">
                <a:latin typeface="宋体" panose="02010600030101010101" pitchFamily="2" charset="-122"/>
                <a:ea typeface="宋体" panose="02010600030101010101" pitchFamily="2" charset="-122"/>
              </a:rPr>
              <a:t>来进行正</a:t>
            </a:r>
            <a:r>
              <a:rPr lang="ja-JP" altLang="zh-CN" sz="2000" dirty="0">
                <a:latin typeface="宋体" panose="02010600030101010101" pitchFamily="2" charset="-122"/>
                <a:ea typeface="宋体" panose="02010600030101010101" pitchFamily="2" charset="-122"/>
              </a:rPr>
              <a:t>则表达式</a:t>
            </a:r>
            <a:r>
              <a:rPr lang="zh-CN" altLang="zh-CN" sz="2000" dirty="0">
                <a:latin typeface="宋体" panose="02010600030101010101" pitchFamily="2" charset="-122"/>
                <a:ea typeface="宋体" panose="02010600030101010101" pitchFamily="2" charset="-122"/>
              </a:rPr>
              <a:t>的解释和功能的实现</a:t>
            </a:r>
            <a:r>
              <a:rPr lang="ja-JP" altLang="zh-CN"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sp>
        <p:nvSpPr>
          <p:cNvPr id="3" name="TextBox 2">
            <a:extLst>
              <a:ext uri="{FF2B5EF4-FFF2-40B4-BE49-F238E27FC236}">
                <a16:creationId xmlns:a16="http://schemas.microsoft.com/office/drawing/2014/main" id="{FD3A92BD-EB95-6461-F214-5C78367436C2}"/>
              </a:ext>
            </a:extLst>
          </p:cNvPr>
          <p:cNvSpPr txBox="1"/>
          <p:nvPr/>
        </p:nvSpPr>
        <p:spPr>
          <a:xfrm>
            <a:off x="1035907" y="5412991"/>
            <a:ext cx="5059334" cy="369332"/>
          </a:xfrm>
          <a:prstGeom prst="rect">
            <a:avLst/>
          </a:prstGeom>
          <a:noFill/>
        </p:spPr>
        <p:txBody>
          <a:bodyPr wrap="none" rtlCol="0">
            <a:spAutoFit/>
          </a:bodyPr>
          <a:lstStyle/>
          <a:p>
            <a:r>
              <a:rPr kumimoji="1" lang="en-US" altLang="zh-CN" dirty="0"/>
              <a:t>Ref https://</a:t>
            </a:r>
            <a:r>
              <a:rPr kumimoji="1" lang="en-US" altLang="zh-CN" dirty="0" err="1"/>
              <a:t>github.com</a:t>
            </a:r>
            <a:r>
              <a:rPr kumimoji="1" lang="en-US" altLang="zh-CN" dirty="0"/>
              <a:t>/</a:t>
            </a:r>
            <a:r>
              <a:rPr kumimoji="1" lang="en-US" altLang="zh-CN" dirty="0" err="1"/>
              <a:t>cdoco</a:t>
            </a:r>
            <a:r>
              <a:rPr kumimoji="1" lang="en-US" altLang="zh-CN" dirty="0"/>
              <a:t>/learn-regex-</a:t>
            </a:r>
            <a:r>
              <a:rPr kumimoji="1" lang="en-US" altLang="zh-CN" dirty="0" err="1"/>
              <a:t>zh</a:t>
            </a:r>
            <a:endParaRPr kumimoji="1" lang="zh-CN" altLang="en-US" dirty="0"/>
          </a:p>
        </p:txBody>
      </p:sp>
    </p:spTree>
    <p:extLst>
      <p:ext uri="{BB962C8B-B14F-4D97-AF65-F5344CB8AC3E}">
        <p14:creationId xmlns:p14="http://schemas.microsoft.com/office/powerpoint/2010/main" val="17853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ED5FB-F05B-EEE4-24EB-743D5C3A2D83}"/>
              </a:ext>
            </a:extLst>
          </p:cNvPr>
          <p:cNvSpPr>
            <a:spLocks noGrp="1"/>
          </p:cNvSpPr>
          <p:nvPr>
            <p:ph type="title"/>
          </p:nvPr>
        </p:nvSpPr>
        <p:spPr/>
        <p:txBody>
          <a:bodyPr/>
          <a:lstStyle/>
          <a:p>
            <a:r>
              <a:rPr kumimoji="1" lang="zh-CN" altLang="en-US" dirty="0"/>
              <a:t>字符串匹配</a:t>
            </a:r>
          </a:p>
        </p:txBody>
      </p:sp>
      <p:sp>
        <p:nvSpPr>
          <p:cNvPr id="4" name="TextBox 3">
            <a:extLst>
              <a:ext uri="{FF2B5EF4-FFF2-40B4-BE49-F238E27FC236}">
                <a16:creationId xmlns:a16="http://schemas.microsoft.com/office/drawing/2014/main" id="{1A440995-A3B0-AEEF-45E5-FE7333CFD3F2}"/>
              </a:ext>
            </a:extLst>
          </p:cNvPr>
          <p:cNvSpPr txBox="1"/>
          <p:nvPr/>
        </p:nvSpPr>
        <p:spPr>
          <a:xfrm>
            <a:off x="1014573" y="1459198"/>
            <a:ext cx="1975207" cy="369332"/>
          </a:xfrm>
          <a:prstGeom prst="rect">
            <a:avLst/>
          </a:prstGeom>
          <a:noFill/>
        </p:spPr>
        <p:txBody>
          <a:bodyPr wrap="square">
            <a:spAutoFit/>
          </a:bodyPr>
          <a:lstStyle/>
          <a:p>
            <a:pPr algn="l"/>
            <a:r>
              <a:rPr lang="en-US" altLang="zh-CN" b="1" i="0" dirty="0">
                <a:solidFill>
                  <a:srgbClr val="0432FF"/>
                </a:solidFill>
                <a:effectLst/>
                <a:latin typeface="-apple-system"/>
              </a:rPr>
              <a:t>1. </a:t>
            </a:r>
            <a:r>
              <a:rPr lang="zh-CN" altLang="en-US" b="1" i="0" dirty="0">
                <a:solidFill>
                  <a:srgbClr val="0432FF"/>
                </a:solidFill>
                <a:effectLst/>
                <a:latin typeface="-apple-system"/>
              </a:rPr>
              <a:t>基本匹配</a:t>
            </a:r>
          </a:p>
        </p:txBody>
      </p:sp>
      <p:pic>
        <p:nvPicPr>
          <p:cNvPr id="7" name="Picture 6">
            <a:extLst>
              <a:ext uri="{FF2B5EF4-FFF2-40B4-BE49-F238E27FC236}">
                <a16:creationId xmlns:a16="http://schemas.microsoft.com/office/drawing/2014/main" id="{6795F350-66DF-2202-A96D-9FAFFA139B9B}"/>
              </a:ext>
            </a:extLst>
          </p:cNvPr>
          <p:cNvPicPr>
            <a:picLocks noChangeAspect="1"/>
          </p:cNvPicPr>
          <p:nvPr/>
        </p:nvPicPr>
        <p:blipFill>
          <a:blip r:embed="rId2"/>
          <a:stretch>
            <a:fillRect/>
          </a:stretch>
        </p:blipFill>
        <p:spPr>
          <a:xfrm>
            <a:off x="1224480" y="2427413"/>
            <a:ext cx="3530600" cy="482600"/>
          </a:xfrm>
          <a:prstGeom prst="rect">
            <a:avLst/>
          </a:prstGeom>
        </p:spPr>
      </p:pic>
      <p:sp>
        <p:nvSpPr>
          <p:cNvPr id="8" name="TextBox 7">
            <a:extLst>
              <a:ext uri="{FF2B5EF4-FFF2-40B4-BE49-F238E27FC236}">
                <a16:creationId xmlns:a16="http://schemas.microsoft.com/office/drawing/2014/main" id="{CC01EF90-CE43-06FE-8DE6-4675DEBD7314}"/>
              </a:ext>
            </a:extLst>
          </p:cNvPr>
          <p:cNvSpPr txBox="1"/>
          <p:nvPr/>
        </p:nvSpPr>
        <p:spPr>
          <a:xfrm>
            <a:off x="1224480" y="1929900"/>
            <a:ext cx="8724761" cy="369332"/>
          </a:xfrm>
          <a:prstGeom prst="rect">
            <a:avLst/>
          </a:prstGeom>
          <a:noFill/>
        </p:spPr>
        <p:txBody>
          <a:bodyPr wrap="none" rtlCol="0">
            <a:spAutoFit/>
          </a:bodyPr>
          <a:lstStyle/>
          <a:p>
            <a:r>
              <a:rPr lang="zh-CN" altLang="en-US" b="0" i="0" dirty="0">
                <a:effectLst/>
                <a:latin typeface="-apple-system"/>
              </a:rPr>
              <a:t>例如：正则表达式 </a:t>
            </a:r>
            <a:r>
              <a:rPr lang="en-US" dirty="0">
                <a:solidFill>
                  <a:srgbClr val="7030A0"/>
                </a:solidFill>
              </a:rPr>
              <a:t>cat</a:t>
            </a:r>
            <a:r>
              <a:rPr lang="en-US" b="0" i="0" dirty="0">
                <a:effectLst/>
                <a:latin typeface="-apple-system"/>
              </a:rPr>
              <a:t>，</a:t>
            </a:r>
            <a:r>
              <a:rPr lang="zh-CN" altLang="en-US" b="0" i="0" dirty="0">
                <a:effectLst/>
                <a:latin typeface="-apple-system"/>
              </a:rPr>
              <a:t>表示：字母 </a:t>
            </a:r>
            <a:r>
              <a:rPr lang="en-US" dirty="0">
                <a:solidFill>
                  <a:srgbClr val="7030A0"/>
                </a:solidFill>
              </a:rPr>
              <a:t>c</a:t>
            </a:r>
            <a:r>
              <a:rPr lang="en-US" b="0" i="0" dirty="0">
                <a:effectLst/>
                <a:latin typeface="-apple-system"/>
              </a:rPr>
              <a:t> </a:t>
            </a:r>
            <a:r>
              <a:rPr lang="zh-CN" altLang="en-US" b="0" i="0" dirty="0">
                <a:effectLst/>
                <a:latin typeface="-apple-system"/>
              </a:rPr>
              <a:t>后面跟着一个字母</a:t>
            </a:r>
            <a:r>
              <a:rPr lang="zh-CN" altLang="en-US" b="0" i="0" dirty="0">
                <a:solidFill>
                  <a:srgbClr val="7030A0"/>
                </a:solidFill>
                <a:effectLst/>
                <a:latin typeface="-apple-system"/>
              </a:rPr>
              <a:t> </a:t>
            </a:r>
            <a:r>
              <a:rPr lang="en-US" dirty="0">
                <a:solidFill>
                  <a:srgbClr val="7030A0"/>
                </a:solidFill>
              </a:rPr>
              <a:t>a</a:t>
            </a:r>
            <a:r>
              <a:rPr lang="en-US" b="0" i="0" dirty="0">
                <a:effectLst/>
                <a:latin typeface="-apple-system"/>
              </a:rPr>
              <a:t>，</a:t>
            </a:r>
            <a:r>
              <a:rPr lang="zh-CN" altLang="en-US" b="0" i="0" dirty="0">
                <a:effectLst/>
                <a:latin typeface="-apple-system"/>
              </a:rPr>
              <a:t>再后面跟着一个字母 </a:t>
            </a:r>
            <a:r>
              <a:rPr lang="en-US" dirty="0">
                <a:solidFill>
                  <a:srgbClr val="7030A0"/>
                </a:solidFill>
              </a:rPr>
              <a:t>t</a:t>
            </a:r>
            <a:r>
              <a:rPr lang="en-US" b="0" i="0" dirty="0">
                <a:effectLst/>
                <a:latin typeface="-apple-system"/>
              </a:rPr>
              <a:t>。</a:t>
            </a:r>
            <a:endParaRPr kumimoji="1" lang="zh-CN" altLang="en-US" dirty="0"/>
          </a:p>
        </p:txBody>
      </p:sp>
      <p:sp>
        <p:nvSpPr>
          <p:cNvPr id="10" name="TextBox 9">
            <a:extLst>
              <a:ext uri="{FF2B5EF4-FFF2-40B4-BE49-F238E27FC236}">
                <a16:creationId xmlns:a16="http://schemas.microsoft.com/office/drawing/2014/main" id="{17EFE9F6-6D4E-7F81-DA51-C172886F4C46}"/>
              </a:ext>
            </a:extLst>
          </p:cNvPr>
          <p:cNvSpPr txBox="1"/>
          <p:nvPr/>
        </p:nvSpPr>
        <p:spPr>
          <a:xfrm>
            <a:off x="1224479" y="3244557"/>
            <a:ext cx="8392131" cy="369332"/>
          </a:xfrm>
          <a:prstGeom prst="rect">
            <a:avLst/>
          </a:prstGeom>
          <a:noFill/>
        </p:spPr>
        <p:txBody>
          <a:bodyPr wrap="square">
            <a:spAutoFit/>
          </a:bodyPr>
          <a:lstStyle/>
          <a:p>
            <a:r>
              <a:rPr lang="zh-CN" altLang="en-US" b="0" i="0" dirty="0">
                <a:effectLst/>
                <a:latin typeface="-apple-system"/>
              </a:rPr>
              <a:t>正则表达式通常区分大小写，因此正则表达式</a:t>
            </a:r>
            <a:r>
              <a:rPr lang="zh-CN" altLang="en-US" b="0" i="0" dirty="0">
                <a:solidFill>
                  <a:srgbClr val="7030A0"/>
                </a:solidFill>
                <a:effectLst/>
                <a:latin typeface="-apple-system"/>
              </a:rPr>
              <a:t> </a:t>
            </a:r>
            <a:r>
              <a:rPr lang="en-US" dirty="0">
                <a:solidFill>
                  <a:srgbClr val="7030A0"/>
                </a:solidFill>
              </a:rPr>
              <a:t>Cat</a:t>
            </a:r>
            <a:r>
              <a:rPr lang="en-US" b="0" i="0" dirty="0">
                <a:solidFill>
                  <a:srgbClr val="7030A0"/>
                </a:solidFill>
                <a:effectLst/>
                <a:latin typeface="-apple-system"/>
              </a:rPr>
              <a:t> </a:t>
            </a:r>
            <a:r>
              <a:rPr lang="zh-CN" altLang="en-US" b="0" i="0" dirty="0">
                <a:effectLst/>
                <a:latin typeface="-apple-system"/>
              </a:rPr>
              <a:t>与字符串</a:t>
            </a:r>
            <a:r>
              <a:rPr lang="zh-CN" altLang="en-US" b="0" i="0" dirty="0">
                <a:solidFill>
                  <a:srgbClr val="7030A0"/>
                </a:solidFill>
                <a:effectLst/>
                <a:latin typeface="-apple-system"/>
              </a:rPr>
              <a:t>“</a:t>
            </a:r>
            <a:r>
              <a:rPr lang="en-US" b="0" i="0" dirty="0">
                <a:solidFill>
                  <a:srgbClr val="7030A0"/>
                </a:solidFill>
                <a:effectLst/>
                <a:latin typeface="-apple-system"/>
              </a:rPr>
              <a:t>cat”</a:t>
            </a:r>
            <a:r>
              <a:rPr lang="zh-CN" altLang="en-US" b="0" i="0" dirty="0">
                <a:effectLst/>
                <a:latin typeface="-apple-system"/>
              </a:rPr>
              <a:t>不匹配。</a:t>
            </a:r>
            <a:endParaRPr lang="zh-CN" altLang="en-US" dirty="0"/>
          </a:p>
        </p:txBody>
      </p:sp>
      <p:pic>
        <p:nvPicPr>
          <p:cNvPr id="11" name="Picture 10">
            <a:extLst>
              <a:ext uri="{FF2B5EF4-FFF2-40B4-BE49-F238E27FC236}">
                <a16:creationId xmlns:a16="http://schemas.microsoft.com/office/drawing/2014/main" id="{3272E826-2062-85D0-FEB0-C21A232877D0}"/>
              </a:ext>
            </a:extLst>
          </p:cNvPr>
          <p:cNvPicPr>
            <a:picLocks noChangeAspect="1"/>
          </p:cNvPicPr>
          <p:nvPr/>
        </p:nvPicPr>
        <p:blipFill>
          <a:blip r:embed="rId3"/>
          <a:stretch>
            <a:fillRect/>
          </a:stretch>
        </p:blipFill>
        <p:spPr>
          <a:xfrm>
            <a:off x="1224479" y="3855338"/>
            <a:ext cx="3543300" cy="444500"/>
          </a:xfrm>
          <a:prstGeom prst="rect">
            <a:avLst/>
          </a:prstGeom>
        </p:spPr>
      </p:pic>
      <p:sp>
        <p:nvSpPr>
          <p:cNvPr id="13" name="TextBox 12">
            <a:extLst>
              <a:ext uri="{FF2B5EF4-FFF2-40B4-BE49-F238E27FC236}">
                <a16:creationId xmlns:a16="http://schemas.microsoft.com/office/drawing/2014/main" id="{744F1FE3-C268-AB68-B92F-F54EF2E401A3}"/>
              </a:ext>
            </a:extLst>
          </p:cNvPr>
          <p:cNvSpPr txBox="1"/>
          <p:nvPr/>
        </p:nvSpPr>
        <p:spPr>
          <a:xfrm>
            <a:off x="1014573" y="4577686"/>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 </a:t>
            </a:r>
            <a:r>
              <a:rPr lang="zh-CN" altLang="en-US" b="1" i="0" dirty="0">
                <a:solidFill>
                  <a:srgbClr val="0432FF"/>
                </a:solidFill>
                <a:effectLst/>
                <a:latin typeface="-apple-system"/>
              </a:rPr>
              <a:t>元字符</a:t>
            </a:r>
          </a:p>
        </p:txBody>
      </p:sp>
      <p:sp>
        <p:nvSpPr>
          <p:cNvPr id="15" name="TextBox 14">
            <a:extLst>
              <a:ext uri="{FF2B5EF4-FFF2-40B4-BE49-F238E27FC236}">
                <a16:creationId xmlns:a16="http://schemas.microsoft.com/office/drawing/2014/main" id="{275E4CBF-244C-4D98-2F90-CD124ECCBA0C}"/>
              </a:ext>
            </a:extLst>
          </p:cNvPr>
          <p:cNvSpPr txBox="1"/>
          <p:nvPr/>
        </p:nvSpPr>
        <p:spPr>
          <a:xfrm>
            <a:off x="1224480" y="5048388"/>
            <a:ext cx="8258568" cy="923330"/>
          </a:xfrm>
          <a:prstGeom prst="rect">
            <a:avLst/>
          </a:prstGeom>
          <a:noFill/>
        </p:spPr>
        <p:txBody>
          <a:bodyPr wrap="square">
            <a:spAutoFit/>
          </a:bodyPr>
          <a:lstStyle/>
          <a:p>
            <a:r>
              <a:rPr lang="zh-CN" altLang="en-US" b="0" i="0" dirty="0">
                <a:effectLst/>
                <a:latin typeface="-apple-system"/>
              </a:rPr>
              <a:t>元字符是正则表达式的基本组成元素。</a:t>
            </a:r>
            <a:endParaRPr lang="en-US" altLang="zh-CN" b="0" i="0" dirty="0">
              <a:effectLst/>
              <a:latin typeface="-apple-system"/>
            </a:endParaRPr>
          </a:p>
          <a:p>
            <a:pPr marL="285750" indent="-285750">
              <a:buFont typeface="Arial" panose="020B0604020202020204" pitchFamily="34" charset="0"/>
              <a:buChar char="•"/>
            </a:pPr>
            <a:r>
              <a:rPr lang="zh-CN" altLang="en-US" b="0" i="0" dirty="0">
                <a:effectLst/>
                <a:latin typeface="-apple-system"/>
              </a:rPr>
              <a:t>元字符在这里跟它通常表达的意思不一样，而是以某种特殊的含义去解释。</a:t>
            </a:r>
            <a:endParaRPr lang="en-US" altLang="zh-CN" b="0" i="0" dirty="0">
              <a:effectLst/>
              <a:latin typeface="-apple-system"/>
            </a:endParaRPr>
          </a:p>
          <a:p>
            <a:pPr marL="285750" indent="-285750">
              <a:buFont typeface="Arial" panose="020B0604020202020204" pitchFamily="34" charset="0"/>
              <a:buChar char="•"/>
            </a:pPr>
            <a:r>
              <a:rPr lang="zh-CN" altLang="en-US" b="0" i="0" dirty="0">
                <a:effectLst/>
                <a:latin typeface="-apple-system"/>
              </a:rPr>
              <a:t>有些元字符在写在方括号内时有特殊含义。</a:t>
            </a:r>
            <a:endParaRPr lang="zh-CN" altLang="en-US" dirty="0"/>
          </a:p>
        </p:txBody>
      </p:sp>
    </p:spTree>
    <p:extLst>
      <p:ext uri="{BB962C8B-B14F-4D97-AF65-F5344CB8AC3E}">
        <p14:creationId xmlns:p14="http://schemas.microsoft.com/office/powerpoint/2010/main" val="768270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6418" y="38501"/>
            <a:ext cx="9980682" cy="1096962"/>
          </a:xfrm>
        </p:spPr>
        <p:txBody>
          <a:bodyPr/>
          <a:lstStyle/>
          <a:p>
            <a:r>
              <a:rPr lang="en-US" altLang="zh-CN" dirty="0"/>
              <a:t>10.3</a:t>
            </a:r>
            <a:r>
              <a:rPr lang="zh-CN" altLang="en-US" dirty="0"/>
              <a:t>正则表达式</a:t>
            </a:r>
            <a:endParaRPr lang="en-US" dirty="0"/>
          </a:p>
        </p:txBody>
      </p:sp>
      <p:sp>
        <p:nvSpPr>
          <p:cNvPr id="6" name="文本框 5"/>
          <p:cNvSpPr txBox="1"/>
          <p:nvPr/>
        </p:nvSpPr>
        <p:spPr>
          <a:xfrm>
            <a:off x="942032" y="1317610"/>
            <a:ext cx="9982200" cy="1143903"/>
          </a:xfrm>
          <a:prstGeom prst="rect">
            <a:avLst/>
          </a:prstGeom>
          <a:noFill/>
        </p:spPr>
        <p:txBody>
          <a:bodyPr wrap="square" rtlCol="0">
            <a:spAutoFit/>
          </a:bodyPr>
          <a:lstStyle/>
          <a:p>
            <a:pPr algn="just">
              <a:spcBef>
                <a:spcPts val="1000"/>
              </a:spcBef>
            </a:pPr>
            <a:r>
              <a:rPr lang="zh-CN" altLang="en-US" sz="2000" b="1" dirty="0">
                <a:solidFill>
                  <a:srgbClr val="0432FF"/>
                </a:solidFill>
              </a:rPr>
              <a:t>（</a:t>
            </a:r>
            <a:r>
              <a:rPr lang="en-US" altLang="zh-CN" sz="2000" b="1" dirty="0">
                <a:solidFill>
                  <a:srgbClr val="0432FF"/>
                </a:solidFill>
              </a:rPr>
              <a:t>1</a:t>
            </a:r>
            <a:r>
              <a:rPr lang="zh-CN" altLang="en-US" sz="2000" b="1" dirty="0">
                <a:solidFill>
                  <a:srgbClr val="0432FF"/>
                </a:solidFill>
              </a:rPr>
              <a:t>）正则表达式的语法规范</a:t>
            </a:r>
            <a:endParaRPr lang="en-US" altLang="zh-CN" sz="2000" b="1" dirty="0">
              <a:solidFill>
                <a:srgbClr val="0432FF"/>
              </a:solidFill>
            </a:endParaRPr>
          </a:p>
          <a:p>
            <a:pPr marL="342900" indent="-342900" algn="just">
              <a:spcBef>
                <a:spcPts val="1000"/>
              </a:spcBef>
              <a:buFont typeface="Arial" panose="020B0604020202020204" pitchFamily="34" charset="0"/>
              <a:buChar char="•"/>
            </a:pPr>
            <a:r>
              <a:rPr lang="zh-CN" altLang="zh-CN" sz="2000" dirty="0">
                <a:latin typeface="宋体" panose="02010600030101010101" pitchFamily="2" charset="-122"/>
                <a:ea typeface="宋体" panose="02010600030101010101" pitchFamily="2" charset="-122"/>
              </a:rPr>
              <a:t>元字符（</a:t>
            </a:r>
            <a:r>
              <a:rPr lang="en-US" altLang="zh-CN" sz="2000" dirty="0">
                <a:latin typeface="宋体" panose="02010600030101010101" pitchFamily="2" charset="-122"/>
                <a:ea typeface="宋体" panose="02010600030101010101" pitchFamily="2" charset="-122"/>
              </a:rPr>
              <a:t>Metacharacter</a:t>
            </a:r>
            <a:r>
              <a:rPr lang="zh-CN" altLang="zh-CN" sz="2000" dirty="0">
                <a:latin typeface="宋体" panose="02010600030101010101" pitchFamily="2" charset="-122"/>
                <a:ea typeface="宋体" panose="02010600030101010101" pitchFamily="2" charset="-122"/>
              </a:rPr>
              <a:t>）是一类非常特殊的字符，它能够匹配字符串中的一个位置，或者字符集合中的一个字符。</a:t>
            </a:r>
            <a:endParaRPr lang="zh-CN" altLang="en-US" sz="2000" dirty="0"/>
          </a:p>
        </p:txBody>
      </p:sp>
      <p:graphicFrame>
        <p:nvGraphicFramePr>
          <p:cNvPr id="7" name="表格 6"/>
          <p:cNvGraphicFramePr>
            <a:graphicFrameLocks noGrp="1"/>
          </p:cNvGraphicFramePr>
          <p:nvPr>
            <p:extLst>
              <p:ext uri="{D42A27DB-BD31-4B8C-83A1-F6EECF244321}">
                <p14:modId xmlns:p14="http://schemas.microsoft.com/office/powerpoint/2010/main" val="339109791"/>
              </p:ext>
            </p:extLst>
          </p:nvPr>
        </p:nvGraphicFramePr>
        <p:xfrm>
          <a:off x="1487434" y="2461513"/>
          <a:ext cx="9360969" cy="3951940"/>
        </p:xfrm>
        <a:graphic>
          <a:graphicData uri="http://schemas.openxmlformats.org/drawingml/2006/table">
            <a:tbl>
              <a:tblPr firstRow="1" firstCol="1" bandRow="1"/>
              <a:tblGrid>
                <a:gridCol w="1407636">
                  <a:extLst>
                    <a:ext uri="{9D8B030D-6E8A-4147-A177-3AD203B41FA5}">
                      <a16:colId xmlns:a16="http://schemas.microsoft.com/office/drawing/2014/main" val="2327379195"/>
                    </a:ext>
                  </a:extLst>
                </a:gridCol>
                <a:gridCol w="7953333">
                  <a:extLst>
                    <a:ext uri="{9D8B030D-6E8A-4147-A177-3AD203B41FA5}">
                      <a16:colId xmlns:a16="http://schemas.microsoft.com/office/drawing/2014/main" val="376186706"/>
                    </a:ext>
                  </a:extLst>
                </a:gridCol>
              </a:tblGrid>
              <a:tr h="395194">
                <a:tc>
                  <a:txBody>
                    <a:bodyPr/>
                    <a:lstStyle/>
                    <a:p>
                      <a:pPr indent="127000" algn="ctr">
                        <a:lnSpc>
                          <a:spcPts val="1900"/>
                        </a:lnSpc>
                        <a:spcAft>
                          <a:spcPts val="0"/>
                        </a:spcAft>
                      </a:pPr>
                      <a:r>
                        <a:rPr lang="zh-CN" sz="2000" b="0"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rPr>
                        <a:t>元字符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2000" b="0"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rPr>
                        <a:t>功能说明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8559209"/>
                  </a:ext>
                </a:extLst>
              </a:tr>
              <a:tr h="395194">
                <a:tc>
                  <a:txBody>
                    <a:bodyPr/>
                    <a:lstStyle/>
                    <a:p>
                      <a:pPr indent="14605" algn="ctr">
                        <a:lnSpc>
                          <a:spcPts val="1900"/>
                        </a:lnSpc>
                        <a:spcAft>
                          <a:spcPts val="0"/>
                        </a:spcAft>
                      </a:pPr>
                      <a:r>
                        <a:rPr lang="en-US" altLang="zh-CN" sz="1800" dirty="0">
                          <a:solidFill>
                            <a:srgbClr val="C00000"/>
                          </a:solidFill>
                        </a:rPr>
                        <a:t>^</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kern="100">
                          <a:solidFill>
                            <a:srgbClr val="333333"/>
                          </a:solidFill>
                          <a:effectLst/>
                          <a:latin typeface="宋体" panose="02010600030101010101" pitchFamily="2" charset="-122"/>
                          <a:ea typeface="宋体" panose="02010600030101010101" pitchFamily="2" charset="-122"/>
                          <a:cs typeface="Times New Roman" panose="02020603050405020304" pitchFamily="18" charset="0"/>
                        </a:rPr>
                        <a:t>匹配字符串开头。</a:t>
                      </a:r>
                      <a:endParaRPr lang="zh-CN" sz="1800" b="0" kern="10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5464214"/>
                  </a:ext>
                </a:extLst>
              </a:tr>
              <a:tr h="395194">
                <a:tc>
                  <a:txBody>
                    <a:bodyPr/>
                    <a:lstStyle/>
                    <a:p>
                      <a:pPr indent="14605" algn="ctr">
                        <a:lnSpc>
                          <a:spcPts val="1900"/>
                        </a:lnSpc>
                        <a:spcAft>
                          <a:spcPts val="0"/>
                        </a:spcAft>
                      </a:pPr>
                      <a:r>
                        <a:rPr lang="en-CN" sz="1800" b="0" i="0" kern="1200" dirty="0">
                          <a:solidFill>
                            <a:srgbClr val="C00000"/>
                          </a:solidFill>
                          <a:effectLst/>
                          <a:latin typeface="+mn-lt"/>
                          <a:ea typeface="+mn-ea"/>
                          <a:cs typeface="+mn-cs"/>
                        </a:rPr>
                        <a:t>[ ]</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altLang="en-US"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字符类，匹配方括号中包含的任意字符。</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3337318"/>
                  </a:ext>
                </a:extLst>
              </a:tr>
              <a:tr h="395194">
                <a:tc>
                  <a:txBody>
                    <a:bodyPr/>
                    <a:lstStyle/>
                    <a:p>
                      <a:pPr indent="14605" algn="ctr">
                        <a:lnSpc>
                          <a:spcPts val="1900"/>
                        </a:lnSpc>
                        <a:spcAft>
                          <a:spcPts val="0"/>
                        </a:spcAft>
                      </a:pPr>
                      <a:r>
                        <a:rPr lang="en-CN" sz="1800" b="0" i="0" kern="1200" dirty="0">
                          <a:solidFill>
                            <a:srgbClr val="C00000"/>
                          </a:solidFill>
                          <a:effectLst/>
                          <a:latin typeface="+mn-lt"/>
                          <a:ea typeface="+mn-ea"/>
                          <a:cs typeface="+mn-cs"/>
                        </a:rPr>
                        <a:t>[^ ]</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altLang="en-US"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否定字符类。匹配方括号中不包含的任意字符。</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8110865"/>
                  </a:ext>
                </a:extLst>
              </a:tr>
              <a:tr h="395194">
                <a:tc>
                  <a:txBody>
                    <a:bodyPr/>
                    <a:lstStyle/>
                    <a:p>
                      <a:pPr indent="14605" algn="ctr">
                        <a:lnSpc>
                          <a:spcPts val="1900"/>
                        </a:lnSpc>
                        <a:spcAft>
                          <a:spcPts val="0"/>
                        </a:spcAft>
                      </a:pPr>
                      <a:r>
                        <a:rPr lang="en-US"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kern="100" dirty="0">
                          <a:solidFill>
                            <a:srgbClr val="333333"/>
                          </a:solidFill>
                          <a:effectLst/>
                          <a:latin typeface="宋体" panose="02010600030101010101" pitchFamily="2" charset="-122"/>
                          <a:ea typeface="宋体" panose="02010600030101010101" pitchFamily="2" charset="-122"/>
                          <a:cs typeface="Times New Roman" panose="02020603050405020304" pitchFamily="18" charset="0"/>
                        </a:rPr>
                        <a:t>匹配字符串结尾。</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0149530"/>
                  </a:ext>
                </a:extLst>
              </a:tr>
              <a:tr h="395194">
                <a:tc>
                  <a:txBody>
                    <a:bodyPr/>
                    <a:lstStyle/>
                    <a:p>
                      <a:pPr indent="14605" algn="ctr">
                        <a:lnSpc>
                          <a:spcPts val="1900"/>
                        </a:lnSpc>
                        <a:spcAft>
                          <a:spcPts val="0"/>
                        </a:spcAft>
                      </a:pPr>
                      <a:r>
                        <a:rPr lang="en-US"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\b</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kern="100" dirty="0">
                          <a:solidFill>
                            <a:srgbClr val="333333"/>
                          </a:solidFill>
                          <a:effectLst/>
                          <a:latin typeface="宋体" panose="02010600030101010101" pitchFamily="2" charset="-122"/>
                          <a:ea typeface="宋体" panose="02010600030101010101" pitchFamily="2" charset="-122"/>
                          <a:cs typeface="Times New Roman" panose="02020603050405020304" pitchFamily="18" charset="0"/>
                        </a:rPr>
                        <a:t>匹配字符串的开头或结尾</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6720605"/>
                  </a:ext>
                </a:extLst>
              </a:tr>
              <a:tr h="395194">
                <a:tc>
                  <a:txBody>
                    <a:bodyPr/>
                    <a:lstStyle/>
                    <a:p>
                      <a:pPr indent="14605" algn="ctr">
                        <a:lnSpc>
                          <a:spcPts val="1900"/>
                        </a:lnSpc>
                        <a:spcAft>
                          <a:spcPts val="0"/>
                        </a:spcAft>
                      </a:pPr>
                      <a:r>
                        <a:rPr lang="en-US" sz="1800" b="0" i="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ja-JP" sz="1800" b="0" i="0" kern="1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匹配除换行</a:t>
                      </a:r>
                      <a:r>
                        <a:rPr lang="zh-CN"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符</a:t>
                      </a:r>
                      <a:r>
                        <a:rPr lang="en-US"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‘\n’</a:t>
                      </a:r>
                      <a:r>
                        <a:rPr lang="ja-JP" sz="1800" b="0" i="0" kern="10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之外的任意字符</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9596606"/>
                  </a:ext>
                </a:extLst>
              </a:tr>
              <a:tr h="395194">
                <a:tc>
                  <a:txBody>
                    <a:bodyPr/>
                    <a:lstStyle/>
                    <a:p>
                      <a:pPr indent="14605" algn="ctr">
                        <a:lnSpc>
                          <a:spcPts val="1900"/>
                        </a:lnSpc>
                        <a:spcAft>
                          <a:spcPts val="0"/>
                        </a:spcAft>
                      </a:pPr>
                      <a:r>
                        <a:rPr lang="en-US" sz="1800" b="0" i="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\w</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匹配单词字符（包括字母、汉字、下划线和数字），即</a:t>
                      </a:r>
                      <a:r>
                        <a:rPr lang="en-US"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[a-zA-Z0-9]</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9066182"/>
                  </a:ext>
                </a:extLst>
              </a:tr>
              <a:tr h="395194">
                <a:tc>
                  <a:txBody>
                    <a:bodyPr/>
                    <a:lstStyle/>
                    <a:p>
                      <a:pPr indent="14605" algn="ctr">
                        <a:lnSpc>
                          <a:spcPts val="1900"/>
                        </a:lnSpc>
                        <a:spcAft>
                          <a:spcPts val="0"/>
                        </a:spcAft>
                      </a:pPr>
                      <a:r>
                        <a:rPr lang="en-US" sz="1800" b="0" i="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\s</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匹配任意的空白字符，如空格、制表符、换行等，即</a:t>
                      </a:r>
                      <a:r>
                        <a:rPr lang="en-US"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[\f\n\r\t\v]</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126067"/>
                  </a:ext>
                </a:extLst>
              </a:tr>
              <a:tr h="395194">
                <a:tc>
                  <a:txBody>
                    <a:bodyPr/>
                    <a:lstStyle/>
                    <a:p>
                      <a:pPr indent="14605" algn="ctr">
                        <a:lnSpc>
                          <a:spcPts val="1900"/>
                        </a:lnSpc>
                        <a:spcAft>
                          <a:spcPts val="0"/>
                        </a:spcAft>
                      </a:pPr>
                      <a:r>
                        <a:rPr lang="en-US" sz="1800" b="0" i="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rPr>
                        <a:t>\d</a:t>
                      </a:r>
                      <a:endParaRPr lang="zh-CN" sz="1800" b="0" kern="100"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匹配任意数字字符，即</a:t>
                      </a:r>
                      <a:r>
                        <a:rPr lang="en-US" sz="1800" b="0" i="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[0-9]</a:t>
                      </a:r>
                      <a:endParaRPr lang="zh-CN" sz="1800" b="0" kern="1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9934869"/>
                  </a:ext>
                </a:extLst>
              </a:tr>
            </a:tbl>
          </a:graphicData>
        </a:graphic>
      </p:graphicFrame>
    </p:spTree>
    <p:extLst>
      <p:ext uri="{BB962C8B-B14F-4D97-AF65-F5344CB8AC3E}">
        <p14:creationId xmlns:p14="http://schemas.microsoft.com/office/powerpoint/2010/main" val="276345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8F6294-A6A5-31F0-7EEA-2361D01451FD}"/>
              </a:ext>
            </a:extLst>
          </p:cNvPr>
          <p:cNvSpPr txBox="1"/>
          <p:nvPr/>
        </p:nvSpPr>
        <p:spPr>
          <a:xfrm>
            <a:off x="1024847" y="596169"/>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2.1 </a:t>
            </a:r>
            <a:r>
              <a:rPr lang="zh-CN" altLang="en-US" b="1" i="0" dirty="0">
                <a:solidFill>
                  <a:srgbClr val="0432FF"/>
                </a:solidFill>
                <a:effectLst/>
                <a:latin typeface="-apple-system"/>
              </a:rPr>
              <a:t>英文句号</a:t>
            </a:r>
          </a:p>
        </p:txBody>
      </p:sp>
      <p:pic>
        <p:nvPicPr>
          <p:cNvPr id="4" name="Picture 3">
            <a:extLst>
              <a:ext uri="{FF2B5EF4-FFF2-40B4-BE49-F238E27FC236}">
                <a16:creationId xmlns:a16="http://schemas.microsoft.com/office/drawing/2014/main" id="{21098486-66D8-EA21-C41F-819609312171}"/>
              </a:ext>
            </a:extLst>
          </p:cNvPr>
          <p:cNvPicPr>
            <a:picLocks noChangeAspect="1"/>
          </p:cNvPicPr>
          <p:nvPr/>
        </p:nvPicPr>
        <p:blipFill>
          <a:blip r:embed="rId2"/>
          <a:stretch>
            <a:fillRect/>
          </a:stretch>
        </p:blipFill>
        <p:spPr>
          <a:xfrm>
            <a:off x="1200365" y="1065631"/>
            <a:ext cx="4305300" cy="457200"/>
          </a:xfrm>
          <a:prstGeom prst="rect">
            <a:avLst/>
          </a:prstGeom>
        </p:spPr>
      </p:pic>
      <p:sp>
        <p:nvSpPr>
          <p:cNvPr id="6" name="TextBox 5">
            <a:extLst>
              <a:ext uri="{FF2B5EF4-FFF2-40B4-BE49-F238E27FC236}">
                <a16:creationId xmlns:a16="http://schemas.microsoft.com/office/drawing/2014/main" id="{F5EF66C9-1B05-D9DC-7104-C94998EF495C}"/>
              </a:ext>
            </a:extLst>
          </p:cNvPr>
          <p:cNvSpPr txBox="1"/>
          <p:nvPr/>
        </p:nvSpPr>
        <p:spPr>
          <a:xfrm>
            <a:off x="1020569" y="1641524"/>
            <a:ext cx="4812158" cy="369332"/>
          </a:xfrm>
          <a:prstGeom prst="rect">
            <a:avLst/>
          </a:prstGeom>
          <a:noFill/>
        </p:spPr>
        <p:txBody>
          <a:bodyPr wrap="square">
            <a:spAutoFit/>
          </a:bodyPr>
          <a:lstStyle/>
          <a:p>
            <a:pPr algn="l"/>
            <a:r>
              <a:rPr lang="en-US" altLang="zh-CN" b="1" i="0" dirty="0">
                <a:solidFill>
                  <a:srgbClr val="0432FF"/>
                </a:solidFill>
                <a:effectLst/>
                <a:latin typeface="-apple-system"/>
              </a:rPr>
              <a:t>2.2 </a:t>
            </a:r>
            <a:r>
              <a:rPr lang="zh-CN" altLang="en-US" b="1" i="0" dirty="0">
                <a:solidFill>
                  <a:srgbClr val="0432FF"/>
                </a:solidFill>
                <a:effectLst/>
                <a:latin typeface="-apple-system"/>
              </a:rPr>
              <a:t>字符集</a:t>
            </a:r>
          </a:p>
        </p:txBody>
      </p:sp>
      <p:pic>
        <p:nvPicPr>
          <p:cNvPr id="7" name="Picture 6">
            <a:extLst>
              <a:ext uri="{FF2B5EF4-FFF2-40B4-BE49-F238E27FC236}">
                <a16:creationId xmlns:a16="http://schemas.microsoft.com/office/drawing/2014/main" id="{41EC25B1-16B7-6409-EAA4-C5D132A594B8}"/>
              </a:ext>
            </a:extLst>
          </p:cNvPr>
          <p:cNvPicPr>
            <a:picLocks noChangeAspect="1"/>
          </p:cNvPicPr>
          <p:nvPr/>
        </p:nvPicPr>
        <p:blipFill>
          <a:blip r:embed="rId3"/>
          <a:stretch>
            <a:fillRect/>
          </a:stretch>
        </p:blipFill>
        <p:spPr>
          <a:xfrm>
            <a:off x="1140648" y="2942563"/>
            <a:ext cx="4572000" cy="495300"/>
          </a:xfrm>
          <a:prstGeom prst="rect">
            <a:avLst/>
          </a:prstGeom>
        </p:spPr>
      </p:pic>
      <p:sp>
        <p:nvSpPr>
          <p:cNvPr id="8" name="TextBox 7">
            <a:extLst>
              <a:ext uri="{FF2B5EF4-FFF2-40B4-BE49-F238E27FC236}">
                <a16:creationId xmlns:a16="http://schemas.microsoft.com/office/drawing/2014/main" id="{2B2B21C2-0834-53DF-B129-630FAE221CFF}"/>
              </a:ext>
            </a:extLst>
          </p:cNvPr>
          <p:cNvSpPr txBox="1"/>
          <p:nvPr/>
        </p:nvSpPr>
        <p:spPr>
          <a:xfrm>
            <a:off x="1286414" y="2154796"/>
            <a:ext cx="8093892" cy="584775"/>
          </a:xfrm>
          <a:prstGeom prst="rect">
            <a:avLst/>
          </a:prstGeom>
          <a:noFill/>
        </p:spPr>
        <p:txBody>
          <a:bodyPr wrap="square" rtlCol="0">
            <a:spAutoFit/>
          </a:bodyPr>
          <a:lstStyle/>
          <a:p>
            <a:r>
              <a:rPr lang="zh-CN" altLang="en-US" sz="1600" b="0" i="0" dirty="0">
                <a:effectLst/>
                <a:latin typeface="-apple-system"/>
              </a:rPr>
              <a:t>字符集也称为字符类。方括号被用于指定字符集。使用字符集内的连字符来指定字符范围。方括号内的字符范围的顺序并不重要。</a:t>
            </a:r>
            <a:endParaRPr kumimoji="1" lang="zh-CN" altLang="en-US" sz="1600" dirty="0"/>
          </a:p>
        </p:txBody>
      </p:sp>
      <p:pic>
        <p:nvPicPr>
          <p:cNvPr id="9" name="Picture 8">
            <a:extLst>
              <a:ext uri="{FF2B5EF4-FFF2-40B4-BE49-F238E27FC236}">
                <a16:creationId xmlns:a16="http://schemas.microsoft.com/office/drawing/2014/main" id="{1693C657-65D0-A135-664F-55CE759CA08C}"/>
              </a:ext>
            </a:extLst>
          </p:cNvPr>
          <p:cNvPicPr>
            <a:picLocks noChangeAspect="1"/>
          </p:cNvPicPr>
          <p:nvPr/>
        </p:nvPicPr>
        <p:blipFill>
          <a:blip r:embed="rId4"/>
          <a:stretch>
            <a:fillRect/>
          </a:stretch>
        </p:blipFill>
        <p:spPr>
          <a:xfrm>
            <a:off x="1140648" y="3944328"/>
            <a:ext cx="5537200" cy="457200"/>
          </a:xfrm>
          <a:prstGeom prst="rect">
            <a:avLst/>
          </a:prstGeom>
        </p:spPr>
      </p:pic>
      <p:sp>
        <p:nvSpPr>
          <p:cNvPr id="11" name="TextBox 10">
            <a:extLst>
              <a:ext uri="{FF2B5EF4-FFF2-40B4-BE49-F238E27FC236}">
                <a16:creationId xmlns:a16="http://schemas.microsoft.com/office/drawing/2014/main" id="{D6814098-8E7D-AAE5-52F9-81AE83C18433}"/>
              </a:ext>
            </a:extLst>
          </p:cNvPr>
          <p:cNvSpPr txBox="1"/>
          <p:nvPr/>
        </p:nvSpPr>
        <p:spPr>
          <a:xfrm>
            <a:off x="1286414" y="3545896"/>
            <a:ext cx="4812158" cy="338554"/>
          </a:xfrm>
          <a:prstGeom prst="rect">
            <a:avLst/>
          </a:prstGeom>
          <a:noFill/>
        </p:spPr>
        <p:txBody>
          <a:bodyPr wrap="square">
            <a:spAutoFit/>
          </a:bodyPr>
          <a:lstStyle/>
          <a:p>
            <a:r>
              <a:rPr lang="zh-CN" altLang="en-US" sz="1600" b="0" i="0" dirty="0">
                <a:effectLst/>
                <a:latin typeface="-apple-system"/>
              </a:rPr>
              <a:t>然而，字符集中的英文句号表示它</a:t>
            </a:r>
            <a:r>
              <a:rPr lang="zh-CN" altLang="en-US" sz="1600" b="0" i="0" dirty="0">
                <a:solidFill>
                  <a:srgbClr val="C00000"/>
                </a:solidFill>
                <a:effectLst/>
                <a:latin typeface="-apple-system"/>
              </a:rPr>
              <a:t>字面的含义</a:t>
            </a:r>
            <a:r>
              <a:rPr lang="zh-CN" altLang="en-US" sz="1600" b="0" i="0" dirty="0">
                <a:effectLst/>
                <a:latin typeface="-apple-system"/>
              </a:rPr>
              <a:t>。</a:t>
            </a:r>
            <a:endParaRPr lang="zh-CN" altLang="en-US" sz="1600" dirty="0"/>
          </a:p>
        </p:txBody>
      </p:sp>
      <p:sp>
        <p:nvSpPr>
          <p:cNvPr id="13" name="TextBox 12">
            <a:extLst>
              <a:ext uri="{FF2B5EF4-FFF2-40B4-BE49-F238E27FC236}">
                <a16:creationId xmlns:a16="http://schemas.microsoft.com/office/drawing/2014/main" id="{7817DCA5-A191-95B2-7E93-C23CB4D7213F}"/>
              </a:ext>
            </a:extLst>
          </p:cNvPr>
          <p:cNvSpPr txBox="1"/>
          <p:nvPr/>
        </p:nvSpPr>
        <p:spPr>
          <a:xfrm>
            <a:off x="1140648" y="4642620"/>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2.2.1 </a:t>
            </a:r>
            <a:r>
              <a:rPr lang="zh-CN" altLang="en-US" b="1" i="0" dirty="0">
                <a:solidFill>
                  <a:srgbClr val="0432FF"/>
                </a:solidFill>
                <a:effectLst/>
                <a:latin typeface="-apple-system"/>
              </a:rPr>
              <a:t>否定字符集</a:t>
            </a:r>
          </a:p>
        </p:txBody>
      </p:sp>
      <p:pic>
        <p:nvPicPr>
          <p:cNvPr id="14" name="Picture 13">
            <a:extLst>
              <a:ext uri="{FF2B5EF4-FFF2-40B4-BE49-F238E27FC236}">
                <a16:creationId xmlns:a16="http://schemas.microsoft.com/office/drawing/2014/main" id="{9F2D8818-68BA-2D38-FABD-E26F90D9446C}"/>
              </a:ext>
            </a:extLst>
          </p:cNvPr>
          <p:cNvPicPr>
            <a:picLocks noChangeAspect="1"/>
          </p:cNvPicPr>
          <p:nvPr/>
        </p:nvPicPr>
        <p:blipFill>
          <a:blip r:embed="rId5"/>
          <a:stretch>
            <a:fillRect/>
          </a:stretch>
        </p:blipFill>
        <p:spPr>
          <a:xfrm>
            <a:off x="1140648" y="5781879"/>
            <a:ext cx="4572000" cy="469900"/>
          </a:xfrm>
          <a:prstGeom prst="rect">
            <a:avLst/>
          </a:prstGeom>
        </p:spPr>
      </p:pic>
      <p:sp>
        <p:nvSpPr>
          <p:cNvPr id="16" name="TextBox 15">
            <a:extLst>
              <a:ext uri="{FF2B5EF4-FFF2-40B4-BE49-F238E27FC236}">
                <a16:creationId xmlns:a16="http://schemas.microsoft.com/office/drawing/2014/main" id="{69E30924-30A1-EF84-456B-83EBF75A3255}"/>
              </a:ext>
            </a:extLst>
          </p:cNvPr>
          <p:cNvSpPr txBox="1"/>
          <p:nvPr/>
        </p:nvSpPr>
        <p:spPr>
          <a:xfrm>
            <a:off x="1020569" y="5214567"/>
            <a:ext cx="8786974" cy="338554"/>
          </a:xfrm>
          <a:prstGeom prst="rect">
            <a:avLst/>
          </a:prstGeom>
          <a:noFill/>
        </p:spPr>
        <p:txBody>
          <a:bodyPr wrap="square">
            <a:spAutoFit/>
          </a:bodyPr>
          <a:lstStyle/>
          <a:p>
            <a:r>
              <a:rPr lang="zh-CN" altLang="en-US" sz="1600" b="0" i="0" dirty="0">
                <a:effectLst/>
                <a:latin typeface="-apple-system"/>
              </a:rPr>
              <a:t>一般来说插入字符 </a:t>
            </a:r>
            <a:r>
              <a:rPr lang="en-US" altLang="zh-CN" sz="1600" dirty="0">
                <a:solidFill>
                  <a:srgbClr val="7030A0"/>
                </a:solidFill>
              </a:rPr>
              <a:t>^</a:t>
            </a:r>
            <a:r>
              <a:rPr lang="zh-CN" altLang="en-US" sz="1600" b="0" i="0" dirty="0">
                <a:solidFill>
                  <a:srgbClr val="7030A0"/>
                </a:solidFill>
                <a:effectLst/>
                <a:latin typeface="-apple-system"/>
              </a:rPr>
              <a:t> </a:t>
            </a:r>
            <a:r>
              <a:rPr lang="zh-CN" altLang="en-US" sz="1600" b="0" i="0" dirty="0">
                <a:effectLst/>
                <a:latin typeface="-apple-system"/>
              </a:rPr>
              <a:t>表示一个字符串的开始，但是当它在方括号内出现时，它会取消字符集。</a:t>
            </a:r>
            <a:endParaRPr lang="zh-CN" altLang="en-US" sz="1600" dirty="0"/>
          </a:p>
        </p:txBody>
      </p:sp>
    </p:spTree>
    <p:extLst>
      <p:ext uri="{BB962C8B-B14F-4D97-AF65-F5344CB8AC3E}">
        <p14:creationId xmlns:p14="http://schemas.microsoft.com/office/powerpoint/2010/main" val="209198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10.3 </a:t>
            </a:r>
            <a:r>
              <a:rPr lang="zh-CN" altLang="en-US" dirty="0"/>
              <a:t>正则表达式</a:t>
            </a:r>
            <a:endParaRPr lang="en-US" dirty="0"/>
          </a:p>
        </p:txBody>
      </p:sp>
      <p:sp>
        <p:nvSpPr>
          <p:cNvPr id="4" name="文本框 3"/>
          <p:cNvSpPr txBox="1"/>
          <p:nvPr/>
        </p:nvSpPr>
        <p:spPr>
          <a:xfrm>
            <a:off x="1103382" y="1407934"/>
            <a:ext cx="9982200" cy="4503797"/>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0432FF"/>
                </a:solidFill>
                <a:latin typeface="宋体" panose="02010600030101010101" pitchFamily="2" charset="-122"/>
                <a:ea typeface="宋体" panose="02010600030101010101" pitchFamily="2" charset="-122"/>
              </a:rPr>
              <a:t>字符类</a:t>
            </a:r>
            <a:endParaRPr lang="en-US" altLang="zh-CN" sz="2000" dirty="0">
              <a:solidFill>
                <a:srgbClr val="0432FF"/>
              </a:solidFill>
              <a:latin typeface="宋体" panose="02010600030101010101" pitchFamily="2" charset="-122"/>
              <a:ea typeface="宋体" panose="02010600030101010101" pitchFamily="2" charset="-122"/>
            </a:endParaRPr>
          </a:p>
          <a:p>
            <a:pPr algn="just">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字符类是一个字符集合，如果该字符集合中的任何一个字符被匹配，则它会找到该匹配项。字符类可以在</a:t>
            </a:r>
            <a:r>
              <a:rPr lang="zh-CN" altLang="zh-CN" sz="2000" dirty="0">
                <a:latin typeface="宋体" panose="02010600030101010101" pitchFamily="2" charset="-122"/>
                <a:ea typeface="宋体" panose="02010600030101010101" pitchFamily="2" charset="-122"/>
              </a:rPr>
              <a:t>方括号</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中定义</a:t>
            </a:r>
            <a:endParaRPr lang="en-US" altLang="ja-JP" sz="2000" dirty="0">
              <a:latin typeface="宋体" panose="02010600030101010101" pitchFamily="2" charset="-122"/>
              <a:ea typeface="宋体" panose="02010600030101010101" pitchFamily="2" charset="-122"/>
            </a:endParaRPr>
          </a:p>
          <a:p>
            <a:pPr>
              <a:spcBef>
                <a:spcPts val="1000"/>
              </a:spcBef>
            </a:pPr>
            <a:r>
              <a:rPr lang="zh-CN" altLang="en-US" sz="2000" dirty="0"/>
              <a:t>示例：</a:t>
            </a:r>
            <a:endParaRPr lang="en-US" altLang="zh-CN" sz="2000" dirty="0"/>
          </a:p>
          <a:p>
            <a:pPr>
              <a:spcBef>
                <a:spcPts val="1000"/>
              </a:spcBef>
            </a:pPr>
            <a:r>
              <a:rPr lang="en-US" altLang="zh-CN" sz="2000" dirty="0"/>
              <a:t>               </a:t>
            </a:r>
            <a:r>
              <a:rPr lang="en-US" altLang="zh-CN" sz="2000" dirty="0">
                <a:solidFill>
                  <a:srgbClr val="C00000"/>
                </a:solidFill>
              </a:rPr>
              <a:t>[012345]</a:t>
            </a:r>
            <a:r>
              <a:rPr lang="zh-CN" altLang="en-US" sz="2000" dirty="0"/>
              <a:t>：</a:t>
            </a:r>
            <a:r>
              <a:rPr lang="ja-JP" altLang="zh-CN" sz="2000" dirty="0"/>
              <a:t>匹配数字</a:t>
            </a:r>
            <a:r>
              <a:rPr lang="en-US" altLang="zh-CN" sz="2000" dirty="0"/>
              <a:t>0</a:t>
            </a:r>
            <a:r>
              <a:rPr lang="ja-JP" altLang="zh-CN" sz="2000" dirty="0"/>
              <a:t>到</a:t>
            </a:r>
            <a:r>
              <a:rPr lang="en-US" altLang="zh-CN" sz="2000" dirty="0"/>
              <a:t>5</a:t>
            </a:r>
            <a:r>
              <a:rPr lang="ja-JP" altLang="zh-CN" sz="2000" dirty="0"/>
              <a:t>中的任意一个；</a:t>
            </a:r>
            <a:endParaRPr lang="en-US" altLang="ja-JP" sz="2000" dirty="0"/>
          </a:p>
          <a:p>
            <a:pPr>
              <a:spcBef>
                <a:spcPts val="1000"/>
              </a:spcBef>
            </a:pPr>
            <a:r>
              <a:rPr lang="en-US" altLang="zh-CN" sz="2000" dirty="0"/>
              <a:t>               </a:t>
            </a:r>
            <a:r>
              <a:rPr lang="en-US" altLang="zh-CN" sz="2000" dirty="0">
                <a:solidFill>
                  <a:srgbClr val="C00000"/>
                </a:solidFill>
              </a:rPr>
              <a:t>[0-9]</a:t>
            </a:r>
            <a:r>
              <a:rPr lang="zh-CN" altLang="en-US" sz="2000" dirty="0"/>
              <a:t>：</a:t>
            </a:r>
            <a:r>
              <a:rPr lang="ja-JP" altLang="zh-CN" sz="2000" dirty="0"/>
              <a:t>等价于</a:t>
            </a:r>
            <a:r>
              <a:rPr lang="en-US" altLang="zh-CN" sz="2000" dirty="0"/>
              <a:t>[0123456789]</a:t>
            </a:r>
            <a:r>
              <a:rPr lang="ja-JP" altLang="zh-CN" sz="2000" dirty="0"/>
              <a:t>可匹配任何一个数字；</a:t>
            </a:r>
            <a:endParaRPr lang="en-US" altLang="ja-JP" sz="2000" dirty="0"/>
          </a:p>
          <a:p>
            <a:pPr>
              <a:spcBef>
                <a:spcPts val="1000"/>
              </a:spcBef>
            </a:pPr>
            <a:r>
              <a:rPr lang="en-US" altLang="zh-CN" sz="2000" dirty="0"/>
              <a:t>               </a:t>
            </a:r>
            <a:r>
              <a:rPr lang="en-US" altLang="zh-CN" sz="2000" dirty="0">
                <a:solidFill>
                  <a:srgbClr val="C00000"/>
                </a:solidFill>
              </a:rPr>
              <a:t>[a-z]</a:t>
            </a:r>
            <a:r>
              <a:rPr lang="zh-CN" altLang="en-US" sz="2000" dirty="0"/>
              <a:t>：</a:t>
            </a:r>
            <a:r>
              <a:rPr lang="ja-JP" altLang="zh-CN" sz="2000" dirty="0"/>
              <a:t>匹配任何</a:t>
            </a:r>
            <a:r>
              <a:rPr lang="zh-CN" altLang="zh-CN" sz="2000" dirty="0"/>
              <a:t>一个</a:t>
            </a:r>
            <a:r>
              <a:rPr lang="ja-JP" altLang="zh-CN" sz="2000" dirty="0"/>
              <a:t>小写字母</a:t>
            </a:r>
            <a:r>
              <a:rPr lang="zh-CN" altLang="zh-CN" sz="2000" dirty="0"/>
              <a:t>；</a:t>
            </a:r>
            <a:endParaRPr lang="en-US" altLang="zh-CN" sz="2000" dirty="0"/>
          </a:p>
          <a:p>
            <a:pPr marL="342900" indent="-342900" algn="just">
              <a:spcBef>
                <a:spcPts val="1000"/>
              </a:spcBef>
              <a:buFont typeface="Arial" panose="020B0604020202020204" pitchFamily="34" charset="0"/>
              <a:buChar char="•"/>
            </a:pPr>
            <a:r>
              <a:rPr lang="ja-JP" altLang="zh-CN" sz="2000" dirty="0">
                <a:solidFill>
                  <a:srgbClr val="0432FF"/>
                </a:solidFill>
                <a:latin typeface="宋体" panose="02010600030101010101" pitchFamily="2" charset="-122"/>
                <a:ea typeface="宋体" panose="02010600030101010101" pitchFamily="2" charset="-122"/>
              </a:rPr>
              <a:t>字符转义</a:t>
            </a:r>
            <a:endParaRPr lang="en-US" altLang="ja-JP" sz="2000" dirty="0">
              <a:solidFill>
                <a:srgbClr val="0432FF"/>
              </a:solidFill>
              <a:latin typeface="宋体" panose="02010600030101010101" pitchFamily="2" charset="-122"/>
              <a:ea typeface="宋体" panose="02010600030101010101" pitchFamily="2" charset="-122"/>
            </a:endParaRPr>
          </a:p>
          <a:p>
            <a:pPr algn="just">
              <a:spcBef>
                <a:spcPts val="1000"/>
              </a:spcBef>
            </a:pPr>
            <a:r>
              <a:rPr lang="en-US" altLang="zh-CN" dirty="0"/>
              <a:t>    </a:t>
            </a:r>
            <a:r>
              <a:rPr lang="zh-CN" altLang="zh-CN" sz="2000" dirty="0"/>
              <a:t>在</a:t>
            </a:r>
            <a:r>
              <a:rPr lang="ja-JP" altLang="zh-CN" sz="2000" dirty="0"/>
              <a:t>查找元字符本身的</a:t>
            </a:r>
            <a:r>
              <a:rPr lang="zh-CN" altLang="zh-CN" sz="2000" dirty="0"/>
              <a:t>时</a:t>
            </a:r>
            <a:r>
              <a:rPr lang="ja-JP" altLang="zh-CN" sz="2000" dirty="0"/>
              <a:t>，</a:t>
            </a:r>
            <a:r>
              <a:rPr lang="zh-CN" altLang="zh-CN" sz="2000" dirty="0"/>
              <a:t>例如，</a:t>
            </a:r>
            <a:r>
              <a:rPr lang="ja-JP" altLang="zh-CN" sz="2000" dirty="0"/>
              <a:t>查找</a:t>
            </a:r>
            <a:r>
              <a:rPr lang="en-US" altLang="zh-CN" sz="2000" dirty="0"/>
              <a:t>“.”</a:t>
            </a:r>
            <a:r>
              <a:rPr lang="ja-JP" altLang="zh-CN" sz="2000" dirty="0"/>
              <a:t>或者</a:t>
            </a:r>
            <a:r>
              <a:rPr lang="en-US" altLang="zh-CN" sz="2000" dirty="0"/>
              <a:t>“*”</a:t>
            </a:r>
            <a:r>
              <a:rPr lang="zh-CN" altLang="zh-CN" sz="2000" dirty="0"/>
              <a:t>时，需要</a:t>
            </a:r>
            <a:r>
              <a:rPr lang="ja-JP" altLang="zh-CN" sz="2000" dirty="0"/>
              <a:t>使用</a:t>
            </a:r>
            <a:r>
              <a:rPr lang="en-US" altLang="zh-CN" sz="2000" dirty="0"/>
              <a:t>“\”</a:t>
            </a:r>
            <a:r>
              <a:rPr lang="zh-CN" altLang="zh-CN" sz="2000" dirty="0"/>
              <a:t>转义符</a:t>
            </a:r>
            <a:r>
              <a:rPr lang="ja-JP" altLang="zh-CN" sz="2000" dirty="0"/>
              <a:t>来取消这些字符的特殊意义。</a:t>
            </a:r>
            <a:r>
              <a:rPr lang="zh-CN" altLang="zh-CN" sz="2000" dirty="0"/>
              <a:t>即输入</a:t>
            </a:r>
            <a:r>
              <a:rPr lang="en-US" altLang="zh-CN" sz="2000" dirty="0"/>
              <a:t>“</a:t>
            </a:r>
            <a:r>
              <a:rPr lang="en-US" altLang="zh-CN" sz="2000" dirty="0">
                <a:solidFill>
                  <a:srgbClr val="C00000"/>
                </a:solidFill>
              </a:rPr>
              <a:t>\.</a:t>
            </a:r>
            <a:r>
              <a:rPr lang="en-US" altLang="zh-CN" sz="2000" dirty="0"/>
              <a:t>”</a:t>
            </a:r>
            <a:r>
              <a:rPr lang="ja-JP" altLang="zh-CN" sz="2000" dirty="0"/>
              <a:t>和</a:t>
            </a:r>
            <a:r>
              <a:rPr lang="en-US" altLang="zh-CN" sz="2000" dirty="0"/>
              <a:t>“</a:t>
            </a:r>
            <a:r>
              <a:rPr lang="en-US" altLang="zh-CN" sz="2000" dirty="0">
                <a:solidFill>
                  <a:srgbClr val="C00000"/>
                </a:solidFill>
              </a:rPr>
              <a:t>\*</a:t>
            </a:r>
            <a:r>
              <a:rPr lang="en-US" altLang="zh-CN" sz="2000" dirty="0"/>
              <a:t>”</a:t>
            </a:r>
            <a:r>
              <a:rPr lang="ja-JP" altLang="zh-CN" sz="2000" dirty="0"/>
              <a:t>。</a:t>
            </a:r>
            <a:endParaRPr lang="zh-CN" altLang="zh-CN" sz="2000" dirty="0"/>
          </a:p>
          <a:p>
            <a:pPr marL="342900" indent="-342900" algn="just">
              <a:spcBef>
                <a:spcPts val="1000"/>
              </a:spcBef>
              <a:buFont typeface="Arial" panose="020B0604020202020204" pitchFamily="34" charset="0"/>
              <a:buChar char="•"/>
            </a:pPr>
            <a:endParaRPr lang="zh-CN" altLang="en-US"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5760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10.3 </a:t>
            </a:r>
            <a:r>
              <a:rPr lang="zh-CN" altLang="en-US" dirty="0"/>
              <a:t>正则表达式</a:t>
            </a:r>
            <a:endParaRPr lang="en-US" dirty="0"/>
          </a:p>
        </p:txBody>
      </p:sp>
      <p:sp>
        <p:nvSpPr>
          <p:cNvPr id="4" name="文本框 3"/>
          <p:cNvSpPr txBox="1"/>
          <p:nvPr/>
        </p:nvSpPr>
        <p:spPr>
          <a:xfrm>
            <a:off x="1103382" y="1594592"/>
            <a:ext cx="9982200" cy="1143903"/>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C00000"/>
                </a:solidFill>
                <a:latin typeface="宋体" panose="02010600030101010101" pitchFamily="2" charset="-122"/>
                <a:ea typeface="宋体" panose="02010600030101010101" pitchFamily="2" charset="-122"/>
              </a:rPr>
              <a:t>反义</a:t>
            </a:r>
            <a:endParaRPr lang="en-US" altLang="zh-CN" sz="2000" dirty="0">
              <a:solidFill>
                <a:srgbClr val="C00000"/>
              </a:solidFill>
              <a:latin typeface="宋体" panose="02010600030101010101" pitchFamily="2" charset="-122"/>
              <a:ea typeface="宋体" panose="02010600030101010101" pitchFamily="2" charset="-122"/>
            </a:endParaRPr>
          </a:p>
          <a:p>
            <a:pPr algn="just">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在使用正则表达式时，如果需要匹配不在字符类指定的范围内的字符时，可以使用反义规则</a:t>
            </a:r>
            <a:r>
              <a:rPr lang="zh-CN" altLang="en-US" sz="2000" dirty="0">
                <a:latin typeface="宋体" panose="02010600030101010101" pitchFamily="2" charset="-122"/>
                <a:ea typeface="宋体" panose="02010600030101010101" pitchFamily="2" charset="-122"/>
              </a:rPr>
              <a:t>。</a:t>
            </a:r>
            <a:endParaRPr lang="en-US" altLang="zh-CN" sz="2000" dirty="0"/>
          </a:p>
        </p:txBody>
      </p:sp>
      <p:graphicFrame>
        <p:nvGraphicFramePr>
          <p:cNvPr id="5" name="表格 4"/>
          <p:cNvGraphicFramePr>
            <a:graphicFrameLocks noGrp="1"/>
          </p:cNvGraphicFramePr>
          <p:nvPr>
            <p:extLst>
              <p:ext uri="{D42A27DB-BD31-4B8C-83A1-F6EECF244321}">
                <p14:modId xmlns:p14="http://schemas.microsoft.com/office/powerpoint/2010/main" val="1168972668"/>
              </p:ext>
            </p:extLst>
          </p:nvPr>
        </p:nvGraphicFramePr>
        <p:xfrm>
          <a:off x="1270536" y="3282947"/>
          <a:ext cx="9673388" cy="2809630"/>
        </p:xfrm>
        <a:graphic>
          <a:graphicData uri="http://schemas.openxmlformats.org/drawingml/2006/table">
            <a:tbl>
              <a:tblPr firstRow="1" firstCol="1" bandRow="1"/>
              <a:tblGrid>
                <a:gridCol w="1427615">
                  <a:extLst>
                    <a:ext uri="{9D8B030D-6E8A-4147-A177-3AD203B41FA5}">
                      <a16:colId xmlns:a16="http://schemas.microsoft.com/office/drawing/2014/main" val="3255448366"/>
                    </a:ext>
                  </a:extLst>
                </a:gridCol>
                <a:gridCol w="8245773">
                  <a:extLst>
                    <a:ext uri="{9D8B030D-6E8A-4147-A177-3AD203B41FA5}">
                      <a16:colId xmlns:a16="http://schemas.microsoft.com/office/drawing/2014/main" val="187321714"/>
                    </a:ext>
                  </a:extLst>
                </a:gridCol>
              </a:tblGrid>
              <a:tr h="536659">
                <a:tc>
                  <a:txBody>
                    <a:bodyPr/>
                    <a:lstStyle/>
                    <a:p>
                      <a:pPr indent="19685" algn="ctr">
                        <a:lnSpc>
                          <a:spcPts val="1900"/>
                        </a:lnSpc>
                        <a:spcAft>
                          <a:spcPts val="0"/>
                        </a:spcAft>
                      </a:pPr>
                      <a:r>
                        <a:rPr lang="zh-CN" sz="2000" b="0" kern="100" dirty="0">
                          <a:solidFill>
                            <a:srgbClr val="0432FF"/>
                          </a:solidFill>
                          <a:effectLst/>
                          <a:latin typeface="Microsoft YaHei" panose="020B0503020204020204" pitchFamily="34" charset="-122"/>
                          <a:ea typeface="Microsoft YaHei" panose="020B0503020204020204" pitchFamily="34" charset="-122"/>
                          <a:cs typeface="Arial" panose="020B0604020202020204" pitchFamily="34" charset="0"/>
                        </a:rPr>
                        <a:t>字符</a:t>
                      </a:r>
                      <a:endParaRPr lang="zh-CN" sz="2000" b="0" kern="100" dirty="0">
                        <a:solidFill>
                          <a:srgbClr val="0432FF"/>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indent="19685" algn="ctr">
                        <a:lnSpc>
                          <a:spcPts val="1900"/>
                        </a:lnSpc>
                        <a:spcAft>
                          <a:spcPts val="0"/>
                        </a:spcAft>
                      </a:pPr>
                      <a:r>
                        <a:rPr lang="zh-CN" sz="2000" b="0" kern="100" dirty="0">
                          <a:solidFill>
                            <a:srgbClr val="0432FF"/>
                          </a:solidFill>
                          <a:effectLst/>
                          <a:latin typeface="Microsoft YaHei" panose="020B0503020204020204" pitchFamily="34" charset="-122"/>
                          <a:ea typeface="Microsoft YaHei" panose="020B0503020204020204" pitchFamily="34" charset="-122"/>
                          <a:cs typeface="Arial" panose="020B0604020202020204" pitchFamily="34" charset="0"/>
                        </a:rPr>
                        <a:t>功能说明</a:t>
                      </a:r>
                      <a:endParaRPr lang="zh-CN" sz="2000" b="0" kern="100" dirty="0">
                        <a:solidFill>
                          <a:srgbClr val="0432FF"/>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633266946"/>
                  </a:ext>
                </a:extLst>
              </a:tr>
              <a:tr h="662994">
                <a:tc>
                  <a:txBody>
                    <a:bodyPr/>
                    <a:lstStyle/>
                    <a:p>
                      <a:pPr indent="228600" algn="ctr">
                        <a:lnSpc>
                          <a:spcPts val="1900"/>
                        </a:lnSpc>
                        <a:spcAft>
                          <a:spcPts val="0"/>
                        </a:spcAft>
                      </a:pPr>
                      <a:r>
                        <a:rPr lang="en-US" sz="2000" b="0" kern="100" dirty="0">
                          <a:solidFill>
                            <a:srgbClr val="C00000"/>
                          </a:solidFill>
                          <a:effectLst/>
                          <a:latin typeface="Arial" panose="020B0604020202020204" pitchFamily="34" charset="0"/>
                          <a:ea typeface="Menlo" panose="020B0609030804020204" pitchFamily="49" charset="0"/>
                          <a:cs typeface="Arial" panose="020B0604020202020204" pitchFamily="34" charset="0"/>
                        </a:rPr>
                        <a:t>\W</a:t>
                      </a:r>
                      <a:endParaRPr lang="zh-CN" sz="2000" b="0" kern="100" dirty="0">
                        <a:solidFill>
                          <a:srgbClr val="C00000"/>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匹配任意不是字母</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数字</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下划线</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汉字的字符，与</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\w</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含义相反，即</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r>
                        <a:rPr lang="en-US" sz="2000" b="0" i="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a-zA-Z0-9</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a:t>
                      </a:r>
                      <a:endPar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6156840"/>
                  </a:ext>
                </a:extLst>
              </a:tr>
              <a:tr h="536659">
                <a:tc>
                  <a:txBody>
                    <a:bodyPr/>
                    <a:lstStyle/>
                    <a:p>
                      <a:pPr indent="228600" algn="ctr">
                        <a:lnSpc>
                          <a:spcPts val="1900"/>
                        </a:lnSpc>
                        <a:spcAft>
                          <a:spcPts val="0"/>
                        </a:spcAft>
                      </a:pPr>
                      <a:r>
                        <a:rPr lang="en-US" sz="2000" b="0" kern="100" dirty="0">
                          <a:solidFill>
                            <a:srgbClr val="C00000"/>
                          </a:solidFill>
                          <a:effectLst/>
                          <a:latin typeface="Arial" panose="020B0604020202020204" pitchFamily="34" charset="0"/>
                          <a:ea typeface="Menlo" panose="020B0609030804020204" pitchFamily="49" charset="0"/>
                          <a:cs typeface="Arial" panose="020B0604020202020204" pitchFamily="34" charset="0"/>
                        </a:rPr>
                        <a:t>\S</a:t>
                      </a:r>
                      <a:endParaRPr lang="zh-CN" sz="2000" b="0" kern="100" dirty="0">
                        <a:solidFill>
                          <a:srgbClr val="C00000"/>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匹配任意不是空白符的字符，与</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\s</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含义相反</a:t>
                      </a:r>
                      <a:endPar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8006657"/>
                  </a:ext>
                </a:extLst>
              </a:tr>
              <a:tr h="536659">
                <a:tc>
                  <a:txBody>
                    <a:bodyPr/>
                    <a:lstStyle/>
                    <a:p>
                      <a:pPr indent="228600" algn="ctr">
                        <a:lnSpc>
                          <a:spcPts val="1900"/>
                        </a:lnSpc>
                        <a:spcAft>
                          <a:spcPts val="0"/>
                        </a:spcAft>
                      </a:pPr>
                      <a:r>
                        <a:rPr lang="en-US" sz="2000" b="0" kern="100" dirty="0">
                          <a:solidFill>
                            <a:srgbClr val="C00000"/>
                          </a:solidFill>
                          <a:effectLst/>
                          <a:latin typeface="Arial" panose="020B0604020202020204" pitchFamily="34" charset="0"/>
                          <a:ea typeface="Menlo" panose="020B0609030804020204" pitchFamily="49" charset="0"/>
                          <a:cs typeface="Arial" panose="020B0604020202020204" pitchFamily="34" charset="0"/>
                        </a:rPr>
                        <a:t>\D</a:t>
                      </a:r>
                      <a:endParaRPr lang="zh-CN" sz="2000" b="0" kern="100" dirty="0">
                        <a:solidFill>
                          <a:srgbClr val="C00000"/>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匹配任意非数字的字符，与</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\d</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含义相反，相当于</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[^0-9]</a:t>
                      </a:r>
                      <a:endPar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351697"/>
                  </a:ext>
                </a:extLst>
              </a:tr>
              <a:tr h="536659">
                <a:tc>
                  <a:txBody>
                    <a:bodyPr/>
                    <a:lstStyle/>
                    <a:p>
                      <a:pPr indent="228600" algn="ctr">
                        <a:lnSpc>
                          <a:spcPts val="1900"/>
                        </a:lnSpc>
                        <a:spcAft>
                          <a:spcPts val="0"/>
                        </a:spcAft>
                      </a:pPr>
                      <a:r>
                        <a:rPr lang="en-US" sz="2000" b="0" kern="100" dirty="0">
                          <a:solidFill>
                            <a:srgbClr val="C00000"/>
                          </a:solidFill>
                          <a:effectLst/>
                          <a:latin typeface="Arial" panose="020B0604020202020204" pitchFamily="34" charset="0"/>
                          <a:ea typeface="Menlo" panose="020B0609030804020204" pitchFamily="49" charset="0"/>
                          <a:cs typeface="Arial" panose="020B0604020202020204" pitchFamily="34" charset="0"/>
                        </a:rPr>
                        <a:t>\B</a:t>
                      </a:r>
                      <a:endParaRPr lang="zh-CN" sz="2000" b="0" kern="100" dirty="0">
                        <a:solidFill>
                          <a:srgbClr val="C00000"/>
                        </a:solidFill>
                        <a:effectLst/>
                        <a:latin typeface="Arial" panose="020B0604020202020204" pitchFamily="34" charset="0"/>
                        <a:ea typeface="SimSun" panose="02010600030101010101" pitchFamily="2" charset="-122"/>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09855" algn="just">
                        <a:lnSpc>
                          <a:spcPts val="1900"/>
                        </a:lnSpc>
                        <a:spcAft>
                          <a:spcPts val="0"/>
                        </a:spcAft>
                      </a:pP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匹配不是单词开头或结束的位置，与</a:t>
                      </a:r>
                      <a:r>
                        <a:rPr lang="en-US"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\b</a:t>
                      </a:r>
                      <a:r>
                        <a:rPr lang="zh-CN" sz="2000" b="0" kern="100" dirty="0">
                          <a:solidFill>
                            <a:schemeClr val="tx1"/>
                          </a:solidFill>
                          <a:effectLst/>
                          <a:latin typeface="Times New Roman" panose="02020603050405020304" pitchFamily="18" charset="0"/>
                          <a:ea typeface="宋体" panose="02010600030101010101" pitchFamily="2" charset="-122"/>
                          <a:cs typeface="Arial" panose="020B0604020202020204" pitchFamily="34" charset="0"/>
                        </a:rPr>
                        <a:t>含义相反</a:t>
                      </a:r>
                      <a:endParaRPr lang="zh-CN" sz="2000" b="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5657163"/>
                  </a:ext>
                </a:extLst>
              </a:tr>
            </a:tbl>
          </a:graphicData>
        </a:graphic>
      </p:graphicFrame>
      <p:sp>
        <p:nvSpPr>
          <p:cNvPr id="6" name="文本框 5"/>
          <p:cNvSpPr txBox="1"/>
          <p:nvPr/>
        </p:nvSpPr>
        <p:spPr>
          <a:xfrm>
            <a:off x="5195299" y="2786609"/>
            <a:ext cx="1801402"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常用反义字符</a:t>
            </a:r>
          </a:p>
        </p:txBody>
      </p:sp>
    </p:spTree>
    <p:extLst>
      <p:ext uri="{BB962C8B-B14F-4D97-AF65-F5344CB8AC3E}">
        <p14:creationId xmlns:p14="http://schemas.microsoft.com/office/powerpoint/2010/main" val="1077745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10.3 </a:t>
            </a:r>
            <a:r>
              <a:rPr lang="zh-CN" altLang="en-US" dirty="0"/>
              <a:t>正则表达式</a:t>
            </a:r>
            <a:endParaRPr lang="en-US" dirty="0"/>
          </a:p>
        </p:txBody>
      </p:sp>
      <p:sp>
        <p:nvSpPr>
          <p:cNvPr id="4" name="文本框 3"/>
          <p:cNvSpPr txBox="1"/>
          <p:nvPr/>
        </p:nvSpPr>
        <p:spPr>
          <a:xfrm>
            <a:off x="1104900" y="1320828"/>
            <a:ext cx="9982200" cy="1451679"/>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C00000"/>
                </a:solidFill>
                <a:latin typeface="宋体" panose="02010600030101010101" pitchFamily="2" charset="-122"/>
                <a:ea typeface="宋体" panose="02010600030101010101" pitchFamily="2" charset="-122"/>
              </a:rPr>
              <a:t>限定符</a:t>
            </a:r>
            <a:r>
              <a:rPr lang="en-US" altLang="ja-JP" sz="2000" dirty="0">
                <a:latin typeface="宋体" panose="02010600030101010101" pitchFamily="2" charset="-122"/>
                <a:ea typeface="宋体" panose="02010600030101010101" pitchFamily="2" charset="-122"/>
              </a:rPr>
              <a:t>  </a:t>
            </a:r>
          </a:p>
          <a:p>
            <a:pPr algn="just">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正则表达式的元字符一次只能匹配一个位置或一个字符，如果需要匹配零个一个或多个字符时，则需要使用限定符。限定符用于指定允许特定字符或字符集自身重复出现的次数。</a:t>
            </a:r>
            <a:endParaRPr lang="en-US" altLang="zh-CN" sz="2000" dirty="0">
              <a:latin typeface="宋体" panose="02010600030101010101" pitchFamily="2" charset="-122"/>
              <a:ea typeface="宋体" panose="02010600030101010101" pitchFamily="2" charset="-122"/>
            </a:endParaRPr>
          </a:p>
        </p:txBody>
      </p:sp>
      <p:sp>
        <p:nvSpPr>
          <p:cNvPr id="6" name="文本框 5"/>
          <p:cNvSpPr txBox="1"/>
          <p:nvPr/>
        </p:nvSpPr>
        <p:spPr>
          <a:xfrm>
            <a:off x="5194540" y="2538737"/>
            <a:ext cx="1801402"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常用限定符</a:t>
            </a: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1327991825"/>
                  </p:ext>
                </p:extLst>
              </p:nvPr>
            </p:nvGraphicFramePr>
            <p:xfrm>
              <a:off x="1567721" y="2938847"/>
              <a:ext cx="9055039" cy="3556960"/>
            </p:xfrm>
            <a:graphic>
              <a:graphicData uri="http://schemas.openxmlformats.org/drawingml/2006/table">
                <a:tbl>
                  <a:tblPr firstRow="1" firstCol="1" bandRow="1"/>
                  <a:tblGrid>
                    <a:gridCol w="1392665">
                      <a:extLst>
                        <a:ext uri="{9D8B030D-6E8A-4147-A177-3AD203B41FA5}">
                          <a16:colId xmlns:a16="http://schemas.microsoft.com/office/drawing/2014/main" val="848725108"/>
                        </a:ext>
                      </a:extLst>
                    </a:gridCol>
                    <a:gridCol w="7662374">
                      <a:extLst>
                        <a:ext uri="{9D8B030D-6E8A-4147-A177-3AD203B41FA5}">
                          <a16:colId xmlns:a16="http://schemas.microsoft.com/office/drawing/2014/main" val="2927661282"/>
                        </a:ext>
                      </a:extLst>
                    </a:gridCol>
                  </a:tblGrid>
                  <a:tr h="355696">
                    <a:tc>
                      <a:txBody>
                        <a:bodyPr/>
                        <a:lstStyle/>
                        <a:p>
                          <a:pPr indent="-8255" algn="ctr">
                            <a:lnSpc>
                              <a:spcPts val="1900"/>
                            </a:lnSpc>
                            <a:spcAft>
                              <a:spcPts val="0"/>
                            </a:spcAft>
                          </a:pPr>
                          <a:r>
                            <a:rPr lang="zh-CN" sz="2000" b="0" kern="100" dirty="0">
                              <a:solidFill>
                                <a:srgbClr val="C00000"/>
                              </a:solidFill>
                              <a:effectLst/>
                              <a:latin typeface="Microsoft YaHei" panose="020B0503020204020204" pitchFamily="34" charset="-122"/>
                              <a:ea typeface="Microsoft YaHei" panose="020B0503020204020204" pitchFamily="34" charset="-122"/>
                              <a:cs typeface="Arial" panose="020B0604020202020204" pitchFamily="34" charset="0"/>
                            </a:rPr>
                            <a:t>字符</a:t>
                          </a:r>
                          <a:endParaRPr lang="zh-CN" sz="2000" b="0" kern="10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indent="-8255" algn="ctr">
                            <a:lnSpc>
                              <a:spcPts val="1900"/>
                            </a:lnSpc>
                            <a:spcAft>
                              <a:spcPts val="0"/>
                            </a:spcAft>
                          </a:pPr>
                          <a:r>
                            <a:rPr lang="zh-CN" sz="2000" b="0" kern="100" dirty="0">
                              <a:solidFill>
                                <a:srgbClr val="C00000"/>
                              </a:solidFill>
                              <a:effectLst/>
                              <a:latin typeface="Microsoft YaHei" panose="020B0503020204020204" pitchFamily="34" charset="-122"/>
                              <a:ea typeface="Microsoft YaHei" panose="020B0503020204020204" pitchFamily="34" charset="-122"/>
                              <a:cs typeface="Arial" panose="020B0604020202020204" pitchFamily="34" charset="0"/>
                            </a:rPr>
                            <a:t>功能说明</a:t>
                          </a:r>
                          <a:endParaRPr lang="zh-CN" sz="2000" b="0" kern="10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66947125"/>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匹配前面的子表达式零次或多次。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2051785"/>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匹配前面的子表达式一次或多次。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374504"/>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匹配前面的子表达式零次或一次。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5315692"/>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zh-CN"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尽可能少的使用重复的第一个匹配</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1272659"/>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zh-CN"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尽可能少的使用重复但至少使用一次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072937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如果有可能使用零次重复或一次重复。</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5410329"/>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{n}</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是一个非负整数，匹配确定的</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408624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{n,}</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是一个非负整数，至少匹配</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22537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en-US" sz="2000" b="1" kern="100" dirty="0" err="1">
                              <a:solidFill>
                                <a:srgbClr val="0432FF"/>
                              </a:solidFill>
                              <a:effectLst/>
                              <a:latin typeface="宋体" panose="02010600030101010101" pitchFamily="2" charset="-122"/>
                              <a:ea typeface="宋体" panose="02010600030101010101" pitchFamily="2" charset="-122"/>
                              <a:cs typeface="Arial" panose="020B0604020202020204" pitchFamily="34" charset="0"/>
                            </a:rPr>
                            <a:t>n,m</a:t>
                          </a: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m</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和</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均为非负整数，其中</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14:m>
                            <m:oMath xmlns:m="http://schemas.openxmlformats.org/officeDocument/2006/math">
                              <m:r>
                                <a:rPr lang="en-US" sz="1800" b="0" kern="100">
                                  <a:solidFill>
                                    <a:srgbClr val="000000"/>
                                  </a:solidFill>
                                  <a:effectLst/>
                                  <a:latin typeface="Cambria Math" panose="02040503050406030204" pitchFamily="18" charset="0"/>
                                  <a:ea typeface="宋体" panose="02010600030101010101" pitchFamily="2" charset="-122"/>
                                  <a:cs typeface="Arial" panose="020B0604020202020204" pitchFamily="34" charset="0"/>
                                </a:rPr>
                                <m:t>≤</m:t>
                              </m:r>
                            </m:oMath>
                          </a14:m>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m</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。最少匹配</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次且最多匹配</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m</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085185"/>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1327991825"/>
                  </p:ext>
                </p:extLst>
              </p:nvPr>
            </p:nvGraphicFramePr>
            <p:xfrm>
              <a:off x="1567721" y="2938847"/>
              <a:ext cx="9055039" cy="3556960"/>
            </p:xfrm>
            <a:graphic>
              <a:graphicData uri="http://schemas.openxmlformats.org/drawingml/2006/table">
                <a:tbl>
                  <a:tblPr firstRow="1" firstCol="1" bandRow="1"/>
                  <a:tblGrid>
                    <a:gridCol w="1392665">
                      <a:extLst>
                        <a:ext uri="{9D8B030D-6E8A-4147-A177-3AD203B41FA5}">
                          <a16:colId xmlns:a16="http://schemas.microsoft.com/office/drawing/2014/main" val="848725108"/>
                        </a:ext>
                      </a:extLst>
                    </a:gridCol>
                    <a:gridCol w="7662374">
                      <a:extLst>
                        <a:ext uri="{9D8B030D-6E8A-4147-A177-3AD203B41FA5}">
                          <a16:colId xmlns:a16="http://schemas.microsoft.com/office/drawing/2014/main" val="2927661282"/>
                        </a:ext>
                      </a:extLst>
                    </a:gridCol>
                  </a:tblGrid>
                  <a:tr h="355696">
                    <a:tc>
                      <a:txBody>
                        <a:bodyPr/>
                        <a:lstStyle/>
                        <a:p>
                          <a:pPr indent="-8255" algn="ctr">
                            <a:lnSpc>
                              <a:spcPts val="1900"/>
                            </a:lnSpc>
                            <a:spcAft>
                              <a:spcPts val="0"/>
                            </a:spcAft>
                          </a:pPr>
                          <a:r>
                            <a:rPr lang="zh-CN" sz="2000" b="0" kern="100" dirty="0">
                              <a:solidFill>
                                <a:srgbClr val="C00000"/>
                              </a:solidFill>
                              <a:effectLst/>
                              <a:latin typeface="Microsoft YaHei" panose="020B0503020204020204" pitchFamily="34" charset="-122"/>
                              <a:ea typeface="Microsoft YaHei" panose="020B0503020204020204" pitchFamily="34" charset="-122"/>
                              <a:cs typeface="Arial" panose="020B0604020202020204" pitchFamily="34" charset="0"/>
                            </a:rPr>
                            <a:t>字符</a:t>
                          </a:r>
                          <a:endParaRPr lang="zh-CN" sz="2000" b="0" kern="10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indent="-8255" algn="ctr">
                            <a:lnSpc>
                              <a:spcPts val="1900"/>
                            </a:lnSpc>
                            <a:spcAft>
                              <a:spcPts val="0"/>
                            </a:spcAft>
                          </a:pPr>
                          <a:r>
                            <a:rPr lang="zh-CN" sz="2000" b="0" kern="100" dirty="0">
                              <a:solidFill>
                                <a:srgbClr val="C00000"/>
                              </a:solidFill>
                              <a:effectLst/>
                              <a:latin typeface="Microsoft YaHei" panose="020B0503020204020204" pitchFamily="34" charset="-122"/>
                              <a:ea typeface="Microsoft YaHei" panose="020B0503020204020204" pitchFamily="34" charset="-122"/>
                              <a:cs typeface="Arial" panose="020B0604020202020204" pitchFamily="34" charset="0"/>
                            </a:rPr>
                            <a:t>功能说明</a:t>
                          </a:r>
                          <a:endParaRPr lang="zh-CN" sz="2000" b="0" kern="100" dirty="0">
                            <a:solidFill>
                              <a:srgbClr val="C00000"/>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66947125"/>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匹配前面的子表达式零次或多次。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2051785"/>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匹配前面的子表达式一次或多次。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8374504"/>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匹配前面的子表达式零次或一次。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5315692"/>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zh-CN"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尽可能少的使用重复的第一个匹配</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1272659"/>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zh-CN"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尽可能少的使用重复但至少使用一次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072937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如果有可能使用零次重复或一次重复。</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5410329"/>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{n}</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是一个非负整数，匹配确定的</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408624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{n,}</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lnSpc>
                              <a:spcPts val="1900"/>
                            </a:lnSpc>
                            <a:spcAft>
                              <a:spcPts val="0"/>
                            </a:spcAft>
                          </a:pP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是一个非负整数，至少匹配</a:t>
                          </a:r>
                          <a:r>
                            <a:rPr lang="en-US"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n</a:t>
                          </a:r>
                          <a:r>
                            <a:rPr lang="zh-CN" sz="1800" b="0" kern="100" dirty="0">
                              <a:solidFill>
                                <a:srgbClr val="000000"/>
                              </a:solidFill>
                              <a:effectLst/>
                              <a:latin typeface="SimSun" panose="02010600030101010101" pitchFamily="2" charset="-122"/>
                              <a:ea typeface="SimSun" panose="02010600030101010101" pitchFamily="2" charset="-122"/>
                              <a:cs typeface="Arial" panose="020B0604020202020204" pitchFamily="34" charset="0"/>
                            </a:rPr>
                            <a:t>次</a:t>
                          </a:r>
                          <a:endParaRPr lang="zh-CN" sz="1800" b="0" kern="100" dirty="0">
                            <a:solidFill>
                              <a:srgbClr val="000000"/>
                            </a:solidFill>
                            <a:effectLst/>
                            <a:latin typeface="SimSun" panose="02010600030101010101" pitchFamily="2" charset="-122"/>
                            <a:ea typeface="SimSun"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225371"/>
                      </a:ext>
                    </a:extLst>
                  </a:tr>
                  <a:tr h="355696">
                    <a:tc>
                      <a:txBody>
                        <a:bodyPr/>
                        <a:lstStyle/>
                        <a:p>
                          <a:pPr indent="127000" algn="ctr">
                            <a:lnSpc>
                              <a:spcPts val="1900"/>
                            </a:lnSpc>
                            <a:spcAft>
                              <a:spcPts val="0"/>
                            </a:spcAft>
                          </a:pP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r>
                            <a:rPr lang="en-US" sz="2000" b="1" kern="100" dirty="0" err="1">
                              <a:solidFill>
                                <a:srgbClr val="0432FF"/>
                              </a:solidFill>
                              <a:effectLst/>
                              <a:latin typeface="宋体" panose="02010600030101010101" pitchFamily="2" charset="-122"/>
                              <a:ea typeface="宋体" panose="02010600030101010101" pitchFamily="2" charset="-122"/>
                              <a:cs typeface="Arial" panose="020B0604020202020204" pitchFamily="34" charset="0"/>
                            </a:rPr>
                            <a:t>n,m</a:t>
                          </a:r>
                          <a:r>
                            <a:rPr lang="en-US" sz="2000" b="1" kern="100" dirty="0">
                              <a:solidFill>
                                <a:srgbClr val="0432FF"/>
                              </a:solidFill>
                              <a:effectLst/>
                              <a:latin typeface="宋体" panose="02010600030101010101" pitchFamily="2" charset="-122"/>
                              <a:ea typeface="宋体" panose="02010600030101010101" pitchFamily="2" charset="-122"/>
                              <a:cs typeface="Arial" panose="020B0604020202020204" pitchFamily="34" charset="0"/>
                            </a:rPr>
                            <a:t>}</a:t>
                          </a:r>
                          <a:endParaRPr lang="zh-CN" sz="2000" b="1" kern="100" dirty="0">
                            <a:solidFill>
                              <a:srgbClr val="0432FF"/>
                            </a:solidFill>
                            <a:effectLst/>
                            <a:latin typeface="宋体" panose="02010600030101010101" pitchFamily="2" charset="-122"/>
                            <a:ea typeface="宋体" panose="02010600030101010101" pitchFamily="2" charset="-122"/>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CN"/>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8377" t="-928571" r="-166" b="-28571"/>
                          </a:stretch>
                        </a:blipFill>
                      </a:tcPr>
                    </a:tc>
                    <a:extLst>
                      <a:ext uri="{0D108BD9-81ED-4DB2-BD59-A6C34878D82A}">
                        <a16:rowId xmlns:a16="http://schemas.microsoft.com/office/drawing/2014/main" val="359085185"/>
                      </a:ext>
                    </a:extLst>
                  </a:tr>
                </a:tbl>
              </a:graphicData>
            </a:graphic>
          </p:graphicFrame>
        </mc:Fallback>
      </mc:AlternateContent>
    </p:spTree>
    <p:extLst>
      <p:ext uri="{BB962C8B-B14F-4D97-AF65-F5344CB8AC3E}">
        <p14:creationId xmlns:p14="http://schemas.microsoft.com/office/powerpoint/2010/main" val="2912909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CF0414-DACE-FFDD-D65C-07EACBDD16BF}"/>
              </a:ext>
            </a:extLst>
          </p:cNvPr>
          <p:cNvSpPr txBox="1"/>
          <p:nvPr/>
        </p:nvSpPr>
        <p:spPr>
          <a:xfrm>
            <a:off x="1055669" y="832475"/>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2.3 </a:t>
            </a:r>
            <a:r>
              <a:rPr lang="zh-CN" altLang="en-US" b="1" i="0" dirty="0">
                <a:solidFill>
                  <a:srgbClr val="0432FF"/>
                </a:solidFill>
                <a:effectLst/>
                <a:latin typeface="-apple-system"/>
              </a:rPr>
              <a:t>重复</a:t>
            </a:r>
          </a:p>
        </p:txBody>
      </p:sp>
      <p:sp>
        <p:nvSpPr>
          <p:cNvPr id="5" name="TextBox 4">
            <a:extLst>
              <a:ext uri="{FF2B5EF4-FFF2-40B4-BE49-F238E27FC236}">
                <a16:creationId xmlns:a16="http://schemas.microsoft.com/office/drawing/2014/main" id="{4F33945E-FCCD-975D-E71A-9C9F181E5E03}"/>
              </a:ext>
            </a:extLst>
          </p:cNvPr>
          <p:cNvSpPr txBox="1"/>
          <p:nvPr/>
        </p:nvSpPr>
        <p:spPr>
          <a:xfrm>
            <a:off x="1055669" y="1294812"/>
            <a:ext cx="6097712" cy="369332"/>
          </a:xfrm>
          <a:prstGeom prst="rect">
            <a:avLst/>
          </a:prstGeom>
          <a:noFill/>
        </p:spPr>
        <p:txBody>
          <a:bodyPr wrap="square">
            <a:spAutoFit/>
          </a:bodyPr>
          <a:lstStyle/>
          <a:p>
            <a:pPr algn="l"/>
            <a:r>
              <a:rPr lang="en-US" altLang="zh-CN" b="1" i="0">
                <a:solidFill>
                  <a:srgbClr val="0432FF"/>
                </a:solidFill>
                <a:effectLst/>
                <a:latin typeface="-apple-system"/>
              </a:rPr>
              <a:t>2.3.1 </a:t>
            </a:r>
            <a:r>
              <a:rPr lang="zh-CN" altLang="en-US" b="1" i="0">
                <a:solidFill>
                  <a:srgbClr val="0432FF"/>
                </a:solidFill>
                <a:effectLst/>
                <a:latin typeface="-apple-system"/>
              </a:rPr>
              <a:t>星号</a:t>
            </a:r>
            <a:endParaRPr lang="zh-CN" altLang="en-US" b="1" i="0" dirty="0">
              <a:solidFill>
                <a:srgbClr val="0432FF"/>
              </a:solidFill>
              <a:effectLst/>
              <a:latin typeface="-apple-system"/>
            </a:endParaRPr>
          </a:p>
        </p:txBody>
      </p:sp>
      <p:sp>
        <p:nvSpPr>
          <p:cNvPr id="7" name="TextBox 6">
            <a:extLst>
              <a:ext uri="{FF2B5EF4-FFF2-40B4-BE49-F238E27FC236}">
                <a16:creationId xmlns:a16="http://schemas.microsoft.com/office/drawing/2014/main" id="{E69B19CD-42BB-D7A1-18C2-0594D010D5DA}"/>
              </a:ext>
            </a:extLst>
          </p:cNvPr>
          <p:cNvSpPr txBox="1"/>
          <p:nvPr/>
        </p:nvSpPr>
        <p:spPr>
          <a:xfrm>
            <a:off x="1081068" y="1757149"/>
            <a:ext cx="10441113" cy="338554"/>
          </a:xfrm>
          <a:prstGeom prst="rect">
            <a:avLst/>
          </a:prstGeom>
          <a:noFill/>
        </p:spPr>
        <p:txBody>
          <a:bodyPr wrap="square">
            <a:spAutoFit/>
          </a:bodyPr>
          <a:lstStyle/>
          <a:p>
            <a:r>
              <a:rPr lang="zh-CN" altLang="en-US" sz="1600" b="0" i="0" dirty="0">
                <a:effectLst/>
                <a:latin typeface="-apple-system"/>
              </a:rPr>
              <a:t>星号 </a:t>
            </a:r>
            <a:r>
              <a:rPr lang="zh-CN" altLang="en-US" sz="1600" dirty="0">
                <a:solidFill>
                  <a:srgbClr val="7030A0"/>
                </a:solidFill>
              </a:rPr>
              <a:t>*</a:t>
            </a:r>
            <a:r>
              <a:rPr lang="zh-CN" altLang="en-US" sz="1600" b="0" i="0" dirty="0">
                <a:effectLst/>
                <a:latin typeface="-apple-system"/>
              </a:rPr>
              <a:t> 表示匹配上一个匹配规则零次或多次。正则表达式 </a:t>
            </a:r>
            <a:r>
              <a:rPr lang="en-US" sz="1600" dirty="0">
                <a:solidFill>
                  <a:srgbClr val="7030A0"/>
                </a:solidFill>
              </a:rPr>
              <a:t>a*</a:t>
            </a:r>
            <a:r>
              <a:rPr lang="en-US" sz="1600" b="0" i="0" dirty="0">
                <a:solidFill>
                  <a:srgbClr val="7030A0"/>
                </a:solidFill>
                <a:effectLst/>
                <a:latin typeface="-apple-system"/>
              </a:rPr>
              <a:t> </a:t>
            </a:r>
            <a:r>
              <a:rPr lang="zh-CN" altLang="en-US" sz="1600" b="0" i="0" dirty="0">
                <a:effectLst/>
                <a:latin typeface="-apple-system"/>
              </a:rPr>
              <a:t>表示小写字母 </a:t>
            </a:r>
            <a:r>
              <a:rPr lang="en-US" sz="1600" dirty="0">
                <a:solidFill>
                  <a:srgbClr val="7030A0"/>
                </a:solidFill>
              </a:rPr>
              <a:t>a</a:t>
            </a:r>
            <a:r>
              <a:rPr lang="en-US" sz="1600" b="0" i="0" dirty="0">
                <a:solidFill>
                  <a:srgbClr val="7030A0"/>
                </a:solidFill>
                <a:effectLst/>
                <a:latin typeface="-apple-system"/>
              </a:rPr>
              <a:t> </a:t>
            </a:r>
            <a:r>
              <a:rPr lang="zh-CN" altLang="en-US" sz="1600" b="0" i="0" dirty="0">
                <a:effectLst/>
                <a:latin typeface="-apple-system"/>
              </a:rPr>
              <a:t>可以重复零次或者多次。</a:t>
            </a:r>
            <a:endParaRPr lang="zh-CN" altLang="en-US" sz="1600" dirty="0"/>
          </a:p>
        </p:txBody>
      </p:sp>
      <p:pic>
        <p:nvPicPr>
          <p:cNvPr id="9" name="Picture 8">
            <a:extLst>
              <a:ext uri="{FF2B5EF4-FFF2-40B4-BE49-F238E27FC236}">
                <a16:creationId xmlns:a16="http://schemas.microsoft.com/office/drawing/2014/main" id="{C7CAB17E-86B9-D0AF-7B5E-4E5394C4456B}"/>
              </a:ext>
            </a:extLst>
          </p:cNvPr>
          <p:cNvPicPr>
            <a:picLocks noChangeAspect="1"/>
          </p:cNvPicPr>
          <p:nvPr/>
        </p:nvPicPr>
        <p:blipFill>
          <a:blip r:embed="rId2"/>
          <a:stretch>
            <a:fillRect/>
          </a:stretch>
        </p:blipFill>
        <p:spPr>
          <a:xfrm>
            <a:off x="1081068" y="2690480"/>
            <a:ext cx="5080000" cy="495300"/>
          </a:xfrm>
          <a:prstGeom prst="rect">
            <a:avLst/>
          </a:prstGeom>
        </p:spPr>
      </p:pic>
      <p:sp>
        <p:nvSpPr>
          <p:cNvPr id="11" name="TextBox 10">
            <a:extLst>
              <a:ext uri="{FF2B5EF4-FFF2-40B4-BE49-F238E27FC236}">
                <a16:creationId xmlns:a16="http://schemas.microsoft.com/office/drawing/2014/main" id="{5A53D2CF-1628-100D-76F9-360B3AF83A46}"/>
              </a:ext>
            </a:extLst>
          </p:cNvPr>
          <p:cNvSpPr txBox="1"/>
          <p:nvPr/>
        </p:nvSpPr>
        <p:spPr>
          <a:xfrm>
            <a:off x="1055668" y="2205843"/>
            <a:ext cx="7852025" cy="338554"/>
          </a:xfrm>
          <a:prstGeom prst="rect">
            <a:avLst/>
          </a:prstGeom>
          <a:noFill/>
        </p:spPr>
        <p:txBody>
          <a:bodyPr wrap="square">
            <a:spAutoFit/>
          </a:bodyPr>
          <a:lstStyle/>
          <a:p>
            <a:r>
              <a:rPr lang="zh-CN" altLang="en-US" sz="1600" b="0" i="0" dirty="0">
                <a:effectLst/>
                <a:latin typeface="-apple-system"/>
              </a:rPr>
              <a:t>例如：正则表达式 </a:t>
            </a:r>
            <a:r>
              <a:rPr lang="en-US" altLang="zh-CN" sz="1600" dirty="0">
                <a:solidFill>
                  <a:srgbClr val="0432FF"/>
                </a:solidFill>
              </a:rPr>
              <a:t>[</a:t>
            </a:r>
            <a:r>
              <a:rPr lang="en-US" sz="1600" dirty="0">
                <a:solidFill>
                  <a:srgbClr val="0432FF"/>
                </a:solidFill>
              </a:rPr>
              <a:t>a-z]*</a:t>
            </a:r>
            <a:r>
              <a:rPr lang="en-US" sz="1600" b="0" i="0" dirty="0">
                <a:effectLst/>
                <a:latin typeface="-apple-system"/>
              </a:rPr>
              <a:t>，</a:t>
            </a:r>
            <a:r>
              <a:rPr lang="zh-CN" altLang="en-US" sz="1600" b="0" i="0" dirty="0">
                <a:effectLst/>
                <a:latin typeface="-apple-system"/>
              </a:rPr>
              <a:t>表示：一行中可以包含任意数量的小写字母。</a:t>
            </a:r>
            <a:endParaRPr lang="zh-CN" altLang="en-US" sz="1600" dirty="0"/>
          </a:p>
        </p:txBody>
      </p:sp>
      <p:sp>
        <p:nvSpPr>
          <p:cNvPr id="13" name="TextBox 12">
            <a:extLst>
              <a:ext uri="{FF2B5EF4-FFF2-40B4-BE49-F238E27FC236}">
                <a16:creationId xmlns:a16="http://schemas.microsoft.com/office/drawing/2014/main" id="{399FB526-276E-D233-798B-7B565A1B0E36}"/>
              </a:ext>
            </a:extLst>
          </p:cNvPr>
          <p:cNvSpPr txBox="1"/>
          <p:nvPr/>
        </p:nvSpPr>
        <p:spPr>
          <a:xfrm>
            <a:off x="1081067" y="3331863"/>
            <a:ext cx="10441113" cy="1077218"/>
          </a:xfrm>
          <a:prstGeom prst="rect">
            <a:avLst/>
          </a:prstGeom>
          <a:noFill/>
        </p:spPr>
        <p:txBody>
          <a:bodyPr wrap="square">
            <a:spAutoFit/>
          </a:bodyPr>
          <a:lstStyle/>
          <a:p>
            <a:r>
              <a:rPr lang="zh-CN" altLang="en-US" sz="1600" b="0" i="0" dirty="0">
                <a:effectLst/>
                <a:latin typeface="-apple-system"/>
              </a:rPr>
              <a:t>星号 </a:t>
            </a:r>
            <a:r>
              <a:rPr lang="zh-CN" altLang="en-US" sz="1600" dirty="0">
                <a:solidFill>
                  <a:srgbClr val="0432FF"/>
                </a:solidFill>
              </a:rPr>
              <a:t>*</a:t>
            </a:r>
            <a:r>
              <a:rPr lang="zh-CN" altLang="en-US" sz="1600" b="0" i="0" dirty="0">
                <a:solidFill>
                  <a:srgbClr val="0432FF"/>
                </a:solidFill>
                <a:effectLst/>
                <a:latin typeface="-apple-system"/>
              </a:rPr>
              <a:t> </a:t>
            </a:r>
            <a:r>
              <a:rPr lang="zh-CN" altLang="en-US" sz="1600" b="0" i="0" dirty="0">
                <a:effectLst/>
                <a:latin typeface="-apple-system"/>
              </a:rPr>
              <a:t>可以与元符号</a:t>
            </a:r>
            <a:r>
              <a:rPr lang="zh-CN" altLang="en-US" sz="1600" b="0" i="0" dirty="0">
                <a:solidFill>
                  <a:srgbClr val="0432FF"/>
                </a:solidFill>
                <a:effectLst/>
                <a:latin typeface="-apple-system"/>
              </a:rPr>
              <a:t> </a:t>
            </a:r>
            <a:r>
              <a:rPr lang="en-US" altLang="zh-CN" sz="1600" dirty="0">
                <a:solidFill>
                  <a:srgbClr val="0432FF"/>
                </a:solidFill>
              </a:rPr>
              <a:t>.</a:t>
            </a:r>
            <a:r>
              <a:rPr lang="zh-CN" altLang="en-US" sz="1600" b="0" i="0" dirty="0">
                <a:solidFill>
                  <a:srgbClr val="0432FF"/>
                </a:solidFill>
                <a:effectLst/>
                <a:latin typeface="-apple-system"/>
              </a:rPr>
              <a:t> </a:t>
            </a:r>
            <a:r>
              <a:rPr lang="zh-CN" altLang="en-US" sz="1600" b="0" i="0" dirty="0">
                <a:effectLst/>
                <a:latin typeface="-apple-system"/>
              </a:rPr>
              <a:t>用在一起，用来匹配任意字符串</a:t>
            </a:r>
            <a:r>
              <a:rPr lang="zh-CN" altLang="en-US" sz="1600" b="0" i="0" dirty="0">
                <a:solidFill>
                  <a:srgbClr val="0432FF"/>
                </a:solidFill>
                <a:effectLst/>
                <a:latin typeface="-apple-system"/>
              </a:rPr>
              <a:t> </a:t>
            </a:r>
            <a:r>
              <a:rPr lang="en-US" altLang="zh-CN" sz="1600" dirty="0">
                <a:solidFill>
                  <a:srgbClr val="0432FF"/>
                </a:solidFill>
              </a:rPr>
              <a:t>.*</a:t>
            </a:r>
            <a:r>
              <a:rPr lang="zh-CN" altLang="en-US" sz="1600" b="0" i="0" dirty="0">
                <a:effectLst/>
                <a:latin typeface="-apple-system"/>
              </a:rPr>
              <a:t>。</a:t>
            </a:r>
            <a:endParaRPr lang="en-US" altLang="zh-CN" sz="1600" b="0" i="0" dirty="0">
              <a:effectLst/>
              <a:latin typeface="-apple-system"/>
            </a:endParaRPr>
          </a:p>
          <a:p>
            <a:r>
              <a:rPr lang="zh-CN" altLang="en-US" sz="1600" b="0" i="0" dirty="0">
                <a:effectLst/>
                <a:latin typeface="-apple-system"/>
              </a:rPr>
              <a:t>星号 </a:t>
            </a:r>
            <a:r>
              <a:rPr lang="zh-CN" altLang="en-US" sz="1600" dirty="0">
                <a:solidFill>
                  <a:srgbClr val="0432FF"/>
                </a:solidFill>
              </a:rPr>
              <a:t>*</a:t>
            </a:r>
            <a:r>
              <a:rPr lang="zh-CN" altLang="en-US" sz="1600" b="0" i="0" dirty="0">
                <a:effectLst/>
                <a:latin typeface="-apple-system"/>
              </a:rPr>
              <a:t> 可以与空格符</a:t>
            </a:r>
            <a:r>
              <a:rPr lang="zh-CN" altLang="en-US" sz="1600" b="0" i="0" dirty="0">
                <a:solidFill>
                  <a:srgbClr val="0432FF"/>
                </a:solidFill>
                <a:effectLst/>
                <a:latin typeface="-apple-system"/>
              </a:rPr>
              <a:t> </a:t>
            </a:r>
            <a:r>
              <a:rPr lang="en-US" altLang="zh-CN" sz="1600" dirty="0">
                <a:solidFill>
                  <a:srgbClr val="0432FF"/>
                </a:solidFill>
              </a:rPr>
              <a:t>\</a:t>
            </a:r>
            <a:r>
              <a:rPr lang="en-US" sz="1600" dirty="0">
                <a:solidFill>
                  <a:srgbClr val="0432FF"/>
                </a:solidFill>
              </a:rPr>
              <a:t>s</a:t>
            </a:r>
            <a:r>
              <a:rPr lang="en-US" sz="1600" b="0" i="0" dirty="0">
                <a:solidFill>
                  <a:srgbClr val="0432FF"/>
                </a:solidFill>
                <a:effectLst/>
                <a:latin typeface="-apple-system"/>
              </a:rPr>
              <a:t> </a:t>
            </a:r>
            <a:r>
              <a:rPr lang="zh-CN" altLang="en-US" sz="1600" b="0" i="0" dirty="0">
                <a:effectLst/>
                <a:latin typeface="-apple-system"/>
              </a:rPr>
              <a:t>一起使用，用来匹配一串空格字符。 </a:t>
            </a:r>
            <a:endParaRPr lang="en-US" altLang="zh-CN" sz="1600" b="0" i="0" dirty="0">
              <a:effectLst/>
              <a:latin typeface="-apple-system"/>
            </a:endParaRPr>
          </a:p>
          <a:p>
            <a:r>
              <a:rPr lang="zh-CN" altLang="en-US" sz="1600" b="0" i="0" dirty="0">
                <a:effectLst/>
                <a:latin typeface="-apple-system"/>
              </a:rPr>
              <a:t>例如：正则表达式 </a:t>
            </a:r>
            <a:r>
              <a:rPr lang="en-US" altLang="zh-CN" sz="1600" dirty="0">
                <a:solidFill>
                  <a:srgbClr val="0432FF"/>
                </a:solidFill>
              </a:rPr>
              <a:t>\</a:t>
            </a:r>
            <a:r>
              <a:rPr lang="en-US" sz="1600" dirty="0">
                <a:solidFill>
                  <a:srgbClr val="0432FF"/>
                </a:solidFill>
              </a:rPr>
              <a:t>s*cat\s*</a:t>
            </a:r>
            <a:r>
              <a:rPr lang="en-US" sz="1600" b="0" i="0" dirty="0">
                <a:effectLst/>
                <a:latin typeface="-apple-system"/>
              </a:rPr>
              <a:t>，</a:t>
            </a:r>
            <a:r>
              <a:rPr lang="zh-CN" altLang="en-US" sz="1600" b="0" i="0" dirty="0">
                <a:effectLst/>
                <a:latin typeface="-apple-system"/>
              </a:rPr>
              <a:t>表示：零个或多个空格，后面跟小写字母</a:t>
            </a:r>
            <a:r>
              <a:rPr lang="zh-CN" altLang="en-US" sz="1600" b="0" i="0" dirty="0">
                <a:solidFill>
                  <a:srgbClr val="0432FF"/>
                </a:solidFill>
                <a:effectLst/>
                <a:latin typeface="-apple-system"/>
              </a:rPr>
              <a:t> </a:t>
            </a:r>
            <a:r>
              <a:rPr lang="en-US" sz="1600" dirty="0">
                <a:solidFill>
                  <a:srgbClr val="0432FF"/>
                </a:solidFill>
              </a:rPr>
              <a:t>c</a:t>
            </a:r>
            <a:r>
              <a:rPr lang="en-US" sz="1600" b="0" i="0" dirty="0">
                <a:effectLst/>
                <a:latin typeface="-apple-system"/>
              </a:rPr>
              <a:t>，</a:t>
            </a:r>
            <a:r>
              <a:rPr lang="zh-CN" altLang="en-US" sz="1600" b="0" i="0" dirty="0">
                <a:effectLst/>
                <a:latin typeface="-apple-system"/>
              </a:rPr>
              <a:t>再后面跟小写字母 </a:t>
            </a:r>
            <a:r>
              <a:rPr lang="en-US" sz="1600" dirty="0">
                <a:solidFill>
                  <a:srgbClr val="0432FF"/>
                </a:solidFill>
              </a:rPr>
              <a:t>a</a:t>
            </a:r>
            <a:r>
              <a:rPr lang="en-US" sz="1600" b="0" i="0" dirty="0">
                <a:effectLst/>
                <a:latin typeface="-apple-system"/>
              </a:rPr>
              <a:t>，</a:t>
            </a:r>
            <a:r>
              <a:rPr lang="zh-CN" altLang="en-US" sz="1600" b="0" i="0" dirty="0">
                <a:effectLst/>
                <a:latin typeface="-apple-system"/>
              </a:rPr>
              <a:t>再在后面跟小写字母 </a:t>
            </a:r>
            <a:r>
              <a:rPr lang="en-US" sz="1600" dirty="0">
                <a:solidFill>
                  <a:srgbClr val="0432FF"/>
                </a:solidFill>
              </a:rPr>
              <a:t>t</a:t>
            </a:r>
            <a:r>
              <a:rPr lang="en-US" sz="1600" b="0" i="0" dirty="0">
                <a:effectLst/>
                <a:latin typeface="-apple-system"/>
              </a:rPr>
              <a:t>，</a:t>
            </a:r>
            <a:r>
              <a:rPr lang="zh-CN" altLang="en-US" sz="1600" b="0" i="0" dirty="0">
                <a:effectLst/>
                <a:latin typeface="-apple-system"/>
              </a:rPr>
              <a:t>后面再跟零个或多个空格。</a:t>
            </a:r>
            <a:endParaRPr lang="zh-CN" altLang="en-US" sz="1600" dirty="0"/>
          </a:p>
        </p:txBody>
      </p:sp>
      <p:pic>
        <p:nvPicPr>
          <p:cNvPr id="14" name="Picture 13">
            <a:extLst>
              <a:ext uri="{FF2B5EF4-FFF2-40B4-BE49-F238E27FC236}">
                <a16:creationId xmlns:a16="http://schemas.microsoft.com/office/drawing/2014/main" id="{9B9AE266-0AEC-C5DE-66BD-248240500466}"/>
              </a:ext>
            </a:extLst>
          </p:cNvPr>
          <p:cNvPicPr>
            <a:picLocks noChangeAspect="1"/>
          </p:cNvPicPr>
          <p:nvPr/>
        </p:nvPicPr>
        <p:blipFill>
          <a:blip r:embed="rId3"/>
          <a:stretch>
            <a:fillRect/>
          </a:stretch>
        </p:blipFill>
        <p:spPr>
          <a:xfrm>
            <a:off x="1081067" y="4557177"/>
            <a:ext cx="4737100" cy="533400"/>
          </a:xfrm>
          <a:prstGeom prst="rect">
            <a:avLst/>
          </a:prstGeom>
        </p:spPr>
      </p:pic>
      <p:sp>
        <p:nvSpPr>
          <p:cNvPr id="16" name="TextBox 15">
            <a:extLst>
              <a:ext uri="{FF2B5EF4-FFF2-40B4-BE49-F238E27FC236}">
                <a16:creationId xmlns:a16="http://schemas.microsoft.com/office/drawing/2014/main" id="{3C201184-7A8E-8161-288A-E946BFE83B7A}"/>
              </a:ext>
            </a:extLst>
          </p:cNvPr>
          <p:cNvSpPr txBox="1"/>
          <p:nvPr/>
        </p:nvSpPr>
        <p:spPr>
          <a:xfrm>
            <a:off x="1055668" y="5238673"/>
            <a:ext cx="5040332" cy="369332"/>
          </a:xfrm>
          <a:prstGeom prst="rect">
            <a:avLst/>
          </a:prstGeom>
          <a:noFill/>
        </p:spPr>
        <p:txBody>
          <a:bodyPr wrap="square">
            <a:spAutoFit/>
          </a:bodyPr>
          <a:lstStyle/>
          <a:p>
            <a:pPr algn="l"/>
            <a:r>
              <a:rPr lang="en-US" altLang="zh-CN" b="1" i="0" dirty="0">
                <a:solidFill>
                  <a:srgbClr val="0432FF"/>
                </a:solidFill>
                <a:effectLst/>
                <a:latin typeface="-apple-system"/>
              </a:rPr>
              <a:t>2.3.2 </a:t>
            </a:r>
            <a:r>
              <a:rPr lang="zh-CN" altLang="en-US" b="1" i="0" dirty="0">
                <a:solidFill>
                  <a:srgbClr val="0432FF"/>
                </a:solidFill>
                <a:effectLst/>
                <a:latin typeface="-apple-system"/>
              </a:rPr>
              <a:t>加号，</a:t>
            </a:r>
            <a:r>
              <a:rPr lang="en-US" altLang="zh-CN" dirty="0">
                <a:solidFill>
                  <a:srgbClr val="0432FF"/>
                </a:solidFill>
              </a:rPr>
              <a:t>+</a:t>
            </a:r>
            <a:r>
              <a:rPr lang="zh-CN" altLang="en-US" b="0" i="0" dirty="0">
                <a:solidFill>
                  <a:srgbClr val="0432FF"/>
                </a:solidFill>
                <a:effectLst/>
                <a:latin typeface="-apple-system"/>
              </a:rPr>
              <a:t> </a:t>
            </a:r>
            <a:r>
              <a:rPr lang="zh-CN" altLang="en-US" sz="1600" b="0" i="0" dirty="0">
                <a:effectLst/>
                <a:latin typeface="-apple-system"/>
              </a:rPr>
              <a:t>表示匹配上一个字符一次或多次</a:t>
            </a:r>
            <a:endParaRPr lang="zh-CN" altLang="en-US" b="1" i="0" dirty="0">
              <a:effectLst/>
              <a:latin typeface="-apple-system"/>
            </a:endParaRPr>
          </a:p>
        </p:txBody>
      </p:sp>
      <p:sp>
        <p:nvSpPr>
          <p:cNvPr id="18" name="TextBox 17">
            <a:extLst>
              <a:ext uri="{FF2B5EF4-FFF2-40B4-BE49-F238E27FC236}">
                <a16:creationId xmlns:a16="http://schemas.microsoft.com/office/drawing/2014/main" id="{C8E4C0B3-E268-ED24-078E-B75F0B9452BA}"/>
              </a:ext>
            </a:extLst>
          </p:cNvPr>
          <p:cNvSpPr txBox="1"/>
          <p:nvPr/>
        </p:nvSpPr>
        <p:spPr>
          <a:xfrm>
            <a:off x="6726146" y="4405578"/>
            <a:ext cx="4384787" cy="615553"/>
          </a:xfrm>
          <a:prstGeom prst="rect">
            <a:avLst/>
          </a:prstGeom>
          <a:noFill/>
        </p:spPr>
        <p:txBody>
          <a:bodyPr wrap="square">
            <a:spAutoFit/>
          </a:bodyPr>
          <a:lstStyle/>
          <a:p>
            <a:pPr algn="l"/>
            <a:r>
              <a:rPr lang="en-US" altLang="zh-CN" b="1" i="0" dirty="0">
                <a:solidFill>
                  <a:srgbClr val="0432FF"/>
                </a:solidFill>
                <a:effectLst/>
                <a:latin typeface="-apple-system"/>
              </a:rPr>
              <a:t>2.3.3 </a:t>
            </a:r>
            <a:r>
              <a:rPr lang="zh-CN" altLang="en-US" b="1" i="0" dirty="0">
                <a:solidFill>
                  <a:srgbClr val="0432FF"/>
                </a:solidFill>
                <a:effectLst/>
                <a:latin typeface="-apple-system"/>
              </a:rPr>
              <a:t>问号，</a:t>
            </a:r>
            <a:r>
              <a:rPr lang="zh-CN" altLang="en-US" dirty="0"/>
              <a:t> </a:t>
            </a:r>
            <a:r>
              <a:rPr lang="en-US" altLang="zh-CN" sz="1600" dirty="0">
                <a:solidFill>
                  <a:srgbClr val="0432FF"/>
                </a:solidFill>
              </a:rPr>
              <a:t>?</a:t>
            </a:r>
            <a:r>
              <a:rPr lang="zh-CN" altLang="en-US" sz="1600" b="0" i="0" dirty="0">
                <a:solidFill>
                  <a:srgbClr val="0432FF"/>
                </a:solidFill>
                <a:effectLst/>
                <a:latin typeface="-apple-system"/>
              </a:rPr>
              <a:t> </a:t>
            </a:r>
            <a:r>
              <a:rPr lang="zh-CN" altLang="en-US" sz="1600" b="0" i="0" dirty="0">
                <a:effectLst/>
                <a:latin typeface="-apple-system"/>
              </a:rPr>
              <a:t>用来表示前一个字符是可选的。该符号匹配前一个字符零次或一次。</a:t>
            </a:r>
            <a:endParaRPr lang="zh-CN" altLang="en-US" b="1" i="0" dirty="0">
              <a:effectLst/>
              <a:latin typeface="-apple-system"/>
            </a:endParaRPr>
          </a:p>
        </p:txBody>
      </p:sp>
      <p:pic>
        <p:nvPicPr>
          <p:cNvPr id="19" name="Picture 18">
            <a:extLst>
              <a:ext uri="{FF2B5EF4-FFF2-40B4-BE49-F238E27FC236}">
                <a16:creationId xmlns:a16="http://schemas.microsoft.com/office/drawing/2014/main" id="{594BD59D-9CE6-F385-97F6-946C3E00AD61}"/>
              </a:ext>
            </a:extLst>
          </p:cNvPr>
          <p:cNvPicPr>
            <a:picLocks noChangeAspect="1"/>
          </p:cNvPicPr>
          <p:nvPr/>
        </p:nvPicPr>
        <p:blipFill>
          <a:blip r:embed="rId4"/>
          <a:stretch>
            <a:fillRect/>
          </a:stretch>
        </p:blipFill>
        <p:spPr>
          <a:xfrm>
            <a:off x="1081067" y="5770224"/>
            <a:ext cx="4229100" cy="533400"/>
          </a:xfrm>
          <a:prstGeom prst="rect">
            <a:avLst/>
          </a:prstGeom>
        </p:spPr>
      </p:pic>
      <p:pic>
        <p:nvPicPr>
          <p:cNvPr id="20" name="Picture 19">
            <a:extLst>
              <a:ext uri="{FF2B5EF4-FFF2-40B4-BE49-F238E27FC236}">
                <a16:creationId xmlns:a16="http://schemas.microsoft.com/office/drawing/2014/main" id="{D5F506FE-1F24-78D0-E05A-3CF969C4F971}"/>
              </a:ext>
            </a:extLst>
          </p:cNvPr>
          <p:cNvPicPr>
            <a:picLocks noChangeAspect="1"/>
          </p:cNvPicPr>
          <p:nvPr/>
        </p:nvPicPr>
        <p:blipFill>
          <a:blip r:embed="rId5"/>
          <a:stretch>
            <a:fillRect/>
          </a:stretch>
        </p:blipFill>
        <p:spPr>
          <a:xfrm>
            <a:off x="6726146" y="5090577"/>
            <a:ext cx="5067300" cy="1473200"/>
          </a:xfrm>
          <a:prstGeom prst="rect">
            <a:avLst/>
          </a:prstGeom>
        </p:spPr>
      </p:pic>
    </p:spTree>
    <p:extLst>
      <p:ext uri="{BB962C8B-B14F-4D97-AF65-F5344CB8AC3E}">
        <p14:creationId xmlns:p14="http://schemas.microsoft.com/office/powerpoint/2010/main" val="314799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BB1619-4B4E-8FF7-9EC8-8E420F818A4B}"/>
              </a:ext>
            </a:extLst>
          </p:cNvPr>
          <p:cNvSpPr txBox="1"/>
          <p:nvPr/>
        </p:nvSpPr>
        <p:spPr>
          <a:xfrm>
            <a:off x="1127588" y="1007135"/>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2.4 </a:t>
            </a:r>
            <a:r>
              <a:rPr lang="zh-CN" altLang="en-US" b="1" i="0" dirty="0">
                <a:solidFill>
                  <a:srgbClr val="0432FF"/>
                </a:solidFill>
                <a:effectLst/>
                <a:latin typeface="-apple-system"/>
              </a:rPr>
              <a:t>花括号</a:t>
            </a:r>
          </a:p>
        </p:txBody>
      </p:sp>
      <p:sp>
        <p:nvSpPr>
          <p:cNvPr id="5" name="TextBox 4">
            <a:extLst>
              <a:ext uri="{FF2B5EF4-FFF2-40B4-BE49-F238E27FC236}">
                <a16:creationId xmlns:a16="http://schemas.microsoft.com/office/drawing/2014/main" id="{2D8A138E-37CB-15FB-8C2C-B70DA8743BE3}"/>
              </a:ext>
            </a:extLst>
          </p:cNvPr>
          <p:cNvSpPr txBox="1"/>
          <p:nvPr/>
        </p:nvSpPr>
        <p:spPr>
          <a:xfrm>
            <a:off x="1271426" y="1542832"/>
            <a:ext cx="9310955" cy="790153"/>
          </a:xfrm>
          <a:prstGeom prst="rect">
            <a:avLst/>
          </a:prstGeom>
          <a:noFill/>
        </p:spPr>
        <p:txBody>
          <a:bodyPr wrap="square">
            <a:spAutoFit/>
          </a:bodyPr>
          <a:lstStyle/>
          <a:p>
            <a:pPr>
              <a:lnSpc>
                <a:spcPct val="150000"/>
              </a:lnSpc>
            </a:pPr>
            <a:r>
              <a:rPr lang="zh-CN" altLang="en-US" sz="1600" b="0" i="0" dirty="0">
                <a:effectLst/>
                <a:latin typeface="-apple-system"/>
              </a:rPr>
              <a:t>在正则表达式中花括号（也被称为量词？）用于指定字符或一组字符可以重复的次数。</a:t>
            </a:r>
            <a:endParaRPr lang="en-US" altLang="zh-CN" sz="1600" b="0" i="0" dirty="0">
              <a:effectLst/>
              <a:latin typeface="-apple-system"/>
            </a:endParaRPr>
          </a:p>
          <a:p>
            <a:pPr>
              <a:lnSpc>
                <a:spcPct val="150000"/>
              </a:lnSpc>
            </a:pPr>
            <a:r>
              <a:rPr lang="zh-CN" altLang="en-US" sz="1600" b="0" i="0" dirty="0">
                <a:effectLst/>
                <a:latin typeface="-apple-system"/>
              </a:rPr>
              <a:t>例如正则表达式 </a:t>
            </a:r>
            <a:r>
              <a:rPr lang="en-US" altLang="zh-CN" sz="1600" dirty="0">
                <a:solidFill>
                  <a:srgbClr val="0432FF"/>
                </a:solidFill>
              </a:rPr>
              <a:t>[0-9]{2,3}</a:t>
            </a:r>
            <a:r>
              <a:rPr lang="zh-CN" altLang="en-US" sz="1600" b="0" i="0" dirty="0">
                <a:effectLst/>
                <a:latin typeface="-apple-system"/>
              </a:rPr>
              <a:t>，表示：匹配至少 </a:t>
            </a:r>
            <a:r>
              <a:rPr lang="en-US" altLang="zh-CN" sz="1600" b="0" i="0" dirty="0">
                <a:effectLst/>
                <a:latin typeface="-apple-system"/>
              </a:rPr>
              <a:t>2 </a:t>
            </a:r>
            <a:r>
              <a:rPr lang="zh-CN" altLang="en-US" sz="1600" b="0" i="0" dirty="0">
                <a:effectLst/>
                <a:latin typeface="-apple-system"/>
              </a:rPr>
              <a:t>位数字但不超过 </a:t>
            </a:r>
            <a:r>
              <a:rPr lang="en-US" altLang="zh-CN" sz="1600" b="0" i="0" dirty="0">
                <a:effectLst/>
                <a:latin typeface="-apple-system"/>
              </a:rPr>
              <a:t>3 </a:t>
            </a:r>
            <a:r>
              <a:rPr lang="zh-CN" altLang="en-US" sz="1600" b="0" i="0" dirty="0">
                <a:effectLst/>
                <a:latin typeface="-apple-system"/>
              </a:rPr>
              <a:t>位（</a:t>
            </a:r>
            <a:r>
              <a:rPr lang="en-US" altLang="zh-CN" sz="1600" b="0" i="0" dirty="0">
                <a:effectLst/>
                <a:latin typeface="-apple-system"/>
              </a:rPr>
              <a:t>0 </a:t>
            </a:r>
            <a:r>
              <a:rPr lang="zh-CN" altLang="en-US" sz="1600" b="0" i="0" dirty="0">
                <a:effectLst/>
                <a:latin typeface="-apple-system"/>
              </a:rPr>
              <a:t>到 </a:t>
            </a:r>
            <a:r>
              <a:rPr lang="en-US" altLang="zh-CN" sz="1600" b="0" i="0" dirty="0">
                <a:effectLst/>
                <a:latin typeface="-apple-system"/>
              </a:rPr>
              <a:t>9 </a:t>
            </a:r>
            <a:r>
              <a:rPr lang="zh-CN" altLang="en-US" sz="1600" b="0" i="0" dirty="0">
                <a:effectLst/>
                <a:latin typeface="-apple-system"/>
              </a:rPr>
              <a:t>范围内的字符）。</a:t>
            </a:r>
            <a:endParaRPr lang="zh-CN" altLang="en-US" sz="1600" dirty="0"/>
          </a:p>
        </p:txBody>
      </p:sp>
      <p:pic>
        <p:nvPicPr>
          <p:cNvPr id="7" name="Picture 6">
            <a:extLst>
              <a:ext uri="{FF2B5EF4-FFF2-40B4-BE49-F238E27FC236}">
                <a16:creationId xmlns:a16="http://schemas.microsoft.com/office/drawing/2014/main" id="{4472BA56-D905-0FFC-5C74-D0356D64AD93}"/>
              </a:ext>
            </a:extLst>
          </p:cNvPr>
          <p:cNvPicPr>
            <a:picLocks noChangeAspect="1"/>
          </p:cNvPicPr>
          <p:nvPr/>
        </p:nvPicPr>
        <p:blipFill>
          <a:blip r:embed="rId2"/>
          <a:stretch>
            <a:fillRect/>
          </a:stretch>
        </p:blipFill>
        <p:spPr>
          <a:xfrm>
            <a:off x="1365964" y="2499350"/>
            <a:ext cx="7302500" cy="495300"/>
          </a:xfrm>
          <a:prstGeom prst="rect">
            <a:avLst/>
          </a:prstGeom>
        </p:spPr>
      </p:pic>
      <p:pic>
        <p:nvPicPr>
          <p:cNvPr id="8" name="Picture 7">
            <a:extLst>
              <a:ext uri="{FF2B5EF4-FFF2-40B4-BE49-F238E27FC236}">
                <a16:creationId xmlns:a16="http://schemas.microsoft.com/office/drawing/2014/main" id="{7EC6D3D3-B8C8-D5EA-541B-286E052CEE63}"/>
              </a:ext>
            </a:extLst>
          </p:cNvPr>
          <p:cNvPicPr>
            <a:picLocks noChangeAspect="1"/>
          </p:cNvPicPr>
          <p:nvPr/>
        </p:nvPicPr>
        <p:blipFill>
          <a:blip r:embed="rId3"/>
          <a:stretch>
            <a:fillRect/>
          </a:stretch>
        </p:blipFill>
        <p:spPr>
          <a:xfrm>
            <a:off x="1365964" y="3849390"/>
            <a:ext cx="7543800" cy="1562100"/>
          </a:xfrm>
          <a:prstGeom prst="rect">
            <a:avLst/>
          </a:prstGeom>
        </p:spPr>
      </p:pic>
      <p:sp>
        <p:nvSpPr>
          <p:cNvPr id="10" name="TextBox 9">
            <a:extLst>
              <a:ext uri="{FF2B5EF4-FFF2-40B4-BE49-F238E27FC236}">
                <a16:creationId xmlns:a16="http://schemas.microsoft.com/office/drawing/2014/main" id="{03616B38-6C1B-3486-36D1-1129A2FE25C8}"/>
              </a:ext>
            </a:extLst>
          </p:cNvPr>
          <p:cNvSpPr txBox="1"/>
          <p:nvPr/>
        </p:nvSpPr>
        <p:spPr>
          <a:xfrm>
            <a:off x="1478979" y="3265022"/>
            <a:ext cx="7921874" cy="338554"/>
          </a:xfrm>
          <a:prstGeom prst="rect">
            <a:avLst/>
          </a:prstGeom>
          <a:noFill/>
        </p:spPr>
        <p:txBody>
          <a:bodyPr wrap="square">
            <a:spAutoFit/>
          </a:bodyPr>
          <a:lstStyle/>
          <a:p>
            <a:r>
              <a:rPr lang="zh-CN" altLang="en-US" sz="1600" b="0" i="0" dirty="0">
                <a:effectLst/>
                <a:latin typeface="-apple-system"/>
              </a:rPr>
              <a:t>我们可以省略第二个数字。例如正则表达式</a:t>
            </a:r>
            <a:r>
              <a:rPr lang="zh-CN" altLang="en-US" sz="1600" b="0" i="0" dirty="0">
                <a:solidFill>
                  <a:srgbClr val="0432FF"/>
                </a:solidFill>
                <a:effectLst/>
                <a:latin typeface="-apple-system"/>
              </a:rPr>
              <a:t> </a:t>
            </a:r>
            <a:r>
              <a:rPr lang="en-US" altLang="zh-CN" sz="1600" dirty="0">
                <a:solidFill>
                  <a:srgbClr val="0432FF"/>
                </a:solidFill>
              </a:rPr>
              <a:t>[0-9]{2,}</a:t>
            </a:r>
            <a:r>
              <a:rPr lang="zh-CN" altLang="en-US" sz="1600" b="0" i="0" dirty="0">
                <a:effectLst/>
                <a:latin typeface="-apple-system"/>
              </a:rPr>
              <a:t>，表示：匹配 </a:t>
            </a:r>
            <a:r>
              <a:rPr lang="en-US" altLang="zh-CN" sz="1600" b="0" i="0" dirty="0">
                <a:effectLst/>
                <a:latin typeface="-apple-system"/>
              </a:rPr>
              <a:t>2 </a:t>
            </a:r>
            <a:r>
              <a:rPr lang="zh-CN" altLang="en-US" sz="1600" b="0" i="0" dirty="0">
                <a:effectLst/>
                <a:latin typeface="-apple-system"/>
              </a:rPr>
              <a:t>个或更多个数字。</a:t>
            </a:r>
            <a:endParaRPr lang="zh-CN" altLang="en-US" sz="1600" dirty="0"/>
          </a:p>
        </p:txBody>
      </p:sp>
    </p:spTree>
    <p:extLst>
      <p:ext uri="{BB962C8B-B14F-4D97-AF65-F5344CB8AC3E}">
        <p14:creationId xmlns:p14="http://schemas.microsoft.com/office/powerpoint/2010/main" val="141949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10.3.2</a:t>
            </a:r>
            <a:r>
              <a:rPr lang="zh-CN" altLang="en-US" dirty="0">
                <a:latin typeface="Microsoft YaHei" panose="020B0503020204020204" pitchFamily="34" charset="-122"/>
                <a:ea typeface="Microsoft YaHei" panose="020B0503020204020204" pitchFamily="34" charset="-122"/>
              </a:rPr>
              <a:t> 懒惰匹配和贪婪匹配</a:t>
            </a:r>
            <a:r>
              <a:rPr lang="en-US" altLang="ja-JP" dirty="0">
                <a:latin typeface="Microsoft YaHei" panose="020B0503020204020204" pitchFamily="34" charset="-122"/>
                <a:ea typeface="Microsoft YaHei" panose="020B0503020204020204" pitchFamily="34" charset="-122"/>
              </a:rPr>
              <a:t>  </a:t>
            </a:r>
            <a:endParaRPr lang="en-US" dirty="0">
              <a:latin typeface="Microsoft YaHei" panose="020B0503020204020204" pitchFamily="34" charset="-122"/>
              <a:ea typeface="Microsoft YaHei" panose="020B0503020204020204" pitchFamily="34" charset="-122"/>
            </a:endParaRPr>
          </a:p>
        </p:txBody>
      </p:sp>
      <p:sp>
        <p:nvSpPr>
          <p:cNvPr id="4" name="文本框 3"/>
          <p:cNvSpPr txBox="1"/>
          <p:nvPr/>
        </p:nvSpPr>
        <p:spPr>
          <a:xfrm>
            <a:off x="982236" y="1487753"/>
            <a:ext cx="10470066" cy="4567084"/>
          </a:xfrm>
          <a:prstGeom prst="rect">
            <a:avLst/>
          </a:prstGeom>
          <a:noFill/>
        </p:spPr>
        <p:txBody>
          <a:bodyPr wrap="square" rtlCol="0">
            <a:spAutoFit/>
          </a:bodyPr>
          <a:lstStyle/>
          <a:p>
            <a:pPr marL="342900" indent="-342900" algn="just">
              <a:lnSpc>
                <a:spcPct val="150000"/>
              </a:lnSpc>
              <a:spcBef>
                <a:spcPts val="1000"/>
              </a:spcBef>
              <a:buFont typeface="Arial" panose="020B0604020202020204" pitchFamily="34" charset="0"/>
              <a:buChar char="•"/>
            </a:pPr>
            <a:r>
              <a:rPr lang="zh-CN" altLang="en-US" b="1" dirty="0">
                <a:solidFill>
                  <a:srgbClr val="C00000"/>
                </a:solidFill>
                <a:latin typeface="宋体" panose="02010600030101010101" pitchFamily="2" charset="-122"/>
                <a:ea typeface="宋体" panose="02010600030101010101" pitchFamily="2" charset="-122"/>
              </a:rPr>
              <a:t>懒惰</a:t>
            </a:r>
            <a:r>
              <a:rPr lang="zh-CN" altLang="zh-CN" b="1" dirty="0">
                <a:solidFill>
                  <a:srgbClr val="C00000"/>
                </a:solidFill>
                <a:latin typeface="宋体" panose="02010600030101010101" pitchFamily="2" charset="-122"/>
                <a:ea typeface="宋体" panose="02010600030101010101" pitchFamily="2" charset="-122"/>
              </a:rPr>
              <a:t>匹配</a:t>
            </a:r>
            <a:r>
              <a:rPr lang="zh-CN" altLang="zh-CN" b="1" dirty="0">
                <a:latin typeface="宋体" panose="02010600030101010101" pitchFamily="2" charset="-122"/>
                <a:ea typeface="宋体" panose="02010600030101010101" pitchFamily="2" charset="-122"/>
              </a:rPr>
              <a:t>，即匹配</a:t>
            </a:r>
            <a:r>
              <a:rPr lang="zh-CN" altLang="zh-CN" b="1" dirty="0">
                <a:solidFill>
                  <a:srgbClr val="0432FF"/>
                </a:solidFill>
                <a:latin typeface="宋体" panose="02010600030101010101" pitchFamily="2" charset="-122"/>
                <a:ea typeface="宋体" panose="02010600030101010101" pitchFamily="2" charset="-122"/>
              </a:rPr>
              <a:t>尽可能少</a:t>
            </a:r>
            <a:r>
              <a:rPr lang="zh-CN" altLang="zh-CN" b="1" dirty="0">
                <a:latin typeface="宋体" panose="02010600030101010101" pitchFamily="2" charset="-122"/>
                <a:ea typeface="宋体" panose="02010600030101010101" pitchFamily="2" charset="-122"/>
              </a:rPr>
              <a:t>的字符。</a:t>
            </a:r>
            <a:r>
              <a:rPr lang="zh-CN" altLang="en-US" dirty="0">
                <a:latin typeface="宋体" panose="02010600030101010101" pitchFamily="2" charset="-122"/>
                <a:ea typeface="宋体" panose="02010600030101010101" pitchFamily="2" charset="-122"/>
              </a:rPr>
              <a:t>懒惰</a:t>
            </a:r>
            <a:r>
              <a:rPr lang="ja-JP" altLang="zh-CN" dirty="0">
                <a:latin typeface="宋体" panose="02010600030101010101" pitchFamily="2" charset="-122"/>
                <a:ea typeface="宋体" panose="02010600030101010101" pitchFamily="2" charset="-122"/>
              </a:rPr>
              <a:t>匹配</a:t>
            </a:r>
            <a:r>
              <a:rPr lang="zh-CN" altLang="zh-CN" dirty="0">
                <a:latin typeface="宋体" panose="02010600030101010101" pitchFamily="2" charset="-122"/>
                <a:ea typeface="宋体" panose="02010600030101010101" pitchFamily="2" charset="-122"/>
              </a:rPr>
              <a:t>允许多重匹配，也就是说，</a:t>
            </a:r>
            <a:r>
              <a:rPr lang="ja-JP" altLang="zh-CN" dirty="0">
                <a:latin typeface="宋体" panose="02010600030101010101" pitchFamily="2" charset="-122"/>
                <a:ea typeface="宋体" panose="02010600030101010101" pitchFamily="2" charset="-122"/>
              </a:rPr>
              <a:t>先</a:t>
            </a:r>
            <a:r>
              <a:rPr lang="zh-CN" altLang="zh-CN" dirty="0">
                <a:latin typeface="宋体" panose="02010600030101010101" pitchFamily="2" charset="-122"/>
                <a:ea typeface="宋体" panose="02010600030101010101" pitchFamily="2" charset="-122"/>
              </a:rPr>
              <a:t>检查</a:t>
            </a:r>
            <a:r>
              <a:rPr lang="ja-JP" altLang="zh-CN" dirty="0">
                <a:latin typeface="宋体" panose="02010600030101010101" pitchFamily="2" charset="-122"/>
                <a:ea typeface="宋体" panose="02010600030101010101" pitchFamily="2" charset="-122"/>
              </a:rPr>
              <a:t>字符串中的第一个字母是不是一个匹配，如果单独一个字符还不够就读入下一个字符，如果还没有发现匹配，就不断地从后续字符中读取，</a:t>
            </a:r>
            <a:r>
              <a:rPr lang="zh-CN" altLang="zh-CN" dirty="0">
                <a:latin typeface="宋体" panose="02010600030101010101" pitchFamily="2" charset="-122"/>
                <a:ea typeface="宋体" panose="02010600030101010101" pitchFamily="2" charset="-122"/>
              </a:rPr>
              <a:t>一直到发</a:t>
            </a:r>
            <a:r>
              <a:rPr lang="ja-JP" altLang="zh-CN" dirty="0">
                <a:latin typeface="宋体" panose="02010600030101010101" pitchFamily="2" charset="-122"/>
                <a:ea typeface="宋体" panose="02010600030101010101" pitchFamily="2" charset="-122"/>
              </a:rPr>
              <a:t>现一个合适的匹配</a:t>
            </a:r>
            <a:r>
              <a:rPr lang="zh-CN" altLang="zh-CN" dirty="0">
                <a:latin typeface="宋体" panose="02010600030101010101" pitchFamily="2" charset="-122"/>
                <a:ea typeface="宋体" panose="02010600030101010101" pitchFamily="2" charset="-122"/>
              </a:rPr>
              <a:t>为止</a:t>
            </a:r>
            <a:r>
              <a:rPr lang="ja-JP" altLang="zh-CN" dirty="0">
                <a:latin typeface="宋体" panose="02010600030101010101" pitchFamily="2" charset="-122"/>
                <a:ea typeface="宋体" panose="02010600030101010101" pitchFamily="2" charset="-122"/>
              </a:rPr>
              <a:t>，然后</a:t>
            </a:r>
            <a:r>
              <a:rPr lang="zh-CN" altLang="zh-CN" dirty="0">
                <a:latin typeface="宋体" panose="02010600030101010101" pitchFamily="2" charset="-122"/>
                <a:ea typeface="宋体" panose="02010600030101010101" pitchFamily="2" charset="-122"/>
              </a:rPr>
              <a:t>再</a:t>
            </a:r>
            <a:r>
              <a:rPr lang="ja-JP" altLang="zh-CN" dirty="0">
                <a:latin typeface="宋体" panose="02010600030101010101" pitchFamily="2" charset="-122"/>
                <a:ea typeface="宋体" panose="02010600030101010101" pitchFamily="2" charset="-122"/>
              </a:rPr>
              <a:t>开始下一次的匹配</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342900" indent="-342900" algn="just">
              <a:lnSpc>
                <a:spcPct val="150000"/>
              </a:lnSpc>
              <a:spcBef>
                <a:spcPts val="1000"/>
              </a:spcBef>
              <a:buFont typeface="Arial" panose="020B0604020202020204" pitchFamily="34" charset="0"/>
              <a:buChar char="•"/>
            </a:pPr>
            <a:r>
              <a:rPr lang="ja-JP" altLang="zh-CN" b="1">
                <a:solidFill>
                  <a:srgbClr val="C00000"/>
                </a:solidFill>
                <a:latin typeface="宋体" panose="02010600030101010101" pitchFamily="2" charset="-122"/>
                <a:ea typeface="宋体" panose="02010600030101010101" pitchFamily="2" charset="-122"/>
              </a:rPr>
              <a:t>贪婪</a:t>
            </a:r>
            <a:r>
              <a:rPr lang="ja-JP" altLang="zh-CN" b="1" dirty="0">
                <a:solidFill>
                  <a:srgbClr val="C00000"/>
                </a:solidFill>
                <a:latin typeface="宋体" panose="02010600030101010101" pitchFamily="2" charset="-122"/>
                <a:ea typeface="宋体" panose="02010600030101010101" pitchFamily="2" charset="-122"/>
              </a:rPr>
              <a:t>匹配</a:t>
            </a:r>
            <a:r>
              <a:rPr lang="zh-CN" altLang="zh-CN" b="1" dirty="0">
                <a:latin typeface="宋体" panose="02010600030101010101" pitchFamily="2" charset="-122"/>
                <a:ea typeface="宋体" panose="02010600030101010101" pitchFamily="2" charset="-122"/>
              </a:rPr>
              <a:t>，即匹配</a:t>
            </a:r>
            <a:r>
              <a:rPr lang="zh-CN" altLang="en-US" b="1" dirty="0">
                <a:solidFill>
                  <a:srgbClr val="0432FF"/>
                </a:solidFill>
                <a:latin typeface="宋体" panose="02010600030101010101" pitchFamily="2" charset="-122"/>
                <a:ea typeface="宋体" panose="02010600030101010101" pitchFamily="2" charset="-122"/>
              </a:rPr>
              <a:t>尽</a:t>
            </a:r>
            <a:r>
              <a:rPr lang="zh-CN" altLang="zh-CN" b="1" dirty="0">
                <a:solidFill>
                  <a:srgbClr val="0432FF"/>
                </a:solidFill>
                <a:latin typeface="宋体" panose="02010600030101010101" pitchFamily="2" charset="-122"/>
                <a:ea typeface="宋体" panose="02010600030101010101" pitchFamily="2" charset="-122"/>
              </a:rPr>
              <a:t>可能多</a:t>
            </a:r>
            <a:r>
              <a:rPr lang="zh-CN" altLang="zh-CN" b="1" dirty="0">
                <a:latin typeface="宋体" panose="02010600030101010101" pitchFamily="2" charset="-122"/>
                <a:ea typeface="宋体" panose="02010600030101010101" pitchFamily="2" charset="-122"/>
              </a:rPr>
              <a:t>的字符</a:t>
            </a:r>
            <a:r>
              <a:rPr lang="zh-CN" altLang="en-US" b="1" dirty="0">
                <a:latin typeface="宋体" panose="02010600030101010101" pitchFamily="2" charset="-122"/>
                <a:ea typeface="宋体" panose="02010600030101010101" pitchFamily="2" charset="-122"/>
              </a:rPr>
              <a:t>。</a:t>
            </a:r>
            <a:r>
              <a:rPr lang="ja-JP" altLang="zh-CN" dirty="0">
                <a:latin typeface="宋体" panose="02010600030101010101" pitchFamily="2" charset="-122"/>
                <a:ea typeface="宋体" panose="02010600030101010101" pitchFamily="2" charset="-122"/>
              </a:rPr>
              <a:t>贪婪匹配先看整个字符串是不是一个匹配，如果</a:t>
            </a:r>
            <a:r>
              <a:rPr lang="zh-CN" altLang="zh-CN" dirty="0">
                <a:latin typeface="宋体" panose="02010600030101010101" pitchFamily="2" charset="-122"/>
                <a:ea typeface="宋体" panose="02010600030101010101" pitchFamily="2" charset="-122"/>
              </a:rPr>
              <a:t>不是</a:t>
            </a:r>
            <a:r>
              <a:rPr lang="ja-JP"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则</a:t>
            </a:r>
            <a:r>
              <a:rPr lang="ja-JP" altLang="zh-CN" dirty="0">
                <a:latin typeface="宋体" panose="02010600030101010101" pitchFamily="2" charset="-122"/>
                <a:ea typeface="宋体" panose="02010600030101010101" pitchFamily="2" charset="-122"/>
              </a:rPr>
              <a:t>去掉字符串中最后一个字符</a:t>
            </a:r>
            <a:r>
              <a:rPr lang="zh-CN" altLang="zh-CN" dirty="0">
                <a:latin typeface="宋体" panose="02010600030101010101" pitchFamily="2" charset="-122"/>
                <a:ea typeface="宋体" panose="02010600030101010101" pitchFamily="2" charset="-122"/>
              </a:rPr>
              <a:t>、</a:t>
            </a:r>
            <a:r>
              <a:rPr lang="ja-JP" altLang="zh-CN" dirty="0">
                <a:latin typeface="宋体" panose="02010600030101010101" pitchFamily="2" charset="-122"/>
                <a:ea typeface="宋体" panose="02010600030101010101" pitchFamily="2" charset="-122"/>
              </a:rPr>
              <a:t>再次尝试</a:t>
            </a:r>
            <a:r>
              <a:rPr lang="zh-CN" altLang="zh-CN" dirty="0">
                <a:latin typeface="宋体" panose="02010600030101010101" pitchFamily="2" charset="-122"/>
                <a:ea typeface="宋体" panose="02010600030101010101" pitchFamily="2" charset="-122"/>
              </a:rPr>
              <a:t>匹配</a:t>
            </a:r>
            <a:r>
              <a:rPr lang="ja-JP" altLang="zh-CN" dirty="0">
                <a:latin typeface="宋体" panose="02010600030101010101" pitchFamily="2" charset="-122"/>
                <a:ea typeface="宋体" panose="02010600030101010101" pitchFamily="2" charset="-122"/>
              </a:rPr>
              <a:t>，如果还没有发现匹配，那么再次去掉最后一个字符，</a:t>
            </a:r>
            <a:r>
              <a:rPr lang="zh-CN" altLang="zh-CN" dirty="0">
                <a:latin typeface="宋体" panose="02010600030101010101" pitchFamily="2" charset="-122"/>
                <a:ea typeface="宋体" panose="02010600030101010101" pitchFamily="2" charset="-122"/>
              </a:rPr>
              <a:t>以此类推，</a:t>
            </a:r>
            <a:r>
              <a:rPr lang="ja-JP" altLang="zh-CN" dirty="0">
                <a:latin typeface="宋体" panose="02010600030101010101" pitchFamily="2" charset="-122"/>
                <a:ea typeface="宋体" panose="02010600030101010101" pitchFamily="2" charset="-122"/>
              </a:rPr>
              <a:t>一直重复直到发现一个匹配</a:t>
            </a:r>
            <a:r>
              <a:rPr lang="zh-CN" altLang="zh-CN" dirty="0">
                <a:latin typeface="宋体" panose="02010600030101010101" pitchFamily="2" charset="-122"/>
                <a:ea typeface="宋体" panose="02010600030101010101" pitchFamily="2" charset="-122"/>
              </a:rPr>
              <a:t>的子串，或者整个</a:t>
            </a:r>
            <a:r>
              <a:rPr lang="ja-JP" altLang="zh-CN" dirty="0">
                <a:latin typeface="宋体" panose="02010600030101010101" pitchFamily="2" charset="-122"/>
                <a:ea typeface="宋体" panose="02010600030101010101" pitchFamily="2" charset="-122"/>
              </a:rPr>
              <a:t>字符串不剩一个字符为止</a:t>
            </a:r>
            <a:r>
              <a:rPr lang="zh-CN" altLang="zh-CN" dirty="0">
                <a:latin typeface="宋体" panose="02010600030101010101" pitchFamily="2" charset="-122"/>
                <a:ea typeface="宋体" panose="02010600030101010101" pitchFamily="2" charset="-122"/>
              </a:rPr>
              <a:t>（没有发现匹配）</a:t>
            </a:r>
            <a:endParaRPr lang="en-US" altLang="zh-CN" dirty="0">
              <a:latin typeface="宋体" panose="02010600030101010101" pitchFamily="2" charset="-122"/>
              <a:ea typeface="宋体" panose="02010600030101010101" pitchFamily="2" charset="-122"/>
            </a:endParaRPr>
          </a:p>
          <a:p>
            <a:pPr algn="just">
              <a:lnSpc>
                <a:spcPct val="150000"/>
              </a:lnSpc>
              <a:spcBef>
                <a:spcPts val="1000"/>
              </a:spcBef>
            </a:pP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在进行模式匹配时，如果在同一字符串中有不同长度的多个子串都符合匹配规则，那么贪婪匹配会选择最长的子串进行匹配，而</a:t>
            </a:r>
            <a:r>
              <a:rPr lang="zh-CN" altLang="en-US" dirty="0">
                <a:latin typeface="宋体" panose="02010600030101010101" pitchFamily="2" charset="-122"/>
                <a:ea typeface="宋体" panose="02010600030101010101" pitchFamily="2" charset="-122"/>
              </a:rPr>
              <a:t>懒惰</a:t>
            </a:r>
            <a:r>
              <a:rPr lang="zh-CN" altLang="zh-CN" dirty="0">
                <a:latin typeface="宋体" panose="02010600030101010101" pitchFamily="2" charset="-122"/>
                <a:ea typeface="宋体" panose="02010600030101010101" pitchFamily="2" charset="-122"/>
              </a:rPr>
              <a:t>匹配会选择最短的子串进行匹配。需注意的是，</a:t>
            </a:r>
            <a:r>
              <a:rPr lang="zh-CN" altLang="zh-CN" b="1" dirty="0">
                <a:latin typeface="宋体" panose="02010600030101010101" pitchFamily="2" charset="-122"/>
                <a:ea typeface="宋体" panose="02010600030101010101" pitchFamily="2" charset="-122"/>
              </a:rPr>
              <a:t>正则表达式的匹配的优先级顺序是从左到右的</a:t>
            </a:r>
            <a:r>
              <a:rPr lang="zh-CN" altLang="zh-CN" dirty="0">
                <a:latin typeface="宋体" panose="02010600030101010101" pitchFamily="2" charset="-122"/>
                <a:ea typeface="宋体" panose="02010600030101010101" pitchFamily="2" charset="-122"/>
              </a:rPr>
              <a:t>。</a:t>
            </a:r>
          </a:p>
          <a:p>
            <a:pPr algn="just">
              <a:lnSpc>
                <a:spcPct val="150000"/>
              </a:lnSpc>
              <a:spcBef>
                <a:spcPts val="1000"/>
              </a:spcBef>
            </a:pP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04170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10.3.2</a:t>
            </a:r>
            <a:r>
              <a:rPr lang="zh-CN" altLang="en-US" dirty="0">
                <a:latin typeface="Microsoft YaHei" panose="020B0503020204020204" pitchFamily="34" charset="-122"/>
                <a:ea typeface="Microsoft YaHei" panose="020B0503020204020204" pitchFamily="34" charset="-122"/>
              </a:rPr>
              <a:t> 懒惰匹配和贪婪匹配</a:t>
            </a:r>
            <a:r>
              <a:rPr lang="en-US" altLang="ja-JP" dirty="0">
                <a:latin typeface="Microsoft YaHei" panose="020B0503020204020204" pitchFamily="34" charset="-122"/>
                <a:ea typeface="Microsoft YaHei" panose="020B0503020204020204" pitchFamily="34" charset="-122"/>
              </a:rPr>
              <a:t> </a:t>
            </a:r>
            <a:endParaRPr lang="en-US" dirty="0"/>
          </a:p>
        </p:txBody>
      </p:sp>
      <p:pic>
        <p:nvPicPr>
          <p:cNvPr id="3" name="Picture 2">
            <a:extLst>
              <a:ext uri="{FF2B5EF4-FFF2-40B4-BE49-F238E27FC236}">
                <a16:creationId xmlns:a16="http://schemas.microsoft.com/office/drawing/2014/main" id="{444AAE6F-5B10-80A5-1FEF-361BE46DFDD3}"/>
              </a:ext>
            </a:extLst>
          </p:cNvPr>
          <p:cNvPicPr>
            <a:picLocks noChangeAspect="1"/>
          </p:cNvPicPr>
          <p:nvPr/>
        </p:nvPicPr>
        <p:blipFill>
          <a:blip r:embed="rId3"/>
          <a:stretch>
            <a:fillRect/>
          </a:stretch>
        </p:blipFill>
        <p:spPr>
          <a:xfrm>
            <a:off x="1104900" y="1413328"/>
            <a:ext cx="4368800" cy="30734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1682EFBD-7589-1E73-6C2B-214608F90A3E}"/>
              </a:ext>
            </a:extLst>
          </p:cNvPr>
          <p:cNvPicPr>
            <a:picLocks noChangeAspect="1"/>
          </p:cNvPicPr>
          <p:nvPr/>
        </p:nvPicPr>
        <p:blipFill>
          <a:blip r:embed="rId4"/>
          <a:stretch>
            <a:fillRect/>
          </a:stretch>
        </p:blipFill>
        <p:spPr>
          <a:xfrm>
            <a:off x="1104900" y="5025572"/>
            <a:ext cx="4635500" cy="8382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216A9428-9ACE-0653-6669-31F3BEC0128F}"/>
              </a:ext>
            </a:extLst>
          </p:cNvPr>
          <p:cNvPicPr>
            <a:picLocks noChangeAspect="1"/>
          </p:cNvPicPr>
          <p:nvPr/>
        </p:nvPicPr>
        <p:blipFill>
          <a:blip r:embed="rId5"/>
          <a:stretch>
            <a:fillRect/>
          </a:stretch>
        </p:blipFill>
        <p:spPr>
          <a:xfrm>
            <a:off x="6488182" y="1832428"/>
            <a:ext cx="4597400" cy="25273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7F202F0A-3FB8-6195-36FC-07E542F79F8D}"/>
              </a:ext>
            </a:extLst>
          </p:cNvPr>
          <p:cNvPicPr>
            <a:picLocks noChangeAspect="1"/>
          </p:cNvPicPr>
          <p:nvPr/>
        </p:nvPicPr>
        <p:blipFill>
          <a:blip r:embed="rId6"/>
          <a:stretch>
            <a:fillRect/>
          </a:stretch>
        </p:blipFill>
        <p:spPr>
          <a:xfrm>
            <a:off x="6488182" y="5025572"/>
            <a:ext cx="4622800" cy="838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2828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Microsoft YaHei" panose="020B0503020204020204" pitchFamily="34" charset="-122"/>
                <a:ea typeface="Microsoft YaHei" panose="020B0503020204020204" pitchFamily="34" charset="-122"/>
              </a:rPr>
              <a:t>10.3.3</a:t>
            </a:r>
            <a:r>
              <a:rPr lang="zh-CN" altLang="en-US" dirty="0">
                <a:latin typeface="Microsoft YaHei" panose="020B0503020204020204" pitchFamily="34" charset="-122"/>
                <a:ea typeface="Microsoft YaHei" panose="020B0503020204020204" pitchFamily="34" charset="-122"/>
              </a:rPr>
              <a:t> 分组</a:t>
            </a:r>
            <a:endParaRPr lang="en-US" dirty="0"/>
          </a:p>
        </p:txBody>
      </p:sp>
      <p:sp>
        <p:nvSpPr>
          <p:cNvPr id="4" name="文本框 3"/>
          <p:cNvSpPr txBox="1"/>
          <p:nvPr/>
        </p:nvSpPr>
        <p:spPr>
          <a:xfrm>
            <a:off x="1104900" y="1232724"/>
            <a:ext cx="9982200" cy="943528"/>
          </a:xfrm>
          <a:prstGeom prst="rect">
            <a:avLst/>
          </a:prstGeom>
          <a:noFill/>
        </p:spPr>
        <p:txBody>
          <a:bodyPr wrap="square" rtlCol="0">
            <a:spAutoFit/>
          </a:bodyPr>
          <a:lstStyle/>
          <a:p>
            <a:pPr marL="342900" indent="-342900" algn="just">
              <a:lnSpc>
                <a:spcPct val="150000"/>
              </a:lnSpc>
              <a:spcBef>
                <a:spcPts val="1000"/>
              </a:spcBef>
              <a:buFont typeface="Arial" panose="020B0604020202020204" pitchFamily="34" charset="0"/>
              <a:buChar char="•"/>
            </a:pPr>
            <a:r>
              <a:rPr lang="ja-JP" altLang="zh-CN" sz="2000">
                <a:latin typeface="宋体" panose="02010600030101010101" pitchFamily="2" charset="-122"/>
                <a:ea typeface="宋体" panose="02010600030101010101" pitchFamily="2" charset="-122"/>
              </a:rPr>
              <a:t>分组</a:t>
            </a:r>
            <a:r>
              <a:rPr lang="ja-JP" altLang="zh-CN" sz="2000" dirty="0">
                <a:latin typeface="宋体" panose="02010600030101010101" pitchFamily="2" charset="-122"/>
                <a:ea typeface="宋体" panose="02010600030101010101" pitchFamily="2" charset="-122"/>
              </a:rPr>
              <a:t>又称为子</a:t>
            </a:r>
            <a:r>
              <a:rPr lang="zh-CN" altLang="zh-CN" sz="2000" dirty="0">
                <a:latin typeface="宋体" panose="02010600030101010101" pitchFamily="2" charset="-122"/>
                <a:ea typeface="宋体" panose="02010600030101010101" pitchFamily="2" charset="-122"/>
              </a:rPr>
              <a:t>模式，或者</a:t>
            </a:r>
            <a:r>
              <a:rPr lang="ja-JP" altLang="zh-CN" sz="2000" dirty="0">
                <a:latin typeface="宋体" panose="02010600030101010101" pitchFamily="2" charset="-122"/>
                <a:ea typeface="宋体" panose="02010600030101010101" pitchFamily="2" charset="-122"/>
              </a:rPr>
              <a:t>表达式，</a:t>
            </a:r>
            <a:r>
              <a:rPr lang="zh-CN" altLang="zh-CN" sz="2000" dirty="0">
                <a:latin typeface="宋体" panose="02010600030101010101" pitchFamily="2" charset="-122"/>
                <a:ea typeface="宋体" panose="02010600030101010101" pitchFamily="2" charset="-122"/>
              </a:rPr>
              <a:t>使用圆括号</a:t>
            </a:r>
            <a:r>
              <a:rPr lang="en-US" altLang="zh-CN" sz="2000" dirty="0">
                <a:latin typeface="宋体" panose="02010600030101010101" pitchFamily="2" charset="-122"/>
                <a:ea typeface="宋体" panose="02010600030101010101" pitchFamily="2" charset="-122"/>
              </a:rPr>
              <a:t>“</a:t>
            </a:r>
            <a:r>
              <a:rPr lang="en-US" altLang="zh-CN" sz="2000" dirty="0">
                <a:solidFill>
                  <a:srgbClr val="0432FF"/>
                </a:solidFill>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来表示，即</a:t>
            </a:r>
            <a:r>
              <a:rPr lang="ja-JP" altLang="zh-CN" sz="2000" dirty="0">
                <a:latin typeface="宋体" panose="02010600030101010101" pitchFamily="2" charset="-122"/>
                <a:ea typeface="宋体" panose="02010600030101010101" pitchFamily="2" charset="-122"/>
              </a:rPr>
              <a:t>把圆括号中的表达式看做一个整体来处理</a:t>
            </a:r>
            <a:r>
              <a:rPr lang="zh-CN" altLang="zh-CN" sz="2000" dirty="0">
                <a:latin typeface="宋体" panose="02010600030101010101" pitchFamily="2" charset="-122"/>
                <a:ea typeface="宋体" panose="02010600030101010101" pitchFamily="2" charset="-122"/>
              </a:rPr>
              <a:t>，可以把</a:t>
            </a:r>
            <a:r>
              <a:rPr lang="ja-JP" altLang="zh-CN" sz="2000" dirty="0">
                <a:latin typeface="宋体" panose="02010600030101010101" pitchFamily="2" charset="-122"/>
                <a:ea typeface="宋体" panose="02010600030101010101" pitchFamily="2" charset="-122"/>
              </a:rPr>
              <a:t>一个正则表达式的全部或部分分成一个或多个</a:t>
            </a:r>
            <a:r>
              <a:rPr lang="zh-CN" altLang="zh-CN" sz="2000" dirty="0">
                <a:latin typeface="宋体" panose="02010600030101010101" pitchFamily="2" charset="-122"/>
                <a:ea typeface="宋体" panose="02010600030101010101" pitchFamily="2" charset="-122"/>
              </a:rPr>
              <a:t>子模式</a:t>
            </a:r>
            <a:r>
              <a:rPr lang="ja-JP"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177588110"/>
              </p:ext>
            </p:extLst>
          </p:nvPr>
        </p:nvGraphicFramePr>
        <p:xfrm>
          <a:off x="784970" y="2426788"/>
          <a:ext cx="4806349" cy="1825514"/>
        </p:xfrm>
        <a:graphic>
          <a:graphicData uri="http://schemas.openxmlformats.org/drawingml/2006/table">
            <a:tbl>
              <a:tblPr firstRow="1" firstCol="1" bandRow="1"/>
              <a:tblGrid>
                <a:gridCol w="4806349">
                  <a:extLst>
                    <a:ext uri="{9D8B030D-6E8A-4147-A177-3AD203B41FA5}">
                      <a16:colId xmlns:a16="http://schemas.microsoft.com/office/drawing/2014/main" val="2597568122"/>
                    </a:ext>
                  </a:extLst>
                </a:gridCol>
              </a:tblGrid>
              <a:tr h="463760">
                <a:tc>
                  <a:txBody>
                    <a:bodyPr/>
                    <a:lstStyle/>
                    <a:p>
                      <a:pPr indent="127000" algn="just">
                        <a:lnSpc>
                          <a:spcPts val="1900"/>
                        </a:lnSpc>
                        <a:spcAft>
                          <a:spcPts val="0"/>
                        </a:spcAft>
                      </a:pP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mystr</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 = '</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abcabcabc</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endPar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7E6E6"/>
                    </a:solidFill>
                  </a:tcPr>
                </a:tc>
                <a:extLst>
                  <a:ext uri="{0D108BD9-81ED-4DB2-BD59-A6C34878D82A}">
                    <a16:rowId xmlns:a16="http://schemas.microsoft.com/office/drawing/2014/main" val="3244181433"/>
                  </a:ext>
                </a:extLst>
              </a:tr>
              <a:tr h="453918">
                <a:tc>
                  <a:txBody>
                    <a:bodyPr/>
                    <a:lstStyle/>
                    <a:p>
                      <a:pPr indent="127000" algn="just">
                        <a:lnSpc>
                          <a:spcPts val="1900"/>
                        </a:lnSpc>
                        <a:spcAft>
                          <a:spcPts val="0"/>
                        </a:spcAft>
                      </a:pP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print(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re.match</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abc</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mystr</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endPar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E7E6E6"/>
                    </a:solidFill>
                  </a:tcPr>
                </a:tc>
                <a:extLst>
                  <a:ext uri="{0D108BD9-81ED-4DB2-BD59-A6C34878D82A}">
                    <a16:rowId xmlns:a16="http://schemas.microsoft.com/office/drawing/2014/main" val="2970636847"/>
                  </a:ext>
                </a:extLst>
              </a:tr>
              <a:tr h="453918">
                <a:tc>
                  <a:txBody>
                    <a:bodyPr/>
                    <a:lstStyle/>
                    <a:p>
                      <a:pPr indent="127000" algn="just">
                        <a:lnSpc>
                          <a:spcPts val="1900"/>
                        </a:lnSpc>
                        <a:spcAft>
                          <a:spcPts val="0"/>
                        </a:spcAft>
                      </a:pP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print(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re.match</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abc</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mystr</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endPar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E7E6E6"/>
                    </a:solidFill>
                  </a:tcPr>
                </a:tc>
                <a:extLst>
                  <a:ext uri="{0D108BD9-81ED-4DB2-BD59-A6C34878D82A}">
                    <a16:rowId xmlns:a16="http://schemas.microsoft.com/office/drawing/2014/main" val="719386169"/>
                  </a:ext>
                </a:extLst>
              </a:tr>
              <a:tr h="453918">
                <a:tc>
                  <a:txBody>
                    <a:bodyPr/>
                    <a:lstStyle/>
                    <a:p>
                      <a:pPr indent="127000" algn="just">
                        <a:lnSpc>
                          <a:spcPts val="1900"/>
                        </a:lnSpc>
                        <a:spcAft>
                          <a:spcPts val="0"/>
                        </a:spcAft>
                      </a:pP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print(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re.match</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abc</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){1,2}',</a:t>
                      </a:r>
                      <a:r>
                        <a:rPr lang="en-US" sz="1800" kern="100" dirty="0" err="1">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mystr</a:t>
                      </a:r>
                      <a:r>
                        <a:rPr lang="en-US" sz="1800" kern="100" dirty="0">
                          <a:solidFill>
                            <a:srgbClr val="000000"/>
                          </a:solidFill>
                          <a:effectLst/>
                          <a:latin typeface="Consolas" panose="020B0609020204030204" pitchFamily="49" charset="0"/>
                          <a:ea typeface="宋体" panose="02010600030101010101" pitchFamily="2" charset="-122"/>
                          <a:cs typeface="Times New Roman" panose="02020603050405020304" pitchFamily="18" charset="0"/>
                        </a:rPr>
                        <a:t>))</a:t>
                      </a:r>
                      <a:endParaRPr 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664803973"/>
                  </a:ext>
                </a:extLst>
              </a:tr>
            </a:tbl>
          </a:graphicData>
        </a:graphic>
      </p:graphicFrame>
      <p:sp>
        <p:nvSpPr>
          <p:cNvPr id="5" name="矩形 4"/>
          <p:cNvSpPr/>
          <p:nvPr/>
        </p:nvSpPr>
        <p:spPr>
          <a:xfrm>
            <a:off x="5432927" y="3429000"/>
            <a:ext cx="6609064" cy="823302"/>
          </a:xfrm>
          <a:prstGeom prst="rect">
            <a:avLst/>
          </a:prstGeom>
        </p:spPr>
        <p:txBody>
          <a:bodyPr wrap="square">
            <a:spAutoFit/>
          </a:bodyPr>
          <a:lstStyle/>
          <a:p>
            <a:pPr indent="228600" fontAlgn="base" latinLnBrk="1">
              <a:lnSpc>
                <a:spcPts val="19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&lt;</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re.Match</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 object; span=(0, 3), match='</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abc</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'&gt;</a:t>
            </a:r>
            <a:endPar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28600" fontAlgn="base" latinLnBrk="1">
              <a:lnSpc>
                <a:spcPts val="19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&lt;</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re.Match</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 object; span=(0, 9), match='</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abcabcabc</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'&gt;</a:t>
            </a:r>
            <a:endPar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28600" fontAlgn="base" latinLnBrk="1">
              <a:lnSpc>
                <a:spcPts val="19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&lt;</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re.Match</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 object; span=(0, 6), match='</a:t>
            </a:r>
            <a:r>
              <a:rPr lang="en-US" altLang="zh-CN" dirty="0" err="1">
                <a:solidFill>
                  <a:srgbClr val="000000"/>
                </a:solidFill>
                <a:latin typeface="Consolas" panose="020B0609020204030204" pitchFamily="49" charset="0"/>
                <a:ea typeface="宋体" panose="02010600030101010101" pitchFamily="2" charset="-122"/>
                <a:cs typeface="Times New Roman" panose="02020603050405020304" pitchFamily="18" charset="0"/>
              </a:rPr>
              <a:t>abcabc</a:t>
            </a:r>
            <a:r>
              <a:rPr lang="en-US" altLang="zh-CN" dirty="0">
                <a:solidFill>
                  <a:srgbClr val="000000"/>
                </a:solidFill>
                <a:latin typeface="Consolas" panose="020B0609020204030204" pitchFamily="49" charset="0"/>
                <a:ea typeface="宋体" panose="02010600030101010101" pitchFamily="2" charset="-122"/>
                <a:cs typeface="Times New Roman" panose="02020603050405020304" pitchFamily="18" charset="0"/>
              </a:rPr>
              <a:t>'&gt;</a:t>
            </a:r>
            <a:endParaRPr lang="zh-CN" altLang="zh-CN"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5715954" y="2969328"/>
            <a:ext cx="1467068" cy="400110"/>
          </a:xfrm>
          <a:prstGeom prst="rect">
            <a:avLst/>
          </a:prstGeom>
        </p:spPr>
        <p:txBody>
          <a:bodyPr wrap="none">
            <a:spAutoFit/>
          </a:bodyPr>
          <a:lstStyle/>
          <a:p>
            <a:r>
              <a:rPr lang="zh-CN" altLang="zh-CN" sz="2000" kern="0" dirty="0">
                <a:latin typeface="Consolas" panose="020B0609020204030204" pitchFamily="49" charset="0"/>
                <a:ea typeface="宋体" panose="02010600030101010101" pitchFamily="2" charset="-122"/>
                <a:cs typeface="Times New Roman" panose="02020603050405020304" pitchFamily="18" charset="0"/>
              </a:rPr>
              <a:t>运行</a:t>
            </a:r>
            <a:r>
              <a:rPr lang="ja-JP" altLang="zh-CN" sz="2000" kern="0" dirty="0">
                <a:latin typeface="Consolas" panose="020B0609020204030204" pitchFamily="49" charset="0"/>
                <a:ea typeface="宋体" panose="02010600030101010101" pitchFamily="2" charset="-122"/>
                <a:cs typeface="Times New Roman" panose="02020603050405020304" pitchFamily="18" charset="0"/>
              </a:rPr>
              <a:t>结果</a:t>
            </a:r>
            <a:r>
              <a:rPr lang="zh-CN" altLang="zh-CN" sz="2000" kern="0" dirty="0">
                <a:latin typeface="Consolas" panose="020B0609020204030204" pitchFamily="49" charset="0"/>
                <a:ea typeface="宋体" panose="02010600030101010101" pitchFamily="2" charset="-122"/>
                <a:cs typeface="Times New Roman" panose="02020603050405020304" pitchFamily="18" charset="0"/>
              </a:rPr>
              <a:t>为</a:t>
            </a:r>
            <a:endParaRPr lang="zh-CN" altLang="en-US" sz="2000" dirty="0"/>
          </a:p>
        </p:txBody>
      </p:sp>
      <p:pic>
        <p:nvPicPr>
          <p:cNvPr id="8" name="Picture 7">
            <a:extLst>
              <a:ext uri="{FF2B5EF4-FFF2-40B4-BE49-F238E27FC236}">
                <a16:creationId xmlns:a16="http://schemas.microsoft.com/office/drawing/2014/main" id="{CD5BEEE9-FACA-F39E-D93E-18A01729DA80}"/>
              </a:ext>
            </a:extLst>
          </p:cNvPr>
          <p:cNvPicPr>
            <a:picLocks noChangeAspect="1"/>
          </p:cNvPicPr>
          <p:nvPr/>
        </p:nvPicPr>
        <p:blipFill>
          <a:blip r:embed="rId3"/>
          <a:stretch>
            <a:fillRect/>
          </a:stretch>
        </p:blipFill>
        <p:spPr>
          <a:xfrm>
            <a:off x="2308643" y="4429048"/>
            <a:ext cx="7772400" cy="164027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70207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58C3C4-8421-3E9A-D97F-43A9DD54E8AE}"/>
              </a:ext>
            </a:extLst>
          </p:cNvPr>
          <p:cNvPicPr>
            <a:picLocks noChangeAspect="1"/>
          </p:cNvPicPr>
          <p:nvPr/>
        </p:nvPicPr>
        <p:blipFill>
          <a:blip r:embed="rId2"/>
          <a:stretch>
            <a:fillRect/>
          </a:stretch>
        </p:blipFill>
        <p:spPr>
          <a:xfrm>
            <a:off x="469900" y="203200"/>
            <a:ext cx="5081814" cy="2913726"/>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4FF48FA9-68B4-4195-F5C1-4EA54C0CEE89}"/>
              </a:ext>
            </a:extLst>
          </p:cNvPr>
          <p:cNvPicPr>
            <a:picLocks noChangeAspect="1"/>
          </p:cNvPicPr>
          <p:nvPr/>
        </p:nvPicPr>
        <p:blipFill>
          <a:blip r:embed="rId3"/>
          <a:stretch>
            <a:fillRect/>
          </a:stretch>
        </p:blipFill>
        <p:spPr>
          <a:xfrm>
            <a:off x="469900" y="3258458"/>
            <a:ext cx="4657271" cy="3153361"/>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AB833F66-40CF-A5EC-3D38-46458D5DBA8F}"/>
              </a:ext>
            </a:extLst>
          </p:cNvPr>
          <p:cNvPicPr>
            <a:picLocks noChangeAspect="1"/>
          </p:cNvPicPr>
          <p:nvPr/>
        </p:nvPicPr>
        <p:blipFill>
          <a:blip r:embed="rId4"/>
          <a:stretch>
            <a:fillRect/>
          </a:stretch>
        </p:blipFill>
        <p:spPr>
          <a:xfrm>
            <a:off x="6096000" y="128604"/>
            <a:ext cx="4826907" cy="2739596"/>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4316B50A-EC6E-2A21-9D99-FE1262588E39}"/>
              </a:ext>
            </a:extLst>
          </p:cNvPr>
          <p:cNvPicPr>
            <a:picLocks noChangeAspect="1"/>
          </p:cNvPicPr>
          <p:nvPr/>
        </p:nvPicPr>
        <p:blipFill>
          <a:blip r:embed="rId5"/>
          <a:stretch>
            <a:fillRect/>
          </a:stretch>
        </p:blipFill>
        <p:spPr>
          <a:xfrm>
            <a:off x="4311652" y="2706409"/>
            <a:ext cx="4657271" cy="2128729"/>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6D18B6DD-370D-6226-7C2F-2DD7A2BB25AD}"/>
              </a:ext>
            </a:extLst>
          </p:cNvPr>
          <p:cNvPicPr>
            <a:picLocks noChangeAspect="1"/>
          </p:cNvPicPr>
          <p:nvPr/>
        </p:nvPicPr>
        <p:blipFill>
          <a:blip r:embed="rId6"/>
          <a:stretch>
            <a:fillRect/>
          </a:stretch>
        </p:blipFill>
        <p:spPr>
          <a:xfrm>
            <a:off x="8025040" y="4508633"/>
            <a:ext cx="3697514" cy="222076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31662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D060C0-90BF-BA2D-F226-FBE3546D7F58}"/>
              </a:ext>
            </a:extLst>
          </p:cNvPr>
          <p:cNvSpPr txBox="1"/>
          <p:nvPr/>
        </p:nvSpPr>
        <p:spPr>
          <a:xfrm>
            <a:off x="1024847" y="770830"/>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2.5 </a:t>
            </a:r>
            <a:r>
              <a:rPr lang="zh-CN" altLang="en-US" b="1" i="0" dirty="0">
                <a:solidFill>
                  <a:srgbClr val="0432FF"/>
                </a:solidFill>
                <a:effectLst/>
                <a:latin typeface="-apple-system"/>
              </a:rPr>
              <a:t>字符组</a:t>
            </a:r>
          </a:p>
        </p:txBody>
      </p:sp>
      <p:sp>
        <p:nvSpPr>
          <p:cNvPr id="7" name="TextBox 6">
            <a:extLst>
              <a:ext uri="{FF2B5EF4-FFF2-40B4-BE49-F238E27FC236}">
                <a16:creationId xmlns:a16="http://schemas.microsoft.com/office/drawing/2014/main" id="{F2B38E87-9DA4-06A8-1F59-F9A701320778}"/>
              </a:ext>
            </a:extLst>
          </p:cNvPr>
          <p:cNvSpPr txBox="1"/>
          <p:nvPr/>
        </p:nvSpPr>
        <p:spPr>
          <a:xfrm>
            <a:off x="1137862" y="1150826"/>
            <a:ext cx="9321230" cy="1664238"/>
          </a:xfrm>
          <a:prstGeom prst="rect">
            <a:avLst/>
          </a:prstGeom>
          <a:noFill/>
        </p:spPr>
        <p:txBody>
          <a:bodyPr wrap="square">
            <a:spAutoFit/>
          </a:bodyPr>
          <a:lstStyle/>
          <a:p>
            <a:pPr>
              <a:lnSpc>
                <a:spcPct val="130000"/>
              </a:lnSpc>
            </a:pPr>
            <a:r>
              <a:rPr lang="zh-CN" altLang="en-US" sz="1600" b="0" i="0" dirty="0">
                <a:effectLst/>
                <a:latin typeface="-apple-system"/>
              </a:rPr>
              <a:t>字符组是一组写在圆括号内的子模式 </a:t>
            </a:r>
            <a:r>
              <a:rPr lang="en-US" altLang="zh-CN" sz="1600" dirty="0">
                <a:solidFill>
                  <a:srgbClr val="0432FF"/>
                </a:solidFill>
              </a:rPr>
              <a:t>(...)</a:t>
            </a:r>
            <a:r>
              <a:rPr lang="zh-CN" altLang="en-US" sz="1600" b="0" i="0" dirty="0">
                <a:effectLst/>
                <a:latin typeface="-apple-system"/>
              </a:rPr>
              <a:t>。正如我们在正则表达式中讨论的那样，如果我们把一个量词放在一个字符之后，它会重复前一个字符。 但是，如果我们把量词放在一个字符组之后，它会重复整个字符组。 </a:t>
            </a:r>
            <a:endParaRPr lang="en-US" altLang="zh-CN" sz="1600" b="0" i="0" dirty="0">
              <a:effectLst/>
              <a:latin typeface="-apple-system"/>
            </a:endParaRPr>
          </a:p>
          <a:p>
            <a:pPr marL="285750" indent="-285750">
              <a:lnSpc>
                <a:spcPct val="130000"/>
              </a:lnSpc>
              <a:buFont typeface="Arial" panose="020B0604020202020204" pitchFamily="34" charset="0"/>
              <a:buChar char="•"/>
            </a:pPr>
            <a:r>
              <a:rPr lang="zh-CN" altLang="en-US" sz="1600" b="0" i="0" dirty="0">
                <a:effectLst/>
                <a:latin typeface="-apple-system"/>
              </a:rPr>
              <a:t>例如正则表达式 </a:t>
            </a:r>
            <a:r>
              <a:rPr lang="en-US" altLang="zh-CN" sz="1600" dirty="0">
                <a:solidFill>
                  <a:srgbClr val="0432FF"/>
                </a:solidFill>
              </a:rPr>
              <a:t>(</a:t>
            </a:r>
            <a:r>
              <a:rPr lang="en-US" sz="1600" dirty="0">
                <a:solidFill>
                  <a:srgbClr val="0432FF"/>
                </a:solidFill>
              </a:rPr>
              <a:t>ab)*</a:t>
            </a:r>
            <a:r>
              <a:rPr lang="en-US" sz="1600" b="0" i="0" dirty="0">
                <a:solidFill>
                  <a:srgbClr val="0432FF"/>
                </a:solidFill>
                <a:effectLst/>
                <a:latin typeface="-apple-system"/>
              </a:rPr>
              <a:t> </a:t>
            </a:r>
            <a:r>
              <a:rPr lang="zh-CN" altLang="en-US" sz="1600" b="0" i="0" dirty="0">
                <a:effectLst/>
                <a:latin typeface="-apple-system"/>
              </a:rPr>
              <a:t>表示匹配零个或多个的字符串</a:t>
            </a:r>
            <a:r>
              <a:rPr lang="zh-CN" altLang="en-US" sz="1600" b="0" i="0" dirty="0">
                <a:solidFill>
                  <a:srgbClr val="0432FF"/>
                </a:solidFill>
                <a:effectLst/>
                <a:latin typeface="-apple-system"/>
              </a:rPr>
              <a:t>“</a:t>
            </a:r>
            <a:r>
              <a:rPr lang="en-US" sz="1600" b="0" i="0" dirty="0">
                <a:solidFill>
                  <a:srgbClr val="0432FF"/>
                </a:solidFill>
                <a:effectLst/>
                <a:latin typeface="-apple-system"/>
              </a:rPr>
              <a:t>ab”</a:t>
            </a:r>
            <a:r>
              <a:rPr lang="en-US" sz="1600" b="0" i="0" dirty="0">
                <a:effectLst/>
                <a:latin typeface="-apple-system"/>
              </a:rPr>
              <a:t>。</a:t>
            </a:r>
            <a:r>
              <a:rPr lang="zh-CN" altLang="en-US" sz="1600" b="0" i="0" dirty="0">
                <a:effectLst/>
                <a:latin typeface="-apple-system"/>
              </a:rPr>
              <a:t>我们还可以在字符组中使用元字符 </a:t>
            </a:r>
            <a:r>
              <a:rPr lang="en-US" altLang="zh-CN" sz="1600" dirty="0">
                <a:solidFill>
                  <a:srgbClr val="0432FF"/>
                </a:solidFill>
              </a:rPr>
              <a:t>|</a:t>
            </a:r>
            <a:r>
              <a:rPr lang="zh-CN" altLang="en-US" sz="1600" b="0" i="0" dirty="0">
                <a:effectLst/>
                <a:latin typeface="-apple-system"/>
              </a:rPr>
              <a:t>。例如正则表达式</a:t>
            </a:r>
            <a:r>
              <a:rPr lang="zh-CN" altLang="en-US" sz="1600" b="0" i="0" dirty="0">
                <a:solidFill>
                  <a:srgbClr val="0432FF"/>
                </a:solidFill>
                <a:effectLst/>
                <a:latin typeface="-apple-system"/>
              </a:rPr>
              <a:t> </a:t>
            </a:r>
            <a:r>
              <a:rPr lang="en-US" altLang="zh-CN" sz="1600" dirty="0">
                <a:solidFill>
                  <a:srgbClr val="0432FF"/>
                </a:solidFill>
              </a:rPr>
              <a:t>(</a:t>
            </a:r>
            <a:r>
              <a:rPr lang="en-US" sz="1600" dirty="0" err="1">
                <a:solidFill>
                  <a:srgbClr val="0432FF"/>
                </a:solidFill>
              </a:rPr>
              <a:t>c|g|p</a:t>
            </a:r>
            <a:r>
              <a:rPr lang="en-US" sz="1600" dirty="0">
                <a:solidFill>
                  <a:srgbClr val="0432FF"/>
                </a:solidFill>
              </a:rPr>
              <a:t>)</a:t>
            </a:r>
            <a:r>
              <a:rPr lang="en-US" sz="1600" dirty="0" err="1">
                <a:solidFill>
                  <a:srgbClr val="0432FF"/>
                </a:solidFill>
              </a:rPr>
              <a:t>ar</a:t>
            </a:r>
            <a:r>
              <a:rPr lang="en-US" sz="1600" b="0" i="0" dirty="0">
                <a:effectLst/>
                <a:latin typeface="-apple-system"/>
              </a:rPr>
              <a:t>，</a:t>
            </a:r>
            <a:r>
              <a:rPr lang="zh-CN" altLang="en-US" sz="1600" b="0" i="0" dirty="0">
                <a:effectLst/>
                <a:latin typeface="-apple-system"/>
              </a:rPr>
              <a:t>表示：小写字母 </a:t>
            </a:r>
            <a:r>
              <a:rPr lang="en-US" sz="1600" dirty="0" err="1">
                <a:solidFill>
                  <a:srgbClr val="0432FF"/>
                </a:solidFill>
              </a:rPr>
              <a:t>c</a:t>
            </a:r>
            <a:r>
              <a:rPr lang="en-US" sz="1600" b="0" i="0" dirty="0" err="1">
                <a:solidFill>
                  <a:srgbClr val="0432FF"/>
                </a:solidFill>
                <a:effectLst/>
                <a:latin typeface="-apple-system"/>
              </a:rPr>
              <a:t>、</a:t>
            </a:r>
            <a:r>
              <a:rPr lang="en-US" sz="1600" dirty="0" err="1">
                <a:solidFill>
                  <a:srgbClr val="0432FF"/>
                </a:solidFill>
              </a:rPr>
              <a:t>g</a:t>
            </a:r>
            <a:r>
              <a:rPr lang="en-US" sz="1600" b="0" i="0" dirty="0">
                <a:effectLst/>
                <a:latin typeface="-apple-system"/>
              </a:rPr>
              <a:t> </a:t>
            </a:r>
            <a:r>
              <a:rPr lang="zh-CN" altLang="en-US" sz="1600" b="0" i="0" dirty="0">
                <a:effectLst/>
                <a:latin typeface="-apple-system"/>
              </a:rPr>
              <a:t>或 </a:t>
            </a:r>
            <a:r>
              <a:rPr lang="en-US" sz="1600" dirty="0">
                <a:solidFill>
                  <a:srgbClr val="0432FF"/>
                </a:solidFill>
              </a:rPr>
              <a:t>p</a:t>
            </a:r>
            <a:r>
              <a:rPr lang="en-US" sz="1600" b="0" i="0" dirty="0">
                <a:solidFill>
                  <a:srgbClr val="0432FF"/>
                </a:solidFill>
                <a:effectLst/>
                <a:latin typeface="-apple-system"/>
              </a:rPr>
              <a:t> </a:t>
            </a:r>
            <a:r>
              <a:rPr lang="zh-CN" altLang="en-US" sz="1600" b="0" i="0" dirty="0">
                <a:effectLst/>
                <a:latin typeface="-apple-system"/>
              </a:rPr>
              <a:t>后面跟字母</a:t>
            </a:r>
            <a:r>
              <a:rPr lang="zh-CN" altLang="en-US" sz="1600" b="0" i="0" dirty="0">
                <a:solidFill>
                  <a:srgbClr val="0432FF"/>
                </a:solidFill>
                <a:effectLst/>
                <a:latin typeface="-apple-system"/>
              </a:rPr>
              <a:t> </a:t>
            </a:r>
            <a:r>
              <a:rPr lang="en-US" sz="1600" dirty="0">
                <a:solidFill>
                  <a:srgbClr val="0432FF"/>
                </a:solidFill>
              </a:rPr>
              <a:t>a</a:t>
            </a:r>
            <a:r>
              <a:rPr lang="en-US" sz="1600" b="0" i="0" dirty="0">
                <a:effectLst/>
                <a:latin typeface="-apple-system"/>
              </a:rPr>
              <a:t>，</a:t>
            </a:r>
            <a:r>
              <a:rPr lang="zh-CN" altLang="en-US" sz="1600" b="0" i="0" dirty="0">
                <a:effectLst/>
                <a:latin typeface="-apple-system"/>
              </a:rPr>
              <a:t>后跟字母</a:t>
            </a:r>
            <a:r>
              <a:rPr lang="zh-CN" altLang="en-US" sz="1600" b="0" i="0" dirty="0">
                <a:solidFill>
                  <a:srgbClr val="0432FF"/>
                </a:solidFill>
                <a:effectLst/>
                <a:latin typeface="-apple-system"/>
              </a:rPr>
              <a:t> </a:t>
            </a:r>
            <a:r>
              <a:rPr lang="en-US" sz="1600" dirty="0">
                <a:solidFill>
                  <a:srgbClr val="0432FF"/>
                </a:solidFill>
              </a:rPr>
              <a:t>r</a:t>
            </a:r>
            <a:r>
              <a:rPr lang="en-US" sz="1600" b="0" i="0" dirty="0">
                <a:effectLst/>
                <a:latin typeface="-apple-system"/>
              </a:rPr>
              <a:t>。</a:t>
            </a:r>
            <a:endParaRPr lang="zh-CN" altLang="en-US" sz="1600" dirty="0"/>
          </a:p>
        </p:txBody>
      </p:sp>
      <p:pic>
        <p:nvPicPr>
          <p:cNvPr id="8" name="Picture 7">
            <a:extLst>
              <a:ext uri="{FF2B5EF4-FFF2-40B4-BE49-F238E27FC236}">
                <a16:creationId xmlns:a16="http://schemas.microsoft.com/office/drawing/2014/main" id="{8F8A531D-EA88-4608-55AA-5637F0CF9965}"/>
              </a:ext>
            </a:extLst>
          </p:cNvPr>
          <p:cNvPicPr>
            <a:picLocks noChangeAspect="1"/>
          </p:cNvPicPr>
          <p:nvPr/>
        </p:nvPicPr>
        <p:blipFill>
          <a:blip r:embed="rId2"/>
          <a:stretch>
            <a:fillRect/>
          </a:stretch>
        </p:blipFill>
        <p:spPr>
          <a:xfrm>
            <a:off x="1521003" y="2888066"/>
            <a:ext cx="5105400" cy="431800"/>
          </a:xfrm>
          <a:prstGeom prst="rect">
            <a:avLst/>
          </a:prstGeom>
        </p:spPr>
      </p:pic>
      <p:pic>
        <p:nvPicPr>
          <p:cNvPr id="9" name="Picture 8">
            <a:extLst>
              <a:ext uri="{FF2B5EF4-FFF2-40B4-BE49-F238E27FC236}">
                <a16:creationId xmlns:a16="http://schemas.microsoft.com/office/drawing/2014/main" id="{880765DB-3A2E-1EDE-8C8A-FB5BC6ECBCF3}"/>
              </a:ext>
            </a:extLst>
          </p:cNvPr>
          <p:cNvPicPr>
            <a:picLocks noChangeAspect="1"/>
          </p:cNvPicPr>
          <p:nvPr/>
        </p:nvPicPr>
        <p:blipFill>
          <a:blip r:embed="rId3"/>
          <a:stretch>
            <a:fillRect/>
          </a:stretch>
        </p:blipFill>
        <p:spPr>
          <a:xfrm>
            <a:off x="1521003" y="5722317"/>
            <a:ext cx="5473700" cy="508000"/>
          </a:xfrm>
          <a:prstGeom prst="rect">
            <a:avLst/>
          </a:prstGeom>
        </p:spPr>
      </p:pic>
      <p:sp>
        <p:nvSpPr>
          <p:cNvPr id="11" name="TextBox 10">
            <a:extLst>
              <a:ext uri="{FF2B5EF4-FFF2-40B4-BE49-F238E27FC236}">
                <a16:creationId xmlns:a16="http://schemas.microsoft.com/office/drawing/2014/main" id="{6F119A43-CAB6-51E1-1328-EE59D8C9EA5B}"/>
              </a:ext>
            </a:extLst>
          </p:cNvPr>
          <p:cNvSpPr txBox="1"/>
          <p:nvPr/>
        </p:nvSpPr>
        <p:spPr>
          <a:xfrm>
            <a:off x="1024847" y="3538063"/>
            <a:ext cx="6097712" cy="369332"/>
          </a:xfrm>
          <a:prstGeom prst="rect">
            <a:avLst/>
          </a:prstGeom>
          <a:noFill/>
        </p:spPr>
        <p:txBody>
          <a:bodyPr wrap="square">
            <a:spAutoFit/>
          </a:bodyPr>
          <a:lstStyle/>
          <a:p>
            <a:pPr algn="l"/>
            <a:r>
              <a:rPr lang="en-US" altLang="zh-CN" b="1" i="0" dirty="0">
                <a:solidFill>
                  <a:srgbClr val="0432FF"/>
                </a:solidFill>
                <a:effectLst/>
                <a:latin typeface="-apple-system"/>
              </a:rPr>
              <a:t>2.6 </a:t>
            </a:r>
            <a:r>
              <a:rPr lang="zh-CN" altLang="en-US" b="1" i="0" dirty="0">
                <a:solidFill>
                  <a:srgbClr val="0432FF"/>
                </a:solidFill>
                <a:effectLst/>
                <a:latin typeface="-apple-system"/>
              </a:rPr>
              <a:t>分支结构</a:t>
            </a:r>
          </a:p>
        </p:txBody>
      </p:sp>
      <p:sp>
        <p:nvSpPr>
          <p:cNvPr id="13" name="TextBox 12">
            <a:extLst>
              <a:ext uri="{FF2B5EF4-FFF2-40B4-BE49-F238E27FC236}">
                <a16:creationId xmlns:a16="http://schemas.microsoft.com/office/drawing/2014/main" id="{554F4745-C2A4-E44A-CD91-655AEB8186B8}"/>
              </a:ext>
            </a:extLst>
          </p:cNvPr>
          <p:cNvSpPr txBox="1"/>
          <p:nvPr/>
        </p:nvSpPr>
        <p:spPr>
          <a:xfrm>
            <a:off x="1137862" y="3950735"/>
            <a:ext cx="9865760" cy="1664238"/>
          </a:xfrm>
          <a:prstGeom prst="rect">
            <a:avLst/>
          </a:prstGeom>
          <a:noFill/>
        </p:spPr>
        <p:txBody>
          <a:bodyPr wrap="square">
            <a:spAutoFit/>
          </a:bodyPr>
          <a:lstStyle/>
          <a:p>
            <a:pPr>
              <a:lnSpc>
                <a:spcPct val="130000"/>
              </a:lnSpc>
            </a:pPr>
            <a:r>
              <a:rPr lang="zh-CN" altLang="en-US" sz="1600" b="0" i="0" dirty="0">
                <a:effectLst/>
                <a:latin typeface="-apple-system"/>
              </a:rPr>
              <a:t>在正则表达式中垂直条 </a:t>
            </a:r>
            <a:r>
              <a:rPr lang="en-US" altLang="zh-CN" sz="1600" dirty="0">
                <a:solidFill>
                  <a:srgbClr val="0432FF"/>
                </a:solidFill>
              </a:rPr>
              <a:t>|</a:t>
            </a:r>
            <a:r>
              <a:rPr lang="zh-CN" altLang="en-US" sz="1600" b="0" i="0" dirty="0">
                <a:solidFill>
                  <a:srgbClr val="0432FF"/>
                </a:solidFill>
                <a:effectLst/>
                <a:latin typeface="-apple-system"/>
              </a:rPr>
              <a:t> </a:t>
            </a:r>
            <a:r>
              <a:rPr lang="zh-CN" altLang="en-US" sz="1600" b="0" i="0" dirty="0">
                <a:effectLst/>
                <a:latin typeface="-apple-system"/>
              </a:rPr>
              <a:t>用来定义分支结构，分支结构就像多个表达式之间的条件。现在你可能认为这个字符集和分支结构的工作方式一样。 但是字符集和分支结构巨大的区别是字符集只在字符级别上有作用，然而分支结构在表达式级别上依然可以使用。 </a:t>
            </a:r>
            <a:endParaRPr lang="en-US" altLang="zh-CN" sz="1600" b="0" i="0" dirty="0">
              <a:effectLst/>
              <a:latin typeface="-apple-system"/>
            </a:endParaRPr>
          </a:p>
          <a:p>
            <a:pPr marL="285750" indent="-285750">
              <a:lnSpc>
                <a:spcPct val="130000"/>
              </a:lnSpc>
              <a:buFont typeface="Arial" panose="020B0604020202020204" pitchFamily="34" charset="0"/>
              <a:buChar char="•"/>
            </a:pPr>
            <a:r>
              <a:rPr lang="zh-CN" altLang="en-US" sz="1600" b="0" i="0" dirty="0">
                <a:effectLst/>
                <a:latin typeface="-apple-system"/>
              </a:rPr>
              <a:t>例如正则表达式 </a:t>
            </a:r>
            <a:r>
              <a:rPr lang="en-US" altLang="zh-CN" sz="1600" dirty="0">
                <a:solidFill>
                  <a:srgbClr val="0432FF"/>
                </a:solidFill>
              </a:rPr>
              <a:t>(</a:t>
            </a:r>
            <a:r>
              <a:rPr lang="en-US" sz="1600" dirty="0" err="1">
                <a:solidFill>
                  <a:srgbClr val="0432FF"/>
                </a:solidFill>
              </a:rPr>
              <a:t>T|t</a:t>
            </a:r>
            <a:r>
              <a:rPr lang="en-US" sz="1600" dirty="0">
                <a:solidFill>
                  <a:srgbClr val="0432FF"/>
                </a:solidFill>
              </a:rPr>
              <a:t>)</a:t>
            </a:r>
            <a:r>
              <a:rPr lang="en-US" sz="1600" dirty="0" err="1">
                <a:solidFill>
                  <a:srgbClr val="0432FF"/>
                </a:solidFill>
              </a:rPr>
              <a:t>he|car</a:t>
            </a:r>
            <a:r>
              <a:rPr lang="en-US" sz="1600" b="0" i="0" dirty="0">
                <a:effectLst/>
                <a:latin typeface="-apple-system"/>
              </a:rPr>
              <a:t>，</a:t>
            </a:r>
            <a:r>
              <a:rPr lang="zh-CN" altLang="en-US" sz="1600" b="0" i="0" dirty="0">
                <a:effectLst/>
                <a:latin typeface="-apple-system"/>
              </a:rPr>
              <a:t>表示：匹配大写字母 </a:t>
            </a:r>
            <a:r>
              <a:rPr lang="en-US" sz="1600" dirty="0">
                <a:solidFill>
                  <a:srgbClr val="0432FF"/>
                </a:solidFill>
              </a:rPr>
              <a:t>T</a:t>
            </a:r>
            <a:r>
              <a:rPr lang="en-US" sz="1600" b="0" i="0" dirty="0">
                <a:effectLst/>
                <a:latin typeface="-apple-system"/>
              </a:rPr>
              <a:t> </a:t>
            </a:r>
            <a:r>
              <a:rPr lang="zh-CN" altLang="en-US" sz="1600" b="0" i="0" dirty="0">
                <a:effectLst/>
                <a:latin typeface="-apple-system"/>
              </a:rPr>
              <a:t>或小写字母 </a:t>
            </a:r>
            <a:r>
              <a:rPr lang="en-US" sz="1600" dirty="0">
                <a:solidFill>
                  <a:srgbClr val="0432FF"/>
                </a:solidFill>
              </a:rPr>
              <a:t>t</a:t>
            </a:r>
            <a:r>
              <a:rPr lang="en-US" sz="1600" b="0" i="0" dirty="0">
                <a:effectLst/>
                <a:latin typeface="-apple-system"/>
              </a:rPr>
              <a:t>，</a:t>
            </a:r>
            <a:r>
              <a:rPr lang="zh-CN" altLang="en-US" sz="1600" b="0" i="0" dirty="0">
                <a:effectLst/>
                <a:latin typeface="-apple-system"/>
              </a:rPr>
              <a:t>后面跟小写字母 </a:t>
            </a:r>
            <a:r>
              <a:rPr lang="en-US" sz="1600" dirty="0">
                <a:solidFill>
                  <a:srgbClr val="0432FF"/>
                </a:solidFill>
              </a:rPr>
              <a:t>h</a:t>
            </a:r>
            <a:r>
              <a:rPr lang="en-US" sz="1600" b="0" i="0" dirty="0">
                <a:effectLst/>
                <a:latin typeface="-apple-system"/>
              </a:rPr>
              <a:t>，</a:t>
            </a:r>
            <a:r>
              <a:rPr lang="zh-CN" altLang="en-US" sz="1600" b="0" i="0" dirty="0">
                <a:effectLst/>
                <a:latin typeface="-apple-system"/>
              </a:rPr>
              <a:t>后跟小写字母</a:t>
            </a:r>
            <a:r>
              <a:rPr lang="zh-CN" altLang="en-US" sz="1600" b="0" i="0" dirty="0">
                <a:solidFill>
                  <a:srgbClr val="0432FF"/>
                </a:solidFill>
                <a:effectLst/>
                <a:latin typeface="-apple-system"/>
              </a:rPr>
              <a:t> </a:t>
            </a:r>
            <a:r>
              <a:rPr lang="en-US" sz="1600" dirty="0">
                <a:solidFill>
                  <a:srgbClr val="0432FF"/>
                </a:solidFill>
              </a:rPr>
              <a:t>e</a:t>
            </a:r>
            <a:r>
              <a:rPr lang="en-US" sz="1600" b="0" i="0" dirty="0">
                <a:effectLst/>
                <a:latin typeface="-apple-system"/>
              </a:rPr>
              <a:t>，</a:t>
            </a:r>
            <a:r>
              <a:rPr lang="zh-CN" altLang="en-US" sz="1600" b="0" i="0" dirty="0">
                <a:effectLst/>
                <a:latin typeface="-apple-system"/>
              </a:rPr>
              <a:t>或匹配小写字母 </a:t>
            </a:r>
            <a:r>
              <a:rPr lang="en-US" sz="1600" dirty="0">
                <a:solidFill>
                  <a:srgbClr val="0432FF"/>
                </a:solidFill>
              </a:rPr>
              <a:t>c</a:t>
            </a:r>
            <a:r>
              <a:rPr lang="en-US" sz="1600" b="0" i="0" dirty="0">
                <a:effectLst/>
                <a:latin typeface="-apple-system"/>
              </a:rPr>
              <a:t>，</a:t>
            </a:r>
            <a:r>
              <a:rPr lang="zh-CN" altLang="en-US" sz="1600" b="0" i="0" dirty="0">
                <a:effectLst/>
                <a:latin typeface="-apple-system"/>
              </a:rPr>
              <a:t>后跟小写字母 </a:t>
            </a:r>
            <a:r>
              <a:rPr lang="en-US" sz="1600" dirty="0">
                <a:solidFill>
                  <a:srgbClr val="0432FF"/>
                </a:solidFill>
              </a:rPr>
              <a:t>a</a:t>
            </a:r>
            <a:r>
              <a:rPr lang="en-US" sz="1600" b="0" i="0" dirty="0">
                <a:effectLst/>
                <a:latin typeface="-apple-system"/>
              </a:rPr>
              <a:t>，</a:t>
            </a:r>
            <a:r>
              <a:rPr lang="zh-CN" altLang="en-US" sz="1600" b="0" i="0" dirty="0">
                <a:effectLst/>
                <a:latin typeface="-apple-system"/>
              </a:rPr>
              <a:t>后跟小写字母 </a:t>
            </a:r>
            <a:r>
              <a:rPr lang="en-US" sz="1600" dirty="0">
                <a:solidFill>
                  <a:srgbClr val="0432FF"/>
                </a:solidFill>
              </a:rPr>
              <a:t>r</a:t>
            </a:r>
            <a:r>
              <a:rPr lang="en-US" sz="1600" b="0" i="0" dirty="0">
                <a:effectLst/>
                <a:latin typeface="-apple-system"/>
              </a:rPr>
              <a:t>。</a:t>
            </a:r>
            <a:endParaRPr lang="zh-CN" altLang="en-US" sz="1600" dirty="0"/>
          </a:p>
        </p:txBody>
      </p:sp>
    </p:spTree>
    <p:extLst>
      <p:ext uri="{BB962C8B-B14F-4D97-AF65-F5344CB8AC3E}">
        <p14:creationId xmlns:p14="http://schemas.microsoft.com/office/powerpoint/2010/main" val="378942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正则表达式常见示例</a:t>
            </a:r>
            <a:endParaRPr lang="en-US" dirty="0">
              <a:latin typeface="Microsoft YaHei" panose="020B0503020204020204" pitchFamily="34" charset="-122"/>
              <a:ea typeface="Microsoft YaHei" panose="020B0503020204020204" pitchFamily="34" charset="-122"/>
            </a:endParaRPr>
          </a:p>
        </p:txBody>
      </p:sp>
      <p:sp>
        <p:nvSpPr>
          <p:cNvPr id="4" name="文本框 3"/>
          <p:cNvSpPr txBox="1"/>
          <p:nvPr/>
        </p:nvSpPr>
        <p:spPr>
          <a:xfrm>
            <a:off x="1104900" y="1452796"/>
            <a:ext cx="5768511" cy="4421723"/>
          </a:xfrm>
          <a:prstGeom prst="rect">
            <a:avLst/>
          </a:prstGeom>
          <a:noFill/>
        </p:spPr>
        <p:txBody>
          <a:bodyPr wrap="square" rtlCol="0">
            <a:spAutoFit/>
          </a:bodyPr>
          <a:lstStyle/>
          <a:p>
            <a:pPr marL="342900" lvl="0" indent="-342900">
              <a:spcBef>
                <a:spcPts val="1000"/>
              </a:spcBef>
              <a:buFont typeface="Arial" panose="020B0604020202020204" pitchFamily="34" charset="0"/>
              <a:buChar char="•"/>
            </a:pPr>
            <a:r>
              <a:rPr lang="en-US" altLang="zh-CN" dirty="0">
                <a:solidFill>
                  <a:srgbClr val="0432FF"/>
                </a:solidFill>
              </a:rPr>
              <a:t>'^One'</a:t>
            </a:r>
            <a:r>
              <a:rPr lang="zh-CN" altLang="zh-CN" dirty="0"/>
              <a:t>，匹配以</a:t>
            </a:r>
            <a:r>
              <a:rPr lang="en-US" altLang="zh-CN" dirty="0"/>
              <a:t>'One'</a:t>
            </a:r>
            <a:r>
              <a:rPr lang="zh-CN" altLang="zh-CN" dirty="0"/>
              <a:t>开头的字符串；</a:t>
            </a:r>
          </a:p>
          <a:p>
            <a:pPr marL="342900" lvl="0" indent="-342900">
              <a:spcBef>
                <a:spcPts val="1000"/>
              </a:spcBef>
              <a:buFont typeface="Arial" panose="020B0604020202020204" pitchFamily="34" charset="0"/>
              <a:buChar char="•"/>
            </a:pPr>
            <a:r>
              <a:rPr lang="en-US" altLang="zh-CN" dirty="0">
                <a:solidFill>
                  <a:srgbClr val="0432FF"/>
                </a:solidFill>
              </a:rPr>
              <a:t>'end$'</a:t>
            </a:r>
            <a:r>
              <a:rPr lang="zh-CN" altLang="zh-CN" dirty="0"/>
              <a:t>，匹配以</a:t>
            </a:r>
            <a:r>
              <a:rPr lang="en-US" altLang="zh-CN" dirty="0"/>
              <a:t>'end'</a:t>
            </a:r>
            <a:r>
              <a:rPr lang="zh-CN" altLang="zh-CN" dirty="0"/>
              <a:t>结尾的字符串；</a:t>
            </a:r>
          </a:p>
          <a:p>
            <a:pPr marL="342900" lvl="0" indent="-342900">
              <a:spcBef>
                <a:spcPts val="1000"/>
              </a:spcBef>
              <a:buFont typeface="Arial" panose="020B0604020202020204" pitchFamily="34" charset="0"/>
              <a:buChar char="•"/>
            </a:pPr>
            <a:r>
              <a:rPr lang="en-US" altLang="zh-CN" dirty="0">
                <a:solidFill>
                  <a:srgbClr val="0432FF"/>
                </a:solidFill>
              </a:rPr>
              <a:t>'</a:t>
            </a:r>
            <a:r>
              <a:rPr lang="en-US" altLang="zh-CN" dirty="0" err="1">
                <a:solidFill>
                  <a:srgbClr val="0432FF"/>
                </a:solidFill>
              </a:rPr>
              <a:t>abc</a:t>
            </a:r>
            <a:r>
              <a:rPr lang="en-US" altLang="zh-CN" dirty="0">
                <a:solidFill>
                  <a:srgbClr val="0432FF"/>
                </a:solidFill>
              </a:rPr>
              <a:t>{2}'</a:t>
            </a:r>
            <a:r>
              <a:rPr lang="zh-CN" altLang="zh-CN" dirty="0"/>
              <a:t>，匹配</a:t>
            </a:r>
            <a:r>
              <a:rPr lang="en-US" altLang="zh-CN" dirty="0"/>
              <a:t>'ab'</a:t>
            </a:r>
            <a:r>
              <a:rPr lang="zh-CN" altLang="zh-CN" dirty="0"/>
              <a:t>之后必须有</a:t>
            </a:r>
            <a:r>
              <a:rPr lang="en-US" altLang="zh-CN" dirty="0"/>
              <a:t>2</a:t>
            </a:r>
            <a:r>
              <a:rPr lang="zh-CN" altLang="zh-CN" dirty="0"/>
              <a:t>个</a:t>
            </a:r>
            <a:r>
              <a:rPr lang="en-US" altLang="zh-CN" dirty="0"/>
              <a:t>'c'</a:t>
            </a:r>
            <a:r>
              <a:rPr lang="zh-CN" altLang="zh-CN" dirty="0"/>
              <a:t>的字符串；</a:t>
            </a:r>
          </a:p>
          <a:p>
            <a:pPr marL="342900" lvl="0" indent="-342900">
              <a:spcBef>
                <a:spcPts val="1000"/>
              </a:spcBef>
              <a:buFont typeface="Arial" panose="020B0604020202020204" pitchFamily="34" charset="0"/>
              <a:buChar char="•"/>
            </a:pPr>
            <a:r>
              <a:rPr lang="en-US" altLang="zh-CN" dirty="0">
                <a:solidFill>
                  <a:srgbClr val="0432FF"/>
                </a:solidFill>
              </a:rPr>
              <a:t>' </a:t>
            </a:r>
            <a:r>
              <a:rPr lang="en-US" altLang="zh-CN" dirty="0" err="1">
                <a:solidFill>
                  <a:srgbClr val="0432FF"/>
                </a:solidFill>
              </a:rPr>
              <a:t>abc</a:t>
            </a:r>
            <a:r>
              <a:rPr lang="en-US" altLang="zh-CN" dirty="0">
                <a:solidFill>
                  <a:srgbClr val="0432FF"/>
                </a:solidFill>
              </a:rPr>
              <a:t>{2,}'</a:t>
            </a:r>
            <a:r>
              <a:rPr lang="zh-CN" altLang="zh-CN" dirty="0"/>
              <a:t>，匹配</a:t>
            </a:r>
            <a:r>
              <a:rPr lang="en-US" altLang="zh-CN" dirty="0"/>
              <a:t>'ab'</a:t>
            </a:r>
            <a:r>
              <a:rPr lang="zh-CN" altLang="zh-CN" dirty="0"/>
              <a:t>之后有</a:t>
            </a:r>
            <a:r>
              <a:rPr lang="en-US" altLang="zh-CN" dirty="0"/>
              <a:t>2</a:t>
            </a:r>
            <a:r>
              <a:rPr lang="zh-CN" altLang="zh-CN" dirty="0"/>
              <a:t>个或者多个</a:t>
            </a:r>
            <a:r>
              <a:rPr lang="en-US" altLang="zh-CN" dirty="0"/>
              <a:t>'c'</a:t>
            </a:r>
            <a:r>
              <a:rPr lang="zh-CN" altLang="zh-CN" dirty="0"/>
              <a:t>的字符串；</a:t>
            </a:r>
          </a:p>
          <a:p>
            <a:pPr marL="342900" lvl="0" indent="-342900">
              <a:spcBef>
                <a:spcPts val="1000"/>
              </a:spcBef>
              <a:buFont typeface="Arial" panose="020B0604020202020204" pitchFamily="34" charset="0"/>
              <a:buChar char="•"/>
            </a:pPr>
            <a:r>
              <a:rPr lang="en-US" altLang="zh-CN" dirty="0">
                <a:solidFill>
                  <a:srgbClr val="0432FF"/>
                </a:solidFill>
              </a:rPr>
              <a:t>'a(</a:t>
            </a:r>
            <a:r>
              <a:rPr lang="en-US" altLang="zh-CN" dirty="0" err="1">
                <a:solidFill>
                  <a:srgbClr val="0432FF"/>
                </a:solidFill>
              </a:rPr>
              <a:t>b|c</a:t>
            </a:r>
            <a:r>
              <a:rPr lang="en-US" altLang="zh-CN" dirty="0">
                <a:solidFill>
                  <a:srgbClr val="0432FF"/>
                </a:solidFill>
              </a:rPr>
              <a:t>)'</a:t>
            </a:r>
            <a:r>
              <a:rPr lang="zh-CN" altLang="zh-CN" dirty="0"/>
              <a:t>或</a:t>
            </a:r>
            <a:r>
              <a:rPr lang="en-US" altLang="zh-CN" dirty="0">
                <a:solidFill>
                  <a:srgbClr val="0432FF"/>
                </a:solidFill>
              </a:rPr>
              <a:t>'a[</a:t>
            </a:r>
            <a:r>
              <a:rPr lang="en-US" altLang="zh-CN" dirty="0" err="1">
                <a:solidFill>
                  <a:srgbClr val="0432FF"/>
                </a:solidFill>
              </a:rPr>
              <a:t>bc</a:t>
            </a:r>
            <a:r>
              <a:rPr lang="en-US" altLang="zh-CN" dirty="0">
                <a:solidFill>
                  <a:srgbClr val="0432FF"/>
                </a:solidFill>
              </a:rPr>
              <a:t>]'</a:t>
            </a:r>
            <a:r>
              <a:rPr lang="zh-CN" altLang="zh-CN" dirty="0"/>
              <a:t>，匹配</a:t>
            </a:r>
            <a:r>
              <a:rPr lang="en-US" altLang="zh-CN" dirty="0"/>
              <a:t>'a'</a:t>
            </a:r>
            <a:r>
              <a:rPr lang="zh-CN" altLang="zh-CN" dirty="0"/>
              <a:t>之后有一个</a:t>
            </a:r>
            <a:r>
              <a:rPr lang="en-US" altLang="zh-CN" dirty="0"/>
              <a:t>'b'</a:t>
            </a:r>
            <a:r>
              <a:rPr lang="zh-CN" altLang="zh-CN" dirty="0"/>
              <a:t>或者</a:t>
            </a:r>
            <a:r>
              <a:rPr lang="en-US" altLang="zh-CN" dirty="0"/>
              <a:t>'c'</a:t>
            </a:r>
            <a:r>
              <a:rPr lang="zh-CN" altLang="zh-CN" dirty="0"/>
              <a:t>，</a:t>
            </a:r>
          </a:p>
          <a:p>
            <a:pPr marL="342900" lvl="0" indent="-342900">
              <a:spcBef>
                <a:spcPts val="1000"/>
              </a:spcBef>
              <a:buFont typeface="Arial" panose="020B0604020202020204" pitchFamily="34" charset="0"/>
              <a:buChar char="•"/>
            </a:pPr>
            <a:r>
              <a:rPr lang="en-US" altLang="zh-CN" dirty="0">
                <a:solidFill>
                  <a:srgbClr val="0432FF"/>
                </a:solidFill>
              </a:rPr>
              <a:t>'[a-z]'</a:t>
            </a:r>
            <a:r>
              <a:rPr lang="zh-CN" altLang="zh-CN" dirty="0"/>
              <a:t>，匹配任意小写字母</a:t>
            </a:r>
          </a:p>
          <a:p>
            <a:pPr marL="342900" lvl="0" indent="-342900">
              <a:spcBef>
                <a:spcPts val="1000"/>
              </a:spcBef>
              <a:buFont typeface="Arial" panose="020B0604020202020204" pitchFamily="34" charset="0"/>
              <a:buChar char="•"/>
            </a:pPr>
            <a:r>
              <a:rPr lang="en-US" altLang="zh-CN" dirty="0">
                <a:solidFill>
                  <a:srgbClr val="0432FF"/>
                </a:solidFill>
              </a:rPr>
              <a:t>'[A-Z]'</a:t>
            </a:r>
            <a:r>
              <a:rPr lang="zh-CN" altLang="zh-CN" dirty="0"/>
              <a:t>，匹配任意大写字母</a:t>
            </a:r>
          </a:p>
          <a:p>
            <a:pPr marL="342900" lvl="0" indent="-342900">
              <a:spcBef>
                <a:spcPts val="1000"/>
              </a:spcBef>
              <a:buFont typeface="Arial" panose="020B0604020202020204" pitchFamily="34" charset="0"/>
              <a:buChar char="•"/>
            </a:pPr>
            <a:r>
              <a:rPr lang="en-US" altLang="zh-CN" dirty="0">
                <a:solidFill>
                  <a:srgbClr val="0432FF"/>
                </a:solidFill>
              </a:rPr>
              <a:t>'[0-9]'</a:t>
            </a:r>
            <a:r>
              <a:rPr lang="zh-CN" altLang="zh-CN" dirty="0"/>
              <a:t>，匹配任意数字</a:t>
            </a:r>
          </a:p>
          <a:p>
            <a:pPr marL="342900" lvl="0" indent="-342900">
              <a:spcBef>
                <a:spcPts val="1000"/>
              </a:spcBef>
              <a:buFont typeface="Arial" panose="020B0604020202020204" pitchFamily="34" charset="0"/>
              <a:buChar char="•"/>
            </a:pPr>
            <a:r>
              <a:rPr lang="en-US" altLang="zh-CN" dirty="0">
                <a:solidFill>
                  <a:srgbClr val="0432FF"/>
                </a:solidFill>
              </a:rPr>
              <a:t>'[a-zA-Z0-9]'</a:t>
            </a:r>
            <a:r>
              <a:rPr lang="zh-CN" altLang="zh-CN" dirty="0"/>
              <a:t>，匹配任意字母和数字</a:t>
            </a:r>
          </a:p>
          <a:p>
            <a:pPr marL="342900" lvl="0" indent="-342900">
              <a:spcBef>
                <a:spcPts val="1000"/>
              </a:spcBef>
              <a:buFont typeface="Arial" panose="020B0604020202020204" pitchFamily="34" charset="0"/>
              <a:buChar char="•"/>
            </a:pPr>
            <a:r>
              <a:rPr lang="en-US" altLang="zh-CN" dirty="0">
                <a:solidFill>
                  <a:srgbClr val="0432FF"/>
                </a:solidFill>
              </a:rPr>
              <a:t>'[^a-</a:t>
            </a:r>
            <a:r>
              <a:rPr lang="en-US" altLang="zh-CN" dirty="0" err="1">
                <a:solidFill>
                  <a:srgbClr val="0432FF"/>
                </a:solidFill>
              </a:rPr>
              <a:t>zA</a:t>
            </a:r>
            <a:r>
              <a:rPr lang="en-US" altLang="zh-CN" dirty="0">
                <a:solidFill>
                  <a:srgbClr val="0432FF"/>
                </a:solidFill>
              </a:rPr>
              <a:t>-Z]'</a:t>
            </a:r>
            <a:r>
              <a:rPr lang="zh-CN" altLang="zh-CN" dirty="0"/>
              <a:t>，匹配除了字母以外的字符</a:t>
            </a:r>
          </a:p>
          <a:p>
            <a:pPr marL="342900" lvl="0" indent="-342900">
              <a:spcBef>
                <a:spcPts val="1000"/>
              </a:spcBef>
              <a:buFont typeface="Arial" panose="020B0604020202020204" pitchFamily="34" charset="0"/>
              <a:buChar char="•"/>
            </a:pPr>
            <a:r>
              <a:rPr lang="en-US" altLang="zh-CN" dirty="0">
                <a:solidFill>
                  <a:srgbClr val="0432FF"/>
                </a:solidFill>
              </a:rPr>
              <a:t>'[^0-9]'</a:t>
            </a:r>
            <a:r>
              <a:rPr lang="zh-CN" altLang="zh-CN" dirty="0"/>
              <a:t>，匹配除了数字以外的字符</a:t>
            </a:r>
            <a:endParaRPr lang="zh-CN" altLang="zh-CN" sz="2000" dirty="0"/>
          </a:p>
        </p:txBody>
      </p:sp>
      <p:pic>
        <p:nvPicPr>
          <p:cNvPr id="3" name="Picture 2">
            <a:extLst>
              <a:ext uri="{FF2B5EF4-FFF2-40B4-BE49-F238E27FC236}">
                <a16:creationId xmlns:a16="http://schemas.microsoft.com/office/drawing/2014/main" id="{BBDBF668-6F0B-A731-9B08-1DC98668AE0C}"/>
              </a:ext>
            </a:extLst>
          </p:cNvPr>
          <p:cNvPicPr>
            <a:picLocks noChangeAspect="1"/>
          </p:cNvPicPr>
          <p:nvPr/>
        </p:nvPicPr>
        <p:blipFill>
          <a:blip r:embed="rId3"/>
          <a:stretch>
            <a:fillRect/>
          </a:stretch>
        </p:blipFill>
        <p:spPr>
          <a:xfrm>
            <a:off x="6689047" y="1452796"/>
            <a:ext cx="4978400" cy="469900"/>
          </a:xfrm>
          <a:prstGeom prst="rect">
            <a:avLst/>
          </a:prstGeom>
        </p:spPr>
      </p:pic>
      <p:pic>
        <p:nvPicPr>
          <p:cNvPr id="5" name="Picture 4">
            <a:extLst>
              <a:ext uri="{FF2B5EF4-FFF2-40B4-BE49-F238E27FC236}">
                <a16:creationId xmlns:a16="http://schemas.microsoft.com/office/drawing/2014/main" id="{8C99105C-87B7-B984-41DE-9248C09F9BA7}"/>
              </a:ext>
            </a:extLst>
          </p:cNvPr>
          <p:cNvPicPr>
            <a:picLocks noChangeAspect="1"/>
          </p:cNvPicPr>
          <p:nvPr/>
        </p:nvPicPr>
        <p:blipFill>
          <a:blip r:embed="rId4"/>
          <a:stretch>
            <a:fillRect/>
          </a:stretch>
        </p:blipFill>
        <p:spPr>
          <a:xfrm>
            <a:off x="6650947" y="2019443"/>
            <a:ext cx="5016500" cy="558800"/>
          </a:xfrm>
          <a:prstGeom prst="rect">
            <a:avLst/>
          </a:prstGeom>
        </p:spPr>
      </p:pic>
      <p:pic>
        <p:nvPicPr>
          <p:cNvPr id="6" name="Picture 5">
            <a:extLst>
              <a:ext uri="{FF2B5EF4-FFF2-40B4-BE49-F238E27FC236}">
                <a16:creationId xmlns:a16="http://schemas.microsoft.com/office/drawing/2014/main" id="{12991B5E-C7A0-B3BF-8433-29170A063C88}"/>
              </a:ext>
            </a:extLst>
          </p:cNvPr>
          <p:cNvPicPr>
            <a:picLocks noChangeAspect="1"/>
          </p:cNvPicPr>
          <p:nvPr/>
        </p:nvPicPr>
        <p:blipFill>
          <a:blip r:embed="rId5"/>
          <a:stretch>
            <a:fillRect/>
          </a:stretch>
        </p:blipFill>
        <p:spPr>
          <a:xfrm>
            <a:off x="6650947" y="2629277"/>
            <a:ext cx="5016500" cy="457200"/>
          </a:xfrm>
          <a:prstGeom prst="rect">
            <a:avLst/>
          </a:prstGeom>
        </p:spPr>
      </p:pic>
      <p:pic>
        <p:nvPicPr>
          <p:cNvPr id="7" name="Picture 6">
            <a:extLst>
              <a:ext uri="{FF2B5EF4-FFF2-40B4-BE49-F238E27FC236}">
                <a16:creationId xmlns:a16="http://schemas.microsoft.com/office/drawing/2014/main" id="{0B35A912-794D-4ABD-6BC6-6A093A29506C}"/>
              </a:ext>
            </a:extLst>
          </p:cNvPr>
          <p:cNvPicPr>
            <a:picLocks noChangeAspect="1"/>
          </p:cNvPicPr>
          <p:nvPr/>
        </p:nvPicPr>
        <p:blipFill>
          <a:blip r:embed="rId6"/>
          <a:stretch>
            <a:fillRect/>
          </a:stretch>
        </p:blipFill>
        <p:spPr>
          <a:xfrm>
            <a:off x="7209747" y="3200400"/>
            <a:ext cx="4457700" cy="457200"/>
          </a:xfrm>
          <a:prstGeom prst="rect">
            <a:avLst/>
          </a:prstGeom>
        </p:spPr>
      </p:pic>
      <p:pic>
        <p:nvPicPr>
          <p:cNvPr id="8" name="Picture 7">
            <a:extLst>
              <a:ext uri="{FF2B5EF4-FFF2-40B4-BE49-F238E27FC236}">
                <a16:creationId xmlns:a16="http://schemas.microsoft.com/office/drawing/2014/main" id="{C0598D31-A91A-F1DF-E46C-B75394B0FA30}"/>
              </a:ext>
            </a:extLst>
          </p:cNvPr>
          <p:cNvPicPr>
            <a:picLocks noChangeAspect="1"/>
          </p:cNvPicPr>
          <p:nvPr/>
        </p:nvPicPr>
        <p:blipFill>
          <a:blip r:embed="rId7"/>
          <a:stretch>
            <a:fillRect/>
          </a:stretch>
        </p:blipFill>
        <p:spPr>
          <a:xfrm>
            <a:off x="7222447" y="3771523"/>
            <a:ext cx="4445000" cy="444500"/>
          </a:xfrm>
          <a:prstGeom prst="rect">
            <a:avLst/>
          </a:prstGeom>
        </p:spPr>
      </p:pic>
    </p:spTree>
    <p:extLst>
      <p:ext uri="{BB962C8B-B14F-4D97-AF65-F5344CB8AC3E}">
        <p14:creationId xmlns:p14="http://schemas.microsoft.com/office/powerpoint/2010/main" val="423848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13FEB-F71A-C5FD-5807-6685358A7E64}"/>
              </a:ext>
            </a:extLst>
          </p:cNvPr>
          <p:cNvSpPr txBox="1"/>
          <p:nvPr/>
        </p:nvSpPr>
        <p:spPr>
          <a:xfrm>
            <a:off x="957891" y="697043"/>
            <a:ext cx="2858785" cy="369332"/>
          </a:xfrm>
          <a:prstGeom prst="rect">
            <a:avLst/>
          </a:prstGeom>
          <a:noFill/>
        </p:spPr>
        <p:txBody>
          <a:bodyPr wrap="square">
            <a:spAutoFit/>
          </a:bodyPr>
          <a:lstStyle/>
          <a:p>
            <a:pPr algn="l"/>
            <a:r>
              <a:rPr lang="en-US" altLang="zh-CN" b="1" i="0" dirty="0">
                <a:solidFill>
                  <a:srgbClr val="0432FF"/>
                </a:solidFill>
                <a:effectLst/>
                <a:latin typeface="-apple-system"/>
              </a:rPr>
              <a:t>4. </a:t>
            </a:r>
            <a:r>
              <a:rPr lang="zh-CN" altLang="en-US" b="1" i="0" dirty="0">
                <a:solidFill>
                  <a:srgbClr val="0432FF"/>
                </a:solidFill>
                <a:effectLst/>
                <a:latin typeface="-apple-system"/>
              </a:rPr>
              <a:t>断言</a:t>
            </a:r>
          </a:p>
        </p:txBody>
      </p:sp>
      <p:sp>
        <p:nvSpPr>
          <p:cNvPr id="5" name="TextBox 4">
            <a:extLst>
              <a:ext uri="{FF2B5EF4-FFF2-40B4-BE49-F238E27FC236}">
                <a16:creationId xmlns:a16="http://schemas.microsoft.com/office/drawing/2014/main" id="{5E1E23D5-EF00-178D-7C3E-619B64647769}"/>
              </a:ext>
            </a:extLst>
          </p:cNvPr>
          <p:cNvSpPr txBox="1"/>
          <p:nvPr/>
        </p:nvSpPr>
        <p:spPr>
          <a:xfrm>
            <a:off x="1288600" y="1194636"/>
            <a:ext cx="9423971" cy="1708353"/>
          </a:xfrm>
          <a:prstGeom prst="rect">
            <a:avLst/>
          </a:prstGeom>
          <a:noFill/>
        </p:spPr>
        <p:txBody>
          <a:bodyPr wrap="square">
            <a:spAutoFit/>
          </a:bodyPr>
          <a:lstStyle/>
          <a:p>
            <a:pPr>
              <a:lnSpc>
                <a:spcPct val="150000"/>
              </a:lnSpc>
            </a:pPr>
            <a:r>
              <a:rPr lang="zh-CN" altLang="en-US" b="0" i="0" dirty="0">
                <a:solidFill>
                  <a:srgbClr val="C00000"/>
                </a:solidFill>
                <a:effectLst/>
                <a:latin typeface="-apple-system"/>
              </a:rPr>
              <a:t>后行断言</a:t>
            </a:r>
            <a:r>
              <a:rPr lang="zh-CN" altLang="en-US" b="0" i="0" dirty="0">
                <a:effectLst/>
                <a:latin typeface="-apple-system"/>
              </a:rPr>
              <a:t>和</a:t>
            </a:r>
            <a:r>
              <a:rPr lang="zh-CN" altLang="en-US" b="0" i="0" dirty="0">
                <a:solidFill>
                  <a:srgbClr val="C00000"/>
                </a:solidFill>
                <a:effectLst/>
                <a:latin typeface="-apple-system"/>
              </a:rPr>
              <a:t>先行断言</a:t>
            </a:r>
            <a:r>
              <a:rPr lang="zh-CN" altLang="en-US" b="0" i="0" dirty="0">
                <a:effectLst/>
                <a:latin typeface="-apple-system"/>
              </a:rPr>
              <a:t>有时候被称为</a:t>
            </a:r>
            <a:r>
              <a:rPr lang="zh-CN" altLang="en-US" b="0" i="0" dirty="0">
                <a:solidFill>
                  <a:srgbClr val="C00000"/>
                </a:solidFill>
                <a:effectLst/>
                <a:latin typeface="-apple-system"/>
              </a:rPr>
              <a:t>断言</a:t>
            </a:r>
            <a:r>
              <a:rPr lang="zh-CN" altLang="en-US" b="0" i="0" dirty="0">
                <a:effectLst/>
                <a:latin typeface="-apple-system"/>
              </a:rPr>
              <a:t>，它们是特殊类型的 </a:t>
            </a:r>
            <a:r>
              <a:rPr lang="zh-CN" altLang="en-US" b="1" i="1" dirty="0">
                <a:solidFill>
                  <a:srgbClr val="C00000"/>
                </a:solidFill>
                <a:effectLst/>
                <a:latin typeface="-apple-system"/>
              </a:rPr>
              <a:t>非捕获组</a:t>
            </a:r>
            <a:r>
              <a:rPr lang="zh-CN" altLang="en-US" b="0" i="0" dirty="0">
                <a:effectLst/>
                <a:latin typeface="-apple-system"/>
              </a:rPr>
              <a:t>（</a:t>
            </a:r>
            <a:r>
              <a:rPr lang="zh-CN" altLang="en-US" b="0" i="0" dirty="0">
                <a:solidFill>
                  <a:srgbClr val="0432FF"/>
                </a:solidFill>
                <a:effectLst/>
                <a:latin typeface="-apple-system"/>
              </a:rPr>
              <a:t>用于匹配模式，但不包括在匹配列表中</a:t>
            </a:r>
            <a:r>
              <a:rPr lang="zh-CN" altLang="en-US" b="0" i="0" dirty="0">
                <a:effectLst/>
                <a:latin typeface="-apple-system"/>
              </a:rPr>
              <a:t>）。当我们在</a:t>
            </a:r>
            <a:r>
              <a:rPr lang="zh-CN" altLang="en-US" b="0" i="0" dirty="0">
                <a:solidFill>
                  <a:srgbClr val="0432FF"/>
                </a:solidFill>
                <a:effectLst/>
                <a:latin typeface="-apple-system"/>
              </a:rPr>
              <a:t>一种特定模式</a:t>
            </a:r>
            <a:r>
              <a:rPr lang="zh-CN" altLang="en-US" b="0" i="0" dirty="0">
                <a:solidFill>
                  <a:srgbClr val="C00000"/>
                </a:solidFill>
                <a:effectLst/>
                <a:latin typeface="-apple-system"/>
              </a:rPr>
              <a:t>之前</a:t>
            </a:r>
            <a:r>
              <a:rPr lang="zh-CN" altLang="en-US" b="0" i="0" dirty="0">
                <a:solidFill>
                  <a:srgbClr val="0432FF"/>
                </a:solidFill>
                <a:effectLst/>
                <a:latin typeface="-apple-system"/>
              </a:rPr>
              <a:t>或者</a:t>
            </a:r>
            <a:r>
              <a:rPr lang="zh-CN" altLang="en-US" b="0" i="0" dirty="0">
                <a:solidFill>
                  <a:srgbClr val="C00000"/>
                </a:solidFill>
                <a:effectLst/>
                <a:latin typeface="-apple-system"/>
              </a:rPr>
              <a:t>之后</a:t>
            </a:r>
            <a:r>
              <a:rPr lang="zh-CN" altLang="en-US" b="0" i="0" dirty="0">
                <a:solidFill>
                  <a:srgbClr val="0432FF"/>
                </a:solidFill>
                <a:effectLst/>
                <a:latin typeface="-apple-system"/>
              </a:rPr>
              <a:t>有这种模式时，</a:t>
            </a:r>
            <a:r>
              <a:rPr lang="zh-CN" altLang="en-US" b="0" i="0" dirty="0">
                <a:effectLst/>
                <a:latin typeface="-apple-system"/>
              </a:rPr>
              <a:t>会优先使用断言。 </a:t>
            </a:r>
            <a:endParaRPr lang="en-US" altLang="zh-CN" b="0" i="0" dirty="0">
              <a:effectLst/>
              <a:latin typeface="-apple-system"/>
            </a:endParaRPr>
          </a:p>
          <a:p>
            <a:pPr marL="285750" indent="-285750">
              <a:lnSpc>
                <a:spcPct val="150000"/>
              </a:lnSpc>
              <a:buFont typeface="Arial" panose="020B0604020202020204" pitchFamily="34" charset="0"/>
              <a:buChar char="•"/>
            </a:pPr>
            <a:r>
              <a:rPr lang="zh-CN" altLang="en-US" b="0" i="0" dirty="0">
                <a:effectLst/>
                <a:latin typeface="-apple-system"/>
              </a:rPr>
              <a:t>例如我们想获取输入字符串</a:t>
            </a:r>
            <a:r>
              <a:rPr lang="zh-CN" altLang="en-US" b="0" i="0" dirty="0">
                <a:solidFill>
                  <a:srgbClr val="0432FF"/>
                </a:solidFill>
                <a:effectLst/>
                <a:latin typeface="-apple-system"/>
              </a:rPr>
              <a:t> </a:t>
            </a:r>
            <a:r>
              <a:rPr lang="en-US" altLang="zh-CN" dirty="0">
                <a:solidFill>
                  <a:srgbClr val="0432FF"/>
                </a:solidFill>
              </a:rPr>
              <a:t>$4.44 </a:t>
            </a:r>
            <a:r>
              <a:rPr lang="en-US" dirty="0"/>
              <a:t>and </a:t>
            </a:r>
            <a:r>
              <a:rPr lang="en-US" dirty="0">
                <a:solidFill>
                  <a:srgbClr val="0432FF"/>
                </a:solidFill>
              </a:rPr>
              <a:t>$10.88</a:t>
            </a:r>
            <a:r>
              <a:rPr lang="en-US" b="0" i="0" dirty="0">
                <a:solidFill>
                  <a:srgbClr val="0432FF"/>
                </a:solidFill>
                <a:effectLst/>
                <a:latin typeface="-apple-system"/>
              </a:rPr>
              <a:t> </a:t>
            </a:r>
            <a:r>
              <a:rPr lang="zh-CN" altLang="en-US" b="0" i="0" dirty="0">
                <a:effectLst/>
                <a:latin typeface="-apple-system"/>
              </a:rPr>
              <a:t>中带有前缀 </a:t>
            </a:r>
            <a:r>
              <a:rPr lang="en-US" altLang="zh-CN" dirty="0">
                <a:solidFill>
                  <a:srgbClr val="0432FF"/>
                </a:solidFill>
              </a:rPr>
              <a:t>$</a:t>
            </a:r>
            <a:r>
              <a:rPr lang="zh-CN" altLang="en-US" b="0" i="0" dirty="0">
                <a:solidFill>
                  <a:srgbClr val="0432FF"/>
                </a:solidFill>
                <a:effectLst/>
                <a:latin typeface="-apple-system"/>
              </a:rPr>
              <a:t> </a:t>
            </a:r>
            <a:r>
              <a:rPr lang="zh-CN" altLang="en-US" b="0" i="0" dirty="0">
                <a:effectLst/>
                <a:latin typeface="-apple-system"/>
              </a:rPr>
              <a:t>的所有数字。</a:t>
            </a:r>
            <a:endParaRPr lang="en-US" altLang="zh-CN" b="0" i="0" dirty="0">
              <a:effectLst/>
              <a:latin typeface="-apple-system"/>
            </a:endParaRPr>
          </a:p>
          <a:p>
            <a:pPr marL="285750" indent="-285750">
              <a:lnSpc>
                <a:spcPct val="150000"/>
              </a:lnSpc>
              <a:buFont typeface="Arial" panose="020B0604020202020204" pitchFamily="34" charset="0"/>
              <a:buChar char="•"/>
            </a:pPr>
            <a:r>
              <a:rPr lang="zh-CN" altLang="en-US" b="0" i="0" dirty="0">
                <a:effectLst/>
                <a:latin typeface="-apple-system"/>
              </a:rPr>
              <a:t>可以使用这个正则表达式</a:t>
            </a:r>
            <a:r>
              <a:rPr lang="zh-CN" altLang="en-US" b="0" i="0" dirty="0">
                <a:solidFill>
                  <a:srgbClr val="0432FF"/>
                </a:solidFill>
                <a:effectLst/>
                <a:latin typeface="-apple-system"/>
              </a:rPr>
              <a:t> </a:t>
            </a:r>
            <a:r>
              <a:rPr lang="en-US" altLang="zh-CN" dirty="0">
                <a:solidFill>
                  <a:srgbClr val="0432FF"/>
                </a:solidFill>
              </a:rPr>
              <a:t>(?&lt;=\$)[0-9\.]*</a:t>
            </a:r>
            <a:r>
              <a:rPr lang="zh-CN" altLang="en-US" b="0" i="0" dirty="0">
                <a:effectLst/>
                <a:latin typeface="-apple-system"/>
              </a:rPr>
              <a:t>，表示：获取包含</a:t>
            </a:r>
            <a:r>
              <a:rPr lang="zh-CN" altLang="en-US" b="0" i="0" dirty="0">
                <a:solidFill>
                  <a:srgbClr val="0432FF"/>
                </a:solidFill>
                <a:effectLst/>
                <a:latin typeface="-apple-system"/>
              </a:rPr>
              <a:t> </a:t>
            </a:r>
            <a:r>
              <a:rPr lang="en-US" altLang="zh-CN" dirty="0">
                <a:solidFill>
                  <a:srgbClr val="0432FF"/>
                </a:solidFill>
              </a:rPr>
              <a:t>.</a:t>
            </a:r>
            <a:r>
              <a:rPr lang="zh-CN" altLang="en-US" b="0" i="0" dirty="0">
                <a:solidFill>
                  <a:srgbClr val="0432FF"/>
                </a:solidFill>
                <a:effectLst/>
                <a:latin typeface="-apple-system"/>
              </a:rPr>
              <a:t> </a:t>
            </a:r>
            <a:r>
              <a:rPr lang="zh-CN" altLang="en-US" b="0" i="0" dirty="0">
                <a:effectLst/>
                <a:latin typeface="-apple-system"/>
              </a:rPr>
              <a:t>字符且前缀为 </a:t>
            </a:r>
            <a:r>
              <a:rPr lang="en-US" altLang="zh-CN" dirty="0">
                <a:solidFill>
                  <a:srgbClr val="0432FF"/>
                </a:solidFill>
              </a:rPr>
              <a:t>$</a:t>
            </a:r>
            <a:r>
              <a:rPr lang="zh-CN" altLang="en-US" b="0" i="0" dirty="0">
                <a:solidFill>
                  <a:srgbClr val="0432FF"/>
                </a:solidFill>
                <a:effectLst/>
                <a:latin typeface="-apple-system"/>
              </a:rPr>
              <a:t> </a:t>
            </a:r>
            <a:r>
              <a:rPr lang="zh-CN" altLang="en-US" b="0" i="0" dirty="0">
                <a:effectLst/>
                <a:latin typeface="-apple-system"/>
              </a:rPr>
              <a:t>的所有数字。</a:t>
            </a:r>
            <a:endParaRPr lang="zh-CN" altLang="en-US" dirty="0"/>
          </a:p>
        </p:txBody>
      </p:sp>
      <p:pic>
        <p:nvPicPr>
          <p:cNvPr id="2" name="Picture 1">
            <a:extLst>
              <a:ext uri="{FF2B5EF4-FFF2-40B4-BE49-F238E27FC236}">
                <a16:creationId xmlns:a16="http://schemas.microsoft.com/office/drawing/2014/main" id="{EC5650B0-610A-F73B-FEB8-46BF5BB909DE}"/>
              </a:ext>
            </a:extLst>
          </p:cNvPr>
          <p:cNvPicPr>
            <a:picLocks noChangeAspect="1"/>
          </p:cNvPicPr>
          <p:nvPr/>
        </p:nvPicPr>
        <p:blipFill>
          <a:blip r:embed="rId2"/>
          <a:stretch>
            <a:fillRect/>
          </a:stretch>
        </p:blipFill>
        <p:spPr>
          <a:xfrm>
            <a:off x="1479429" y="3249118"/>
            <a:ext cx="9233142" cy="273195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0679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32BA2D-A2B3-7907-98F9-36D031179041}"/>
              </a:ext>
            </a:extLst>
          </p:cNvPr>
          <p:cNvPicPr>
            <a:picLocks noChangeAspect="1"/>
          </p:cNvPicPr>
          <p:nvPr/>
        </p:nvPicPr>
        <p:blipFill>
          <a:blip r:embed="rId2"/>
          <a:stretch>
            <a:fillRect/>
          </a:stretch>
        </p:blipFill>
        <p:spPr>
          <a:xfrm>
            <a:off x="936074" y="2388450"/>
            <a:ext cx="5346700" cy="482600"/>
          </a:xfrm>
          <a:prstGeom prst="rect">
            <a:avLst/>
          </a:prstGeom>
        </p:spPr>
      </p:pic>
      <p:sp>
        <p:nvSpPr>
          <p:cNvPr id="3" name="TextBox 2">
            <a:extLst>
              <a:ext uri="{FF2B5EF4-FFF2-40B4-BE49-F238E27FC236}">
                <a16:creationId xmlns:a16="http://schemas.microsoft.com/office/drawing/2014/main" id="{585AFDBF-D772-A70A-084F-8AFDCA6C4F07}"/>
              </a:ext>
            </a:extLst>
          </p:cNvPr>
          <p:cNvSpPr txBox="1"/>
          <p:nvPr/>
        </p:nvSpPr>
        <p:spPr>
          <a:xfrm>
            <a:off x="936073" y="2941105"/>
            <a:ext cx="10113235" cy="461858"/>
          </a:xfrm>
          <a:prstGeom prst="rect">
            <a:avLst/>
          </a:prstGeom>
          <a:noFill/>
        </p:spPr>
        <p:txBody>
          <a:bodyPr wrap="square">
            <a:spAutoFit/>
          </a:bodyPr>
          <a:lstStyle/>
          <a:p>
            <a:pPr>
              <a:lnSpc>
                <a:spcPct val="150000"/>
              </a:lnSpc>
            </a:pPr>
            <a:r>
              <a:rPr lang="zh-CN" altLang="en-US" b="0" i="0" dirty="0">
                <a:effectLst/>
                <a:latin typeface="-apple-system"/>
              </a:rPr>
              <a:t>表示：从输入字符串中获取全部 </a:t>
            </a:r>
            <a:r>
              <a:rPr lang="en-US" dirty="0">
                <a:solidFill>
                  <a:srgbClr val="7030A0"/>
                </a:solidFill>
              </a:rPr>
              <a:t>The</a:t>
            </a:r>
            <a:r>
              <a:rPr lang="en-US" b="0" i="0" dirty="0">
                <a:effectLst/>
                <a:latin typeface="-apple-system"/>
              </a:rPr>
              <a:t> </a:t>
            </a:r>
            <a:r>
              <a:rPr lang="zh-CN" altLang="en-US" b="0" i="0" dirty="0">
                <a:effectLst/>
                <a:latin typeface="-apple-system"/>
              </a:rPr>
              <a:t>或者 </a:t>
            </a:r>
            <a:r>
              <a:rPr lang="en-US" dirty="0">
                <a:solidFill>
                  <a:srgbClr val="7030A0"/>
                </a:solidFill>
              </a:rPr>
              <a:t>the</a:t>
            </a:r>
            <a:r>
              <a:rPr lang="en-US" b="0" i="0" dirty="0">
                <a:effectLst/>
                <a:latin typeface="-apple-system"/>
              </a:rPr>
              <a:t> </a:t>
            </a:r>
            <a:r>
              <a:rPr lang="zh-CN" altLang="en-US" b="0" i="0" dirty="0">
                <a:effectLst/>
                <a:latin typeface="-apple-system"/>
              </a:rPr>
              <a:t>且不匹配 </a:t>
            </a:r>
            <a:r>
              <a:rPr lang="en-US" dirty="0">
                <a:solidFill>
                  <a:srgbClr val="0432FF"/>
                </a:solidFill>
              </a:rPr>
              <a:t>fat</a:t>
            </a:r>
            <a:r>
              <a:rPr lang="en-US" b="0" i="0" dirty="0">
                <a:effectLst/>
                <a:latin typeface="-apple-system"/>
              </a:rPr>
              <a:t> </a:t>
            </a:r>
            <a:r>
              <a:rPr lang="zh-CN" altLang="en-US" b="0" i="0" dirty="0">
                <a:effectLst/>
                <a:latin typeface="-apple-system"/>
              </a:rPr>
              <a:t>前面加上一个空格字符。</a:t>
            </a:r>
            <a:endParaRPr lang="zh-CN" altLang="en-US" dirty="0"/>
          </a:p>
        </p:txBody>
      </p:sp>
      <p:pic>
        <p:nvPicPr>
          <p:cNvPr id="4" name="Picture 3">
            <a:extLst>
              <a:ext uri="{FF2B5EF4-FFF2-40B4-BE49-F238E27FC236}">
                <a16:creationId xmlns:a16="http://schemas.microsoft.com/office/drawing/2014/main" id="{D9A7BB58-2C7C-8F6E-0D01-6682F8BD558D}"/>
              </a:ext>
            </a:extLst>
          </p:cNvPr>
          <p:cNvPicPr>
            <a:picLocks noChangeAspect="1"/>
          </p:cNvPicPr>
          <p:nvPr/>
        </p:nvPicPr>
        <p:blipFill>
          <a:blip r:embed="rId3"/>
          <a:stretch>
            <a:fillRect/>
          </a:stretch>
        </p:blipFill>
        <p:spPr>
          <a:xfrm>
            <a:off x="936073" y="3763433"/>
            <a:ext cx="6070600" cy="520700"/>
          </a:xfrm>
          <a:prstGeom prst="rect">
            <a:avLst/>
          </a:prstGeom>
        </p:spPr>
      </p:pic>
      <p:sp>
        <p:nvSpPr>
          <p:cNvPr id="6" name="TextBox 5">
            <a:extLst>
              <a:ext uri="{FF2B5EF4-FFF2-40B4-BE49-F238E27FC236}">
                <a16:creationId xmlns:a16="http://schemas.microsoft.com/office/drawing/2014/main" id="{DDCC8620-20B0-DB7A-47C6-4CDF2E68B748}"/>
              </a:ext>
            </a:extLst>
          </p:cNvPr>
          <p:cNvSpPr txBox="1"/>
          <p:nvPr/>
        </p:nvSpPr>
        <p:spPr>
          <a:xfrm>
            <a:off x="936073" y="4396734"/>
            <a:ext cx="10584897" cy="369332"/>
          </a:xfrm>
          <a:prstGeom prst="rect">
            <a:avLst/>
          </a:prstGeom>
          <a:noFill/>
        </p:spPr>
        <p:txBody>
          <a:bodyPr wrap="square">
            <a:spAutoFit/>
          </a:bodyPr>
          <a:lstStyle/>
          <a:p>
            <a:r>
              <a:rPr lang="zh-CN" altLang="en-US" b="0" i="0" dirty="0">
                <a:effectLst/>
                <a:latin typeface="-apple-system"/>
              </a:rPr>
              <a:t>表示：从输入字符串中获取在单词 </a:t>
            </a:r>
            <a:r>
              <a:rPr lang="en-US" dirty="0">
                <a:solidFill>
                  <a:srgbClr val="0432FF"/>
                </a:solidFill>
              </a:rPr>
              <a:t>The</a:t>
            </a:r>
            <a:r>
              <a:rPr lang="en-US" b="0" i="0" dirty="0">
                <a:effectLst/>
                <a:latin typeface="-apple-system"/>
              </a:rPr>
              <a:t> </a:t>
            </a:r>
            <a:r>
              <a:rPr lang="zh-CN" altLang="en-US" b="0" i="0" dirty="0">
                <a:effectLst/>
                <a:latin typeface="-apple-system"/>
              </a:rPr>
              <a:t>或 </a:t>
            </a:r>
            <a:r>
              <a:rPr lang="en-US" dirty="0">
                <a:solidFill>
                  <a:srgbClr val="0432FF"/>
                </a:solidFill>
              </a:rPr>
              <a:t>the</a:t>
            </a:r>
            <a:r>
              <a:rPr lang="en-US" b="0" i="0" dirty="0">
                <a:effectLst/>
                <a:latin typeface="-apple-system"/>
              </a:rPr>
              <a:t> </a:t>
            </a:r>
            <a:r>
              <a:rPr lang="zh-CN" altLang="en-US" b="0" i="0" dirty="0">
                <a:effectLst/>
                <a:latin typeface="-apple-system"/>
              </a:rPr>
              <a:t>之后的所有 </a:t>
            </a:r>
            <a:r>
              <a:rPr lang="en-US" dirty="0">
                <a:solidFill>
                  <a:srgbClr val="7030A0"/>
                </a:solidFill>
              </a:rPr>
              <a:t>fat</a:t>
            </a:r>
            <a:r>
              <a:rPr lang="en-US" b="0" i="0" dirty="0">
                <a:effectLst/>
                <a:latin typeface="-apple-system"/>
              </a:rPr>
              <a:t> </a:t>
            </a:r>
            <a:r>
              <a:rPr lang="zh-CN" altLang="en-US" b="0" i="0" dirty="0">
                <a:effectLst/>
                <a:latin typeface="-apple-system"/>
              </a:rPr>
              <a:t>和 </a:t>
            </a:r>
            <a:r>
              <a:rPr lang="en-US" dirty="0">
                <a:solidFill>
                  <a:srgbClr val="7030A0"/>
                </a:solidFill>
              </a:rPr>
              <a:t>mat</a:t>
            </a:r>
            <a:r>
              <a:rPr lang="en-US" b="0" i="0" dirty="0">
                <a:effectLst/>
                <a:latin typeface="-apple-system"/>
              </a:rPr>
              <a:t> </a:t>
            </a:r>
            <a:r>
              <a:rPr lang="zh-CN" altLang="en-US" b="0" i="0" dirty="0">
                <a:effectLst/>
                <a:latin typeface="-apple-system"/>
              </a:rPr>
              <a:t>单词。</a:t>
            </a:r>
            <a:endParaRPr lang="zh-CN" altLang="en-US" dirty="0"/>
          </a:p>
        </p:txBody>
      </p:sp>
      <p:pic>
        <p:nvPicPr>
          <p:cNvPr id="7" name="Picture 6">
            <a:extLst>
              <a:ext uri="{FF2B5EF4-FFF2-40B4-BE49-F238E27FC236}">
                <a16:creationId xmlns:a16="http://schemas.microsoft.com/office/drawing/2014/main" id="{1B5BA09E-7EAF-058D-A0F3-04466D9F5B3E}"/>
              </a:ext>
            </a:extLst>
          </p:cNvPr>
          <p:cNvPicPr>
            <a:picLocks noChangeAspect="1"/>
          </p:cNvPicPr>
          <p:nvPr/>
        </p:nvPicPr>
        <p:blipFill>
          <a:blip r:embed="rId4"/>
          <a:stretch>
            <a:fillRect/>
          </a:stretch>
        </p:blipFill>
        <p:spPr>
          <a:xfrm>
            <a:off x="936073" y="5042954"/>
            <a:ext cx="4775200" cy="469900"/>
          </a:xfrm>
          <a:prstGeom prst="rect">
            <a:avLst/>
          </a:prstGeom>
        </p:spPr>
      </p:pic>
      <p:sp>
        <p:nvSpPr>
          <p:cNvPr id="9" name="TextBox 8">
            <a:extLst>
              <a:ext uri="{FF2B5EF4-FFF2-40B4-BE49-F238E27FC236}">
                <a16:creationId xmlns:a16="http://schemas.microsoft.com/office/drawing/2014/main" id="{6D80ECC8-2AF1-C430-E911-D01351AC6A73}"/>
              </a:ext>
            </a:extLst>
          </p:cNvPr>
          <p:cNvSpPr txBox="1"/>
          <p:nvPr/>
        </p:nvSpPr>
        <p:spPr>
          <a:xfrm>
            <a:off x="936073" y="5605076"/>
            <a:ext cx="7218846" cy="369332"/>
          </a:xfrm>
          <a:prstGeom prst="rect">
            <a:avLst/>
          </a:prstGeom>
          <a:noFill/>
        </p:spPr>
        <p:txBody>
          <a:bodyPr wrap="square">
            <a:spAutoFit/>
          </a:bodyPr>
          <a:lstStyle/>
          <a:p>
            <a:r>
              <a:rPr lang="zh-CN" altLang="en-US" b="0" i="0" dirty="0">
                <a:effectLst/>
                <a:latin typeface="-apple-system"/>
              </a:rPr>
              <a:t>表示：在输入字符中获取所有不在 </a:t>
            </a:r>
            <a:r>
              <a:rPr lang="en-US" dirty="0">
                <a:solidFill>
                  <a:srgbClr val="0432FF"/>
                </a:solidFill>
              </a:rPr>
              <a:t>The</a:t>
            </a:r>
            <a:r>
              <a:rPr lang="en-US" b="0" i="0" dirty="0">
                <a:effectLst/>
                <a:latin typeface="-apple-system"/>
              </a:rPr>
              <a:t> </a:t>
            </a:r>
            <a:r>
              <a:rPr lang="zh-CN" altLang="en-US" b="0" i="0" dirty="0">
                <a:effectLst/>
                <a:latin typeface="-apple-system"/>
              </a:rPr>
              <a:t>或 </a:t>
            </a:r>
            <a:r>
              <a:rPr lang="en-US" dirty="0">
                <a:solidFill>
                  <a:srgbClr val="0432FF"/>
                </a:solidFill>
              </a:rPr>
              <a:t>the</a:t>
            </a:r>
            <a:r>
              <a:rPr lang="en-US" b="0" i="0" dirty="0">
                <a:effectLst/>
                <a:latin typeface="-apple-system"/>
              </a:rPr>
              <a:t> </a:t>
            </a:r>
            <a:r>
              <a:rPr lang="zh-CN" altLang="en-US" b="0" i="0" dirty="0">
                <a:effectLst/>
                <a:latin typeface="-apple-system"/>
              </a:rPr>
              <a:t>之后的所有单词 </a:t>
            </a:r>
            <a:r>
              <a:rPr lang="en-US" dirty="0">
                <a:solidFill>
                  <a:srgbClr val="7030A0"/>
                </a:solidFill>
              </a:rPr>
              <a:t>cat</a:t>
            </a:r>
            <a:r>
              <a:rPr lang="en-US" b="0" i="0" dirty="0">
                <a:effectLst/>
                <a:latin typeface="-apple-system"/>
              </a:rPr>
              <a:t>。</a:t>
            </a:r>
            <a:endParaRPr lang="zh-CN" altLang="en-US" dirty="0"/>
          </a:p>
        </p:txBody>
      </p:sp>
      <p:pic>
        <p:nvPicPr>
          <p:cNvPr id="10" name="Picture 9">
            <a:extLst>
              <a:ext uri="{FF2B5EF4-FFF2-40B4-BE49-F238E27FC236}">
                <a16:creationId xmlns:a16="http://schemas.microsoft.com/office/drawing/2014/main" id="{6E406122-4801-0340-AB18-5FBB92576177}"/>
              </a:ext>
            </a:extLst>
          </p:cNvPr>
          <p:cNvPicPr>
            <a:picLocks noChangeAspect="1"/>
          </p:cNvPicPr>
          <p:nvPr/>
        </p:nvPicPr>
        <p:blipFill>
          <a:blip r:embed="rId5"/>
          <a:stretch>
            <a:fillRect/>
          </a:stretch>
        </p:blipFill>
        <p:spPr>
          <a:xfrm>
            <a:off x="936074" y="937040"/>
            <a:ext cx="5346700" cy="431800"/>
          </a:xfrm>
          <a:prstGeom prst="rect">
            <a:avLst/>
          </a:prstGeom>
        </p:spPr>
      </p:pic>
      <p:sp>
        <p:nvSpPr>
          <p:cNvPr id="11" name="TextBox 10">
            <a:extLst>
              <a:ext uri="{FF2B5EF4-FFF2-40B4-BE49-F238E27FC236}">
                <a16:creationId xmlns:a16="http://schemas.microsoft.com/office/drawing/2014/main" id="{A5595DA4-D8A9-0EB9-69DE-E604E211EB9B}"/>
              </a:ext>
            </a:extLst>
          </p:cNvPr>
          <p:cNvSpPr txBox="1"/>
          <p:nvPr/>
        </p:nvSpPr>
        <p:spPr>
          <a:xfrm>
            <a:off x="936074" y="1368840"/>
            <a:ext cx="10113235" cy="877356"/>
          </a:xfrm>
          <a:prstGeom prst="rect">
            <a:avLst/>
          </a:prstGeom>
          <a:noFill/>
        </p:spPr>
        <p:txBody>
          <a:bodyPr wrap="square">
            <a:spAutoFit/>
          </a:bodyPr>
          <a:lstStyle/>
          <a:p>
            <a:pPr>
              <a:lnSpc>
                <a:spcPct val="150000"/>
              </a:lnSpc>
            </a:pPr>
            <a:r>
              <a:rPr lang="zh-CN" altLang="en-US" b="0" i="0" dirty="0">
                <a:effectLst/>
                <a:latin typeface="-apple-system"/>
              </a:rPr>
              <a:t>表示：匹配大写字母 </a:t>
            </a:r>
            <a:r>
              <a:rPr lang="en-US" dirty="0">
                <a:solidFill>
                  <a:srgbClr val="0432FF"/>
                </a:solidFill>
              </a:rPr>
              <a:t>T</a:t>
            </a:r>
            <a:r>
              <a:rPr lang="en-US" b="0" i="0" dirty="0">
                <a:effectLst/>
                <a:latin typeface="-apple-system"/>
              </a:rPr>
              <a:t> </a:t>
            </a:r>
            <a:r>
              <a:rPr lang="zh-CN" altLang="en-US" b="0" i="0" dirty="0">
                <a:effectLst/>
                <a:latin typeface="-apple-system"/>
              </a:rPr>
              <a:t>或小写字母 </a:t>
            </a:r>
            <a:r>
              <a:rPr lang="en-US" dirty="0">
                <a:solidFill>
                  <a:srgbClr val="0432FF"/>
                </a:solidFill>
              </a:rPr>
              <a:t>t</a:t>
            </a:r>
            <a:r>
              <a:rPr lang="en-US" b="0" i="0" dirty="0">
                <a:effectLst/>
                <a:latin typeface="-apple-system"/>
              </a:rPr>
              <a:t>，</a:t>
            </a:r>
            <a:r>
              <a:rPr lang="zh-CN" altLang="en-US" b="0" i="0" dirty="0">
                <a:effectLst/>
                <a:latin typeface="-apple-system"/>
              </a:rPr>
              <a:t>后面跟字母 </a:t>
            </a:r>
            <a:r>
              <a:rPr lang="en-US" dirty="0">
                <a:solidFill>
                  <a:srgbClr val="0432FF"/>
                </a:solidFill>
              </a:rPr>
              <a:t>h</a:t>
            </a:r>
            <a:r>
              <a:rPr lang="en-US" b="0" i="0" dirty="0">
                <a:effectLst/>
                <a:latin typeface="-apple-system"/>
              </a:rPr>
              <a:t>，</a:t>
            </a:r>
            <a:r>
              <a:rPr lang="zh-CN" altLang="en-US" b="0" i="0" dirty="0">
                <a:effectLst/>
                <a:latin typeface="-apple-system"/>
              </a:rPr>
              <a:t>后跟字母</a:t>
            </a:r>
            <a:r>
              <a:rPr lang="zh-CN" altLang="en-US" b="0" i="0" dirty="0">
                <a:solidFill>
                  <a:srgbClr val="0432FF"/>
                </a:solidFill>
                <a:effectLst/>
                <a:latin typeface="-apple-system"/>
              </a:rPr>
              <a:t> </a:t>
            </a:r>
            <a:r>
              <a:rPr lang="en-US" dirty="0">
                <a:solidFill>
                  <a:srgbClr val="0432FF"/>
                </a:solidFill>
              </a:rPr>
              <a:t>e</a:t>
            </a:r>
            <a:r>
              <a:rPr lang="en-US" b="0" i="0" dirty="0">
                <a:effectLst/>
                <a:latin typeface="-apple-system"/>
              </a:rPr>
              <a:t>。 </a:t>
            </a:r>
          </a:p>
          <a:p>
            <a:pPr>
              <a:lnSpc>
                <a:spcPct val="150000"/>
              </a:lnSpc>
            </a:pPr>
            <a:r>
              <a:rPr lang="zh-CN" altLang="en-US" b="0" i="0" dirty="0">
                <a:effectLst/>
                <a:latin typeface="-apple-system"/>
              </a:rPr>
              <a:t>在括号中，定义了</a:t>
            </a:r>
            <a:r>
              <a:rPr lang="zh-CN" altLang="en-US" b="0" i="0" dirty="0">
                <a:solidFill>
                  <a:srgbClr val="0432FF"/>
                </a:solidFill>
                <a:effectLst/>
                <a:latin typeface="-apple-system"/>
              </a:rPr>
              <a:t>正向先行断言</a:t>
            </a:r>
            <a:r>
              <a:rPr lang="zh-CN" altLang="en-US" b="0" i="0" dirty="0">
                <a:effectLst/>
                <a:latin typeface="-apple-system"/>
              </a:rPr>
              <a:t>，它会引导正则表达式引擎匹配后面跟着 </a:t>
            </a:r>
            <a:r>
              <a:rPr lang="en-US" dirty="0">
                <a:solidFill>
                  <a:srgbClr val="0432FF"/>
                </a:solidFill>
              </a:rPr>
              <a:t>fat</a:t>
            </a:r>
            <a:r>
              <a:rPr lang="en-US" b="0" i="0" dirty="0">
                <a:solidFill>
                  <a:srgbClr val="0432FF"/>
                </a:solidFill>
                <a:effectLst/>
                <a:latin typeface="-apple-system"/>
              </a:rPr>
              <a:t> </a:t>
            </a:r>
            <a:r>
              <a:rPr lang="zh-CN" altLang="en-US" b="0" i="0" dirty="0">
                <a:effectLst/>
                <a:latin typeface="-apple-system"/>
              </a:rPr>
              <a:t>的 </a:t>
            </a:r>
            <a:r>
              <a:rPr lang="en-US" dirty="0">
                <a:solidFill>
                  <a:srgbClr val="7030A0"/>
                </a:solidFill>
              </a:rPr>
              <a:t>The</a:t>
            </a:r>
            <a:r>
              <a:rPr lang="en-US" b="0" i="0" dirty="0">
                <a:solidFill>
                  <a:srgbClr val="7030A0"/>
                </a:solidFill>
                <a:effectLst/>
                <a:latin typeface="-apple-system"/>
              </a:rPr>
              <a:t> </a:t>
            </a:r>
            <a:r>
              <a:rPr lang="zh-CN" altLang="en-US" b="0" i="0" dirty="0">
                <a:effectLst/>
                <a:latin typeface="-apple-system"/>
              </a:rPr>
              <a:t>或 </a:t>
            </a:r>
            <a:r>
              <a:rPr lang="en-US" dirty="0">
                <a:solidFill>
                  <a:srgbClr val="7030A0"/>
                </a:solidFill>
              </a:rPr>
              <a:t>the</a:t>
            </a:r>
            <a:r>
              <a:rPr lang="en-US" b="0" i="0" dirty="0">
                <a:effectLst/>
                <a:latin typeface="-apple-system"/>
              </a:rPr>
              <a:t>。</a:t>
            </a:r>
            <a:endParaRPr lang="zh-CN" altLang="en-US" dirty="0"/>
          </a:p>
        </p:txBody>
      </p:sp>
    </p:spTree>
    <p:extLst>
      <p:ext uri="{BB962C8B-B14F-4D97-AF65-F5344CB8AC3E}">
        <p14:creationId xmlns:p14="http://schemas.microsoft.com/office/powerpoint/2010/main" val="143399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D29444-D7EA-AD3C-8DDE-4B49FB8216A3}"/>
              </a:ext>
            </a:extLst>
          </p:cNvPr>
          <p:cNvPicPr>
            <a:picLocks noChangeAspect="1"/>
          </p:cNvPicPr>
          <p:nvPr/>
        </p:nvPicPr>
        <p:blipFill>
          <a:blip r:embed="rId2"/>
          <a:stretch>
            <a:fillRect/>
          </a:stretch>
        </p:blipFill>
        <p:spPr>
          <a:xfrm>
            <a:off x="607518" y="279400"/>
            <a:ext cx="5130800" cy="31496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A91038AD-BB04-A8DE-BE97-5D5490D3A6A3}"/>
              </a:ext>
            </a:extLst>
          </p:cNvPr>
          <p:cNvPicPr>
            <a:picLocks noChangeAspect="1"/>
          </p:cNvPicPr>
          <p:nvPr/>
        </p:nvPicPr>
        <p:blipFill>
          <a:blip r:embed="rId3"/>
          <a:stretch>
            <a:fillRect/>
          </a:stretch>
        </p:blipFill>
        <p:spPr>
          <a:xfrm>
            <a:off x="607518" y="3429000"/>
            <a:ext cx="5524500" cy="31750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5289C973-F281-C493-8A7E-A7C4A497BDB1}"/>
              </a:ext>
            </a:extLst>
          </p:cNvPr>
          <p:cNvPicPr>
            <a:picLocks noChangeAspect="1"/>
          </p:cNvPicPr>
          <p:nvPr/>
        </p:nvPicPr>
        <p:blipFill>
          <a:blip r:embed="rId4"/>
          <a:stretch>
            <a:fillRect/>
          </a:stretch>
        </p:blipFill>
        <p:spPr>
          <a:xfrm>
            <a:off x="6763063" y="292100"/>
            <a:ext cx="4572000" cy="31369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90FCC502-5075-D8C5-884C-2B461BBA877F}"/>
              </a:ext>
            </a:extLst>
          </p:cNvPr>
          <p:cNvPicPr>
            <a:picLocks noChangeAspect="1"/>
          </p:cNvPicPr>
          <p:nvPr/>
        </p:nvPicPr>
        <p:blipFill>
          <a:blip r:embed="rId5"/>
          <a:stretch>
            <a:fillRect/>
          </a:stretch>
        </p:blipFill>
        <p:spPr>
          <a:xfrm>
            <a:off x="6763063" y="3492500"/>
            <a:ext cx="4737100" cy="3111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07890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9FED15-F021-EBCE-91C7-F652B7519E00}"/>
              </a:ext>
            </a:extLst>
          </p:cNvPr>
          <p:cNvSpPr txBox="1"/>
          <p:nvPr/>
        </p:nvSpPr>
        <p:spPr>
          <a:xfrm>
            <a:off x="513798" y="612357"/>
            <a:ext cx="6096000" cy="369332"/>
          </a:xfrm>
          <a:prstGeom prst="rect">
            <a:avLst/>
          </a:prstGeom>
          <a:noFill/>
        </p:spPr>
        <p:txBody>
          <a:bodyPr wrap="square">
            <a:spAutoFit/>
          </a:bodyPr>
          <a:lstStyle/>
          <a:p>
            <a:pPr algn="l"/>
            <a:r>
              <a:rPr lang="en-US" altLang="zh-CN" b="1" i="0" dirty="0">
                <a:solidFill>
                  <a:srgbClr val="0432FF"/>
                </a:solidFill>
                <a:effectLst/>
                <a:latin typeface="-apple-system"/>
              </a:rPr>
              <a:t>5. </a:t>
            </a:r>
            <a:r>
              <a:rPr lang="zh-CN" altLang="en-US" b="1" i="0" dirty="0">
                <a:solidFill>
                  <a:srgbClr val="0432FF"/>
                </a:solidFill>
                <a:effectLst/>
                <a:latin typeface="-apple-system"/>
              </a:rPr>
              <a:t>标记</a:t>
            </a:r>
          </a:p>
        </p:txBody>
      </p:sp>
      <p:pic>
        <p:nvPicPr>
          <p:cNvPr id="5" name="Picture 4">
            <a:extLst>
              <a:ext uri="{FF2B5EF4-FFF2-40B4-BE49-F238E27FC236}">
                <a16:creationId xmlns:a16="http://schemas.microsoft.com/office/drawing/2014/main" id="{195EF7E2-3019-3624-AA4A-3C748645CF8F}"/>
              </a:ext>
            </a:extLst>
          </p:cNvPr>
          <p:cNvPicPr>
            <a:picLocks noChangeAspect="1"/>
          </p:cNvPicPr>
          <p:nvPr/>
        </p:nvPicPr>
        <p:blipFill>
          <a:blip r:embed="rId2"/>
          <a:stretch>
            <a:fillRect/>
          </a:stretch>
        </p:blipFill>
        <p:spPr>
          <a:xfrm>
            <a:off x="1345648" y="3657639"/>
            <a:ext cx="3987800" cy="393700"/>
          </a:xfrm>
          <a:prstGeom prst="rect">
            <a:avLst/>
          </a:prstGeom>
        </p:spPr>
      </p:pic>
      <p:pic>
        <p:nvPicPr>
          <p:cNvPr id="6" name="Picture 5">
            <a:extLst>
              <a:ext uri="{FF2B5EF4-FFF2-40B4-BE49-F238E27FC236}">
                <a16:creationId xmlns:a16="http://schemas.microsoft.com/office/drawing/2014/main" id="{9C9C9FCA-634B-C735-A527-C7CA1FD777DC}"/>
              </a:ext>
            </a:extLst>
          </p:cNvPr>
          <p:cNvPicPr>
            <a:picLocks noChangeAspect="1"/>
          </p:cNvPicPr>
          <p:nvPr/>
        </p:nvPicPr>
        <p:blipFill>
          <a:blip r:embed="rId3"/>
          <a:stretch>
            <a:fillRect/>
          </a:stretch>
        </p:blipFill>
        <p:spPr>
          <a:xfrm>
            <a:off x="1345648" y="4406923"/>
            <a:ext cx="4432300" cy="444500"/>
          </a:xfrm>
          <a:prstGeom prst="rect">
            <a:avLst/>
          </a:prstGeom>
        </p:spPr>
      </p:pic>
      <p:pic>
        <p:nvPicPr>
          <p:cNvPr id="7" name="Picture 6">
            <a:extLst>
              <a:ext uri="{FF2B5EF4-FFF2-40B4-BE49-F238E27FC236}">
                <a16:creationId xmlns:a16="http://schemas.microsoft.com/office/drawing/2014/main" id="{2CB8A69F-4EB3-6771-8D3F-633C3657D346}"/>
              </a:ext>
            </a:extLst>
          </p:cNvPr>
          <p:cNvPicPr>
            <a:picLocks noChangeAspect="1"/>
          </p:cNvPicPr>
          <p:nvPr/>
        </p:nvPicPr>
        <p:blipFill>
          <a:blip r:embed="rId4"/>
          <a:stretch>
            <a:fillRect/>
          </a:stretch>
        </p:blipFill>
        <p:spPr>
          <a:xfrm>
            <a:off x="1345648" y="5207007"/>
            <a:ext cx="4229100" cy="482600"/>
          </a:xfrm>
          <a:prstGeom prst="rect">
            <a:avLst/>
          </a:prstGeom>
        </p:spPr>
      </p:pic>
      <p:pic>
        <p:nvPicPr>
          <p:cNvPr id="8" name="Picture 7">
            <a:extLst>
              <a:ext uri="{FF2B5EF4-FFF2-40B4-BE49-F238E27FC236}">
                <a16:creationId xmlns:a16="http://schemas.microsoft.com/office/drawing/2014/main" id="{9603B364-3797-B5FC-ABB2-941F84109D38}"/>
              </a:ext>
            </a:extLst>
          </p:cNvPr>
          <p:cNvPicPr>
            <a:picLocks noChangeAspect="1"/>
          </p:cNvPicPr>
          <p:nvPr/>
        </p:nvPicPr>
        <p:blipFill>
          <a:blip r:embed="rId5"/>
          <a:stretch>
            <a:fillRect/>
          </a:stretch>
        </p:blipFill>
        <p:spPr>
          <a:xfrm>
            <a:off x="1345648" y="6045191"/>
            <a:ext cx="4508500" cy="431800"/>
          </a:xfrm>
          <a:prstGeom prst="rect">
            <a:avLst/>
          </a:prstGeom>
        </p:spPr>
      </p:pic>
      <p:pic>
        <p:nvPicPr>
          <p:cNvPr id="9" name="Picture 8">
            <a:extLst>
              <a:ext uri="{FF2B5EF4-FFF2-40B4-BE49-F238E27FC236}">
                <a16:creationId xmlns:a16="http://schemas.microsoft.com/office/drawing/2014/main" id="{C6A82E27-CD7F-9AC9-1644-90EAD8C93E79}"/>
              </a:ext>
            </a:extLst>
          </p:cNvPr>
          <p:cNvPicPr>
            <a:picLocks noChangeAspect="1"/>
          </p:cNvPicPr>
          <p:nvPr/>
        </p:nvPicPr>
        <p:blipFill>
          <a:blip r:embed="rId6"/>
          <a:stretch>
            <a:fillRect/>
          </a:stretch>
        </p:blipFill>
        <p:spPr>
          <a:xfrm>
            <a:off x="6957391" y="4114791"/>
            <a:ext cx="3632200" cy="2362200"/>
          </a:xfrm>
          <a:prstGeom prst="rect">
            <a:avLst/>
          </a:prstGeom>
        </p:spPr>
      </p:pic>
      <p:pic>
        <p:nvPicPr>
          <p:cNvPr id="2" name="Picture 1">
            <a:extLst>
              <a:ext uri="{FF2B5EF4-FFF2-40B4-BE49-F238E27FC236}">
                <a16:creationId xmlns:a16="http://schemas.microsoft.com/office/drawing/2014/main" id="{20C9EDF5-A39E-4D3D-BB65-7F0DB9037BDA}"/>
              </a:ext>
            </a:extLst>
          </p:cNvPr>
          <p:cNvPicPr>
            <a:picLocks noChangeAspect="1"/>
          </p:cNvPicPr>
          <p:nvPr/>
        </p:nvPicPr>
        <p:blipFill>
          <a:blip r:embed="rId7"/>
          <a:stretch>
            <a:fillRect/>
          </a:stretch>
        </p:blipFill>
        <p:spPr>
          <a:xfrm>
            <a:off x="1559753" y="362523"/>
            <a:ext cx="9289101" cy="311112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89054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C36E2-E52E-C364-CEFC-60F134849A73}"/>
              </a:ext>
            </a:extLst>
          </p:cNvPr>
          <p:cNvPicPr>
            <a:picLocks noChangeAspect="1"/>
          </p:cNvPicPr>
          <p:nvPr/>
        </p:nvPicPr>
        <p:blipFill>
          <a:blip r:embed="rId2"/>
          <a:stretch>
            <a:fillRect/>
          </a:stretch>
        </p:blipFill>
        <p:spPr>
          <a:xfrm>
            <a:off x="2730500" y="685800"/>
            <a:ext cx="6731000" cy="54864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7683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558D-2559-0444-2340-5EEFC1D17A21}"/>
              </a:ext>
            </a:extLst>
          </p:cNvPr>
          <p:cNvSpPr>
            <a:spLocks noGrp="1"/>
          </p:cNvSpPr>
          <p:nvPr>
            <p:ph type="title"/>
          </p:nvPr>
        </p:nvSpPr>
        <p:spPr/>
        <p:txBody>
          <a:bodyPr/>
          <a:lstStyle/>
          <a:p>
            <a:r>
              <a:rPr lang="zh-CN" altLang="en-US" i="0" dirty="0">
                <a:solidFill>
                  <a:srgbClr val="0432FF"/>
                </a:solidFill>
                <a:effectLst/>
                <a:latin typeface="-apple-system"/>
              </a:rPr>
              <a:t>常用正则表达式</a:t>
            </a:r>
            <a:endParaRPr kumimoji="1" lang="zh-CN" altLang="en-US" dirty="0">
              <a:solidFill>
                <a:srgbClr val="0432FF"/>
              </a:solidFill>
            </a:endParaRPr>
          </a:p>
        </p:txBody>
      </p:sp>
      <p:sp>
        <p:nvSpPr>
          <p:cNvPr id="4" name="TextBox 3">
            <a:extLst>
              <a:ext uri="{FF2B5EF4-FFF2-40B4-BE49-F238E27FC236}">
                <a16:creationId xmlns:a16="http://schemas.microsoft.com/office/drawing/2014/main" id="{41868A58-FC78-61F4-7826-53F6E996329C}"/>
              </a:ext>
            </a:extLst>
          </p:cNvPr>
          <p:cNvSpPr txBox="1"/>
          <p:nvPr/>
        </p:nvSpPr>
        <p:spPr>
          <a:xfrm>
            <a:off x="864703" y="1380269"/>
            <a:ext cx="4373218" cy="1862433"/>
          </a:xfrm>
          <a:prstGeom prst="rect">
            <a:avLst/>
          </a:prstGeom>
          <a:noFill/>
        </p:spPr>
        <p:txBody>
          <a:bodyPr wrap="square">
            <a:spAutoFit/>
          </a:bodyPr>
          <a:lstStyle/>
          <a:p>
            <a:pPr algn="l">
              <a:lnSpc>
                <a:spcPct val="130000"/>
              </a:lnSpc>
              <a:buFont typeface="Arial" panose="020B0604020202020204" pitchFamily="34" charset="0"/>
              <a:buChar char="•"/>
            </a:pPr>
            <a:r>
              <a:rPr lang="zh-CN" altLang="en-US" b="1" i="0" dirty="0">
                <a:effectLst/>
                <a:latin typeface="-apple-system"/>
              </a:rPr>
              <a:t>正整数</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d+$</a:t>
            </a:r>
          </a:p>
          <a:p>
            <a:pPr algn="l">
              <a:lnSpc>
                <a:spcPct val="130000"/>
              </a:lnSpc>
              <a:buFont typeface="Arial" panose="020B0604020202020204" pitchFamily="34" charset="0"/>
              <a:buChar char="•"/>
            </a:pPr>
            <a:r>
              <a:rPr lang="zh-CN" altLang="en-US" b="1" i="0" dirty="0">
                <a:effectLst/>
                <a:latin typeface="-apple-system"/>
              </a:rPr>
              <a:t>负整数</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d+$</a:t>
            </a:r>
          </a:p>
          <a:p>
            <a:pPr algn="l">
              <a:lnSpc>
                <a:spcPct val="130000"/>
              </a:lnSpc>
              <a:buFont typeface="Arial" panose="020B0604020202020204" pitchFamily="34" charset="0"/>
              <a:buChar char="•"/>
            </a:pPr>
            <a:r>
              <a:rPr lang="zh-CN" altLang="en-US" b="1" i="0" dirty="0">
                <a:effectLst/>
                <a:latin typeface="-apple-system"/>
              </a:rPr>
              <a:t>电话号码</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d\s]{3,}$</a:t>
            </a:r>
          </a:p>
          <a:p>
            <a:pPr algn="l">
              <a:lnSpc>
                <a:spcPct val="130000"/>
              </a:lnSpc>
              <a:buFont typeface="Arial" panose="020B0604020202020204" pitchFamily="34" charset="0"/>
              <a:buChar char="•"/>
            </a:pPr>
            <a:r>
              <a:rPr lang="zh-CN" altLang="en-US" b="1" i="0" dirty="0">
                <a:effectLst/>
                <a:latin typeface="-apple-system"/>
              </a:rPr>
              <a:t>电话代码</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d\s]+(?[\d\s]{10,}$</a:t>
            </a:r>
          </a:p>
          <a:p>
            <a:pPr algn="l">
              <a:lnSpc>
                <a:spcPct val="130000"/>
              </a:lnSpc>
              <a:buFont typeface="Arial" panose="020B0604020202020204" pitchFamily="34" charset="0"/>
              <a:buChar char="•"/>
            </a:pPr>
            <a:r>
              <a:rPr lang="zh-CN" altLang="en-US" b="1" i="0" dirty="0">
                <a:effectLst/>
                <a:latin typeface="-apple-system"/>
              </a:rPr>
              <a:t>整数</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d+$</a:t>
            </a:r>
          </a:p>
        </p:txBody>
      </p:sp>
      <p:sp>
        <p:nvSpPr>
          <p:cNvPr id="6" name="TextBox 5">
            <a:extLst>
              <a:ext uri="{FF2B5EF4-FFF2-40B4-BE49-F238E27FC236}">
                <a16:creationId xmlns:a16="http://schemas.microsoft.com/office/drawing/2014/main" id="{617C50AD-B78B-2B4B-B342-619B9E063813}"/>
              </a:ext>
            </a:extLst>
          </p:cNvPr>
          <p:cNvSpPr txBox="1"/>
          <p:nvPr/>
        </p:nvSpPr>
        <p:spPr>
          <a:xfrm>
            <a:off x="864704" y="4107939"/>
            <a:ext cx="10320132" cy="2222532"/>
          </a:xfrm>
          <a:prstGeom prst="rect">
            <a:avLst/>
          </a:prstGeom>
          <a:noFill/>
        </p:spPr>
        <p:txBody>
          <a:bodyPr wrap="square">
            <a:spAutoFit/>
          </a:bodyPr>
          <a:lstStyle/>
          <a:p>
            <a:pPr algn="l">
              <a:lnSpc>
                <a:spcPct val="130000"/>
              </a:lnSpc>
              <a:buFont typeface="Arial" panose="020B0604020202020204" pitchFamily="34" charset="0"/>
              <a:buChar char="•"/>
            </a:pPr>
            <a:r>
              <a:rPr lang="en-US" b="1" i="0" dirty="0">
                <a:effectLst/>
                <a:latin typeface="-apple-system"/>
              </a:rPr>
              <a:t>IPv4 </a:t>
            </a:r>
            <a:r>
              <a:rPr lang="zh-CN" altLang="en-US" b="1" i="0" dirty="0">
                <a:effectLst/>
                <a:latin typeface="-apple-system"/>
              </a:rPr>
              <a:t>地址</a:t>
            </a:r>
            <a:r>
              <a:rPr lang="zh-CN" altLang="en-US" b="0" i="0" dirty="0">
                <a:effectLst/>
                <a:latin typeface="-apple-system"/>
              </a:rPr>
              <a:t>：</a:t>
            </a:r>
            <a:r>
              <a:rPr lang="en-US" altLang="zh-CN" b="0" i="0" dirty="0">
                <a:solidFill>
                  <a:srgbClr val="7030A0"/>
                </a:solidFill>
                <a:effectLst/>
                <a:latin typeface="-apple-system"/>
              </a:rPr>
              <a:t>^((?:(?:25[0-5]|2[0-4][0-9]|[01]?[0-9][0-9]?)\.){3}(?:25[0-5]|2[0-4][0-9]|[01]?[0-9][0-9]?))*$</a:t>
            </a:r>
          </a:p>
          <a:p>
            <a:pPr algn="l">
              <a:lnSpc>
                <a:spcPct val="130000"/>
              </a:lnSpc>
              <a:buFont typeface="Arial" panose="020B0604020202020204" pitchFamily="34" charset="0"/>
              <a:buChar char="•"/>
            </a:pPr>
            <a:r>
              <a:rPr lang="zh-CN" altLang="en-US" b="1" i="0" dirty="0">
                <a:effectLst/>
                <a:latin typeface="-apple-system"/>
              </a:rPr>
              <a:t>网址</a:t>
            </a:r>
            <a:r>
              <a:rPr lang="zh-CN" altLang="en-US" b="0" i="0" dirty="0">
                <a:effectLst/>
                <a:latin typeface="-apple-system"/>
              </a:rPr>
              <a:t>：</a:t>
            </a:r>
            <a:r>
              <a:rPr lang="en-US" altLang="zh-CN" b="0" i="0" dirty="0">
                <a:solidFill>
                  <a:srgbClr val="7030A0"/>
                </a:solidFill>
                <a:effectLst/>
                <a:latin typeface="-apple-system"/>
              </a:rPr>
              <a:t>^(((</a:t>
            </a:r>
            <a:r>
              <a:rPr lang="en-US" b="0" i="0" dirty="0" err="1">
                <a:solidFill>
                  <a:srgbClr val="7030A0"/>
                </a:solidFill>
                <a:effectLst/>
                <a:latin typeface="-apple-system"/>
              </a:rPr>
              <a:t>http|https|ftp</a:t>
            </a:r>
            <a:r>
              <a:rPr lang="en-US" b="0" i="0" dirty="0">
                <a:solidFill>
                  <a:srgbClr val="7030A0"/>
                </a:solidFill>
                <a:effectLst/>
                <a:latin typeface="-apple-system"/>
              </a:rPr>
              <a:t>):\/\/)?([[a-zA-Z0-9]\-\.])+(\.)([[a-zA-Z0-9]]){2,4}([[a-zA-Z0-9]\/+=%&amp;_\.~?\-]*))*$</a:t>
            </a:r>
          </a:p>
          <a:p>
            <a:pPr algn="l">
              <a:lnSpc>
                <a:spcPct val="130000"/>
              </a:lnSpc>
              <a:buFont typeface="Arial" panose="020B0604020202020204" pitchFamily="34" charset="0"/>
              <a:buChar char="•"/>
            </a:pPr>
            <a:r>
              <a:rPr lang="en-US" b="1" i="0" dirty="0">
                <a:effectLst/>
                <a:latin typeface="-apple-system"/>
              </a:rPr>
              <a:t>VISA </a:t>
            </a:r>
            <a:r>
              <a:rPr lang="zh-CN" altLang="en-US" b="1" i="0" dirty="0">
                <a:effectLst/>
                <a:latin typeface="-apple-system"/>
              </a:rPr>
              <a:t>信用卡号码</a:t>
            </a:r>
            <a:r>
              <a:rPr lang="zh-CN" altLang="en-US" b="0" i="0" dirty="0">
                <a:effectLst/>
                <a:latin typeface="-apple-system"/>
              </a:rPr>
              <a:t>：</a:t>
            </a:r>
            <a:r>
              <a:rPr lang="en-US" altLang="zh-CN" b="0" i="0" dirty="0">
                <a:solidFill>
                  <a:srgbClr val="7030A0"/>
                </a:solidFill>
                <a:effectLst/>
                <a:latin typeface="-apple-system"/>
              </a:rPr>
              <a:t>^(4[0-9]{12}(?:[0-9]{3})?)*$</a:t>
            </a:r>
          </a:p>
          <a:p>
            <a:pPr algn="l">
              <a:lnSpc>
                <a:spcPct val="130000"/>
              </a:lnSpc>
              <a:buFont typeface="Arial" panose="020B0604020202020204" pitchFamily="34" charset="0"/>
              <a:buChar char="•"/>
            </a:pPr>
            <a:r>
              <a:rPr lang="zh-CN" altLang="en-US" b="1" i="0" dirty="0">
                <a:effectLst/>
                <a:latin typeface="-apple-system"/>
              </a:rPr>
              <a:t>日期（</a:t>
            </a:r>
            <a:r>
              <a:rPr lang="en-US" b="1" i="0" dirty="0">
                <a:effectLst/>
                <a:latin typeface="-apple-system"/>
              </a:rPr>
              <a:t>MM/DD/YYYY</a:t>
            </a:r>
            <a:r>
              <a:rPr lang="en-US" b="1" i="0" dirty="0">
                <a:solidFill>
                  <a:srgbClr val="7030A0"/>
                </a:solidFill>
                <a:effectLst/>
                <a:latin typeface="-apple-system"/>
              </a:rPr>
              <a:t>）</a:t>
            </a:r>
            <a:r>
              <a:rPr lang="en-US" b="0" i="0" dirty="0">
                <a:solidFill>
                  <a:srgbClr val="7030A0"/>
                </a:solidFill>
                <a:effectLst/>
                <a:latin typeface="-apple-system"/>
              </a:rPr>
              <a:t>：^(0?[1-9]|1[012])[- /.](0?[1-9]|[12][0-9]|3[01])[- /.](19|20)?[0-9]{2}$</a:t>
            </a:r>
          </a:p>
          <a:p>
            <a:pPr algn="l">
              <a:lnSpc>
                <a:spcPct val="130000"/>
              </a:lnSpc>
              <a:buFont typeface="Arial" panose="020B0604020202020204" pitchFamily="34" charset="0"/>
              <a:buChar char="•"/>
            </a:pPr>
            <a:r>
              <a:rPr lang="zh-CN" altLang="en-US" b="1" i="0" dirty="0">
                <a:effectLst/>
                <a:latin typeface="-apple-system"/>
              </a:rPr>
              <a:t>日期（</a:t>
            </a:r>
            <a:r>
              <a:rPr lang="en-US" b="1" i="0" dirty="0">
                <a:effectLst/>
                <a:latin typeface="-apple-system"/>
              </a:rPr>
              <a:t>YYYY/MM/DD</a:t>
            </a:r>
            <a:r>
              <a:rPr lang="en-US" b="1" i="0" dirty="0">
                <a:solidFill>
                  <a:srgbClr val="7030A0"/>
                </a:solidFill>
                <a:effectLst/>
                <a:latin typeface="-apple-system"/>
              </a:rPr>
              <a:t>）</a:t>
            </a:r>
            <a:r>
              <a:rPr lang="en-US" b="0" i="0" dirty="0">
                <a:solidFill>
                  <a:srgbClr val="7030A0"/>
                </a:solidFill>
                <a:effectLst/>
                <a:latin typeface="-apple-system"/>
              </a:rPr>
              <a:t>：^(19|20)?[0-9]{2}[- /.](0?[1-9]|1[012])[- /.](0?[1-9]|[12][0-9]|3[01])$</a:t>
            </a:r>
          </a:p>
          <a:p>
            <a:pPr algn="l">
              <a:lnSpc>
                <a:spcPct val="130000"/>
              </a:lnSpc>
              <a:buFont typeface="Arial" panose="020B0604020202020204" pitchFamily="34" charset="0"/>
              <a:buChar char="•"/>
            </a:pPr>
            <a:r>
              <a:rPr lang="zh-CN" altLang="en-US" b="1" i="0" dirty="0">
                <a:effectLst/>
                <a:latin typeface="-apple-system"/>
              </a:rPr>
              <a:t>万事达信用卡号码</a:t>
            </a:r>
            <a:r>
              <a:rPr lang="zh-CN" altLang="en-US" b="0" i="0" dirty="0">
                <a:effectLst/>
                <a:latin typeface="-apple-system"/>
              </a:rPr>
              <a:t>：</a:t>
            </a:r>
            <a:r>
              <a:rPr lang="en-US" altLang="zh-CN" b="0" i="0" dirty="0">
                <a:solidFill>
                  <a:srgbClr val="7030A0"/>
                </a:solidFill>
                <a:effectLst/>
                <a:latin typeface="-apple-system"/>
              </a:rPr>
              <a:t>^(5[1-5][0-9]{14})*$</a:t>
            </a:r>
          </a:p>
        </p:txBody>
      </p:sp>
      <p:sp>
        <p:nvSpPr>
          <p:cNvPr id="8" name="TextBox 7">
            <a:extLst>
              <a:ext uri="{FF2B5EF4-FFF2-40B4-BE49-F238E27FC236}">
                <a16:creationId xmlns:a16="http://schemas.microsoft.com/office/drawing/2014/main" id="{18A53215-46BF-9372-F496-BCB337F4176C}"/>
              </a:ext>
            </a:extLst>
          </p:cNvPr>
          <p:cNvSpPr txBox="1"/>
          <p:nvPr/>
        </p:nvSpPr>
        <p:spPr>
          <a:xfrm>
            <a:off x="864703" y="3242702"/>
            <a:ext cx="7272132" cy="782137"/>
          </a:xfrm>
          <a:prstGeom prst="rect">
            <a:avLst/>
          </a:prstGeom>
          <a:noFill/>
        </p:spPr>
        <p:txBody>
          <a:bodyPr wrap="square">
            <a:spAutoFit/>
          </a:bodyPr>
          <a:lstStyle/>
          <a:p>
            <a:pPr algn="l">
              <a:lnSpc>
                <a:spcPct val="130000"/>
              </a:lnSpc>
              <a:buFont typeface="Arial" panose="020B0604020202020204" pitchFamily="34" charset="0"/>
              <a:buChar char="•"/>
            </a:pPr>
            <a:r>
              <a:rPr lang="zh-CN" altLang="en-US" b="1" i="0" dirty="0">
                <a:effectLst/>
                <a:latin typeface="-apple-system"/>
              </a:rPr>
              <a:t>密码</a:t>
            </a:r>
            <a:r>
              <a:rPr lang="zh-CN" altLang="en-US" b="0" i="0" dirty="0">
                <a:effectLst/>
                <a:latin typeface="-apple-system"/>
              </a:rPr>
              <a:t>：</a:t>
            </a:r>
            <a:r>
              <a:rPr lang="en-US" altLang="zh-CN" b="0" i="0" dirty="0">
                <a:solidFill>
                  <a:srgbClr val="7030A0"/>
                </a:solidFill>
                <a:effectLst/>
                <a:latin typeface="-apple-system"/>
              </a:rPr>
              <a:t>^(?=^.{6,}$)((?=.*[</a:t>
            </a:r>
            <a:r>
              <a:rPr lang="en-US" b="0" i="0" dirty="0">
                <a:solidFill>
                  <a:srgbClr val="7030A0"/>
                </a:solidFill>
                <a:effectLst/>
                <a:latin typeface="-apple-system"/>
              </a:rPr>
              <a:t>A-Za-z0-9])(?=.*[A-Z])(?=.*[a-z]))^.*$</a:t>
            </a:r>
          </a:p>
          <a:p>
            <a:pPr algn="l">
              <a:lnSpc>
                <a:spcPct val="130000"/>
              </a:lnSpc>
              <a:buFont typeface="Arial" panose="020B0604020202020204" pitchFamily="34" charset="0"/>
              <a:buChar char="•"/>
            </a:pPr>
            <a:r>
              <a:rPr lang="zh-CN" altLang="en-US" b="1" i="0" dirty="0">
                <a:effectLst/>
                <a:latin typeface="-apple-system"/>
              </a:rPr>
              <a:t>电子邮件</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a-zA-Z0-9._%-]+@[a-zA-Z0-9.-]+\.[a-</a:t>
            </a:r>
            <a:r>
              <a:rPr lang="en-US" b="0" i="0" dirty="0" err="1">
                <a:solidFill>
                  <a:srgbClr val="7030A0"/>
                </a:solidFill>
                <a:effectLst/>
                <a:latin typeface="-apple-system"/>
              </a:rPr>
              <a:t>zA</a:t>
            </a:r>
            <a:r>
              <a:rPr lang="en-US" b="0" i="0" dirty="0">
                <a:solidFill>
                  <a:srgbClr val="7030A0"/>
                </a:solidFill>
                <a:effectLst/>
                <a:latin typeface="-apple-system"/>
              </a:rPr>
              <a:t>-Z]{2,4})*$</a:t>
            </a:r>
          </a:p>
        </p:txBody>
      </p:sp>
      <p:sp>
        <p:nvSpPr>
          <p:cNvPr id="10" name="TextBox 9">
            <a:extLst>
              <a:ext uri="{FF2B5EF4-FFF2-40B4-BE49-F238E27FC236}">
                <a16:creationId xmlns:a16="http://schemas.microsoft.com/office/drawing/2014/main" id="{C20ADD49-297B-9935-B2BF-A4758A5FD8E3}"/>
              </a:ext>
            </a:extLst>
          </p:cNvPr>
          <p:cNvSpPr txBox="1"/>
          <p:nvPr/>
        </p:nvSpPr>
        <p:spPr>
          <a:xfrm>
            <a:off x="5536165" y="1463368"/>
            <a:ext cx="4754148" cy="1696234"/>
          </a:xfrm>
          <a:prstGeom prst="rect">
            <a:avLst/>
          </a:prstGeom>
          <a:noFill/>
        </p:spPr>
        <p:txBody>
          <a:bodyPr wrap="square">
            <a:spAutoFit/>
          </a:bodyPr>
          <a:lstStyle/>
          <a:p>
            <a:pPr algn="l">
              <a:buFont typeface="Arial" panose="020B0604020202020204" pitchFamily="34" charset="0"/>
              <a:buChar char="•"/>
            </a:pPr>
            <a:r>
              <a:rPr lang="zh-CN" altLang="en-US" b="1" i="0" dirty="0">
                <a:effectLst/>
                <a:latin typeface="-apple-system"/>
              </a:rPr>
              <a:t>小写字母</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a-z])*$</a:t>
            </a:r>
          </a:p>
          <a:p>
            <a:pPr algn="l">
              <a:buFont typeface="Arial" panose="020B0604020202020204" pitchFamily="34" charset="0"/>
              <a:buChar char="•"/>
            </a:pPr>
            <a:r>
              <a:rPr lang="zh-CN" altLang="en-US" b="1" i="0" dirty="0">
                <a:effectLst/>
                <a:latin typeface="-apple-system"/>
              </a:rPr>
              <a:t>大写字母</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A-Z])*$</a:t>
            </a:r>
          </a:p>
          <a:p>
            <a:pPr algn="l">
              <a:lnSpc>
                <a:spcPct val="130000"/>
              </a:lnSpc>
              <a:buFont typeface="Arial" panose="020B0604020202020204" pitchFamily="34" charset="0"/>
              <a:buChar char="•"/>
            </a:pPr>
            <a:r>
              <a:rPr lang="zh-CN" altLang="en-US" b="1" i="0" dirty="0">
                <a:effectLst/>
                <a:latin typeface="-apple-system"/>
              </a:rPr>
              <a:t>用户名</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w\d_.]{4,16}$</a:t>
            </a:r>
          </a:p>
          <a:p>
            <a:pPr algn="l">
              <a:lnSpc>
                <a:spcPct val="130000"/>
              </a:lnSpc>
              <a:buFont typeface="Arial" panose="020B0604020202020204" pitchFamily="34" charset="0"/>
              <a:buChar char="•"/>
            </a:pPr>
            <a:r>
              <a:rPr lang="zh-CN" altLang="en-US" b="1" i="0" dirty="0">
                <a:effectLst/>
                <a:latin typeface="-apple-system"/>
              </a:rPr>
              <a:t>字母数字字符</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a-zA-Z0-9]*$</a:t>
            </a:r>
          </a:p>
          <a:p>
            <a:pPr algn="l">
              <a:lnSpc>
                <a:spcPct val="130000"/>
              </a:lnSpc>
              <a:buFont typeface="Arial" panose="020B0604020202020204" pitchFamily="34" charset="0"/>
              <a:buChar char="•"/>
            </a:pPr>
            <a:r>
              <a:rPr lang="zh-CN" altLang="en-US" b="1" i="0" dirty="0">
                <a:effectLst/>
                <a:latin typeface="-apple-system"/>
              </a:rPr>
              <a:t>带空格的字母数字字符</a:t>
            </a:r>
            <a:r>
              <a:rPr lang="zh-CN" altLang="en-US" b="0" i="0" dirty="0">
                <a:effectLst/>
                <a:latin typeface="-apple-system"/>
              </a:rPr>
              <a:t>：</a:t>
            </a:r>
            <a:r>
              <a:rPr lang="en-US" altLang="zh-CN" b="0" i="0" dirty="0">
                <a:solidFill>
                  <a:srgbClr val="7030A0"/>
                </a:solidFill>
                <a:effectLst/>
                <a:latin typeface="-apple-system"/>
              </a:rPr>
              <a:t>^[</a:t>
            </a:r>
            <a:r>
              <a:rPr lang="en-US" b="0" i="0" dirty="0">
                <a:solidFill>
                  <a:srgbClr val="7030A0"/>
                </a:solidFill>
                <a:effectLst/>
                <a:latin typeface="-apple-system"/>
              </a:rPr>
              <a:t>a-zA-Z0-9 ]*$</a:t>
            </a:r>
          </a:p>
        </p:txBody>
      </p:sp>
    </p:spTree>
    <p:extLst>
      <p:ext uri="{BB962C8B-B14F-4D97-AF65-F5344CB8AC3E}">
        <p14:creationId xmlns:p14="http://schemas.microsoft.com/office/powerpoint/2010/main" val="32828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A8833-10A0-895D-D293-3C381CE39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46FA0-D279-81AE-E487-9C2D348F109B}"/>
              </a:ext>
            </a:extLst>
          </p:cNvPr>
          <p:cNvSpPr>
            <a:spLocks noGrp="1"/>
          </p:cNvSpPr>
          <p:nvPr>
            <p:ph type="title"/>
          </p:nvPr>
        </p:nvSpPr>
        <p:spPr>
          <a:xfrm>
            <a:off x="1617517" y="2750961"/>
            <a:ext cx="10071099" cy="1684150"/>
          </a:xfrm>
        </p:spPr>
        <p:txBody>
          <a:bodyPr/>
          <a:lstStyle/>
          <a:p>
            <a:r>
              <a:rPr lang="en-US" altLang="zh-CN" dirty="0"/>
              <a:t>10</a:t>
            </a:r>
            <a:r>
              <a:rPr lang="en-US" dirty="0"/>
              <a:t>.</a:t>
            </a:r>
            <a:r>
              <a:rPr lang="en-US" altLang="zh-CN" dirty="0"/>
              <a:t>4</a:t>
            </a:r>
            <a:r>
              <a:rPr lang="en-US" dirty="0"/>
              <a:t> </a:t>
            </a:r>
            <a:r>
              <a:rPr lang="zh-CN" altLang="en-US" dirty="0"/>
              <a:t>正则表达式</a:t>
            </a:r>
            <a:r>
              <a:rPr kumimoji="1" lang="zh-CN" altLang="en-US" dirty="0">
                <a:latin typeface="Microsoft YaHei" panose="020B0503020204020204" pitchFamily="34" charset="-122"/>
                <a:ea typeface="Microsoft YaHei" panose="020B0503020204020204" pitchFamily="34" charset="-122"/>
              </a:rPr>
              <a:t>模块</a:t>
            </a:r>
            <a:endParaRPr lang="en-US" dirty="0"/>
          </a:p>
        </p:txBody>
      </p:sp>
      <p:sp>
        <p:nvSpPr>
          <p:cNvPr id="4" name="文本占位符 3">
            <a:extLst>
              <a:ext uri="{FF2B5EF4-FFF2-40B4-BE49-F238E27FC236}">
                <a16:creationId xmlns:a16="http://schemas.microsoft.com/office/drawing/2014/main" id="{64D99E79-033E-F79A-48EB-3ACD3E9AD8B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59908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AF990-17C8-A756-8350-63D1BE7AA1A4}"/>
              </a:ext>
            </a:extLst>
          </p:cNvPr>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p>
        </p:txBody>
      </p:sp>
      <p:pic>
        <p:nvPicPr>
          <p:cNvPr id="3" name="Picture 2">
            <a:extLst>
              <a:ext uri="{FF2B5EF4-FFF2-40B4-BE49-F238E27FC236}">
                <a16:creationId xmlns:a16="http://schemas.microsoft.com/office/drawing/2014/main" id="{8023DB18-D398-D961-7AB5-D1D8AF7B0703}"/>
              </a:ext>
            </a:extLst>
          </p:cNvPr>
          <p:cNvPicPr>
            <a:picLocks noChangeAspect="1"/>
          </p:cNvPicPr>
          <p:nvPr/>
        </p:nvPicPr>
        <p:blipFill>
          <a:blip r:embed="rId2"/>
          <a:stretch>
            <a:fillRect/>
          </a:stretch>
        </p:blipFill>
        <p:spPr>
          <a:xfrm>
            <a:off x="1584507" y="2248431"/>
            <a:ext cx="8841883" cy="3610821"/>
          </a:xfrm>
          <a:prstGeom prst="rect">
            <a:avLst/>
          </a:prstGeom>
        </p:spPr>
      </p:pic>
      <p:sp>
        <p:nvSpPr>
          <p:cNvPr id="5" name="TextBox 4">
            <a:extLst>
              <a:ext uri="{FF2B5EF4-FFF2-40B4-BE49-F238E27FC236}">
                <a16:creationId xmlns:a16="http://schemas.microsoft.com/office/drawing/2014/main" id="{30EAFFA8-B5B6-F913-9FAF-6BE0151BAA3E}"/>
              </a:ext>
            </a:extLst>
          </p:cNvPr>
          <p:cNvSpPr txBox="1"/>
          <p:nvPr/>
        </p:nvSpPr>
        <p:spPr>
          <a:xfrm>
            <a:off x="1383785" y="1609764"/>
            <a:ext cx="9240054" cy="369332"/>
          </a:xfrm>
          <a:prstGeom prst="rect">
            <a:avLst/>
          </a:prstGeom>
          <a:noFill/>
        </p:spPr>
        <p:txBody>
          <a:bodyPr wrap="square">
            <a:spAutoFit/>
          </a:bodyPr>
          <a:lstStyle/>
          <a:p>
            <a:r>
              <a:rPr lang="en-US" b="1" i="0" dirty="0">
                <a:solidFill>
                  <a:srgbClr val="0432FF"/>
                </a:solidFill>
                <a:effectLst/>
                <a:latin typeface="Courier New" panose="02070309020205020404" pitchFamily="49" charset="0"/>
              </a:rPr>
              <a:t>re</a:t>
            </a:r>
            <a:r>
              <a:rPr lang="zh-CN" altLang="en-US" b="0" i="0" dirty="0">
                <a:solidFill>
                  <a:srgbClr val="262625"/>
                </a:solidFill>
                <a:effectLst/>
                <a:latin typeface="Times New Roman" panose="02020603050405020304" pitchFamily="18" charset="0"/>
              </a:rPr>
              <a:t>模块提供了对正则表达式的支持，可以灵活地处理字符串匹配、验证、分割等操作。</a:t>
            </a:r>
            <a:endParaRPr lang="zh-CN" altLang="en-US" dirty="0"/>
          </a:p>
        </p:txBody>
      </p:sp>
    </p:spTree>
    <p:extLst>
      <p:ext uri="{BB962C8B-B14F-4D97-AF65-F5344CB8AC3E}">
        <p14:creationId xmlns:p14="http://schemas.microsoft.com/office/powerpoint/2010/main" val="782084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10.4.1</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a:t>
            </a:r>
            <a:r>
              <a:rPr lang="en-US" altLang="zh-CN" b="1" dirty="0">
                <a:solidFill>
                  <a:srgbClr val="0432FF"/>
                </a:solidFill>
                <a:latin typeface="宋体" panose="02010600030101010101" pitchFamily="2" charset="-122"/>
                <a:ea typeface="宋体" panose="02010600030101010101" pitchFamily="2" charset="-122"/>
              </a:rPr>
              <a:t> </a:t>
            </a:r>
            <a:r>
              <a:rPr lang="en-US" altLang="zh-CN" b="1" dirty="0" err="1">
                <a:solidFill>
                  <a:srgbClr val="0432FF"/>
                </a:solidFill>
                <a:latin typeface="宋体" panose="02010600030101010101" pitchFamily="2" charset="-122"/>
                <a:ea typeface="宋体" panose="02010600030101010101" pitchFamily="2" charset="-122"/>
              </a:rPr>
              <a:t>re.match</a:t>
            </a:r>
            <a:endParaRPr lang="en-US" dirty="0"/>
          </a:p>
        </p:txBody>
      </p:sp>
      <p:sp>
        <p:nvSpPr>
          <p:cNvPr id="5" name="文本框 4"/>
          <p:cNvSpPr txBox="1"/>
          <p:nvPr/>
        </p:nvSpPr>
        <p:spPr>
          <a:xfrm>
            <a:off x="1104900" y="1578037"/>
            <a:ext cx="9980682" cy="2574231"/>
          </a:xfrm>
          <a:prstGeom prst="rect">
            <a:avLst/>
          </a:prstGeom>
          <a:noFill/>
        </p:spPr>
        <p:txBody>
          <a:bodyPr wrap="square" rtlCol="0">
            <a:spAutoFit/>
          </a:bodyPr>
          <a:lstStyle/>
          <a:p>
            <a:pPr marL="285750" indent="-285750" algn="just">
              <a:lnSpc>
                <a:spcPct val="130000"/>
              </a:lnSpc>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re.match</a:t>
            </a:r>
            <a:r>
              <a:rPr lang="zh-CN" altLang="zh-CN" sz="2000" b="1" dirty="0">
                <a:solidFill>
                  <a:srgbClr val="0432FF"/>
                </a:solidFill>
                <a:latin typeface="宋体" panose="02010600030101010101" pitchFamily="2" charset="-122"/>
                <a:ea typeface="宋体" panose="02010600030101010101" pitchFamily="2" charset="-122"/>
              </a:rPr>
              <a:t>函数</a:t>
            </a:r>
          </a:p>
          <a:p>
            <a:pPr algn="just">
              <a:lnSpc>
                <a:spcPct val="130000"/>
              </a:lnSpc>
              <a:spcBef>
                <a:spcPts val="1000"/>
              </a:spcBef>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re.match</a:t>
            </a:r>
            <a:r>
              <a:rPr lang="en-US" altLang="zh-CN" sz="2000" dirty="0">
                <a:latin typeface="宋体" panose="02010600030101010101" pitchFamily="2" charset="-122"/>
                <a:ea typeface="宋体" panose="02010600030101010101" pitchFamily="2" charset="-122"/>
              </a:rPr>
              <a:t>(pattern, string, flag)</a:t>
            </a:r>
            <a:r>
              <a:rPr lang="zh-CN" altLang="zh-CN" sz="2000" dirty="0">
                <a:latin typeface="宋体" panose="02010600030101010101" pitchFamily="2" charset="-122"/>
                <a:ea typeface="宋体" panose="02010600030101010101" pitchFamily="2" charset="-122"/>
              </a:rPr>
              <a:t>函</a:t>
            </a:r>
            <a:r>
              <a:rPr lang="ja-JP" altLang="zh-CN" sz="2000" dirty="0">
                <a:latin typeface="宋体" panose="02010600030101010101" pitchFamily="2" charset="-122"/>
                <a:ea typeface="宋体" panose="02010600030101010101" pitchFamily="2" charset="-122"/>
              </a:rPr>
              <a:t>试从字符串的起始位置</a:t>
            </a:r>
            <a:r>
              <a:rPr lang="zh-CN" altLang="zh-CN" sz="2000" dirty="0">
                <a:latin typeface="宋体" panose="02010600030101010101" pitchFamily="2" charset="-122"/>
                <a:ea typeface="宋体" panose="02010600030101010101" pitchFamily="2" charset="-122"/>
              </a:rPr>
              <a:t>进行匹配</a:t>
            </a:r>
            <a:r>
              <a:rPr lang="ja-JP" altLang="zh-CN" sz="2000" dirty="0">
                <a:latin typeface="宋体" panose="02010600030101010101" pitchFamily="2" charset="-122"/>
                <a:ea typeface="宋体" panose="02010600030101010101" pitchFamily="2" charset="-122"/>
              </a:rPr>
              <a:t>，如果不是起始位置匹配成功的话，</a:t>
            </a:r>
            <a:r>
              <a:rPr lang="en-US" altLang="zh-CN" sz="2000" dirty="0">
                <a:latin typeface="宋体" panose="02010600030101010101" pitchFamily="2" charset="-122"/>
                <a:ea typeface="宋体" panose="02010600030101010101" pitchFamily="2" charset="-122"/>
              </a:rPr>
              <a:t>match()</a:t>
            </a:r>
            <a:r>
              <a:rPr lang="ja-JP" altLang="zh-CN" sz="2000" dirty="0">
                <a:latin typeface="宋体" panose="02010600030101010101" pitchFamily="2" charset="-122"/>
                <a:ea typeface="宋体" panose="02010600030101010101" pitchFamily="2" charset="-122"/>
              </a:rPr>
              <a:t>就返回</a:t>
            </a:r>
            <a:r>
              <a:rPr lang="en-US" altLang="zh-CN" sz="2000" dirty="0">
                <a:latin typeface="宋体" panose="02010600030101010101" pitchFamily="2" charset="-122"/>
                <a:ea typeface="宋体" panose="02010600030101010101" pitchFamily="2" charset="-122"/>
              </a:rPr>
              <a:t>None</a:t>
            </a:r>
            <a:r>
              <a:rPr lang="zh-CN" altLang="zh-CN" sz="2000" dirty="0">
                <a:latin typeface="宋体" panose="02010600030101010101" pitchFamily="2" charset="-122"/>
                <a:ea typeface="宋体" panose="02010600030101010101" pitchFamily="2" charset="-122"/>
              </a:rPr>
              <a:t>，匹配成功则返回一个匹配对象。该函数具有三个参数：</a:t>
            </a:r>
            <a:r>
              <a:rPr lang="en-US" altLang="zh-CN" sz="2000" dirty="0">
                <a:latin typeface="宋体" panose="02010600030101010101" pitchFamily="2" charset="-122"/>
                <a:ea typeface="宋体" panose="02010600030101010101" pitchFamily="2" charset="-122"/>
              </a:rPr>
              <a:t>pattern</a:t>
            </a:r>
            <a:r>
              <a:rPr lang="zh-CN" altLang="zh-CN" sz="2000" dirty="0">
                <a:latin typeface="宋体" panose="02010600030101010101" pitchFamily="2" charset="-122"/>
                <a:ea typeface="宋体" panose="02010600030101010101" pitchFamily="2" charset="-122"/>
              </a:rPr>
              <a:t>是用于匹配的正则表达式；</a:t>
            </a:r>
            <a:r>
              <a:rPr lang="en-US" altLang="zh-CN" sz="2000" dirty="0">
                <a:latin typeface="宋体" panose="02010600030101010101" pitchFamily="2" charset="-122"/>
                <a:ea typeface="宋体" panose="02010600030101010101" pitchFamily="2" charset="-122"/>
              </a:rPr>
              <a:t>string</a:t>
            </a:r>
            <a:r>
              <a:rPr lang="zh-CN" altLang="zh-CN" sz="2000" dirty="0">
                <a:latin typeface="宋体" panose="02010600030101010101" pitchFamily="2" charset="-122"/>
                <a:ea typeface="宋体" panose="02010600030101010101" pitchFamily="2" charset="-122"/>
              </a:rPr>
              <a:t>是待匹配的字符串；</a:t>
            </a:r>
            <a:r>
              <a:rPr lang="en-US" altLang="zh-CN" sz="2000" dirty="0">
                <a:latin typeface="宋体" panose="02010600030101010101" pitchFamily="2" charset="-122"/>
                <a:ea typeface="宋体" panose="02010600030101010101" pitchFamily="2" charset="-122"/>
              </a:rPr>
              <a:t>flags</a:t>
            </a:r>
            <a:r>
              <a:rPr lang="zh-CN" altLang="zh-CN" sz="2000" dirty="0">
                <a:latin typeface="宋体" panose="02010600030101010101" pitchFamily="2" charset="-122"/>
                <a:ea typeface="宋体" panose="02010600030101010101" pitchFamily="2" charset="-122"/>
              </a:rPr>
              <a:t>是标志位，用于控制正则表达式的匹配方式，如：是否区分大小写，多行匹配等等。</a:t>
            </a:r>
          </a:p>
          <a:p>
            <a:pPr marL="285750" indent="-285750">
              <a:lnSpc>
                <a:spcPct val="130000"/>
              </a:lnSpc>
              <a:buFont typeface="Arial" panose="020B0604020202020204" pitchFamily="34" charset="0"/>
              <a:buChar char="•"/>
            </a:pPr>
            <a:endParaRPr lang="zh-CN" altLang="en-US" sz="2000" dirty="0"/>
          </a:p>
        </p:txBody>
      </p:sp>
      <p:pic>
        <p:nvPicPr>
          <p:cNvPr id="4" name="Picture 3">
            <a:extLst>
              <a:ext uri="{FF2B5EF4-FFF2-40B4-BE49-F238E27FC236}">
                <a16:creationId xmlns:a16="http://schemas.microsoft.com/office/drawing/2014/main" id="{D0417FFC-6BE6-62ED-AA83-B495EB562B2D}"/>
              </a:ext>
            </a:extLst>
          </p:cNvPr>
          <p:cNvPicPr>
            <a:picLocks noChangeAspect="1"/>
          </p:cNvPicPr>
          <p:nvPr/>
        </p:nvPicPr>
        <p:blipFill>
          <a:blip r:embed="rId3"/>
          <a:stretch>
            <a:fillRect/>
          </a:stretch>
        </p:blipFill>
        <p:spPr>
          <a:xfrm>
            <a:off x="873734" y="4345270"/>
            <a:ext cx="5121729" cy="1618937"/>
          </a:xfrm>
          <a:prstGeom prst="rect">
            <a:avLst/>
          </a:prstGeom>
        </p:spPr>
      </p:pic>
      <p:pic>
        <p:nvPicPr>
          <p:cNvPr id="6" name="Picture 5">
            <a:extLst>
              <a:ext uri="{FF2B5EF4-FFF2-40B4-BE49-F238E27FC236}">
                <a16:creationId xmlns:a16="http://schemas.microsoft.com/office/drawing/2014/main" id="{E977A9D5-DD92-DAB6-570D-96F87A5ABE7C}"/>
              </a:ext>
            </a:extLst>
          </p:cNvPr>
          <p:cNvPicPr>
            <a:picLocks noChangeAspect="1"/>
          </p:cNvPicPr>
          <p:nvPr/>
        </p:nvPicPr>
        <p:blipFill>
          <a:blip r:embed="rId4"/>
          <a:stretch>
            <a:fillRect/>
          </a:stretch>
        </p:blipFill>
        <p:spPr>
          <a:xfrm>
            <a:off x="6602765" y="4506428"/>
            <a:ext cx="4953314" cy="1457779"/>
          </a:xfrm>
          <a:prstGeom prst="rect">
            <a:avLst/>
          </a:prstGeom>
        </p:spPr>
      </p:pic>
    </p:spTree>
    <p:extLst>
      <p:ext uri="{BB962C8B-B14F-4D97-AF65-F5344CB8AC3E}">
        <p14:creationId xmlns:p14="http://schemas.microsoft.com/office/powerpoint/2010/main" val="59317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10.4.2</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lang="en-US" altLang="zh-CN" b="1" dirty="0" err="1">
                <a:solidFill>
                  <a:srgbClr val="0432FF"/>
                </a:solidFill>
                <a:latin typeface="宋体" panose="02010600030101010101" pitchFamily="2" charset="-122"/>
                <a:ea typeface="宋体" panose="02010600030101010101" pitchFamily="2" charset="-122"/>
              </a:rPr>
              <a:t>re.search</a:t>
            </a:r>
            <a:endParaRPr lang="en-US" dirty="0"/>
          </a:p>
        </p:txBody>
      </p:sp>
      <p:sp>
        <p:nvSpPr>
          <p:cNvPr id="3" name="文本框 2"/>
          <p:cNvSpPr txBox="1"/>
          <p:nvPr/>
        </p:nvSpPr>
        <p:spPr>
          <a:xfrm>
            <a:off x="1104900" y="1477537"/>
            <a:ext cx="9980682" cy="2928174"/>
          </a:xfrm>
          <a:prstGeom prst="rect">
            <a:avLst/>
          </a:prstGeom>
          <a:noFill/>
        </p:spPr>
        <p:txBody>
          <a:bodyPr wrap="square" rtlCol="0">
            <a:spAutoFit/>
          </a:bodyPr>
          <a:lstStyle/>
          <a:p>
            <a:pPr marL="285750" indent="-285750" algn="just">
              <a:lnSpc>
                <a:spcPct val="150000"/>
              </a:lnSpc>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re.search</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lnSpc>
                <a:spcPct val="150000"/>
              </a:lnSpc>
              <a:spcBef>
                <a:spcPts val="1000"/>
              </a:spcBef>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re.search</a:t>
            </a:r>
            <a:r>
              <a:rPr lang="en-US" altLang="zh-CN" sz="2000" dirty="0">
                <a:latin typeface="宋体" panose="02010600030101010101" pitchFamily="2" charset="-122"/>
                <a:ea typeface="宋体" panose="02010600030101010101" pitchFamily="2" charset="-122"/>
              </a:rPr>
              <a:t>(pattern, string, flags=0)</a:t>
            </a:r>
            <a:r>
              <a:rPr lang="zh-CN" altLang="zh-CN" sz="2000" dirty="0">
                <a:latin typeface="宋体" panose="02010600030101010101" pitchFamily="2" charset="-122"/>
                <a:ea typeface="宋体" panose="02010600030101010101" pitchFamily="2" charset="-122"/>
              </a:rPr>
              <a:t>函数</a:t>
            </a:r>
            <a:r>
              <a:rPr lang="ja-JP" altLang="zh-CN" sz="2000" dirty="0">
                <a:latin typeface="宋体" panose="02010600030101010101" pitchFamily="2" charset="-122"/>
                <a:ea typeface="宋体" panose="02010600030101010101" pitchFamily="2" charset="-122"/>
              </a:rPr>
              <a:t>扫描整个字符串并返回第一个成功的匹配。</a:t>
            </a: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该函数的三个参数与</a:t>
            </a:r>
            <a:r>
              <a:rPr lang="en-US" altLang="zh-CN" sz="2000" dirty="0" err="1">
                <a:latin typeface="宋体" panose="02010600030101010101" pitchFamily="2" charset="-122"/>
                <a:ea typeface="宋体" panose="02010600030101010101" pitchFamily="2" charset="-122"/>
              </a:rPr>
              <a:t>re.match</a:t>
            </a:r>
            <a:r>
              <a:rPr lang="ja-JP" altLang="zh-CN" sz="2000" dirty="0">
                <a:latin typeface="宋体" panose="02010600030101010101" pitchFamily="2" charset="-122"/>
                <a:ea typeface="宋体" panose="02010600030101010101" pitchFamily="2" charset="-122"/>
              </a:rPr>
              <a:t>函数的参数意义相同，</a:t>
            </a:r>
            <a:r>
              <a:rPr lang="en-US" altLang="zh-CN" sz="2000" dirty="0" err="1">
                <a:latin typeface="宋体" panose="02010600030101010101" pitchFamily="2" charset="-122"/>
                <a:ea typeface="宋体" panose="02010600030101010101" pitchFamily="2" charset="-122"/>
              </a:rPr>
              <a:t>re.search</a:t>
            </a:r>
            <a:r>
              <a:rPr lang="zh-CN" altLang="zh-CN" sz="2000" dirty="0">
                <a:latin typeface="宋体" panose="02010600030101010101" pitchFamily="2" charset="-122"/>
                <a:ea typeface="宋体" panose="02010600030101010101" pitchFamily="2" charset="-122"/>
              </a:rPr>
              <a:t>函</a:t>
            </a:r>
            <a:r>
              <a:rPr lang="ja-JP" altLang="zh-CN" sz="2000" dirty="0">
                <a:latin typeface="宋体" panose="02010600030101010101" pitchFamily="2" charset="-122"/>
                <a:ea typeface="宋体" panose="02010600030101010101" pitchFamily="2" charset="-122"/>
              </a:rPr>
              <a:t>数返回一个匹配的对象，否则返回</a:t>
            </a:r>
            <a:r>
              <a:rPr lang="en-US" altLang="zh-CN" sz="2000" dirty="0">
                <a:latin typeface="宋体" panose="02010600030101010101" pitchFamily="2" charset="-122"/>
                <a:ea typeface="宋体" panose="02010600030101010101" pitchFamily="2" charset="-122"/>
              </a:rPr>
              <a:t>None</a:t>
            </a:r>
            <a:r>
              <a:rPr lang="ja-JP" altLang="zh-CN" sz="2000" dirty="0">
                <a:latin typeface="宋体" panose="02010600030101010101" pitchFamily="2" charset="-122"/>
                <a:ea typeface="宋体" panose="02010600030101010101" pitchFamily="2" charset="-122"/>
              </a:rPr>
              <a:t>。同样的可以利用</a:t>
            </a:r>
            <a:r>
              <a:rPr lang="en-US" altLang="zh-CN" sz="2000" dirty="0">
                <a:latin typeface="宋体" panose="02010600030101010101" pitchFamily="2" charset="-122"/>
                <a:ea typeface="宋体" panose="02010600030101010101" pitchFamily="2" charset="-122"/>
              </a:rPr>
              <a:t>group()</a:t>
            </a:r>
            <a:r>
              <a:rPr lang="ja-JP" altLang="zh-CN" sz="2000" dirty="0">
                <a:latin typeface="宋体" panose="02010600030101010101" pitchFamily="2" charset="-122"/>
                <a:ea typeface="宋体" panose="02010600030101010101" pitchFamily="2" charset="-122"/>
              </a:rPr>
              <a:t>或</a:t>
            </a:r>
            <a:r>
              <a:rPr lang="en-US" altLang="zh-CN" sz="2000" dirty="0">
                <a:latin typeface="宋体" panose="02010600030101010101" pitchFamily="2" charset="-122"/>
                <a:ea typeface="宋体" panose="02010600030101010101" pitchFamily="2" charset="-122"/>
              </a:rPr>
              <a:t>groups()</a:t>
            </a:r>
            <a:r>
              <a:rPr lang="ja-JP" altLang="zh-CN" sz="2000" dirty="0">
                <a:latin typeface="宋体" panose="02010600030101010101" pitchFamily="2" charset="-122"/>
                <a:ea typeface="宋体" panose="02010600030101010101" pitchFamily="2" charset="-122"/>
              </a:rPr>
              <a:t>来获取该匹配对象的具体表达式</a:t>
            </a:r>
            <a:r>
              <a:rPr lang="zh-CN" altLang="zh-CN" sz="2000" dirty="0">
                <a:latin typeface="宋体" panose="02010600030101010101" pitchFamily="2" charset="-122"/>
                <a:ea typeface="宋体" panose="02010600030101010101" pitchFamily="2" charset="-122"/>
              </a:rPr>
              <a:t>。</a:t>
            </a:r>
          </a:p>
          <a:p>
            <a:pPr>
              <a:lnSpc>
                <a:spcPct val="150000"/>
              </a:lnSpc>
            </a:pPr>
            <a:endParaRPr lang="zh-CN" altLang="en-US" sz="2000" dirty="0"/>
          </a:p>
        </p:txBody>
      </p:sp>
      <p:pic>
        <p:nvPicPr>
          <p:cNvPr id="4" name="Picture 3">
            <a:extLst>
              <a:ext uri="{FF2B5EF4-FFF2-40B4-BE49-F238E27FC236}">
                <a16:creationId xmlns:a16="http://schemas.microsoft.com/office/drawing/2014/main" id="{FBE60034-4298-5B59-0C22-CF6C2A5303DC}"/>
              </a:ext>
            </a:extLst>
          </p:cNvPr>
          <p:cNvPicPr>
            <a:picLocks noChangeAspect="1"/>
          </p:cNvPicPr>
          <p:nvPr/>
        </p:nvPicPr>
        <p:blipFill>
          <a:blip r:embed="rId3"/>
          <a:stretch>
            <a:fillRect/>
          </a:stretch>
        </p:blipFill>
        <p:spPr>
          <a:xfrm>
            <a:off x="3287486" y="4008355"/>
            <a:ext cx="5617028" cy="1894114"/>
          </a:xfrm>
          <a:prstGeom prst="rect">
            <a:avLst/>
          </a:prstGeom>
        </p:spPr>
      </p:pic>
    </p:spTree>
    <p:extLst>
      <p:ext uri="{BB962C8B-B14F-4D97-AF65-F5344CB8AC3E}">
        <p14:creationId xmlns:p14="http://schemas.microsoft.com/office/powerpoint/2010/main" val="366559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10.4.2</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endParaRPr lang="en-US" dirty="0"/>
          </a:p>
        </p:txBody>
      </p:sp>
      <p:sp>
        <p:nvSpPr>
          <p:cNvPr id="3" name="文本框 2"/>
          <p:cNvSpPr txBox="1"/>
          <p:nvPr/>
        </p:nvSpPr>
        <p:spPr>
          <a:xfrm>
            <a:off x="1104900" y="1406372"/>
            <a:ext cx="9980682" cy="186685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zh-CN" altLang="zh-CN" sz="2000" dirty="0">
                <a:latin typeface="宋体" panose="02010600030101010101" pitchFamily="2" charset="-122"/>
                <a:ea typeface="宋体" panose="02010600030101010101" pitchFamily="2" charset="-122"/>
              </a:rPr>
              <a:t>需要注</a:t>
            </a:r>
            <a:r>
              <a:rPr lang="ja-JP" altLang="zh-CN" sz="2000" dirty="0">
                <a:latin typeface="宋体" panose="02010600030101010101" pitchFamily="2" charset="-122"/>
                <a:ea typeface="宋体" panose="02010600030101010101" pitchFamily="2" charset="-122"/>
              </a:rPr>
              <a:t>意的是，</a:t>
            </a:r>
            <a:r>
              <a:rPr lang="en-US" altLang="zh-CN" sz="2000" b="1" dirty="0" err="1">
                <a:solidFill>
                  <a:srgbClr val="0432FF"/>
                </a:solidFill>
                <a:latin typeface="宋体" panose="02010600030101010101" pitchFamily="2" charset="-122"/>
                <a:ea typeface="宋体" panose="02010600030101010101" pitchFamily="2" charset="-122"/>
              </a:rPr>
              <a:t>re.match</a:t>
            </a:r>
            <a:r>
              <a:rPr lang="ja-JP" altLang="zh-CN" sz="2000" b="1" dirty="0">
                <a:solidFill>
                  <a:srgbClr val="0432FF"/>
                </a:solidFill>
                <a:latin typeface="宋体" panose="02010600030101010101" pitchFamily="2" charset="-122"/>
                <a:ea typeface="宋体" panose="02010600030101010101" pitchFamily="2" charset="-122"/>
              </a:rPr>
              <a:t>只匹配</a:t>
            </a:r>
            <a:r>
              <a:rPr lang="ja-JP" altLang="zh-CN" sz="2000" b="1" dirty="0">
                <a:solidFill>
                  <a:srgbClr val="C00000"/>
                </a:solidFill>
                <a:latin typeface="宋体" panose="02010600030101010101" pitchFamily="2" charset="-122"/>
                <a:ea typeface="宋体" panose="02010600030101010101" pitchFamily="2" charset="-122"/>
              </a:rPr>
              <a:t>字符串的开始</a:t>
            </a:r>
            <a:r>
              <a:rPr lang="ja-JP" altLang="zh-CN" sz="2000" dirty="0">
                <a:latin typeface="宋体" panose="02010600030101010101" pitchFamily="2" charset="-122"/>
                <a:ea typeface="宋体" panose="02010600030101010101" pitchFamily="2" charset="-122"/>
              </a:rPr>
              <a:t>，如果字符串开始不符合正则表达式，则匹配失败，函数返回</a:t>
            </a:r>
            <a:r>
              <a:rPr lang="en-US" altLang="zh-CN" sz="2000" dirty="0">
                <a:latin typeface="宋体" panose="02010600030101010101" pitchFamily="2" charset="-122"/>
                <a:ea typeface="宋体" panose="02010600030101010101" pitchFamily="2" charset="-122"/>
              </a:rPr>
              <a:t>None</a:t>
            </a:r>
            <a:r>
              <a:rPr lang="ja-JP" altLang="zh-CN" sz="2000">
                <a:latin typeface="宋体" panose="02010600030101010101" pitchFamily="2" charset="-122"/>
                <a:ea typeface="宋体" panose="02010600030101010101" pitchFamily="2" charset="-122"/>
              </a:rPr>
              <a:t>；</a:t>
            </a:r>
            <a:endParaRPr lang="en-US" altLang="ja-JP" sz="20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ja-JP" altLang="zh-CN" sz="2000">
                <a:latin typeface="宋体" panose="02010600030101010101" pitchFamily="2" charset="-122"/>
                <a:ea typeface="宋体" panose="02010600030101010101" pitchFamily="2" charset="-122"/>
              </a:rPr>
              <a:t>而</a:t>
            </a:r>
            <a:r>
              <a:rPr lang="en-US" altLang="zh-CN" sz="2000" b="1" dirty="0" err="1">
                <a:solidFill>
                  <a:srgbClr val="0432FF"/>
                </a:solidFill>
                <a:latin typeface="宋体" panose="02010600030101010101" pitchFamily="2" charset="-122"/>
                <a:ea typeface="宋体" panose="02010600030101010101" pitchFamily="2" charset="-122"/>
              </a:rPr>
              <a:t>re.search</a:t>
            </a:r>
            <a:r>
              <a:rPr lang="ja-JP" altLang="zh-CN" sz="2000" b="1" dirty="0">
                <a:solidFill>
                  <a:srgbClr val="0432FF"/>
                </a:solidFill>
                <a:latin typeface="宋体" panose="02010600030101010101" pitchFamily="2" charset="-122"/>
                <a:ea typeface="宋体" panose="02010600030101010101" pitchFamily="2" charset="-122"/>
              </a:rPr>
              <a:t>匹配</a:t>
            </a:r>
            <a:r>
              <a:rPr lang="ja-JP" altLang="zh-CN" sz="2000" b="1" dirty="0">
                <a:solidFill>
                  <a:srgbClr val="C00000"/>
                </a:solidFill>
                <a:latin typeface="宋体" panose="02010600030101010101" pitchFamily="2" charset="-122"/>
                <a:ea typeface="宋体" panose="02010600030101010101" pitchFamily="2" charset="-122"/>
              </a:rPr>
              <a:t>整个字符串</a:t>
            </a:r>
            <a:r>
              <a:rPr lang="ja-JP" altLang="zh-CN" sz="2000" dirty="0">
                <a:latin typeface="宋体" panose="02010600030101010101" pitchFamily="2" charset="-122"/>
                <a:ea typeface="宋体" panose="02010600030101010101" pitchFamily="2" charset="-122"/>
              </a:rPr>
              <a:t>，直到找到一个匹配</a:t>
            </a:r>
            <a:r>
              <a:rPr lang="zh-CN" altLang="zh-CN" sz="2000" dirty="0">
                <a:latin typeface="宋体" panose="02010600030101010101" pitchFamily="2" charset="-122"/>
                <a:ea typeface="宋体" panose="02010600030101010101" pitchFamily="2" charset="-122"/>
              </a:rPr>
              <a:t>，整个字符串都没有找到匹配才返回</a:t>
            </a:r>
            <a:r>
              <a:rPr lang="en-US" altLang="zh-CN" sz="2000" dirty="0">
                <a:latin typeface="宋体" panose="02010600030101010101" pitchFamily="2" charset="-122"/>
                <a:ea typeface="宋体" panose="02010600030101010101" pitchFamily="2" charset="-122"/>
              </a:rPr>
              <a:t>None</a:t>
            </a:r>
            <a:r>
              <a:rPr lang="zh-CN" altLang="zh-CN"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FC48A911-FE07-36F2-C393-88790B6EA109}"/>
              </a:ext>
            </a:extLst>
          </p:cNvPr>
          <p:cNvPicPr>
            <a:picLocks noChangeAspect="1"/>
          </p:cNvPicPr>
          <p:nvPr/>
        </p:nvPicPr>
        <p:blipFill>
          <a:blip r:embed="rId3"/>
          <a:stretch>
            <a:fillRect/>
          </a:stretch>
        </p:blipFill>
        <p:spPr>
          <a:xfrm>
            <a:off x="3974648" y="2959514"/>
            <a:ext cx="4241186" cy="351332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87976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10.4.3</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lang="en-US" altLang="zh-CN" b="1" dirty="0" err="1">
                <a:solidFill>
                  <a:srgbClr val="0432FF"/>
                </a:solidFill>
                <a:latin typeface="宋体" panose="02010600030101010101" pitchFamily="2" charset="-122"/>
                <a:ea typeface="宋体" panose="02010600030101010101" pitchFamily="2" charset="-122"/>
              </a:rPr>
              <a:t>re.sub</a:t>
            </a:r>
            <a:endParaRPr lang="en-US" dirty="0"/>
          </a:p>
        </p:txBody>
      </p:sp>
      <p:sp>
        <p:nvSpPr>
          <p:cNvPr id="3" name="文本框 2"/>
          <p:cNvSpPr txBox="1"/>
          <p:nvPr/>
        </p:nvSpPr>
        <p:spPr>
          <a:xfrm>
            <a:off x="1104900" y="1173162"/>
            <a:ext cx="9980682" cy="2284793"/>
          </a:xfrm>
          <a:prstGeom prst="rect">
            <a:avLst/>
          </a:prstGeom>
          <a:noFill/>
        </p:spPr>
        <p:txBody>
          <a:bodyPr wrap="square" rtlCol="0">
            <a:spAutoFit/>
          </a:bodyPr>
          <a:lstStyle/>
          <a:p>
            <a:pPr marL="285750" indent="-285750" algn="just">
              <a:lnSpc>
                <a:spcPct val="130000"/>
              </a:lnSpc>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re.sub</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lnSpc>
                <a:spcPct val="130000"/>
              </a:lnSpc>
            </a:pPr>
            <a:r>
              <a:rPr lang="en-US" altLang="zh-CN" dirty="0">
                <a:latin typeface="宋体" panose="02010600030101010101" pitchFamily="2" charset="-122"/>
                <a:ea typeface="宋体" panose="02010600030101010101" pitchFamily="2" charset="-122"/>
              </a:rPr>
              <a:t>    </a:t>
            </a:r>
            <a:r>
              <a:rPr lang="en-US" altLang="zh-CN" dirty="0" err="1">
                <a:latin typeface="宋体" panose="02010600030101010101" pitchFamily="2" charset="-122"/>
                <a:ea typeface="宋体" panose="02010600030101010101" pitchFamily="2" charset="-122"/>
              </a:rPr>
              <a:t>re.sub</a:t>
            </a:r>
            <a:r>
              <a:rPr lang="en-US" altLang="zh-CN" dirty="0">
                <a:latin typeface="宋体" panose="02010600030101010101" pitchFamily="2" charset="-122"/>
                <a:ea typeface="宋体" panose="02010600030101010101" pitchFamily="2" charset="-122"/>
              </a:rPr>
              <a:t>(pattern, </a:t>
            </a:r>
            <a:r>
              <a:rPr lang="en-US" altLang="zh-CN" dirty="0" err="1">
                <a:latin typeface="宋体" panose="02010600030101010101" pitchFamily="2" charset="-122"/>
                <a:ea typeface="宋体" panose="02010600030101010101" pitchFamily="2" charset="-122"/>
              </a:rPr>
              <a:t>repl</a:t>
            </a:r>
            <a:r>
              <a:rPr lang="en-US" altLang="zh-CN" dirty="0">
                <a:latin typeface="宋体" panose="02010600030101010101" pitchFamily="2" charset="-122"/>
                <a:ea typeface="宋体" panose="02010600030101010101" pitchFamily="2" charset="-122"/>
              </a:rPr>
              <a:t>, string, count=0, flags=0)</a:t>
            </a:r>
            <a:r>
              <a:rPr lang="ja-JP" altLang="zh-CN" dirty="0">
                <a:latin typeface="宋体" panose="02010600030101010101" pitchFamily="2" charset="-122"/>
                <a:ea typeface="宋体" panose="02010600030101010101" pitchFamily="2" charset="-122"/>
              </a:rPr>
              <a:t>函数用于替换字符串中的匹配项，该函数具有四个参数</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pattern</a:t>
            </a:r>
            <a:r>
              <a:rPr lang="zh-CN" altLang="zh-CN" dirty="0">
                <a:latin typeface="宋体" panose="02010600030101010101" pitchFamily="2" charset="-122"/>
                <a:ea typeface="宋体" panose="02010600030101010101" pitchFamily="2" charset="-122"/>
              </a:rPr>
              <a:t>是用于匹配的正则表达式；</a:t>
            </a:r>
            <a:r>
              <a:rPr lang="en-US" altLang="zh-CN" dirty="0" err="1">
                <a:latin typeface="宋体" panose="02010600030101010101" pitchFamily="2" charset="-122"/>
                <a:ea typeface="宋体" panose="02010600030101010101" pitchFamily="2" charset="-122"/>
              </a:rPr>
              <a:t>repl</a:t>
            </a:r>
            <a:r>
              <a:rPr lang="zh-CN" altLang="zh-CN" dirty="0">
                <a:latin typeface="宋体" panose="02010600030101010101" pitchFamily="2" charset="-122"/>
                <a:ea typeface="宋体" panose="02010600030101010101" pitchFamily="2" charset="-122"/>
              </a:rPr>
              <a:t>是</a:t>
            </a:r>
            <a:r>
              <a:rPr lang="ja-JP" altLang="zh-CN" dirty="0">
                <a:latin typeface="宋体" panose="02010600030101010101" pitchFamily="2" charset="-122"/>
                <a:ea typeface="宋体" panose="02010600030101010101" pitchFamily="2" charset="-122"/>
              </a:rPr>
              <a:t>替换的字符串，也可</a:t>
            </a:r>
            <a:r>
              <a:rPr lang="zh-CN" altLang="zh-CN" dirty="0">
                <a:latin typeface="宋体" panose="02010600030101010101" pitchFamily="2" charset="-122"/>
                <a:ea typeface="宋体" panose="02010600030101010101" pitchFamily="2" charset="-122"/>
              </a:rPr>
              <a:t>以是</a:t>
            </a:r>
            <a:r>
              <a:rPr lang="ja-JP" altLang="zh-CN" dirty="0">
                <a:latin typeface="宋体" panose="02010600030101010101" pitchFamily="2" charset="-122"/>
                <a:ea typeface="宋体" panose="02010600030101010101" pitchFamily="2" charset="-122"/>
              </a:rPr>
              <a:t>一个函数</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string</a:t>
            </a:r>
            <a:r>
              <a:rPr lang="zh-CN" altLang="zh-CN" dirty="0">
                <a:latin typeface="宋体" panose="02010600030101010101" pitchFamily="2" charset="-122"/>
                <a:ea typeface="宋体" panose="02010600030101010101" pitchFamily="2" charset="-122"/>
              </a:rPr>
              <a:t>是待</a:t>
            </a:r>
            <a:r>
              <a:rPr lang="ja-JP" altLang="zh-CN" dirty="0">
                <a:latin typeface="宋体" panose="02010600030101010101" pitchFamily="2" charset="-122"/>
                <a:ea typeface="宋体" panose="02010600030101010101" pitchFamily="2" charset="-122"/>
              </a:rPr>
              <a:t>查找替换的原始字符串</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count</a:t>
            </a:r>
            <a:r>
              <a:rPr lang="zh-CN" altLang="zh-CN" dirty="0">
                <a:latin typeface="宋体" panose="02010600030101010101" pitchFamily="2" charset="-122"/>
                <a:ea typeface="宋体" panose="02010600030101010101" pitchFamily="2" charset="-122"/>
              </a:rPr>
              <a:t>是</a:t>
            </a:r>
            <a:r>
              <a:rPr lang="ja-JP" altLang="zh-CN" dirty="0">
                <a:latin typeface="宋体" panose="02010600030101010101" pitchFamily="2" charset="-122"/>
                <a:ea typeface="宋体" panose="02010600030101010101" pitchFamily="2" charset="-122"/>
              </a:rPr>
              <a:t>模式匹配后替换的最大次数，默认</a:t>
            </a:r>
            <a:r>
              <a:rPr lang="zh-CN" altLang="zh-CN" dirty="0">
                <a:latin typeface="宋体" panose="02010600030101010101" pitchFamily="2" charset="-122"/>
                <a:ea typeface="宋体" panose="02010600030101010101" pitchFamily="2" charset="-122"/>
              </a:rPr>
              <a:t>是</a:t>
            </a:r>
            <a:r>
              <a:rPr lang="en-US" altLang="zh-CN" dirty="0">
                <a:latin typeface="宋体" panose="02010600030101010101" pitchFamily="2" charset="-122"/>
                <a:ea typeface="宋体" panose="02010600030101010101" pitchFamily="2" charset="-122"/>
              </a:rPr>
              <a:t>0</a:t>
            </a:r>
            <a:r>
              <a:rPr lang="zh-CN" altLang="zh-CN" dirty="0">
                <a:latin typeface="宋体" panose="02010600030101010101" pitchFamily="2" charset="-122"/>
                <a:ea typeface="宋体" panose="02010600030101010101" pitchFamily="2" charset="-122"/>
              </a:rPr>
              <a:t>，</a:t>
            </a:r>
            <a:r>
              <a:rPr lang="ja-JP" altLang="zh-CN" dirty="0">
                <a:latin typeface="宋体" panose="02010600030101010101" pitchFamily="2" charset="-122"/>
                <a:ea typeface="宋体" panose="02010600030101010101" pitchFamily="2" charset="-122"/>
              </a:rPr>
              <a:t>表示替换所有的匹配</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flags</a:t>
            </a:r>
            <a:r>
              <a:rPr lang="zh-CN" altLang="zh-CN" dirty="0">
                <a:latin typeface="宋体" panose="02010600030101010101" pitchFamily="2" charset="-122"/>
                <a:ea typeface="宋体" panose="02010600030101010101" pitchFamily="2" charset="-122"/>
              </a:rPr>
              <a:t>是标志位，用于控制正则表达式的匹配方式。</a:t>
            </a:r>
          </a:p>
          <a:p>
            <a:pPr>
              <a:lnSpc>
                <a:spcPct val="130000"/>
              </a:lnSpc>
            </a:pPr>
            <a:endParaRPr lang="zh-CN" altLang="en-US" sz="2000" dirty="0"/>
          </a:p>
        </p:txBody>
      </p:sp>
      <p:pic>
        <p:nvPicPr>
          <p:cNvPr id="4" name="Picture 3">
            <a:extLst>
              <a:ext uri="{FF2B5EF4-FFF2-40B4-BE49-F238E27FC236}">
                <a16:creationId xmlns:a16="http://schemas.microsoft.com/office/drawing/2014/main" id="{1B6B9927-9880-59D1-3F48-06D9747D6DB5}"/>
              </a:ext>
            </a:extLst>
          </p:cNvPr>
          <p:cNvPicPr>
            <a:picLocks noChangeAspect="1"/>
          </p:cNvPicPr>
          <p:nvPr/>
        </p:nvPicPr>
        <p:blipFill>
          <a:blip r:embed="rId3"/>
          <a:stretch>
            <a:fillRect/>
          </a:stretch>
        </p:blipFill>
        <p:spPr>
          <a:xfrm>
            <a:off x="746402" y="3118907"/>
            <a:ext cx="7099300" cy="23114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28AE8C38-C9F5-46D1-B88F-82A41B1E214D}"/>
              </a:ext>
            </a:extLst>
          </p:cNvPr>
          <p:cNvPicPr>
            <a:picLocks noChangeAspect="1"/>
          </p:cNvPicPr>
          <p:nvPr/>
        </p:nvPicPr>
        <p:blipFill>
          <a:blip r:embed="rId4"/>
          <a:stretch>
            <a:fillRect/>
          </a:stretch>
        </p:blipFill>
        <p:spPr>
          <a:xfrm>
            <a:off x="5255079" y="4675188"/>
            <a:ext cx="6616700" cy="2019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415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10.4.4</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lang="en-US" altLang="zh-CN" b="1" dirty="0" err="1">
                <a:solidFill>
                  <a:srgbClr val="0432FF"/>
                </a:solidFill>
                <a:latin typeface="宋体" panose="02010600030101010101" pitchFamily="2" charset="-122"/>
                <a:ea typeface="宋体" panose="02010600030101010101" pitchFamily="2" charset="-122"/>
              </a:rPr>
              <a:t>re.compile</a:t>
            </a:r>
            <a:endParaRPr lang="en-US" dirty="0"/>
          </a:p>
        </p:txBody>
      </p:sp>
      <p:sp>
        <p:nvSpPr>
          <p:cNvPr id="3" name="文本框 2"/>
          <p:cNvSpPr txBox="1"/>
          <p:nvPr/>
        </p:nvSpPr>
        <p:spPr>
          <a:xfrm>
            <a:off x="830647" y="1295400"/>
            <a:ext cx="10853354" cy="1200329"/>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re.compile</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r>
              <a:rPr lang="en-US" altLang="zh-CN" sz="2000" dirty="0">
                <a:latin typeface="宋体" panose="02010600030101010101" pitchFamily="2" charset="-122"/>
                <a:ea typeface="宋体" panose="02010600030101010101" pitchFamily="2" charset="-122"/>
              </a:rPr>
              <a:t>    </a:t>
            </a:r>
            <a:r>
              <a:rPr lang="en-US" altLang="zh-CN" sz="1600" dirty="0" err="1">
                <a:latin typeface="宋体" panose="02010600030101010101" pitchFamily="2" charset="-122"/>
                <a:ea typeface="宋体" panose="02010600030101010101" pitchFamily="2" charset="-122"/>
              </a:rPr>
              <a:t>re.compile</a:t>
            </a:r>
            <a:r>
              <a:rPr lang="en-US" altLang="zh-CN" sz="1600" dirty="0">
                <a:latin typeface="宋体" panose="02010600030101010101" pitchFamily="2" charset="-122"/>
                <a:ea typeface="宋体" panose="02010600030101010101" pitchFamily="2" charset="-122"/>
              </a:rPr>
              <a:t>(pattern, flags)</a:t>
            </a:r>
            <a:r>
              <a:rPr lang="ja-JP" altLang="zh-CN" sz="1600" dirty="0">
                <a:latin typeface="宋体" panose="02010600030101010101" pitchFamily="2" charset="-122"/>
                <a:ea typeface="宋体" panose="02010600030101010101" pitchFamily="2" charset="-122"/>
              </a:rPr>
              <a:t>函数用于编译正则表达式，生成一个正则表达式（</a:t>
            </a:r>
            <a:r>
              <a:rPr lang="en-US" altLang="zh-CN" sz="1600" dirty="0">
                <a:latin typeface="宋体" panose="02010600030101010101" pitchFamily="2" charset="-122"/>
                <a:ea typeface="宋体" panose="02010600030101010101" pitchFamily="2" charset="-122"/>
              </a:rPr>
              <a:t>Pattern</a:t>
            </a:r>
            <a:r>
              <a:rPr lang="ja-JP" altLang="zh-CN" sz="1600" dirty="0">
                <a:latin typeface="宋体" panose="02010600030101010101" pitchFamily="2" charset="-122"/>
                <a:ea typeface="宋体" panose="02010600030101010101" pitchFamily="2" charset="-122"/>
              </a:rPr>
              <a:t>）对象，供</a:t>
            </a:r>
            <a:r>
              <a:rPr lang="en-US" altLang="zh-CN" sz="1600" dirty="0" err="1">
                <a:latin typeface="宋体" panose="02010600030101010101" pitchFamily="2" charset="-122"/>
                <a:ea typeface="宋体" panose="02010600030101010101" pitchFamily="2" charset="-122"/>
              </a:rPr>
              <a:t>re.match</a:t>
            </a:r>
            <a:r>
              <a:rPr lang="en-US" altLang="zh-CN" sz="1600" dirty="0">
                <a:latin typeface="宋体" panose="02010600030101010101" pitchFamily="2" charset="-122"/>
                <a:ea typeface="宋体" panose="02010600030101010101" pitchFamily="2" charset="-122"/>
              </a:rPr>
              <a:t>()</a:t>
            </a:r>
            <a:r>
              <a:rPr lang="ja-JP" altLang="zh-CN" sz="1600" dirty="0">
                <a:latin typeface="宋体" panose="02010600030101010101" pitchFamily="2" charset="-122"/>
                <a:ea typeface="宋体" panose="02010600030101010101" pitchFamily="2" charset="-122"/>
              </a:rPr>
              <a:t>和</a:t>
            </a:r>
            <a:r>
              <a:rPr lang="en-US" altLang="zh-CN" sz="1600" dirty="0" err="1">
                <a:latin typeface="宋体" panose="02010600030101010101" pitchFamily="2" charset="-122"/>
                <a:ea typeface="宋体" panose="02010600030101010101" pitchFamily="2" charset="-122"/>
              </a:rPr>
              <a:t>re.search</a:t>
            </a:r>
            <a:r>
              <a:rPr lang="en-US" altLang="zh-CN" sz="1600" dirty="0">
                <a:latin typeface="宋体" panose="02010600030101010101" pitchFamily="2" charset="-122"/>
                <a:ea typeface="宋体" panose="02010600030101010101" pitchFamily="2" charset="-122"/>
              </a:rPr>
              <a:t>()</a:t>
            </a:r>
            <a:r>
              <a:rPr lang="ja-JP" altLang="zh-CN" sz="1600" dirty="0">
                <a:latin typeface="宋体" panose="02010600030101010101" pitchFamily="2" charset="-122"/>
                <a:ea typeface="宋体" panose="02010600030101010101" pitchFamily="2" charset="-122"/>
              </a:rPr>
              <a:t>这两个函数使用。</a:t>
            </a:r>
            <a:r>
              <a:rPr lang="en-US" altLang="zh-CN" sz="1600" dirty="0" err="1">
                <a:latin typeface="宋体" panose="02010600030101010101" pitchFamily="2" charset="-122"/>
                <a:ea typeface="宋体" panose="02010600030101010101" pitchFamily="2" charset="-122"/>
              </a:rPr>
              <a:t>re.compile</a:t>
            </a:r>
            <a:r>
              <a:rPr lang="zh-CN" altLang="zh-CN" sz="1600" dirty="0">
                <a:latin typeface="宋体" panose="02010600030101010101" pitchFamily="2" charset="-122"/>
                <a:ea typeface="宋体" panose="02010600030101010101" pitchFamily="2" charset="-122"/>
              </a:rPr>
              <a:t>函数包含两个参数，</a:t>
            </a:r>
            <a:r>
              <a:rPr lang="en-US" altLang="zh-CN" sz="1600" dirty="0">
                <a:latin typeface="宋体" panose="02010600030101010101" pitchFamily="2" charset="-122"/>
                <a:ea typeface="宋体" panose="02010600030101010101" pitchFamily="2" charset="-122"/>
              </a:rPr>
              <a:t>patter</a:t>
            </a:r>
            <a:r>
              <a:rPr lang="ja-JP" altLang="zh-CN" sz="1600" dirty="0">
                <a:latin typeface="宋体" panose="02010600030101010101" pitchFamily="2" charset="-122"/>
                <a:ea typeface="宋体" panose="02010600030101010101" pitchFamily="2" charset="-122"/>
              </a:rPr>
              <a:t>是一个字符串形式的正则表达式</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flags</a:t>
            </a:r>
            <a:r>
              <a:rPr lang="zh-CN" altLang="zh-CN" sz="1600" dirty="0">
                <a:latin typeface="宋体" panose="02010600030101010101" pitchFamily="2" charset="-122"/>
                <a:ea typeface="宋体" panose="02010600030101010101" pitchFamily="2" charset="-122"/>
              </a:rPr>
              <a:t>是标志位，用于控制正则表达式的匹配方式</a:t>
            </a:r>
            <a:r>
              <a:rPr lang="zh-CN" altLang="zh-CN" sz="1600" dirty="0"/>
              <a:t>。</a:t>
            </a:r>
            <a:endParaRPr lang="zh-CN" altLang="en-US" sz="2000" dirty="0"/>
          </a:p>
        </p:txBody>
      </p:sp>
      <p:pic>
        <p:nvPicPr>
          <p:cNvPr id="5" name="Picture 4">
            <a:extLst>
              <a:ext uri="{FF2B5EF4-FFF2-40B4-BE49-F238E27FC236}">
                <a16:creationId xmlns:a16="http://schemas.microsoft.com/office/drawing/2014/main" id="{26973EC6-889D-F0B0-952D-6B6BA224A325}"/>
              </a:ext>
            </a:extLst>
          </p:cNvPr>
          <p:cNvPicPr>
            <a:picLocks noChangeAspect="1"/>
          </p:cNvPicPr>
          <p:nvPr/>
        </p:nvPicPr>
        <p:blipFill>
          <a:blip r:embed="rId3"/>
          <a:stretch>
            <a:fillRect/>
          </a:stretch>
        </p:blipFill>
        <p:spPr>
          <a:xfrm>
            <a:off x="507999" y="2475919"/>
            <a:ext cx="7772400" cy="4219649"/>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A93DC034-3891-FD40-6574-7D89D7366B9D}"/>
              </a:ext>
            </a:extLst>
          </p:cNvPr>
          <p:cNvPicPr>
            <a:picLocks noChangeAspect="1"/>
          </p:cNvPicPr>
          <p:nvPr/>
        </p:nvPicPr>
        <p:blipFill>
          <a:blip r:embed="rId4"/>
          <a:stretch>
            <a:fillRect/>
          </a:stretch>
        </p:blipFill>
        <p:spPr>
          <a:xfrm>
            <a:off x="5618549" y="2353681"/>
            <a:ext cx="6388100" cy="2921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71579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10.4.5</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kumimoji="1" lang="en-US" altLang="zh-CN" dirty="0" err="1">
                <a:solidFill>
                  <a:srgbClr val="0432FF"/>
                </a:solidFill>
                <a:latin typeface="Microsoft YaHei" panose="020B0503020204020204" pitchFamily="34" charset="-122"/>
                <a:ea typeface="Microsoft YaHei" panose="020B0503020204020204" pitchFamily="34" charset="-122"/>
              </a:rPr>
              <a:t>re.</a:t>
            </a:r>
            <a:r>
              <a:rPr lang="en-US" altLang="zh-CN" b="1" dirty="0" err="1">
                <a:solidFill>
                  <a:srgbClr val="0432FF"/>
                </a:solidFill>
                <a:latin typeface="宋体" panose="02010600030101010101" pitchFamily="2" charset="-122"/>
                <a:ea typeface="宋体" panose="02010600030101010101" pitchFamily="2" charset="-122"/>
              </a:rPr>
              <a:t>findall</a:t>
            </a:r>
            <a:endParaRPr lang="en-US" dirty="0">
              <a:solidFill>
                <a:srgbClr val="0432FF"/>
              </a:solidFill>
            </a:endParaRPr>
          </a:p>
        </p:txBody>
      </p:sp>
      <p:sp>
        <p:nvSpPr>
          <p:cNvPr id="3" name="文本框 2"/>
          <p:cNvSpPr txBox="1"/>
          <p:nvPr/>
        </p:nvSpPr>
        <p:spPr>
          <a:xfrm>
            <a:off x="1104900" y="1330965"/>
            <a:ext cx="9980682" cy="3251852"/>
          </a:xfrm>
          <a:prstGeom prst="rect">
            <a:avLst/>
          </a:prstGeom>
          <a:noFill/>
        </p:spPr>
        <p:txBody>
          <a:bodyPr wrap="square" rtlCol="0">
            <a:spAutoFit/>
          </a:bodyPr>
          <a:lstStyle/>
          <a:p>
            <a:pPr marL="285750" indent="-285750" algn="just">
              <a:lnSpc>
                <a:spcPct val="150000"/>
              </a:lnSpc>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findall</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lnSpc>
                <a:spcPct val="150000"/>
              </a:lnSpc>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re.findall</a:t>
            </a:r>
            <a:r>
              <a:rPr lang="en-US" altLang="zh-CN" sz="2000" dirty="0">
                <a:latin typeface="宋体" panose="02010600030101010101" pitchFamily="2" charset="-122"/>
                <a:ea typeface="宋体" panose="02010600030101010101" pitchFamily="2" charset="-122"/>
              </a:rPr>
              <a:t>(pattern, string, flags=0)</a:t>
            </a:r>
            <a:r>
              <a:rPr lang="ja-JP" altLang="zh-CN" sz="2000" dirty="0">
                <a:latin typeface="宋体" panose="02010600030101010101" pitchFamily="2" charset="-122"/>
                <a:ea typeface="宋体" panose="02010600030101010101" pitchFamily="2" charset="-122"/>
              </a:rPr>
              <a:t>函数作用为在待操作字符串中寻找所有匹配正则表达式的字串，返回一个列表</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如果没有匹配到任何子串，</a:t>
            </a:r>
            <a:r>
              <a:rPr lang="zh-CN" altLang="zh-CN" sz="2000" dirty="0">
                <a:latin typeface="宋体" panose="02010600030101010101" pitchFamily="2" charset="-122"/>
                <a:ea typeface="宋体" panose="02010600030101010101" pitchFamily="2" charset="-122"/>
              </a:rPr>
              <a:t>则</a:t>
            </a:r>
            <a:r>
              <a:rPr lang="ja-JP" altLang="zh-CN" sz="2000" dirty="0">
                <a:latin typeface="宋体" panose="02010600030101010101" pitchFamily="2" charset="-122"/>
                <a:ea typeface="宋体" panose="02010600030101010101" pitchFamily="2" charset="-122"/>
              </a:rPr>
              <a:t>返回一个空列表参数</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just" latinLnBrk="1">
              <a:lnSpc>
                <a:spcPct val="150000"/>
              </a:lnSpc>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此外，还可以通过先利用</a:t>
            </a:r>
            <a:r>
              <a:rPr lang="en-US" altLang="zh-CN" sz="2000" dirty="0" err="1">
                <a:latin typeface="宋体" panose="02010600030101010101" pitchFamily="2" charset="-122"/>
                <a:ea typeface="宋体" panose="02010600030101010101" pitchFamily="2" charset="-122"/>
              </a:rPr>
              <a:t>re.compile</a:t>
            </a:r>
            <a:r>
              <a:rPr lang="ja-JP" altLang="zh-CN" sz="2000" dirty="0">
                <a:latin typeface="宋体" panose="02010600030101010101" pitchFamily="2" charset="-122"/>
                <a:ea typeface="宋体" panose="02010600030101010101" pitchFamily="2" charset="-122"/>
              </a:rPr>
              <a:t>函数编译</a:t>
            </a:r>
            <a:r>
              <a:rPr lang="en-US" altLang="zh-CN" sz="2000" dirty="0">
                <a:latin typeface="宋体" panose="02010600030101010101" pitchFamily="2" charset="-122"/>
                <a:ea typeface="宋体" panose="02010600030101010101" pitchFamily="2" charset="-122"/>
              </a:rPr>
              <a:t>pattern</a:t>
            </a:r>
            <a:r>
              <a:rPr lang="ja-JP" altLang="zh-CN" sz="2000" dirty="0">
                <a:latin typeface="宋体" panose="02010600030101010101" pitchFamily="2" charset="-122"/>
                <a:ea typeface="宋体" panose="02010600030101010101" pitchFamily="2" charset="-122"/>
              </a:rPr>
              <a:t>然后调用</a:t>
            </a:r>
            <a:r>
              <a:rPr lang="en-US" altLang="zh-CN" sz="2000" dirty="0" err="1">
                <a:latin typeface="宋体" panose="02010600030101010101" pitchFamily="2" charset="-122"/>
                <a:ea typeface="宋体" panose="02010600030101010101" pitchFamily="2" charset="-122"/>
              </a:rPr>
              <a:t>findall</a:t>
            </a:r>
            <a:r>
              <a:rPr lang="en-US"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string,pos,endpos</a:t>
            </a:r>
            <a:r>
              <a:rPr lang="en-US"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来实现同样操作，其中参数</a:t>
            </a:r>
            <a:r>
              <a:rPr lang="en-US" altLang="zh-CN" sz="2000" dirty="0" err="1">
                <a:latin typeface="宋体" panose="02010600030101010101" pitchFamily="2" charset="-122"/>
                <a:ea typeface="宋体" panose="02010600030101010101" pitchFamily="2" charset="-122"/>
              </a:rPr>
              <a:t>pos</a:t>
            </a:r>
            <a:r>
              <a:rPr lang="ja-JP" altLang="zh-CN" sz="2000" dirty="0">
                <a:latin typeface="宋体" panose="02010600030101010101" pitchFamily="2" charset="-122"/>
                <a:ea typeface="宋体" panose="02010600030101010101" pitchFamily="2" charset="-122"/>
              </a:rPr>
              <a:t>是指定字符串的起始位置，默认为</a:t>
            </a:r>
            <a:r>
              <a:rPr lang="en-US" altLang="zh-CN" sz="2000" dirty="0">
                <a:latin typeface="宋体" panose="02010600030101010101" pitchFamily="2" charset="-122"/>
                <a:ea typeface="宋体" panose="02010600030101010101" pitchFamily="2" charset="-122"/>
              </a:rPr>
              <a:t> 0</a:t>
            </a:r>
            <a:r>
              <a:rPr lang="ja-JP" altLang="zh-CN" sz="2000" dirty="0">
                <a:latin typeface="宋体" panose="02010600030101010101" pitchFamily="2" charset="-122"/>
                <a:ea typeface="宋体" panose="02010600030101010101" pitchFamily="2" charset="-122"/>
              </a:rPr>
              <a:t>；</a:t>
            </a:r>
            <a:r>
              <a:rPr lang="en-US" altLang="zh-CN" sz="2000" dirty="0" err="1">
                <a:latin typeface="宋体" panose="02010600030101010101" pitchFamily="2" charset="-122"/>
                <a:ea typeface="宋体" panose="02010600030101010101" pitchFamily="2" charset="-122"/>
              </a:rPr>
              <a:t>endpos</a:t>
            </a:r>
            <a:r>
              <a:rPr lang="ja-JP" altLang="zh-CN" sz="2000" dirty="0">
                <a:latin typeface="宋体" panose="02010600030101010101" pitchFamily="2" charset="-122"/>
                <a:ea typeface="宋体" panose="02010600030101010101" pitchFamily="2" charset="-122"/>
              </a:rPr>
              <a:t>是指定字符串的结束位置，默认为字符串长度。</a:t>
            </a:r>
            <a:endParaRPr lang="zh-CN" altLang="zh-CN"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AC050B8D-B599-92AF-E8AF-3718FEAFA12B}"/>
              </a:ext>
            </a:extLst>
          </p:cNvPr>
          <p:cNvPicPr>
            <a:picLocks noChangeAspect="1"/>
          </p:cNvPicPr>
          <p:nvPr/>
        </p:nvPicPr>
        <p:blipFill>
          <a:blip r:embed="rId3"/>
          <a:stretch>
            <a:fillRect/>
          </a:stretch>
        </p:blipFill>
        <p:spPr>
          <a:xfrm>
            <a:off x="3844201" y="4670238"/>
            <a:ext cx="4502079" cy="171359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60089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10.4.6</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lang="en-US" altLang="zh-CN" dirty="0" err="1">
                <a:solidFill>
                  <a:srgbClr val="0432FF"/>
                </a:solidFill>
              </a:rPr>
              <a:t>re.finditer</a:t>
            </a:r>
            <a:endParaRPr lang="en-US" dirty="0"/>
          </a:p>
        </p:txBody>
      </p:sp>
      <p:sp>
        <p:nvSpPr>
          <p:cNvPr id="3" name="文本框 2"/>
          <p:cNvSpPr txBox="1"/>
          <p:nvPr/>
        </p:nvSpPr>
        <p:spPr>
          <a:xfrm>
            <a:off x="1106418" y="1444244"/>
            <a:ext cx="9980682" cy="2174634"/>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en-US" altLang="zh-CN" sz="2000" b="1" dirty="0" err="1">
                <a:solidFill>
                  <a:srgbClr val="0432FF"/>
                </a:solidFill>
              </a:rPr>
              <a:t>re.finditer</a:t>
            </a:r>
            <a:r>
              <a:rPr lang="zh-CN" altLang="zh-CN" sz="2000" b="1" dirty="0">
                <a:solidFill>
                  <a:srgbClr val="0432FF"/>
                </a:solidFill>
              </a:rPr>
              <a:t>函数</a:t>
            </a:r>
            <a:endParaRPr lang="en-US" altLang="zh-CN" sz="2000" b="1" dirty="0">
              <a:solidFill>
                <a:srgbClr val="0432FF"/>
              </a:solidFill>
            </a:endParaRPr>
          </a:p>
          <a:p>
            <a:pPr algn="just" latinLnBrk="1">
              <a:lnSpc>
                <a:spcPct val="150000"/>
              </a:lnSpc>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re.finditer</a:t>
            </a:r>
            <a:r>
              <a:rPr lang="en-US" altLang="zh-CN" sz="2000" dirty="0">
                <a:latin typeface="宋体" panose="02010600030101010101" pitchFamily="2" charset="-122"/>
                <a:ea typeface="宋体" panose="02010600030101010101" pitchFamily="2" charset="-122"/>
              </a:rPr>
              <a:t>(pattern, string, flags=0)</a:t>
            </a:r>
            <a:r>
              <a:rPr lang="zh-CN" altLang="zh-CN" sz="2000" dirty="0">
                <a:latin typeface="宋体" panose="02010600030101010101" pitchFamily="2" charset="-122"/>
                <a:ea typeface="宋体" panose="02010600030101010101" pitchFamily="2" charset="-122"/>
              </a:rPr>
              <a:t>函数是</a:t>
            </a:r>
            <a:r>
              <a:rPr lang="ja-JP" altLang="zh-CN" sz="2000" dirty="0">
                <a:latin typeface="宋体" panose="02010600030101010101" pitchFamily="2" charset="-122"/>
                <a:ea typeface="宋体" panose="02010600030101010101" pitchFamily="2" charset="-122"/>
              </a:rPr>
              <a:t>在字符串中找到正则表达式所匹配的所有子串，并把它们作为一个迭代器返回</a:t>
            </a:r>
            <a:r>
              <a:rPr lang="zh-CN" altLang="zh-CN" sz="2000" dirty="0">
                <a:latin typeface="宋体" panose="02010600030101010101" pitchFamily="2" charset="-122"/>
                <a:ea typeface="宋体" panose="02010600030101010101" pitchFamily="2" charset="-122"/>
              </a:rPr>
              <a:t>。参数和作用与</a:t>
            </a:r>
            <a:r>
              <a:rPr lang="en-US" altLang="zh-CN" sz="2000" dirty="0" err="1">
                <a:latin typeface="宋体" panose="02010600030101010101" pitchFamily="2" charset="-122"/>
                <a:ea typeface="宋体" panose="02010600030101010101" pitchFamily="2" charset="-122"/>
              </a:rPr>
              <a:t>re.findall</a:t>
            </a:r>
            <a:r>
              <a:rPr lang="zh-CN" altLang="zh-CN" sz="2000" dirty="0">
                <a:latin typeface="宋体" panose="02010600030101010101" pitchFamily="2" charset="-122"/>
                <a:ea typeface="宋体" panose="02010600030101010101" pitchFamily="2" charset="-122"/>
              </a:rPr>
              <a:t>一样，不同之处在于</a:t>
            </a:r>
            <a:r>
              <a:rPr lang="en-US" altLang="zh-CN" sz="2000" dirty="0" err="1">
                <a:latin typeface="宋体" panose="02010600030101010101" pitchFamily="2" charset="-122"/>
                <a:ea typeface="宋体" panose="02010600030101010101" pitchFamily="2" charset="-122"/>
              </a:rPr>
              <a:t>re.findall</a:t>
            </a:r>
            <a:r>
              <a:rPr lang="zh-CN" altLang="zh-CN" sz="2000" dirty="0">
                <a:latin typeface="宋体" panose="02010600030101010101" pitchFamily="2" charset="-122"/>
                <a:ea typeface="宋体" panose="02010600030101010101" pitchFamily="2" charset="-122"/>
              </a:rPr>
              <a:t>返回一个列表，而</a:t>
            </a:r>
            <a:r>
              <a:rPr lang="en-US" altLang="zh-CN" sz="2000" dirty="0" err="1">
                <a:latin typeface="宋体" panose="02010600030101010101" pitchFamily="2" charset="-122"/>
                <a:ea typeface="宋体" panose="02010600030101010101" pitchFamily="2" charset="-122"/>
              </a:rPr>
              <a:t>re.finditer</a:t>
            </a:r>
            <a:r>
              <a:rPr lang="zh-CN" altLang="zh-CN" sz="2000" dirty="0">
                <a:latin typeface="宋体" panose="02010600030101010101" pitchFamily="2" charset="-122"/>
                <a:ea typeface="宋体" panose="02010600030101010101" pitchFamily="2" charset="-122"/>
              </a:rPr>
              <a:t>返回一个迭代器，而且迭代器每次返回的值并不是字符串，而是一个</a:t>
            </a:r>
            <a:r>
              <a:rPr lang="en-US" altLang="zh-CN" sz="2000" dirty="0" err="1">
                <a:latin typeface="宋体" panose="02010600030101010101" pitchFamily="2" charset="-122"/>
                <a:ea typeface="宋体" panose="02010600030101010101" pitchFamily="2" charset="-122"/>
              </a:rPr>
              <a:t>re.Match</a:t>
            </a:r>
            <a:r>
              <a:rPr lang="en-US" altLang="zh-CN" sz="2000" dirty="0">
                <a:latin typeface="宋体" panose="02010600030101010101" pitchFamily="2" charset="-122"/>
                <a:ea typeface="宋体" panose="02010600030101010101" pitchFamily="2" charset="-122"/>
              </a:rPr>
              <a:t> object</a:t>
            </a:r>
            <a:r>
              <a:rPr lang="zh-CN" altLang="zh-CN" sz="2000" dirty="0">
                <a:latin typeface="宋体" panose="02010600030101010101" pitchFamily="2" charset="-122"/>
                <a:ea typeface="宋体" panose="02010600030101010101" pitchFamily="2" charset="-122"/>
              </a:rPr>
              <a:t>的匹配对象。</a:t>
            </a:r>
          </a:p>
        </p:txBody>
      </p:sp>
      <p:pic>
        <p:nvPicPr>
          <p:cNvPr id="4" name="Picture 3">
            <a:extLst>
              <a:ext uri="{FF2B5EF4-FFF2-40B4-BE49-F238E27FC236}">
                <a16:creationId xmlns:a16="http://schemas.microsoft.com/office/drawing/2014/main" id="{58EA4C9C-35C9-6FDA-D605-77E2D6E2CEC3}"/>
              </a:ext>
            </a:extLst>
          </p:cNvPr>
          <p:cNvPicPr>
            <a:picLocks noChangeAspect="1"/>
          </p:cNvPicPr>
          <p:nvPr/>
        </p:nvPicPr>
        <p:blipFill>
          <a:blip r:embed="rId3"/>
          <a:stretch>
            <a:fillRect/>
          </a:stretch>
        </p:blipFill>
        <p:spPr>
          <a:xfrm>
            <a:off x="3745165" y="4085943"/>
            <a:ext cx="4701669" cy="174080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44309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10.4.7</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lang="en-US" altLang="zh-CN" dirty="0" err="1">
                <a:solidFill>
                  <a:srgbClr val="0432FF"/>
                </a:solidFill>
              </a:rPr>
              <a:t>re.</a:t>
            </a:r>
            <a:r>
              <a:rPr lang="en-US" altLang="zh-CN" b="1" dirty="0" err="1">
                <a:solidFill>
                  <a:srgbClr val="0432FF"/>
                </a:solidFill>
                <a:latin typeface="宋体" panose="02010600030101010101" pitchFamily="2" charset="-122"/>
                <a:ea typeface="宋体" panose="02010600030101010101" pitchFamily="2" charset="-122"/>
              </a:rPr>
              <a:t>split</a:t>
            </a:r>
            <a:endParaRPr lang="en-US" dirty="0"/>
          </a:p>
        </p:txBody>
      </p:sp>
      <p:sp>
        <p:nvSpPr>
          <p:cNvPr id="3" name="文本框 2"/>
          <p:cNvSpPr txBox="1"/>
          <p:nvPr/>
        </p:nvSpPr>
        <p:spPr>
          <a:xfrm>
            <a:off x="1106418" y="1444244"/>
            <a:ext cx="9980682" cy="1451679"/>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en-US" altLang="zh-CN" sz="2000" b="1" dirty="0" err="1">
                <a:solidFill>
                  <a:srgbClr val="0432FF"/>
                </a:solidFill>
                <a:latin typeface="宋体" panose="02010600030101010101" pitchFamily="2" charset="-122"/>
                <a:ea typeface="宋体" panose="02010600030101010101" pitchFamily="2" charset="-122"/>
              </a:rPr>
              <a:t>re.split</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spcBef>
                <a:spcPts val="1000"/>
              </a:spcBef>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re.split</a:t>
            </a:r>
            <a:r>
              <a:rPr lang="en-US" altLang="zh-CN" sz="2000" dirty="0">
                <a:latin typeface="宋体" panose="02010600030101010101" pitchFamily="2" charset="-122"/>
                <a:ea typeface="宋体" panose="02010600030101010101" pitchFamily="2" charset="-122"/>
              </a:rPr>
              <a:t>(pattern, string, </a:t>
            </a:r>
            <a:r>
              <a:rPr lang="en-US" altLang="zh-CN" sz="2000" dirty="0" err="1">
                <a:latin typeface="宋体" panose="02010600030101010101" pitchFamily="2" charset="-122"/>
                <a:ea typeface="宋体" panose="02010600030101010101" pitchFamily="2" charset="-122"/>
              </a:rPr>
              <a:t>maxsplit</a:t>
            </a:r>
            <a:r>
              <a:rPr lang="en-US" altLang="zh-CN" sz="2000" dirty="0">
                <a:latin typeface="宋体" panose="02010600030101010101" pitchFamily="2" charset="-122"/>
                <a:ea typeface="宋体" panose="02010600030101010101" pitchFamily="2" charset="-122"/>
              </a:rPr>
              <a:t>=0, flags=0)</a:t>
            </a:r>
            <a:r>
              <a:rPr lang="ja-JP" altLang="zh-CN" sz="2000" dirty="0">
                <a:latin typeface="宋体" panose="02010600030101010101" pitchFamily="2" charset="-122"/>
                <a:ea typeface="宋体" panose="02010600030101010101" pitchFamily="2" charset="-122"/>
              </a:rPr>
              <a:t>函数使用给定正则表达式寻找切分字符串位置，返回包含切分后子串的列表</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如果匹配不到，则返回包含原字符串的一个列表</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其中参数</a:t>
            </a:r>
            <a:r>
              <a:rPr lang="en-US" altLang="zh-CN" sz="2000" dirty="0" err="1">
                <a:latin typeface="宋体" panose="02010600030101010101" pitchFamily="2" charset="-122"/>
                <a:ea typeface="宋体" panose="02010600030101010101" pitchFamily="2" charset="-122"/>
              </a:rPr>
              <a:t>maxsplit</a:t>
            </a:r>
            <a:r>
              <a:rPr lang="ja-JP" altLang="zh-CN" sz="2000" dirty="0">
                <a:latin typeface="宋体" panose="02010600030101010101" pitchFamily="2" charset="-122"/>
                <a:ea typeface="宋体" panose="02010600030101010101" pitchFamily="2" charset="-122"/>
              </a:rPr>
              <a:t>是分隔次数，</a:t>
            </a:r>
            <a:r>
              <a:rPr lang="en-US" altLang="zh-CN" sz="2000" dirty="0" err="1">
                <a:latin typeface="宋体" panose="02010600030101010101" pitchFamily="2" charset="-122"/>
                <a:ea typeface="宋体" panose="02010600030101010101" pitchFamily="2" charset="-122"/>
              </a:rPr>
              <a:t>maxsplit</a:t>
            </a:r>
            <a:r>
              <a:rPr lang="en-US" altLang="zh-CN" sz="2000" dirty="0">
                <a:latin typeface="宋体" panose="02010600030101010101" pitchFamily="2" charset="-122"/>
                <a:ea typeface="宋体" panose="02010600030101010101" pitchFamily="2" charset="-122"/>
              </a:rPr>
              <a:t>=1</a:t>
            </a:r>
            <a:r>
              <a:rPr lang="ja-JP" altLang="zh-CN" sz="2000" dirty="0">
                <a:latin typeface="宋体" panose="02010600030101010101" pitchFamily="2" charset="-122"/>
                <a:ea typeface="宋体" panose="02010600030101010101" pitchFamily="2" charset="-122"/>
              </a:rPr>
              <a:t>分隔一次，默认为</a:t>
            </a:r>
            <a:r>
              <a:rPr lang="en-US" altLang="zh-CN" sz="2000" dirty="0">
                <a:latin typeface="宋体" panose="02010600030101010101" pitchFamily="2" charset="-122"/>
                <a:ea typeface="宋体" panose="02010600030101010101" pitchFamily="2" charset="-122"/>
              </a:rPr>
              <a:t>0</a:t>
            </a:r>
            <a:r>
              <a:rPr lang="ja-JP" altLang="zh-CN" sz="2000" dirty="0">
                <a:latin typeface="宋体" panose="02010600030101010101" pitchFamily="2" charset="-122"/>
                <a:ea typeface="宋体" panose="02010600030101010101" pitchFamily="2" charset="-122"/>
              </a:rPr>
              <a:t>，不限制次数。</a:t>
            </a:r>
            <a:endParaRPr lang="zh-CN" altLang="zh-CN"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8AE67111-F8F0-D7CE-73F7-1496BFD74A9E}"/>
              </a:ext>
            </a:extLst>
          </p:cNvPr>
          <p:cNvPicPr>
            <a:picLocks noChangeAspect="1"/>
          </p:cNvPicPr>
          <p:nvPr/>
        </p:nvPicPr>
        <p:blipFill>
          <a:blip r:embed="rId3"/>
          <a:stretch>
            <a:fillRect/>
          </a:stretch>
        </p:blipFill>
        <p:spPr>
          <a:xfrm>
            <a:off x="694871" y="3078105"/>
            <a:ext cx="6189652" cy="21463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DDE578EE-A2D7-CE97-05EE-88D32DDFDDDF}"/>
              </a:ext>
            </a:extLst>
          </p:cNvPr>
          <p:cNvPicPr>
            <a:picLocks noChangeAspect="1"/>
          </p:cNvPicPr>
          <p:nvPr/>
        </p:nvPicPr>
        <p:blipFill>
          <a:blip r:embed="rId4"/>
          <a:stretch>
            <a:fillRect/>
          </a:stretch>
        </p:blipFill>
        <p:spPr>
          <a:xfrm>
            <a:off x="5546271" y="4151255"/>
            <a:ext cx="6187267" cy="229308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48069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10.4.8</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r>
              <a:rPr kumimoji="1" lang="en-US" altLang="zh-CN" dirty="0">
                <a:latin typeface="Microsoft YaHei" panose="020B0503020204020204" pitchFamily="34" charset="-122"/>
                <a:ea typeface="Microsoft YaHei" panose="020B0503020204020204" pitchFamily="34" charset="-122"/>
              </a:rPr>
              <a:t>: </a:t>
            </a:r>
            <a:r>
              <a:rPr kumimoji="1" lang="en-US" altLang="zh-CN" dirty="0" err="1">
                <a:solidFill>
                  <a:srgbClr val="0432FF"/>
                </a:solidFill>
                <a:latin typeface="Times New Roman" panose="02020603050405020304" pitchFamily="18" charset="0"/>
                <a:ea typeface="Microsoft YaHei" panose="020B0503020204020204" pitchFamily="34" charset="-122"/>
                <a:cs typeface="Times New Roman" panose="02020603050405020304" pitchFamily="18" charset="0"/>
              </a:rPr>
              <a:t>match.</a:t>
            </a:r>
            <a:r>
              <a:rPr lang="en-US" altLang="zh-CN" b="1" dirty="0" err="1">
                <a:solidFill>
                  <a:srgbClr val="0432FF"/>
                </a:solidFill>
                <a:latin typeface="宋体" panose="02010600030101010101" pitchFamily="2" charset="-122"/>
                <a:ea typeface="宋体" panose="02010600030101010101" pitchFamily="2" charset="-122"/>
              </a:rPr>
              <a:t>group</a:t>
            </a:r>
            <a:endParaRPr lang="en-US" dirty="0"/>
          </a:p>
        </p:txBody>
      </p:sp>
      <p:sp>
        <p:nvSpPr>
          <p:cNvPr id="3" name="文本框 2"/>
          <p:cNvSpPr txBox="1"/>
          <p:nvPr/>
        </p:nvSpPr>
        <p:spPr>
          <a:xfrm>
            <a:off x="1104900" y="1387548"/>
            <a:ext cx="10164094" cy="5124160"/>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en-US" altLang="zh-CN" sz="2000" b="1" dirty="0">
                <a:solidFill>
                  <a:srgbClr val="0432FF"/>
                </a:solidFill>
                <a:latin typeface="宋体" panose="02010600030101010101" pitchFamily="2" charset="-122"/>
                <a:ea typeface="宋体" panose="02010600030101010101" pitchFamily="2" charset="-122"/>
              </a:rPr>
              <a:t>group</a:t>
            </a:r>
            <a:r>
              <a:rPr lang="zh-CN" altLang="zh-CN" sz="2000" b="1" dirty="0">
                <a:solidFill>
                  <a:srgbClr val="0432FF"/>
                </a:solidFill>
                <a:latin typeface="宋体" panose="02010600030101010101" pitchFamily="2" charset="-122"/>
                <a:ea typeface="宋体" panose="02010600030101010101" pitchFamily="2" charset="-122"/>
              </a:rPr>
              <a:t>函数</a:t>
            </a:r>
            <a:endParaRPr lang="en-US" altLang="zh-CN" sz="2000" b="1" dirty="0">
              <a:solidFill>
                <a:srgbClr val="0432FF"/>
              </a:solidFill>
              <a:latin typeface="宋体" panose="02010600030101010101" pitchFamily="2" charset="-122"/>
              <a:ea typeface="宋体" panose="02010600030101010101" pitchFamily="2" charset="-122"/>
            </a:endParaRPr>
          </a:p>
          <a:p>
            <a:pPr algn="just">
              <a:lnSpc>
                <a:spcPct val="150000"/>
              </a:lnSpc>
              <a:spcBef>
                <a:spcPts val="1000"/>
              </a:spcBef>
            </a:pPr>
            <a:r>
              <a:rPr lang="en-US" altLang="zh-CN" sz="2000" dirty="0">
                <a:latin typeface="SimSun" panose="02010600030101010101" pitchFamily="2" charset="-122"/>
                <a:ea typeface="SimSun" panose="02010600030101010101" pitchFamily="2" charset="-122"/>
              </a:rPr>
              <a:t>    </a:t>
            </a:r>
            <a:r>
              <a:rPr lang="en-US" altLang="zh-CN" sz="2000" dirty="0" err="1">
                <a:latin typeface="SimSun" panose="02010600030101010101" pitchFamily="2" charset="-122"/>
                <a:ea typeface="SimSun" panose="02010600030101010101" pitchFamily="2" charset="-122"/>
              </a:rPr>
              <a:t>re.match</a:t>
            </a:r>
            <a:r>
              <a:rPr lang="zh-CN" altLang="zh-CN" sz="2000" dirty="0">
                <a:latin typeface="SimSun" panose="02010600030101010101" pitchFamily="2" charset="-122"/>
                <a:ea typeface="SimSun" panose="02010600030101010101" pitchFamily="2" charset="-122"/>
              </a:rPr>
              <a:t>、</a:t>
            </a:r>
            <a:r>
              <a:rPr lang="en-US" altLang="zh-CN" sz="2000" dirty="0" err="1">
                <a:latin typeface="SimSun" panose="02010600030101010101" pitchFamily="2" charset="-122"/>
                <a:ea typeface="SimSun" panose="02010600030101010101" pitchFamily="2" charset="-122"/>
              </a:rPr>
              <a:t>re.search</a:t>
            </a:r>
            <a:r>
              <a:rPr lang="zh-CN" altLang="zh-CN" sz="2000" dirty="0">
                <a:latin typeface="SimSun" panose="02010600030101010101" pitchFamily="2" charset="-122"/>
                <a:ea typeface="SimSun" panose="02010600030101010101" pitchFamily="2" charset="-122"/>
              </a:rPr>
              <a:t>等匹配函数的</a:t>
            </a:r>
            <a:r>
              <a:rPr lang="ja-JP" altLang="zh-CN" sz="2000" dirty="0">
                <a:latin typeface="SimSun" panose="02010600030101010101" pitchFamily="2" charset="-122"/>
                <a:ea typeface="SimSun" panose="02010600030101010101" pitchFamily="2" charset="-122"/>
              </a:rPr>
              <a:t>返回</a:t>
            </a:r>
            <a:r>
              <a:rPr lang="zh-CN" altLang="zh-CN" sz="2000" dirty="0">
                <a:latin typeface="SimSun" panose="02010600030101010101" pitchFamily="2" charset="-122"/>
                <a:ea typeface="SimSun" panose="02010600030101010101" pitchFamily="2" charset="-122"/>
              </a:rPr>
              <a:t>结果往往是一个</a:t>
            </a:r>
            <a:r>
              <a:rPr lang="en-US" altLang="zh-CN" sz="2000" dirty="0" err="1">
                <a:latin typeface="SimSun" panose="02010600030101010101" pitchFamily="2" charset="-122"/>
                <a:ea typeface="SimSun" panose="02010600030101010101" pitchFamily="2" charset="-122"/>
              </a:rPr>
              <a:t>re.Match</a:t>
            </a:r>
            <a:r>
              <a:rPr lang="en-US" altLang="zh-CN" sz="2000" dirty="0">
                <a:latin typeface="SimSun" panose="02010600030101010101" pitchFamily="2" charset="-122"/>
                <a:ea typeface="SimSun" panose="02010600030101010101" pitchFamily="2" charset="-122"/>
              </a:rPr>
              <a:t> Object</a:t>
            </a:r>
            <a:r>
              <a:rPr lang="zh-CN" altLang="zh-CN" sz="2000" dirty="0">
                <a:latin typeface="SimSun" panose="02010600030101010101" pitchFamily="2" charset="-122"/>
                <a:ea typeface="SimSun" panose="02010600030101010101" pitchFamily="2" charset="-122"/>
              </a:rPr>
              <a:t>对象，它是正则表达式的内置对象</a:t>
            </a:r>
            <a:r>
              <a:rPr lang="ja-JP" altLang="zh-CN" sz="2000" dirty="0">
                <a:latin typeface="SimSun" panose="02010600030101010101" pitchFamily="2" charset="-122"/>
                <a:ea typeface="SimSun" panose="02010600030101010101" pitchFamily="2" charset="-122"/>
              </a:rPr>
              <a:t>，</a:t>
            </a:r>
            <a:r>
              <a:rPr lang="zh-CN" altLang="zh-CN" sz="2000" dirty="0">
                <a:latin typeface="SimSun" panose="02010600030101010101" pitchFamily="2" charset="-122"/>
                <a:ea typeface="SimSun" panose="02010600030101010101" pitchFamily="2" charset="-122"/>
              </a:rPr>
              <a:t>通过</a:t>
            </a:r>
            <a:r>
              <a:rPr lang="en-US" altLang="zh-CN" sz="2000" dirty="0">
                <a:latin typeface="SimSun" panose="02010600030101010101" pitchFamily="2" charset="-122"/>
                <a:ea typeface="SimSun" panose="02010600030101010101" pitchFamily="2" charset="-122"/>
              </a:rPr>
              <a:t>group()</a:t>
            </a:r>
            <a:r>
              <a:rPr lang="zh-CN" altLang="zh-CN" sz="2000" dirty="0">
                <a:latin typeface="SimSun" panose="02010600030101010101" pitchFamily="2" charset="-122"/>
                <a:ea typeface="SimSun" panose="02010600030101010101" pitchFamily="2" charset="-122"/>
              </a:rPr>
              <a:t>函数可以获取该对象的具体</a:t>
            </a:r>
            <a:r>
              <a:rPr lang="ja-JP" altLang="zh-CN" sz="2000" dirty="0">
                <a:latin typeface="SimSun" panose="02010600030101010101" pitchFamily="2" charset="-122"/>
                <a:ea typeface="SimSun" panose="02010600030101010101" pitchFamily="2" charset="-122"/>
              </a:rPr>
              <a:t>表达式</a:t>
            </a:r>
            <a:r>
              <a:rPr lang="zh-CN" altLang="zh-CN"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a:p>
            <a:pPr algn="just">
              <a:lnSpc>
                <a:spcPct val="150000"/>
              </a:lnSpc>
              <a:spcBef>
                <a:spcPts val="1000"/>
              </a:spcBef>
            </a:pPr>
            <a:r>
              <a:rPr lang="en-US" altLang="zh-CN" sz="2000" dirty="0">
                <a:latin typeface="SimSun" panose="02010600030101010101" pitchFamily="2" charset="-122"/>
                <a:ea typeface="SimSun" panose="02010600030101010101" pitchFamily="2" charset="-122"/>
              </a:rPr>
              <a:t>    </a:t>
            </a:r>
            <a:r>
              <a:rPr lang="zh-CN" altLang="zh-CN" sz="2000" dirty="0">
                <a:latin typeface="SimSun" panose="02010600030101010101" pitchFamily="2" charset="-122"/>
                <a:ea typeface="SimSun" panose="02010600030101010101" pitchFamily="2" charset="-122"/>
              </a:rPr>
              <a:t>除了使用</a:t>
            </a:r>
            <a:r>
              <a:rPr lang="en-US" altLang="zh-CN" sz="2000" dirty="0">
                <a:latin typeface="SimSun" panose="02010600030101010101" pitchFamily="2" charset="-122"/>
                <a:ea typeface="SimSun" panose="02010600030101010101" pitchFamily="2" charset="-122"/>
              </a:rPr>
              <a:t>group()</a:t>
            </a:r>
            <a:r>
              <a:rPr lang="zh-CN" altLang="zh-CN" sz="2000" dirty="0">
                <a:latin typeface="SimSun" panose="02010600030101010101" pitchFamily="2" charset="-122"/>
                <a:ea typeface="SimSun" panose="02010600030101010101" pitchFamily="2" charset="-122"/>
              </a:rPr>
              <a:t>函数以外，对于</a:t>
            </a:r>
            <a:r>
              <a:rPr lang="en-US" altLang="zh-CN" sz="2000" dirty="0" err="1">
                <a:latin typeface="SimSun" panose="02010600030101010101" pitchFamily="2" charset="-122"/>
                <a:ea typeface="SimSun" panose="02010600030101010101" pitchFamily="2" charset="-122"/>
              </a:rPr>
              <a:t>re.Match</a:t>
            </a:r>
            <a:r>
              <a:rPr lang="en-US" altLang="zh-CN" sz="2000" dirty="0">
                <a:latin typeface="SimSun" panose="02010600030101010101" pitchFamily="2" charset="-122"/>
                <a:ea typeface="SimSun" panose="02010600030101010101" pitchFamily="2" charset="-122"/>
              </a:rPr>
              <a:t> Object</a:t>
            </a:r>
            <a:r>
              <a:rPr lang="zh-CN" altLang="zh-CN" sz="2000" dirty="0">
                <a:latin typeface="SimSun" panose="02010600030101010101" pitchFamily="2" charset="-122"/>
                <a:ea typeface="SimSun" panose="02010600030101010101" pitchFamily="2" charset="-122"/>
              </a:rPr>
              <a:t>对象，还可以通过一系列其他函数操作获取其特定子串的索引。</a:t>
            </a:r>
            <a:endParaRPr lang="en-US" altLang="zh-CN" sz="2000" dirty="0">
              <a:latin typeface="SimSun" panose="02010600030101010101" pitchFamily="2" charset="-122"/>
              <a:ea typeface="SimSun" panose="02010600030101010101" pitchFamily="2" charset="-122"/>
            </a:endParaRPr>
          </a:p>
          <a:p>
            <a:pPr marL="800100" lvl="1" indent="-342900" algn="just">
              <a:lnSpc>
                <a:spcPct val="150000"/>
              </a:lnSpc>
              <a:spcBef>
                <a:spcPts val="1000"/>
              </a:spcBef>
              <a:buFont typeface="Arial" panose="020B0604020202020204" pitchFamily="34" charset="0"/>
              <a:buChar char="•"/>
            </a:pPr>
            <a:r>
              <a:rPr lang="zh-CN" altLang="zh-CN" sz="2000" dirty="0">
                <a:latin typeface="SimSun" panose="02010600030101010101" pitchFamily="2" charset="-122"/>
                <a:ea typeface="SimSun" panose="02010600030101010101" pitchFamily="2" charset="-122"/>
              </a:rPr>
              <a:t>使用</a:t>
            </a:r>
            <a:r>
              <a:rPr lang="en-US" altLang="zh-CN" sz="2000" dirty="0">
                <a:solidFill>
                  <a:srgbClr val="0432FF"/>
                </a:solidFill>
                <a:latin typeface="SimSun" panose="02010600030101010101" pitchFamily="2" charset="-122"/>
                <a:ea typeface="SimSun" panose="02010600030101010101" pitchFamily="2" charset="-122"/>
              </a:rPr>
              <a:t>start()</a:t>
            </a:r>
            <a:r>
              <a:rPr lang="zh-CN" altLang="zh-CN" sz="2000" dirty="0">
                <a:latin typeface="SimSun" panose="02010600030101010101" pitchFamily="2" charset="-122"/>
                <a:ea typeface="SimSun" panose="02010600030101010101" pitchFamily="2" charset="-122"/>
              </a:rPr>
              <a:t>函数可以</a:t>
            </a:r>
            <a:r>
              <a:rPr lang="ja-JP" altLang="zh-CN" sz="2000" dirty="0">
                <a:latin typeface="SimSun" panose="02010600030101010101" pitchFamily="2" charset="-122"/>
                <a:ea typeface="SimSun" panose="02010600030101010101" pitchFamily="2" charset="-122"/>
              </a:rPr>
              <a:t>获取分组匹配的子串在整个字符串中的起始位置</a:t>
            </a:r>
            <a:r>
              <a:rPr lang="zh-CN" altLang="zh-CN" sz="2000" dirty="0">
                <a:latin typeface="SimSun" panose="02010600030101010101" pitchFamily="2" charset="-122"/>
                <a:ea typeface="SimSun" panose="02010600030101010101" pitchFamily="2" charset="-122"/>
              </a:rPr>
              <a:t>，即</a:t>
            </a:r>
            <a:r>
              <a:rPr lang="ja-JP" altLang="zh-CN" sz="2000" dirty="0">
                <a:latin typeface="SimSun" panose="02010600030101010101" pitchFamily="2" charset="-122"/>
                <a:ea typeface="SimSun" panose="02010600030101010101" pitchFamily="2" charset="-122"/>
              </a:rPr>
              <a:t>子串第一个字符的索引，参数默认值</a:t>
            </a:r>
            <a:r>
              <a:rPr lang="en-US" altLang="zh-CN" sz="2000" dirty="0">
                <a:latin typeface="SimSun" panose="02010600030101010101" pitchFamily="2" charset="-122"/>
                <a:ea typeface="SimSun" panose="02010600030101010101" pitchFamily="2" charset="-122"/>
              </a:rPr>
              <a:t>0</a:t>
            </a:r>
            <a:r>
              <a:rPr lang="ja-JP" altLang="zh-CN" sz="2000">
                <a:latin typeface="SimSun" panose="02010600030101010101" pitchFamily="2" charset="-122"/>
                <a:ea typeface="SimSun" panose="02010600030101010101" pitchFamily="2" charset="-122"/>
              </a:rPr>
              <a:t>；</a:t>
            </a:r>
            <a:endParaRPr lang="en-US" altLang="ja-JP" sz="2000" dirty="0">
              <a:latin typeface="SimSun" panose="02010600030101010101" pitchFamily="2" charset="-122"/>
              <a:ea typeface="SimSun" panose="02010600030101010101" pitchFamily="2" charset="-122"/>
            </a:endParaRPr>
          </a:p>
          <a:p>
            <a:pPr marL="800100" lvl="1" indent="-342900" algn="just">
              <a:lnSpc>
                <a:spcPct val="150000"/>
              </a:lnSpc>
              <a:spcBef>
                <a:spcPts val="1000"/>
              </a:spcBef>
              <a:buFont typeface="Arial" panose="020B0604020202020204" pitchFamily="34" charset="0"/>
              <a:buChar char="•"/>
            </a:pPr>
            <a:r>
              <a:rPr lang="en-US" altLang="zh-CN" sz="2000" dirty="0">
                <a:solidFill>
                  <a:srgbClr val="0432FF"/>
                </a:solidFill>
                <a:latin typeface="SimSun" panose="02010600030101010101" pitchFamily="2" charset="-122"/>
                <a:ea typeface="SimSun" panose="02010600030101010101" pitchFamily="2" charset="-122"/>
              </a:rPr>
              <a:t>end()</a:t>
            </a:r>
            <a:r>
              <a:rPr lang="zh-CN" altLang="zh-CN" sz="2000" dirty="0">
                <a:latin typeface="SimSun" panose="02010600030101010101" pitchFamily="2" charset="-122"/>
                <a:ea typeface="SimSun" panose="02010600030101010101" pitchFamily="2" charset="-122"/>
              </a:rPr>
              <a:t>函数可以</a:t>
            </a:r>
            <a:r>
              <a:rPr lang="ja-JP" altLang="zh-CN" sz="2000" dirty="0">
                <a:latin typeface="SimSun" panose="02010600030101010101" pitchFamily="2" charset="-122"/>
                <a:ea typeface="SimSun" panose="02010600030101010101" pitchFamily="2" charset="-122"/>
              </a:rPr>
              <a:t>获取分组匹配的子串在整个字符串中的结束位置（子串最后一个字符的索引</a:t>
            </a:r>
            <a:r>
              <a:rPr lang="en-US" altLang="zh-CN" sz="2000" dirty="0">
                <a:latin typeface="SimSun" panose="02010600030101010101" pitchFamily="2" charset="-122"/>
                <a:ea typeface="SimSun" panose="02010600030101010101" pitchFamily="2" charset="-122"/>
              </a:rPr>
              <a:t>+1</a:t>
            </a:r>
            <a:r>
              <a:rPr lang="ja-JP" altLang="zh-CN" sz="2000" dirty="0">
                <a:latin typeface="SimSun" panose="02010600030101010101" pitchFamily="2" charset="-122"/>
                <a:ea typeface="SimSun" panose="02010600030101010101" pitchFamily="2" charset="-122"/>
              </a:rPr>
              <a:t>），参数默认值为</a:t>
            </a:r>
            <a:r>
              <a:rPr lang="en-US" altLang="zh-CN" sz="2000" dirty="0">
                <a:latin typeface="SimSun" panose="02010600030101010101" pitchFamily="2" charset="-122"/>
                <a:ea typeface="SimSun" panose="02010600030101010101" pitchFamily="2" charset="-122"/>
              </a:rPr>
              <a:t>0</a:t>
            </a:r>
            <a:r>
              <a:rPr lang="ja-JP" altLang="zh-CN" sz="2000">
                <a:latin typeface="SimSun" panose="02010600030101010101" pitchFamily="2" charset="-122"/>
                <a:ea typeface="SimSun" panose="02010600030101010101" pitchFamily="2" charset="-122"/>
              </a:rPr>
              <a:t>；</a:t>
            </a:r>
            <a:endParaRPr lang="en-US" altLang="ja-JP" sz="2000" dirty="0">
              <a:latin typeface="SimSun" panose="02010600030101010101" pitchFamily="2" charset="-122"/>
              <a:ea typeface="SimSun" panose="02010600030101010101" pitchFamily="2" charset="-122"/>
            </a:endParaRPr>
          </a:p>
          <a:p>
            <a:pPr marL="800100" lvl="1" indent="-342900" algn="just">
              <a:lnSpc>
                <a:spcPct val="150000"/>
              </a:lnSpc>
              <a:spcBef>
                <a:spcPts val="1000"/>
              </a:spcBef>
              <a:buFont typeface="Arial" panose="020B0604020202020204" pitchFamily="34" charset="0"/>
              <a:buChar char="•"/>
            </a:pPr>
            <a:r>
              <a:rPr lang="en-US" altLang="zh-CN" sz="2000" dirty="0">
                <a:solidFill>
                  <a:srgbClr val="0432FF"/>
                </a:solidFill>
                <a:latin typeface="SimSun" panose="02010600030101010101" pitchFamily="2" charset="-122"/>
                <a:ea typeface="SimSun" panose="02010600030101010101" pitchFamily="2" charset="-122"/>
              </a:rPr>
              <a:t>span()</a:t>
            </a:r>
            <a:r>
              <a:rPr lang="zh-CN" altLang="zh-CN" sz="2000" dirty="0">
                <a:latin typeface="SimSun" panose="02010600030101010101" pitchFamily="2" charset="-122"/>
                <a:ea typeface="SimSun" panose="02010600030101010101" pitchFamily="2" charset="-122"/>
              </a:rPr>
              <a:t>函数可以</a:t>
            </a:r>
            <a:r>
              <a:rPr lang="ja-JP" altLang="zh-CN" sz="2000" dirty="0">
                <a:latin typeface="SimSun" panose="02010600030101010101" pitchFamily="2" charset="-122"/>
                <a:ea typeface="SimSun" panose="02010600030101010101" pitchFamily="2" charset="-122"/>
              </a:rPr>
              <a:t>获取分组匹配的子串</a:t>
            </a:r>
            <a:r>
              <a:rPr lang="zh-CN" altLang="zh-CN" sz="2000" dirty="0">
                <a:latin typeface="SimSun" panose="02010600030101010101" pitchFamily="2" charset="-122"/>
                <a:ea typeface="SimSun" panose="02010600030101010101" pitchFamily="2" charset="-122"/>
              </a:rPr>
              <a:t>的起止位置</a:t>
            </a:r>
            <a:r>
              <a:rPr lang="zh-CN" altLang="zh-CN" dirty="0">
                <a:latin typeface="SimSun" panose="02010600030101010101" pitchFamily="2" charset="-122"/>
                <a:ea typeface="SimSun" panose="02010600030101010101" pitchFamily="2" charset="-122"/>
              </a:rPr>
              <a:t>。</a:t>
            </a:r>
            <a:endParaRPr lang="zh-CN" altLang="zh-CN" sz="20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44604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zh-CN" dirty="0">
                <a:latin typeface="Microsoft YaHei" panose="020B0503020204020204" pitchFamily="34" charset="-122"/>
                <a:ea typeface="Microsoft YaHei" panose="020B0503020204020204" pitchFamily="34" charset="-122"/>
              </a:rPr>
              <a:t>10.4</a:t>
            </a:r>
            <a:r>
              <a:rPr kumimoji="1" lang="zh-CN" altLang="en-US"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Pyhton</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的正则表达式模块</a:t>
            </a:r>
            <a:endParaRPr lang="en-US" dirty="0"/>
          </a:p>
        </p:txBody>
      </p:sp>
      <p:pic>
        <p:nvPicPr>
          <p:cNvPr id="6" name="Picture 5">
            <a:extLst>
              <a:ext uri="{FF2B5EF4-FFF2-40B4-BE49-F238E27FC236}">
                <a16:creationId xmlns:a16="http://schemas.microsoft.com/office/drawing/2014/main" id="{ED896696-F5C0-7285-5CAF-DF8A8C8F47FF}"/>
              </a:ext>
            </a:extLst>
          </p:cNvPr>
          <p:cNvPicPr>
            <a:picLocks noChangeAspect="1"/>
          </p:cNvPicPr>
          <p:nvPr/>
        </p:nvPicPr>
        <p:blipFill>
          <a:blip r:embed="rId3"/>
          <a:stretch>
            <a:fillRect/>
          </a:stretch>
        </p:blipFill>
        <p:spPr>
          <a:xfrm>
            <a:off x="716439" y="1512206"/>
            <a:ext cx="6710515" cy="3406877"/>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024400A1-1B8D-CF74-4E6E-296F6D3ADA03}"/>
              </a:ext>
            </a:extLst>
          </p:cNvPr>
          <p:cNvPicPr>
            <a:picLocks noChangeAspect="1"/>
          </p:cNvPicPr>
          <p:nvPr/>
        </p:nvPicPr>
        <p:blipFill>
          <a:blip r:embed="rId4"/>
          <a:stretch>
            <a:fillRect/>
          </a:stretch>
        </p:blipFill>
        <p:spPr>
          <a:xfrm>
            <a:off x="4139091" y="4071257"/>
            <a:ext cx="6946490" cy="2286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633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latin typeface="Microsoft YaHei" panose="020B0503020204020204" pitchFamily="34" charset="-122"/>
                <a:ea typeface="Microsoft YaHei" panose="020B0503020204020204" pitchFamily="34" charset="-122"/>
              </a:rPr>
              <a:t>10.4 </a:t>
            </a:r>
            <a:r>
              <a:rPr lang="zh-CN" altLang="en-US" dirty="0">
                <a:latin typeface="Microsoft YaHei" panose="020B0503020204020204" pitchFamily="34" charset="-122"/>
                <a:ea typeface="Microsoft YaHei" panose="020B0503020204020204" pitchFamily="34" charset="-122"/>
              </a:rPr>
              <a:t>正则表达式的修饰符</a:t>
            </a:r>
            <a:endParaRPr lang="en-US" dirty="0">
              <a:latin typeface="Microsoft YaHei" panose="020B0503020204020204" pitchFamily="34" charset="-122"/>
              <a:ea typeface="Microsoft YaHei" panose="020B0503020204020204" pitchFamily="34" charset="-122"/>
            </a:endParaRPr>
          </a:p>
        </p:txBody>
      </p:sp>
      <p:sp>
        <p:nvSpPr>
          <p:cNvPr id="3" name="文本框 2"/>
          <p:cNvSpPr txBox="1"/>
          <p:nvPr/>
        </p:nvSpPr>
        <p:spPr>
          <a:xfrm>
            <a:off x="1104900" y="1377176"/>
            <a:ext cx="9980682" cy="1143903"/>
          </a:xfrm>
          <a:prstGeom prst="rect">
            <a:avLst/>
          </a:prstGeom>
          <a:noFill/>
        </p:spPr>
        <p:txBody>
          <a:bodyPr wrap="square" rtlCol="0">
            <a:spAutoFit/>
          </a:bodyPr>
          <a:lstStyle/>
          <a:p>
            <a:pPr algn="just">
              <a:spcBef>
                <a:spcPts val="1000"/>
              </a:spcBef>
            </a:pPr>
            <a:r>
              <a:rPr lang="zh-CN" altLang="en-US" sz="2000" dirty="0">
                <a:solidFill>
                  <a:srgbClr val="C00000"/>
                </a:solidFill>
                <a:latin typeface="宋体" panose="02010600030101010101" pitchFamily="2" charset="-122"/>
                <a:ea typeface="宋体" panose="02010600030101010101" pitchFamily="2" charset="-122"/>
              </a:rPr>
              <a:t>正则表达式的修饰符</a:t>
            </a:r>
            <a:endParaRPr lang="en-US" altLang="zh-CN" sz="2000" dirty="0">
              <a:solidFill>
                <a:srgbClr val="C00000"/>
              </a:solidFill>
              <a:latin typeface="宋体" panose="02010600030101010101" pitchFamily="2" charset="-122"/>
              <a:ea typeface="宋体" panose="02010600030101010101" pitchFamily="2" charset="-122"/>
            </a:endParaRPr>
          </a:p>
          <a:p>
            <a:pPr algn="just">
              <a:spcBef>
                <a:spcPts val="1000"/>
              </a:spcBef>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正则表达式可以包含一些标志修饰符来控制匹配模式，修饰符在正则表达式函数中表现形式为可选参数</a:t>
            </a:r>
            <a:r>
              <a:rPr lang="en-US" altLang="zh-CN" sz="2000" dirty="0">
                <a:latin typeface="宋体" panose="02010600030101010101" pitchFamily="2" charset="-122"/>
                <a:ea typeface="宋体" panose="02010600030101010101" pitchFamily="2" charset="-122"/>
              </a:rPr>
              <a:t>flag</a:t>
            </a:r>
            <a:r>
              <a:rPr lang="zh-CN" altLang="zh-CN" sz="2000" dirty="0">
                <a:latin typeface="宋体" panose="02010600030101010101" pitchFamily="2" charset="-122"/>
                <a:ea typeface="宋体" panose="02010600030101010101" pitchFamily="2" charset="-122"/>
              </a:rPr>
              <a:t>。</a:t>
            </a:r>
          </a:p>
        </p:txBody>
      </p:sp>
      <p:graphicFrame>
        <p:nvGraphicFramePr>
          <p:cNvPr id="5" name="Table 4">
            <a:extLst>
              <a:ext uri="{FF2B5EF4-FFF2-40B4-BE49-F238E27FC236}">
                <a16:creationId xmlns:a16="http://schemas.microsoft.com/office/drawing/2014/main" id="{898CFE5E-6189-366E-1782-2BAA4B6F8807}"/>
              </a:ext>
            </a:extLst>
          </p:cNvPr>
          <p:cNvGraphicFramePr>
            <a:graphicFrameLocks noGrp="1"/>
          </p:cNvGraphicFramePr>
          <p:nvPr>
            <p:extLst>
              <p:ext uri="{D42A27DB-BD31-4B8C-83A1-F6EECF244321}">
                <p14:modId xmlns:p14="http://schemas.microsoft.com/office/powerpoint/2010/main" val="4146063634"/>
              </p:ext>
            </p:extLst>
          </p:nvPr>
        </p:nvGraphicFramePr>
        <p:xfrm>
          <a:off x="1283320" y="2871850"/>
          <a:ext cx="9982200" cy="2930144"/>
        </p:xfrm>
        <a:graphic>
          <a:graphicData uri="http://schemas.openxmlformats.org/drawingml/2006/table">
            <a:tbl>
              <a:tblPr>
                <a:effectLst>
                  <a:outerShdw blurRad="63500" sx="102000" sy="102000" algn="ctr" rotWithShape="0">
                    <a:prstClr val="black">
                      <a:alpha val="40000"/>
                    </a:prstClr>
                  </a:outerShdw>
                </a:effectLst>
              </a:tblPr>
              <a:tblGrid>
                <a:gridCol w="1260929">
                  <a:extLst>
                    <a:ext uri="{9D8B030D-6E8A-4147-A177-3AD203B41FA5}">
                      <a16:colId xmlns:a16="http://schemas.microsoft.com/office/drawing/2014/main" val="1021580475"/>
                    </a:ext>
                  </a:extLst>
                </a:gridCol>
                <a:gridCol w="8721271">
                  <a:extLst>
                    <a:ext uri="{9D8B030D-6E8A-4147-A177-3AD203B41FA5}">
                      <a16:colId xmlns:a16="http://schemas.microsoft.com/office/drawing/2014/main" val="3580233349"/>
                    </a:ext>
                  </a:extLst>
                </a:gridCol>
              </a:tblGrid>
              <a:tr h="0">
                <a:tc>
                  <a:txBody>
                    <a:bodyPr/>
                    <a:lstStyle/>
                    <a:p>
                      <a:pPr algn="ctr">
                        <a:lnSpc>
                          <a:spcPct val="150000"/>
                        </a:lnSpc>
                      </a:pPr>
                      <a:r>
                        <a:rPr lang="zh-CN" altLang="en-US" dirty="0">
                          <a:solidFill>
                            <a:srgbClr val="0432FF"/>
                          </a:solidFill>
                          <a:effectLst/>
                        </a:rPr>
                        <a:t>修饰符</a:t>
                      </a:r>
                    </a:p>
                  </a:txBody>
                  <a:tcPr marL="190500" marR="190500" marT="28575" marB="28575" anchor="ctr">
                    <a:lnL>
                      <a:noFill/>
                    </a:lnL>
                    <a:lnR>
                      <a:noFill/>
                    </a:lnR>
                    <a:lnT>
                      <a:noFill/>
                    </a:lnT>
                    <a:lnB>
                      <a:noFill/>
                    </a:lnB>
                    <a:solidFill>
                      <a:schemeClr val="bg2">
                        <a:lumMod val="90000"/>
                      </a:schemeClr>
                    </a:solidFill>
                  </a:tcPr>
                </a:tc>
                <a:tc>
                  <a:txBody>
                    <a:bodyPr/>
                    <a:lstStyle/>
                    <a:p>
                      <a:pPr algn="ctr">
                        <a:lnSpc>
                          <a:spcPct val="150000"/>
                        </a:lnSpc>
                      </a:pPr>
                      <a:r>
                        <a:rPr lang="zh-CN" altLang="en-US" dirty="0">
                          <a:solidFill>
                            <a:srgbClr val="0432FF"/>
                          </a:solidFill>
                          <a:effectLst/>
                        </a:rPr>
                        <a:t>功能描述</a:t>
                      </a:r>
                    </a:p>
                  </a:txBody>
                  <a:tcPr marL="190500" marR="190500" marT="28575" marB="28575" anchor="ctr">
                    <a:lnL>
                      <a:noFill/>
                    </a:lnL>
                    <a:lnR>
                      <a:noFill/>
                    </a:lnR>
                    <a:lnT>
                      <a:noFill/>
                    </a:lnT>
                    <a:lnB>
                      <a:noFill/>
                    </a:lnB>
                    <a:solidFill>
                      <a:schemeClr val="bg2">
                        <a:lumMod val="90000"/>
                      </a:schemeClr>
                    </a:solidFill>
                  </a:tcPr>
                </a:tc>
                <a:extLst>
                  <a:ext uri="{0D108BD9-81ED-4DB2-BD59-A6C34878D82A}">
                    <a16:rowId xmlns:a16="http://schemas.microsoft.com/office/drawing/2014/main" val="3952944922"/>
                  </a:ext>
                </a:extLst>
              </a:tr>
              <a:tr h="0">
                <a:tc>
                  <a:txBody>
                    <a:bodyPr/>
                    <a:lstStyle/>
                    <a:p>
                      <a:pPr algn="ctr">
                        <a:lnSpc>
                          <a:spcPct val="150000"/>
                        </a:lnSpc>
                      </a:pPr>
                      <a:r>
                        <a:rPr lang="en-US" dirty="0" err="1">
                          <a:effectLst/>
                        </a:rPr>
                        <a:t>re.I</a:t>
                      </a:r>
                      <a:endParaRPr lang="en-US" dirty="0">
                        <a:effectLst/>
                      </a:endParaRP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zh-CN" altLang="en-US" dirty="0">
                          <a:effectLst/>
                        </a:rPr>
                        <a:t>忽略大小写匹配（</a:t>
                      </a:r>
                      <a:r>
                        <a:rPr lang="en-US" dirty="0">
                          <a:effectLst/>
                        </a:rPr>
                        <a:t>Ignore case）。</a:t>
                      </a:r>
                      <a:r>
                        <a:rPr lang="zh-CN" altLang="en-US" dirty="0">
                          <a:effectLst/>
                        </a:rPr>
                        <a:t>例如，</a:t>
                      </a:r>
                      <a:r>
                        <a:rPr lang="en-US" altLang="zh-CN" dirty="0">
                          <a:effectLst/>
                        </a:rPr>
                        <a:t>[</a:t>
                      </a:r>
                      <a:r>
                        <a:rPr lang="en-US" dirty="0">
                          <a:effectLst/>
                        </a:rPr>
                        <a:t>a-z] </a:t>
                      </a:r>
                      <a:r>
                        <a:rPr lang="zh-CN" altLang="en-US" dirty="0">
                          <a:effectLst/>
                        </a:rPr>
                        <a:t>可同时匹配小写和大写字母。</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31080917"/>
                  </a:ext>
                </a:extLst>
              </a:tr>
              <a:tr h="0">
                <a:tc>
                  <a:txBody>
                    <a:bodyPr/>
                    <a:lstStyle/>
                    <a:p>
                      <a:pPr algn="ctr">
                        <a:lnSpc>
                          <a:spcPct val="150000"/>
                        </a:lnSpc>
                      </a:pPr>
                      <a:r>
                        <a:rPr lang="en-US" dirty="0" err="1">
                          <a:effectLst/>
                        </a:rPr>
                        <a:t>re.M</a:t>
                      </a:r>
                      <a:endParaRPr lang="en-US" dirty="0">
                        <a:effectLst/>
                      </a:endParaRP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zh-CN" altLang="en-US" dirty="0">
                          <a:effectLst/>
                        </a:rPr>
                        <a:t>多行模式（</a:t>
                      </a:r>
                      <a:r>
                        <a:rPr lang="en-US" dirty="0">
                          <a:effectLst/>
                        </a:rPr>
                        <a:t>Multiline）。^ </a:t>
                      </a:r>
                      <a:r>
                        <a:rPr lang="zh-CN" altLang="en-US" dirty="0">
                          <a:effectLst/>
                        </a:rPr>
                        <a:t>和 </a:t>
                      </a:r>
                      <a:r>
                        <a:rPr lang="en-US" altLang="zh-CN" dirty="0">
                          <a:effectLst/>
                        </a:rPr>
                        <a:t>$ </a:t>
                      </a:r>
                      <a:r>
                        <a:rPr lang="zh-CN" altLang="en-US" dirty="0">
                          <a:effectLst/>
                        </a:rPr>
                        <a:t>分别匹配每一行的开头和结尾，而不是整个字符串。</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41782363"/>
                  </a:ext>
                </a:extLst>
              </a:tr>
              <a:tr h="0">
                <a:tc>
                  <a:txBody>
                    <a:bodyPr/>
                    <a:lstStyle/>
                    <a:p>
                      <a:pPr algn="ctr">
                        <a:lnSpc>
                          <a:spcPct val="150000"/>
                        </a:lnSpc>
                      </a:pPr>
                      <a:r>
                        <a:rPr lang="en-US">
                          <a:effectLst/>
                        </a:rPr>
                        <a:t>re.S</a:t>
                      </a: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zh-CN" altLang="en-US" dirty="0">
                          <a:effectLst/>
                        </a:rPr>
                        <a:t>单行模式（</a:t>
                      </a:r>
                      <a:r>
                        <a:rPr lang="en-US" dirty="0" err="1">
                          <a:effectLst/>
                        </a:rPr>
                        <a:t>Dotall</a:t>
                      </a:r>
                      <a:r>
                        <a:rPr lang="en-US" dirty="0">
                          <a:effectLst/>
                        </a:rPr>
                        <a:t>）。</a:t>
                      </a:r>
                      <a:r>
                        <a:rPr lang="zh-CN" altLang="en-US" dirty="0">
                          <a:effectLst/>
                        </a:rPr>
                        <a:t>让 </a:t>
                      </a:r>
                      <a:r>
                        <a:rPr lang="en-US" altLang="zh-CN" dirty="0">
                          <a:effectLst/>
                        </a:rPr>
                        <a:t>. </a:t>
                      </a:r>
                      <a:r>
                        <a:rPr lang="zh-CN" altLang="en-US" dirty="0">
                          <a:effectLst/>
                        </a:rPr>
                        <a:t>匹配包括换行符在内的所有字符。</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4187135074"/>
                  </a:ext>
                </a:extLst>
              </a:tr>
              <a:tr h="0">
                <a:tc>
                  <a:txBody>
                    <a:bodyPr/>
                    <a:lstStyle/>
                    <a:p>
                      <a:pPr algn="ctr">
                        <a:lnSpc>
                          <a:spcPct val="150000"/>
                        </a:lnSpc>
                      </a:pPr>
                      <a:r>
                        <a:rPr lang="en-US">
                          <a:effectLst/>
                        </a:rPr>
                        <a:t>re.U</a:t>
                      </a: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en-US" dirty="0">
                          <a:effectLst/>
                        </a:rPr>
                        <a:t>Unicode </a:t>
                      </a:r>
                      <a:r>
                        <a:rPr lang="zh-CN" altLang="en-US" dirty="0">
                          <a:effectLst/>
                        </a:rPr>
                        <a:t>匹配（</a:t>
                      </a:r>
                      <a:r>
                        <a:rPr lang="en-US" dirty="0">
                          <a:effectLst/>
                        </a:rPr>
                        <a:t>Unicode）。</a:t>
                      </a:r>
                      <a:r>
                        <a:rPr lang="zh-CN" altLang="en-US" dirty="0">
                          <a:effectLst/>
                        </a:rPr>
                        <a:t>让正则表达式遵循 </a:t>
                      </a:r>
                      <a:r>
                        <a:rPr lang="en-US" dirty="0">
                          <a:effectLst/>
                        </a:rPr>
                        <a:t>Unicode </a:t>
                      </a:r>
                      <a:r>
                        <a:rPr lang="zh-CN" altLang="en-US" dirty="0">
                          <a:effectLst/>
                        </a:rPr>
                        <a:t>字符的匹配规则。</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010004851"/>
                  </a:ext>
                </a:extLst>
              </a:tr>
              <a:tr h="0">
                <a:tc>
                  <a:txBody>
                    <a:bodyPr/>
                    <a:lstStyle/>
                    <a:p>
                      <a:pPr algn="ctr">
                        <a:lnSpc>
                          <a:spcPct val="150000"/>
                        </a:lnSpc>
                      </a:pPr>
                      <a:r>
                        <a:rPr lang="en-US">
                          <a:effectLst/>
                        </a:rPr>
                        <a:t>re.L</a:t>
                      </a: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zh-CN" altLang="en-US" dirty="0">
                          <a:effectLst/>
                        </a:rPr>
                        <a:t>本地化匹配（</a:t>
                      </a:r>
                      <a:r>
                        <a:rPr lang="en-US" dirty="0">
                          <a:effectLst/>
                        </a:rPr>
                        <a:t>Locale）。</a:t>
                      </a:r>
                      <a:r>
                        <a:rPr lang="zh-CN" altLang="en-US" dirty="0">
                          <a:effectLst/>
                        </a:rPr>
                        <a:t>匹配时根据当前区域设置信息（</a:t>
                      </a:r>
                      <a:r>
                        <a:rPr lang="en-US" dirty="0">
                          <a:effectLst/>
                        </a:rPr>
                        <a:t>locale）</a:t>
                      </a:r>
                      <a:r>
                        <a:rPr lang="zh-CN" altLang="en-US" dirty="0">
                          <a:effectLst/>
                        </a:rPr>
                        <a:t>进行。</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3284250815"/>
                  </a:ext>
                </a:extLst>
              </a:tr>
              <a:tr h="0">
                <a:tc>
                  <a:txBody>
                    <a:bodyPr/>
                    <a:lstStyle/>
                    <a:p>
                      <a:pPr algn="ctr">
                        <a:lnSpc>
                          <a:spcPct val="150000"/>
                        </a:lnSpc>
                      </a:pPr>
                      <a:r>
                        <a:rPr lang="en-US">
                          <a:effectLst/>
                        </a:rPr>
                        <a:t>re.X</a:t>
                      </a:r>
                    </a:p>
                  </a:txBody>
                  <a:tcPr marL="190500" marR="190500" marT="28575" marB="28575" anchor="ctr">
                    <a:lnL>
                      <a:noFill/>
                    </a:lnL>
                    <a:lnR>
                      <a:noFill/>
                    </a:lnR>
                    <a:lnT>
                      <a:noFill/>
                    </a:lnT>
                    <a:lnB>
                      <a:noFill/>
                    </a:lnB>
                    <a:solidFill>
                      <a:srgbClr val="E1E1DB"/>
                    </a:solidFill>
                  </a:tcPr>
                </a:tc>
                <a:tc>
                  <a:txBody>
                    <a:bodyPr/>
                    <a:lstStyle/>
                    <a:p>
                      <a:pPr algn="l">
                        <a:lnSpc>
                          <a:spcPct val="150000"/>
                        </a:lnSpc>
                      </a:pPr>
                      <a:r>
                        <a:rPr lang="zh-CN" altLang="en-US" dirty="0">
                          <a:effectLst/>
                        </a:rPr>
                        <a:t>可读模式（</a:t>
                      </a:r>
                      <a:r>
                        <a:rPr lang="en-US" dirty="0">
                          <a:effectLst/>
                        </a:rPr>
                        <a:t>Verbose）。</a:t>
                      </a:r>
                      <a:r>
                        <a:rPr lang="zh-CN" altLang="en-US" dirty="0">
                          <a:effectLst/>
                        </a:rPr>
                        <a:t>允许在正则表达式中添加空白符和注释以提高可读性。</a:t>
                      </a:r>
                    </a:p>
                  </a:txBody>
                  <a:tcPr marL="190500" marR="190500" marT="28575" marB="28575"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2806046980"/>
                  </a:ext>
                </a:extLst>
              </a:tr>
            </a:tbl>
          </a:graphicData>
        </a:graphic>
      </p:graphicFrame>
    </p:spTree>
    <p:extLst>
      <p:ext uri="{BB962C8B-B14F-4D97-AF65-F5344CB8AC3E}">
        <p14:creationId xmlns:p14="http://schemas.microsoft.com/office/powerpoint/2010/main" val="285939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10.5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正则表达式案例</a:t>
            </a:r>
            <a:endParaRPr lang="en-US"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9C7320C3-5651-8004-44BD-97041C609674}"/>
              </a:ext>
            </a:extLst>
          </p:cNvPr>
          <p:cNvPicPr>
            <a:picLocks noChangeAspect="1"/>
          </p:cNvPicPr>
          <p:nvPr/>
        </p:nvPicPr>
        <p:blipFill>
          <a:blip r:embed="rId3"/>
          <a:stretch>
            <a:fillRect/>
          </a:stretch>
        </p:blipFill>
        <p:spPr>
          <a:xfrm>
            <a:off x="1104900" y="1408793"/>
            <a:ext cx="6070600" cy="33147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B20CD2A2-0D99-CD05-FCC4-F087F4D2C1C7}"/>
              </a:ext>
            </a:extLst>
          </p:cNvPr>
          <p:cNvPicPr>
            <a:picLocks noChangeAspect="1"/>
          </p:cNvPicPr>
          <p:nvPr/>
        </p:nvPicPr>
        <p:blipFill>
          <a:blip r:embed="rId4"/>
          <a:stretch>
            <a:fillRect/>
          </a:stretch>
        </p:blipFill>
        <p:spPr>
          <a:xfrm>
            <a:off x="1104900" y="4842329"/>
            <a:ext cx="3429000" cy="14986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D95871A1-3456-1918-C6B5-BC36020E86F0}"/>
              </a:ext>
            </a:extLst>
          </p:cNvPr>
          <p:cNvPicPr>
            <a:picLocks noChangeAspect="1"/>
          </p:cNvPicPr>
          <p:nvPr/>
        </p:nvPicPr>
        <p:blipFill>
          <a:blip r:embed="rId5"/>
          <a:stretch>
            <a:fillRect/>
          </a:stretch>
        </p:blipFill>
        <p:spPr>
          <a:xfrm>
            <a:off x="7772400" y="3673929"/>
            <a:ext cx="2946400" cy="2667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00909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10.5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正则表达式案例</a:t>
            </a:r>
            <a:endParaRPr lang="en-US" dirty="0"/>
          </a:p>
        </p:txBody>
      </p:sp>
      <p:sp>
        <p:nvSpPr>
          <p:cNvPr id="3" name="文本框 2"/>
          <p:cNvSpPr txBox="1"/>
          <p:nvPr/>
        </p:nvSpPr>
        <p:spPr>
          <a:xfrm>
            <a:off x="1106418" y="1600200"/>
            <a:ext cx="9980682" cy="1015663"/>
          </a:xfrm>
          <a:prstGeom prst="rect">
            <a:avLst/>
          </a:prstGeom>
          <a:noFill/>
        </p:spPr>
        <p:txBody>
          <a:bodyPr wrap="square" rtlCol="0">
            <a:spAutoFit/>
          </a:bodyPr>
          <a:lstStyle/>
          <a:p>
            <a:pPr marL="285750" indent="-285750" algn="just">
              <a:buFont typeface="Arial" panose="020B0604020202020204" pitchFamily="34" charset="0"/>
              <a:buChar char="•"/>
            </a:pPr>
            <a:r>
              <a:rPr lang="zh-CN" altLang="zh-CN" sz="2000" dirty="0">
                <a:solidFill>
                  <a:srgbClr val="C00000"/>
                </a:solidFill>
              </a:rPr>
              <a:t>用户名匹配</a:t>
            </a:r>
          </a:p>
          <a:p>
            <a:pPr algn="just"/>
            <a:r>
              <a:rPr lang="en-US" altLang="zh-CN" sz="2000" dirty="0"/>
              <a:t>    </a:t>
            </a:r>
            <a:r>
              <a:rPr lang="zh-CN" altLang="zh-CN" sz="2000" dirty="0">
                <a:latin typeface="SimSun" panose="02010600030101010101" pitchFamily="2" charset="-122"/>
                <a:ea typeface="SimSun" panose="02010600030101010101" pitchFamily="2" charset="-122"/>
              </a:rPr>
              <a:t>常见的用户名规则为任意数字与任意字母（大小写均可）组合，通过构造相应的正则表达式，可以检测输入的字符串是否符合用户名的命名规则。</a:t>
            </a:r>
          </a:p>
        </p:txBody>
      </p:sp>
      <p:pic>
        <p:nvPicPr>
          <p:cNvPr id="4" name="Picture 3">
            <a:extLst>
              <a:ext uri="{FF2B5EF4-FFF2-40B4-BE49-F238E27FC236}">
                <a16:creationId xmlns:a16="http://schemas.microsoft.com/office/drawing/2014/main" id="{6A087ACA-12ED-B189-160F-4FA1713148AA}"/>
              </a:ext>
            </a:extLst>
          </p:cNvPr>
          <p:cNvPicPr>
            <a:picLocks noChangeAspect="1"/>
          </p:cNvPicPr>
          <p:nvPr/>
        </p:nvPicPr>
        <p:blipFill>
          <a:blip r:embed="rId3"/>
          <a:stretch>
            <a:fillRect/>
          </a:stretch>
        </p:blipFill>
        <p:spPr>
          <a:xfrm>
            <a:off x="1467757" y="3350677"/>
            <a:ext cx="4381500" cy="27051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64B6E9B7-4FA5-68D1-2A44-341AF51A4D72}"/>
              </a:ext>
            </a:extLst>
          </p:cNvPr>
          <p:cNvPicPr>
            <a:picLocks noChangeAspect="1"/>
          </p:cNvPicPr>
          <p:nvPr/>
        </p:nvPicPr>
        <p:blipFill>
          <a:blip r:embed="rId4"/>
          <a:stretch>
            <a:fillRect/>
          </a:stretch>
        </p:blipFill>
        <p:spPr>
          <a:xfrm>
            <a:off x="6618516" y="3934362"/>
            <a:ext cx="3124200" cy="1727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96786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10.5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正则表达式案例</a:t>
            </a:r>
            <a:endParaRPr lang="en-US" dirty="0"/>
          </a:p>
        </p:txBody>
      </p:sp>
      <p:sp>
        <p:nvSpPr>
          <p:cNvPr id="3" name="文本框 2"/>
          <p:cNvSpPr txBox="1"/>
          <p:nvPr/>
        </p:nvSpPr>
        <p:spPr>
          <a:xfrm>
            <a:off x="1069147" y="1432810"/>
            <a:ext cx="9980682" cy="836126"/>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zh-CN" altLang="zh-CN" sz="2000" dirty="0">
                <a:solidFill>
                  <a:srgbClr val="C00000"/>
                </a:solidFill>
                <a:latin typeface="宋体" panose="02010600030101010101" pitchFamily="2" charset="-122"/>
                <a:ea typeface="宋体" panose="02010600030101010101" pitchFamily="2" charset="-122"/>
              </a:rPr>
              <a:t>密码匹配</a:t>
            </a:r>
            <a:endParaRPr lang="en-US" altLang="zh-CN" sz="2000" dirty="0">
              <a:solidFill>
                <a:srgbClr val="C00000"/>
              </a:solidFill>
              <a:latin typeface="宋体" panose="02010600030101010101" pitchFamily="2" charset="-122"/>
              <a:ea typeface="宋体" panose="02010600030101010101" pitchFamily="2" charset="-122"/>
            </a:endParaRPr>
          </a:p>
          <a:p>
            <a:pPr algn="just">
              <a:spcBef>
                <a:spcPts val="1000"/>
              </a:spcBef>
            </a:pPr>
            <a:r>
              <a:rPr lang="zh-CN" altLang="en-US" sz="2000" dirty="0">
                <a:latin typeface="宋体" panose="02010600030101010101" pitchFamily="2" charset="-122"/>
                <a:ea typeface="宋体" panose="02010600030101010101" pitchFamily="2" charset="-122"/>
              </a:rPr>
              <a:t>  要求用户的密码至少有</a:t>
            </a:r>
            <a:r>
              <a:rPr lang="en-US" altLang="zh-CN" sz="2000" dirty="0">
                <a:latin typeface="宋体" panose="02010600030101010101" pitchFamily="2" charset="-122"/>
                <a:ea typeface="宋体" panose="02010600030101010101" pitchFamily="2" charset="-122"/>
              </a:rPr>
              <a:t>8</a:t>
            </a:r>
            <a:r>
              <a:rPr lang="zh-CN" altLang="en-US" sz="2000" dirty="0">
                <a:latin typeface="宋体" panose="02010600030101010101" pitchFamily="2" charset="-122"/>
                <a:ea typeface="宋体" panose="02010600030101010101" pitchFamily="2" charset="-122"/>
              </a:rPr>
              <a:t>个字符，并且至少包含</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个大写字母，</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个小写字母和</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个数字。</a:t>
            </a:r>
            <a:endParaRPr lang="zh-CN" altLang="zh-CN" sz="2000" dirty="0">
              <a:latin typeface="宋体" panose="02010600030101010101" pitchFamily="2" charset="-122"/>
              <a:ea typeface="宋体" panose="02010600030101010101" pitchFamily="2" charset="-122"/>
            </a:endParaRPr>
          </a:p>
        </p:txBody>
      </p:sp>
      <p:pic>
        <p:nvPicPr>
          <p:cNvPr id="4" name="Picture 3">
            <a:extLst>
              <a:ext uri="{FF2B5EF4-FFF2-40B4-BE49-F238E27FC236}">
                <a16:creationId xmlns:a16="http://schemas.microsoft.com/office/drawing/2014/main" id="{4AA009FF-6125-3F0F-94E4-1C19B29B059F}"/>
              </a:ext>
            </a:extLst>
          </p:cNvPr>
          <p:cNvPicPr>
            <a:picLocks noChangeAspect="1"/>
          </p:cNvPicPr>
          <p:nvPr/>
        </p:nvPicPr>
        <p:blipFill>
          <a:blip r:embed="rId3"/>
          <a:stretch>
            <a:fillRect/>
          </a:stretch>
        </p:blipFill>
        <p:spPr>
          <a:xfrm>
            <a:off x="891722" y="2643890"/>
            <a:ext cx="5676900" cy="27813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977BF3CC-493C-7A33-3C66-B4FC0034845C}"/>
              </a:ext>
            </a:extLst>
          </p:cNvPr>
          <p:cNvPicPr>
            <a:picLocks noChangeAspect="1"/>
          </p:cNvPicPr>
          <p:nvPr/>
        </p:nvPicPr>
        <p:blipFill>
          <a:blip r:embed="rId4"/>
          <a:stretch>
            <a:fillRect/>
          </a:stretch>
        </p:blipFill>
        <p:spPr>
          <a:xfrm>
            <a:off x="6992257" y="3155043"/>
            <a:ext cx="3810000" cy="2057400"/>
          </a:xfrm>
          <a:prstGeom prst="rect">
            <a:avLst/>
          </a:prstGeom>
        </p:spPr>
      </p:pic>
    </p:spTree>
    <p:extLst>
      <p:ext uri="{BB962C8B-B14F-4D97-AF65-F5344CB8AC3E}">
        <p14:creationId xmlns:p14="http://schemas.microsoft.com/office/powerpoint/2010/main" val="97166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DAA7C-D09D-48D1-AF26-96B19DF56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967F9-5B3E-4FD2-2140-DE6822A443FF}"/>
              </a:ext>
            </a:extLst>
          </p:cNvPr>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10.5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正则表达式案例</a:t>
            </a:r>
            <a:endParaRPr lang="en-US" dirty="0"/>
          </a:p>
        </p:txBody>
      </p:sp>
      <p:sp>
        <p:nvSpPr>
          <p:cNvPr id="3" name="文本框 2">
            <a:extLst>
              <a:ext uri="{FF2B5EF4-FFF2-40B4-BE49-F238E27FC236}">
                <a16:creationId xmlns:a16="http://schemas.microsoft.com/office/drawing/2014/main" id="{CA3AD279-72C0-9CFF-949B-5D8EFF4FBFC6}"/>
              </a:ext>
            </a:extLst>
          </p:cNvPr>
          <p:cNvSpPr txBox="1"/>
          <p:nvPr/>
        </p:nvSpPr>
        <p:spPr>
          <a:xfrm>
            <a:off x="1104900" y="1364155"/>
            <a:ext cx="9980682" cy="2195473"/>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en-US" altLang="zh-CN" sz="2000" dirty="0" err="1">
                <a:solidFill>
                  <a:srgbClr val="C00000"/>
                </a:solidFill>
                <a:latin typeface="宋体" panose="02010600030101010101" pitchFamily="2" charset="-122"/>
                <a:ea typeface="宋体" panose="02010600030101010101" pitchFamily="2" charset="-122"/>
              </a:rPr>
              <a:t>url</a:t>
            </a:r>
            <a:r>
              <a:rPr lang="zh-CN" altLang="zh-CN" sz="2000" dirty="0">
                <a:solidFill>
                  <a:srgbClr val="C00000"/>
                </a:solidFill>
                <a:latin typeface="宋体" panose="02010600030101010101" pitchFamily="2" charset="-122"/>
                <a:ea typeface="宋体" panose="02010600030101010101" pitchFamily="2" charset="-122"/>
              </a:rPr>
              <a:t>匹配</a:t>
            </a:r>
            <a:endParaRPr lang="en-US" altLang="zh-CN" sz="2000" dirty="0">
              <a:solidFill>
                <a:srgbClr val="C00000"/>
              </a:solidFill>
              <a:latin typeface="宋体" panose="02010600030101010101" pitchFamily="2" charset="-122"/>
              <a:ea typeface="宋体" panose="02010600030101010101" pitchFamily="2" charset="-122"/>
            </a:endParaRPr>
          </a:p>
          <a:p>
            <a:pPr algn="just">
              <a:spcBef>
                <a:spcPts val="1000"/>
              </a:spcBef>
            </a:pPr>
            <a:r>
              <a:rPr lang="en-US" altLang="zh-CN" sz="2000" dirty="0">
                <a:latin typeface="SimSun" panose="02010600030101010101" pitchFamily="2" charset="-122"/>
                <a:ea typeface="SimSun" panose="02010600030101010101" pitchFamily="2" charset="-122"/>
              </a:rPr>
              <a:t>    URL</a:t>
            </a:r>
            <a:r>
              <a:rPr lang="zh-CN" altLang="zh-CN" sz="2000" dirty="0">
                <a:latin typeface="SimSun" panose="02010600030101010101" pitchFamily="2" charset="-122"/>
                <a:ea typeface="SimSun" panose="02010600030101010101" pitchFamily="2" charset="-122"/>
              </a:rPr>
              <a:t>可以分为两个部分，以常见的</a:t>
            </a:r>
            <a:r>
              <a:rPr lang="en-US" altLang="zh-CN" sz="2000" dirty="0">
                <a:latin typeface="SimSun" panose="02010600030101010101" pitchFamily="2" charset="-122"/>
                <a:ea typeface="SimSun" panose="02010600030101010101" pitchFamily="2" charset="-122"/>
              </a:rPr>
              <a:t>http</a:t>
            </a:r>
            <a:r>
              <a:rPr lang="zh-CN" altLang="zh-CN" sz="2000" dirty="0">
                <a:latin typeface="SimSun" panose="02010600030101010101" pitchFamily="2" charset="-122"/>
                <a:ea typeface="SimSun" panose="02010600030101010101" pitchFamily="2" charset="-122"/>
              </a:rPr>
              <a:t>协议的</a:t>
            </a:r>
            <a:r>
              <a:rPr lang="en-US" altLang="zh-CN" sz="2000" dirty="0">
                <a:latin typeface="SimSun" panose="02010600030101010101" pitchFamily="2" charset="-122"/>
                <a:ea typeface="SimSun" panose="02010600030101010101" pitchFamily="2" charset="-122"/>
              </a:rPr>
              <a:t>URL</a:t>
            </a:r>
            <a:r>
              <a:rPr lang="zh-CN" altLang="zh-CN" sz="2000" dirty="0">
                <a:latin typeface="SimSun" panose="02010600030101010101" pitchFamily="2" charset="-122"/>
                <a:ea typeface="SimSun" panose="02010600030101010101" pitchFamily="2" charset="-122"/>
              </a:rPr>
              <a:t>为例，第一部分是协议部分即</a:t>
            </a:r>
            <a:r>
              <a:rPr lang="en-US" altLang="zh-CN" sz="2000" dirty="0">
                <a:latin typeface="SimSun" panose="02010600030101010101" pitchFamily="2" charset="-122"/>
                <a:ea typeface="SimSun" panose="02010600030101010101" pitchFamily="2" charset="-122"/>
              </a:rPr>
              <a:t>“http://”</a:t>
            </a:r>
            <a:r>
              <a:rPr lang="zh-CN" altLang="zh-CN" sz="2000" dirty="0">
                <a:latin typeface="SimSun" panose="02010600030101010101" pitchFamily="2" charset="-122"/>
                <a:ea typeface="SimSun" panose="02010600030101010101" pitchFamily="2" charset="-122"/>
              </a:rPr>
              <a:t>；第二部分是域名，可以视为是一个以</a:t>
            </a:r>
            <a:r>
              <a:rPr lang="en-US" altLang="zh-CN" sz="2000" dirty="0">
                <a:latin typeface="SimSun" panose="02010600030101010101" pitchFamily="2" charset="-122"/>
                <a:ea typeface="SimSun" panose="02010600030101010101" pitchFamily="2" charset="-122"/>
              </a:rPr>
              <a:t>“www.”</a:t>
            </a:r>
            <a:r>
              <a:rPr lang="zh-CN" altLang="zh-CN" sz="2000" dirty="0">
                <a:latin typeface="SimSun" panose="02010600030101010101" pitchFamily="2" charset="-122"/>
                <a:ea typeface="SimSun" panose="02010600030101010101" pitchFamily="2" charset="-122"/>
              </a:rPr>
              <a:t>为开头的，中间为任意数字和字母的组合，然后以</a:t>
            </a:r>
            <a:r>
              <a:rPr lang="en-US" altLang="zh-CN" sz="2000" dirty="0">
                <a:latin typeface="SimSun" panose="02010600030101010101" pitchFamily="2" charset="-122"/>
                <a:ea typeface="SimSun" panose="02010600030101010101" pitchFamily="2" charset="-122"/>
              </a:rPr>
              <a:t>“.com”</a:t>
            </a:r>
            <a:r>
              <a:rPr lang="zh-CN" altLang="zh-CN"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a:t>
            </a:r>
            <a:r>
              <a:rPr lang="en-US" altLang="zh-CN" sz="2000" dirty="0" err="1">
                <a:latin typeface="SimSun" panose="02010600030101010101" pitchFamily="2" charset="-122"/>
                <a:ea typeface="SimSun" panose="02010600030101010101" pitchFamily="2" charset="-122"/>
              </a:rPr>
              <a:t>cn</a:t>
            </a:r>
            <a:r>
              <a:rPr lang="en-US" altLang="zh-CN" sz="2000" dirty="0">
                <a:latin typeface="SimSun" panose="02010600030101010101" pitchFamily="2" charset="-122"/>
                <a:ea typeface="SimSun" panose="02010600030101010101" pitchFamily="2" charset="-122"/>
              </a:rPr>
              <a:t>”</a:t>
            </a:r>
            <a:r>
              <a:rPr lang="zh-CN" altLang="zh-CN"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a:t>
            </a:r>
            <a:r>
              <a:rPr lang="en-US" altLang="zh-CN" sz="2000" dirty="0" err="1">
                <a:latin typeface="SimSun" panose="02010600030101010101" pitchFamily="2" charset="-122"/>
                <a:ea typeface="SimSun" panose="02010600030101010101" pitchFamily="2" charset="-122"/>
              </a:rPr>
              <a:t>.net</a:t>
            </a:r>
            <a:r>
              <a:rPr lang="en-US" altLang="zh-CN" sz="2000" dirty="0">
                <a:latin typeface="SimSun" panose="02010600030101010101" pitchFamily="2" charset="-122"/>
                <a:ea typeface="SimSun" panose="02010600030101010101" pitchFamily="2" charset="-122"/>
              </a:rPr>
              <a:t>”</a:t>
            </a:r>
            <a:r>
              <a:rPr lang="zh-CN" altLang="zh-CN" sz="2000" dirty="0">
                <a:latin typeface="SimSun" panose="02010600030101010101" pitchFamily="2" charset="-122"/>
                <a:ea typeface="SimSun" panose="02010600030101010101" pitchFamily="2" charset="-122"/>
              </a:rPr>
              <a:t>结尾的一个字符串，例如</a:t>
            </a:r>
            <a:r>
              <a:rPr lang="en-US" altLang="zh-CN" sz="2000" dirty="0">
                <a:latin typeface="SimSun" panose="02010600030101010101" pitchFamily="2" charset="-122"/>
                <a:ea typeface="SimSun" panose="02010600030101010101" pitchFamily="2" charset="-122"/>
              </a:rPr>
              <a:t>“www.xxxx.com”</a:t>
            </a:r>
            <a:r>
              <a:rPr lang="zh-CN"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可通过以下正则表达式进行匹配</a:t>
            </a:r>
            <a:endParaRPr lang="zh-CN" altLang="zh-CN" sz="2000" dirty="0">
              <a:latin typeface="SimSun" panose="02010600030101010101" pitchFamily="2" charset="-122"/>
              <a:ea typeface="SimSun" panose="02010600030101010101" pitchFamily="2" charset="-122"/>
            </a:endParaRPr>
          </a:p>
          <a:p>
            <a:pPr algn="ctr">
              <a:spcBef>
                <a:spcPts val="1000"/>
              </a:spcBef>
            </a:pPr>
            <a:r>
              <a:rPr lang="en-US" altLang="zh-CN" sz="2000" dirty="0">
                <a:latin typeface="Consolas" panose="020B0609020204030204" pitchFamily="49" charset="0"/>
              </a:rPr>
              <a:t>pattern=r'^(http:)/{2}w{3}\.[a-z0-9A-Z]+\.(</a:t>
            </a:r>
            <a:r>
              <a:rPr lang="en-US" altLang="zh-CN" sz="2000" dirty="0" err="1">
                <a:latin typeface="Consolas" panose="020B0609020204030204" pitchFamily="49" charset="0"/>
              </a:rPr>
              <a:t>com|cn|net</a:t>
            </a:r>
            <a:r>
              <a:rPr lang="en-US" altLang="zh-CN" sz="2000" dirty="0">
                <a:latin typeface="Consolas" panose="020B0609020204030204" pitchFamily="49" charset="0"/>
              </a:rPr>
              <a:t>)'</a:t>
            </a:r>
            <a:endParaRPr lang="zh-CN" altLang="zh-CN" sz="2000" dirty="0">
              <a:latin typeface="Consolas" panose="020B0609020204030204" pitchFamily="49" charset="0"/>
              <a:ea typeface="宋体" panose="02010600030101010101" pitchFamily="2" charset="-122"/>
            </a:endParaRPr>
          </a:p>
        </p:txBody>
      </p:sp>
      <p:pic>
        <p:nvPicPr>
          <p:cNvPr id="4" name="Picture 3">
            <a:extLst>
              <a:ext uri="{FF2B5EF4-FFF2-40B4-BE49-F238E27FC236}">
                <a16:creationId xmlns:a16="http://schemas.microsoft.com/office/drawing/2014/main" id="{80F6C2C9-80DB-2CE4-EC30-C48DB90FDBA4}"/>
              </a:ext>
            </a:extLst>
          </p:cNvPr>
          <p:cNvPicPr>
            <a:picLocks noChangeAspect="1"/>
          </p:cNvPicPr>
          <p:nvPr/>
        </p:nvPicPr>
        <p:blipFill>
          <a:blip r:embed="rId3"/>
          <a:stretch>
            <a:fillRect/>
          </a:stretch>
        </p:blipFill>
        <p:spPr>
          <a:xfrm>
            <a:off x="2962728" y="1364155"/>
            <a:ext cx="7340600" cy="5054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9620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10.5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正则表达式案例</a:t>
            </a:r>
            <a:endParaRPr lang="en-US" dirty="0"/>
          </a:p>
        </p:txBody>
      </p:sp>
      <p:sp>
        <p:nvSpPr>
          <p:cNvPr id="9" name="文本框 8"/>
          <p:cNvSpPr txBox="1"/>
          <p:nvPr/>
        </p:nvSpPr>
        <p:spPr>
          <a:xfrm>
            <a:off x="1104900" y="1405988"/>
            <a:ext cx="9980682" cy="1887696"/>
          </a:xfrm>
          <a:prstGeom prst="rect">
            <a:avLst/>
          </a:prstGeom>
          <a:noFill/>
        </p:spPr>
        <p:txBody>
          <a:bodyPr wrap="square" rtlCol="0">
            <a:spAutoFit/>
          </a:bodyPr>
          <a:lstStyle/>
          <a:p>
            <a:pPr marL="285750" indent="-285750" algn="just">
              <a:spcBef>
                <a:spcPts val="1000"/>
              </a:spcBef>
              <a:buFont typeface="Arial" panose="020B0604020202020204" pitchFamily="34" charset="0"/>
              <a:buChar char="•"/>
            </a:pPr>
            <a:r>
              <a:rPr lang="zh-CN" altLang="en-US" sz="2000" dirty="0">
                <a:solidFill>
                  <a:srgbClr val="C00000"/>
                </a:solidFill>
                <a:latin typeface="宋体" panose="02010600030101010101" pitchFamily="2" charset="-122"/>
                <a:ea typeface="宋体" panose="02010600030101010101" pitchFamily="2" charset="-122"/>
              </a:rPr>
              <a:t>电子邮箱</a:t>
            </a:r>
            <a:r>
              <a:rPr lang="zh-CN" altLang="zh-CN" sz="2000" dirty="0">
                <a:solidFill>
                  <a:srgbClr val="C00000"/>
                </a:solidFill>
                <a:latin typeface="宋体" panose="02010600030101010101" pitchFamily="2" charset="-122"/>
                <a:ea typeface="宋体" panose="02010600030101010101" pitchFamily="2" charset="-122"/>
              </a:rPr>
              <a:t>匹配</a:t>
            </a:r>
            <a:endParaRPr lang="en-US" altLang="zh-CN" sz="2000" dirty="0">
              <a:solidFill>
                <a:srgbClr val="C00000"/>
              </a:solidFill>
              <a:latin typeface="宋体" panose="02010600030101010101" pitchFamily="2" charset="-122"/>
              <a:ea typeface="宋体" panose="02010600030101010101" pitchFamily="2" charset="-122"/>
            </a:endParaRPr>
          </a:p>
          <a:p>
            <a:pPr algn="just">
              <a:spcBef>
                <a:spcPts val="1000"/>
              </a:spcBef>
            </a:pPr>
            <a:r>
              <a:rPr lang="zh-CN" altLang="en-US" sz="2000" dirty="0">
                <a:latin typeface="SimSun" panose="02010600030101010101" pitchFamily="2" charset="-122"/>
                <a:ea typeface="SimSun" panose="02010600030101010101" pitchFamily="2" charset="-122"/>
              </a:rPr>
              <a:t>电子邮箱地址通常由三部分组成，第一部分是用户名，一般由任意数字和字母组成，并且允许使用“</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_”</a:t>
            </a:r>
            <a:r>
              <a:rPr lang="zh-CN" altLang="en-US" sz="2000" dirty="0">
                <a:latin typeface="SimSun" panose="02010600030101010101" pitchFamily="2" charset="-122"/>
                <a:ea typeface="SimSun" panose="02010600030101010101" pitchFamily="2" charset="-122"/>
              </a:rPr>
              <a:t>；第二部分是分隔符“</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；第三部分是邮箱服务器的域名如“</a:t>
            </a:r>
            <a:r>
              <a:rPr lang="en-US" altLang="zh-CN" sz="2000" dirty="0">
                <a:latin typeface="SimSun" panose="02010600030101010101" pitchFamily="2" charset="-122"/>
                <a:ea typeface="SimSun" panose="02010600030101010101" pitchFamily="2" charset="-122"/>
              </a:rPr>
              <a:t>xxx.com”</a:t>
            </a:r>
            <a:r>
              <a:rPr lang="zh-CN" altLang="en-US" sz="2000" dirty="0">
                <a:latin typeface="SimSun" panose="02010600030101010101" pitchFamily="2" charset="-122"/>
                <a:ea typeface="SimSun" panose="02010600030101010101" pitchFamily="2" charset="-122"/>
              </a:rPr>
              <a:t>。可通过以下正则表达式进行匹配</a:t>
            </a:r>
            <a:endParaRPr lang="en-US" altLang="zh-CN" sz="2000" dirty="0">
              <a:latin typeface="SimSun" panose="02010600030101010101" pitchFamily="2" charset="-122"/>
              <a:ea typeface="SimSun" panose="02010600030101010101" pitchFamily="2" charset="-122"/>
            </a:endParaRPr>
          </a:p>
          <a:p>
            <a:pPr algn="ctr">
              <a:spcBef>
                <a:spcPts val="1000"/>
              </a:spcBef>
            </a:pPr>
            <a:r>
              <a:rPr lang="en-US" altLang="zh-CN" sz="2000" dirty="0">
                <a:latin typeface="Consolas" panose="020B0609020204030204" pitchFamily="49" charset="0"/>
              </a:rPr>
              <a:t>pattern='[a-zA-Z0-9_-]+@+[a-z0-9A-Z]+\.(</a:t>
            </a:r>
            <a:r>
              <a:rPr lang="en-US" altLang="zh-CN" sz="2000" dirty="0" err="1">
                <a:latin typeface="Consolas" panose="020B0609020204030204" pitchFamily="49" charset="0"/>
              </a:rPr>
              <a:t>com|cn|net</a:t>
            </a:r>
            <a:r>
              <a:rPr lang="en-US" altLang="zh-CN" sz="2000" dirty="0">
                <a:latin typeface="Consolas" panose="020B0609020204030204" pitchFamily="49" charset="0"/>
              </a:rPr>
              <a:t>)'</a:t>
            </a:r>
            <a:endParaRPr lang="zh-CN" altLang="zh-CN" sz="2000" dirty="0">
              <a:latin typeface="Consolas" panose="020B0609020204030204" pitchFamily="49" charset="0"/>
            </a:endParaRPr>
          </a:p>
        </p:txBody>
      </p:sp>
      <p:pic>
        <p:nvPicPr>
          <p:cNvPr id="4" name="Picture 3">
            <a:extLst>
              <a:ext uri="{FF2B5EF4-FFF2-40B4-BE49-F238E27FC236}">
                <a16:creationId xmlns:a16="http://schemas.microsoft.com/office/drawing/2014/main" id="{6F3627D0-D26C-A46B-0B79-7745B7F12EDE}"/>
              </a:ext>
            </a:extLst>
          </p:cNvPr>
          <p:cNvPicPr>
            <a:picLocks noChangeAspect="1"/>
          </p:cNvPicPr>
          <p:nvPr/>
        </p:nvPicPr>
        <p:blipFill>
          <a:blip r:embed="rId3"/>
          <a:stretch>
            <a:fillRect/>
          </a:stretch>
        </p:blipFill>
        <p:spPr>
          <a:xfrm>
            <a:off x="3117850" y="1405988"/>
            <a:ext cx="6565900" cy="5054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6114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5C079-D54F-C94E-B70B-1F904D0515AC}"/>
              </a:ext>
            </a:extLst>
          </p:cNvPr>
          <p:cNvSpPr>
            <a:spLocks noGrp="1"/>
          </p:cNvSpPr>
          <p:nvPr>
            <p:ph type="title"/>
          </p:nvPr>
        </p:nvSpPr>
        <p:spPr/>
        <p:txBody>
          <a:bodyPr/>
          <a:lstStyle/>
          <a:p>
            <a:r>
              <a:rPr kumimoji="1" lang="zh-TW" altLang="en-US" dirty="0">
                <a:latin typeface="Microsoft YaHei" panose="020B0503020204020204" pitchFamily="34" charset="-122"/>
                <a:ea typeface="Microsoft YaHei" panose="020B0503020204020204" pitchFamily="34" charset="-122"/>
              </a:rPr>
              <a:t>电子邮箱匹配解析</a:t>
            </a:r>
            <a:r>
              <a:rPr kumimoji="1" lang="en-US" altLang="zh-TW" dirty="0">
                <a:latin typeface="Microsoft YaHei" panose="020B0503020204020204" pitchFamily="34" charset="-122"/>
                <a:ea typeface="Microsoft YaHei" panose="020B0503020204020204" pitchFamily="34" charset="-122"/>
              </a:rPr>
              <a:t>II</a:t>
            </a:r>
            <a:endParaRPr kumimoji="1" lang="zh-CN" altLang="en-US"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53072B74-A583-434D-A4BF-DED26EA32E83}"/>
              </a:ext>
            </a:extLst>
          </p:cNvPr>
          <p:cNvPicPr>
            <a:picLocks noChangeAspect="1"/>
          </p:cNvPicPr>
          <p:nvPr/>
        </p:nvPicPr>
        <p:blipFill>
          <a:blip r:embed="rId2"/>
          <a:stretch>
            <a:fillRect/>
          </a:stretch>
        </p:blipFill>
        <p:spPr>
          <a:xfrm>
            <a:off x="2014967" y="1484519"/>
            <a:ext cx="8160547" cy="4147654"/>
          </a:xfrm>
          <a:prstGeom prst="rect">
            <a:avLst/>
          </a:prstGeom>
        </p:spPr>
      </p:pic>
    </p:spTree>
    <p:extLst>
      <p:ext uri="{BB962C8B-B14F-4D97-AF65-F5344CB8AC3E}">
        <p14:creationId xmlns:p14="http://schemas.microsoft.com/office/powerpoint/2010/main" val="355840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2800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BAFF00-647E-4627-9B6C-A5CDC1F32200}">
  <ds:schemaRefs>
    <ds:schemaRef ds:uri="40262f94-9f35-4ac3-9a90-690165a166b7"/>
    <ds:schemaRef ds:uri="http://purl.org/dc/dcmitype/"/>
    <ds:schemaRef ds:uri="http://www.w3.org/XML/1998/namespace"/>
    <ds:schemaRef ds:uri="http://schemas.microsoft.com/office/infopath/2007/PartnerControls"/>
    <ds:schemaRef ds:uri="a4f35948-e619-41b3-aa29-22878b09cfd2"/>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purl.org/dc/elements/1.1/"/>
  </ds:schemaRefs>
</ds:datastoreItem>
</file>

<file path=customXml/itemProps2.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3.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1297</TotalTime>
  <Words>5513</Words>
  <Application>Microsoft Macintosh PowerPoint</Application>
  <PresentationFormat>Widescreen</PresentationFormat>
  <Paragraphs>365</Paragraphs>
  <Slides>63</Slides>
  <Notes>42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63</vt:i4>
      </vt:variant>
    </vt:vector>
  </HeadingPairs>
  <TitlesOfParts>
    <vt:vector size="80" baseType="lpstr">
      <vt:lpstr>-apple-system</vt:lpstr>
      <vt:lpstr>Epilogue</vt:lpstr>
      <vt:lpstr>euclid_circular_a</vt:lpstr>
      <vt:lpstr>Inter</vt:lpstr>
      <vt:lpstr>Microsoft YaHei</vt:lpstr>
      <vt:lpstr>SimSun</vt:lpstr>
      <vt:lpstr>SimSun</vt:lpstr>
      <vt:lpstr>Arial</vt:lpstr>
      <vt:lpstr>Cambria Math</vt:lpstr>
      <vt:lpstr>Consolas</vt:lpstr>
      <vt:lpstr>Courier New</vt:lpstr>
      <vt:lpstr>Euphemia</vt:lpstr>
      <vt:lpstr>Open Sans</vt:lpstr>
      <vt:lpstr>Plantagenet Cherokee</vt:lpstr>
      <vt:lpstr>Times New Roman</vt:lpstr>
      <vt:lpstr>Wingdings</vt:lpstr>
      <vt:lpstr>Academic Literature 16x9</vt:lpstr>
      <vt:lpstr>第10章  文本处理与正则表达式</vt:lpstr>
      <vt:lpstr>教学内容</vt:lpstr>
      <vt:lpstr>10.1 文本处理概述</vt:lpstr>
      <vt:lpstr>10.1.1 文本数据的特点</vt:lpstr>
      <vt:lpstr>10.1.2 文本处理的内涵</vt:lpstr>
      <vt:lpstr>10.2 字符串的函数操作</vt:lpstr>
      <vt:lpstr>1 字符串的函数操作</vt:lpstr>
      <vt:lpstr> 1 字符串的函数操作</vt:lpstr>
      <vt:lpstr>1 字符串的函数操作</vt:lpstr>
      <vt:lpstr>1 字符串的函数操作</vt:lpstr>
      <vt:lpstr>连接函数</vt:lpstr>
      <vt:lpstr>1 字符串的函数操作</vt:lpstr>
      <vt:lpstr>字符串的函数操作</vt:lpstr>
      <vt:lpstr>字符串的函数操作</vt:lpstr>
      <vt:lpstr>字符串的函数操作</vt:lpstr>
      <vt:lpstr>字符串的函数操作</vt:lpstr>
      <vt:lpstr>字符串的函数操作</vt:lpstr>
      <vt:lpstr>PowerPoint Presentation</vt:lpstr>
      <vt:lpstr>Python String Formatting (f-Strings)</vt:lpstr>
      <vt:lpstr>Python String Formatting (f-Strings)</vt:lpstr>
      <vt:lpstr>Python String Formatting (f-Strings)</vt:lpstr>
      <vt:lpstr>10.3 正则表达式</vt:lpstr>
      <vt:lpstr>正则表达式</vt:lpstr>
      <vt:lpstr>字符串匹配</vt:lpstr>
      <vt:lpstr>10.3正则表达式</vt:lpstr>
      <vt:lpstr>PowerPoint Presentation</vt:lpstr>
      <vt:lpstr>10.3 正则表达式</vt:lpstr>
      <vt:lpstr>10.3 正则表达式</vt:lpstr>
      <vt:lpstr>10.3 正则表达式</vt:lpstr>
      <vt:lpstr>PowerPoint Presentation</vt:lpstr>
      <vt:lpstr>PowerPoint Presentation</vt:lpstr>
      <vt:lpstr>10.3.2 懒惰匹配和贪婪匹配  </vt:lpstr>
      <vt:lpstr>10.3.2 懒惰匹配和贪婪匹配 </vt:lpstr>
      <vt:lpstr>10.3.3 分组</vt:lpstr>
      <vt:lpstr>PowerPoint Presentation</vt:lpstr>
      <vt:lpstr>PowerPoint Presentation</vt:lpstr>
      <vt:lpstr> 正则表达式常见示例</vt:lpstr>
      <vt:lpstr>PowerPoint Presentation</vt:lpstr>
      <vt:lpstr>PowerPoint Presentation</vt:lpstr>
      <vt:lpstr>PowerPoint Presentation</vt:lpstr>
      <vt:lpstr>PowerPoint Presentation</vt:lpstr>
      <vt:lpstr>PowerPoint Presentation</vt:lpstr>
      <vt:lpstr>常用正则表达式</vt:lpstr>
      <vt:lpstr>10.4 正则表达式模块</vt:lpstr>
      <vt:lpstr>10.4 Pyhton 的正则表达式模块</vt:lpstr>
      <vt:lpstr>10.4.1 Pyhton 的正则表达式模块: re.match</vt:lpstr>
      <vt:lpstr>10.4.2 Pyhton 的正则表达式模块: re.search</vt:lpstr>
      <vt:lpstr>10.4.2 Pyhton 的正则表达式模块</vt:lpstr>
      <vt:lpstr>10.4.3 Pyhton 的正则表达式模块: re.sub</vt:lpstr>
      <vt:lpstr>10.4.4 Pyhton 的正则表达式模块: re.compile</vt:lpstr>
      <vt:lpstr>10.4.5 Pyhton 的正则表达式模块: re.findall</vt:lpstr>
      <vt:lpstr>10.4.6 Pyhton 的正则表达式模块: re.finditer</vt:lpstr>
      <vt:lpstr>10.4.7 Pyhton 的正则表达式模块: re.split</vt:lpstr>
      <vt:lpstr>10.4.8 Pyhton 的正则表达式模块: match.group</vt:lpstr>
      <vt:lpstr>10.4 Pyhton 的正则表达式模块</vt:lpstr>
      <vt:lpstr>10.4 正则表达式的修饰符</vt:lpstr>
      <vt:lpstr>10.5 正则表达式案例</vt:lpstr>
      <vt:lpstr>10.5 正则表达式案例</vt:lpstr>
      <vt:lpstr>10.5 正则表达式案例</vt:lpstr>
      <vt:lpstr>10.5 正则表达式案例</vt:lpstr>
      <vt:lpstr>10.5 正则表达式案例</vt:lpstr>
      <vt:lpstr>电子邮箱匹配解析II</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Brett</dc:creator>
  <cp:lastModifiedBy>Hao Fan</cp:lastModifiedBy>
  <cp:revision>214</cp:revision>
  <dcterms:created xsi:type="dcterms:W3CDTF">2014-04-17T22:28:38Z</dcterms:created>
  <dcterms:modified xsi:type="dcterms:W3CDTF">2026-02-26T07:40:12Z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