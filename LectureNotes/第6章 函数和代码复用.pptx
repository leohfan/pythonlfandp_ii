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5"/>
  </p:notesMasterIdLst>
  <p:handoutMasterIdLst>
    <p:handoutMasterId r:id="rId76"/>
  </p:handoutMasterIdLst>
  <p:sldIdLst>
    <p:sldId id="256" r:id="rId5"/>
    <p:sldId id="257" r:id="rId6"/>
    <p:sldId id="258" r:id="rId7"/>
    <p:sldId id="269" r:id="rId8"/>
    <p:sldId id="293" r:id="rId9"/>
    <p:sldId id="294" r:id="rId10"/>
    <p:sldId id="271" r:id="rId11"/>
    <p:sldId id="302" r:id="rId12"/>
    <p:sldId id="314" r:id="rId13"/>
    <p:sldId id="315" r:id="rId14"/>
    <p:sldId id="316" r:id="rId15"/>
    <p:sldId id="317" r:id="rId16"/>
    <p:sldId id="318" r:id="rId17"/>
    <p:sldId id="319" r:id="rId18"/>
    <p:sldId id="320" r:id="rId19"/>
    <p:sldId id="321" r:id="rId20"/>
    <p:sldId id="297" r:id="rId21"/>
    <p:sldId id="295" r:id="rId22"/>
    <p:sldId id="272" r:id="rId23"/>
    <p:sldId id="278" r:id="rId24"/>
    <p:sldId id="279" r:id="rId25"/>
    <p:sldId id="280" r:id="rId26"/>
    <p:sldId id="323" r:id="rId27"/>
    <p:sldId id="281" r:id="rId28"/>
    <p:sldId id="324" r:id="rId29"/>
    <p:sldId id="282" r:id="rId30"/>
    <p:sldId id="283" r:id="rId31"/>
    <p:sldId id="296" r:id="rId32"/>
    <p:sldId id="304" r:id="rId33"/>
    <p:sldId id="310" r:id="rId34"/>
    <p:sldId id="325" r:id="rId35"/>
    <p:sldId id="326" r:id="rId36"/>
    <p:sldId id="327" r:id="rId37"/>
    <p:sldId id="305" r:id="rId38"/>
    <p:sldId id="274" r:id="rId39"/>
    <p:sldId id="284" r:id="rId40"/>
    <p:sldId id="311" r:id="rId41"/>
    <p:sldId id="328" r:id="rId42"/>
    <p:sldId id="286" r:id="rId43"/>
    <p:sldId id="285" r:id="rId44"/>
    <p:sldId id="312" r:id="rId45"/>
    <p:sldId id="330" r:id="rId46"/>
    <p:sldId id="331" r:id="rId47"/>
    <p:sldId id="299" r:id="rId48"/>
    <p:sldId id="275" r:id="rId49"/>
    <p:sldId id="303" r:id="rId50"/>
    <p:sldId id="287" r:id="rId51"/>
    <p:sldId id="332" r:id="rId52"/>
    <p:sldId id="313" r:id="rId53"/>
    <p:sldId id="333" r:id="rId54"/>
    <p:sldId id="334" r:id="rId55"/>
    <p:sldId id="335" r:id="rId56"/>
    <p:sldId id="300" r:id="rId57"/>
    <p:sldId id="276" r:id="rId58"/>
    <p:sldId id="288" r:id="rId59"/>
    <p:sldId id="289" r:id="rId60"/>
    <p:sldId id="306" r:id="rId61"/>
    <p:sldId id="307" r:id="rId62"/>
    <p:sldId id="290" r:id="rId63"/>
    <p:sldId id="336" r:id="rId64"/>
    <p:sldId id="301" r:id="rId65"/>
    <p:sldId id="277" r:id="rId66"/>
    <p:sldId id="291" r:id="rId67"/>
    <p:sldId id="337" r:id="rId68"/>
    <p:sldId id="338" r:id="rId69"/>
    <p:sldId id="292" r:id="rId70"/>
    <p:sldId id="339" r:id="rId71"/>
    <p:sldId id="308" r:id="rId72"/>
    <p:sldId id="309" r:id="rId73"/>
    <p:sldId id="270" r:id="rId7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432FF"/>
    <a:srgbClr val="0047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31" autoAdjust="0"/>
    <p:restoredTop sz="94270" autoAdjust="0"/>
  </p:normalViewPr>
  <p:slideViewPr>
    <p:cSldViewPr snapToGrid="0" showGuides="1">
      <p:cViewPr varScale="1">
        <p:scale>
          <a:sx n="123" d="100"/>
          <a:sy n="123" d="100"/>
        </p:scale>
        <p:origin x="192" y="2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92" d="100"/>
          <a:sy n="92" d="100"/>
        </p:scale>
        <p:origin x="373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74" Type="http://schemas.openxmlformats.org/officeDocument/2006/relationships/slide" Target="slides/slide70.xml"/><Relationship Id="rId79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CEAAF3-9831-450B-8D59-2C09DB96C8FC}" type="datetimeFigureOut">
              <a:rPr lang="en-US"/>
              <a:t>2/26/26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834459-7356-44BF-850D-8B30C4FB3B6B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690165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0CD79-FC16-4410-AB61-17F26E6D3BC8}" type="datetimeFigureOut">
              <a:rPr lang="en-US"/>
              <a:t>2/26/26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3C37BE-C303-496D-B5CD-85F2937540F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508422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cs typeface="Arial" pitchFamily="34" charset="0"/>
              </a:rPr>
              <a:t>NOTE: </a:t>
            </a:r>
            <a:r>
              <a:rPr lang="en-US" sz="1200" dirty="0">
                <a:cs typeface="Arial" pitchFamily="34" charset="0"/>
              </a:rPr>
              <a:t>Want a different image on this slide? Select the picture and delete it. Now click the Pictures icon in the placeholder to insert your own image.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5511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805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0688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0215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8184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111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在使用函数时，只要按照函数定义的形式向函数传递必需的参数，就可以调用函数完成所需功能。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4327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在使用函数时，只要按照函数定义的形式向函数传递必需的参数，就可以调用函数完成所需功能。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68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D3F1-361C-FDC6-146F-6B5E409BB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2684E2-6436-315F-36E4-D19074F34E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F97030-0E09-B7E7-775D-8DF2AFD8B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A45B7F-F514-A6D4-4B60-700A3B8288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0439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43513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1760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801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0951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416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5073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538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13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4221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3320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383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797902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8889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2967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3329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553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981942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998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6524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2178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9737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27988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8766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330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3264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0830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377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Euphem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1013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0094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55398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835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9332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11" name="Picture 10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756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BD9AE7-B410-0F41-9CF1-7EB2080B684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7" cy="96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76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Straight Connector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anchor="ctr">
            <a:normAutofit/>
          </a:bodyPr>
          <a:lstStyle>
            <a:lvl1pPr algn="l">
              <a:defRPr sz="4400" cap="all" baseline="0"/>
            </a:lvl1pPr>
          </a:lstStyle>
          <a:p>
            <a:r>
              <a:t>Click to edit Master title style</a:t>
            </a:r>
          </a:p>
        </p:txBody>
      </p:sp>
      <p:sp>
        <p:nvSpPr>
          <p:cNvPr id="11" name="Picture Placeholder 10" title="An empty placeholder to add an image. Click on the placeholder and select the image that you wish to add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/>
          <a:lstStyle>
            <a:lvl1pPr marL="0" indent="0" algn="ctr">
              <a:buNone/>
              <a:defRPr/>
            </a:lvl1pPr>
          </a:lstStyle>
          <a:p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pic>
        <p:nvPicPr>
          <p:cNvPr id="10" name="Picture 9" title="Ribbon tab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943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 title="Ribbon tab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7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779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2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71016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111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0E5311-D21D-0F4C-8247-28A53E0B0D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16510" y="150927"/>
            <a:ext cx="965037" cy="96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16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9764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 title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>
            <a:normAutofit/>
          </a:bodyPr>
          <a:lstStyle>
            <a:lvl1pPr marL="0" indent="0">
              <a:spcBef>
                <a:spcPts val="120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9637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2076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 smtClean="0"/>
              <a:t>2/26/26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grpSp>
        <p:nvGrpSpPr>
          <p:cNvPr id="7" name="Group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Straight Connector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4592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 level</a:t>
            </a:r>
          </a:p>
          <a:p>
            <a:pPr lvl="6"/>
            <a:r>
              <a:t>Seventh level</a:t>
            </a:r>
          </a:p>
          <a:p>
            <a:pPr lvl="7"/>
            <a:r>
              <a:t>Eighth level</a:t>
            </a:r>
          </a:p>
          <a:p>
            <a:pPr lvl="8"/>
            <a:r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402B9795-92DC-40DC-A1CA-9A4B349D7824}" type="datetimeFigureOut">
              <a:rPr lang="en-US" smtClean="0"/>
              <a:pPr/>
              <a:t>2/26/26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fld id="{0FF54DE5-C571-48E8-A5BC-B369434E2F44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Group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Straight Connector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1FD7FC35-76A9-A241-ACA0-06E04C76B338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616510" y="150927"/>
            <a:ext cx="965037" cy="96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251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#623-&#24207;&#21015;&#21644;&#38598;&#21512;&#30456;&#20851;&#20989;&#25968;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#623-&#24207;&#21015;&#21644;&#38598;&#21512;&#30456;&#20851;&#20989;&#25968;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#623-&#24207;&#21015;&#21644;&#38598;&#21512;&#30456;&#20851;&#20989;&#25968;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hyperlink" Target="#633-&#20989;&#25968;&#30340;&#23884;&#22871;&#20351;&#29992;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#3&#38381;&#21253;closure"/><Relationship Id="rId2" Type="http://schemas.openxmlformats.org/officeDocument/2006/relationships/hyperlink" Target="#633-&#20989;&#25968;&#30340;&#23884;&#22871;&#20351;&#29992;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#5&#22238;&#35843;&#20989;&#25968;callback-function"/><Relationship Id="rId2" Type="http://schemas.openxmlformats.org/officeDocument/2006/relationships/hyperlink" Target="#633-&#20989;&#25968;&#30340;&#23884;&#22871;&#20351;&#29992;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hyperlink" Target="#3nonlocal&#20851;&#38190;&#23383;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hyperlink" Target="#3nonlocal&#20851;&#38190;&#23383;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3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hyperlink" Target="#652-&#36882;&#24402;&#19982;&#24490;&#29615;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hyperlink" Target="#2&#23548;&#20837;&#27169;&#22359;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hyperlink" Target="#662-&#27169;&#22359;&#30340;&#20869;&#32622;&#23646;&#24615;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3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962787" y="2292093"/>
            <a:ext cx="5734050" cy="2219691"/>
          </a:xfrm>
        </p:spPr>
        <p:txBody>
          <a:bodyPr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/>
              <a:t>第</a:t>
            </a:r>
            <a:r>
              <a:rPr lang="en-US" altLang="zh-CN" dirty="0"/>
              <a:t>6</a:t>
            </a:r>
            <a:r>
              <a:rPr lang="zh-CN" altLang="en-US" b="1" dirty="0"/>
              <a:t>章</a:t>
            </a:r>
            <a:br>
              <a:rPr lang="en-US" altLang="zh-CN" dirty="0"/>
            </a:br>
            <a:r>
              <a:rPr lang="zh-CN" altLang="en-US" dirty="0"/>
              <a:t>函数和代码复用</a:t>
            </a:r>
            <a:endParaRPr lang="en-US" dirty="0"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4" name="Picture Placeholder 3" title="Open book on table, blurred books in background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>
              <a:lnSpc>
                <a:spcPct val="150000"/>
              </a:lnSpc>
            </a:pPr>
            <a:r>
              <a:rPr lang="en-US" altLang="zh-CN" dirty="0"/>
              <a:t>Python</a:t>
            </a:r>
            <a:r>
              <a:rPr lang="zh-TW" altLang="en-US" dirty="0"/>
              <a:t>课程组</a:t>
            </a:r>
            <a:endParaRPr lang="en-US" altLang="zh-TW" dirty="0"/>
          </a:p>
          <a:p>
            <a:pPr algn="r">
              <a:lnSpc>
                <a:spcPct val="150000"/>
              </a:lnSpc>
            </a:pPr>
            <a:r>
              <a:rPr lang="zh-TW" altLang="en-US" dirty="0"/>
              <a:t>武汉大学信息管理学院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2133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教学内容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5.1 </a:t>
            </a:r>
            <a:r>
              <a:rPr lang="zh-CN" altLang="en-US" dirty="0"/>
              <a:t>函数的定义与调用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5.2 </a:t>
            </a:r>
            <a:r>
              <a:rPr lang="zh-CN" altLang="en-US" dirty="0"/>
              <a:t>函数的参数与返回值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5.3 </a:t>
            </a:r>
            <a:r>
              <a:rPr lang="zh-CN" altLang="en-US" dirty="0"/>
              <a:t>变量作用域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5.4 </a:t>
            </a:r>
            <a:r>
              <a:rPr lang="zh-CN" altLang="en-US" dirty="0"/>
              <a:t>匿名函数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5.5 </a:t>
            </a:r>
            <a:r>
              <a:rPr lang="zh-CN" altLang="en-US" dirty="0"/>
              <a:t>函数递归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5.6 Python</a:t>
            </a:r>
            <a:r>
              <a:rPr lang="zh-CN" altLang="en-US" dirty="0"/>
              <a:t>模块</a:t>
            </a:r>
            <a:endParaRPr lang="en-US" altLang="zh-CN" dirty="0"/>
          </a:p>
        </p:txBody>
      </p:sp>
      <p:pic>
        <p:nvPicPr>
          <p:cNvPr id="4" name="Picture Placeholder 4" title="Closeup of books on shelves">
            <a:extLst>
              <a:ext uri="{FF2B5EF4-FFF2-40B4-BE49-F238E27FC236}">
                <a16:creationId xmlns:a16="http://schemas.microsoft.com/office/drawing/2014/main" id="{A7B9D51A-E845-4537-A914-AAE371E3F2C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54671" y="1600199"/>
            <a:ext cx="6430912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55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10096500" cy="1734474"/>
          </a:xfrm>
        </p:spPr>
        <p:txBody>
          <a:bodyPr/>
          <a:lstStyle/>
          <a:p>
            <a:pPr algn="ctr"/>
            <a:r>
              <a:rPr lang="en-US" altLang="zh-CN" dirty="0"/>
              <a:t>5.1 </a:t>
            </a:r>
            <a:r>
              <a:rPr lang="zh-CN" altLang="en-US" dirty="0"/>
              <a:t>函数的定义与调用</a:t>
            </a:r>
          </a:p>
        </p:txBody>
      </p:sp>
    </p:spTree>
    <p:extLst>
      <p:ext uri="{BB962C8B-B14F-4D97-AF65-F5344CB8AC3E}">
        <p14:creationId xmlns:p14="http://schemas.microsoft.com/office/powerpoint/2010/main" val="2397816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函数的定义与调用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19909" y="1600200"/>
            <a:ext cx="9982200" cy="5025887"/>
          </a:xfrm>
        </p:spPr>
        <p:txBody>
          <a:bodyPr>
            <a:normAutofit/>
          </a:bodyPr>
          <a:lstStyle/>
          <a:p>
            <a:r>
              <a:rPr lang="zh-CN" altLang="zh-CN" dirty="0">
                <a:solidFill>
                  <a:srgbClr val="FF0000"/>
                </a:solidFill>
              </a:rPr>
              <a:t>函数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2000" dirty="0"/>
              <a:t>是一组可以</a:t>
            </a:r>
            <a:r>
              <a:rPr lang="zh-CN" altLang="zh-CN" sz="2000" dirty="0">
                <a:solidFill>
                  <a:srgbClr val="FF0000"/>
                </a:solidFill>
              </a:rPr>
              <a:t>被重复使用的代码的集合</a:t>
            </a:r>
            <a:r>
              <a:rPr lang="zh-CN" altLang="en-US" sz="2000" dirty="0">
                <a:solidFill>
                  <a:srgbClr val="FF0000"/>
                </a:solidFill>
              </a:rPr>
              <a:t>。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zh-CN" sz="2000" dirty="0">
                <a:solidFill>
                  <a:srgbClr val="FF0000"/>
                </a:solidFill>
              </a:rPr>
              <a:t>是完成特定功能的代码片段</a:t>
            </a:r>
            <a:r>
              <a:rPr lang="zh-CN" altLang="zh-CN" sz="2000" dirty="0"/>
              <a:t>，</a:t>
            </a:r>
            <a:r>
              <a:rPr lang="zh-CN" altLang="en-US" sz="2000" dirty="0"/>
              <a:t>通过调用函数名来完成语句的功能。</a:t>
            </a:r>
            <a:endParaRPr lang="en-US" altLang="zh-CN" sz="2000" dirty="0"/>
          </a:p>
          <a:p>
            <a:r>
              <a:rPr lang="zh-CN" altLang="en-US" dirty="0"/>
              <a:t>完整的函数是由</a:t>
            </a:r>
            <a:r>
              <a:rPr lang="zh-CN" altLang="en-US" dirty="0">
                <a:solidFill>
                  <a:srgbClr val="FF0000"/>
                </a:solidFill>
              </a:rPr>
              <a:t>函数名、参数列表及函数语句</a:t>
            </a:r>
            <a:r>
              <a:rPr lang="zh-CN" altLang="en-US" dirty="0"/>
              <a:t>组成的。</a:t>
            </a:r>
            <a:endParaRPr lang="en-US" altLang="zh-CN" dirty="0"/>
          </a:p>
          <a:p>
            <a:r>
              <a:rPr lang="zh-CN" altLang="en-US" dirty="0"/>
              <a:t>函数的分类：</a:t>
            </a:r>
            <a:endParaRPr lang="en-US" altLang="zh-CN" dirty="0"/>
          </a:p>
          <a:p>
            <a:pPr marL="800100" lvl="2" indent="-342900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自定义函数</a:t>
            </a:r>
            <a:r>
              <a:rPr lang="zh-CN" altLang="en-US" sz="2000" dirty="0"/>
              <a:t>：用户自己定义、自己编写的。</a:t>
            </a:r>
            <a:endParaRPr lang="en-US" altLang="zh-CN" sz="2000" dirty="0"/>
          </a:p>
          <a:p>
            <a:pPr marL="800100" lvl="2" indent="-342900">
              <a:lnSpc>
                <a:spcPct val="150000"/>
              </a:lnSpc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系统内置函数</a:t>
            </a:r>
            <a:r>
              <a:rPr lang="zh-CN" altLang="en-US" sz="2000" dirty="0"/>
              <a:t>：输出函数</a:t>
            </a:r>
            <a:r>
              <a:rPr lang="en-US" altLang="zh-CN" sz="2000" dirty="0"/>
              <a:t>print()</a:t>
            </a:r>
            <a:r>
              <a:rPr lang="zh-CN" altLang="en-US" sz="2000" dirty="0"/>
              <a:t>、输入函数</a:t>
            </a:r>
            <a:r>
              <a:rPr lang="en-US" altLang="zh-CN" sz="2000" dirty="0"/>
              <a:t>input()</a:t>
            </a:r>
            <a:r>
              <a:rPr lang="zh-CN" altLang="en-US" sz="2000" dirty="0"/>
              <a:t>、返回表达式结果函数</a:t>
            </a:r>
            <a:r>
              <a:rPr lang="en-US" altLang="zh-CN" sz="2000" dirty="0"/>
              <a:t>eval()</a:t>
            </a:r>
            <a:r>
              <a:rPr lang="zh-CN" altLang="en-US" sz="2000" dirty="0"/>
              <a:t>、数学运算函数（如</a:t>
            </a:r>
            <a:r>
              <a:rPr lang="en-US" altLang="zh-CN" sz="2000" dirty="0"/>
              <a:t>abs()</a:t>
            </a:r>
            <a:r>
              <a:rPr lang="zh-CN" altLang="en-US" sz="2000" dirty="0"/>
              <a:t>、</a:t>
            </a:r>
            <a:r>
              <a:rPr lang="en-US" altLang="zh-CN" sz="2000" dirty="0"/>
              <a:t>max()</a:t>
            </a:r>
            <a:r>
              <a:rPr lang="zh-CN" altLang="en-US" sz="2000" dirty="0"/>
              <a:t>、</a:t>
            </a:r>
            <a:r>
              <a:rPr lang="en-US" altLang="zh-CN" sz="2000" dirty="0"/>
              <a:t>min()</a:t>
            </a:r>
            <a:r>
              <a:rPr lang="zh-CN" altLang="en-US" sz="2000" dirty="0"/>
              <a:t>）、转换函数（如</a:t>
            </a:r>
            <a:r>
              <a:rPr lang="en-US" altLang="zh-CN" sz="2000" dirty="0"/>
              <a:t>int()</a:t>
            </a:r>
            <a:r>
              <a:rPr lang="zh-CN" altLang="en-US" sz="2000" dirty="0"/>
              <a:t>、</a:t>
            </a:r>
            <a:r>
              <a:rPr lang="en-US" altLang="zh-CN" sz="2000" dirty="0"/>
              <a:t>list()</a:t>
            </a:r>
            <a:r>
              <a:rPr lang="zh-CN" altLang="en-US" sz="2000" dirty="0"/>
              <a:t>）、序列操作函数（如</a:t>
            </a:r>
            <a:r>
              <a:rPr lang="en-US" altLang="zh-CN" sz="2000" dirty="0"/>
              <a:t>range()</a:t>
            </a:r>
            <a:r>
              <a:rPr lang="zh-CN" altLang="en-US" sz="2000" dirty="0"/>
              <a:t>、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()</a:t>
            </a:r>
            <a:r>
              <a:rPr lang="zh-CN" altLang="en-US" sz="2000" dirty="0"/>
              <a:t>）、系统操作函数（如</a:t>
            </a:r>
            <a:r>
              <a:rPr lang="en-US" altLang="zh-CN" sz="2000" dirty="0"/>
              <a:t>hash()</a:t>
            </a:r>
            <a:r>
              <a:rPr lang="zh-CN" altLang="en-US" sz="2000" dirty="0"/>
              <a:t>）等。</a:t>
            </a:r>
            <a:endParaRPr lang="en-US" altLang="zh-CN" sz="20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endParaRPr lang="en-US" altLang="zh-CN" sz="20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100" y="102107"/>
            <a:ext cx="3848101" cy="2142109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15" name="组合 14"/>
          <p:cNvGrpSpPr/>
          <p:nvPr/>
        </p:nvGrpSpPr>
        <p:grpSpPr>
          <a:xfrm>
            <a:off x="7460066" y="2244216"/>
            <a:ext cx="4423327" cy="1424486"/>
            <a:chOff x="7460066" y="2244216"/>
            <a:chExt cx="4423327" cy="1424486"/>
          </a:xfrm>
        </p:grpSpPr>
        <p:grpSp>
          <p:nvGrpSpPr>
            <p:cNvPr id="7" name="组合 6"/>
            <p:cNvGrpSpPr/>
            <p:nvPr/>
          </p:nvGrpSpPr>
          <p:grpSpPr>
            <a:xfrm>
              <a:off x="7460066" y="2653039"/>
              <a:ext cx="4423327" cy="1015663"/>
              <a:chOff x="7460066" y="2653039"/>
              <a:chExt cx="4423327" cy="1015663"/>
            </a:xfrm>
          </p:grpSpPr>
          <p:sp>
            <p:nvSpPr>
              <p:cNvPr id="3" name="文本框 2"/>
              <p:cNvSpPr txBox="1"/>
              <p:nvPr/>
            </p:nvSpPr>
            <p:spPr>
              <a:xfrm>
                <a:off x="7952509" y="2653039"/>
                <a:ext cx="3930884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/>
                  <a:t>函数名：“把 </a:t>
                </a:r>
                <a:r>
                  <a:rPr lang="en-US" altLang="zh-CN" sz="2000" b="1" dirty="0" err="1"/>
                  <a:t>sth</a:t>
                </a:r>
                <a:r>
                  <a:rPr lang="en-US" altLang="zh-CN" sz="2000" b="1" dirty="0"/>
                  <a:t> </a:t>
                </a:r>
                <a:r>
                  <a:rPr lang="zh-CN" altLang="en-US" sz="2000" b="1" dirty="0"/>
                  <a:t>放进冰箱里”</a:t>
                </a:r>
                <a:endParaRPr lang="en-US" altLang="zh-CN" sz="2000" b="1" dirty="0"/>
              </a:p>
              <a:p>
                <a:r>
                  <a:rPr lang="zh-CN" altLang="en-US" sz="2000" b="1" dirty="0"/>
                  <a:t>参数列表：</a:t>
                </a:r>
                <a:r>
                  <a:rPr lang="en-US" altLang="zh-CN" sz="2000" b="1" dirty="0" err="1"/>
                  <a:t>sth</a:t>
                </a:r>
                <a:endParaRPr lang="en-US" altLang="zh-CN" sz="2000" b="1" dirty="0"/>
              </a:p>
              <a:p>
                <a:r>
                  <a:rPr lang="zh-CN" altLang="en-US" sz="2000" b="1" dirty="0"/>
                  <a:t>函数语句：</a:t>
                </a:r>
                <a:r>
                  <a:rPr lang="zh-CN" altLang="en-US" sz="2000" b="1" dirty="0">
                    <a:latin typeface="仿宋" panose="02010609060101010101" pitchFamily="49" charset="-122"/>
                    <a:ea typeface="仿宋" panose="02010609060101010101" pitchFamily="49" charset="-122"/>
                  </a:rPr>
                  <a:t>①、②、③</a:t>
                </a:r>
                <a:endParaRPr lang="zh-CN" altLang="en-US" sz="2000" b="1" dirty="0"/>
              </a:p>
            </p:txBody>
          </p:sp>
          <p:sp>
            <p:nvSpPr>
              <p:cNvPr id="6" name="文本框 5"/>
              <p:cNvSpPr txBox="1"/>
              <p:nvPr/>
            </p:nvSpPr>
            <p:spPr>
              <a:xfrm>
                <a:off x="7460066" y="2745371"/>
                <a:ext cx="49244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0432FF"/>
                    </a:solidFill>
                    <a:latin typeface="华文琥珀" panose="02010800040101010101" pitchFamily="2" charset="-122"/>
                    <a:ea typeface="华文琥珀" panose="02010800040101010101" pitchFamily="2" charset="-122"/>
                  </a:rPr>
                  <a:t>定</a:t>
                </a:r>
                <a:endParaRPr lang="en-US" altLang="zh-CN" sz="2400" dirty="0">
                  <a:solidFill>
                    <a:srgbClr val="0432FF"/>
                  </a:solidFill>
                  <a:latin typeface="华文琥珀" panose="02010800040101010101" pitchFamily="2" charset="-122"/>
                  <a:ea typeface="华文琥珀" panose="02010800040101010101" pitchFamily="2" charset="-122"/>
                </a:endParaRPr>
              </a:p>
              <a:p>
                <a:r>
                  <a:rPr lang="zh-CN" altLang="en-US" sz="2400" dirty="0">
                    <a:solidFill>
                      <a:srgbClr val="0432FF"/>
                    </a:solidFill>
                    <a:latin typeface="华文琥珀" panose="02010800040101010101" pitchFamily="2" charset="-122"/>
                    <a:ea typeface="华文琥珀" panose="02010800040101010101" pitchFamily="2" charset="-122"/>
                  </a:rPr>
                  <a:t>义</a:t>
                </a:r>
              </a:p>
            </p:txBody>
          </p:sp>
        </p:grpSp>
        <p:sp>
          <p:nvSpPr>
            <p:cNvPr id="8" name="下箭头 7"/>
            <p:cNvSpPr/>
            <p:nvPr/>
          </p:nvSpPr>
          <p:spPr>
            <a:xfrm>
              <a:off x="9504218" y="2244216"/>
              <a:ext cx="295564" cy="408823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8618" y="1505132"/>
            <a:ext cx="1116445" cy="621488"/>
          </a:xfrm>
          <a:prstGeom prst="rect">
            <a:avLst/>
          </a:prstGeom>
          <a:effectLst>
            <a:softEdge rad="63500"/>
          </a:effectLst>
        </p:spPr>
      </p:pic>
      <p:grpSp>
        <p:nvGrpSpPr>
          <p:cNvPr id="16" name="组合 15"/>
          <p:cNvGrpSpPr/>
          <p:nvPr/>
        </p:nvGrpSpPr>
        <p:grpSpPr>
          <a:xfrm>
            <a:off x="7460066" y="3705878"/>
            <a:ext cx="3708645" cy="2920209"/>
            <a:chOff x="7460066" y="3705878"/>
            <a:chExt cx="3708645" cy="2920209"/>
          </a:xfrm>
        </p:grpSpPr>
        <p:sp>
          <p:nvSpPr>
            <p:cNvPr id="9" name="下箭头 8"/>
            <p:cNvSpPr/>
            <p:nvPr/>
          </p:nvSpPr>
          <p:spPr>
            <a:xfrm rot="10800000">
              <a:off x="9409851" y="3705878"/>
              <a:ext cx="368120" cy="2136600"/>
            </a:xfrm>
            <a:prstGeom prst="downArrow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" name="组合 9"/>
            <p:cNvGrpSpPr/>
            <p:nvPr/>
          </p:nvGrpSpPr>
          <p:grpSpPr>
            <a:xfrm>
              <a:off x="7460066" y="5610424"/>
              <a:ext cx="3708645" cy="1015663"/>
              <a:chOff x="7460066" y="2761914"/>
              <a:chExt cx="674170" cy="1015663"/>
            </a:xfrm>
          </p:grpSpPr>
          <p:sp>
            <p:nvSpPr>
              <p:cNvPr id="11" name="文本框 10"/>
              <p:cNvSpPr txBox="1"/>
              <p:nvPr/>
            </p:nvSpPr>
            <p:spPr>
              <a:xfrm>
                <a:off x="7561691" y="2761914"/>
                <a:ext cx="572545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000" b="1" dirty="0"/>
                  <a:t>……</a:t>
                </a:r>
              </a:p>
              <a:p>
                <a:r>
                  <a:rPr lang="zh-CN" altLang="en-US" sz="2000" b="1" dirty="0"/>
                  <a:t>把</a:t>
                </a:r>
                <a:r>
                  <a:rPr lang="en-US" altLang="zh-CN" sz="2000" b="1" dirty="0"/>
                  <a:t>(</a:t>
                </a:r>
                <a:r>
                  <a:rPr lang="zh-CN" altLang="en-US" sz="2000" b="1" dirty="0"/>
                  <a:t>大象</a:t>
                </a:r>
                <a:r>
                  <a:rPr lang="en-US" altLang="zh-CN" sz="2000" b="1" dirty="0"/>
                  <a:t>)</a:t>
                </a:r>
                <a:r>
                  <a:rPr lang="zh-CN" altLang="en-US" sz="2000" b="1" dirty="0"/>
                  <a:t>放进冰箱里</a:t>
                </a:r>
                <a:endParaRPr lang="en-US" altLang="zh-CN" sz="2000" b="1" dirty="0"/>
              </a:p>
              <a:p>
                <a:r>
                  <a:rPr lang="en-US" altLang="zh-CN" sz="2000" b="1" dirty="0"/>
                  <a:t>……</a:t>
                </a:r>
                <a:endParaRPr lang="zh-CN" altLang="en-US" sz="2000" b="1" dirty="0"/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7460066" y="2828497"/>
                <a:ext cx="49244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0432FF"/>
                    </a:solidFill>
                    <a:latin typeface="华文琥珀" panose="02010800040101010101" pitchFamily="2" charset="-122"/>
                    <a:ea typeface="华文琥珀" panose="02010800040101010101" pitchFamily="2" charset="-122"/>
                  </a:rPr>
                  <a:t>调</a:t>
                </a:r>
                <a:endParaRPr lang="en-US" altLang="zh-CN" sz="2400" dirty="0">
                  <a:solidFill>
                    <a:srgbClr val="0432FF"/>
                  </a:solidFill>
                  <a:latin typeface="华文琥珀" panose="02010800040101010101" pitchFamily="2" charset="-122"/>
                  <a:ea typeface="华文琥珀" panose="02010800040101010101" pitchFamily="2" charset="-122"/>
                </a:endParaRPr>
              </a:p>
              <a:p>
                <a:r>
                  <a:rPr lang="zh-CN" altLang="en-US" sz="2400" dirty="0">
                    <a:solidFill>
                      <a:srgbClr val="0432FF"/>
                    </a:solidFill>
                    <a:latin typeface="华文琥珀" panose="02010800040101010101" pitchFamily="2" charset="-122"/>
                    <a:ea typeface="华文琥珀" panose="02010800040101010101" pitchFamily="2" charset="-122"/>
                  </a:rPr>
                  <a:t>用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3113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-4.81481E-6 L -0.01484 0.62408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42" y="31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5.1.1 </a:t>
            </a:r>
            <a:r>
              <a:rPr lang="zh-CN" altLang="en-US" dirty="0"/>
              <a:t>函数的定义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b="1" dirty="0"/>
              <a:t>自定义函数的一般形式</a:t>
            </a:r>
            <a:r>
              <a:rPr lang="zh-CN" altLang="en-US" dirty="0"/>
              <a:t>：</a:t>
            </a:r>
          </a:p>
          <a:p>
            <a:pPr marL="2743200" lvl="6" indent="0">
              <a:buNone/>
            </a:pPr>
            <a:endParaRPr lang="en-US" altLang="zh-CN" sz="2000" dirty="0">
              <a:solidFill>
                <a:srgbClr val="FF0000"/>
              </a:solidFill>
            </a:endParaRPr>
          </a:p>
          <a:p>
            <a:pPr marL="2743200" lvl="6" indent="0"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def  </a:t>
            </a:r>
            <a:r>
              <a:rPr lang="zh-CN" altLang="en-US" sz="2000" dirty="0"/>
              <a:t>函数名（参数列表）</a:t>
            </a:r>
            <a:r>
              <a:rPr lang="zh-CN" altLang="en-US" sz="2000" dirty="0">
                <a:solidFill>
                  <a:srgbClr val="FF0000"/>
                </a:solidFill>
              </a:rPr>
              <a:t>：</a:t>
            </a:r>
          </a:p>
          <a:p>
            <a:pPr marL="2743200" lvl="6" indent="0">
              <a:buNone/>
            </a:pPr>
            <a:r>
              <a:rPr lang="en-US" altLang="zh-CN" sz="2000" dirty="0"/>
              <a:t>     </a:t>
            </a:r>
            <a:r>
              <a:rPr lang="zh-CN" altLang="en-US" sz="2000" dirty="0"/>
              <a:t>函数语句</a:t>
            </a:r>
          </a:p>
          <a:p>
            <a:pPr marL="2743200" lvl="6" indent="0">
              <a:buNone/>
            </a:pPr>
            <a:r>
              <a:rPr lang="en-US" altLang="zh-CN" sz="2000" dirty="0"/>
              <a:t>     </a:t>
            </a:r>
            <a:r>
              <a:rPr lang="en-US" altLang="zh-CN" sz="2000" dirty="0">
                <a:solidFill>
                  <a:srgbClr val="FF0000"/>
                </a:solidFill>
              </a:rPr>
              <a:t>return  </a:t>
            </a:r>
            <a:r>
              <a:rPr lang="zh-CN" altLang="en-US" sz="2000" dirty="0"/>
              <a:t>返回值</a:t>
            </a:r>
            <a:endParaRPr lang="en-US" altLang="zh-CN" sz="2000" dirty="0"/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F9664AC7-FD20-4CDB-96A7-25414FFC7CF2}"/>
              </a:ext>
            </a:extLst>
          </p:cNvPr>
          <p:cNvSpPr/>
          <p:nvPr/>
        </p:nvSpPr>
        <p:spPr>
          <a:xfrm>
            <a:off x="483331" y="2102508"/>
            <a:ext cx="2644726" cy="834656"/>
          </a:xfrm>
          <a:prstGeom prst="wedgeRoundRectCallout">
            <a:avLst>
              <a:gd name="adj1" fmla="val 75530"/>
              <a:gd name="adj2" fmla="val -1593"/>
              <a:gd name="adj3" fmla="val 16667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zh-CN" dirty="0"/>
              <a:t>由保留字“</a:t>
            </a:r>
            <a:r>
              <a:rPr lang="en-US" altLang="zh-CN" dirty="0"/>
              <a:t>def</a:t>
            </a:r>
            <a:r>
              <a:rPr lang="zh-CN" altLang="zh-CN" dirty="0"/>
              <a:t>”引入函数</a:t>
            </a:r>
            <a:endParaRPr lang="zh-CN" altLang="en-US" dirty="0"/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04C0A12F-C197-4286-A50E-0A6D6932A158}"/>
              </a:ext>
            </a:extLst>
          </p:cNvPr>
          <p:cNvSpPr/>
          <p:nvPr/>
        </p:nvSpPr>
        <p:spPr>
          <a:xfrm>
            <a:off x="7225979" y="3705958"/>
            <a:ext cx="3055035" cy="360484"/>
          </a:xfrm>
          <a:prstGeom prst="wedgeRoundRectCallout">
            <a:avLst>
              <a:gd name="adj1" fmla="val -80169"/>
              <a:gd name="adj2" fmla="val -177445"/>
              <a:gd name="adj3" fmla="val 16667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zh-CN" dirty="0"/>
              <a:t>函数的返回值并非必须存在</a:t>
            </a:r>
            <a:endParaRPr lang="zh-CN" altLang="en-US" dirty="0"/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81436727-2E4C-4027-BD2A-78A4BBDCF391}"/>
              </a:ext>
            </a:extLst>
          </p:cNvPr>
          <p:cNvSpPr/>
          <p:nvPr/>
        </p:nvSpPr>
        <p:spPr>
          <a:xfrm>
            <a:off x="7343293" y="1600200"/>
            <a:ext cx="3441304" cy="618100"/>
          </a:xfrm>
          <a:prstGeom prst="wedgeRoundRectCallout">
            <a:avLst>
              <a:gd name="adj1" fmla="val -59560"/>
              <a:gd name="adj2" fmla="val 97070"/>
              <a:gd name="adj3" fmla="val 16667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zh-CN" dirty="0"/>
              <a:t>参数括号后须带一个冒号</a:t>
            </a:r>
            <a:r>
              <a:rPr lang="zh-CN" altLang="en-US" dirty="0"/>
              <a:t>来</a:t>
            </a:r>
            <a:r>
              <a:rPr lang="zh-CN" altLang="zh-CN" dirty="0"/>
              <a:t>表示函数语句的开始</a:t>
            </a:r>
            <a:endParaRPr lang="zh-CN" altLang="en-US" dirty="0"/>
          </a:p>
        </p:txBody>
      </p:sp>
      <p:sp>
        <p:nvSpPr>
          <p:cNvPr id="7" name="对话气泡: 圆角矩形 6">
            <a:extLst>
              <a:ext uri="{FF2B5EF4-FFF2-40B4-BE49-F238E27FC236}">
                <a16:creationId xmlns:a16="http://schemas.microsoft.com/office/drawing/2014/main" id="{284414FB-28F5-4539-B524-4456CA8C39D8}"/>
              </a:ext>
            </a:extLst>
          </p:cNvPr>
          <p:cNvSpPr/>
          <p:nvPr/>
        </p:nvSpPr>
        <p:spPr>
          <a:xfrm>
            <a:off x="447324" y="3747021"/>
            <a:ext cx="3530062" cy="386863"/>
          </a:xfrm>
          <a:prstGeom prst="wedgeRoundRectCallout">
            <a:avLst>
              <a:gd name="adj1" fmla="val 58844"/>
              <a:gd name="adj2" fmla="val -275750"/>
              <a:gd name="adj3" fmla="val 16667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zh-CN" dirty="0"/>
              <a:t>函数语句必须在</a:t>
            </a:r>
            <a:r>
              <a:rPr lang="en-US" altLang="zh-CN" dirty="0"/>
              <a:t>def</a:t>
            </a:r>
            <a:r>
              <a:rPr lang="zh-CN" altLang="zh-CN" dirty="0"/>
              <a:t>语句下缩进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78E1E58-5A44-4C57-9A32-1A6D910E3718}"/>
              </a:ext>
            </a:extLst>
          </p:cNvPr>
          <p:cNvSpPr txBox="1"/>
          <p:nvPr/>
        </p:nvSpPr>
        <p:spPr>
          <a:xfrm>
            <a:off x="986648" y="4409266"/>
            <a:ext cx="994971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/>
              <a:t>函数名命名规则</a:t>
            </a:r>
            <a:r>
              <a:rPr lang="zh-CN" altLang="en-US" sz="2000" dirty="0"/>
              <a:t>：</a:t>
            </a:r>
            <a:r>
              <a:rPr lang="zh-CN" altLang="zh-CN" sz="2000" dirty="0"/>
              <a:t>为由</a:t>
            </a:r>
            <a:r>
              <a:rPr lang="zh-CN" altLang="zh-CN" sz="2000" dirty="0">
                <a:solidFill>
                  <a:srgbClr val="FF0000"/>
                </a:solidFill>
              </a:rPr>
              <a:t>字母、数字和下划线</a:t>
            </a:r>
            <a:r>
              <a:rPr lang="zh-CN" altLang="zh-CN" sz="2000" dirty="0"/>
              <a:t>组成的字符串，且</a:t>
            </a:r>
            <a:r>
              <a:rPr lang="zh-CN" altLang="zh-CN" sz="2000" dirty="0">
                <a:solidFill>
                  <a:srgbClr val="FF0000"/>
                </a:solidFill>
              </a:rPr>
              <a:t>不能以数字开头</a:t>
            </a:r>
            <a:r>
              <a:rPr lang="zh-CN" altLang="zh-CN" sz="2000" dirty="0"/>
              <a:t>；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/>
              <a:t>函数的参数</a:t>
            </a:r>
            <a:r>
              <a:rPr lang="zh-CN" altLang="en-US" sz="2000" dirty="0"/>
              <a:t>：</a:t>
            </a:r>
            <a:r>
              <a:rPr lang="zh-CN" altLang="zh-CN" sz="2000" dirty="0"/>
              <a:t>可以有</a:t>
            </a:r>
            <a:r>
              <a:rPr lang="en-US" altLang="zh-CN" sz="2000" dirty="0"/>
              <a:t> 0 </a:t>
            </a:r>
            <a:r>
              <a:rPr lang="zh-CN" altLang="en-US" sz="2000" dirty="0"/>
              <a:t>或</a:t>
            </a:r>
            <a:r>
              <a:rPr lang="zh-CN" altLang="zh-CN" sz="2000" dirty="0"/>
              <a:t>一个，也可有多个，</a:t>
            </a:r>
            <a:r>
              <a:rPr lang="zh-CN" altLang="en-US" sz="2000" dirty="0"/>
              <a:t>多个参数时需由逗号分隔；函数</a:t>
            </a:r>
            <a:r>
              <a:rPr lang="zh-CN" altLang="zh-CN" sz="2000" dirty="0"/>
              <a:t>也可以没有</a:t>
            </a:r>
            <a:r>
              <a:rPr lang="zh-CN" altLang="en-US" sz="2000" dirty="0"/>
              <a:t>参数</a:t>
            </a:r>
            <a:r>
              <a:rPr lang="zh-CN" altLang="zh-CN" sz="2000" dirty="0"/>
              <a:t>，在无需传递参数时，仍需在函数名后带上一对圆括号“（）”</a:t>
            </a:r>
            <a:r>
              <a:rPr lang="zh-CN" altLang="en-US" sz="2000" dirty="0"/>
              <a:t>；</a:t>
            </a:r>
            <a:endParaRPr lang="en-US" altLang="zh-CN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函数体：函数语句</a:t>
            </a:r>
            <a:r>
              <a:rPr lang="en-US" altLang="zh-CN" sz="2000" dirty="0"/>
              <a:t>+return</a:t>
            </a:r>
            <a:r>
              <a:rPr lang="zh-CN" altLang="en-US" sz="2000" dirty="0"/>
              <a:t>，函数被调用时执行的代码，由一个或多个语句组成。</a:t>
            </a:r>
          </a:p>
        </p:txBody>
      </p:sp>
    </p:spTree>
    <p:extLst>
      <p:ext uri="{BB962C8B-B14F-4D97-AF65-F5344CB8AC3E}">
        <p14:creationId xmlns:p14="http://schemas.microsoft.com/office/powerpoint/2010/main" val="4088787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5.1.1 </a:t>
            </a:r>
            <a:r>
              <a:rPr lang="zh-CN" altLang="en-US" dirty="0"/>
              <a:t>函数的定义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dirty="0"/>
              <a:t>举例：</a:t>
            </a:r>
            <a:endParaRPr lang="en-US" altLang="zh-CN" sz="1800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/>
              <a:t>定义一个函数，函数名为</a:t>
            </a:r>
            <a:r>
              <a:rPr lang="en-US" altLang="zh-CN" sz="1800" dirty="0"/>
              <a:t>Info</a:t>
            </a:r>
            <a:r>
              <a:rPr lang="zh-CN" altLang="en-US" sz="1800" dirty="0"/>
              <a:t>，函数功能是打印</a:t>
            </a:r>
            <a:r>
              <a:rPr lang="en-US" altLang="zh-CN" sz="1800" dirty="0"/>
              <a:t> </a:t>
            </a:r>
            <a:r>
              <a:rPr lang="zh-CN" altLang="en-US" sz="1800" dirty="0"/>
              <a:t>“</a:t>
            </a:r>
            <a:r>
              <a:rPr lang="en-US" altLang="zh-CN" sz="1800" dirty="0"/>
              <a:t>Hello World ! </a:t>
            </a:r>
            <a:r>
              <a:rPr lang="zh-CN" altLang="en-US" sz="1800" dirty="0"/>
              <a:t>”</a:t>
            </a:r>
            <a:endParaRPr lang="en-US" altLang="zh-CN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/>
              <a:t>定义一个求绝对值的函数，函数名为</a:t>
            </a:r>
            <a:r>
              <a:rPr lang="en-US" altLang="zh-CN" sz="1800" dirty="0" err="1">
                <a:solidFill>
                  <a:srgbClr val="0047D9"/>
                </a:solidFill>
              </a:rPr>
              <a:t>my_abs</a:t>
            </a:r>
            <a:r>
              <a:rPr lang="zh-CN" altLang="en-US" sz="1800" dirty="0"/>
              <a:t>，参数为</a:t>
            </a:r>
            <a:r>
              <a:rPr lang="en-US" altLang="zh-CN" sz="1800" dirty="0"/>
              <a:t> x</a:t>
            </a:r>
            <a:r>
              <a:rPr lang="zh-CN" altLang="en-US" sz="1800" dirty="0"/>
              <a:t>，函数的功能是求参数</a:t>
            </a:r>
            <a:r>
              <a:rPr lang="en-US" altLang="zh-CN" sz="1800" dirty="0"/>
              <a:t>x</a:t>
            </a:r>
            <a:r>
              <a:rPr lang="zh-CN" altLang="en-US" sz="1800" dirty="0"/>
              <a:t>的绝对值。函数被调用时会执行函数体中的语句，当执行到语句</a:t>
            </a:r>
            <a:r>
              <a:rPr lang="en-US" altLang="zh-CN" sz="1800" dirty="0"/>
              <a:t>return</a:t>
            </a:r>
            <a:r>
              <a:rPr lang="zh-CN" altLang="en-US" sz="1800" dirty="0"/>
              <a:t>时，函数过程就执行完毕，并返回执行之后的结果</a:t>
            </a:r>
            <a:r>
              <a:rPr lang="en-US" altLang="zh-CN" sz="1800" dirty="0"/>
              <a:t>x</a:t>
            </a:r>
            <a:r>
              <a:rPr lang="zh-CN" altLang="en-US" sz="1800" dirty="0"/>
              <a:t>。</a:t>
            </a:r>
            <a:endParaRPr lang="en-US" altLang="zh-CN" sz="1800" dirty="0"/>
          </a:p>
          <a:p>
            <a:pPr marL="0" indent="0">
              <a:buNone/>
            </a:pPr>
            <a:endParaRPr lang="en-US" altLang="zh-CN" sz="18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D0448A1-4E50-4F58-9683-9C9FAB9080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939761"/>
              </p:ext>
            </p:extLst>
          </p:nvPr>
        </p:nvGraphicFramePr>
        <p:xfrm>
          <a:off x="2002342" y="3884780"/>
          <a:ext cx="7990447" cy="598177"/>
        </p:xfrm>
        <a:graphic>
          <a:graphicData uri="http://schemas.openxmlformats.org/drawingml/2006/table">
            <a:tbl>
              <a:tblPr firstRow="1" firstCol="1" bandRow="1"/>
              <a:tblGrid>
                <a:gridCol w="7990447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59817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Info():                           #</a:t>
                      </a:r>
                      <a:r>
                        <a:rPr lang="zh-CN" altLang="en-US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定义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Info</a:t>
                      </a:r>
                      <a:r>
                        <a:rPr lang="zh-CN" altLang="en-US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zh-CN" altLang="en-US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“Hello</a:t>
                      </a:r>
                      <a:r>
                        <a:rPr lang="zh-CN" altLang="en-US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World</a:t>
                      </a:r>
                      <a:r>
                        <a:rPr lang="zh-CN" altLang="en-US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!”)         #</a:t>
                      </a:r>
                      <a:r>
                        <a:rPr lang="zh-CN" altLang="en-US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打印函数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AC2861AB-FACA-04B5-59FC-7CF4C7F94C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342" y="4574396"/>
            <a:ext cx="4593114" cy="211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469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5.1.2 </a:t>
            </a:r>
            <a:r>
              <a:rPr lang="zh-CN" altLang="en-US" dirty="0"/>
              <a:t>函数的调用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函数</a:t>
            </a:r>
            <a:r>
              <a:rPr lang="zh-CN" altLang="zh-CN" dirty="0"/>
              <a:t>必须</a:t>
            </a:r>
            <a:r>
              <a:rPr lang="zh-CN" altLang="zh-CN" dirty="0">
                <a:solidFill>
                  <a:srgbClr val="FF0000"/>
                </a:solidFill>
              </a:rPr>
              <a:t>先定义</a:t>
            </a:r>
            <a:r>
              <a:rPr lang="zh-CN" altLang="en-US" dirty="0">
                <a:solidFill>
                  <a:srgbClr val="FF0000"/>
                </a:solidFill>
              </a:rPr>
              <a:t>后调用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dirty="0"/>
              <a:t>调用函数的一般形式如下：</a:t>
            </a:r>
          </a:p>
          <a:p>
            <a:pPr marL="0" indent="0" algn="ctr">
              <a:buNone/>
            </a:pPr>
            <a:r>
              <a:rPr lang="zh-CN" altLang="zh-CN" dirty="0">
                <a:solidFill>
                  <a:srgbClr val="FF0000"/>
                </a:solidFill>
              </a:rPr>
              <a:t>函数名（实参列表） 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zh-CN" sz="1800" dirty="0"/>
              <a:t>调用函数的时候，需要使用函数名指定要调用的函数，然后在函数名后的圆括号中给出需要传递给函数参数的值。</a:t>
            </a:r>
            <a:endParaRPr lang="en-US" altLang="zh-CN" sz="18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zh-CN" sz="1800" dirty="0"/>
              <a:t>函数名其实就是指向一个函数对象的引用，也可以把函数名赋给一个变量，相当于给函数起个“别名”。</a:t>
            </a:r>
          </a:p>
          <a:p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6700593-3975-4EBD-8C83-CEB290FA9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45416"/>
              </p:ext>
            </p:extLst>
          </p:nvPr>
        </p:nvGraphicFramePr>
        <p:xfrm>
          <a:off x="2377452" y="5309126"/>
          <a:ext cx="8308745" cy="1290112"/>
        </p:xfrm>
        <a:graphic>
          <a:graphicData uri="http://schemas.openxmlformats.org/drawingml/2006/table">
            <a:tbl>
              <a:tblPr firstRow="1" firstCol="1" bandRow="1"/>
              <a:tblGrid>
                <a:gridCol w="8308745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290112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my_add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(x, y):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定义求和函数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return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x+y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函数结果返回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zh-CN" altLang="en-US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my_add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(3,4))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调用函数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64C39E1-F2DC-4409-BE76-D2A43186F80B}"/>
              </a:ext>
            </a:extLst>
          </p:cNvPr>
          <p:cNvSpPr txBox="1"/>
          <p:nvPr/>
        </p:nvSpPr>
        <p:spPr>
          <a:xfrm>
            <a:off x="2569377" y="6567013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7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04C2C90-4C06-4079-A5C5-AE7C3B08A0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352147"/>
              </p:ext>
            </p:extLst>
          </p:nvPr>
        </p:nvGraphicFramePr>
        <p:xfrm>
          <a:off x="2377452" y="4263372"/>
          <a:ext cx="8308745" cy="650941"/>
        </p:xfrm>
        <a:graphic>
          <a:graphicData uri="http://schemas.openxmlformats.org/drawingml/2006/table">
            <a:tbl>
              <a:tblPr firstRow="1" firstCol="1" bandRow="1"/>
              <a:tblGrid>
                <a:gridCol w="8308745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650941">
                <a:tc>
                  <a:txBody>
                    <a:bodyPr/>
                    <a:lstStyle/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 =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my_abs</a:t>
                      </a:r>
                      <a:r>
                        <a:rPr lang="en-US" altLang="zh-CN" sz="2000" kern="10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变量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指向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my_abs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函数，即将函数名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abs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赋值给变量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</a:p>
                    <a:p>
                      <a:pPr marL="0" algn="just" defTabSz="914400" rtl="0" eaLnBrk="1" latinLnBrk="0" hangingPunct="1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a(-5)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可以通过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调用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abs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47D4D574-F708-4FC2-AF3C-5361B80DEB89}"/>
              </a:ext>
            </a:extLst>
          </p:cNvPr>
          <p:cNvSpPr txBox="1"/>
          <p:nvPr/>
        </p:nvSpPr>
        <p:spPr>
          <a:xfrm>
            <a:off x="2569377" y="4918433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标注: 弯曲线形 7">
            <a:extLst>
              <a:ext uri="{FF2B5EF4-FFF2-40B4-BE49-F238E27FC236}">
                <a16:creationId xmlns:a16="http://schemas.microsoft.com/office/drawing/2014/main" id="{9B6ACFFF-E427-4E3E-BDF4-0558F459B523}"/>
              </a:ext>
            </a:extLst>
          </p:cNvPr>
          <p:cNvSpPr/>
          <p:nvPr/>
        </p:nvSpPr>
        <p:spPr>
          <a:xfrm>
            <a:off x="424647" y="5488250"/>
            <a:ext cx="1360506" cy="369332"/>
          </a:xfrm>
          <a:prstGeom prst="borderCallout2">
            <a:avLst>
              <a:gd name="adj1" fmla="val 33892"/>
              <a:gd name="adj2" fmla="val 97464"/>
              <a:gd name="adj3" fmla="val 94458"/>
              <a:gd name="adj4" fmla="val 138904"/>
              <a:gd name="adj5" fmla="val 95195"/>
              <a:gd name="adj6" fmla="val 170724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函数定义</a:t>
            </a:r>
          </a:p>
        </p:txBody>
      </p:sp>
      <p:sp>
        <p:nvSpPr>
          <p:cNvPr id="11" name="标注: 弯曲线形 10">
            <a:extLst>
              <a:ext uri="{FF2B5EF4-FFF2-40B4-BE49-F238E27FC236}">
                <a16:creationId xmlns:a16="http://schemas.microsoft.com/office/drawing/2014/main" id="{5BB411DA-2FCC-4698-8155-E81CB6094843}"/>
              </a:ext>
            </a:extLst>
          </p:cNvPr>
          <p:cNvSpPr/>
          <p:nvPr/>
        </p:nvSpPr>
        <p:spPr>
          <a:xfrm>
            <a:off x="424647" y="6172200"/>
            <a:ext cx="1360506" cy="369332"/>
          </a:xfrm>
          <a:prstGeom prst="borderCallout2">
            <a:avLst>
              <a:gd name="adj1" fmla="val 33892"/>
              <a:gd name="adj2" fmla="val 97464"/>
              <a:gd name="adj3" fmla="val 94458"/>
              <a:gd name="adj4" fmla="val 136956"/>
              <a:gd name="adj5" fmla="val 95195"/>
              <a:gd name="adj6" fmla="val 170724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函数调用</a:t>
            </a:r>
          </a:p>
        </p:txBody>
      </p:sp>
      <p:sp>
        <p:nvSpPr>
          <p:cNvPr id="12" name="标注: 弯曲线形 11">
            <a:extLst>
              <a:ext uri="{FF2B5EF4-FFF2-40B4-BE49-F238E27FC236}">
                <a16:creationId xmlns:a16="http://schemas.microsoft.com/office/drawing/2014/main" id="{6EE031F0-7416-44FD-B0D7-EE9B1144909E}"/>
              </a:ext>
            </a:extLst>
          </p:cNvPr>
          <p:cNvSpPr/>
          <p:nvPr/>
        </p:nvSpPr>
        <p:spPr>
          <a:xfrm>
            <a:off x="221256" y="4219510"/>
            <a:ext cx="1541095" cy="369332"/>
          </a:xfrm>
          <a:prstGeom prst="borderCallout2">
            <a:avLst>
              <a:gd name="adj1" fmla="val 33892"/>
              <a:gd name="adj2" fmla="val 97464"/>
              <a:gd name="adj3" fmla="val 90870"/>
              <a:gd name="adj4" fmla="val 119986"/>
              <a:gd name="adj5" fmla="val 91607"/>
              <a:gd name="adj6" fmla="val 152666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rgbClr val="FF0000"/>
                </a:solidFill>
              </a:rPr>
              <a:t>函数名赋值</a:t>
            </a:r>
          </a:p>
        </p:txBody>
      </p:sp>
    </p:spTree>
    <p:extLst>
      <p:ext uri="{BB962C8B-B14F-4D97-AF65-F5344CB8AC3E}">
        <p14:creationId xmlns:p14="http://schemas.microsoft.com/office/powerpoint/2010/main" val="1585119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5.1.2 </a:t>
            </a:r>
            <a:r>
              <a:rPr lang="zh-CN" altLang="en-US" dirty="0"/>
              <a:t>函数的调用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824430" y="1318517"/>
            <a:ext cx="8008278" cy="2303980"/>
          </a:xfrm>
        </p:spPr>
        <p:txBody>
          <a:bodyPr>
            <a:normAutofit fontScale="77500" lnSpcReduction="20000"/>
          </a:bodyPr>
          <a:lstStyle/>
          <a:p>
            <a:pPr marL="228600" lvl="1">
              <a:lnSpc>
                <a:spcPct val="160000"/>
              </a:lnSpc>
              <a:spcBef>
                <a:spcPts val="0"/>
              </a:spcBef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调用函数时：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2" indent="-3429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若传入的参数数量不对，会报</a:t>
            </a:r>
            <a:r>
              <a:rPr lang="en-US" altLang="zh-CN" sz="1800" dirty="0" err="1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TypeError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的错误。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2" indent="-3429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若传入的参数数量是对的，但参数类型不能被函数所接受，也会报</a:t>
            </a:r>
            <a:r>
              <a:rPr lang="en-US" altLang="zh-CN" sz="1800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TypeError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的错误。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228600" lvl="1">
              <a:lnSpc>
                <a:spcPct val="160000"/>
              </a:lnSpc>
              <a:spcBef>
                <a:spcPts val="0"/>
              </a:spcBef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函数的优点：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2" indent="-3429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zh-CN" sz="1800" dirty="0">
                <a:solidFill>
                  <a:srgbClr val="0047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提高应用的模块性</a:t>
            </a:r>
            <a:r>
              <a:rPr lang="zh-CN" altLang="en-US" sz="1800" dirty="0">
                <a:solidFill>
                  <a:srgbClr val="0047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（模块化）</a:t>
            </a:r>
            <a:endParaRPr lang="en-US" altLang="zh-CN" sz="1800" dirty="0">
              <a:solidFill>
                <a:srgbClr val="0047D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2" indent="-3429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47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提高</a:t>
            </a:r>
            <a:r>
              <a:rPr lang="zh-CN" altLang="zh-CN" sz="1800" dirty="0">
                <a:solidFill>
                  <a:srgbClr val="0047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代码的重复利用率</a:t>
            </a:r>
            <a:r>
              <a:rPr lang="zh-CN" altLang="en-US" sz="1800" dirty="0">
                <a:solidFill>
                  <a:srgbClr val="0047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（代码复用）</a:t>
            </a:r>
            <a:endParaRPr lang="en-US" altLang="zh-CN" sz="1800" dirty="0">
              <a:solidFill>
                <a:srgbClr val="0047D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2" indent="-342900">
              <a:lnSpc>
                <a:spcPct val="16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0047D9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封装与信息隐蔽</a:t>
            </a:r>
            <a:endParaRPr lang="zh-CN" altLang="en-US" sz="2400" dirty="0">
              <a:solidFill>
                <a:srgbClr val="0047D9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0"/>
              </a:spcBef>
            </a:pP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60000"/>
              </a:lnSpc>
              <a:spcBef>
                <a:spcPts val="0"/>
              </a:spcBef>
            </a:pP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1696BA-A082-F94F-B887-A66B3C0C7C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337" y="3732607"/>
            <a:ext cx="3721100" cy="1981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8FEA474-3FA2-8B4A-76D8-4E92912821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65107" y="2454097"/>
            <a:ext cx="3898900" cy="17018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600C7A-C072-A59C-572B-6F111A531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5781" y="2911297"/>
            <a:ext cx="3746500" cy="1778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E44BDEB-E5E3-7ED9-9C5D-35F45A903A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513" y="4761164"/>
            <a:ext cx="4546600" cy="622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430B10-4BDF-9101-F0F7-90BB29423D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513" y="5679897"/>
            <a:ext cx="4343400" cy="6731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1665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DEF92-0411-D8DC-D21F-5B8E31149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E2BD0-DDE2-AA01-B8D7-8BA86B2EE4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10096500" cy="1734474"/>
          </a:xfrm>
        </p:spPr>
        <p:txBody>
          <a:bodyPr/>
          <a:lstStyle/>
          <a:p>
            <a:pPr algn="ctr"/>
            <a:r>
              <a:rPr lang="en-US" altLang="zh-CN" dirty="0"/>
              <a:t>5.2</a:t>
            </a:r>
            <a:r>
              <a:rPr lang="zh-CN" altLang="en-US" dirty="0"/>
              <a:t>内置函数</a:t>
            </a:r>
          </a:p>
        </p:txBody>
      </p:sp>
    </p:spTree>
    <p:extLst>
      <p:ext uri="{BB962C8B-B14F-4D97-AF65-F5344CB8AC3E}">
        <p14:creationId xmlns:p14="http://schemas.microsoft.com/office/powerpoint/2010/main" val="276779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46EC3-3F1C-D3BC-76E9-EF739F3A3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</a:rPr>
              <a:t>数学相关函数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A91FAE-853F-C0B6-8715-3BA778CB3F42}"/>
              </a:ext>
            </a:extLst>
          </p:cNvPr>
          <p:cNvSpPr txBox="1"/>
          <p:nvPr/>
        </p:nvSpPr>
        <p:spPr>
          <a:xfrm>
            <a:off x="1432560" y="1370598"/>
            <a:ext cx="937768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47D9"/>
                </a:solidFill>
                <a:effectLst/>
                <a:latin typeface="Times New Roman" panose="02020603050405020304" pitchFamily="18" charset="0"/>
              </a:rPr>
              <a:t>abs(x)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返回数字的绝对值。对于负数，返回其正值；对于正数，返回其本身。绝对值在数学中用于衡量数值的大小，无论其符号。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47D9"/>
                </a:solidFill>
                <a:effectLst/>
                <a:latin typeface="Times New Roman" panose="02020603050405020304" pitchFamily="18" charset="0"/>
              </a:rPr>
              <a:t>pow(x, y)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返回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的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y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次方，等价于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x ** y。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这在数学和科学计算中经常用到，例如计算幂、指数等。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0047D9"/>
                </a:solidFill>
                <a:effectLst/>
                <a:latin typeface="Times New Roman" panose="02020603050405020304" pitchFamily="18" charset="0"/>
              </a:rPr>
              <a:t>round(x[, n])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：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返回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四舍五入后的值。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n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是可选参数，表示保留的小数位数。此函数在财务计算和数据分析中常用，以确保数值精度。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F9B8BF-4B6A-9849-3743-A2CC8C6747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8266" y="3241080"/>
            <a:ext cx="8355467" cy="2844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7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50828-CD79-7E2F-B884-2E7459084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/>
              <a:t>转换函数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3A9444-3E82-5A31-E2E6-33548129FA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309" y="1583937"/>
            <a:ext cx="6946900" cy="3429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58C5FD-919E-343E-820E-0D1B05628A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5280" y="235188"/>
            <a:ext cx="7010400" cy="3657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87F207-3811-99A3-AB22-9DAC93054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6673" y="2063988"/>
            <a:ext cx="8491072" cy="448562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2927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CD537-518B-741D-3BAF-8A3614FC9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262625"/>
                </a:solidFill>
                <a:effectLst/>
                <a:latin typeface="Open Sans" panose="020B0606030504020204" pitchFamily="34" charset="0"/>
              </a:rPr>
              <a:t>数据转换函数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94A90-00C3-81E4-C611-3670EEA93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391920"/>
            <a:ext cx="5880100" cy="2387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34D868-3EE0-1D53-F5EC-D5B51F2A29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613" y="355600"/>
            <a:ext cx="6819900" cy="6426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F0466D3-1C22-BBFD-4C71-D5F3C6DFE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578" y="490220"/>
            <a:ext cx="7073900" cy="3289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270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547FE-5700-13CA-D2AC-CCCC47CC5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 序列和集合相关函数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D3E438-C7E8-0111-C787-1CB83205491C}"/>
              </a:ext>
            </a:extLst>
          </p:cNvPr>
          <p:cNvSpPr txBox="1"/>
          <p:nvPr/>
        </p:nvSpPr>
        <p:spPr>
          <a:xfrm>
            <a:off x="1104900" y="1305720"/>
            <a:ext cx="998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47D9"/>
                </a:solidFill>
              </a:rPr>
              <a:t>map()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函数将指定函数应用于可迭代对象的每个元素，并返回一个迭代器，可以用来对序列中的每个元素进行统一操作。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49AAC8-49B2-263D-B1B0-3DE7DA8AC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458" y="2498965"/>
            <a:ext cx="6819047" cy="34026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CEAFA2E-E259-517C-823B-4CA60ED15E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972" y="2084609"/>
            <a:ext cx="6091979" cy="172298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899898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3BE1C-DE65-518C-35A0-D07FECA56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 序列和集合相关函数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C4C4E6-AE52-5E11-A103-5A5F1BD346E6}"/>
              </a:ext>
            </a:extLst>
          </p:cNvPr>
          <p:cNvSpPr txBox="1"/>
          <p:nvPr/>
        </p:nvSpPr>
        <p:spPr>
          <a:xfrm>
            <a:off x="1104900" y="1335038"/>
            <a:ext cx="9980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47D9"/>
                </a:solidFill>
              </a:rPr>
              <a:t>filter()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函数根据指定的函数过滤可迭代对象中的元素，只返回使得函数返回值为真的元素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C412CE-F9E6-E960-F526-747102773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4951" y="1921875"/>
            <a:ext cx="6654217" cy="237650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25A335-27A6-1BEC-3735-3C64921286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951" y="4515886"/>
            <a:ext cx="7100241" cy="188405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208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6AF6C-6FB5-4456-8CCF-E9FD5A03E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BE6582-317D-9928-E63E-E85DE16A1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 序列和集合相关函数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22296-22A9-2F58-7178-1524E2E58892}"/>
              </a:ext>
            </a:extLst>
          </p:cNvPr>
          <p:cNvSpPr txBox="1"/>
          <p:nvPr/>
        </p:nvSpPr>
        <p:spPr>
          <a:xfrm>
            <a:off x="1104900" y="1335038"/>
            <a:ext cx="99806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47D9"/>
                </a:solidFill>
              </a:rPr>
              <a:t>zip()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函数将多个可迭代对象的对应元素打包成一个个元组，返回一个迭代器。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43F81F-2943-E0A7-3566-AE3D09BE74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900" y="1787214"/>
            <a:ext cx="4419600" cy="1892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FDD8A4B-8D51-46F0-720C-8F42B08B1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478" y="3564340"/>
            <a:ext cx="6134100" cy="28956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8472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4F220-1DB6-6C9E-F5CB-0FB49E2AF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262625"/>
                </a:solidFill>
                <a:effectLst/>
                <a:latin typeface="Open Sans" panose="020B0606030504020204" pitchFamily="34" charset="0"/>
              </a:rPr>
              <a:t>系统操作函数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F0D16C-92C8-31CA-E4F9-196DB3F37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86" y="1427113"/>
            <a:ext cx="7873660" cy="364323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18F299-7C5E-CE2D-8F98-CC864619E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5494" y="319836"/>
            <a:ext cx="6540500" cy="4686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9E3F4C-1E5A-C0F5-F679-46688582F4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1268" y="4864100"/>
            <a:ext cx="3873500" cy="1917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7873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10096500" cy="1734474"/>
          </a:xfrm>
        </p:spPr>
        <p:txBody>
          <a:bodyPr/>
          <a:lstStyle/>
          <a:p>
            <a:pPr algn="ctr"/>
            <a:r>
              <a:rPr lang="en-US" altLang="zh-CN" dirty="0"/>
              <a:t>5.3 </a:t>
            </a:r>
            <a:r>
              <a:rPr lang="zh-CN" altLang="en-US" dirty="0"/>
              <a:t>用户自定义函数</a:t>
            </a:r>
          </a:p>
        </p:txBody>
      </p:sp>
    </p:spTree>
    <p:extLst>
      <p:ext uri="{BB962C8B-B14F-4D97-AF65-F5344CB8AC3E}">
        <p14:creationId xmlns:p14="http://schemas.microsoft.com/office/powerpoint/2010/main" val="80531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9BD57C-57F0-86E9-D93C-2370BBDE07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794" y="4368148"/>
            <a:ext cx="6206490" cy="1931703"/>
          </a:xfrm>
          <a:prstGeom prst="rect">
            <a:avLst/>
          </a:prstGeom>
        </p:spPr>
      </p:pic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5.2.1 </a:t>
            </a:r>
            <a:r>
              <a:rPr lang="zh-CN" altLang="en-US" dirty="0"/>
              <a:t>函数参数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2340910"/>
          </a:xfrm>
        </p:spPr>
        <p:txBody>
          <a:bodyPr>
            <a:normAutofit/>
          </a:bodyPr>
          <a:lstStyle/>
          <a:p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参数：传入到函数的值。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形式参数</a:t>
            </a:r>
            <a:endParaRPr lang="en-US" altLang="zh-CN" sz="1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定义函数时，函数名后面圆括号中的变量，简称“</a:t>
            </a:r>
            <a:r>
              <a:rPr lang="zh-CN" altLang="en-US" sz="1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形参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”。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形参只在函数内部有效。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en-US" sz="1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实际参数</a:t>
            </a:r>
            <a:endParaRPr lang="en-US" altLang="zh-CN" sz="1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调用函数时，函数名后面括号中的变量，简称“</a:t>
            </a:r>
            <a:r>
              <a:rPr lang="zh-CN" altLang="en-US" sz="1800" b="1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实参</a:t>
            </a:r>
            <a:r>
              <a:rPr lang="zh-CN" altLang="en-US" sz="1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”。</a:t>
            </a:r>
            <a:endParaRPr lang="en-US" altLang="zh-CN" sz="18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buFont typeface="Wingdings" panose="05000000000000000000" pitchFamily="2" charset="2"/>
              <a:buChar char="Ø"/>
            </a:pPr>
            <a:endParaRPr lang="en-US" altLang="zh-CN" sz="1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" name="标注: 弯曲线形 1">
            <a:extLst>
              <a:ext uri="{FF2B5EF4-FFF2-40B4-BE49-F238E27FC236}">
                <a16:creationId xmlns:a16="http://schemas.microsoft.com/office/drawing/2014/main" id="{25D6852F-C5CD-441F-B9E0-3B85E2D3B3B2}"/>
              </a:ext>
            </a:extLst>
          </p:cNvPr>
          <p:cNvSpPr/>
          <p:nvPr/>
        </p:nvSpPr>
        <p:spPr>
          <a:xfrm>
            <a:off x="4644183" y="3886200"/>
            <a:ext cx="1280491" cy="374453"/>
          </a:xfrm>
          <a:prstGeom prst="borderCallout2">
            <a:avLst>
              <a:gd name="adj1" fmla="val 114304"/>
              <a:gd name="adj2" fmla="val 7533"/>
              <a:gd name="adj3" fmla="val 209860"/>
              <a:gd name="adj4" fmla="val -51152"/>
              <a:gd name="adj5" fmla="val 211595"/>
              <a:gd name="adj6" fmla="val -83740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形式参数</a:t>
            </a:r>
          </a:p>
        </p:txBody>
      </p:sp>
      <p:sp>
        <p:nvSpPr>
          <p:cNvPr id="6" name="标注: 弯曲线形 5">
            <a:extLst>
              <a:ext uri="{FF2B5EF4-FFF2-40B4-BE49-F238E27FC236}">
                <a16:creationId xmlns:a16="http://schemas.microsoft.com/office/drawing/2014/main" id="{311422FF-491E-41DE-87DB-B89685F2EED3}"/>
              </a:ext>
            </a:extLst>
          </p:cNvPr>
          <p:cNvSpPr/>
          <p:nvPr/>
        </p:nvSpPr>
        <p:spPr>
          <a:xfrm>
            <a:off x="4527100" y="6407347"/>
            <a:ext cx="1280491" cy="374453"/>
          </a:xfrm>
          <a:prstGeom prst="borderCallout2">
            <a:avLst>
              <a:gd name="adj1" fmla="val 18749"/>
              <a:gd name="adj2" fmla="val -2817"/>
              <a:gd name="adj3" fmla="val -86478"/>
              <a:gd name="adj4" fmla="val -49565"/>
              <a:gd name="adj5" fmla="val -80143"/>
              <a:gd name="adj6" fmla="val -104680"/>
            </a:avLst>
          </a:prstGeom>
          <a:solidFill>
            <a:schemeClr val="bg1"/>
          </a:solidFill>
          <a:ln>
            <a:solidFill>
              <a:srgbClr val="00B050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实际参数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A3D44E6-7145-4F8C-8F56-6A18961F940D}"/>
              </a:ext>
            </a:extLst>
          </p:cNvPr>
          <p:cNvSpPr/>
          <p:nvPr/>
        </p:nvSpPr>
        <p:spPr>
          <a:xfrm>
            <a:off x="7917284" y="5270338"/>
            <a:ext cx="755374" cy="10295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zh-CN" altLang="zh-CN" sz="2400" kern="100" dirty="0">
              <a:solidFill>
                <a:srgbClr val="FF0000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zh-CN" altLang="zh-CN" sz="2400" kern="100" dirty="0">
              <a:solidFill>
                <a:srgbClr val="FF0000"/>
              </a:solidFill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228600" algn="just">
              <a:lnSpc>
                <a:spcPct val="115000"/>
              </a:lnSpc>
              <a:spcAft>
                <a:spcPts val="0"/>
              </a:spcAft>
            </a:pPr>
            <a:r>
              <a:rPr lang="en-US" altLang="zh-CN" kern="100" dirty="0">
                <a:solidFill>
                  <a:srgbClr val="FF0000"/>
                </a:solidFill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endParaRPr lang="zh-CN" altLang="zh-CN" sz="2400" kern="100" dirty="0">
              <a:solidFill>
                <a:srgbClr val="FF0000"/>
              </a:solidFill>
              <a:effectLst/>
              <a:latin typeface="Consolas" panose="020B0609020204030204" pitchFamily="49" charset="0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FD05B1D-6697-48DD-8D94-D908AF90A8E2}"/>
              </a:ext>
            </a:extLst>
          </p:cNvPr>
          <p:cNvCxnSpPr>
            <a:stCxn id="6" idx="3"/>
            <a:endCxn id="2" idx="1"/>
          </p:cNvCxnSpPr>
          <p:nvPr/>
        </p:nvCxnSpPr>
        <p:spPr>
          <a:xfrm flipV="1">
            <a:off x="5167346" y="4260653"/>
            <a:ext cx="117083" cy="21466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37021DC-84B2-4AB4-B2C5-1CCDCD7C81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9583" y="3091180"/>
            <a:ext cx="3190181" cy="175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384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5.2.1 </a:t>
            </a:r>
            <a:r>
              <a:rPr lang="zh-CN" altLang="en-US" dirty="0"/>
              <a:t>函数参数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3382" y="1288700"/>
            <a:ext cx="9982200" cy="5181600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调用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时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，只需知道如何传递正确的参数，以及函数将返回什么值，无需了解被封装在函数内部的复杂程序逻辑。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为函数提供不同的参数，可以实现对不同数据的处理。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函数的参数传递方式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ts val="2000"/>
              </a:lnSpc>
              <a:buFont typeface="Wingdings" panose="05000000000000000000" pitchFamily="2" charset="2"/>
              <a:buChar char="Ø"/>
            </a:pPr>
            <a:r>
              <a:rPr lang="zh-CN" altLang="en-US" sz="1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位置参数</a:t>
            </a:r>
            <a:endParaRPr lang="en-US" altLang="zh-CN" sz="1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ts val="2000"/>
              </a:lnSpc>
              <a:buFont typeface="Wingdings" panose="05000000000000000000" pitchFamily="2" charset="2"/>
              <a:buChar char="Ø"/>
            </a:pPr>
            <a:r>
              <a:rPr lang="zh-CN" altLang="zh-CN" sz="1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默认参数</a:t>
            </a:r>
            <a:endParaRPr lang="en-US" altLang="zh-CN" sz="1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ts val="2000"/>
              </a:lnSpc>
              <a:buFont typeface="Wingdings" panose="05000000000000000000" pitchFamily="2" charset="2"/>
              <a:buChar char="Ø"/>
            </a:pPr>
            <a:r>
              <a:rPr lang="zh-CN" altLang="zh-CN" sz="1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命名参数</a:t>
            </a:r>
            <a:endParaRPr lang="en-US" altLang="zh-CN" sz="1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ts val="2000"/>
              </a:lnSpc>
              <a:buFont typeface="Wingdings" panose="05000000000000000000" pitchFamily="2" charset="2"/>
              <a:buChar char="Ø"/>
            </a:pPr>
            <a:r>
              <a:rPr lang="zh-CN" altLang="zh-CN" sz="1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可变长参数</a:t>
            </a:r>
            <a:endParaRPr lang="en-US" altLang="zh-CN" sz="1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ts val="2000"/>
              </a:lnSpc>
              <a:buFont typeface="Wingdings" panose="05000000000000000000" pitchFamily="2" charset="2"/>
              <a:buChar char="Ø"/>
            </a:pPr>
            <a:r>
              <a:rPr lang="zh-CN" altLang="zh-CN" sz="18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关键字参数</a:t>
            </a:r>
            <a:endParaRPr lang="en-US" altLang="zh-CN" sz="18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00000"/>
              </a:lnSpc>
            </a:pP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定义函数时</a:t>
            </a:r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，</a:t>
            </a:r>
            <a:r>
              <a:rPr lang="zh-CN" altLang="zh-CN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以上几种参数可以组合使用。注意，参数定义的顺序必须是：</a:t>
            </a:r>
            <a:endParaRPr lang="en-US" altLang="zh-CN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位置参数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默认参数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命名参数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可变参数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zh-CN" sz="2000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→</a:t>
            </a:r>
            <a:r>
              <a:rPr lang="en-US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zh-CN" sz="2000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关键字参数</a:t>
            </a:r>
            <a:r>
              <a:rPr lang="zh-CN" altLang="zh-CN" sz="20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。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FA32FA-E5BB-AF54-43B1-9EEB261F4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3640" y="2999740"/>
            <a:ext cx="3708400" cy="195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60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(1) 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位置参数：</a:t>
            </a:r>
            <a:r>
              <a:rPr lang="zh-CN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按照位置顺序从左至右匹配</a:t>
            </a:r>
            <a:endParaRPr 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zh-CN" dirty="0"/>
              <a:t>位置参数指调用函数时</a:t>
            </a:r>
            <a:r>
              <a:rPr lang="zh-CN" altLang="zh-CN" dirty="0">
                <a:solidFill>
                  <a:srgbClr val="FF0000"/>
                </a:solidFill>
              </a:rPr>
              <a:t>根据函数定义的参数位置来传递参数</a:t>
            </a:r>
            <a:r>
              <a:rPr lang="zh-CN" altLang="zh-CN" dirty="0"/>
              <a:t>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zh-CN" dirty="0"/>
              <a:t>传入的几个参数值会按照位置顺序，</a:t>
            </a:r>
            <a:r>
              <a:rPr lang="zh-CN" altLang="zh-CN" dirty="0">
                <a:solidFill>
                  <a:srgbClr val="FF0000"/>
                </a:solidFill>
              </a:rPr>
              <a:t>从左至右依次</a:t>
            </a:r>
            <a:r>
              <a:rPr lang="zh-CN" altLang="en-US" dirty="0">
                <a:solidFill>
                  <a:srgbClr val="FF0000"/>
                </a:solidFill>
              </a:rPr>
              <a:t>赋值</a:t>
            </a:r>
            <a:r>
              <a:rPr lang="zh-CN" altLang="zh-CN" dirty="0"/>
              <a:t>给对应参数。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zh-CN" dirty="0"/>
              <a:t>位置参数是函数调用中</a:t>
            </a:r>
            <a:r>
              <a:rPr lang="zh-CN" altLang="zh-CN" dirty="0">
                <a:solidFill>
                  <a:srgbClr val="FF0000"/>
                </a:solidFill>
              </a:rPr>
              <a:t>最常见的参数传递类型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举例：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FACCCE-3804-DA75-765C-AEE8A5641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3819" y="3175000"/>
            <a:ext cx="5359400" cy="14224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BC78242-6B80-62D2-EF01-09E290C030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3819" y="5024438"/>
            <a:ext cx="6464300" cy="86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436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(2) 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默认参数：为没有传入值的参数定义参数值</a:t>
            </a:r>
            <a:endParaRPr 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455149"/>
            <a:ext cx="9982200" cy="4572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zh-CN" altLang="zh-CN" dirty="0"/>
              <a:t>调用函数时，如果某个参数具有默认值，则可以不向函数传递该参数，这时函数将使用声明函数时为该参数设置的默认值。</a:t>
            </a:r>
            <a:endParaRPr lang="en-US" altLang="zh-CN" dirty="0"/>
          </a:p>
          <a:p>
            <a:r>
              <a:rPr lang="zh-CN" altLang="zh-CN" dirty="0"/>
              <a:t>声明一个具有默认值参数的函数形式如下：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举例</a:t>
            </a:r>
            <a:r>
              <a:rPr lang="en-US" altLang="zh-CN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2811A43-7039-02BA-C041-2AABC37194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5890" y="3105149"/>
            <a:ext cx="5892701" cy="79504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480CEB-E46F-C18F-10EA-BAFEB583F1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5890" y="4325349"/>
            <a:ext cx="5245100" cy="17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136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(2) 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默认参数：为没有传入值的参数定义参数值</a:t>
            </a:r>
            <a:endParaRPr 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举例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E02B20-212F-4109-A01F-BC7BDEDAE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69896"/>
              </p:ext>
            </p:extLst>
          </p:nvPr>
        </p:nvGraphicFramePr>
        <p:xfrm>
          <a:off x="1233718" y="2168126"/>
          <a:ext cx="7838363" cy="1658286"/>
        </p:xfrm>
        <a:graphic>
          <a:graphicData uri="http://schemas.openxmlformats.org/drawingml/2006/table">
            <a:tbl>
              <a:tblPr firstRow="1" firstCol="1" bandRow="1"/>
              <a:tblGrid>
                <a:gridCol w="7838363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65828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(x=1, y=2, z=3):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定义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参数设置默认值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return (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x+y-z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)**3 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(0)   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向参数传递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个值，是传递给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C8DD650-C62D-4949-9A86-550794984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2201778"/>
              </p:ext>
            </p:extLst>
          </p:nvPr>
        </p:nvGraphicFramePr>
        <p:xfrm>
          <a:off x="1233717" y="4291721"/>
          <a:ext cx="7838363" cy="560558"/>
        </p:xfrm>
        <a:graphic>
          <a:graphicData uri="http://schemas.openxmlformats.org/drawingml/2006/table">
            <a:tbl>
              <a:tblPr firstRow="1" firstCol="1" bandRow="1"/>
              <a:tblGrid>
                <a:gridCol w="7838363">
                  <a:extLst>
                    <a:ext uri="{9D8B030D-6E8A-4147-A177-3AD203B41FA5}">
                      <a16:colId xmlns:a16="http://schemas.microsoft.com/office/drawing/2014/main" val="456386931"/>
                    </a:ext>
                  </a:extLst>
                </a:gridCol>
              </a:tblGrid>
              <a:tr h="560558">
                <a:tc>
                  <a:txBody>
                    <a:bodyPr/>
                    <a:lstStyle/>
                    <a:p>
                      <a:pPr algn="just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(3,3)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向参数传递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个值，是传递给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y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339658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5384A80-128E-4598-9481-4A64A9A4F712}"/>
              </a:ext>
            </a:extLst>
          </p:cNvPr>
          <p:cNvSpPr txBox="1"/>
          <p:nvPr/>
        </p:nvSpPr>
        <p:spPr>
          <a:xfrm>
            <a:off x="1159135" y="3886200"/>
            <a:ext cx="437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-1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1DDFA6-663A-429B-B639-C9A7E36F979D}"/>
              </a:ext>
            </a:extLst>
          </p:cNvPr>
          <p:cNvSpPr txBox="1"/>
          <p:nvPr/>
        </p:nvSpPr>
        <p:spPr>
          <a:xfrm>
            <a:off x="1201615" y="4908605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27</a:t>
            </a:r>
            <a:endParaRPr lang="zh-CN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976B3CE-6919-4E3C-B51B-C3632B923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2523333"/>
              </p:ext>
            </p:extLst>
          </p:nvPr>
        </p:nvGraphicFramePr>
        <p:xfrm>
          <a:off x="1233717" y="5317105"/>
          <a:ext cx="7386301" cy="560558"/>
        </p:xfrm>
        <a:graphic>
          <a:graphicData uri="http://schemas.openxmlformats.org/drawingml/2006/table">
            <a:tbl>
              <a:tblPr firstRow="1" firstCol="1" bandRow="1"/>
              <a:tblGrid>
                <a:gridCol w="7386301">
                  <a:extLst>
                    <a:ext uri="{9D8B030D-6E8A-4147-A177-3AD203B41FA5}">
                      <a16:colId xmlns:a16="http://schemas.microsoft.com/office/drawing/2014/main" val="456386931"/>
                    </a:ext>
                  </a:extLst>
                </a:gridCol>
              </a:tblGrid>
              <a:tr h="560558">
                <a:tc>
                  <a:txBody>
                    <a:bodyPr/>
                    <a:lstStyle/>
                    <a:p>
                      <a:pPr algn="just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 , , 5)     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错误传递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33965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304A3E3-732C-4556-8F62-DFE0E25649A5}"/>
              </a:ext>
            </a:extLst>
          </p:cNvPr>
          <p:cNvSpPr txBox="1"/>
          <p:nvPr/>
        </p:nvSpPr>
        <p:spPr>
          <a:xfrm>
            <a:off x="1233717" y="5916831"/>
            <a:ext cx="36038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······</a:t>
            </a:r>
          </a:p>
          <a:p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SyntaxError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: invalid syntax</a:t>
            </a:r>
            <a:endParaRPr lang="zh-CN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对话气泡: 圆角矩形 1">
            <a:extLst>
              <a:ext uri="{FF2B5EF4-FFF2-40B4-BE49-F238E27FC236}">
                <a16:creationId xmlns:a16="http://schemas.microsoft.com/office/drawing/2014/main" id="{AD2B6BB7-2A8B-4DAD-9335-39DA1C094197}"/>
              </a:ext>
            </a:extLst>
          </p:cNvPr>
          <p:cNvSpPr/>
          <p:nvPr/>
        </p:nvSpPr>
        <p:spPr>
          <a:xfrm>
            <a:off x="9241083" y="1886432"/>
            <a:ext cx="2806667" cy="2870235"/>
          </a:xfrm>
          <a:prstGeom prst="wedgeRoundRectCallout">
            <a:avLst>
              <a:gd name="adj1" fmla="val -63610"/>
              <a:gd name="adj2" fmla="val 76958"/>
              <a:gd name="adj3" fmla="val 16667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/>
              <a:t>传递参数是按照声明函数时定义的</a:t>
            </a:r>
            <a:r>
              <a:rPr lang="zh-CN" altLang="en-US" dirty="0">
                <a:solidFill>
                  <a:srgbClr val="FF0000"/>
                </a:solidFill>
              </a:rPr>
              <a:t>参数的顺序依次传递</a:t>
            </a:r>
            <a:r>
              <a:rPr lang="zh-CN" altLang="en-US" dirty="0"/>
              <a:t>的。</a:t>
            </a: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zh-C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zh-CN" altLang="en-US" dirty="0"/>
              <a:t>若在调用函数时</a:t>
            </a:r>
            <a:r>
              <a:rPr lang="zh-CN" altLang="en-US" dirty="0">
                <a:solidFill>
                  <a:srgbClr val="FF0000"/>
                </a:solidFill>
              </a:rPr>
              <a:t>使用“，”表示向最后一个参数传递值，则会引发错误。</a:t>
            </a:r>
          </a:p>
        </p:txBody>
      </p:sp>
    </p:spTree>
    <p:extLst>
      <p:ext uri="{BB962C8B-B14F-4D97-AF65-F5344CB8AC3E}">
        <p14:creationId xmlns:p14="http://schemas.microsoft.com/office/powerpoint/2010/main" val="3182214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0" grpId="0"/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D93B9-8968-213B-F26F-4B12EA6A6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(2) 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默认参数：为没有传入值的参数定义参数值</a:t>
            </a:r>
            <a:endParaRPr kumimoji="1" lang="zh-CN" alt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9F9B13-FCB0-E2B3-14FF-6AB57BFBC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700" y="1544945"/>
            <a:ext cx="6898600" cy="44464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64002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(3) </a:t>
            </a:r>
            <a:r>
              <a:rPr lang="zh-CN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命名参数：按照参数名传递值</a:t>
            </a:r>
            <a:endParaRPr 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336216"/>
            <a:ext cx="9982200" cy="45720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dirty="0"/>
              <a:t>命名参数</a:t>
            </a:r>
            <a:r>
              <a:rPr lang="zh-CN" altLang="zh-CN" dirty="0"/>
              <a:t>传递方式调用函数</a:t>
            </a:r>
            <a:r>
              <a:rPr lang="zh-CN" altLang="en-US" dirty="0"/>
              <a:t>，</a:t>
            </a:r>
            <a:r>
              <a:rPr lang="zh-CN" altLang="zh-CN" dirty="0"/>
              <a:t>语法格式类似于设置参数的默认值，要在调用函数名后的圆括号里为函数的所有</a:t>
            </a:r>
            <a:r>
              <a:rPr lang="zh-CN" altLang="zh-CN" dirty="0">
                <a:solidFill>
                  <a:srgbClr val="FF0000"/>
                </a:solidFill>
              </a:rPr>
              <a:t>参数赋值</a:t>
            </a:r>
            <a:r>
              <a:rPr lang="zh-CN" altLang="zh-CN" dirty="0"/>
              <a:t>，赋值的顺序</a:t>
            </a:r>
            <a:r>
              <a:rPr lang="zh-CN" altLang="zh-CN" dirty="0">
                <a:solidFill>
                  <a:srgbClr val="FF0000"/>
                </a:solidFill>
              </a:rPr>
              <a:t>不必按照</a:t>
            </a:r>
            <a:r>
              <a:rPr lang="zh-CN" altLang="zh-CN" dirty="0"/>
              <a:t>函数声明时的参数顺序。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zh-CN" dirty="0">
                <a:solidFill>
                  <a:srgbClr val="FF0000"/>
                </a:solidFill>
              </a:rPr>
              <a:t>按顺序传递的参数要位于按参数名传递的参数之前，且不能有重复情况</a:t>
            </a:r>
            <a:r>
              <a:rPr lang="zh-CN" altLang="en-US" dirty="0">
                <a:solidFill>
                  <a:srgbClr val="FF0000"/>
                </a:solidFill>
              </a:rPr>
              <a:t>。</a:t>
            </a:r>
            <a:endParaRPr lang="en-US" altLang="zh-CN" dirty="0">
              <a:solidFill>
                <a:srgbClr val="FF0000"/>
              </a:solidFill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举例：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E02B20-212F-4109-A01F-BC7BDEDAE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4636280"/>
              </p:ext>
            </p:extLst>
          </p:nvPr>
        </p:nvGraphicFramePr>
        <p:xfrm>
          <a:off x="2129416" y="3125434"/>
          <a:ext cx="8848208" cy="1304779"/>
        </p:xfrm>
        <a:graphic>
          <a:graphicData uri="http://schemas.openxmlformats.org/drawingml/2006/table">
            <a:tbl>
              <a:tblPr firstRow="1" firstCol="1" bandRow="1"/>
              <a:tblGrid>
                <a:gridCol w="8848208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30477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mysum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(x, y, z):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定义</a:t>
                      </a: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mysum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求和函数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return </a:t>
                      </a: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x+y+z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mysum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(1, z=3, y=2)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同时使用位置参数与命名参数进行传递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C8DD650-C62D-4949-9A86-550794984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0293884"/>
              </p:ext>
            </p:extLst>
          </p:nvPr>
        </p:nvGraphicFramePr>
        <p:xfrm>
          <a:off x="2129415" y="4744112"/>
          <a:ext cx="8848208" cy="575343"/>
        </p:xfrm>
        <a:graphic>
          <a:graphicData uri="http://schemas.openxmlformats.org/drawingml/2006/table">
            <a:tbl>
              <a:tblPr firstRow="1" firstCol="1" bandRow="1"/>
              <a:tblGrid>
                <a:gridCol w="8848208">
                  <a:extLst>
                    <a:ext uri="{9D8B030D-6E8A-4147-A177-3AD203B41FA5}">
                      <a16:colId xmlns:a16="http://schemas.microsoft.com/office/drawing/2014/main" val="456386931"/>
                    </a:ext>
                  </a:extLst>
                </a:gridCol>
              </a:tblGrid>
              <a:tr h="575343">
                <a:tc>
                  <a:txBody>
                    <a:bodyPr/>
                    <a:lstStyle/>
                    <a:p>
                      <a:pPr algn="just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en-US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mysum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(z=3, y=2, 1)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错误传递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339658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5384A80-128E-4598-9481-4A64A9A4F712}"/>
              </a:ext>
            </a:extLst>
          </p:cNvPr>
          <p:cNvSpPr txBox="1"/>
          <p:nvPr/>
        </p:nvSpPr>
        <p:spPr>
          <a:xfrm>
            <a:off x="2061180" y="439541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6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B1DDFA6-663A-429B-B639-C9A7E36F979D}"/>
              </a:ext>
            </a:extLst>
          </p:cNvPr>
          <p:cNvSpPr txBox="1"/>
          <p:nvPr/>
        </p:nvSpPr>
        <p:spPr>
          <a:xfrm>
            <a:off x="2009822" y="5258941"/>
            <a:ext cx="74029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SyntaxError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: positional argument follows keyword argument</a:t>
            </a:r>
            <a:endParaRPr lang="zh-CN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43B11A22-A9A8-4CE1-8C04-D7219FB610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5041809"/>
              </p:ext>
            </p:extLst>
          </p:nvPr>
        </p:nvGraphicFramePr>
        <p:xfrm>
          <a:off x="2129415" y="5633354"/>
          <a:ext cx="8848208" cy="575343"/>
        </p:xfrm>
        <a:graphic>
          <a:graphicData uri="http://schemas.openxmlformats.org/drawingml/2006/table">
            <a:tbl>
              <a:tblPr firstRow="1" firstCol="1" bandRow="1"/>
              <a:tblGrid>
                <a:gridCol w="8848208">
                  <a:extLst>
                    <a:ext uri="{9D8B030D-6E8A-4147-A177-3AD203B41FA5}">
                      <a16:colId xmlns:a16="http://schemas.microsoft.com/office/drawing/2014/main" val="456386931"/>
                    </a:ext>
                  </a:extLst>
                </a:gridCol>
              </a:tblGrid>
              <a:tr h="575343">
                <a:tc>
                  <a:txBody>
                    <a:bodyPr/>
                    <a:lstStyle/>
                    <a:p>
                      <a:pPr algn="just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en-US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mysum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(5, z=6, x=7)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错误传递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0339658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8208D717-0D35-461B-B244-C58578BD919D}"/>
              </a:ext>
            </a:extLst>
          </p:cNvPr>
          <p:cNvSpPr txBox="1"/>
          <p:nvPr/>
        </p:nvSpPr>
        <p:spPr>
          <a:xfrm>
            <a:off x="2009821" y="6181139"/>
            <a:ext cx="7149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TypeError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: </a:t>
            </a:r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mysum</a:t>
            </a:r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() got multiple values for argument 'x'</a:t>
            </a:r>
            <a:endParaRPr lang="zh-CN" altLang="zh-CN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1950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  <p:bldP spid="1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041AD-C9A4-A66C-D328-7B123EB75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(3) </a:t>
            </a:r>
            <a:r>
              <a:rPr lang="zh-CN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命名参数：按照参数名传递值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A63EAD-0016-F820-D34D-8D356D30CD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741" y="1490922"/>
            <a:ext cx="5080044" cy="27535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2D5D387-89F3-6683-EBCC-D52498D8E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3741" y="4562213"/>
            <a:ext cx="7252838" cy="116241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03584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）可变长参数：收集任意数量的参数</a:t>
            </a:r>
            <a:endParaRPr lang="en-US" dirty="0">
              <a:solidFill>
                <a:srgbClr val="0432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zh-CN" altLang="en-US" b="1" dirty="0"/>
              <a:t>位置可变长参数</a:t>
            </a:r>
            <a:r>
              <a:rPr lang="zh-CN" altLang="en-US" dirty="0"/>
              <a:t>，使用</a:t>
            </a:r>
            <a:r>
              <a:rPr lang="zh-CN" altLang="en-US" dirty="0">
                <a:solidFill>
                  <a:srgbClr val="0432FF"/>
                </a:solidFill>
              </a:rPr>
              <a:t>*</a:t>
            </a:r>
            <a:r>
              <a:rPr lang="en-US" dirty="0" err="1">
                <a:solidFill>
                  <a:srgbClr val="0432FF"/>
                </a:solidFill>
              </a:rPr>
              <a:t>args</a:t>
            </a:r>
            <a:r>
              <a:rPr lang="zh-CN" altLang="en-US" dirty="0"/>
              <a:t>收集任意多个基于位置的参数，将它们打包成一个元组。</a:t>
            </a:r>
            <a:endParaRPr lang="en-US" altLang="zh-CN" dirty="0"/>
          </a:p>
          <a:p>
            <a:pPr>
              <a:lnSpc>
                <a:spcPct val="100000"/>
              </a:lnSpc>
            </a:pPr>
            <a:r>
              <a:rPr lang="zh-CN" altLang="zh-CN" dirty="0"/>
              <a:t>声明一个具有可变长参数的函数形式</a:t>
            </a:r>
            <a:r>
              <a:rPr lang="zh-CN" altLang="en-US" dirty="0"/>
              <a:t>为</a:t>
            </a:r>
            <a:r>
              <a:rPr lang="zh-CN" altLang="zh-CN" dirty="0"/>
              <a:t>：</a:t>
            </a:r>
          </a:p>
          <a:p>
            <a:endParaRPr lang="en-US" altLang="zh-CN" dirty="0"/>
          </a:p>
          <a:p>
            <a:r>
              <a:rPr lang="zh-CN" altLang="zh-CN" dirty="0"/>
              <a:t>一般</a:t>
            </a:r>
            <a:r>
              <a:rPr lang="zh-CN" altLang="en-US" dirty="0"/>
              <a:t>而言</a:t>
            </a:r>
            <a:r>
              <a:rPr lang="zh-CN" altLang="zh-CN" dirty="0"/>
              <a:t>，</a:t>
            </a:r>
            <a:r>
              <a:rPr lang="zh-CN" altLang="zh-CN" dirty="0">
                <a:solidFill>
                  <a:srgbClr val="FF0000"/>
                </a:solidFill>
              </a:rPr>
              <a:t>可变长参数</a:t>
            </a:r>
            <a:r>
              <a:rPr lang="zh-CN" altLang="en-US" dirty="0">
                <a:solidFill>
                  <a:srgbClr val="FF0000"/>
                </a:solidFill>
              </a:rPr>
              <a:t>出现</a:t>
            </a:r>
            <a:r>
              <a:rPr lang="zh-CN" altLang="zh-CN" dirty="0">
                <a:solidFill>
                  <a:srgbClr val="FF0000"/>
                </a:solidFill>
              </a:rPr>
              <a:t>在形参列表的末尾</a:t>
            </a:r>
            <a:r>
              <a:rPr lang="zh-CN" altLang="zh-CN" dirty="0"/>
              <a:t>，收集传递给函数的所有剩余输入参数。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举例：</a:t>
            </a: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en-US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E02B20-212F-4109-A01F-BC7BDEDAE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1078069"/>
              </p:ext>
            </p:extLst>
          </p:nvPr>
        </p:nvGraphicFramePr>
        <p:xfrm>
          <a:off x="1804321" y="4172175"/>
          <a:ext cx="8583357" cy="1524000"/>
        </p:xfrm>
        <a:graphic>
          <a:graphicData uri="http://schemas.openxmlformats.org/drawingml/2006/table">
            <a:tbl>
              <a:tblPr firstRow="1" firstCol="1" bandRow="1"/>
              <a:tblGrid>
                <a:gridCol w="8583357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284430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mylist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(*list):                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altLang="en-US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定义一个可变长参数的函数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L=[]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for </a:t>
                      </a: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in list: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循环处理参数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       </a:t>
                      </a: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L.extend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)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将所有参数中的列表合并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return 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B5384A80-128E-4598-9481-4A64A9A4F712}"/>
              </a:ext>
            </a:extLst>
          </p:cNvPr>
          <p:cNvSpPr txBox="1"/>
          <p:nvPr/>
        </p:nvSpPr>
        <p:spPr>
          <a:xfrm>
            <a:off x="10361050" y="6046847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[1,2,3,4,5,6]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1912BF71-AFE0-4C56-AF27-8D40CABBD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234158"/>
              </p:ext>
            </p:extLst>
          </p:nvPr>
        </p:nvGraphicFramePr>
        <p:xfrm>
          <a:off x="1804321" y="5814801"/>
          <a:ext cx="8583357" cy="695307"/>
        </p:xfrm>
        <a:graphic>
          <a:graphicData uri="http://schemas.openxmlformats.org/drawingml/2006/table">
            <a:tbl>
              <a:tblPr firstRow="1" firstCol="1" bandRow="1"/>
              <a:tblGrid>
                <a:gridCol w="8583357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69530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a, b=[1,2,3], [4,5,6]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定义列表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mylist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a,b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)                        </a:t>
                      </a: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#</a:t>
                      </a:r>
                      <a:r>
                        <a:rPr lang="zh-CN" altLang="en-US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调用函数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，传递两个参数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88AB4B74-2A1B-969F-18C4-A33EDEB3D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0305" y="2133028"/>
            <a:ext cx="3678919" cy="846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586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4</a:t>
            </a:r>
            <a:r>
              <a:rPr lang="zh-CN" altLang="en-US" dirty="0">
                <a:solidFill>
                  <a:srgbClr val="0432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）可变长参数：收集任意数量的参数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3382" y="1298750"/>
            <a:ext cx="9982200" cy="4572000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b="1" dirty="0"/>
              <a:t>关键字可变长参数</a:t>
            </a:r>
            <a:r>
              <a:rPr lang="zh-CN" altLang="en-US" dirty="0"/>
              <a:t>，使用</a:t>
            </a:r>
            <a:r>
              <a:rPr lang="zh-CN" altLang="en-US" dirty="0">
                <a:solidFill>
                  <a:srgbClr val="0432FF"/>
                </a:solidFill>
              </a:rPr>
              <a:t>**</a:t>
            </a:r>
            <a:r>
              <a:rPr lang="en-US" dirty="0" err="1">
                <a:solidFill>
                  <a:srgbClr val="0432FF"/>
                </a:solidFill>
              </a:rPr>
              <a:t>kwargs</a:t>
            </a:r>
            <a:r>
              <a:rPr lang="zh-CN" altLang="en-US" dirty="0"/>
              <a:t>收集任意多个基于关键字的参数，并将它们打包成一个字典。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zh-CN" dirty="0"/>
              <a:t>声明一个具有关键字参数的函数形式如下：</a:t>
            </a:r>
            <a:endParaRPr lang="en-US" altLang="zh-CN" sz="2000" dirty="0"/>
          </a:p>
          <a:p>
            <a:pPr algn="just">
              <a:lnSpc>
                <a:spcPct val="100000"/>
              </a:lnSpc>
            </a:pPr>
            <a:r>
              <a:rPr lang="zh-CN" altLang="zh-CN" dirty="0"/>
              <a:t>可</a:t>
            </a:r>
            <a:r>
              <a:rPr lang="zh-CN" altLang="zh-CN" dirty="0">
                <a:solidFill>
                  <a:srgbClr val="FF0000"/>
                </a:solidFill>
              </a:rPr>
              <a:t>扩展函数的功能</a:t>
            </a:r>
            <a:r>
              <a:rPr lang="zh-CN" altLang="zh-CN" dirty="0"/>
              <a:t>。</a:t>
            </a:r>
            <a:endParaRPr lang="en-US" altLang="zh-CN" dirty="0"/>
          </a:p>
          <a:p>
            <a:pPr marL="0" indent="0" algn="just">
              <a:buNone/>
            </a:pPr>
            <a:r>
              <a:rPr lang="zh-CN" altLang="en-US" dirty="0"/>
              <a:t>举例：</a:t>
            </a:r>
            <a:endParaRPr lang="en-US" altLang="zh-CN" dirty="0"/>
          </a:p>
          <a:p>
            <a:pPr algn="just">
              <a:lnSpc>
                <a:spcPct val="100000"/>
              </a:lnSpc>
            </a:pPr>
            <a:endParaRPr lang="en-US" altLang="zh-CN" dirty="0"/>
          </a:p>
          <a:p>
            <a:pPr algn="just">
              <a:lnSpc>
                <a:spcPct val="100000"/>
              </a:lnSpc>
            </a:pPr>
            <a:endParaRPr lang="en-US" altLang="zh-CN" dirty="0"/>
          </a:p>
          <a:p>
            <a:pPr algn="just">
              <a:lnSpc>
                <a:spcPct val="100000"/>
              </a:lnSpc>
            </a:pPr>
            <a:endParaRPr lang="en-US" altLang="zh-CN" dirty="0"/>
          </a:p>
          <a:p>
            <a:pPr marL="0" indent="0" algn="just">
              <a:lnSpc>
                <a:spcPct val="100000"/>
              </a:lnSpc>
              <a:buNone/>
            </a:pPr>
            <a:endParaRPr lang="en-US" altLang="zh-CN" dirty="0"/>
          </a:p>
          <a:p>
            <a:pPr algn="just">
              <a:lnSpc>
                <a:spcPct val="100000"/>
              </a:lnSpc>
            </a:pPr>
            <a:endParaRPr lang="en-US" altLang="zh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F939252-D351-5290-0BD7-EFBDD4456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115" y="2380707"/>
            <a:ext cx="3718483" cy="80980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D944594-EFB6-ECC8-A4FF-DF966C95EE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055" y="3574476"/>
            <a:ext cx="7902120" cy="2692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269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5.2.2 </a:t>
            </a:r>
            <a:r>
              <a:rPr lang="zh-CN" altLang="en-US" dirty="0"/>
              <a:t>函数的返回值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zh-CN" dirty="0"/>
              <a:t>函数在被主程序调用以后，会执行函数体中的语句，并向主程序返回所取得的运算结果，即</a:t>
            </a:r>
            <a:r>
              <a:rPr lang="zh-CN" altLang="zh-CN" dirty="0">
                <a:solidFill>
                  <a:srgbClr val="FF0000"/>
                </a:solidFill>
              </a:rPr>
              <a:t>函数的返回值</a:t>
            </a:r>
            <a:r>
              <a:rPr lang="zh-CN" altLang="zh-CN" dirty="0"/>
              <a:t>。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zh-CN" dirty="0"/>
              <a:t>通过执行</a:t>
            </a:r>
            <a:r>
              <a:rPr lang="en-US" altLang="zh-CN" dirty="0">
                <a:solidFill>
                  <a:srgbClr val="0047D9"/>
                </a:solidFill>
              </a:rPr>
              <a:t>return</a:t>
            </a:r>
            <a:r>
              <a:rPr lang="zh-CN" altLang="zh-CN" dirty="0"/>
              <a:t>语句，函数将返回值返回给主程序，让</a:t>
            </a:r>
            <a:r>
              <a:rPr lang="zh-CN" altLang="en-US" dirty="0"/>
              <a:t>其</a:t>
            </a:r>
            <a:r>
              <a:rPr lang="zh-CN" altLang="zh-CN" dirty="0"/>
              <a:t>能直接得到函数处理的结果。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返回值可以是一个变量，也可以是一个表达式；可以返回一个或多个值。</a:t>
            </a:r>
            <a:endParaRPr lang="en-US" altLang="zh-CN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zh-CN" altLang="zh-CN" dirty="0"/>
              <a:t>在</a:t>
            </a:r>
            <a:r>
              <a:rPr lang="en-US" altLang="zh-CN" dirty="0"/>
              <a:t>Python</a:t>
            </a:r>
            <a:r>
              <a:rPr lang="zh-CN" altLang="zh-CN" dirty="0"/>
              <a:t>中定义一个函数，不需要声明函数的返回类型，也不需要声明每个参数的类型，有些函数可以既不需要传递参数也没有返回值</a:t>
            </a:r>
            <a:r>
              <a:rPr lang="zh-CN" altLang="en-US" dirty="0"/>
              <a:t>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973026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5.2.2 </a:t>
            </a:r>
            <a:r>
              <a:rPr lang="zh-CN" altLang="en-US" dirty="0"/>
              <a:t>函数的返回值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dirty="0"/>
              <a:t>在</a:t>
            </a:r>
            <a:r>
              <a:rPr lang="en-US" altLang="zh-CN" dirty="0"/>
              <a:t>Python</a:t>
            </a:r>
            <a:r>
              <a:rPr lang="zh-CN" altLang="zh-CN" dirty="0"/>
              <a:t>中，函数的返回值并非必须存在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/>
              <a:t>若函数有返回值，则需使用</a:t>
            </a:r>
            <a:r>
              <a:rPr lang="en-US" altLang="zh-CN" sz="2000" dirty="0"/>
              <a:t>return</a:t>
            </a:r>
            <a:r>
              <a:rPr lang="zh-CN" altLang="zh-CN" sz="2000" dirty="0"/>
              <a:t>语句返回计算结果；</a:t>
            </a:r>
            <a:endParaRPr lang="en-US" altLang="zh-CN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/>
              <a:t>若函数没有返回值，如仅执行输出打印的过程，则可以不使用</a:t>
            </a:r>
            <a:r>
              <a:rPr lang="en-US" altLang="zh-CN" sz="2000" dirty="0"/>
              <a:t>return</a:t>
            </a:r>
            <a:r>
              <a:rPr lang="zh-CN" altLang="zh-CN" sz="2000" dirty="0"/>
              <a:t>语句，相当于返回值是</a:t>
            </a:r>
            <a:r>
              <a:rPr lang="en-US" altLang="zh-CN" sz="2000" dirty="0"/>
              <a:t>None</a:t>
            </a:r>
            <a:r>
              <a:rPr lang="zh-CN" altLang="zh-CN" sz="2000" dirty="0"/>
              <a:t>。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95EA309-A20A-424E-880E-FB6F660CF7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825718"/>
              </p:ext>
            </p:extLst>
          </p:nvPr>
        </p:nvGraphicFramePr>
        <p:xfrm>
          <a:off x="1774209" y="4043043"/>
          <a:ext cx="8849675" cy="811696"/>
        </p:xfrm>
        <a:graphic>
          <a:graphicData uri="http://schemas.openxmlformats.org/drawingml/2006/table">
            <a:tbl>
              <a:tblPr firstRow="1" firstCol="1" bandRow="1"/>
              <a:tblGrid>
                <a:gridCol w="8849675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811696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Info():       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定义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Info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“Hello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World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!”)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打印函数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4495CE4-140C-402A-963B-7378A39AC6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951584"/>
              </p:ext>
            </p:extLst>
          </p:nvPr>
        </p:nvGraphicFramePr>
        <p:xfrm>
          <a:off x="1774210" y="5335129"/>
          <a:ext cx="8849674" cy="1011079"/>
        </p:xfrm>
        <a:graphic>
          <a:graphicData uri="http://schemas.openxmlformats.org/drawingml/2006/table">
            <a:tbl>
              <a:tblPr firstRow="1" firstCol="1" bandRow="1"/>
              <a:tblGrid>
                <a:gridCol w="8849674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01107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Info():        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定义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Info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“Hello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World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!”)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打印函数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print()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return  None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474E4D03-8F18-4593-BBB6-BD0DC0D3649A}"/>
              </a:ext>
            </a:extLst>
          </p:cNvPr>
          <p:cNvSpPr txBox="1"/>
          <p:nvPr/>
        </p:nvSpPr>
        <p:spPr>
          <a:xfrm>
            <a:off x="1248739" y="4888468"/>
            <a:ext cx="1050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等价于：</a:t>
            </a:r>
          </a:p>
        </p:txBody>
      </p:sp>
    </p:spTree>
    <p:extLst>
      <p:ext uri="{BB962C8B-B14F-4D97-AF65-F5344CB8AC3E}">
        <p14:creationId xmlns:p14="http://schemas.microsoft.com/office/powerpoint/2010/main" val="1206465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A8C9A-8CA8-02F9-1451-FABB5C4FC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dirty="0">
                <a:effectLst/>
                <a:latin typeface="system-ui"/>
              </a:rPr>
              <a:t>Return Multiple Values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50A8B4-3903-1770-D629-FCE3C21DA2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444" y="1523606"/>
            <a:ext cx="8261111" cy="464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845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5A008-45A9-D658-48AE-5F4D7300C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函数的嵌套使用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FAE1A9-EED7-970F-EFA0-158DA45AC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775" y="1474906"/>
            <a:ext cx="4495800" cy="3225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AE0315-47CE-F080-8448-69BC65C884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077" y="3816954"/>
            <a:ext cx="8045505" cy="265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72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6F454-65A2-EF1B-1ED6-8F9E92B3F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BD083-2779-D129-C6FF-2128CFF51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函数的嵌套使用</a:t>
            </a:r>
            <a:endParaRPr kumimoji="1"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0677B8-125C-74D0-A189-4A4738B168F6}"/>
              </a:ext>
            </a:extLst>
          </p:cNvPr>
          <p:cNvSpPr txBox="1"/>
          <p:nvPr/>
        </p:nvSpPr>
        <p:spPr>
          <a:xfrm>
            <a:off x="1221474" y="1397675"/>
            <a:ext cx="98641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3"/>
              </a:rPr>
              <a:t>（</a:t>
            </a:r>
            <a:r>
              <a:rPr lang="en-US" altLang="zh-CN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3"/>
              </a:rPr>
              <a:t>3</a:t>
            </a:r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3"/>
              </a:rPr>
              <a:t>）闭包（</a:t>
            </a:r>
            <a:r>
              <a:rPr 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3"/>
              </a:rPr>
              <a:t>Closure）</a:t>
            </a:r>
            <a:endParaRPr lang="en-US" b="1" i="0" dirty="0">
              <a:solidFill>
                <a:srgbClr val="262625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  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闭包是指在一个函数内部定义另一个函数，并且内部函数引用了外部函数的变量。即在内部函数保存了外部函数定义变量时的作用域，即便在外层作用域已经结束的情况下，依然能访问外层函数的变量。这种机制使得变量可以被 “捕获” 并保持其状态，使得内部函数可以在调用时记住并操作这些变量。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2944C0-876B-1A40-703B-DF5D44DC1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5197" y="3099516"/>
            <a:ext cx="7060087" cy="2807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001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4BB79-33E5-556D-EED3-483204A1CE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59C32-F557-784B-E57B-797184272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函数的嵌套使用</a:t>
            </a:r>
            <a:endParaRPr kumimoji="1"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48D5CB-E85B-57E7-02DA-EB0B04227DE2}"/>
              </a:ext>
            </a:extLst>
          </p:cNvPr>
          <p:cNvSpPr txBox="1"/>
          <p:nvPr/>
        </p:nvSpPr>
        <p:spPr>
          <a:xfrm>
            <a:off x="1221474" y="1397675"/>
            <a:ext cx="98641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3"/>
              </a:rPr>
              <a:t>（</a:t>
            </a:r>
            <a:r>
              <a:rPr lang="en-US" altLang="zh-CN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3"/>
              </a:rPr>
              <a:t>5</a:t>
            </a:r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3"/>
              </a:rPr>
              <a:t>）回调函数（</a:t>
            </a:r>
            <a:r>
              <a:rPr 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3"/>
              </a:rPr>
              <a:t>Callback Function）</a:t>
            </a:r>
            <a:endParaRPr lang="en-US" b="1" i="0" dirty="0">
              <a:solidFill>
                <a:srgbClr val="262625"/>
              </a:solidFill>
              <a:effectLst/>
              <a:latin typeface="Open Sans" panose="020B0606030504020204" pitchFamily="34" charset="0"/>
            </a:endParaRPr>
          </a:p>
          <a:p>
            <a:pPr algn="just"/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  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回调函数是一种编程技巧，其中将一个函数作为参数传递给另一个函数，并在外层函数内部调用这个传入的函数。通过这种方式，程序可以在某些条件下或特定时间点执行传入的函数，实现更灵活的功能。回调函数在异步编程、事件处理和提高代码复用性等方面应用广泛。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99C523-F7E4-910E-E5E5-C96598065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742" y="2822517"/>
            <a:ext cx="6102515" cy="299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287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10096500" cy="1734474"/>
          </a:xfrm>
        </p:spPr>
        <p:txBody>
          <a:bodyPr/>
          <a:lstStyle/>
          <a:p>
            <a:pPr algn="ctr"/>
            <a:r>
              <a:rPr lang="en-US" altLang="zh-CN" dirty="0"/>
              <a:t>5.3 </a:t>
            </a:r>
            <a:r>
              <a:rPr lang="zh-CN" altLang="en-US" dirty="0"/>
              <a:t>变量作用域</a:t>
            </a:r>
          </a:p>
        </p:txBody>
      </p:sp>
    </p:spTree>
    <p:extLst>
      <p:ext uri="{BB962C8B-B14F-4D97-AF65-F5344CB8AC3E}">
        <p14:creationId xmlns:p14="http://schemas.microsoft.com/office/powerpoint/2010/main" val="205552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变量作用域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338942"/>
            <a:ext cx="9982200" cy="5257801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dirty="0"/>
              <a:t>变量作用域，</a:t>
            </a:r>
            <a:r>
              <a:rPr lang="zh-CN" altLang="en-US" dirty="0"/>
              <a:t>即</a:t>
            </a:r>
            <a:r>
              <a:rPr lang="zh-CN" altLang="zh-CN" dirty="0"/>
              <a:t>变量的有效范围，是指变量可以在哪个范围以内使用</a:t>
            </a:r>
            <a:r>
              <a:rPr lang="zh-CN" altLang="en-US" dirty="0"/>
              <a:t>。一个变量的作用域总是由在代码中被赋值的地方所决定的。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zh-CN" dirty="0"/>
              <a:t>变量的作用域决定了在哪一部分程序可以访问哪个特定的变量名称</a:t>
            </a:r>
            <a:r>
              <a:rPr lang="zh-CN" altLang="en-US" dirty="0"/>
              <a:t>，</a:t>
            </a:r>
            <a:r>
              <a:rPr lang="zh-CN" altLang="zh-CN" dirty="0"/>
              <a:t>由此产生两种最基本的变量：</a:t>
            </a:r>
            <a:endParaRPr lang="en-US" altLang="zh-CN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局部变量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2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dirty="0"/>
              <a:t>只能在其被声明的函数内部访问</a:t>
            </a:r>
            <a:endParaRPr lang="en-US" altLang="zh-CN" sz="1800" dirty="0"/>
          </a:p>
          <a:p>
            <a:pPr lvl="2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只能在程序的特定部分使用的变量</a:t>
            </a:r>
            <a:endParaRPr lang="en-US" altLang="zh-CN" sz="18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>
                <a:solidFill>
                  <a:srgbClr val="FF0000"/>
                </a:solidFill>
              </a:rPr>
              <a:t>全局变量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2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zh-CN" sz="1800" dirty="0"/>
              <a:t>可以在整个程序范围内访问</a:t>
            </a:r>
            <a:endParaRPr lang="en-US" altLang="zh-CN" sz="1800" dirty="0"/>
          </a:p>
          <a:p>
            <a:pPr lvl="2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800" dirty="0"/>
              <a:t>整个程序可使用的变量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92941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变量作用域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举例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43BDFC5-031E-4791-92D5-2906FBAA5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8119622"/>
              </p:ext>
            </p:extLst>
          </p:nvPr>
        </p:nvGraphicFramePr>
        <p:xfrm>
          <a:off x="2014634" y="1692815"/>
          <a:ext cx="7990447" cy="3657600"/>
        </p:xfrm>
        <a:graphic>
          <a:graphicData uri="http://schemas.openxmlformats.org/drawingml/2006/table">
            <a:tbl>
              <a:tblPr firstRow="1" firstCol="1" bandRow="1"/>
              <a:tblGrid>
                <a:gridCol w="7990447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89779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f1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(a, b):     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a=10                         #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f1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函数中的局部变量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b=20                         #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f1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函数中的局部变量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avg=(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a+b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)/2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return avg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f2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(a, b):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a=15                         #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f2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函数中的局部变量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b=25                         #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f2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函数中的局部变量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b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print(a, b)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avg=(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a+b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)/2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return avg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DF51739-465F-4CDE-97F7-4CAB53779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9508158"/>
              </p:ext>
            </p:extLst>
          </p:nvPr>
        </p:nvGraphicFramePr>
        <p:xfrm>
          <a:off x="2014630" y="5536810"/>
          <a:ext cx="7990447" cy="448994"/>
        </p:xfrm>
        <a:graphic>
          <a:graphicData uri="http://schemas.openxmlformats.org/drawingml/2006/table">
            <a:tbl>
              <a:tblPr firstRow="1" firstCol="1" bandRow="1"/>
              <a:tblGrid>
                <a:gridCol w="7990447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4489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f1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(5, 10)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0686B72-C94D-44A4-BFE5-C80EE71AAD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742838"/>
              </p:ext>
            </p:extLst>
          </p:nvPr>
        </p:nvGraphicFramePr>
        <p:xfrm>
          <a:off x="2014631" y="6211669"/>
          <a:ext cx="7990447" cy="448994"/>
        </p:xfrm>
        <a:graphic>
          <a:graphicData uri="http://schemas.openxmlformats.org/drawingml/2006/table">
            <a:tbl>
              <a:tblPr firstRow="1" firstCol="1" bandRow="1"/>
              <a:tblGrid>
                <a:gridCol w="7990447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4489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f2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(5, 10)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046ACD5-4EDC-4D8A-AA52-0E9E7903125E}"/>
              </a:ext>
            </a:extLst>
          </p:cNvPr>
          <p:cNvSpPr txBox="1"/>
          <p:nvPr/>
        </p:nvSpPr>
        <p:spPr>
          <a:xfrm>
            <a:off x="10360771" y="5536810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15.0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EB91DC-23B8-4C39-A494-06736FE417C1}"/>
              </a:ext>
            </a:extLst>
          </p:cNvPr>
          <p:cNvSpPr txBox="1"/>
          <p:nvPr/>
        </p:nvSpPr>
        <p:spPr>
          <a:xfrm>
            <a:off x="10389352" y="6113000"/>
            <a:ext cx="1008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15 25</a:t>
            </a:r>
          </a:p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20.0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610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2D3F47-D421-92CD-73D7-DBC93C8862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668" y="1479550"/>
            <a:ext cx="5283200" cy="38989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CE2C06A-F917-5FFA-552C-4FABDA7E0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179" y="1758950"/>
            <a:ext cx="4305300" cy="334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07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01764-D8AF-9EFF-4E62-5605CA4C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变量作用域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33434F-F9EF-1670-F058-D45E1FA84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2893" y="1478033"/>
            <a:ext cx="6306213" cy="453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594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变量作用域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举例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en-US" altLang="zh-CN" sz="2000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F43BDFC5-031E-4791-92D5-2906FBAA5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2736714"/>
              </p:ext>
            </p:extLst>
          </p:nvPr>
        </p:nvGraphicFramePr>
        <p:xfrm>
          <a:off x="2100021" y="2128460"/>
          <a:ext cx="7074801" cy="2133600"/>
        </p:xfrm>
        <a:graphic>
          <a:graphicData uri="http://schemas.openxmlformats.org/drawingml/2006/table">
            <a:tbl>
              <a:tblPr firstRow="1" firstCol="1" bandRow="1"/>
              <a:tblGrid>
                <a:gridCol w="7074801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414443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m=100    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全局变量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a,b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m=50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与全局变量同名的局部变量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sum=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m+a+b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print(sum)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print(m)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输出为全局变量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DF51739-465F-4CDE-97F7-4CAB537796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0208713"/>
              </p:ext>
            </p:extLst>
          </p:nvPr>
        </p:nvGraphicFramePr>
        <p:xfrm>
          <a:off x="2100017" y="4808806"/>
          <a:ext cx="7990447" cy="448994"/>
        </p:xfrm>
        <a:graphic>
          <a:graphicData uri="http://schemas.openxmlformats.org/drawingml/2006/table">
            <a:tbl>
              <a:tblPr firstRow="1" firstCol="1" bandRow="1"/>
              <a:tblGrid>
                <a:gridCol w="7990447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4489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(7,10)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调用为局部变量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8" name="文本框 7">
            <a:extLst>
              <a:ext uri="{FF2B5EF4-FFF2-40B4-BE49-F238E27FC236}">
                <a16:creationId xmlns:a16="http://schemas.microsoft.com/office/drawing/2014/main" id="{7046ACD5-4EDC-4D8A-AA52-0E9E7903125E}"/>
              </a:ext>
            </a:extLst>
          </p:cNvPr>
          <p:cNvSpPr txBox="1"/>
          <p:nvPr/>
        </p:nvSpPr>
        <p:spPr>
          <a:xfrm>
            <a:off x="2100017" y="4350767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100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EB91DC-23B8-4C39-A494-06736FE417C1}"/>
              </a:ext>
            </a:extLst>
          </p:cNvPr>
          <p:cNvSpPr txBox="1"/>
          <p:nvPr/>
        </p:nvSpPr>
        <p:spPr>
          <a:xfrm>
            <a:off x="2100017" y="5370279"/>
            <a:ext cx="1008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67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对话气泡: 圆角矩形 10">
            <a:extLst>
              <a:ext uri="{FF2B5EF4-FFF2-40B4-BE49-F238E27FC236}">
                <a16:creationId xmlns:a16="http://schemas.microsoft.com/office/drawing/2014/main" id="{91110C6B-851A-4470-AF2B-C799CB14B26C}"/>
              </a:ext>
            </a:extLst>
          </p:cNvPr>
          <p:cNvSpPr/>
          <p:nvPr/>
        </p:nvSpPr>
        <p:spPr>
          <a:xfrm>
            <a:off x="9386281" y="1523180"/>
            <a:ext cx="2695940" cy="1863413"/>
          </a:xfrm>
          <a:prstGeom prst="wedgeRoundRectCallout">
            <a:avLst>
              <a:gd name="adj1" fmla="val -60230"/>
              <a:gd name="adj2" fmla="val 73996"/>
              <a:gd name="adj3" fmla="val 16667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>
              <a:lnSpc>
                <a:spcPct val="150000"/>
              </a:lnSpc>
            </a:pPr>
            <a:r>
              <a:rPr lang="zh-CN" altLang="zh-CN" sz="2000" dirty="0">
                <a:solidFill>
                  <a:schemeClr val="tx2"/>
                </a:solidFill>
              </a:rPr>
              <a:t>函数内部定义与全局变量同名的变量，则该变量仍为局部变量</a:t>
            </a:r>
            <a:r>
              <a:rPr lang="zh-CN" altLang="en-US" sz="2000" dirty="0">
                <a:solidFill>
                  <a:schemeClr val="tx2"/>
                </a:solidFill>
              </a:rPr>
              <a:t>！</a:t>
            </a:r>
          </a:p>
        </p:txBody>
      </p:sp>
      <p:graphicFrame>
        <p:nvGraphicFramePr>
          <p:cNvPr id="2" name="表格 5">
            <a:extLst>
              <a:ext uri="{FF2B5EF4-FFF2-40B4-BE49-F238E27FC236}">
                <a16:creationId xmlns:a16="http://schemas.microsoft.com/office/drawing/2014/main" id="{0F419302-3B9D-CEB0-D9FC-0808EBF92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2761946"/>
              </p:ext>
            </p:extLst>
          </p:nvPr>
        </p:nvGraphicFramePr>
        <p:xfrm>
          <a:off x="2100016" y="5804546"/>
          <a:ext cx="7990447" cy="448994"/>
        </p:xfrm>
        <a:graphic>
          <a:graphicData uri="http://schemas.openxmlformats.org/drawingml/2006/table">
            <a:tbl>
              <a:tblPr firstRow="1" firstCol="1" bandRow="1"/>
              <a:tblGrid>
                <a:gridCol w="7990447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44899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print(m)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？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57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</a:t>
            </a:r>
            <a:r>
              <a:rPr lang="zh-CN" altLang="en-US" dirty="0"/>
              <a:t>变量作用域</a:t>
            </a:r>
            <a:r>
              <a:rPr lang="en-US" altLang="zh-CN" dirty="0"/>
              <a:t>——</a:t>
            </a:r>
            <a:r>
              <a:rPr lang="en-US" altLang="zh-CN" dirty="0">
                <a:solidFill>
                  <a:srgbClr val="FF0000"/>
                </a:solidFill>
              </a:rPr>
              <a:t>global</a:t>
            </a:r>
            <a:r>
              <a:rPr lang="zh-CN" altLang="en-US" dirty="0">
                <a:solidFill>
                  <a:srgbClr val="FF0000"/>
                </a:solidFill>
              </a:rPr>
              <a:t>语句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00000"/>
              </a:lnSpc>
            </a:pPr>
            <a:r>
              <a:rPr lang="zh-CN" altLang="en-US" dirty="0"/>
              <a:t>若想</a:t>
            </a:r>
            <a:r>
              <a:rPr lang="zh-CN" altLang="en-US" dirty="0">
                <a:solidFill>
                  <a:srgbClr val="FF0000"/>
                </a:solidFill>
              </a:rPr>
              <a:t>在函数内定义全局作用域</a:t>
            </a:r>
            <a:r>
              <a:rPr lang="zh-CN" altLang="en-US" dirty="0"/>
              <a:t>，则需要加上</a:t>
            </a:r>
            <a:r>
              <a:rPr lang="en-US" altLang="zh-CN" dirty="0"/>
              <a:t>global</a:t>
            </a:r>
            <a:r>
              <a:rPr lang="zh-CN" altLang="en-US" dirty="0"/>
              <a:t>修饰符。</a:t>
            </a:r>
            <a:endParaRPr lang="en-US" altLang="zh-CN" dirty="0"/>
          </a:p>
          <a:p>
            <a:pPr algn="just">
              <a:lnSpc>
                <a:spcPct val="150000"/>
              </a:lnSpc>
            </a:pPr>
            <a:r>
              <a:rPr lang="zh-CN" altLang="zh-CN" dirty="0"/>
              <a:t>被</a:t>
            </a:r>
            <a:r>
              <a:rPr lang="en-US" altLang="zh-CN" dirty="0"/>
              <a:t>global</a:t>
            </a:r>
            <a:r>
              <a:rPr lang="zh-CN" altLang="zh-CN" dirty="0"/>
              <a:t>声明的变量在函数主体中被赋值或引用时，会被映射到</a:t>
            </a:r>
            <a:r>
              <a:rPr lang="zh-CN" altLang="zh-CN" dirty="0">
                <a:solidFill>
                  <a:srgbClr val="FF0000"/>
                </a:solidFill>
              </a:rPr>
              <a:t>整个模块的作用域内</a:t>
            </a:r>
            <a:r>
              <a:rPr lang="zh-CN" altLang="zh-CN" dirty="0"/>
              <a:t>，即在整个模块中都是可以使用的</a:t>
            </a:r>
            <a:r>
              <a:rPr lang="zh-CN" altLang="en-US" dirty="0"/>
              <a:t>。</a:t>
            </a:r>
            <a:endParaRPr lang="en-US" altLang="zh-CN" dirty="0"/>
          </a:p>
          <a:p>
            <a:pPr marL="0" indent="0" algn="just">
              <a:lnSpc>
                <a:spcPct val="100000"/>
              </a:lnSpc>
              <a:buNone/>
            </a:pPr>
            <a:r>
              <a:rPr lang="zh-CN" altLang="en-US" sz="2000" dirty="0"/>
              <a:t>举例：</a:t>
            </a:r>
            <a:endParaRPr lang="en-US" altLang="zh-CN" sz="2000" dirty="0"/>
          </a:p>
          <a:p>
            <a:pPr marL="0" indent="0" algn="just">
              <a:lnSpc>
                <a:spcPct val="100000"/>
              </a:lnSpc>
              <a:buNone/>
            </a:pPr>
            <a:endParaRPr lang="en-US" altLang="zh-CN" sz="20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9EA2FBB-3AD2-4202-8FC1-E4967C0631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230800"/>
              </p:ext>
            </p:extLst>
          </p:nvPr>
        </p:nvGraphicFramePr>
        <p:xfrm>
          <a:off x="1378634" y="3792464"/>
          <a:ext cx="8860240" cy="1828800"/>
        </p:xfrm>
        <a:graphic>
          <a:graphicData uri="http://schemas.openxmlformats.org/drawingml/2006/table">
            <a:tbl>
              <a:tblPr firstRow="1" firstCol="1" bandRow="1"/>
              <a:tblGrid>
                <a:gridCol w="8860240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30477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fun (x): 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声明函数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global 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使用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global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关键词声明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为全局变量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return </a:t>
                      </a:r>
                      <a:r>
                        <a:rPr lang="en-US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a+x</a:t>
                      </a:r>
                      <a:endParaRPr lang="en-US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a=5                            #a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为全局变量，即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函数中的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fun(3)       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调用函数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23AC999-0096-40B6-A624-37A120724CD8}"/>
              </a:ext>
            </a:extLst>
          </p:cNvPr>
          <p:cNvSpPr txBox="1"/>
          <p:nvPr/>
        </p:nvSpPr>
        <p:spPr>
          <a:xfrm>
            <a:off x="1425752" y="5578625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8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969DB84-240C-4EC1-A2C3-696993474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430896"/>
              </p:ext>
            </p:extLst>
          </p:nvPr>
        </p:nvGraphicFramePr>
        <p:xfrm>
          <a:off x="1378633" y="5932841"/>
          <a:ext cx="8860240" cy="670747"/>
        </p:xfrm>
        <a:graphic>
          <a:graphicData uri="http://schemas.openxmlformats.org/drawingml/2006/table">
            <a:tbl>
              <a:tblPr firstRow="1" firstCol="1" bandRow="1"/>
              <a:tblGrid>
                <a:gridCol w="8860240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670747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a=2          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修改</a:t>
                      </a: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的值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fun(3)                         #</a:t>
                      </a:r>
                      <a:r>
                        <a:rPr lang="zh-CN" altLang="en-US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调用函数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58670556-DB62-4680-9D24-7AEE294E5C8C}"/>
              </a:ext>
            </a:extLst>
          </p:cNvPr>
          <p:cNvSpPr txBox="1"/>
          <p:nvPr/>
        </p:nvSpPr>
        <p:spPr>
          <a:xfrm>
            <a:off x="1425752" y="656383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5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395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EDB62A-3A04-EADB-1ADD-5A751AC939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021" y="538075"/>
            <a:ext cx="2768600" cy="24257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7EAF4E-BDD3-1A5A-F38A-29FABCAE5A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764" y="899816"/>
            <a:ext cx="5054600" cy="52705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BC10CDD-822E-D52F-8934-CD3E5FFEC5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4232" y="3429000"/>
            <a:ext cx="23241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607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E881-8A63-F727-B5F8-DEEA91FD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>
                <a:solidFill>
                  <a:srgbClr val="262625"/>
                </a:solidFill>
                <a:latin typeface="Open Sans" panose="020B0606030504020204" pitchFamily="34" charset="0"/>
                <a:hlinkClick r:id="rId2"/>
              </a:rPr>
              <a:t>global</a:t>
            </a:r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关键字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E227FB-FB59-400E-9DC2-0CA33E049B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115" y="1458501"/>
            <a:ext cx="4436944" cy="455181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3CBDDE-A0A2-1D1E-1039-F601FF6C0B12}"/>
              </a:ext>
            </a:extLst>
          </p:cNvPr>
          <p:cNvSpPr txBox="1"/>
          <p:nvPr/>
        </p:nvSpPr>
        <p:spPr>
          <a:xfrm>
            <a:off x="6464489" y="3483535"/>
            <a:ext cx="4436944" cy="2526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在上面的示例中，</a:t>
            </a:r>
            <a:r>
              <a:rPr lang="en-US" dirty="0" err="1"/>
              <a:t>increment_count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函数使用</a:t>
            </a:r>
            <a:r>
              <a:rPr lang="en-US" dirty="0"/>
              <a:t>global count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声明，表明函数内部的</a:t>
            </a:r>
            <a:r>
              <a:rPr lang="en-US" dirty="0"/>
              <a:t>count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是指向全局变量，而不是创建一个新的局部变量，可以通过</a:t>
            </a:r>
            <a:r>
              <a:rPr lang="en-US" dirty="0"/>
              <a:t>count += 1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修改全局变量的值。而在</a:t>
            </a:r>
            <a:r>
              <a:rPr lang="en-US" dirty="0" err="1"/>
              <a:t>print_count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函数中，则是直接访问全局变量</a:t>
            </a:r>
            <a:r>
              <a:rPr lang="en-US" dirty="0"/>
              <a:t>count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的当前值。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3103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6C472-6A75-0A75-B06E-D233BF74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nonlocal</a:t>
            </a:r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关键字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40F9B3-7EEB-1D62-E744-33DAF7F779E7}"/>
              </a:ext>
            </a:extLst>
          </p:cNvPr>
          <p:cNvSpPr txBox="1"/>
          <p:nvPr/>
        </p:nvSpPr>
        <p:spPr>
          <a:xfrm>
            <a:off x="1246873" y="1401255"/>
            <a:ext cx="969673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Python 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中</a:t>
            </a:r>
            <a:r>
              <a:rPr lang="en-US" dirty="0"/>
              <a:t>nonlocal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关键字用于声明一个变量，它既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不是局部变量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也</a:t>
            </a:r>
            <a:r>
              <a:rPr lang="zh-CN" altLang="en-US" b="0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不是全局变量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，而是属于</a:t>
            </a:r>
            <a:r>
              <a:rPr lang="zh-CN" altLang="en-US" b="0" i="0" dirty="0">
                <a:solidFill>
                  <a:srgbClr val="0047D9"/>
                </a:solidFill>
                <a:effectLst/>
                <a:latin typeface="Times New Roman" panose="02020603050405020304" pitchFamily="18" charset="0"/>
              </a:rPr>
              <a:t>上一级封闭函数作用域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的变量。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ED569B-3871-35AD-4437-31E690632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0002" y="2047586"/>
            <a:ext cx="4723562" cy="438051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2EDB4FD-7550-3409-27DB-6BA9D4A8F0BE}"/>
              </a:ext>
            </a:extLst>
          </p:cNvPr>
          <p:cNvSpPr txBox="1"/>
          <p:nvPr/>
        </p:nvSpPr>
        <p:spPr>
          <a:xfrm>
            <a:off x="6836693" y="3726935"/>
            <a:ext cx="4723562" cy="25326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需要注意的是，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nonlocal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只能用于嵌套函数，即仅能在嵌套函数中使用，如果在全局范围或顶层函数使用则会引发语法错误。另外，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nonlocal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只能作用于最近的嵌套作用域中的变量，而不是全局变量；如果需要修改全局变量，则需要使用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global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关键词。</a:t>
            </a:r>
          </a:p>
        </p:txBody>
      </p:sp>
    </p:spTree>
    <p:extLst>
      <p:ext uri="{BB962C8B-B14F-4D97-AF65-F5344CB8AC3E}">
        <p14:creationId xmlns:p14="http://schemas.microsoft.com/office/powerpoint/2010/main" val="3368579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10096500" cy="1734474"/>
          </a:xfrm>
        </p:spPr>
        <p:txBody>
          <a:bodyPr/>
          <a:lstStyle/>
          <a:p>
            <a:pPr algn="ctr"/>
            <a:r>
              <a:rPr lang="en-US" altLang="zh-CN" dirty="0"/>
              <a:t>5.4 </a:t>
            </a:r>
            <a:r>
              <a:rPr lang="zh-CN" altLang="en-US" dirty="0"/>
              <a:t>匿名函数</a:t>
            </a:r>
          </a:p>
        </p:txBody>
      </p:sp>
    </p:spTree>
    <p:extLst>
      <p:ext uri="{BB962C8B-B14F-4D97-AF65-F5344CB8AC3E}">
        <p14:creationId xmlns:p14="http://schemas.microsoft.com/office/powerpoint/2010/main" val="4270147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</a:t>
            </a:r>
            <a:r>
              <a:rPr lang="zh-CN" altLang="en-US" dirty="0"/>
              <a:t>匿名函数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501726"/>
            <a:ext cx="9982200" cy="4572000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zh-CN" altLang="en-US" dirty="0"/>
              <a:t>在</a:t>
            </a:r>
            <a:r>
              <a:rPr lang="en-US" altLang="zh-CN" dirty="0"/>
              <a:t>python</a:t>
            </a:r>
            <a:r>
              <a:rPr lang="zh-CN" altLang="en-US" dirty="0"/>
              <a:t>中，我们不仅可以使用 </a:t>
            </a:r>
            <a:r>
              <a:rPr lang="en-US" altLang="zh-CN" dirty="0"/>
              <a:t>def </a:t>
            </a:r>
            <a:r>
              <a:rPr lang="zh-CN" altLang="en-US" dirty="0"/>
              <a:t>关键字定义函数，还可以定义匿名函数。所谓匿名函数，</a:t>
            </a:r>
            <a:r>
              <a:rPr lang="zh-CN" altLang="zh-CN" dirty="0"/>
              <a:t>就是指所声明的函数没有函数名</a:t>
            </a:r>
            <a:r>
              <a:rPr lang="zh-CN" altLang="en-US" dirty="0"/>
              <a:t>。</a:t>
            </a:r>
            <a:endParaRPr lang="en-US" altLang="zh-CN" dirty="0"/>
          </a:p>
          <a:p>
            <a:pPr algn="just"/>
            <a:r>
              <a:rPr lang="en-US" altLang="zh-CN" dirty="0"/>
              <a:t>lambda</a:t>
            </a:r>
            <a:r>
              <a:rPr lang="zh-CN" altLang="zh-CN" dirty="0"/>
              <a:t>表达式是常见的匿名函数定义方式</a:t>
            </a:r>
            <a:r>
              <a:rPr lang="zh-CN" altLang="en-US" dirty="0"/>
              <a:t>，</a:t>
            </a:r>
            <a:r>
              <a:rPr lang="zh-CN" altLang="zh-CN" dirty="0"/>
              <a:t>使用</a:t>
            </a:r>
            <a:r>
              <a:rPr lang="en-US" altLang="zh-CN" dirty="0"/>
              <a:t>lambda</a:t>
            </a:r>
            <a:r>
              <a:rPr lang="zh-CN" altLang="zh-CN" dirty="0"/>
              <a:t>声明函数的一般形式如下：</a:t>
            </a:r>
          </a:p>
          <a:p>
            <a:pPr marL="0" indent="0" algn="ctr">
              <a:buNone/>
            </a:pPr>
            <a:r>
              <a:rPr lang="en-US" altLang="zh-CN" b="1" dirty="0">
                <a:solidFill>
                  <a:srgbClr val="0432FF"/>
                </a:solidFill>
                <a:latin typeface="+mn-ea"/>
              </a:rPr>
              <a:t>lambda </a:t>
            </a:r>
            <a:r>
              <a:rPr lang="zh-CN" altLang="zh-CN" b="1" dirty="0">
                <a:solidFill>
                  <a:srgbClr val="0432FF"/>
                </a:solidFill>
                <a:latin typeface="+mn-ea"/>
              </a:rPr>
              <a:t>参数列表：表达式</a:t>
            </a:r>
            <a:endParaRPr lang="en-US" altLang="zh-CN" b="1" dirty="0">
              <a:solidFill>
                <a:srgbClr val="0432FF"/>
              </a:solidFill>
              <a:latin typeface="+mn-ea"/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000" dirty="0"/>
              <a:t>lambda</a:t>
            </a:r>
            <a:r>
              <a:rPr lang="zh-CN" altLang="en-US" sz="2000" dirty="0"/>
              <a:t>函数体中仅能封装单一的参数表达式，而不能包含其他语句。注意：</a:t>
            </a:r>
            <a:r>
              <a:rPr lang="zh-CN" altLang="en-US" sz="2000" dirty="0">
                <a:solidFill>
                  <a:srgbClr val="FF0000"/>
                </a:solidFill>
              </a:rPr>
              <a:t>是表达式，而不是语句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使用</a:t>
            </a:r>
            <a:r>
              <a:rPr lang="en-US" altLang="zh-CN" sz="2000" dirty="0"/>
              <a:t>lambda</a:t>
            </a:r>
            <a:r>
              <a:rPr lang="zh-CN" altLang="en-US" sz="2000" dirty="0"/>
              <a:t>声明的函数可以返回一个值，</a:t>
            </a:r>
            <a:endParaRPr lang="en-US" altLang="zh-CN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该</a:t>
            </a:r>
            <a:r>
              <a:rPr lang="zh-CN" altLang="en-US" sz="2000" dirty="0">
                <a:solidFill>
                  <a:srgbClr val="FF0000"/>
                </a:solidFill>
              </a:rPr>
              <a:t>返回值就是表达式计算后的结果</a:t>
            </a:r>
            <a:r>
              <a:rPr lang="zh-CN" altLang="en-US" sz="2000" dirty="0"/>
              <a:t>，</a:t>
            </a:r>
            <a:endParaRPr lang="en-US" altLang="zh-CN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在调用函数时可直接使用该返回值。</a:t>
            </a:r>
            <a:endParaRPr lang="en-US" altLang="zh-CN" sz="2000" dirty="0"/>
          </a:p>
          <a:p>
            <a:endParaRPr lang="zh-CN" altLang="zh-CN" dirty="0"/>
          </a:p>
          <a:p>
            <a:pPr>
              <a:lnSpc>
                <a:spcPct val="100000"/>
              </a:lnSpc>
            </a:pPr>
            <a:endParaRPr lang="en-US" altLang="zh-C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7BE5BA-FA37-B16E-62CA-092F7C3927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526" y="4285273"/>
            <a:ext cx="3568700" cy="16637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87746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</a:t>
            </a:r>
            <a:r>
              <a:rPr lang="zh-CN" altLang="en-US" dirty="0"/>
              <a:t>匿名函数</a:t>
            </a:r>
            <a:endParaRPr lang="en-US" dirty="0"/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4BFB5D77-A7FE-4B24-9531-58F90484EC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626923"/>
              </p:ext>
            </p:extLst>
          </p:nvPr>
        </p:nvGraphicFramePr>
        <p:xfrm>
          <a:off x="1579625" y="2091448"/>
          <a:ext cx="9456821" cy="4401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2242">
                  <a:extLst>
                    <a:ext uri="{9D8B030D-6E8A-4147-A177-3AD203B41FA5}">
                      <a16:colId xmlns:a16="http://schemas.microsoft.com/office/drawing/2014/main" val="1835383572"/>
                    </a:ext>
                  </a:extLst>
                </a:gridCol>
                <a:gridCol w="3516999">
                  <a:extLst>
                    <a:ext uri="{9D8B030D-6E8A-4147-A177-3AD203B41FA5}">
                      <a16:colId xmlns:a16="http://schemas.microsoft.com/office/drawing/2014/main" val="3178964072"/>
                    </a:ext>
                  </a:extLst>
                </a:gridCol>
                <a:gridCol w="3407580">
                  <a:extLst>
                    <a:ext uri="{9D8B030D-6E8A-4147-A177-3AD203B41FA5}">
                      <a16:colId xmlns:a16="http://schemas.microsoft.com/office/drawing/2014/main" val="3570683683"/>
                    </a:ext>
                  </a:extLst>
                </a:gridCol>
              </a:tblGrid>
              <a:tr h="716158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effectLst/>
                        </a:rPr>
                        <a:t>区别项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effectLst/>
                        </a:rPr>
                        <a:t>def </a:t>
                      </a:r>
                      <a:r>
                        <a:rPr lang="zh-CN" sz="2000" kern="100" dirty="0">
                          <a:effectLst/>
                        </a:rPr>
                        <a:t>定义函数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effectLst/>
                        </a:rPr>
                        <a:t>l</a:t>
                      </a:r>
                      <a:r>
                        <a:rPr lang="en-US" sz="2000" kern="100" dirty="0">
                          <a:effectLst/>
                        </a:rPr>
                        <a:t>ambda </a:t>
                      </a:r>
                      <a:r>
                        <a:rPr lang="zh-CN" sz="2000" kern="100" dirty="0">
                          <a:effectLst/>
                        </a:rPr>
                        <a:t>定义函数</a:t>
                      </a: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3976661"/>
                  </a:ext>
                </a:extLst>
              </a:tr>
              <a:tr h="526539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0432FF"/>
                          </a:solidFill>
                          <a:effectLst/>
                        </a:rPr>
                        <a:t>函数名称</a:t>
                      </a:r>
                      <a:endParaRPr lang="zh-CN" sz="2800" kern="100" dirty="0">
                        <a:solidFill>
                          <a:srgbClr val="0432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21751547"/>
                  </a:ext>
                </a:extLst>
              </a:tr>
              <a:tr h="526539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0432FF"/>
                          </a:solidFill>
                          <a:effectLst/>
                        </a:rPr>
                        <a:t>返回值</a:t>
                      </a:r>
                      <a:endParaRPr lang="zh-CN" sz="2800" kern="100" dirty="0">
                        <a:solidFill>
                          <a:srgbClr val="0432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7273584"/>
                  </a:ext>
                </a:extLst>
              </a:tr>
              <a:tr h="526539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0432FF"/>
                          </a:solidFill>
                          <a:effectLst/>
                        </a:rPr>
                        <a:t>函数体</a:t>
                      </a:r>
                      <a:endParaRPr lang="zh-CN" sz="2800" kern="100" dirty="0">
                        <a:solidFill>
                          <a:srgbClr val="0432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80981668"/>
                  </a:ext>
                </a:extLst>
              </a:tr>
              <a:tr h="526539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0432FF"/>
                          </a:solidFill>
                          <a:effectLst/>
                        </a:rPr>
                        <a:t>表达式</a:t>
                      </a:r>
                      <a:endParaRPr lang="zh-CN" sz="2800" kern="100" dirty="0">
                        <a:solidFill>
                          <a:srgbClr val="0432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25205067"/>
                  </a:ext>
                </a:extLst>
              </a:tr>
              <a:tr h="526539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solidFill>
                            <a:srgbClr val="0432FF"/>
                          </a:solidFill>
                          <a:effectLst/>
                        </a:rPr>
                        <a:t>if</a:t>
                      </a:r>
                      <a:r>
                        <a:rPr lang="zh-CN" sz="2000" kern="100" dirty="0">
                          <a:solidFill>
                            <a:srgbClr val="0432FF"/>
                          </a:solidFill>
                          <a:effectLst/>
                        </a:rPr>
                        <a:t>语句</a:t>
                      </a:r>
                      <a:r>
                        <a:rPr lang="en-US" sz="2000" kern="100" dirty="0">
                          <a:solidFill>
                            <a:srgbClr val="0432FF"/>
                          </a:solidFill>
                          <a:effectLst/>
                        </a:rPr>
                        <a:t>/for</a:t>
                      </a:r>
                      <a:r>
                        <a:rPr lang="zh-CN" sz="2000" kern="100" dirty="0">
                          <a:solidFill>
                            <a:srgbClr val="0432FF"/>
                          </a:solidFill>
                          <a:effectLst/>
                        </a:rPr>
                        <a:t>语句</a:t>
                      </a:r>
                      <a:endParaRPr lang="zh-CN" sz="2800" kern="100" dirty="0">
                        <a:solidFill>
                          <a:srgbClr val="0432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6357134"/>
                  </a:ext>
                </a:extLst>
              </a:tr>
              <a:tr h="526539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0432FF"/>
                          </a:solidFill>
                          <a:effectLst/>
                        </a:rPr>
                        <a:t>函数规模</a:t>
                      </a:r>
                      <a:endParaRPr lang="zh-CN" sz="2800" kern="100" dirty="0">
                        <a:solidFill>
                          <a:srgbClr val="0432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alt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4091126"/>
                  </a:ext>
                </a:extLst>
              </a:tr>
              <a:tr h="526539"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r>
                        <a:rPr lang="zh-CN" sz="2000" kern="100" dirty="0">
                          <a:solidFill>
                            <a:srgbClr val="0432FF"/>
                          </a:solidFill>
                          <a:effectLst/>
                        </a:rPr>
                        <a:t>函数调用</a:t>
                      </a:r>
                      <a:endParaRPr lang="zh-CN" sz="2800" kern="100" dirty="0">
                        <a:solidFill>
                          <a:srgbClr val="0432FF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00"/>
                        </a:lnSpc>
                        <a:spcAft>
                          <a:spcPts val="0"/>
                        </a:spcAft>
                      </a:pPr>
                      <a:endParaRPr lang="zh-CN" sz="28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25987167"/>
                  </a:ext>
                </a:extLst>
              </a:tr>
            </a:tbl>
          </a:graphicData>
        </a:graphic>
      </p:graphicFrame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1BE68A4B-A0B9-4B01-9230-9FAD5747476D}"/>
              </a:ext>
            </a:extLst>
          </p:cNvPr>
          <p:cNvSpPr/>
          <p:nvPr/>
        </p:nvSpPr>
        <p:spPr>
          <a:xfrm>
            <a:off x="468270" y="1337936"/>
            <a:ext cx="6012375" cy="691608"/>
          </a:xfrm>
          <a:prstGeom prst="wedgeRoundRectCallout">
            <a:avLst>
              <a:gd name="adj1" fmla="val -24562"/>
              <a:gd name="adj2" fmla="val 49443"/>
              <a:gd name="adj3" fmla="val 16667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path path="circle">
              <a:fillToRect r="100000" b="100000"/>
            </a:path>
            <a:tileRect l="-100000" t="-100000"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sz="2000" b="1" dirty="0">
                <a:solidFill>
                  <a:srgbClr val="C00000"/>
                </a:solidFill>
              </a:rPr>
              <a:t>def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</a:rPr>
              <a:t>定义函数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2000" b="1" dirty="0">
                <a:solidFill>
                  <a:srgbClr val="C00000"/>
                </a:solidFill>
              </a:rPr>
              <a:t>lambda</a:t>
            </a:r>
            <a:r>
              <a:rPr lang="en-US" altLang="zh-CN" sz="2000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zh-CN" altLang="zh-CN" sz="2000" dirty="0">
                <a:solidFill>
                  <a:schemeClr val="accent1">
                    <a:lumMod val="75000"/>
                  </a:schemeClr>
                </a:solidFill>
              </a:rPr>
              <a:t>定义函数的区别之处</a:t>
            </a:r>
            <a:r>
              <a:rPr lang="zh-CN" altLang="en-US" sz="2000" dirty="0">
                <a:solidFill>
                  <a:schemeClr val="accent1">
                    <a:lumMod val="75000"/>
                  </a:schemeClr>
                </a:solidFill>
              </a:rPr>
              <a:t>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B01DF21-2BB8-419C-AE87-4CDD4DC62288}"/>
              </a:ext>
            </a:extLst>
          </p:cNvPr>
          <p:cNvSpPr txBox="1"/>
          <p:nvPr/>
        </p:nvSpPr>
        <p:spPr>
          <a:xfrm>
            <a:off x="5261112" y="288897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有函数名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AD771E-E33B-4569-9E21-F6AED861B014}"/>
              </a:ext>
            </a:extLst>
          </p:cNvPr>
          <p:cNvSpPr txBox="1"/>
          <p:nvPr/>
        </p:nvSpPr>
        <p:spPr>
          <a:xfrm>
            <a:off x="8789522" y="2888974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无函数名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8149F05-64D3-4535-A89F-86067D317613}"/>
              </a:ext>
            </a:extLst>
          </p:cNvPr>
          <p:cNvSpPr txBox="1"/>
          <p:nvPr/>
        </p:nvSpPr>
        <p:spPr>
          <a:xfrm>
            <a:off x="4628856" y="3456422"/>
            <a:ext cx="2492990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zh-CN" sz="2000" kern="100" dirty="0"/>
              <a:t>返回值可赋值给变量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0EACD9B-BDF4-4A46-90F8-5E6869E49F26}"/>
              </a:ext>
            </a:extLst>
          </p:cNvPr>
          <p:cNvSpPr txBox="1"/>
          <p:nvPr/>
        </p:nvSpPr>
        <p:spPr>
          <a:xfrm>
            <a:off x="7991145" y="3456422"/>
            <a:ext cx="2749471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zh-CN" sz="2000" kern="100" dirty="0"/>
              <a:t>返回一个对象或表达式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6E21BE3-9939-4B95-AACC-ED65722A4155}"/>
              </a:ext>
            </a:extLst>
          </p:cNvPr>
          <p:cNvSpPr txBox="1"/>
          <p:nvPr/>
        </p:nvSpPr>
        <p:spPr>
          <a:xfrm>
            <a:off x="5261112" y="3914041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复杂语句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91AEEB-9222-4DED-8187-4CDFA5AF3351}"/>
              </a:ext>
            </a:extLst>
          </p:cNvPr>
          <p:cNvSpPr txBox="1"/>
          <p:nvPr/>
        </p:nvSpPr>
        <p:spPr>
          <a:xfrm>
            <a:off x="8789522" y="3914041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表达式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82FDAF7-C238-4A5F-B58F-2A5459EBF9CF}"/>
              </a:ext>
            </a:extLst>
          </p:cNvPr>
          <p:cNvSpPr txBox="1"/>
          <p:nvPr/>
        </p:nvSpPr>
        <p:spPr>
          <a:xfrm>
            <a:off x="5517592" y="4516139"/>
            <a:ext cx="697627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zh-CN" sz="2000" kern="100" dirty="0"/>
              <a:t>多个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6AA7075-FE5E-4DE2-B348-18A0A718BDE6}"/>
              </a:ext>
            </a:extLst>
          </p:cNvPr>
          <p:cNvSpPr txBox="1"/>
          <p:nvPr/>
        </p:nvSpPr>
        <p:spPr>
          <a:xfrm>
            <a:off x="8789521" y="4515636"/>
            <a:ext cx="954107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zh-CN" sz="2000" kern="100" dirty="0"/>
              <a:t>仅一个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29FBB50-5123-4014-961C-C644507A049B}"/>
              </a:ext>
            </a:extLst>
          </p:cNvPr>
          <p:cNvSpPr txBox="1"/>
          <p:nvPr/>
        </p:nvSpPr>
        <p:spPr>
          <a:xfrm>
            <a:off x="5270056" y="5022930"/>
            <a:ext cx="1210589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en-US" sz="2000" kern="100" dirty="0"/>
              <a:t>可以调用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727CCE4-DEE1-41D4-99A6-4BB225F21C05}"/>
              </a:ext>
            </a:extLst>
          </p:cNvPr>
          <p:cNvSpPr txBox="1"/>
          <p:nvPr/>
        </p:nvSpPr>
        <p:spPr>
          <a:xfrm>
            <a:off x="8661279" y="5022929"/>
            <a:ext cx="1210589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zh-CN" sz="2000" kern="100" dirty="0"/>
              <a:t>不可调用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E8284312-594F-48CF-BAD5-679332486BFC}"/>
              </a:ext>
            </a:extLst>
          </p:cNvPr>
          <p:cNvSpPr txBox="1"/>
          <p:nvPr/>
        </p:nvSpPr>
        <p:spPr>
          <a:xfrm>
            <a:off x="5013576" y="5538642"/>
            <a:ext cx="1723549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zh-CN" sz="2000" kern="100" dirty="0"/>
              <a:t>定义复杂函数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100C69-7964-4866-8BAA-40AF5A8F6D8C}"/>
              </a:ext>
            </a:extLst>
          </p:cNvPr>
          <p:cNvSpPr txBox="1"/>
          <p:nvPr/>
        </p:nvSpPr>
        <p:spPr>
          <a:xfrm>
            <a:off x="8404798" y="5548327"/>
            <a:ext cx="1723549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zh-CN" sz="2000" kern="100" dirty="0"/>
              <a:t>定义</a:t>
            </a:r>
            <a:r>
              <a:rPr lang="zh-CN" altLang="en-US" sz="2000" kern="100" dirty="0"/>
              <a:t>简单</a:t>
            </a:r>
            <a:r>
              <a:rPr lang="zh-CN" altLang="zh-CN" sz="2000" kern="100" dirty="0"/>
              <a:t>函数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2B669CC-DB5D-4E3C-8BE9-39C4A58753E6}"/>
              </a:ext>
            </a:extLst>
          </p:cNvPr>
          <p:cNvSpPr txBox="1"/>
          <p:nvPr/>
        </p:nvSpPr>
        <p:spPr>
          <a:xfrm>
            <a:off x="5270056" y="6070934"/>
            <a:ext cx="1210589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en-US" sz="2000" kern="100" dirty="0"/>
              <a:t>可以调用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75A9B65-F860-4B7E-885F-08D19A05E000}"/>
              </a:ext>
            </a:extLst>
          </p:cNvPr>
          <p:cNvSpPr txBox="1"/>
          <p:nvPr/>
        </p:nvSpPr>
        <p:spPr>
          <a:xfrm>
            <a:off x="8661279" y="6070934"/>
            <a:ext cx="1210589" cy="34201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1900"/>
              </a:lnSpc>
              <a:spcAft>
                <a:spcPts val="0"/>
              </a:spcAft>
            </a:pPr>
            <a:r>
              <a:rPr lang="zh-CN" altLang="zh-CN" sz="2000" kern="100" dirty="0"/>
              <a:t>不可调用</a:t>
            </a:r>
            <a:endParaRPr lang="zh-CN" altLang="zh-CN" sz="28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82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/>
      <p:bldP spid="7" grpId="0"/>
      <p:bldP spid="8" grpId="0"/>
      <p:bldP spid="11" grpId="0"/>
      <p:bldP spid="12" grpId="0"/>
      <p:bldP spid="15" grpId="0"/>
      <p:bldP spid="18" grpId="0"/>
      <p:bldP spid="19" grpId="0"/>
      <p:bldP spid="20" grpId="0"/>
      <p:bldP spid="23" grpId="0"/>
      <p:bldP spid="26" grpId="0"/>
      <p:bldP spid="27" grpId="0"/>
      <p:bldP spid="28" grpId="0"/>
      <p:bldP spid="29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</a:t>
            </a:r>
            <a:r>
              <a:rPr lang="zh-CN" altLang="en-US" dirty="0"/>
              <a:t>匿名函数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3382" y="1501726"/>
            <a:ext cx="9982200" cy="45720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dirty="0"/>
              <a:t>举例：</a:t>
            </a:r>
            <a:endParaRPr lang="en-US" altLang="zh-CN" dirty="0"/>
          </a:p>
          <a:p>
            <a:pPr marL="0" indent="0">
              <a:lnSpc>
                <a:spcPct val="100000"/>
              </a:lnSpc>
              <a:buNone/>
            </a:pPr>
            <a:endParaRPr lang="zh-CN" altLang="zh-CN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31730BE-E346-46F3-97CB-CD5EA76685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500140"/>
              </p:ext>
            </p:extLst>
          </p:nvPr>
        </p:nvGraphicFramePr>
        <p:xfrm>
          <a:off x="2100017" y="1501726"/>
          <a:ext cx="9101383" cy="1524000"/>
        </p:xfrm>
        <a:graphic>
          <a:graphicData uri="http://schemas.openxmlformats.org/drawingml/2006/table">
            <a:tbl>
              <a:tblPr firstRow="1" firstCol="1" bandRow="1"/>
              <a:tblGrid>
                <a:gridCol w="9101383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414443">
                <a:tc>
                  <a:txBody>
                    <a:bodyPr/>
                    <a:lstStyle/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def show():                   #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使用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def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声明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show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</a:t>
                      </a:r>
                    </a:p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print('lambda')</a:t>
                      </a:r>
                      <a:endParaRPr lang="zh-CN" altLang="zh-CN" sz="2000" kern="12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</a:t>
                      </a:r>
                      <a:endParaRPr lang="zh-CN" altLang="zh-CN" sz="2000" kern="12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f= </a:t>
                      </a:r>
                      <a:r>
                        <a:rPr lang="en-US" altLang="zh-CN" sz="2000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lambda:show</a:t>
                      </a:r>
                      <a:r>
                        <a:rPr lang="en-US" altLang="zh-CN" sz="200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()              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lambda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中调用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show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</a:t>
                      </a:r>
                    </a:p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f()                           #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调用使用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lambda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生成的函数</a:t>
                      </a:r>
                      <a:endParaRPr lang="zh-CN" altLang="en-US" sz="24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A3ABD221-C012-4670-AC2E-3DC87D5B2A40}"/>
              </a:ext>
            </a:extLst>
          </p:cNvPr>
          <p:cNvSpPr txBox="1"/>
          <p:nvPr/>
        </p:nvSpPr>
        <p:spPr>
          <a:xfrm>
            <a:off x="2100016" y="2964297"/>
            <a:ext cx="968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lambda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F26FC71A-E050-480F-BF0A-F87CDC645B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2452223"/>
              </p:ext>
            </p:extLst>
          </p:nvPr>
        </p:nvGraphicFramePr>
        <p:xfrm>
          <a:off x="2100015" y="3279618"/>
          <a:ext cx="9101385" cy="1524000"/>
        </p:xfrm>
        <a:graphic>
          <a:graphicData uri="http://schemas.openxmlformats.org/drawingml/2006/table">
            <a:tbl>
              <a:tblPr firstRow="1" firstCol="1" bandRow="1"/>
              <a:tblGrid>
                <a:gridCol w="9101385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414443">
                <a:tc>
                  <a:txBody>
                    <a:bodyPr/>
                    <a:lstStyle/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def shown(n):                 #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使用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def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声明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shown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          </a:t>
                      </a:r>
                      <a:endParaRPr lang="zh-CN" altLang="zh-CN" sz="2000" kern="12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print('lambda'*n)</a:t>
                      </a:r>
                      <a:endParaRPr lang="zh-CN" altLang="zh-CN" sz="2000" kern="12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</a:t>
                      </a:r>
                      <a:endParaRPr lang="zh-CN" altLang="zh-CN" sz="2000" kern="12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lang="en-US" altLang="zh-CN" sz="200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=lambda </a:t>
                      </a:r>
                      <a:r>
                        <a:rPr lang="en-US" altLang="zh-CN" sz="2000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x:shown</a:t>
                      </a:r>
                      <a:r>
                        <a:rPr lang="en-US" altLang="zh-CN" sz="200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         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lambda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中向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shown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函数传递值</a:t>
                      </a:r>
                    </a:p>
                    <a:p>
                      <a:r>
                        <a:rPr lang="en-US" altLang="zh-CN" sz="2000" kern="12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fn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(2)</a:t>
                      </a:r>
                      <a:endParaRPr lang="zh-CN" altLang="en-US" sz="24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9" name="文本框 8">
            <a:extLst>
              <a:ext uri="{FF2B5EF4-FFF2-40B4-BE49-F238E27FC236}">
                <a16:creationId xmlns:a16="http://schemas.microsoft.com/office/drawing/2014/main" id="{09C28BF7-2ECB-4010-8631-97CA1F4D2DE1}"/>
              </a:ext>
            </a:extLst>
          </p:cNvPr>
          <p:cNvSpPr txBox="1"/>
          <p:nvPr/>
        </p:nvSpPr>
        <p:spPr>
          <a:xfrm>
            <a:off x="2100014" y="4748338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solidFill>
                  <a:srgbClr val="FF0000"/>
                </a:solidFill>
                <a:latin typeface="Consolas" panose="020B0609020204030204" pitchFamily="49" charset="0"/>
              </a:rPr>
              <a:t>lambdalambda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50F3328B-6C8D-4DE5-962B-3424AFDBA4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438717"/>
              </p:ext>
            </p:extLst>
          </p:nvPr>
        </p:nvGraphicFramePr>
        <p:xfrm>
          <a:off x="2100015" y="5105638"/>
          <a:ext cx="9101385" cy="1524000"/>
        </p:xfrm>
        <a:graphic>
          <a:graphicData uri="http://schemas.openxmlformats.org/drawingml/2006/table">
            <a:tbl>
              <a:tblPr firstRow="1" firstCol="1" bandRow="1"/>
              <a:tblGrid>
                <a:gridCol w="9101385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414443">
                <a:tc>
                  <a:txBody>
                    <a:bodyPr/>
                    <a:lstStyle/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def </a:t>
                      </a:r>
                      <a:r>
                        <a:rPr lang="en-US" altLang="zh-CN" sz="2000" kern="12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usere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(x):                 #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使用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def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声明</a:t>
                      </a:r>
                      <a:r>
                        <a:rPr lang="en-US" altLang="zh-CN" sz="2000" kern="12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usere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</a:t>
                      </a:r>
                    </a:p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   return x*2</a:t>
                      </a:r>
                      <a:endParaRPr lang="zh-CN" altLang="zh-CN" sz="2000" kern="12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 </a:t>
                      </a:r>
                      <a:endParaRPr lang="zh-CN" altLang="zh-CN" sz="2000" kern="12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2000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fr</a:t>
                      </a:r>
                      <a:r>
                        <a:rPr lang="en-US" altLang="zh-CN" sz="200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 =lambda </a:t>
                      </a:r>
                      <a:r>
                        <a:rPr lang="en-US" altLang="zh-CN" sz="2000" kern="1200" dirty="0" err="1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x:usere</a:t>
                      </a:r>
                      <a:r>
                        <a:rPr lang="en-US" altLang="zh-CN" sz="2000" kern="12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(x)*x       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#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lambda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函数中使用</a:t>
                      </a:r>
                      <a:r>
                        <a:rPr lang="en-US" altLang="zh-CN" sz="2000" kern="12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usere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函数的返回值</a:t>
                      </a:r>
                    </a:p>
                    <a:p>
                      <a:r>
                        <a:rPr lang="en-US" altLang="zh-CN" sz="2000" kern="12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fr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(3)</a:t>
                      </a:r>
                      <a:endParaRPr lang="zh-CN" altLang="en-US" sz="24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5D22A6E4-B7DF-47EE-8265-927016D27D97}"/>
              </a:ext>
            </a:extLst>
          </p:cNvPr>
          <p:cNvSpPr txBox="1"/>
          <p:nvPr/>
        </p:nvSpPr>
        <p:spPr>
          <a:xfrm>
            <a:off x="2071955" y="6556443"/>
            <a:ext cx="5886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18</a:t>
            </a:r>
            <a:endParaRPr lang="zh-CN" altLang="en-US" dirty="0">
              <a:solidFill>
                <a:srgbClr val="FF0000"/>
              </a:solidFill>
              <a:latin typeface="Consolas" panose="020B0609020204030204" pitchFamily="49" charset="0"/>
            </a:endParaRPr>
          </a:p>
        </p:txBody>
      </p:sp>
      <p:sp>
        <p:nvSpPr>
          <p:cNvPr id="3" name="思想气泡: 云 2">
            <a:extLst>
              <a:ext uri="{FF2B5EF4-FFF2-40B4-BE49-F238E27FC236}">
                <a16:creationId xmlns:a16="http://schemas.microsoft.com/office/drawing/2014/main" id="{CDA56D25-889C-41D3-8125-46F15F211B30}"/>
              </a:ext>
            </a:extLst>
          </p:cNvPr>
          <p:cNvSpPr/>
          <p:nvPr/>
        </p:nvSpPr>
        <p:spPr>
          <a:xfrm>
            <a:off x="6467062" y="3858397"/>
            <a:ext cx="5401848" cy="2086953"/>
          </a:xfrm>
          <a:prstGeom prst="cloudCallout">
            <a:avLst>
              <a:gd name="adj1" fmla="val -23778"/>
              <a:gd name="adj2" fmla="val 75552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2000" dirty="0"/>
              <a:t>试判断以下语句是否正确？</a:t>
            </a:r>
            <a:endParaRPr lang="en-US" altLang="zh-CN" sz="2000" dirty="0"/>
          </a:p>
          <a:p>
            <a:pPr algn="just"/>
            <a:r>
              <a:rPr lang="en-US" altLang="zh-CN" sz="2000" dirty="0">
                <a:solidFill>
                  <a:srgbClr val="FF0000"/>
                </a:solidFill>
              </a:rPr>
              <a:t>f=lambda x: if x&lt;=0: x=-x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742A7F-B27E-4FDE-92DE-58EA8BA75847}"/>
              </a:ext>
            </a:extLst>
          </p:cNvPr>
          <p:cNvSpPr txBox="1"/>
          <p:nvPr/>
        </p:nvSpPr>
        <p:spPr>
          <a:xfrm>
            <a:off x="10091985" y="4025063"/>
            <a:ext cx="85953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800" dirty="0">
                <a:solidFill>
                  <a:srgbClr val="FF0000"/>
                </a:solidFill>
              </a:rPr>
              <a:t>×</a:t>
            </a:r>
            <a:endParaRPr lang="zh-CN" altLang="en-US" sz="8800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39339" y="0"/>
            <a:ext cx="6152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sorted(</a:t>
            </a:r>
            <a:r>
              <a:rPr lang="en-US" altLang="zh-CN" b="1" dirty="0" err="1"/>
              <a:t>iterable</a:t>
            </a:r>
            <a:r>
              <a:rPr lang="en-US" altLang="zh-CN" b="1" dirty="0"/>
              <a:t>, </a:t>
            </a:r>
            <a:r>
              <a:rPr lang="en-US" altLang="zh-CN" b="1" dirty="0" err="1"/>
              <a:t>cmp</a:t>
            </a:r>
            <a:r>
              <a:rPr lang="en-US" altLang="zh-CN" b="1" dirty="0"/>
              <a:t>=None, </a:t>
            </a:r>
            <a:r>
              <a:rPr lang="en-US" altLang="zh-CN" b="1" dirty="0">
                <a:solidFill>
                  <a:srgbClr val="0432FF"/>
                </a:solidFill>
              </a:rPr>
              <a:t>key=None</a:t>
            </a:r>
            <a:r>
              <a:rPr lang="en-US" altLang="zh-CN" b="1" dirty="0"/>
              <a:t>, reverse=False)</a:t>
            </a:r>
            <a:endParaRPr lang="zh-CN" altLang="en-US" b="1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60352" y="347699"/>
            <a:ext cx="7310619" cy="783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87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3" grpId="0" animBg="1"/>
      <p:bldP spid="4" grpId="0"/>
      <p:bldP spid="1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7876C-F677-4D5A-D8C4-678F43342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6E6B5E"/>
                </a:solidFill>
                <a:effectLst/>
                <a:latin typeface="Fira Code" panose="020F0502020204030204" pitchFamily="34" charset="0"/>
              </a:rPr>
              <a:t>lambda</a:t>
            </a:r>
            <a:endParaRPr kumimoji="1"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A37140-E4C3-ADC5-D55E-DCE6450E0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453" y="1366008"/>
            <a:ext cx="6057900" cy="3416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08D6280-F715-1573-0DD3-4F85B6ABD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9273" y="3036246"/>
            <a:ext cx="7772400" cy="349212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870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59F58B-6E94-AAA0-FC5D-53CF7E725E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37" y="390978"/>
            <a:ext cx="3543300" cy="850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F0A1659-FA33-93BC-F861-7BF9A850E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137" y="1774580"/>
            <a:ext cx="4254500" cy="990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F959818-BB3E-70E7-C56E-EE67BBA46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137" y="3252768"/>
            <a:ext cx="6453785" cy="301248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2FF00C6-ADEB-67AD-69DA-64A4A0B0E5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1637" y="3252768"/>
            <a:ext cx="6946900" cy="1638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66779A4-7626-579B-6EEA-6634362106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1637" y="550673"/>
            <a:ext cx="6985000" cy="21082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3419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B60133-C281-C6E4-81F0-94B430690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高阶函数中的匿名函数</a:t>
            </a:r>
            <a:endParaRPr kumimoji="1" lang="zh-CN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66AE3D-2016-121A-B1C6-0C9648F98687}"/>
              </a:ext>
            </a:extLst>
          </p:cNvPr>
          <p:cNvSpPr txBox="1"/>
          <p:nvPr/>
        </p:nvSpPr>
        <p:spPr>
          <a:xfrm>
            <a:off x="1255024" y="1375981"/>
            <a:ext cx="86941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Python 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中常见的应用</a:t>
            </a:r>
            <a:r>
              <a:rPr lang="en-US" dirty="0"/>
              <a:t>lambda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函数的高阶函数主要包括</a:t>
            </a:r>
            <a:r>
              <a:rPr lang="en-US" b="1" dirty="0">
                <a:solidFill>
                  <a:srgbClr val="0047D9"/>
                </a:solidFill>
              </a:rPr>
              <a:t>map()</a:t>
            </a:r>
            <a:r>
              <a:rPr lang="en-US" b="1" i="0" dirty="0">
                <a:solidFill>
                  <a:srgbClr val="0047D9"/>
                </a:solidFill>
                <a:effectLst/>
                <a:latin typeface="Times New Roman" panose="02020603050405020304" pitchFamily="18" charset="0"/>
              </a:rPr>
              <a:t>、</a:t>
            </a:r>
            <a:r>
              <a:rPr lang="en-US" b="1" dirty="0">
                <a:solidFill>
                  <a:srgbClr val="0047D9"/>
                </a:solidFill>
              </a:rPr>
              <a:t>filter()</a:t>
            </a:r>
            <a:r>
              <a:rPr lang="zh-CN" altLang="en-US" b="1" i="0" dirty="0">
                <a:solidFill>
                  <a:srgbClr val="0047D9"/>
                </a:solidFill>
                <a:effectLst/>
                <a:latin typeface="Times New Roman" panose="02020603050405020304" pitchFamily="18" charset="0"/>
              </a:rPr>
              <a:t>和</a:t>
            </a:r>
            <a:r>
              <a:rPr lang="en-US" b="1" dirty="0">
                <a:solidFill>
                  <a:srgbClr val="0047D9"/>
                </a:solidFill>
              </a:rPr>
              <a:t>sorted()</a:t>
            </a:r>
            <a:r>
              <a:rPr lang="en-US" b="1" i="0" dirty="0">
                <a:solidFill>
                  <a:srgbClr val="0047D9"/>
                </a:solidFill>
                <a:effectLst/>
                <a:latin typeface="Times New Roman" panose="02020603050405020304" pitchFamily="18" charset="0"/>
              </a:rPr>
              <a:t>。</a:t>
            </a:r>
            <a:endParaRPr lang="zh-CN" altLang="en-US" b="1" dirty="0">
              <a:solidFill>
                <a:srgbClr val="0047D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38F6BB-94BC-F45F-F6CE-B08CE60F7A53}"/>
              </a:ext>
            </a:extLst>
          </p:cNvPr>
          <p:cNvSpPr txBox="1"/>
          <p:nvPr/>
        </p:nvSpPr>
        <p:spPr>
          <a:xfrm>
            <a:off x="1104900" y="1861939"/>
            <a:ext cx="998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map()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函数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：用于对可迭代对象中的每个元素应用指定的函数，并返回一个新的迭代器对象，可以使用</a:t>
            </a:r>
            <a:r>
              <a:rPr lang="en-US" dirty="0"/>
              <a:t>list()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方法将迭代对象转换为列表。</a:t>
            </a:r>
            <a:endParaRPr lang="zh-CN" alt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76CAAA-8B75-64E3-AA34-B6B2DD7D3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5024" y="2656894"/>
            <a:ext cx="5545252" cy="1125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4A6F1F9-2A73-0F71-A99C-05CDB797B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5024" y="4226990"/>
            <a:ext cx="9304119" cy="15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79592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6B7DF-AD95-69B1-4EA5-96FDE9E8D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02468-7C51-174E-592F-5C4E819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高阶函数中的匿名函数</a:t>
            </a:r>
            <a:endParaRPr kumimoji="1"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246F9B-EA14-5644-EAFB-FD30B6107FF6}"/>
              </a:ext>
            </a:extLst>
          </p:cNvPr>
          <p:cNvSpPr txBox="1"/>
          <p:nvPr/>
        </p:nvSpPr>
        <p:spPr>
          <a:xfrm>
            <a:off x="1104900" y="1397915"/>
            <a:ext cx="998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filter()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函数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：用于从可迭代对象（如列表、元组、集合、字符串等）中筛选出符合指定条件的元素，并返回一个迭代器，其中仅包含满足条件的元素。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D41C9E-D98B-2369-B800-DAEC37A4C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9292" y="2147343"/>
            <a:ext cx="7603973" cy="211075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B424785-0E1E-F3BF-963F-B8400C225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131" y="4495832"/>
            <a:ext cx="7604133" cy="1561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245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4AEE52-BEEA-1320-2408-9DFDE7512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AA9B4-C4C3-D047-B877-D834687C7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高阶函数中的匿名函数</a:t>
            </a:r>
            <a:endParaRPr kumimoji="1" lang="zh-CN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124F2-B9B9-F0A7-4A9F-80225DF65047}"/>
              </a:ext>
            </a:extLst>
          </p:cNvPr>
          <p:cNvSpPr txBox="1"/>
          <p:nvPr/>
        </p:nvSpPr>
        <p:spPr>
          <a:xfrm>
            <a:off x="1104900" y="1306500"/>
            <a:ext cx="99806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sorted()</a:t>
            </a:r>
            <a:r>
              <a:rPr lang="zh-CN" altLang="en-US" b="1" i="0" dirty="0">
                <a:solidFill>
                  <a:srgbClr val="C00000"/>
                </a:solidFill>
                <a:effectLst/>
                <a:latin typeface="Times New Roman" panose="02020603050405020304" pitchFamily="18" charset="0"/>
              </a:rPr>
              <a:t>函数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：是一个用于排序的内置函数，可以对可迭代对象（如列表、元组、字典、集合等）进行排序，并返回一个新的已排序的列表。</a:t>
            </a:r>
            <a:endParaRPr lang="zh-CN" alt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179E1D-B5FA-19D5-3217-59D8DF07C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6753" y="1952831"/>
            <a:ext cx="8136976" cy="445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16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10096500" cy="1734474"/>
          </a:xfrm>
        </p:spPr>
        <p:txBody>
          <a:bodyPr/>
          <a:lstStyle/>
          <a:p>
            <a:pPr algn="ctr"/>
            <a:r>
              <a:rPr lang="en-US" altLang="zh-CN" dirty="0"/>
              <a:t>5.5</a:t>
            </a:r>
            <a:r>
              <a:rPr lang="zh-CN" altLang="en-US" dirty="0"/>
              <a:t> 递归函数</a:t>
            </a:r>
          </a:p>
        </p:txBody>
      </p:sp>
    </p:spTree>
    <p:extLst>
      <p:ext uri="{BB962C8B-B14F-4D97-AF65-F5344CB8AC3E}">
        <p14:creationId xmlns:p14="http://schemas.microsoft.com/office/powerpoint/2010/main" val="1486111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函数递归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zh-CN" dirty="0">
                <a:solidFill>
                  <a:srgbClr val="FF0000"/>
                </a:solidFill>
              </a:rPr>
              <a:t>递归函数</a:t>
            </a:r>
            <a:r>
              <a:rPr lang="zh-CN" altLang="en-US" dirty="0"/>
              <a:t>：</a:t>
            </a:r>
            <a:r>
              <a:rPr lang="zh-CN" altLang="zh-CN" dirty="0"/>
              <a:t>函数</a:t>
            </a:r>
            <a:r>
              <a:rPr lang="zh-CN" altLang="en-US" dirty="0"/>
              <a:t>定义时</a:t>
            </a:r>
            <a:r>
              <a:rPr lang="zh-CN" altLang="zh-CN" dirty="0"/>
              <a:t>在内部调用</a:t>
            </a:r>
            <a:r>
              <a:rPr lang="zh-CN" altLang="en-US" dirty="0"/>
              <a:t>函数</a:t>
            </a:r>
            <a:r>
              <a:rPr lang="zh-CN" altLang="zh-CN" dirty="0"/>
              <a:t>自身</a:t>
            </a:r>
            <a:r>
              <a:rPr lang="zh-CN" altLang="en-US" dirty="0"/>
              <a:t>。</a:t>
            </a:r>
            <a:endParaRPr lang="en-US" altLang="zh-CN" dirty="0"/>
          </a:p>
          <a:p>
            <a:pPr algn="just"/>
            <a:r>
              <a:rPr lang="zh-CN" altLang="zh-CN" dirty="0"/>
              <a:t>递归是一种程序设计方法，它的过程主要分为</a:t>
            </a:r>
            <a:r>
              <a:rPr lang="zh-CN" altLang="zh-CN" dirty="0">
                <a:solidFill>
                  <a:srgbClr val="FF0000"/>
                </a:solidFill>
              </a:rPr>
              <a:t>两个阶段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>
                <a:solidFill>
                  <a:srgbClr val="FF0000"/>
                </a:solidFill>
              </a:rPr>
              <a:t>递推</a:t>
            </a:r>
            <a:r>
              <a:rPr lang="zh-CN" altLang="en-US" sz="2000" dirty="0"/>
              <a:t>：</a:t>
            </a:r>
            <a:r>
              <a:rPr lang="zh-CN" altLang="zh-CN" sz="2000" dirty="0"/>
              <a:t>每一次函数在调用自己之后，又</a:t>
            </a:r>
            <a:r>
              <a:rPr lang="zh-CN" altLang="zh-CN" sz="2000" dirty="0">
                <a:solidFill>
                  <a:srgbClr val="FF0000"/>
                </a:solidFill>
              </a:rPr>
              <a:t>重新开始执行</a:t>
            </a:r>
            <a:r>
              <a:rPr lang="zh-CN" altLang="zh-CN" sz="2000" dirty="0"/>
              <a:t>此函数的代码，直到某一级递归程序结束为止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>
                <a:solidFill>
                  <a:srgbClr val="FF0000"/>
                </a:solidFill>
              </a:rPr>
              <a:t>回归</a:t>
            </a:r>
            <a:r>
              <a:rPr lang="zh-CN" altLang="en-US" sz="2000" dirty="0"/>
              <a:t>：</a:t>
            </a:r>
            <a:r>
              <a:rPr lang="zh-CN" altLang="zh-CN" sz="2000" dirty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递归函数</a:t>
            </a:r>
            <a:r>
              <a:rPr lang="zh-CN" altLang="zh-CN" sz="2000" dirty="0">
                <a:solidFill>
                  <a:srgbClr val="FF0000"/>
                </a:solidFill>
              </a:rPr>
              <a:t>从后往前逐级返回</a:t>
            </a:r>
            <a:r>
              <a:rPr lang="zh-CN" altLang="zh-CN" sz="2000" dirty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。递归函数从函数调用的最后一级（也就是递归程序最先结束的那一层）开始逐层返回，一直到返回到函数调用的第一层</a:t>
            </a:r>
            <a:r>
              <a:rPr lang="zh-CN" altLang="en-US" sz="2000" dirty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</a:rPr>
              <a:t>。</a:t>
            </a:r>
            <a:endParaRPr lang="en-US" altLang="zh-CN" sz="2000" dirty="0">
              <a:solidFill>
                <a:schemeClr val="dk1">
                  <a:hueOff val="0"/>
                  <a:satOff val="0"/>
                  <a:lumOff val="0"/>
                  <a:alphaOff val="0"/>
                </a:schemeClr>
              </a:solidFill>
            </a:endParaRPr>
          </a:p>
          <a:p>
            <a:pPr marL="228600" lvl="1" algn="just">
              <a:spcBef>
                <a:spcPts val="1800"/>
              </a:spcBef>
            </a:pPr>
            <a:r>
              <a:rPr lang="zh-CN" altLang="zh-CN" sz="2000" dirty="0">
                <a:solidFill>
                  <a:srgbClr val="FF0000"/>
                </a:solidFill>
              </a:rPr>
              <a:t>递归</a:t>
            </a:r>
            <a:r>
              <a:rPr lang="zh-CN" altLang="en-US" sz="2000" dirty="0">
                <a:solidFill>
                  <a:srgbClr val="FF0000"/>
                </a:solidFill>
              </a:rPr>
              <a:t>要素：</a:t>
            </a:r>
            <a:r>
              <a:rPr lang="zh-CN" altLang="en-US" sz="2000" dirty="0"/>
              <a:t>（分治法：分而治之 </a:t>
            </a:r>
            <a:r>
              <a:rPr lang="en-US" altLang="zh-CN" sz="2000" dirty="0"/>
              <a:t>Divide &amp; Conquer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800100" lvl="2" indent="-342900" algn="just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zh-CN" sz="2000" dirty="0"/>
              <a:t>递归</a:t>
            </a:r>
            <a:r>
              <a:rPr lang="zh-CN" altLang="en-US" sz="2000" dirty="0"/>
              <a:t>出口：所描述问题的最简单情况。</a:t>
            </a:r>
            <a:endParaRPr lang="en-US" altLang="zh-CN" sz="2000" dirty="0"/>
          </a:p>
          <a:p>
            <a:pPr marL="800100" lvl="2" indent="-342900" algn="just">
              <a:spcBef>
                <a:spcPts val="1800"/>
              </a:spcBef>
              <a:buFont typeface="Wingdings" panose="05000000000000000000" pitchFamily="2" charset="2"/>
              <a:buChar char="Ø"/>
            </a:pPr>
            <a:r>
              <a:rPr lang="zh-CN" altLang="en-US" sz="2000" dirty="0"/>
              <a:t>递归条件：使问题向递归出口转化的规则。</a:t>
            </a:r>
          </a:p>
        </p:txBody>
      </p:sp>
      <p:sp>
        <p:nvSpPr>
          <p:cNvPr id="12" name="对话气泡: 圆角矩形 11">
            <a:extLst>
              <a:ext uri="{FF2B5EF4-FFF2-40B4-BE49-F238E27FC236}">
                <a16:creationId xmlns:a16="http://schemas.microsoft.com/office/drawing/2014/main" id="{7D96D9C8-9610-4FEF-98B2-EB5D2AD64B02}"/>
              </a:ext>
            </a:extLst>
          </p:cNvPr>
          <p:cNvSpPr/>
          <p:nvPr/>
        </p:nvSpPr>
        <p:spPr>
          <a:xfrm>
            <a:off x="8897420" y="4756147"/>
            <a:ext cx="3102796" cy="1652622"/>
          </a:xfrm>
          <a:prstGeom prst="wedgeRoundRectCallout">
            <a:avLst>
              <a:gd name="adj1" fmla="val -45114"/>
              <a:gd name="adj2" fmla="val -74371"/>
              <a:gd name="adj3" fmla="val 16667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002060"/>
                </a:solidFill>
              </a:rPr>
              <a:t>递归函数逐级返回的顺序与其逐级调用顺序相反</a:t>
            </a:r>
            <a:r>
              <a:rPr lang="zh-CN" altLang="en-US" sz="2000" dirty="0">
                <a:solidFill>
                  <a:srgbClr val="002060"/>
                </a:solidFill>
              </a:rPr>
              <a:t>！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11320" y="1283426"/>
            <a:ext cx="5192846" cy="12112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28340" y="76200"/>
            <a:ext cx="3802899" cy="1628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142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函数递归</a:t>
            </a:r>
            <a:r>
              <a:rPr lang="en-US" altLang="zh-CN" dirty="0"/>
              <a:t>——</a:t>
            </a:r>
            <a:r>
              <a:rPr lang="zh-CN" altLang="en-US" dirty="0"/>
              <a:t>阶乘函数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899" y="1541188"/>
            <a:ext cx="9761884" cy="4572000"/>
          </a:xfrm>
        </p:spPr>
        <p:txBody>
          <a:bodyPr/>
          <a:lstStyle/>
          <a:p>
            <a:r>
              <a:rPr lang="zh-CN" altLang="zh-CN" dirty="0"/>
              <a:t>用迭代的方法</a:t>
            </a:r>
            <a:r>
              <a:rPr lang="zh-CN" altLang="en-US" dirty="0"/>
              <a:t>求</a:t>
            </a:r>
            <a:r>
              <a:rPr lang="en-US" altLang="zh-CN" dirty="0"/>
              <a:t>n</a:t>
            </a:r>
            <a:r>
              <a:rPr lang="zh-CN" altLang="zh-CN" dirty="0"/>
              <a:t>！</a:t>
            </a:r>
            <a:r>
              <a:rPr lang="zh-CN" altLang="en-US" dirty="0"/>
              <a:t>函数，定义：</a:t>
            </a:r>
            <a:r>
              <a:rPr lang="en-US" altLang="zh-CN" dirty="0"/>
              <a:t>n</a:t>
            </a:r>
            <a:r>
              <a:rPr lang="zh-CN" altLang="en-US" dirty="0"/>
              <a:t>！</a:t>
            </a:r>
            <a:r>
              <a:rPr lang="en-US" altLang="zh-CN" dirty="0"/>
              <a:t>=1 × 2 × 3 × ··· × (n-1)  × n </a:t>
            </a:r>
            <a:endParaRPr lang="en-US" altLang="zh-CN" sz="20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B9ED300-900B-4DA6-B1E9-49B9476BBE5F}"/>
              </a:ext>
            </a:extLst>
          </p:cNvPr>
          <p:cNvSpPr txBox="1"/>
          <p:nvPr/>
        </p:nvSpPr>
        <p:spPr>
          <a:xfrm>
            <a:off x="963662" y="3612360"/>
            <a:ext cx="9363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zh-CN" altLang="zh-CN" sz="2000" dirty="0"/>
              <a:t>用递归策略实现</a:t>
            </a:r>
            <a:r>
              <a:rPr lang="en-US" altLang="zh-CN" sz="2000" dirty="0"/>
              <a:t>n</a:t>
            </a:r>
            <a:r>
              <a:rPr lang="zh-CN" altLang="zh-CN" sz="2000" dirty="0"/>
              <a:t>！函数，采用递归方式来进行阶乘函数的定义：</a:t>
            </a:r>
            <a:r>
              <a:rPr lang="en-US" altLang="zh-CN" sz="2000" dirty="0"/>
              <a:t>n! = n × (n-1)!</a:t>
            </a:r>
            <a:endParaRPr lang="zh-CN" altLang="en-US" sz="2000" dirty="0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8B12A80-B76A-40A5-8FF4-2469D6A071AD}"/>
              </a:ext>
            </a:extLst>
          </p:cNvPr>
          <p:cNvGrpSpPr/>
          <p:nvPr/>
        </p:nvGrpSpPr>
        <p:grpSpPr>
          <a:xfrm>
            <a:off x="8475379" y="4421648"/>
            <a:ext cx="3339901" cy="1631216"/>
            <a:chOff x="9581797" y="4781252"/>
            <a:chExt cx="3339901" cy="1631216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AFEE927-B4D1-4CF8-9954-DD42DADC58C2}"/>
                </a:ext>
              </a:extLst>
            </p:cNvPr>
            <p:cNvSpPr txBox="1"/>
            <p:nvPr/>
          </p:nvSpPr>
          <p:spPr>
            <a:xfrm>
              <a:off x="9581797" y="4781252"/>
              <a:ext cx="3339901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000" dirty="0">
                  <a:solidFill>
                    <a:srgbClr val="0432FF"/>
                  </a:solidFill>
                </a:rPr>
                <a:t>n! = n × (n-1)!</a:t>
              </a:r>
            </a:p>
            <a:p>
              <a:r>
                <a:rPr lang="en-US" altLang="zh-CN" sz="2000" dirty="0">
                  <a:solidFill>
                    <a:srgbClr val="0432FF"/>
                  </a:solidFill>
                </a:rPr>
                <a:t>      </a:t>
              </a:r>
            </a:p>
            <a:p>
              <a:r>
                <a:rPr lang="zh-CN" altLang="en-US" sz="2000" dirty="0">
                  <a:solidFill>
                    <a:srgbClr val="0432FF"/>
                  </a:solidFill>
                </a:rPr>
                <a:t>    </a:t>
              </a:r>
              <a:r>
                <a:rPr lang="en-US" altLang="zh-CN" sz="2000" dirty="0">
                  <a:solidFill>
                    <a:srgbClr val="0432FF"/>
                  </a:solidFill>
                </a:rPr>
                <a:t>(n-1)! = (n-2)! × (n-1)</a:t>
              </a:r>
            </a:p>
            <a:p>
              <a:pPr algn="ctr"/>
              <a:endParaRPr lang="en-US" altLang="zh-CN" sz="2000" dirty="0">
                <a:solidFill>
                  <a:srgbClr val="0432FF"/>
                </a:solidFill>
              </a:endParaRPr>
            </a:p>
            <a:p>
              <a:pPr algn="just"/>
              <a:r>
                <a:rPr lang="en-US" altLang="zh-CN" sz="2000" dirty="0">
                  <a:solidFill>
                    <a:srgbClr val="0432FF"/>
                  </a:solidFill>
                </a:rPr>
                <a:t>      </a:t>
              </a:r>
              <a:r>
                <a:rPr lang="zh-CN" altLang="en-US" sz="2000" dirty="0">
                  <a:solidFill>
                    <a:srgbClr val="0432FF"/>
                  </a:solidFill>
                </a:rPr>
                <a:t>       </a:t>
              </a:r>
              <a:r>
                <a:rPr lang="en-US" altLang="zh-CN" sz="2000" dirty="0">
                  <a:solidFill>
                    <a:srgbClr val="0432FF"/>
                  </a:solidFill>
                </a:rPr>
                <a:t>······</a:t>
              </a:r>
              <a:endParaRPr lang="zh-CN" altLang="en-US" sz="2000" dirty="0">
                <a:solidFill>
                  <a:srgbClr val="0432FF"/>
                </a:solidFill>
              </a:endParaRPr>
            </a:p>
          </p:txBody>
        </p:sp>
        <p:cxnSp>
          <p:nvCxnSpPr>
            <p:cNvPr id="20" name="直接箭头连接符 19">
              <a:extLst>
                <a:ext uri="{FF2B5EF4-FFF2-40B4-BE49-F238E27FC236}">
                  <a16:creationId xmlns:a16="http://schemas.microsoft.com/office/drawing/2014/main" id="{B7BF28D0-6B7E-4C54-9A54-4A28233B9323}"/>
                </a:ext>
              </a:extLst>
            </p:cNvPr>
            <p:cNvCxnSpPr/>
            <p:nvPr/>
          </p:nvCxnSpPr>
          <p:spPr>
            <a:xfrm>
              <a:off x="10962973" y="5149937"/>
              <a:ext cx="0" cy="278295"/>
            </a:xfrm>
            <a:prstGeom prst="straightConnector1">
              <a:avLst/>
            </a:prstGeom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1BF4A1D0-9558-4A5C-BC1B-BFC34FBFF540}"/>
                </a:ext>
              </a:extLst>
            </p:cNvPr>
            <p:cNvCxnSpPr/>
            <p:nvPr/>
          </p:nvCxnSpPr>
          <p:spPr>
            <a:xfrm>
              <a:off x="11427098" y="5845972"/>
              <a:ext cx="0" cy="278295"/>
            </a:xfrm>
            <a:prstGeom prst="straightConnector1">
              <a:avLst/>
            </a:prstGeom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47B5A34-FECC-75EC-B1D4-60F1018D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47612" y="2033996"/>
            <a:ext cx="3908917" cy="13950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6D7250-DA28-241E-8519-DBB6B8D1E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2215" y="4045555"/>
            <a:ext cx="5175766" cy="240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83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6BCB2996-082A-4745-9DF3-04B48D0872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0660055"/>
              </p:ext>
            </p:extLst>
          </p:nvPr>
        </p:nvGraphicFramePr>
        <p:xfrm>
          <a:off x="775254" y="4490828"/>
          <a:ext cx="3897934" cy="1527315"/>
        </p:xfrm>
        <a:graphic>
          <a:graphicData uri="http://schemas.openxmlformats.org/drawingml/2006/table">
            <a:tbl>
              <a:tblPr firstRow="1" firstCol="1" bandRow="1"/>
              <a:tblGrid>
                <a:gridCol w="3897934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5273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1800" kern="100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(3):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if 3==0: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1</a:t>
                      </a:r>
                      <a:endParaRPr lang="en-US" altLang="zh-CN" sz="1800" b="1" kern="1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else: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3* </a:t>
                      </a:r>
                      <a:r>
                        <a:rPr lang="en-US" altLang="zh-CN" sz="1800" kern="100" dirty="0" err="1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( 3-1)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7D3052E0-312B-474A-BD6B-2A2D78ACC9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004733"/>
              </p:ext>
            </p:extLst>
          </p:nvPr>
        </p:nvGraphicFramePr>
        <p:xfrm>
          <a:off x="4371420" y="4879708"/>
          <a:ext cx="3897934" cy="1527315"/>
        </p:xfrm>
        <a:graphic>
          <a:graphicData uri="http://schemas.openxmlformats.org/drawingml/2006/table">
            <a:tbl>
              <a:tblPr firstRow="1" firstCol="1" bandRow="1"/>
              <a:tblGrid>
                <a:gridCol w="3897934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5273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1800" kern="100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if 2==0: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1</a:t>
                      </a:r>
                      <a:endParaRPr lang="en-US" altLang="zh-CN" sz="1800" b="1" kern="1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else: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2* </a:t>
                      </a:r>
                      <a:r>
                        <a:rPr lang="en-US" altLang="zh-CN" sz="1800" kern="100" dirty="0" err="1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(2-1)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函数递归</a:t>
            </a:r>
            <a:r>
              <a:rPr lang="en-US" altLang="zh-CN" dirty="0"/>
              <a:t>——</a:t>
            </a:r>
            <a:r>
              <a:rPr lang="zh-CN" altLang="en-US" dirty="0"/>
              <a:t>阶乘函数</a:t>
            </a:r>
            <a:endParaRPr lang="en-US" dirty="0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52813956-18C0-4ED9-903E-F854711CB0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708519"/>
              </p:ext>
            </p:extLst>
          </p:nvPr>
        </p:nvGraphicFramePr>
        <p:xfrm>
          <a:off x="7938053" y="5254486"/>
          <a:ext cx="3897934" cy="1527314"/>
        </p:xfrm>
        <a:graphic>
          <a:graphicData uri="http://schemas.openxmlformats.org/drawingml/2006/table">
            <a:tbl>
              <a:tblPr firstRow="1" firstCol="1" bandRow="1"/>
              <a:tblGrid>
                <a:gridCol w="3897934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52731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1800" kern="100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(1):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if 1==0: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1</a:t>
                      </a:r>
                      <a:endParaRPr lang="en-US" altLang="zh-CN" sz="1800" b="1" kern="1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else: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1* </a:t>
                      </a:r>
                      <a:r>
                        <a:rPr lang="en-US" altLang="zh-CN" sz="1800" kern="100" dirty="0" err="1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( 1-1)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6CF25F-506D-4A31-BB51-F76651688C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5160" y="1540971"/>
            <a:ext cx="9982200" cy="446855"/>
          </a:xfrm>
        </p:spPr>
        <p:txBody>
          <a:bodyPr/>
          <a:lstStyle/>
          <a:p>
            <a:r>
              <a:rPr lang="zh-CN" altLang="zh-CN" dirty="0"/>
              <a:t>递归策略实现</a:t>
            </a:r>
            <a:r>
              <a:rPr lang="en-US" altLang="zh-CN" dirty="0"/>
              <a:t>n</a:t>
            </a:r>
            <a:r>
              <a:rPr lang="zh-CN" altLang="zh-CN" dirty="0"/>
              <a:t>！函数</a:t>
            </a:r>
            <a:r>
              <a:rPr lang="zh-CN" altLang="en-US" dirty="0"/>
              <a:t>过程分解</a:t>
            </a:r>
          </a:p>
        </p:txBody>
      </p:sp>
      <p:cxnSp>
        <p:nvCxnSpPr>
          <p:cNvPr id="34" name="连接符: 肘形 33">
            <a:extLst>
              <a:ext uri="{FF2B5EF4-FFF2-40B4-BE49-F238E27FC236}">
                <a16:creationId xmlns:a16="http://schemas.microsoft.com/office/drawing/2014/main" id="{7EABB7AF-544F-4504-A6EA-102C3AE03D5D}"/>
              </a:ext>
            </a:extLst>
          </p:cNvPr>
          <p:cNvCxnSpPr>
            <a:cxnSpLocks/>
          </p:cNvCxnSpPr>
          <p:nvPr/>
        </p:nvCxnSpPr>
        <p:spPr>
          <a:xfrm rot="10800000">
            <a:off x="3594508" y="5893949"/>
            <a:ext cx="1553824" cy="248388"/>
          </a:xfrm>
          <a:prstGeom prst="bentConnector3">
            <a:avLst>
              <a:gd name="adj1" fmla="val 99467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连接符: 肘形 14">
            <a:extLst>
              <a:ext uri="{FF2B5EF4-FFF2-40B4-BE49-F238E27FC236}">
                <a16:creationId xmlns:a16="http://schemas.microsoft.com/office/drawing/2014/main" id="{EE28AB0A-D30F-4E1A-8D78-34C0924A9DFA}"/>
              </a:ext>
            </a:extLst>
          </p:cNvPr>
          <p:cNvCxnSpPr>
            <a:cxnSpLocks/>
          </p:cNvCxnSpPr>
          <p:nvPr/>
        </p:nvCxnSpPr>
        <p:spPr>
          <a:xfrm rot="10800000">
            <a:off x="7161141" y="6282829"/>
            <a:ext cx="1553824" cy="248388"/>
          </a:xfrm>
          <a:prstGeom prst="bentConnector3">
            <a:avLst>
              <a:gd name="adj1" fmla="val 99467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A9CF2278-FC73-408A-A664-6199615441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22768"/>
              </p:ext>
            </p:extLst>
          </p:nvPr>
        </p:nvGraphicFramePr>
        <p:xfrm>
          <a:off x="775254" y="2042633"/>
          <a:ext cx="3897934" cy="1527315"/>
        </p:xfrm>
        <a:graphic>
          <a:graphicData uri="http://schemas.openxmlformats.org/drawingml/2006/table">
            <a:tbl>
              <a:tblPr firstRow="1" firstCol="1" bandRow="1"/>
              <a:tblGrid>
                <a:gridCol w="3897934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5273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1800" kern="100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(6):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if 6==0: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1</a:t>
                      </a:r>
                      <a:endParaRPr lang="en-US" altLang="zh-CN" sz="1800" b="1" kern="1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else: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6* </a:t>
                      </a:r>
                      <a:r>
                        <a:rPr lang="en-US" altLang="zh-CN" sz="1800" kern="100" dirty="0" err="1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( 6-1)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5BD9F003-F866-4A7F-93B1-D96A5B79F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1670739"/>
              </p:ext>
            </p:extLst>
          </p:nvPr>
        </p:nvGraphicFramePr>
        <p:xfrm>
          <a:off x="4371420" y="2421879"/>
          <a:ext cx="3897934" cy="1527315"/>
        </p:xfrm>
        <a:graphic>
          <a:graphicData uri="http://schemas.openxmlformats.org/drawingml/2006/table">
            <a:tbl>
              <a:tblPr firstRow="1" firstCol="1" bandRow="1"/>
              <a:tblGrid>
                <a:gridCol w="3897934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5273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1800" kern="100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(5):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if 5==0: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1</a:t>
                      </a:r>
                      <a:endParaRPr lang="en-US" altLang="zh-CN" sz="1800" b="1" kern="1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else: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5* </a:t>
                      </a:r>
                      <a:r>
                        <a:rPr lang="en-US" altLang="zh-CN" sz="1800" kern="100" dirty="0" err="1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( 5-1)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27425B32-E8E0-4377-B5DA-3DF2461FA7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32378"/>
              </p:ext>
            </p:extLst>
          </p:nvPr>
        </p:nvGraphicFramePr>
        <p:xfrm>
          <a:off x="7938053" y="2825208"/>
          <a:ext cx="3897934" cy="1527315"/>
        </p:xfrm>
        <a:graphic>
          <a:graphicData uri="http://schemas.openxmlformats.org/drawingml/2006/table">
            <a:tbl>
              <a:tblPr firstRow="1" firstCol="1" bandRow="1"/>
              <a:tblGrid>
                <a:gridCol w="3897934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527315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1800" kern="100" dirty="0" err="1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(4):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if 4==0: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1</a:t>
                      </a:r>
                      <a:endParaRPr lang="en-US" altLang="zh-CN" sz="1800" b="1" kern="10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chemeClr val="tx2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else: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             return 4* </a:t>
                      </a:r>
                      <a:r>
                        <a:rPr lang="en-US" altLang="zh-CN" sz="1800" kern="100" dirty="0" err="1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recursive_f</a:t>
                      </a:r>
                      <a:r>
                        <a:rPr lang="en-US" altLang="zh-CN" sz="1800" kern="100" dirty="0">
                          <a:solidFill>
                            <a:srgbClr val="002060"/>
                          </a:solidFill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( 4-1)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cxnSp>
        <p:nvCxnSpPr>
          <p:cNvPr id="46" name="连接符: 肘形 45">
            <a:extLst>
              <a:ext uri="{FF2B5EF4-FFF2-40B4-BE49-F238E27FC236}">
                <a16:creationId xmlns:a16="http://schemas.microsoft.com/office/drawing/2014/main" id="{1DAED47D-0DB6-4A3A-A340-DC05A260C388}"/>
              </a:ext>
            </a:extLst>
          </p:cNvPr>
          <p:cNvCxnSpPr>
            <a:cxnSpLocks/>
          </p:cNvCxnSpPr>
          <p:nvPr/>
        </p:nvCxnSpPr>
        <p:spPr>
          <a:xfrm rot="10800000">
            <a:off x="7161141" y="3840204"/>
            <a:ext cx="1553824" cy="248388"/>
          </a:xfrm>
          <a:prstGeom prst="bentConnector3">
            <a:avLst>
              <a:gd name="adj1" fmla="val 99467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连接符: 肘形 46">
            <a:extLst>
              <a:ext uri="{FF2B5EF4-FFF2-40B4-BE49-F238E27FC236}">
                <a16:creationId xmlns:a16="http://schemas.microsoft.com/office/drawing/2014/main" id="{CAF83A97-4CE7-46C6-813F-E24B43DEE081}"/>
              </a:ext>
            </a:extLst>
          </p:cNvPr>
          <p:cNvCxnSpPr>
            <a:cxnSpLocks/>
          </p:cNvCxnSpPr>
          <p:nvPr/>
        </p:nvCxnSpPr>
        <p:spPr>
          <a:xfrm rot="10800000">
            <a:off x="3594508" y="3463913"/>
            <a:ext cx="1553824" cy="248388"/>
          </a:xfrm>
          <a:prstGeom prst="bentConnector3">
            <a:avLst>
              <a:gd name="adj1" fmla="val 99467"/>
            </a:avLst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连接符: 肘形 48">
            <a:extLst>
              <a:ext uri="{FF2B5EF4-FFF2-40B4-BE49-F238E27FC236}">
                <a16:creationId xmlns:a16="http://schemas.microsoft.com/office/drawing/2014/main" id="{CBDE0593-0A8D-4390-954F-FEED76B104B1}"/>
              </a:ext>
            </a:extLst>
          </p:cNvPr>
          <p:cNvCxnSpPr>
            <a:cxnSpLocks/>
          </p:cNvCxnSpPr>
          <p:nvPr/>
        </p:nvCxnSpPr>
        <p:spPr>
          <a:xfrm flipV="1">
            <a:off x="2724221" y="4197292"/>
            <a:ext cx="8019979" cy="383735"/>
          </a:xfrm>
          <a:prstGeom prst="bentConnector3">
            <a:avLst>
              <a:gd name="adj1" fmla="val 9988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956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函数递归</a:t>
            </a:r>
            <a:r>
              <a:rPr lang="en-US" altLang="zh-CN" dirty="0"/>
              <a:t>——Fibonacci</a:t>
            </a:r>
            <a:r>
              <a:rPr lang="zh-CN" altLang="zh-CN" dirty="0"/>
              <a:t>数列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n-US" altLang="zh-CN" dirty="0"/>
                  <a:t>Fibonacci </a:t>
                </a:r>
                <a:r>
                  <a:rPr lang="zh-CN" altLang="en-US" dirty="0"/>
                  <a:t>数列（斐波那契数列）：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3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5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8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13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21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34</a:t>
                </a:r>
                <a:r>
                  <a:rPr lang="zh-CN" altLang="en-US" dirty="0"/>
                  <a:t>，</a:t>
                </a:r>
                <a:r>
                  <a:rPr lang="en-US" altLang="zh-CN" dirty="0"/>
                  <a:t>55 ······</a:t>
                </a:r>
              </a:p>
              <a:p>
                <a:pPr marL="0" indent="0" algn="just">
                  <a:lnSpc>
                    <a:spcPct val="150000"/>
                  </a:lnSpc>
                  <a:buNone/>
                </a:pPr>
                <a:r>
                  <a:rPr lang="en-US" altLang="zh-CN" dirty="0">
                    <a:solidFill>
                      <a:schemeClr val="tx2"/>
                    </a:solidFill>
                  </a:rPr>
                  <a:t>                      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1,                                </m:t>
                            </m:r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zh-CN" altLang="en-US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或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altLang="zh-CN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n</m:t>
                            </m:r>
                            <m: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e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            </m:t>
                            </m:r>
                          </m:e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F</m:t>
                            </m:r>
                            <m:d>
                              <m:dPr>
                                <m:begChr m:val="（"/>
                                <m:endChr m:val="）"/>
                                <m:ctrlPr>
                                  <a:rPr lang="zh-CN" altLang="en-US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𝐹</m:t>
                            </m:r>
                            <m:d>
                              <m:dPr>
                                <m:ctrlP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,                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&gt;2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>
                  <a:solidFill>
                    <a:schemeClr val="tx2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dirty="0"/>
                  <a:t>递归出口是什么？</a:t>
                </a:r>
                <a:endParaRPr lang="en-US" altLang="zh-CN" dirty="0"/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dirty="0"/>
                  <a:t>递归条件是什么？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96" t="-24100" b="-196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6900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函数递归</a:t>
            </a:r>
            <a:r>
              <a:rPr lang="en-US" altLang="zh-CN" dirty="0"/>
              <a:t>——Fibonacci</a:t>
            </a:r>
            <a:r>
              <a:rPr lang="zh-CN" altLang="zh-CN" dirty="0"/>
              <a:t>数列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13"/>
              <p:cNvSpPr>
                <a:spLocks noGrp="1"/>
              </p:cNvSpPr>
              <p:nvPr>
                <p:ph idx="1"/>
              </p:nvPr>
            </p:nvSpPr>
            <p:spPr>
              <a:xfrm>
                <a:off x="2196217" y="977828"/>
                <a:ext cx="6965674" cy="1348137"/>
              </a:xfrm>
            </p:spPr>
            <p:txBody>
              <a:bodyPr/>
              <a:lstStyle/>
              <a:p>
                <a:pPr marL="0" indent="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sz="160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16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sz="16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1,                                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16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zh-CN" altLang="en-US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或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160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n</m:t>
                              </m:r>
                              <m:r>
                                <a:rPr lang="en-US" altLang="zh-CN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            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altLang="zh-CN" sz="1600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d>
                                <m:dPr>
                                  <m:begChr m:val="（"/>
                                  <m:endChr m:val="）"/>
                                  <m:ctrlPr>
                                    <a:rPr lang="zh-CN" altLang="en-US" sz="160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6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d>
                                <m:dPr>
                                  <m:ctrlPr>
                                    <a:rPr lang="en-US" altLang="zh-CN" sz="16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6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sz="16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−2</m:t>
                                  </m:r>
                                </m:e>
                              </m:d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,                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16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&gt;2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sz="1600" dirty="0">
                  <a:solidFill>
                    <a:schemeClr val="tx2"/>
                  </a:solidFill>
                </a:endParaRPr>
              </a:p>
              <a:p>
                <a:pPr algn="just">
                  <a:lnSpc>
                    <a:spcPct val="150000"/>
                  </a:lnSpc>
                </a:pPr>
                <a:endParaRPr lang="en-US" altLang="zh-CN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4" name="Content Placeholder 1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96217" y="977828"/>
                <a:ext cx="6965674" cy="1348137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1AB8A41-54FD-4E3C-8A15-C9667A70EC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8817714"/>
              </p:ext>
            </p:extLst>
          </p:nvPr>
        </p:nvGraphicFramePr>
        <p:xfrm>
          <a:off x="885743" y="2911820"/>
          <a:ext cx="4793311" cy="3657600"/>
        </p:xfrm>
        <a:graphic>
          <a:graphicData uri="http://schemas.openxmlformats.org/drawingml/2006/table">
            <a:tbl>
              <a:tblPr firstRow="1" firstCol="1" bandRow="1"/>
              <a:tblGrid>
                <a:gridCol w="4793311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222722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fib(n):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if n==1 or n==2: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return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1 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else: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=2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f1,f2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= 1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while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&lt;n): 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f3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f1+f2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f1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f2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f2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=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f3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   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+= 1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</a:t>
                      </a: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return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f3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AFD667B-1203-4AFB-A452-58CFDA07AE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683801"/>
              </p:ext>
            </p:extLst>
          </p:nvPr>
        </p:nvGraphicFramePr>
        <p:xfrm>
          <a:off x="6292270" y="2909686"/>
          <a:ext cx="4667278" cy="2227229"/>
        </p:xfrm>
        <a:graphic>
          <a:graphicData uri="http://schemas.openxmlformats.org/drawingml/2006/table">
            <a:tbl>
              <a:tblPr firstRow="1" firstCol="1" bandRow="1"/>
              <a:tblGrid>
                <a:gridCol w="4667278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2227229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fib(n):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if n==1 or n==2: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return 1 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US" altLang="zh-CN" sz="2000" kern="100" dirty="0">
                          <a:solidFill>
                            <a:srgbClr val="00206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else: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rgbClr val="002060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return fib(n-1)+fib(n-2)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endParaRPr lang="en-US" altLang="zh-CN" sz="2000" b="1" kern="100" dirty="0">
                        <a:solidFill>
                          <a:srgbClr val="002060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print(fib(n))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2" name="文本框 1">
            <a:extLst>
              <a:ext uri="{FF2B5EF4-FFF2-40B4-BE49-F238E27FC236}">
                <a16:creationId xmlns:a16="http://schemas.microsoft.com/office/drawing/2014/main" id="{9847C251-44CE-4CC8-AE68-E5CC5CC2673A}"/>
              </a:ext>
            </a:extLst>
          </p:cNvPr>
          <p:cNvSpPr txBox="1"/>
          <p:nvPr/>
        </p:nvSpPr>
        <p:spPr>
          <a:xfrm>
            <a:off x="885743" y="2406526"/>
            <a:ext cx="4724370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zh-CN" altLang="en-US" sz="2400" dirty="0">
                <a:solidFill>
                  <a:srgbClr val="FF0000"/>
                </a:solidFill>
              </a:rPr>
              <a:t>循环语句方法（非递归实现）：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9854FEE-352F-4242-A89F-B64614B57B5C}"/>
              </a:ext>
            </a:extLst>
          </p:cNvPr>
          <p:cNvSpPr txBox="1"/>
          <p:nvPr/>
        </p:nvSpPr>
        <p:spPr>
          <a:xfrm>
            <a:off x="7560364" y="2409968"/>
            <a:ext cx="1954381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28600" indent="-228600">
              <a:lnSpc>
                <a:spcPct val="90000"/>
              </a:lnSpc>
              <a:spcBef>
                <a:spcPts val="1800"/>
              </a:spcBef>
              <a:buFont typeface="Wingdings" panose="05000000000000000000" pitchFamily="2" charset="2"/>
              <a:buChar char="§"/>
            </a:pPr>
            <a:r>
              <a:rPr lang="zh-CN" altLang="en-US" sz="2400" dirty="0">
                <a:solidFill>
                  <a:srgbClr val="FF0000"/>
                </a:solidFill>
              </a:rPr>
              <a:t>递归方法：</a:t>
            </a:r>
          </a:p>
        </p:txBody>
      </p:sp>
      <p:sp>
        <p:nvSpPr>
          <p:cNvPr id="3" name="箭头: 右 2">
            <a:extLst>
              <a:ext uri="{FF2B5EF4-FFF2-40B4-BE49-F238E27FC236}">
                <a16:creationId xmlns:a16="http://schemas.microsoft.com/office/drawing/2014/main" id="{2311F9E8-2E2D-4DBB-8536-7720916AE7AA}"/>
              </a:ext>
            </a:extLst>
          </p:cNvPr>
          <p:cNvSpPr/>
          <p:nvPr/>
        </p:nvSpPr>
        <p:spPr>
          <a:xfrm rot="10800000">
            <a:off x="5886167" y="6304904"/>
            <a:ext cx="352990" cy="26451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思想气泡: 云 5">
            <a:extLst>
              <a:ext uri="{FF2B5EF4-FFF2-40B4-BE49-F238E27FC236}">
                <a16:creationId xmlns:a16="http://schemas.microsoft.com/office/drawing/2014/main" id="{615789F0-D33A-4AFE-B20B-7A9BF4C82D9C}"/>
              </a:ext>
            </a:extLst>
          </p:cNvPr>
          <p:cNvSpPr/>
          <p:nvPr/>
        </p:nvSpPr>
        <p:spPr>
          <a:xfrm>
            <a:off x="8046392" y="5826691"/>
            <a:ext cx="3175206" cy="964703"/>
          </a:xfrm>
          <a:prstGeom prst="cloudCallout">
            <a:avLst>
              <a:gd name="adj1" fmla="val -74246"/>
              <a:gd name="adj2" fmla="val -70647"/>
            </a:avLst>
          </a:prstGeom>
          <a:gradFill flip="none" rotWithShape="1">
            <a:gsLst>
              <a:gs pos="0">
                <a:srgbClr val="00B050">
                  <a:tint val="66000"/>
                  <a:satMod val="160000"/>
                </a:srgbClr>
              </a:gs>
              <a:gs pos="50000">
                <a:srgbClr val="00B050">
                  <a:tint val="44500"/>
                  <a:satMod val="160000"/>
                </a:srgbClr>
              </a:gs>
              <a:gs pos="100000">
                <a:srgbClr val="00B050">
                  <a:tint val="23500"/>
                  <a:satMod val="160000"/>
                </a:srgbClr>
              </a:gs>
            </a:gsLst>
            <a:lin ang="13500000" scaled="1"/>
            <a:tileRect/>
          </a:gra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90000"/>
              </a:lnSpc>
              <a:spcBef>
                <a:spcPts val="1800"/>
              </a:spcBef>
            </a:pPr>
            <a:r>
              <a:rPr lang="zh-CN" altLang="en-US" sz="2000" dirty="0">
                <a:solidFill>
                  <a:srgbClr val="002060"/>
                </a:solidFill>
              </a:rPr>
              <a:t>计算 </a:t>
            </a:r>
            <a:r>
              <a:rPr lang="en-US" altLang="zh-CN" sz="2000" dirty="0">
                <a:solidFill>
                  <a:srgbClr val="C00000"/>
                </a:solidFill>
              </a:rPr>
              <a:t>fib(100) </a:t>
            </a:r>
            <a:r>
              <a:rPr lang="zh-CN" altLang="en-US" sz="2000" dirty="0">
                <a:solidFill>
                  <a:srgbClr val="002060"/>
                </a:solidFill>
              </a:rPr>
              <a:t>时两者用时不同！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376C2DC-F7DD-4218-BC5E-BE59F589D3D6}"/>
              </a:ext>
            </a:extLst>
          </p:cNvPr>
          <p:cNvSpPr txBox="1"/>
          <p:nvPr/>
        </p:nvSpPr>
        <p:spPr>
          <a:xfrm>
            <a:off x="6239157" y="6252496"/>
            <a:ext cx="14542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不足</a:t>
            </a:r>
            <a:r>
              <a:rPr lang="en-US" altLang="zh-CN" sz="2000" dirty="0"/>
              <a:t>0.01</a:t>
            </a:r>
            <a:r>
              <a:rPr lang="zh-CN" altLang="en-US" sz="2000" dirty="0"/>
              <a:t>秒</a:t>
            </a: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48179420-F5ED-4992-8FE8-0D118D9E11FA}"/>
              </a:ext>
            </a:extLst>
          </p:cNvPr>
          <p:cNvSpPr/>
          <p:nvPr/>
        </p:nvSpPr>
        <p:spPr>
          <a:xfrm rot="5400000">
            <a:off x="10233509" y="5301578"/>
            <a:ext cx="352990" cy="264516"/>
          </a:xfrm>
          <a:prstGeom prst="righ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83B3C12-3267-4806-8BBE-5B85E0371402}"/>
              </a:ext>
            </a:extLst>
          </p:cNvPr>
          <p:cNvSpPr txBox="1"/>
          <p:nvPr/>
        </p:nvSpPr>
        <p:spPr>
          <a:xfrm>
            <a:off x="10542262" y="5211901"/>
            <a:ext cx="1359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超过</a:t>
            </a:r>
            <a:r>
              <a:rPr lang="en-US" altLang="zh-CN" sz="2000" dirty="0"/>
              <a:t>1</a:t>
            </a:r>
            <a:r>
              <a:rPr lang="zh-CN" altLang="en-US" sz="2000" dirty="0"/>
              <a:t>小时</a:t>
            </a:r>
          </a:p>
        </p:txBody>
      </p:sp>
    </p:spTree>
    <p:extLst>
      <p:ext uri="{BB962C8B-B14F-4D97-AF65-F5344CB8AC3E}">
        <p14:creationId xmlns:p14="http://schemas.microsoft.com/office/powerpoint/2010/main" val="2050661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/>
      <p:bldP spid="12" grpId="0" animBg="1"/>
      <p:bldP spid="1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</a:t>
            </a:r>
            <a:r>
              <a:rPr lang="zh-CN" altLang="en-US" dirty="0"/>
              <a:t>函数递归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优点：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/>
              <a:t>逻辑简单清晰</a:t>
            </a:r>
            <a:r>
              <a:rPr lang="zh-CN" altLang="en-US" sz="2000" dirty="0"/>
              <a:t>，程序简洁精炼，可读性高</a:t>
            </a:r>
            <a:endParaRPr lang="en-US" altLang="zh-CN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理论上，所有递归函数都可写成循环的方式，但循环的逻辑不如递归清晰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缺点：</a:t>
            </a:r>
            <a:endParaRPr lang="en-US" altLang="zh-CN" dirty="0">
              <a:solidFill>
                <a:srgbClr val="FF0000"/>
              </a:solidFill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嵌套层次深，函数调用开销大，且</a:t>
            </a:r>
            <a:r>
              <a:rPr lang="zh-CN" altLang="zh-CN" sz="2000" dirty="0"/>
              <a:t>过深的调用会导致栈溢出</a:t>
            </a:r>
            <a:r>
              <a:rPr lang="zh-CN" altLang="en-US" sz="2000" dirty="0"/>
              <a:t>（内存成本）</a:t>
            </a:r>
            <a:endParaRPr lang="en-US" altLang="zh-CN" sz="20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重复计算（时间成本）</a:t>
            </a:r>
            <a:endParaRPr lang="en-US" altLang="zh-CN" sz="2000" dirty="0"/>
          </a:p>
        </p:txBody>
      </p:sp>
      <p:sp>
        <p:nvSpPr>
          <p:cNvPr id="12" name="思想气泡: 云 11">
            <a:extLst>
              <a:ext uri="{FF2B5EF4-FFF2-40B4-BE49-F238E27FC236}">
                <a16:creationId xmlns:a16="http://schemas.microsoft.com/office/drawing/2014/main" id="{FFC44C4B-206E-4F9F-B9C7-EBF749432715}"/>
              </a:ext>
            </a:extLst>
          </p:cNvPr>
          <p:cNvSpPr/>
          <p:nvPr/>
        </p:nvSpPr>
        <p:spPr>
          <a:xfrm>
            <a:off x="7613859" y="4772522"/>
            <a:ext cx="2220088" cy="1399678"/>
          </a:xfrm>
          <a:prstGeom prst="cloudCallout">
            <a:avLst>
              <a:gd name="adj1" fmla="val -42283"/>
              <a:gd name="adj2" fmla="val -6552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zh-CN" altLang="en-US" sz="2400" dirty="0">
                <a:solidFill>
                  <a:srgbClr val="FF0000"/>
                </a:solidFill>
              </a:rPr>
              <a:t>适度使用递归函数！</a:t>
            </a:r>
          </a:p>
        </p:txBody>
      </p:sp>
    </p:spTree>
    <p:extLst>
      <p:ext uri="{BB962C8B-B14F-4D97-AF65-F5344CB8AC3E}">
        <p14:creationId xmlns:p14="http://schemas.microsoft.com/office/powerpoint/2010/main" val="3080616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E9BE1-965F-2B8D-516F-0214684341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递归与循环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A1C190-2A5C-EA7B-2D9D-9BF8227ADCFF}"/>
              </a:ext>
            </a:extLst>
          </p:cNvPr>
          <p:cNvSpPr txBox="1"/>
          <p:nvPr/>
        </p:nvSpPr>
        <p:spPr>
          <a:xfrm>
            <a:off x="1276065" y="1416924"/>
            <a:ext cx="7308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例如，定义一个递归函数</a:t>
            </a:r>
            <a:r>
              <a:rPr lang="en-US" dirty="0" err="1"/>
              <a:t>my_sum</a:t>
            </a:r>
            <a:r>
              <a:rPr lang="en-US" dirty="0"/>
              <a:t>()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用于计算列表</a:t>
            </a:r>
            <a:r>
              <a:rPr lang="en-US" dirty="0" err="1"/>
              <a:t>theList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中各个数的和。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F82F8A-2E50-9A75-1253-00EAD7E18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453" y="1934096"/>
            <a:ext cx="7721600" cy="36449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248141B-B5B6-BC09-F474-E91C8DCD2E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1800" y="3331001"/>
            <a:ext cx="6464206" cy="331698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8905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4900" y="2292095"/>
            <a:ext cx="10096500" cy="1734474"/>
          </a:xfrm>
        </p:spPr>
        <p:txBody>
          <a:bodyPr/>
          <a:lstStyle/>
          <a:p>
            <a:pPr algn="ctr"/>
            <a:r>
              <a:rPr lang="en-US" altLang="zh-CN" dirty="0"/>
              <a:t>5.6 Python</a:t>
            </a:r>
            <a:r>
              <a:rPr lang="zh-CN" altLang="en-US" dirty="0"/>
              <a:t>模块</a:t>
            </a:r>
          </a:p>
        </p:txBody>
      </p:sp>
    </p:spTree>
    <p:extLst>
      <p:ext uri="{BB962C8B-B14F-4D97-AF65-F5344CB8AC3E}">
        <p14:creationId xmlns:p14="http://schemas.microsoft.com/office/powerpoint/2010/main" val="8613642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Python</a:t>
            </a:r>
            <a:r>
              <a:rPr lang="zh-CN" altLang="en-US" dirty="0"/>
              <a:t>模块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600200"/>
            <a:ext cx="9980682" cy="4572000"/>
          </a:xfrm>
        </p:spPr>
        <p:txBody>
          <a:bodyPr/>
          <a:lstStyle/>
          <a:p>
            <a:pPr algn="just" latinLnBrk="1">
              <a:lnSpc>
                <a:spcPct val="150000"/>
              </a:lnSpc>
            </a:pPr>
            <a:r>
              <a:rPr lang="en-US" altLang="zh-CN" dirty="0"/>
              <a:t>Python </a:t>
            </a:r>
            <a:r>
              <a:rPr lang="zh-CN" altLang="en-US" dirty="0"/>
              <a:t>模块是一个以“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en-US" altLang="zh-CN" dirty="0"/>
              <a:t> </a:t>
            </a:r>
            <a:r>
              <a:rPr lang="zh-CN" altLang="en-US" dirty="0"/>
              <a:t>” 结尾的</a:t>
            </a:r>
            <a:r>
              <a:rPr lang="en-US" altLang="zh-CN" dirty="0"/>
              <a:t>Python </a:t>
            </a:r>
            <a:r>
              <a:rPr lang="zh-CN" altLang="en-US" dirty="0"/>
              <a:t>文件，包含</a:t>
            </a:r>
            <a:r>
              <a:rPr lang="en-US" altLang="zh-CN" dirty="0"/>
              <a:t>Python</a:t>
            </a:r>
            <a:r>
              <a:rPr lang="zh-CN" altLang="en-US" dirty="0"/>
              <a:t>对象定义和</a:t>
            </a:r>
            <a:r>
              <a:rPr lang="en-US" altLang="zh-CN" dirty="0"/>
              <a:t>Python</a:t>
            </a:r>
            <a:r>
              <a:rPr lang="zh-CN" altLang="en-US" dirty="0"/>
              <a:t>语句。</a:t>
            </a:r>
          </a:p>
          <a:p>
            <a:pPr lvl="1" algn="just" latinLnBrk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模块能定义函数、类和变量，也能包含可执行的代码。</a:t>
            </a:r>
            <a:endParaRPr lang="en-US" altLang="zh-CN" sz="2000" dirty="0"/>
          </a:p>
          <a:p>
            <a:pPr lvl="1" algn="just" latinLnBrk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000" dirty="0"/>
              <a:t>模块能有逻辑地组织 </a:t>
            </a:r>
            <a:r>
              <a:rPr lang="en-US" altLang="zh-CN" sz="2000" dirty="0"/>
              <a:t>Python </a:t>
            </a:r>
            <a:r>
              <a:rPr lang="zh-CN" altLang="en-US" sz="2000" dirty="0"/>
              <a:t>代码段，使代码更易懂。</a:t>
            </a:r>
          </a:p>
          <a:p>
            <a:pPr lvl="1" algn="just" latinLnBrk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/>
              <a:t>在不同的模块中可以存在相同名字的函数名和变量名。</a:t>
            </a:r>
            <a:endParaRPr lang="en-US" altLang="zh-CN" sz="2000" dirty="0"/>
          </a:p>
          <a:p>
            <a:pPr marL="0" indent="0" algn="just" latinLnBrk="1">
              <a:lnSpc>
                <a:spcPct val="100000"/>
              </a:lnSpc>
              <a:buNone/>
            </a:pPr>
            <a:r>
              <a:rPr lang="zh-CN" altLang="en-US" dirty="0"/>
              <a:t>举例</a:t>
            </a:r>
            <a:r>
              <a:rPr lang="en-US" altLang="zh-CN" dirty="0"/>
              <a:t>——</a:t>
            </a:r>
            <a:r>
              <a:rPr lang="zh-CN" altLang="en-US" dirty="0"/>
              <a:t>创建一个模块：</a:t>
            </a:r>
            <a:endParaRPr lang="en-US" altLang="zh-CN" dirty="0"/>
          </a:p>
          <a:p>
            <a:pPr algn="just"/>
            <a:endParaRPr lang="en-US" altLang="zh-CN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22F1DE3-5E66-4858-9BCB-37E679BCB6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625570"/>
              </p:ext>
            </p:extLst>
          </p:nvPr>
        </p:nvGraphicFramePr>
        <p:xfrm>
          <a:off x="1499825" y="4407337"/>
          <a:ext cx="9585757" cy="1923974"/>
        </p:xfrm>
        <a:graphic>
          <a:graphicData uri="http://schemas.openxmlformats.org/drawingml/2006/table">
            <a:tbl>
              <a:tblPr firstRow="1" firstCol="1" bandRow="1"/>
              <a:tblGrid>
                <a:gridCol w="9585757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1923974"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#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my_module.py</a:t>
                      </a:r>
                      <a:endParaRPr lang="en-US" altLang="zh-CN" sz="20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def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func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print("This is a function in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my_module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.")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class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my_class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def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my_func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(self):</a:t>
                      </a: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       print("This is a method in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my_class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 of </a:t>
                      </a:r>
                      <a:r>
                        <a:rPr lang="en-US" altLang="zh-CN" sz="2000" kern="1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my_module</a:t>
                      </a:r>
                      <a:r>
                        <a:rPr lang="en-US" altLang="zh-CN" sz="2000" kern="1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Times New Roman" panose="02020603050405020304" pitchFamily="18" charset="0"/>
                        </a:rPr>
                        <a:t>.")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2" name="矩形 1">
            <a:extLst>
              <a:ext uri="{FF2B5EF4-FFF2-40B4-BE49-F238E27FC236}">
                <a16:creationId xmlns:a16="http://schemas.microsoft.com/office/drawing/2014/main" id="{026010C7-C19D-461E-8A4C-52F48AA0EFA8}"/>
              </a:ext>
            </a:extLst>
          </p:cNvPr>
          <p:cNvSpPr/>
          <p:nvPr/>
        </p:nvSpPr>
        <p:spPr>
          <a:xfrm>
            <a:off x="1104900" y="6399183"/>
            <a:ext cx="998068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1"/>
            <a:r>
              <a:rPr lang="zh-CN" altLang="en-US" sz="2000" dirty="0"/>
              <a:t>将上述代码</a:t>
            </a:r>
            <a:r>
              <a:rPr lang="zh-CN" altLang="zh-CN" sz="2000" dirty="0"/>
              <a:t>保存到名为“</a:t>
            </a:r>
            <a:r>
              <a:rPr lang="en-US" altLang="zh-CN" sz="2000" dirty="0" err="1"/>
              <a:t>Mymodule.py</a:t>
            </a:r>
            <a:r>
              <a:rPr lang="en-US" altLang="zh-CN" sz="2000" dirty="0"/>
              <a:t> </a:t>
            </a:r>
            <a:r>
              <a:rPr lang="zh-CN" altLang="zh-CN" sz="2000" dirty="0"/>
              <a:t>”的文件，即定义了一个名为</a:t>
            </a:r>
            <a:r>
              <a:rPr lang="en-US" altLang="zh-CN" sz="2000" dirty="0"/>
              <a:t> </a:t>
            </a:r>
            <a:r>
              <a:rPr lang="en-US" altLang="zh-CN" sz="2000" dirty="0" err="1"/>
              <a:t>Mymodule</a:t>
            </a:r>
            <a:r>
              <a:rPr lang="en-US" altLang="zh-CN" sz="2000" dirty="0"/>
              <a:t> </a:t>
            </a:r>
            <a:r>
              <a:rPr lang="zh-CN" altLang="zh-CN" sz="2000" dirty="0"/>
              <a:t>的模块。</a:t>
            </a:r>
            <a:endParaRPr lang="en-US" altLang="zh-CN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A78719-91F5-8115-923C-0EB72C410B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579" y="2178718"/>
            <a:ext cx="6844609" cy="25005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49329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Python</a:t>
            </a:r>
            <a:r>
              <a:rPr lang="zh-CN" altLang="en-US" dirty="0"/>
              <a:t>模块</a:t>
            </a:r>
            <a:r>
              <a:rPr lang="en-US" altLang="zh-CN" dirty="0"/>
              <a:t>——</a:t>
            </a:r>
            <a:r>
              <a:rPr lang="zh-CN" altLang="en-US" dirty="0"/>
              <a:t>导入模块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latinLnBrk="1"/>
            <a:r>
              <a:rPr lang="zh-CN" altLang="zh-CN" dirty="0"/>
              <a:t>在</a:t>
            </a:r>
            <a:r>
              <a:rPr lang="en-US" altLang="zh-CN" dirty="0"/>
              <a:t>Python</a:t>
            </a:r>
            <a:r>
              <a:rPr lang="zh-CN" altLang="zh-CN" dirty="0"/>
              <a:t>中有两种导入</a:t>
            </a:r>
            <a:r>
              <a:rPr lang="zh-CN" altLang="en-US" dirty="0"/>
              <a:t>方法</a:t>
            </a:r>
            <a:r>
              <a:rPr lang="zh-CN" altLang="zh-CN" dirty="0"/>
              <a:t>：</a:t>
            </a:r>
            <a:endParaRPr lang="en-US" altLang="zh-CN" dirty="0"/>
          </a:p>
          <a:p>
            <a:pPr lvl="1" algn="just" latinLnBrk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/>
              <a:t>导入整个模块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pPr marL="457200" lvl="1" indent="0" algn="ctr" latinLnBrk="1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import </a:t>
            </a:r>
            <a:r>
              <a:rPr lang="zh-CN" altLang="zh-CN" sz="2000" dirty="0">
                <a:solidFill>
                  <a:srgbClr val="FF0000"/>
                </a:solidFill>
              </a:rPr>
              <a:t>模块名</a:t>
            </a:r>
            <a:r>
              <a:rPr lang="en-US" altLang="zh-CN" sz="2000" dirty="0">
                <a:solidFill>
                  <a:srgbClr val="FF0000"/>
                </a:solidFill>
              </a:rPr>
              <a:t> [as </a:t>
            </a:r>
            <a:r>
              <a:rPr lang="zh-CN" altLang="zh-CN" sz="2000" dirty="0">
                <a:solidFill>
                  <a:srgbClr val="FF0000"/>
                </a:solidFill>
              </a:rPr>
              <a:t>新模块名</a:t>
            </a:r>
            <a:r>
              <a:rPr lang="en-US" altLang="zh-CN" sz="2000" dirty="0">
                <a:solidFill>
                  <a:srgbClr val="FF0000"/>
                </a:solidFill>
              </a:rPr>
              <a:t>]</a:t>
            </a:r>
            <a:endParaRPr lang="zh-CN" altLang="zh-CN" sz="2000" dirty="0">
              <a:solidFill>
                <a:srgbClr val="FF0000"/>
              </a:solidFill>
            </a:endParaRPr>
          </a:p>
          <a:p>
            <a:pPr lvl="1" algn="just" latinLnBrk="1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zh-CN" altLang="zh-CN" sz="2000" dirty="0"/>
              <a:t>仅导入模块中的指定的函数。</a:t>
            </a:r>
            <a:endParaRPr lang="en-US" altLang="zh-CN" sz="2000" dirty="0"/>
          </a:p>
          <a:p>
            <a:pPr marL="457200" lvl="1" indent="0" algn="ctr" latinLnBrk="1">
              <a:lnSpc>
                <a:spcPct val="100000"/>
              </a:lnSpc>
              <a:buNone/>
            </a:pPr>
            <a:r>
              <a:rPr lang="en-US" altLang="zh-CN" sz="2000" dirty="0">
                <a:solidFill>
                  <a:srgbClr val="FF0000"/>
                </a:solidFill>
              </a:rPr>
              <a:t>from </a:t>
            </a:r>
            <a:r>
              <a:rPr lang="zh-CN" altLang="zh-CN" sz="2000" dirty="0">
                <a:solidFill>
                  <a:srgbClr val="FF0000"/>
                </a:solidFill>
              </a:rPr>
              <a:t>模块名</a:t>
            </a:r>
            <a:r>
              <a:rPr lang="en-US" altLang="zh-CN" sz="2000" dirty="0">
                <a:solidFill>
                  <a:srgbClr val="FF0000"/>
                </a:solidFill>
              </a:rPr>
              <a:t> import </a:t>
            </a:r>
            <a:r>
              <a:rPr lang="zh-CN" altLang="zh-CN" sz="2000" dirty="0">
                <a:solidFill>
                  <a:srgbClr val="FF0000"/>
                </a:solidFill>
              </a:rPr>
              <a:t>函数名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altLang="zh-CN" sz="2000" dirty="0"/>
              <a:t>import</a:t>
            </a:r>
            <a:r>
              <a:rPr lang="zh-CN" altLang="zh-CN" sz="2000" dirty="0"/>
              <a:t>语句还有一个变体，即在</a:t>
            </a:r>
            <a:r>
              <a:rPr lang="en-US" altLang="zh-CN" sz="2000" dirty="0"/>
              <a:t>form</a:t>
            </a:r>
            <a:r>
              <a:rPr lang="zh-CN" altLang="zh-CN" sz="2000" dirty="0"/>
              <a:t>中使用“</a:t>
            </a:r>
            <a:r>
              <a:rPr lang="en-US" altLang="zh-CN" sz="2000" dirty="0"/>
              <a:t>*</a:t>
            </a:r>
            <a:r>
              <a:rPr lang="zh-CN" altLang="zh-CN" sz="2000" dirty="0"/>
              <a:t>”通配符，表示导入模块中的所有函数。</a:t>
            </a:r>
          </a:p>
          <a:p>
            <a:pPr marL="0" indent="0" algn="ctr">
              <a:buNone/>
            </a:pPr>
            <a:r>
              <a:rPr lang="en-US" altLang="zh-CN" dirty="0">
                <a:solidFill>
                  <a:srgbClr val="FF0000"/>
                </a:solidFill>
              </a:rPr>
              <a:t>from </a:t>
            </a:r>
            <a:r>
              <a:rPr lang="zh-CN" altLang="zh-CN" dirty="0">
                <a:solidFill>
                  <a:srgbClr val="FF0000"/>
                </a:solidFill>
              </a:rPr>
              <a:t>模块名</a:t>
            </a:r>
            <a:r>
              <a:rPr lang="en-US" altLang="zh-CN" dirty="0">
                <a:solidFill>
                  <a:srgbClr val="FF0000"/>
                </a:solidFill>
              </a:rPr>
              <a:t> import *</a:t>
            </a:r>
          </a:p>
          <a:p>
            <a:pPr marL="0" indent="0" algn="just">
              <a:buNone/>
            </a:pPr>
            <a:r>
              <a:rPr lang="zh-CN" altLang="en-US" dirty="0"/>
              <a:t>举例：</a:t>
            </a:r>
            <a:endParaRPr lang="en-US" altLang="zh-CN" dirty="0"/>
          </a:p>
          <a:p>
            <a:pPr marL="0" indent="0" algn="ctr">
              <a:buNone/>
            </a:pPr>
            <a:endParaRPr lang="en-US" altLang="zh-CN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A8781F06-B7C4-4582-9ADE-9884217DD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8838350"/>
              </p:ext>
            </p:extLst>
          </p:nvPr>
        </p:nvGraphicFramePr>
        <p:xfrm>
          <a:off x="1968336" y="4467750"/>
          <a:ext cx="8499138" cy="675860"/>
        </p:xfrm>
        <a:graphic>
          <a:graphicData uri="http://schemas.openxmlformats.org/drawingml/2006/table">
            <a:tbl>
              <a:tblPr firstRow="1" firstCol="1" bandRow="1"/>
              <a:tblGrid>
                <a:gridCol w="8499138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675860">
                <a:tc>
                  <a:txBody>
                    <a:bodyPr/>
                    <a:lstStyle/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import math                 #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使用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import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导入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math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模块</a:t>
                      </a:r>
                    </a:p>
                    <a:p>
                      <a:r>
                        <a:rPr lang="en-US" altLang="zh-CN" sz="2000" kern="1200" dirty="0" err="1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math.sqrt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(9)                #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使用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math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模块中的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sqrt</a:t>
                      </a:r>
                      <a:r>
                        <a:rPr lang="zh-CN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</a:t>
                      </a:r>
                      <a:endParaRPr lang="en-US" sz="2400" kern="100" dirty="0">
                        <a:solidFill>
                          <a:schemeClr val="tx2"/>
                        </a:solidFill>
                        <a:effectLst/>
                        <a:latin typeface="Consolas" panose="020B0609020204030204" pitchFamily="49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1B79C5C-259C-4CC5-8420-7D2CB389A5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501905"/>
              </p:ext>
            </p:extLst>
          </p:nvPr>
        </p:nvGraphicFramePr>
        <p:xfrm>
          <a:off x="1968335" y="5302199"/>
          <a:ext cx="8499139" cy="675860"/>
        </p:xfrm>
        <a:graphic>
          <a:graphicData uri="http://schemas.openxmlformats.org/drawingml/2006/table">
            <a:tbl>
              <a:tblPr firstRow="1" firstCol="1" bandRow="1"/>
              <a:tblGrid>
                <a:gridCol w="8499139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675860">
                <a:tc>
                  <a:txBody>
                    <a:bodyPr/>
                    <a:lstStyle/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from math import sqrt       #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使用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from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导入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math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模块中的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sqrt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</a:t>
                      </a:r>
                    </a:p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sqrt(9)                     #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直接使用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sqrt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名字调用函数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6915D08-350D-4139-B8FF-943222D0F1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958810"/>
              </p:ext>
            </p:extLst>
          </p:nvPr>
        </p:nvGraphicFramePr>
        <p:xfrm>
          <a:off x="1968334" y="6136648"/>
          <a:ext cx="8499138" cy="675860"/>
        </p:xfrm>
        <a:graphic>
          <a:graphicData uri="http://schemas.openxmlformats.org/drawingml/2006/table">
            <a:tbl>
              <a:tblPr firstRow="1" firstCol="1" bandRow="1"/>
              <a:tblGrid>
                <a:gridCol w="8499138">
                  <a:extLst>
                    <a:ext uri="{9D8B030D-6E8A-4147-A177-3AD203B41FA5}">
                      <a16:colId xmlns:a16="http://schemas.microsoft.com/office/drawing/2014/main" val="165711208"/>
                    </a:ext>
                  </a:extLst>
                </a:gridCol>
              </a:tblGrid>
              <a:tr h="675860">
                <a:tc>
                  <a:txBody>
                    <a:bodyPr/>
                    <a:lstStyle/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from math import *          #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从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math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模块中导入所有函数</a:t>
                      </a:r>
                    </a:p>
                    <a:p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sqrt(9)                     #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重新调用</a:t>
                      </a:r>
                      <a:r>
                        <a:rPr lang="en-US" altLang="zh-CN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sqrt</a:t>
                      </a:r>
                      <a:r>
                        <a:rPr lang="zh-CN" altLang="en-US" sz="2000" kern="1200" dirty="0">
                          <a:solidFill>
                            <a:schemeClr val="tx2"/>
                          </a:solidFill>
                          <a:effectLst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函数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3570286"/>
                  </a:ext>
                </a:extLst>
              </a:tr>
            </a:tbl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6A60A2D6-EFB1-4F5C-9F41-CD48B65088DF}"/>
              </a:ext>
            </a:extLst>
          </p:cNvPr>
          <p:cNvSpPr txBox="1"/>
          <p:nvPr/>
        </p:nvSpPr>
        <p:spPr>
          <a:xfrm>
            <a:off x="10583512" y="6357384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3.0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5685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709C2-3668-0D97-4F93-FCC8B9AAF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导入模块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3666BF-EA83-9573-6F04-7B4C039032D7}"/>
              </a:ext>
            </a:extLst>
          </p:cNvPr>
          <p:cNvSpPr txBox="1"/>
          <p:nvPr/>
        </p:nvSpPr>
        <p:spPr>
          <a:xfrm>
            <a:off x="1003111" y="1323412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导入整个模块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 使用语法 </a:t>
            </a:r>
            <a:r>
              <a:rPr lang="en-US" dirty="0">
                <a:solidFill>
                  <a:srgbClr val="C00000"/>
                </a:solidFill>
              </a:rPr>
              <a:t>import </a:t>
            </a:r>
            <a:r>
              <a:rPr lang="zh-CN" altLang="en-US" dirty="0">
                <a:solidFill>
                  <a:srgbClr val="C00000"/>
                </a:solidFill>
              </a:rPr>
              <a:t>模块名 </a:t>
            </a:r>
            <a:r>
              <a:rPr lang="en-US" altLang="zh-CN" dirty="0">
                <a:solidFill>
                  <a:srgbClr val="C00000"/>
                </a:solidFill>
              </a:rPr>
              <a:t>[</a:t>
            </a:r>
            <a:r>
              <a:rPr lang="en-US" dirty="0">
                <a:solidFill>
                  <a:srgbClr val="C00000"/>
                </a:solidFill>
              </a:rPr>
              <a:t>as </a:t>
            </a:r>
            <a:r>
              <a:rPr lang="zh-CN" altLang="en-US" dirty="0">
                <a:solidFill>
                  <a:srgbClr val="C00000"/>
                </a:solidFill>
              </a:rPr>
              <a:t>新模块名</a:t>
            </a:r>
            <a:r>
              <a:rPr lang="en-US" altLang="zh-CN" dirty="0">
                <a:solidFill>
                  <a:srgbClr val="C00000"/>
                </a:solidFill>
              </a:rPr>
              <a:t>]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。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35BE1D-7219-BE82-B9AD-511BF451B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041" y="1692744"/>
            <a:ext cx="4775200" cy="177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5B57FD-74C6-BBF1-85C8-BED73E54E10D}"/>
              </a:ext>
            </a:extLst>
          </p:cNvPr>
          <p:cNvSpPr txBox="1"/>
          <p:nvPr/>
        </p:nvSpPr>
        <p:spPr>
          <a:xfrm>
            <a:off x="1104900" y="3668805"/>
            <a:ext cx="66470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导入模块中的指定元素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 使用语法 </a:t>
            </a:r>
            <a:r>
              <a:rPr lang="en-US" dirty="0">
                <a:solidFill>
                  <a:srgbClr val="C00000"/>
                </a:solidFill>
              </a:rPr>
              <a:t>from </a:t>
            </a:r>
            <a:r>
              <a:rPr lang="zh-CN" altLang="en-US" dirty="0">
                <a:solidFill>
                  <a:srgbClr val="C00000"/>
                </a:solidFill>
              </a:rPr>
              <a:t>模块名 </a:t>
            </a:r>
            <a:r>
              <a:rPr lang="en-US" dirty="0">
                <a:solidFill>
                  <a:srgbClr val="C00000"/>
                </a:solidFill>
              </a:rPr>
              <a:t>import </a:t>
            </a:r>
            <a:r>
              <a:rPr lang="zh-CN" altLang="en-US" dirty="0">
                <a:solidFill>
                  <a:srgbClr val="C00000"/>
                </a:solidFill>
              </a:rPr>
              <a:t>函数名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D997681-FA97-D663-16CF-5C3ED6F9A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324" y="4188387"/>
            <a:ext cx="4356100" cy="647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3564C7-15D1-FFC4-4255-1D7467EC8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324" y="5004197"/>
            <a:ext cx="5130800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08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86710-ADC6-EF80-A2C3-C9CE7CF03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u="none" strike="noStrike" dirty="0">
                <a:solidFill>
                  <a:srgbClr val="262625"/>
                </a:solidFill>
                <a:effectLst/>
                <a:latin typeface="Open Sans" panose="020B0606030504020204" pitchFamily="34" charset="0"/>
                <a:hlinkClick r:id="rId2"/>
              </a:rPr>
              <a:t>模块的内置属性</a:t>
            </a:r>
            <a:endParaRPr kumimoji="1" lang="zh-CN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ADE10D-DD91-1705-DDE1-3C0EFBB6B0F4}"/>
              </a:ext>
            </a:extLst>
          </p:cNvPr>
          <p:cNvSpPr txBox="1"/>
          <p:nvPr/>
        </p:nvSpPr>
        <p:spPr>
          <a:xfrm>
            <a:off x="1104899" y="1378003"/>
            <a:ext cx="96085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__name__，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该属性表示模块的名称。</a:t>
            </a:r>
            <a:endParaRPr lang="en-US" altLang="zh-CN" sz="1800" b="0" i="0" dirty="0">
              <a:solidFill>
                <a:srgbClr val="262625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__file__，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该属性包含模块的文件路径（包括文件名），可以用来确定模块的源文件位置。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__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doc__，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该属性用于存储模块的文档字符串（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docstring），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提供了关于模块的简要说明。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zh-CN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__</a:t>
            </a:r>
            <a:r>
              <a:rPr 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package__，</a:t>
            </a:r>
            <a:r>
              <a:rPr lang="zh-CN" altLang="en-US" sz="1800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该属性指示模块的包名称。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93C01-F6AD-2D1F-1F58-22E7896B6D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055" y="3015671"/>
            <a:ext cx="4991100" cy="31115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05FC9D-29B3-5B45-971D-D50B74A1FC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47" y="2673867"/>
            <a:ext cx="6608598" cy="234851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8829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5.6 Python</a:t>
            </a:r>
            <a:r>
              <a:rPr lang="zh-CN" altLang="en-US" dirty="0"/>
              <a:t>模块</a:t>
            </a:r>
            <a:r>
              <a:rPr lang="en-US" altLang="zh-CN" dirty="0"/>
              <a:t>——</a:t>
            </a:r>
            <a:r>
              <a:rPr lang="zh-CN" altLang="en-US" dirty="0"/>
              <a:t>包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1104900" y="1441173"/>
            <a:ext cx="10168689" cy="5181600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2200" dirty="0">
                <a:solidFill>
                  <a:srgbClr val="FF0000"/>
                </a:solidFill>
              </a:rPr>
              <a:t>包是一个包含有多个文件（模块）的目录。</a:t>
            </a:r>
            <a:endParaRPr lang="en-US" altLang="zh-CN" sz="2200" dirty="0">
              <a:solidFill>
                <a:srgbClr val="FF0000"/>
              </a:solidFill>
            </a:endParaRPr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900" dirty="0"/>
              <a:t>用“带点号的模块名”的格式来构造</a:t>
            </a:r>
            <a:r>
              <a:rPr lang="en-US" altLang="zh-CN" sz="1900" dirty="0"/>
              <a:t>Python</a:t>
            </a:r>
            <a:r>
              <a:rPr lang="zh-CN" altLang="zh-CN" sz="1900" dirty="0"/>
              <a:t>模块命名空间，即模块名</a:t>
            </a:r>
            <a:r>
              <a:rPr lang="en-US" altLang="zh-CN" sz="1900" dirty="0"/>
              <a:t>“</a:t>
            </a:r>
            <a:r>
              <a:rPr lang="en-US" altLang="zh-CN" sz="1900" dirty="0" err="1"/>
              <a:t>A.B</a:t>
            </a:r>
            <a:r>
              <a:rPr lang="en-US" altLang="zh-CN" sz="1900" dirty="0"/>
              <a:t>”</a:t>
            </a:r>
            <a:r>
              <a:rPr lang="zh-CN" altLang="zh-CN" sz="1900" dirty="0"/>
              <a:t>表示</a:t>
            </a:r>
            <a:r>
              <a:rPr lang="en-US" altLang="zh-CN" sz="1900" dirty="0"/>
              <a:t>A</a:t>
            </a:r>
            <a:r>
              <a:rPr lang="zh-CN" altLang="zh-CN" sz="1900" dirty="0"/>
              <a:t>包中名为</a:t>
            </a:r>
            <a:r>
              <a:rPr lang="en-US" altLang="zh-CN" sz="1900" dirty="0"/>
              <a:t>B</a:t>
            </a:r>
            <a:r>
              <a:rPr lang="zh-CN" altLang="zh-CN" sz="1900" dirty="0"/>
              <a:t>的模块。</a:t>
            </a:r>
            <a:endParaRPr lang="en-US" altLang="zh-CN" sz="1900" dirty="0"/>
          </a:p>
          <a:p>
            <a:pPr algn="just">
              <a:lnSpc>
                <a:spcPct val="160000"/>
              </a:lnSpc>
            </a:pPr>
            <a:r>
              <a:rPr lang="zh-CN" altLang="zh-CN" sz="2200" dirty="0"/>
              <a:t>相同名称的模块也有可能出现在不同包中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900" dirty="0"/>
              <a:t>使用“</a:t>
            </a:r>
            <a:r>
              <a:rPr lang="en-US" altLang="zh-CN" sz="1900" dirty="0" err="1"/>
              <a:t>A.B</a:t>
            </a:r>
            <a:r>
              <a:rPr lang="zh-CN" altLang="zh-CN" sz="1900" dirty="0"/>
              <a:t>”的格式，可以使得多模块软件包的作者不必担心彼此间同名模块的冲突。</a:t>
            </a:r>
            <a:endParaRPr lang="en-US" altLang="zh-CN" sz="1900" dirty="0"/>
          </a:p>
          <a:p>
            <a:pPr algn="just">
              <a:lnSpc>
                <a:spcPct val="150000"/>
              </a:lnSpc>
            </a:pPr>
            <a:r>
              <a:rPr lang="zh-CN" altLang="zh-CN" sz="2200" dirty="0"/>
              <a:t>在包的每个目录中都包含一个名为“</a:t>
            </a:r>
            <a:r>
              <a:rPr lang="en-US" altLang="zh-CN" sz="2200" dirty="0"/>
              <a:t>__</a:t>
            </a:r>
            <a:r>
              <a:rPr lang="en-US" altLang="zh-CN" sz="2200" dirty="0" err="1"/>
              <a:t>init</a:t>
            </a:r>
            <a:r>
              <a:rPr lang="en-US" altLang="zh-CN" sz="2200" dirty="0"/>
              <a:t>__.</a:t>
            </a:r>
            <a:r>
              <a:rPr lang="en-US" altLang="zh-CN" sz="2200" dirty="0" err="1"/>
              <a:t>py</a:t>
            </a:r>
            <a:r>
              <a:rPr lang="zh-CN" altLang="zh-CN" sz="2200" dirty="0"/>
              <a:t>”（</a:t>
            </a:r>
            <a:r>
              <a:rPr lang="en-US" altLang="zh-CN" sz="2200" dirty="0" err="1"/>
              <a:t>init</a:t>
            </a:r>
            <a:r>
              <a:rPr lang="zh-CN" altLang="zh-CN" sz="2200" dirty="0"/>
              <a:t>的前后均是两条下划线）的文件</a:t>
            </a:r>
            <a:r>
              <a:rPr lang="zh-CN" altLang="en-US" sz="2200" dirty="0"/>
              <a:t>。</a:t>
            </a:r>
            <a:endParaRPr lang="en-US" altLang="zh-CN" sz="22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900" dirty="0"/>
              <a:t>主要用途是设置“</a:t>
            </a:r>
            <a:r>
              <a:rPr lang="en-US" altLang="zh-CN" sz="1900" dirty="0"/>
              <a:t>__all__</a:t>
            </a:r>
            <a:r>
              <a:rPr lang="zh-CN" altLang="zh-CN" sz="1900" dirty="0"/>
              <a:t>”变量以及初始化包所需的代码。</a:t>
            </a:r>
            <a:endParaRPr lang="en-US" altLang="zh-CN" sz="1900" dirty="0"/>
          </a:p>
          <a:p>
            <a:pPr algn="just">
              <a:lnSpc>
                <a:spcPct val="150000"/>
              </a:lnSpc>
            </a:pPr>
            <a:r>
              <a:rPr lang="zh-CN" altLang="zh-CN" sz="2200" dirty="0"/>
              <a:t>一般而言</a:t>
            </a:r>
            <a:r>
              <a:rPr lang="zh-CN" altLang="en-US" sz="2200" dirty="0"/>
              <a:t>：</a:t>
            </a:r>
            <a:endParaRPr lang="en-US" altLang="zh-CN" sz="22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900" dirty="0"/>
              <a:t>若自定义的模块名与非内置的标准模块重名，根据优先级，前者会覆盖后者；</a:t>
            </a:r>
            <a:endParaRPr lang="en-US" altLang="zh-CN" sz="1900" dirty="0"/>
          </a:p>
          <a:p>
            <a:pPr lvl="1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zh-CN" sz="1900" dirty="0"/>
              <a:t>若自定义的模块名与内置模块重名，后者会覆盖前者。</a:t>
            </a:r>
            <a:endParaRPr lang="zh-CN" altLang="zh-CN" dirty="0"/>
          </a:p>
        </p:txBody>
      </p:sp>
      <p:sp>
        <p:nvSpPr>
          <p:cNvPr id="4" name="矩形 3"/>
          <p:cNvSpPr/>
          <p:nvPr/>
        </p:nvSpPr>
        <p:spPr>
          <a:xfrm>
            <a:off x="9384314" y="2738997"/>
            <a:ext cx="21467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A.B.MyModule.py  </a:t>
            </a:r>
          </a:p>
          <a:p>
            <a:r>
              <a:rPr lang="en-US" altLang="zh-CN" dirty="0"/>
              <a:t>A.C.MyModule.py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4741081" y="337671"/>
            <a:ext cx="57166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MyModule.py       </a:t>
            </a:r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func</a:t>
            </a:r>
            <a:r>
              <a:rPr lang="en-US" altLang="zh-CN" dirty="0"/>
              <a:t>()    </a:t>
            </a:r>
            <a:r>
              <a:rPr lang="en-US" altLang="zh-CN" dirty="0" err="1"/>
              <a:t>MyModule.func</a:t>
            </a:r>
            <a:r>
              <a:rPr lang="en-US" altLang="zh-CN" dirty="0"/>
              <a:t>()</a:t>
            </a:r>
          </a:p>
          <a:p>
            <a:r>
              <a:rPr lang="en-US" altLang="zh-CN" dirty="0"/>
              <a:t>YourModule.py     </a:t>
            </a:r>
            <a:r>
              <a:rPr lang="en-US" altLang="zh-CN" dirty="0" err="1"/>
              <a:t>def</a:t>
            </a:r>
            <a:r>
              <a:rPr lang="en-US" altLang="zh-CN" dirty="0"/>
              <a:t> </a:t>
            </a:r>
            <a:r>
              <a:rPr lang="en-US" altLang="zh-CN" dirty="0" err="1"/>
              <a:t>func</a:t>
            </a:r>
            <a:r>
              <a:rPr lang="en-US" altLang="zh-CN" dirty="0"/>
              <a:t>()    </a:t>
            </a:r>
            <a:r>
              <a:rPr lang="en-US" altLang="zh-CN" dirty="0" err="1"/>
              <a:t>YourModule.func</a:t>
            </a:r>
            <a:r>
              <a:rPr lang="en-US" altLang="zh-CN" dirty="0"/>
              <a:t>()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1030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CBC46-EE4E-6C7A-03E4-92C299FB6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A254FB-703E-981F-71B7-8E4490DDCC64}"/>
              </a:ext>
            </a:extLst>
          </p:cNvPr>
          <p:cNvSpPr txBox="1"/>
          <p:nvPr/>
        </p:nvSpPr>
        <p:spPr>
          <a:xfrm>
            <a:off x="1104900" y="1362334"/>
            <a:ext cx="9622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假设我们要创建一个名为</a:t>
            </a:r>
            <a:r>
              <a:rPr lang="en-US" dirty="0" err="1"/>
              <a:t>my_package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的包，包中有两个模块 </a:t>
            </a:r>
            <a:r>
              <a:rPr lang="en-US" dirty="0" err="1"/>
              <a:t>module_a.py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和</a:t>
            </a:r>
            <a:r>
              <a:rPr lang="en-US" dirty="0" err="1"/>
              <a:t>module_b.py</a:t>
            </a:r>
            <a:endParaRPr lang="zh-CN" alt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127756-30D2-85DA-96D3-14128C2E75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051" y="2169996"/>
            <a:ext cx="1883960" cy="110487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EF8BAAA-B39E-245D-8515-15A60FE2A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118" y="1818144"/>
            <a:ext cx="3800157" cy="20152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3629D0A-4FDD-CF6C-02EF-1D105BAB5043}"/>
              </a:ext>
            </a:extLst>
          </p:cNvPr>
          <p:cNvSpPr txBox="1"/>
          <p:nvPr/>
        </p:nvSpPr>
        <p:spPr>
          <a:xfrm>
            <a:off x="1316156" y="4156544"/>
            <a:ext cx="4599864" cy="864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如要从包中导入所有的模块，可以在</a:t>
            </a:r>
            <a:r>
              <a:rPr lang="en-US" altLang="zh-CN" dirty="0"/>
              <a:t>__</a:t>
            </a:r>
            <a:r>
              <a:rPr lang="en-US" dirty="0" err="1"/>
              <a:t>init</a:t>
            </a:r>
            <a:r>
              <a:rPr lang="en-US" dirty="0"/>
              <a:t>__.</a:t>
            </a:r>
            <a:r>
              <a:rPr lang="en-US" dirty="0" err="1"/>
              <a:t>py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文件中定义</a:t>
            </a:r>
            <a:r>
              <a:rPr lang="en-US" altLang="zh-CN" dirty="0"/>
              <a:t>__</a:t>
            </a:r>
            <a:r>
              <a:rPr lang="en-US" dirty="0"/>
              <a:t>all__</a:t>
            </a:r>
            <a:r>
              <a:rPr lang="zh-CN" altLang="en-US" b="0" i="0" dirty="0">
                <a:solidFill>
                  <a:srgbClr val="262625"/>
                </a:solidFill>
                <a:effectLst/>
                <a:latin typeface="Times New Roman" panose="02020603050405020304" pitchFamily="18" charset="0"/>
              </a:rPr>
              <a:t>列表，如：</a:t>
            </a:r>
            <a:endParaRPr lang="zh-CN" alt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F91E879-9904-CE8C-3C20-3A0FFCA3B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6020" y="4156544"/>
            <a:ext cx="3988918" cy="25120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1768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DE9D-8B75-3B43-B7DA-2E63AB812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之禅（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Zen of Python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kumimoji="1" lang="zh-CN" alt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CBD681-1B19-4945-801A-53140E10913A}"/>
              </a:ext>
            </a:extLst>
          </p:cNvPr>
          <p:cNvSpPr/>
          <p:nvPr/>
        </p:nvSpPr>
        <p:spPr>
          <a:xfrm>
            <a:off x="689264" y="4457989"/>
            <a:ext cx="2495726" cy="458908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>
            <a:solidFill>
              <a:srgbClr val="92D050"/>
            </a:solidFill>
          </a:ln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&gt;&gt;&gt;</a:t>
            </a:r>
            <a:r>
              <a:rPr lang="en-US" altLang="zh-CN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import this</a:t>
            </a:r>
            <a:r>
              <a:rPr lang="zh-CN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" name="表格 1">
            <a:extLst>
              <a:ext uri="{FF2B5EF4-FFF2-40B4-BE49-F238E27FC236}">
                <a16:creationId xmlns:a16="http://schemas.microsoft.com/office/drawing/2014/main" id="{418B8E47-EFF7-964C-A42F-DD1B85F00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89263"/>
              </p:ext>
            </p:extLst>
          </p:nvPr>
        </p:nvGraphicFramePr>
        <p:xfrm>
          <a:off x="3355025" y="1358870"/>
          <a:ext cx="8545513" cy="5334000"/>
        </p:xfrm>
        <a:graphic>
          <a:graphicData uri="http://schemas.openxmlformats.org/drawingml/2006/table">
            <a:tbl>
              <a:tblPr firstRow="1" firstCol="1" bandRow="1"/>
              <a:tblGrid>
                <a:gridCol w="85455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34000">
                <a:tc>
                  <a:txBody>
                    <a:bodyPr/>
                    <a:lstStyle/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The Zen of Python, by Tim Peters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 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Beautiful is better than ugly.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Explicit is better than implicit.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Simple is better than complex.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Complex is better than complicated.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Flat is better than nested.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Sparse is better than dense.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Readability counts.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Special cases aren't special enough to break the rules.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Although practicality beats purity.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Errors should never pass silently.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Unless explicitly silenced.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In the face of ambiguity, refuse the temptation to guess.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There should be one-- and preferably only one --obvious way to do it.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Although that way may not be obvious at first unless you're Dutch.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Now is better than never.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Although never is often better than *right* now.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If the implementation is hard to explain, it's a bad idea.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If the implementation is easy to explain, it may be a good idea.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  <a:p>
                      <a:pPr algn="l" fontAlgn="base">
                        <a:lnSpc>
                          <a:spcPts val="2000"/>
                        </a:lnSpc>
                        <a:spcAft>
                          <a:spcPts val="0"/>
                        </a:spcAft>
                      </a:pPr>
                      <a:r>
                        <a:rPr lang="en-US" sz="1600" kern="0" dirty="0">
                          <a:effectLst/>
                          <a:latin typeface="Courier New" charset="0"/>
                          <a:ea typeface="宋体" charset="0"/>
                          <a:cs typeface="Times New Roman" charset="0"/>
                        </a:rPr>
                        <a:t>Namespaces are one honking great idea -- let's do more of those!</a:t>
                      </a:r>
                      <a:endParaRPr lang="zh-CN" sz="1600" kern="100" dirty="0">
                        <a:effectLst/>
                        <a:latin typeface="Calibri" charset="0"/>
                        <a:ea typeface="宋体" charset="0"/>
                        <a:cs typeface="Times New Roman" charset="0"/>
                      </a:endParaRPr>
                    </a:p>
                  </a:txBody>
                  <a:tcPr marL="53129" marR="53129" marT="0" marB="0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6612F9F-4D67-E048-90E5-D86018E9B6CD}"/>
              </a:ext>
            </a:extLst>
          </p:cNvPr>
          <p:cNvSpPr/>
          <p:nvPr/>
        </p:nvSpPr>
        <p:spPr>
          <a:xfrm>
            <a:off x="689263" y="1622270"/>
            <a:ext cx="2699656" cy="21194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编译器以函数库的形式内置了一个有趣的文件，被称为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Python</a:t>
            </a:r>
            <a:r>
              <a:rPr lang="zh-CN" altLang="zh-CN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之禅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”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（</a:t>
            </a:r>
            <a:r>
              <a:rPr lang="en-US" altLang="zh-CN" dirty="0">
                <a:solidFill>
                  <a:srgbClr val="0432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The Zen of Python</a:t>
            </a:r>
            <a:r>
              <a:rPr lang="zh-CN" altLang="zh-CN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）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21598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表格 1">
            <a:extLst>
              <a:ext uri="{FF2B5EF4-FFF2-40B4-BE49-F238E27FC236}">
                <a16:creationId xmlns:a16="http://schemas.microsoft.com/office/drawing/2014/main" id="{03B552D6-18D4-554E-BB34-B1DAD58ADE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2758082"/>
              </p:ext>
            </p:extLst>
          </p:nvPr>
        </p:nvGraphicFramePr>
        <p:xfrm>
          <a:off x="1568802" y="717674"/>
          <a:ext cx="8837612" cy="5545138"/>
        </p:xfrm>
        <a:graphic>
          <a:graphicData uri="http://schemas.openxmlformats.org/drawingml/2006/table">
            <a:tbl>
              <a:tblPr/>
              <a:tblGrid>
                <a:gridCol w="4318000">
                  <a:extLst>
                    <a:ext uri="{9D8B030D-6E8A-4147-A177-3AD203B41FA5}">
                      <a16:colId xmlns:a16="http://schemas.microsoft.com/office/drawing/2014/main" val="2843695648"/>
                    </a:ext>
                  </a:extLst>
                </a:gridCol>
                <a:gridCol w="4519612">
                  <a:extLst>
                    <a:ext uri="{9D8B030D-6E8A-4147-A177-3AD203B41FA5}">
                      <a16:colId xmlns:a16="http://schemas.microsoft.com/office/drawing/2014/main" val="3035073575"/>
                    </a:ext>
                  </a:extLst>
                </a:gridCol>
              </a:tblGrid>
              <a:tr h="55451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之禅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   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作者：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Tim Peters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优美胜于丑陋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明了胜于隐晦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简洁胜于复杂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复杂胜于凌乱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扁平胜于嵌套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间隔胜于紧凑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可读性很重要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即便假借特例的实用性之名，也不要违背上述规则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除非你确定需要，任何错误都应该有应对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当存在多种可能，不要尝试去猜测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只要你不是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Guido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，对于问题尽量找一种，最好是唯一明显的解决方案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做也许好过不做，但不假思索就动手还不如不做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如果你无法向人描述你的实现方案，那肯定不是一个好方案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如果实现方案容易解释，可能是个好方案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Symbol" pitchFamily="2" charset="2"/>
                        <a:buChar char=""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命名空间是绝妙的理念，要多运用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132" marR="53132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译者心得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以编写优美代码为目标，不多解释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优美代码应该清晰明了，规范统一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优美代码应该逻辑简洁，避免复杂逻辑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如果必须采用复杂逻辑，接口关系也要清晰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优美代码应该是扁平的，避免太多层次嵌套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优美代码间隔要适当，每行代码解决适度问题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优美代码必须是可读且易读的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上述规则是至高无上的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捕获异常，不让程序留有因错误退出的可能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不要试图给出多种方案，找到一种实现它，几乎所有人都没有</a:t>
                      </a: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Guido</a:t>
                      </a: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那么牛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编程之前要有思考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能说清楚的往往才是对的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 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ts val="2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zh-CN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ea typeface="宋体" panose="02010600030101010101" pitchFamily="2" charset="-122"/>
                          <a:cs typeface="Courier New" panose="02070309020205020404" pitchFamily="49" charset="0"/>
                        </a:rPr>
                        <a:t>适合复杂程序编程</a:t>
                      </a:r>
                      <a:endParaRPr kumimoji="0" lang="zh-CN" altLang="zh-CN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宋体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53132" marR="53132" marT="0" marB="0" horzOverflow="overflow">
                    <a:lnL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B0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8457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4395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br>
              <a:rPr lang="en-US" altLang="zh-CN" dirty="0"/>
            </a:br>
            <a:r>
              <a:rPr lang="en-US" altLang="zh-CN" dirty="0"/>
              <a:t>——The end——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177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Academic Literature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3F7D94069FF64A86F7DFF56D60E3BE" ma:contentTypeVersion="6" ma:contentTypeDescription="Create a new document." ma:contentTypeScope="" ma:versionID="c32302c77d4085ecf495bdddb7f5e889">
  <xsd:schema xmlns:xsd="http://www.w3.org/2001/XMLSchema" xmlns:xs="http://www.w3.org/2001/XMLSchema" xmlns:p="http://schemas.microsoft.com/office/2006/metadata/properties" xmlns:ns2="a4f35948-e619-41b3-aa29-22878b09cfd2" xmlns:ns3="40262f94-9f35-4ac3-9a90-690165a166b7" targetNamespace="http://schemas.microsoft.com/office/2006/metadata/properties" ma:root="true" ma:fieldsID="4ab5ae46be95f9d0be6107e8200be7a2" ns2:_="" ns3:_="">
    <xsd:import namespace="a4f35948-e619-41b3-aa29-22878b09cfd2"/>
    <xsd:import namespace="40262f94-9f35-4ac3-9a90-690165a166b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VSO_x0020_item_x0020_id" minOccurs="0"/>
                <xsd:element ref="ns3:Item_x0020_Details" minOccurs="0"/>
                <xsd:element ref="ns3:Template_x0020_details" minOccurs="0"/>
                <xsd:element ref="ns3:Assetid_x0020_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f35948-e619-41b3-aa29-22878b09cfd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262f94-9f35-4ac3-9a90-690165a166b7" elementFormDefault="qualified">
    <xsd:import namespace="http://schemas.microsoft.com/office/2006/documentManagement/types"/>
    <xsd:import namespace="http://schemas.microsoft.com/office/infopath/2007/PartnerControls"/>
    <xsd:element name="VSO_x0020_item_x0020_id" ma:index="10" nillable="true" ma:displayName="VSO item id" ma:description="Please add the bug number to refer to VSO items." ma:internalName="VSO_x0020_item_x0020_id">
      <xsd:simpleType>
        <xsd:restriction base="dms:Text">
          <xsd:maxLength value="255"/>
        </xsd:restriction>
      </xsd:simpleType>
    </xsd:element>
    <xsd:element name="Item_x0020_Details" ma:index="11" nillable="true" ma:displayName="Item Details" ma:internalName="Item_x0020_Details">
      <xsd:simpleType>
        <xsd:restriction base="dms:Note">
          <xsd:maxLength value="255"/>
        </xsd:restriction>
      </xsd:simpleType>
    </xsd:element>
    <xsd:element name="Template_x0020_details" ma:index="12" nillable="true" ma:displayName="Template details" ma:internalName="Template_x0020_details">
      <xsd:simpleType>
        <xsd:restriction base="dms:Text"/>
      </xsd:simpleType>
    </xsd:element>
    <xsd:element name="Assetid_x0020_" ma:index="13" nillable="true" ma:displayName="Assetid " ma:internalName="Assetid_x0020_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VSO_x0020_item_x0020_id xmlns="40262f94-9f35-4ac3-9a90-690165a166b7" xsi:nil="true"/>
    <Assetid_x0020_ xmlns="40262f94-9f35-4ac3-9a90-690165a166b7" xsi:nil="true"/>
    <Item_x0020_Details xmlns="40262f94-9f35-4ac3-9a90-690165a166b7" xsi:nil="true"/>
    <Template_x0020_details xmlns="40262f94-9f35-4ac3-9a90-690165a166b7" xsi:nil="true"/>
  </documentManagement>
</p:properties>
</file>

<file path=customXml/itemProps1.xml><?xml version="1.0" encoding="utf-8"?>
<ds:datastoreItem xmlns:ds="http://schemas.openxmlformats.org/officeDocument/2006/customXml" ds:itemID="{2DDC6030-8312-4894-9236-1E15DA4F39C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00D5F3-AA73-4EC6-BCD9-0DC3E330E5B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f35948-e619-41b3-aa29-22878b09cfd2"/>
    <ds:schemaRef ds:uri="40262f94-9f35-4ac3-9a90-690165a166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DBAFF00-647E-4627-9B6C-A5CDC1F32200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40262f94-9f35-4ac3-9a90-690165a166b7"/>
    <ds:schemaRef ds:uri="http://purl.org/dc/terms/"/>
    <ds:schemaRef ds:uri="http://www.w3.org/XML/1998/namespace"/>
    <ds:schemaRef ds:uri="http://schemas.openxmlformats.org/package/2006/metadata/core-properties"/>
    <ds:schemaRef ds:uri="a4f35948-e619-41b3-aa29-22878b09cfd2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26242</TotalTime>
  <Words>5476</Words>
  <Application>Microsoft Macintosh PowerPoint</Application>
  <PresentationFormat>Widescreen</PresentationFormat>
  <Paragraphs>596</Paragraphs>
  <Slides>70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18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89" baseType="lpstr">
      <vt:lpstr>等线</vt:lpstr>
      <vt:lpstr>仿宋</vt:lpstr>
      <vt:lpstr>微软雅黑</vt:lpstr>
      <vt:lpstr>微软雅黑</vt:lpstr>
      <vt:lpstr>华文琥珀</vt:lpstr>
      <vt:lpstr>system-ui</vt:lpstr>
      <vt:lpstr>Arial</vt:lpstr>
      <vt:lpstr>Calibri</vt:lpstr>
      <vt:lpstr>Cambria Math</vt:lpstr>
      <vt:lpstr>Consolas</vt:lpstr>
      <vt:lpstr>Courier New</vt:lpstr>
      <vt:lpstr>Euphemia</vt:lpstr>
      <vt:lpstr>Fira Code</vt:lpstr>
      <vt:lpstr>Open Sans</vt:lpstr>
      <vt:lpstr>Plantagenet Cherokee</vt:lpstr>
      <vt:lpstr>Symbol</vt:lpstr>
      <vt:lpstr>Times New Roman</vt:lpstr>
      <vt:lpstr>Wingdings</vt:lpstr>
      <vt:lpstr>Academic Literature 16x9</vt:lpstr>
      <vt:lpstr>第6章 函数和代码复用</vt:lpstr>
      <vt:lpstr>教学内容</vt:lpstr>
      <vt:lpstr>5.1 函数的定义与调用</vt:lpstr>
      <vt:lpstr>5.1 函数的定义与调用</vt:lpstr>
      <vt:lpstr>5.1.1 函数的定义</vt:lpstr>
      <vt:lpstr>5.1.1 函数的定义</vt:lpstr>
      <vt:lpstr>5.1.2 函数的调用</vt:lpstr>
      <vt:lpstr>5.1.2 函数的调用</vt:lpstr>
      <vt:lpstr>5.2内置函数</vt:lpstr>
      <vt:lpstr>数学相关函数</vt:lpstr>
      <vt:lpstr>转换函数</vt:lpstr>
      <vt:lpstr>数据转换函数</vt:lpstr>
      <vt:lpstr> 序列和集合相关函数</vt:lpstr>
      <vt:lpstr> 序列和集合相关函数</vt:lpstr>
      <vt:lpstr> 序列和集合相关函数</vt:lpstr>
      <vt:lpstr>系统操作函数</vt:lpstr>
      <vt:lpstr>5.3 用户自定义函数</vt:lpstr>
      <vt:lpstr>5.2.1 函数参数</vt:lpstr>
      <vt:lpstr>5.2.1 函数参数</vt:lpstr>
      <vt:lpstr>(1) 位置参数：按照位置顺序从左至右匹配</vt:lpstr>
      <vt:lpstr>(2) 默认参数：为没有传入值的参数定义参数值</vt:lpstr>
      <vt:lpstr>(2) 默认参数：为没有传入值的参数定义参数值</vt:lpstr>
      <vt:lpstr>(2) 默认参数：为没有传入值的参数定义参数值</vt:lpstr>
      <vt:lpstr>(3) 命名参数：按照参数名传递值</vt:lpstr>
      <vt:lpstr>(3) 命名参数：按照参数名传递值</vt:lpstr>
      <vt:lpstr>（4）可变长参数：收集任意数量的参数</vt:lpstr>
      <vt:lpstr>（4）可变长参数：收集任意数量的参数</vt:lpstr>
      <vt:lpstr>5.2.2 函数的返回值</vt:lpstr>
      <vt:lpstr>5.2.2 函数的返回值</vt:lpstr>
      <vt:lpstr>Return Multiple Values</vt:lpstr>
      <vt:lpstr>函数的嵌套使用</vt:lpstr>
      <vt:lpstr>函数的嵌套使用</vt:lpstr>
      <vt:lpstr>函数的嵌套使用</vt:lpstr>
      <vt:lpstr>5.3 变量作用域</vt:lpstr>
      <vt:lpstr>5.3 变量作用域</vt:lpstr>
      <vt:lpstr>5.3 变量作用域</vt:lpstr>
      <vt:lpstr>PowerPoint Presentation</vt:lpstr>
      <vt:lpstr>变量作用域</vt:lpstr>
      <vt:lpstr>5.3 变量作用域</vt:lpstr>
      <vt:lpstr>5.3 变量作用域——global语句</vt:lpstr>
      <vt:lpstr>PowerPoint Presentation</vt:lpstr>
      <vt:lpstr>global关键字</vt:lpstr>
      <vt:lpstr>nonlocal关键字</vt:lpstr>
      <vt:lpstr>5.4 匿名函数</vt:lpstr>
      <vt:lpstr>5.4 匿名函数</vt:lpstr>
      <vt:lpstr>5.4 匿名函数</vt:lpstr>
      <vt:lpstr>5.4 匿名函数</vt:lpstr>
      <vt:lpstr>lambda</vt:lpstr>
      <vt:lpstr>PowerPoint Presentation</vt:lpstr>
      <vt:lpstr>高阶函数中的匿名函数</vt:lpstr>
      <vt:lpstr>高阶函数中的匿名函数</vt:lpstr>
      <vt:lpstr>高阶函数中的匿名函数</vt:lpstr>
      <vt:lpstr>5.5 递归函数</vt:lpstr>
      <vt:lpstr>5.5 函数递归</vt:lpstr>
      <vt:lpstr>5.5 函数递归——阶乘函数</vt:lpstr>
      <vt:lpstr>5.5 函数递归——阶乘函数</vt:lpstr>
      <vt:lpstr>5.5 函数递归——Fibonacci数列</vt:lpstr>
      <vt:lpstr>5.5 函数递归——Fibonacci数列</vt:lpstr>
      <vt:lpstr>5.5 函数递归</vt:lpstr>
      <vt:lpstr>递归与循环</vt:lpstr>
      <vt:lpstr>5.6 Python模块</vt:lpstr>
      <vt:lpstr>5.6 Python模块</vt:lpstr>
      <vt:lpstr>5.6 Python模块——导入模块</vt:lpstr>
      <vt:lpstr>导入模块</vt:lpstr>
      <vt:lpstr>模块的内置属性</vt:lpstr>
      <vt:lpstr>5.6 Python模块——包</vt:lpstr>
      <vt:lpstr>包</vt:lpstr>
      <vt:lpstr>Python之禅（The Zen of Python）</vt:lpstr>
      <vt:lpstr>PowerPoint Presentation</vt:lpstr>
      <vt:lpstr> ——The end——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With Picture Layout</dc:title>
  <dc:creator>raziya ahat</dc:creator>
  <cp:lastModifiedBy>Hao Fan</cp:lastModifiedBy>
  <cp:revision>251</cp:revision>
  <dcterms:created xsi:type="dcterms:W3CDTF">2014-04-17T22:28:38Z</dcterms:created>
  <dcterms:modified xsi:type="dcterms:W3CDTF">2026-02-26T07:09:18Z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